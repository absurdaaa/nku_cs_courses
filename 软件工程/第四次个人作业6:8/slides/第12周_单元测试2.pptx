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47.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tags/tag92.xml" ContentType="application/vnd.openxmlformats-officedocument.presentationml.tags+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tags/tag93.xml" ContentType="application/vnd.openxmlformats-officedocument.presentationml.tags+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tags/tag94.xml" ContentType="application/vnd.openxmlformats-officedocument.presentationml.tags+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91"/>
  </p:notesMasterIdLst>
  <p:handoutMasterIdLst>
    <p:handoutMasterId r:id="rId92"/>
  </p:handoutMasterIdLst>
  <p:sldIdLst>
    <p:sldId id="638" r:id="rId2"/>
    <p:sldId id="597" r:id="rId3"/>
    <p:sldId id="598" r:id="rId4"/>
    <p:sldId id="599" r:id="rId5"/>
    <p:sldId id="605" r:id="rId6"/>
    <p:sldId id="606" r:id="rId7"/>
    <p:sldId id="607" r:id="rId8"/>
    <p:sldId id="609" r:id="rId9"/>
    <p:sldId id="276" r:id="rId10"/>
    <p:sldId id="279" r:id="rId11"/>
    <p:sldId id="610" r:id="rId12"/>
    <p:sldId id="886" r:id="rId13"/>
    <p:sldId id="611" r:id="rId14"/>
    <p:sldId id="278" r:id="rId15"/>
    <p:sldId id="608" r:id="rId16"/>
    <p:sldId id="280" r:id="rId17"/>
    <p:sldId id="863" r:id="rId18"/>
    <p:sldId id="612" r:id="rId19"/>
    <p:sldId id="613" r:id="rId20"/>
    <p:sldId id="907" r:id="rId21"/>
    <p:sldId id="640" r:id="rId22"/>
    <p:sldId id="615" r:id="rId23"/>
    <p:sldId id="616" r:id="rId24"/>
    <p:sldId id="617" r:id="rId25"/>
    <p:sldId id="641" r:id="rId26"/>
    <p:sldId id="619" r:id="rId27"/>
    <p:sldId id="620" r:id="rId28"/>
    <p:sldId id="621" r:id="rId29"/>
    <p:sldId id="622" r:id="rId30"/>
    <p:sldId id="623" r:id="rId31"/>
    <p:sldId id="624" r:id="rId32"/>
    <p:sldId id="625" r:id="rId33"/>
    <p:sldId id="626" r:id="rId34"/>
    <p:sldId id="627" r:id="rId35"/>
    <p:sldId id="628" r:id="rId36"/>
    <p:sldId id="629" r:id="rId37"/>
    <p:sldId id="630" r:id="rId38"/>
    <p:sldId id="631" r:id="rId39"/>
    <p:sldId id="632" r:id="rId40"/>
    <p:sldId id="633" r:id="rId41"/>
    <p:sldId id="634" r:id="rId42"/>
    <p:sldId id="635" r:id="rId43"/>
    <p:sldId id="642" r:id="rId44"/>
    <p:sldId id="643" r:id="rId45"/>
    <p:sldId id="283" r:id="rId46"/>
    <p:sldId id="284" r:id="rId47"/>
    <p:sldId id="285" r:id="rId48"/>
    <p:sldId id="286" r:id="rId49"/>
    <p:sldId id="864" r:id="rId50"/>
    <p:sldId id="865" r:id="rId51"/>
    <p:sldId id="868" r:id="rId52"/>
    <p:sldId id="869" r:id="rId53"/>
    <p:sldId id="870" r:id="rId54"/>
    <p:sldId id="871" r:id="rId55"/>
    <p:sldId id="644" r:id="rId56"/>
    <p:sldId id="645" r:id="rId57"/>
    <p:sldId id="646" r:id="rId58"/>
    <p:sldId id="647" r:id="rId59"/>
    <p:sldId id="648" r:id="rId60"/>
    <p:sldId id="649" r:id="rId61"/>
    <p:sldId id="650" r:id="rId62"/>
    <p:sldId id="651" r:id="rId63"/>
    <p:sldId id="652" r:id="rId64"/>
    <p:sldId id="653" r:id="rId65"/>
    <p:sldId id="654" r:id="rId66"/>
    <p:sldId id="655" r:id="rId67"/>
    <p:sldId id="656" r:id="rId68"/>
    <p:sldId id="657" r:id="rId69"/>
    <p:sldId id="658" r:id="rId70"/>
    <p:sldId id="659" r:id="rId71"/>
    <p:sldId id="660" r:id="rId72"/>
    <p:sldId id="673" r:id="rId73"/>
    <p:sldId id="661" r:id="rId74"/>
    <p:sldId id="662" r:id="rId75"/>
    <p:sldId id="663" r:id="rId76"/>
    <p:sldId id="664" r:id="rId77"/>
    <p:sldId id="665" r:id="rId78"/>
    <p:sldId id="666" r:id="rId79"/>
    <p:sldId id="667" r:id="rId80"/>
    <p:sldId id="668" r:id="rId81"/>
    <p:sldId id="281" r:id="rId82"/>
    <p:sldId id="282" r:id="rId83"/>
    <p:sldId id="669" r:id="rId84"/>
    <p:sldId id="670" r:id="rId85"/>
    <p:sldId id="671" r:id="rId86"/>
    <p:sldId id="672" r:id="rId87"/>
    <p:sldId id="287" r:id="rId88"/>
    <p:sldId id="288" r:id="rId89"/>
    <p:sldId id="525" r:id="rId9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9" autoAdjust="0"/>
    <p:restoredTop sz="74491" autoAdjust="0"/>
  </p:normalViewPr>
  <p:slideViewPr>
    <p:cSldViewPr snapToGrid="0">
      <p:cViewPr varScale="1">
        <p:scale>
          <a:sx n="80" d="100"/>
          <a:sy n="80" d="100"/>
        </p:scale>
        <p:origin x="1456" y="192"/>
      </p:cViewPr>
      <p:guideLst/>
    </p:cSldViewPr>
  </p:slideViewPr>
  <p:notesTextViewPr>
    <p:cViewPr>
      <p:scale>
        <a:sx n="1" d="1"/>
        <a:sy n="1" d="1"/>
      </p:scale>
      <p:origin x="0" y="0"/>
    </p:cViewPr>
  </p:notesTextViewPr>
  <p:notesViewPr>
    <p:cSldViewPr snapToGrid="0">
      <p:cViewPr varScale="1">
        <p:scale>
          <a:sx n="91" d="100"/>
          <a:sy n="91" d="100"/>
        </p:scale>
        <p:origin x="3564" y="6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handoutMaster" Target="handoutMasters/handout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DF93876-BC66-44D0-A782-3029BC273055}" type="datetimeFigureOut">
              <a:rPr lang="zh-CN" altLang="en-US" smtClean="0"/>
              <a:t>2025/5/19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66AF24-79C7-4806-8694-F79DC346854C}"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F512EB-98A4-4BE7-BD65-71E5CEC2079E}" type="datetimeFigureOut">
              <a:rPr lang="zh-CN" altLang="en-US" smtClean="0"/>
              <a:t>2025/5/19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308F8E-A66F-462A-B457-A69A741C093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同学们好，上节课咱们讲到了如何使用黑盒测试，也就是</a:t>
            </a:r>
            <a:r>
              <a:rPr lang="zh-CN" altLang="en-US" sz="1200" spc="20" dirty="0">
                <a:latin typeface="微软雅黑" panose="020B0503020204020204" pitchFamily="34" charset="-122"/>
                <a:cs typeface="微软雅黑" panose="020B0503020204020204" pitchFamily="34" charset="-122"/>
              </a:rPr>
              <a:t>完全不考虑程序内部的逻辑结构和内部</a:t>
            </a:r>
            <a:r>
              <a:rPr lang="zh-CN" altLang="en-US" sz="1200" dirty="0">
                <a:latin typeface="微软雅黑" panose="020B0503020204020204" pitchFamily="34" charset="-122"/>
                <a:cs typeface="微软雅黑" panose="020B0503020204020204" pitchFamily="34" charset="-122"/>
              </a:rPr>
              <a:t>特性来进行单元测试，这节课我们为大家介绍与之相对的，白盒测试。</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1</a:t>
            </a:fld>
            <a:endParaRPr lang="zh-CN" altLang="en-US"/>
          </a:p>
        </p:txBody>
      </p:sp>
    </p:spTree>
    <p:extLst>
      <p:ext uri="{BB962C8B-B14F-4D97-AF65-F5344CB8AC3E}">
        <p14:creationId xmlns:p14="http://schemas.microsoft.com/office/powerpoint/2010/main" val="42361213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等价类划分是把输入域划分成尽可能少的若干子域，并且要求这些子域是两两不相交的，那么每一个子域就称为一个等价类，对于同一输入域来说，可能会存在不同的划分方法。我们来看这个图，它显示了两种划分，那么哪一种划分是等价类划分呢？左边图里面的子域是两两不相交的，右边的一和二是有交集的。根据上面的定义，左边是等价类划分，但是右边不是。在等价类划分中，我们用同一个等价类中的任何收入对软件进行测试的时候，软件都会输出相同的结果，所以只需要从每一等价类中选取一个输入作为测试用例，就可以构成软件一个完整的测试用例集。对于相同的等价类划分，不同的测试人员所选取的测试用例集可能是不同的，那么良好的选择需要经验的积累</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等价类可以分为有效等价类和无效等价类，其中有效等价类是由合理的输入数据构成的集合，它能够检验程序是否实现了规格说明中预先规定的功能和性能。无效的等价类是不合理输入数据构成的集合，它可以发现程序异常处理的问题来检查程序是否具有一定的容错性，我们设计测试用例的时候要同时考虑这两种等价类，因为软件不仅要能够接受合理的数据，也要能够接受意外的考验。下面我们结合一些常见的不同数据类型来简单说明如何进行等价类的划分</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对于一般的简单数值变量来说，如果输入规定的取值范围，那么范围内是一个有效等价类范围外，是两个无效等价类。下面来看一个例子，程序的输入参数</a:t>
            </a:r>
            <a:r>
              <a:rPr lang="en-US" altLang="zh-CN" dirty="0"/>
              <a:t>X</a:t>
            </a:r>
            <a:r>
              <a:rPr lang="zh-CN" altLang="en-US" dirty="0"/>
              <a:t>是小于</a:t>
            </a:r>
            <a:r>
              <a:rPr lang="en-US" altLang="zh-CN" dirty="0"/>
              <a:t>100</a:t>
            </a:r>
            <a:r>
              <a:rPr lang="zh-CN" altLang="en-US" dirty="0"/>
              <a:t>大于十的整数，根据上面的方法，有一个有效等价类，就是</a:t>
            </a:r>
            <a:r>
              <a:rPr lang="en-US" altLang="zh-CN" dirty="0"/>
              <a:t>X</a:t>
            </a:r>
            <a:r>
              <a:rPr lang="zh-CN" altLang="en-US" dirty="0"/>
              <a:t>大于十小于</a:t>
            </a:r>
            <a:r>
              <a:rPr lang="en-US" altLang="zh-CN" dirty="0"/>
              <a:t>100</a:t>
            </a:r>
            <a:r>
              <a:rPr lang="zh-CN" altLang="en-US" dirty="0"/>
              <a:t>，有两个无效等价类，分别是</a:t>
            </a:r>
            <a:r>
              <a:rPr lang="en-US" altLang="zh-CN" dirty="0"/>
              <a:t>X</a:t>
            </a:r>
            <a:r>
              <a:rPr lang="zh-CN" altLang="en-US" dirty="0"/>
              <a:t>小于等于十，和</a:t>
            </a:r>
            <a:r>
              <a:rPr lang="en-US" altLang="zh-CN" dirty="0"/>
              <a:t>X</a:t>
            </a:r>
            <a:r>
              <a:rPr lang="zh-CN" altLang="en-US" dirty="0"/>
              <a:t>大于等于</a:t>
            </a:r>
            <a:r>
              <a:rPr lang="en-US" altLang="zh-CN" dirty="0"/>
              <a:t>100</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现在来看一个程序的例子，整数</a:t>
            </a:r>
            <a:r>
              <a:rPr lang="en-US" altLang="zh-CN" dirty="0"/>
              <a:t>ABC</a:t>
            </a:r>
            <a:r>
              <a:rPr lang="zh-CN" altLang="en-US" dirty="0"/>
              <a:t>是他的三个输入，分别代表三角形的三条边，这个程序判断这三条边构成的三角形类型，分别输出等边三角形，等腰三角形，一般三角形或者不构成三角形，这三个整数还满足大于等于一小于等于</a:t>
            </a:r>
            <a:r>
              <a:rPr lang="en-US" altLang="zh-CN" dirty="0"/>
              <a:t>100</a:t>
            </a:r>
            <a:r>
              <a:rPr lang="zh-CN" altLang="en-US" dirty="0"/>
              <a:t>，这个条件。现在使用等价类划分的方法来设计这个程序的测试用例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首先进行等价类划分，第一种方法是按照输入的取值进行划分，把</a:t>
            </a:r>
            <a:r>
              <a:rPr lang="en-US" altLang="zh-CN" dirty="0"/>
              <a:t>ABC</a:t>
            </a:r>
            <a:r>
              <a:rPr lang="zh-CN" altLang="en-US" dirty="0"/>
              <a:t>都划分。。。。这样的一些等价类，第二种方法是按照输出的几何特性进行划分，划分成等腰三角形，等边三角形，一般三角形和非三角形似的等价类。那么，你会选择哪一种方法来划分等价类呢？显然，第二种方法最合适。在多数情况下，等价类是根据输入域进行划分的，但并不是说不能从输出反过来划分。事实上，对于三角形这个问题，输出域的划分是最简单的方法</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等价类划分之后，我们就来设计测试用例，根据等价的性质，每一个等价类只需要选取一个有代表性的输入作为测试用例，这样我们就得到了四个有效的测试用例。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边界值分析是对输入或输出的边界值进行测试的一种方法，通常也作为等价类划分的一个补充。首先要确定边界，等价类的边界就是测试的重点。然后选取正好等于，刚好大于或者刚好小于边界的值作为测试数据。实践表明，大多数的故障往往发生在输入或者输出域的边界上，针对边界情况设计测试用例通常会取得良好的效果</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边界值分析方法认为，故障往往出现在程序输入的边界值附近，但是它是基于单故障假设的，也就是说，两个或两个以上故障同时出现而导致失效的情况很少发生。用这种方法设计测试用例的时候，每次只保留一个变量取边界值，其余的变量取正常值，正如这幅图给出的示例这样</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健壮性测试是对边界值分析的一个简单扩充，他除了边界内的五个取值之外，还增加了刚好超过边界的两个取值，像上图所示，这种方法可以检查超过极限值的时候系统的情况</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这里列举了几个边界值分析的例子，第一个例子是一个文本输入区，它允许输入一到</a:t>
            </a:r>
            <a:r>
              <a:rPr lang="en-US" altLang="zh-CN" dirty="0"/>
              <a:t>255</a:t>
            </a:r>
            <a:r>
              <a:rPr lang="zh-CN" altLang="en-US" dirty="0"/>
              <a:t>个字符，那么，空串，长度为一，二百五十五和</a:t>
            </a:r>
            <a:r>
              <a:rPr lang="en-US" altLang="zh-CN" dirty="0"/>
              <a:t>256</a:t>
            </a:r>
            <a:r>
              <a:rPr lang="zh-CN" altLang="en-US" dirty="0"/>
              <a:t>的字符串都是边界条件值。第二个例子是要求输入五位十进制整数，我们可以使用当好小用为和大于五位的数值作为边界条件。第三个例子是磁盘空间，这个边界值和整数的边界值比较类似。</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等价类划分之后，我们就来设计测试用例，根据等价的性质，每一个等价类只需要选取一个有代表性的输入作为测试用例，这样我们就得到了四个有效的测试用例。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12</a:t>
            </a:fld>
            <a:endParaRPr lang="zh-CN" altLang="en-US"/>
          </a:p>
        </p:txBody>
      </p:sp>
    </p:spTree>
    <p:extLst>
      <p:ext uri="{BB962C8B-B14F-4D97-AF65-F5344CB8AC3E}">
        <p14:creationId xmlns:p14="http://schemas.microsoft.com/office/powerpoint/2010/main" val="14784254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我们再来看一下三角形程序的例子，按照前面提到的单故障原则，我们可以设计一些边界值的测试用例，在这里边界值分别取了</a:t>
            </a:r>
            <a:r>
              <a:rPr lang="en-US" altLang="zh-CN" dirty="0"/>
              <a:t>1</a:t>
            </a:r>
            <a:r>
              <a:rPr lang="zh-CN" altLang="en-US" dirty="0"/>
              <a:t>，</a:t>
            </a:r>
            <a:r>
              <a:rPr lang="en-US" altLang="zh-CN" dirty="0"/>
              <a:t>2</a:t>
            </a:r>
            <a:r>
              <a:rPr lang="zh-CN" altLang="en-US" dirty="0"/>
              <a:t>，</a:t>
            </a:r>
            <a:r>
              <a:rPr lang="en-US" altLang="zh-CN" dirty="0"/>
              <a:t>119</a:t>
            </a:r>
            <a:r>
              <a:rPr lang="zh-CN" altLang="en-US" dirty="0"/>
              <a:t>和</a:t>
            </a:r>
            <a:r>
              <a:rPr lang="en-US" altLang="zh-CN" dirty="0"/>
              <a:t>120</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我们还可以补充一些无效测试用例，根据前面提到的组合原则，每一个测试用例只有一个参数是无效的，其余保持有效，这样就形成了健壮等价类的测试用例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15</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测试经验对于软件测试是非常重要的，人们可以根据经验或者直觉推测出程序中可能存在的各种错误，然后有针对性地编写，检查这些错误的测试用例。实际上，软件缺陷具有空间聚集性，对于代码的缺陷多发地段，投入更多的精力进行测试，往往可以发现更多的错误</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16</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测试覆盖标准是衡量软件测试质量的一个重要指标。下面我们先了解一下他的相关概念。测试需求可以针对不同的软件制品来进行描述，比如源代码，需求说明等。如果我们要测试源代码的所有语句，那么每条语句就是一个测试需求。测试标准是把测试需求施加在一个测试集上的一组规则，例如每一条语句都要执行，就是一个覆盖标准。所谓测试覆盖，是指对于每一条测试需求，至少要有一个测试用例可以满足这个需求。由于完全测试是不现实的。所以我们使用覆盖程度或者覆盖率来说明测试所做的情况，也就是说一个测试用例集即能够满足测试需求的比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18</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没有现实生活中的一个例子，来进一步解释一下上面的概念。假设我们要测试一个装有糖豆的袋子，糖豆有六种口味和四种颜色。那么对于口味来说，就有柠檬，开心果，鼻子，哈密瓜橘子和杏这六种口味的测试需求。就颜色来说，有黄色绿色白色和橙色四种颜色的测试需求。我们可以选择口味这个标准，也可以选择颜色这个标准，那么用哪一种覆盖标准更好一些呢？如果我们选择颜色这标准，那么用每一种颜色各一个糖豆来测试，是可以达到</a:t>
            </a:r>
            <a:r>
              <a:rPr lang="en-US" altLang="zh-CN" dirty="0"/>
              <a:t>100%</a:t>
            </a:r>
            <a:r>
              <a:rPr lang="zh-CN" altLang="en-US" dirty="0"/>
              <a:t>的覆盖。但是这个时候会有两种口味没有覆盖到。如果选择口味这个标准，那么在覆盖了每一种口味的同时，也就覆盖了颜色的标准。也就是说，口味这个标准包含颜色标准。但实际的项目。选择覆盖标准可能要更复杂一些，一般需要考虑三个方面的因素。第一处理测试需求的满意程度。第二是生成测试用例的难易程度。第三是用测试发现缺陷的能力</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19</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同学们好，上节课咱们讲到了如何使用黑盒测试，也就是</a:t>
            </a:r>
            <a:r>
              <a:rPr lang="zh-CN" altLang="en-US" sz="1200" spc="20" dirty="0">
                <a:latin typeface="微软雅黑" panose="020B0503020204020204" pitchFamily="34" charset="-122"/>
                <a:cs typeface="微软雅黑" panose="020B0503020204020204" pitchFamily="34" charset="-122"/>
              </a:rPr>
              <a:t>完全不考虑程序内部的逻辑结构和内部</a:t>
            </a:r>
            <a:r>
              <a:rPr lang="zh-CN" altLang="en-US" sz="1200" dirty="0">
                <a:latin typeface="微软雅黑" panose="020B0503020204020204" pitchFamily="34" charset="-122"/>
                <a:cs typeface="微软雅黑" panose="020B0503020204020204" pitchFamily="34" charset="-122"/>
              </a:rPr>
              <a:t>特性来进行单元测试，这节课我们为大家介绍与之相对的，白盒测试。</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20</a:t>
            </a:fld>
            <a:endParaRPr lang="zh-CN" altLang="en-US"/>
          </a:p>
        </p:txBody>
      </p:sp>
    </p:spTree>
    <p:extLst>
      <p:ext uri="{BB962C8B-B14F-4D97-AF65-F5344CB8AC3E}">
        <p14:creationId xmlns:p14="http://schemas.microsoft.com/office/powerpoint/2010/main" val="35529271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前面讲过，白盒测试是利用程序内部的逻辑结构，对程序的所有逻辑路径进行测试。那么为什么要做白盒测试呢？我们先来看一个例子。假设有一台面包机从上面倒入面粉和水，开动机器之后，下面出来的就是烤好的面包，这个惊喜的功能比较单一，接口也很清晰，输入的是面粉和水，输出的是面包。假设这个机器很多年没有使用，我们现在需要检查一下机器的情况。一种办法是直接把水和面粉加进去，看他是否可以正常工作，这就是黑盒方法。但是这种情况下，我们没有办法了解机器内部的情况，比如说零件是否生锈，是不是残存了很多脏东西的。还有一种比较好的办法是把机器拆开检查和清洗内部的零件，然后再组装起来，把水和面粉加进去试一试。显然，拆开检查就是白盒方法，再组装回来就是黑盒方法。这个例子说明，有时候单纯使用黑盒测试是不够的，还需要进行白盒测试，白盒测试对代码中逻辑关系的覆盖更为全面，做得好，可以极大地增强产品的健壮性。接下来，我们主要介绍基于控制流的白盒测试技术。</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21</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讲解具体的测试方法之前，我们先介绍一个概念，控制流图。控制流图是一个过程或程序的抽象，他的节点是语句或语句的一部分，它的边表示语句的控制流。我们都学过程序流程图，控制流图应该说是流程图的一个简化，它更突出了控制流的结构。在控制流图里面，我们把所有顺序执行的语句看成是一个节点。对于判断分支来说，判断条件是一个节点，这个节点根据判断的真和假产生两个不同的分支。在判断分支执行结束之后，还会有一个合并的节点</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22</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下面我们结合一个例子来介绍一下如何画出程序的控制流图。这个程序的功能是从文件中读取成绩，然后再求出所有成绩的平均值并打印输出。</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23</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程序的前三行都是顺序执行语句。在这里，我们把他们看成是一个节点。后面</a:t>
            </a:r>
            <a:r>
              <a:rPr lang="en-US" altLang="zh-CN" dirty="0"/>
              <a:t>while</a:t>
            </a:r>
            <a:r>
              <a:rPr lang="zh-CN" altLang="en-US" dirty="0"/>
              <a:t>循环产生一个判断分支。在循环的里面有一个</a:t>
            </a:r>
            <a:r>
              <a:rPr lang="en-US" altLang="zh-CN" dirty="0"/>
              <a:t>if</a:t>
            </a:r>
            <a:r>
              <a:rPr lang="zh-CN" altLang="en-US" dirty="0"/>
              <a:t>的判断分支。</a:t>
            </a:r>
            <a:r>
              <a:rPr lang="en-US" altLang="zh-CN" dirty="0"/>
              <a:t>if</a:t>
            </a:r>
            <a:r>
              <a:rPr lang="zh-CN" altLang="en-US" dirty="0"/>
              <a:t>为真时执行两个顺序句。</a:t>
            </a:r>
            <a:r>
              <a:rPr lang="en-US" altLang="zh-CN" dirty="0"/>
              <a:t>if.</a:t>
            </a:r>
            <a:r>
              <a:rPr lang="zh-CN" altLang="en-US" dirty="0"/>
              <a:t>语句后面是一个读文件的依据。整个</a:t>
            </a:r>
            <a:r>
              <a:rPr lang="en-US" altLang="zh-CN" dirty="0"/>
              <a:t>while</a:t>
            </a:r>
            <a:r>
              <a:rPr lang="zh-CN" altLang="en-US" dirty="0"/>
              <a:t>循环结束之后，还有一个判断分支为真执行两个顺序语句，为假时执行一个语句。这里</a:t>
            </a:r>
            <a:r>
              <a:rPr lang="en-US" altLang="zh-CN" dirty="0"/>
              <a:t>1457</a:t>
            </a:r>
            <a:r>
              <a:rPr lang="zh-CN" altLang="en-US" dirty="0"/>
              <a:t>和八都是可执行语句，也称为基本块。</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24</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根据前面我们对程序的分析，就可以画出如图所示的控制流图。这个图中三个红色的菱形是三个分支节点，其余的都是由基本块儿组成的基本的计算节点</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25</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基于控制流的白盒测试方法主要包括以下步骤，首先根据程序单元画出程序的流程图，然后根据流程图得到控制流图，再根据路径选择标准选择合适的路径。对于所选择的路径生成相应的测试数据。如果选择的路径可行，那么就得到测试的输入数据，否则继续选择其他路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26</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白盒测试方法，使用代码覆盖率作为测试的衡量指标。代码覆盖率描述的是代码被测试的比例和程度。如果我们只是编写测试用例进行测试，而不检查究竟哪些代码被测试过，哪些还没有测试过就很容易形成测试的漏洞。通过代码覆盖率，我们可以知道哪些代码没有被覆盖，然后再进一步的补充更多的测试用例。代码覆盖通常包括语句覆盖判定覆盖条件覆盖判定条件覆盖条件组合覆盖和路径覆盖这六种类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27</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下面我们结合一个简单的程序例子来讲解一下这六种覆盖类型。右边是这个程序的流程图。一共有五个节点，其中有两个判断节点。</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28</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第一个语句覆盖他要求程序中，每一个可执行语句至少要被执行一次。看一下前面这个例子。如果我们选择</a:t>
            </a:r>
            <a:r>
              <a:rPr lang="en-US" altLang="zh-CN" dirty="0"/>
              <a:t>a</a:t>
            </a:r>
            <a:r>
              <a:rPr lang="zh-CN" altLang="en-US" dirty="0"/>
              <a:t>等于</a:t>
            </a:r>
            <a:r>
              <a:rPr lang="en-US" altLang="zh-CN" dirty="0"/>
              <a:t>2</a:t>
            </a:r>
            <a:r>
              <a:rPr lang="zh-CN" altLang="en-US" dirty="0"/>
              <a:t>，</a:t>
            </a:r>
            <a:r>
              <a:rPr lang="en-US" altLang="zh-CN" dirty="0"/>
              <a:t>B</a:t>
            </a:r>
            <a:r>
              <a:rPr lang="zh-CN" altLang="en-US" dirty="0"/>
              <a:t>等于</a:t>
            </a:r>
            <a:r>
              <a:rPr lang="en-US" altLang="zh-CN" dirty="0"/>
              <a:t>1</a:t>
            </a:r>
            <a:r>
              <a:rPr lang="zh-CN" altLang="en-US" dirty="0"/>
              <a:t>，</a:t>
            </a:r>
            <a:r>
              <a:rPr lang="en-US" altLang="zh-CN" dirty="0"/>
              <a:t>C</a:t>
            </a:r>
            <a:r>
              <a:rPr lang="zh-CN" altLang="en-US" dirty="0"/>
              <a:t>等于六这样一个测试用例。三个可执行语句，二四和五都执行了一次，那么可以满足语句覆盖的要求。但是如果判断条件有问题，比如说第一个条件判断中与被错误地写成或，显然这个测试用例是无法检查出来的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29</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由于这种方法仅仅针对程序中显示存在的可执行语句进行测试，那么，对于隐藏条件和可能达到的隐式逻辑分支是无法覆盖的。可以说，语句覆盖是最弱的逻辑覆盖准则</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30</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第二个判定覆盖也称分支覆盖。他要求程序中，每一个判断的取真和取假分支至少经历一次，也就是判断的真假值都要被覆盖。还是前面这个例子。输入</a:t>
            </a:r>
            <a:r>
              <a:rPr lang="en-US" altLang="zh-CN" dirty="0"/>
              <a:t>a</a:t>
            </a:r>
            <a:r>
              <a:rPr lang="zh-CN" altLang="en-US" dirty="0"/>
              <a:t>等于</a:t>
            </a:r>
            <a:r>
              <a:rPr lang="en-US" altLang="zh-CN" dirty="0"/>
              <a:t>2</a:t>
            </a:r>
            <a:r>
              <a:rPr lang="zh-CN" altLang="en-US" dirty="0"/>
              <a:t>，</a:t>
            </a:r>
            <a:r>
              <a:rPr lang="en-US" altLang="zh-CN" dirty="0"/>
              <a:t>B</a:t>
            </a:r>
            <a:r>
              <a:rPr lang="zh-CN" altLang="en-US" dirty="0"/>
              <a:t>等于</a:t>
            </a:r>
            <a:r>
              <a:rPr lang="en-US" altLang="zh-CN" dirty="0"/>
              <a:t>1</a:t>
            </a:r>
            <a:r>
              <a:rPr lang="zh-CN" altLang="en-US" dirty="0"/>
              <a:t>，</a:t>
            </a:r>
            <a:r>
              <a:rPr lang="en-US" altLang="zh-CN" dirty="0"/>
              <a:t>C</a:t>
            </a:r>
            <a:r>
              <a:rPr lang="zh-CN" altLang="en-US" dirty="0"/>
              <a:t>等于六这样一个测试用例，可以同时覆盖判断一和判断二两个取真的分支。输入</a:t>
            </a:r>
            <a:r>
              <a:rPr lang="en-US" altLang="zh-CN" dirty="0"/>
              <a:t>a</a:t>
            </a:r>
            <a:r>
              <a:rPr lang="zh-CN" altLang="en-US" dirty="0"/>
              <a:t>等于初二必给一附</a:t>
            </a:r>
            <a:r>
              <a:rPr lang="en-US" altLang="zh-CN" dirty="0"/>
              <a:t>1C</a:t>
            </a:r>
            <a:r>
              <a:rPr lang="zh-CN" altLang="en-US" dirty="0"/>
              <a:t>等于负三，这个测试用例，同时覆盖了判断一和判断二取假的分支。判定覆盖比语句覆盖要多几近乎一倍的测试路径，当然也具有更强的测试能力。但是如果第二个条件判断中</a:t>
            </a:r>
            <a:r>
              <a:rPr lang="en-US" altLang="zh-CN" dirty="0"/>
              <a:t>a</a:t>
            </a:r>
            <a:r>
              <a:rPr lang="zh-CN" altLang="en-US" dirty="0"/>
              <a:t>大一写成</a:t>
            </a:r>
            <a:r>
              <a:rPr lang="en-US" altLang="zh-CN" dirty="0"/>
              <a:t>a</a:t>
            </a:r>
            <a:r>
              <a:rPr lang="zh-CN" altLang="en-US" dirty="0"/>
              <a:t>小一还是无法检测出来</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31</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知道，大部分判定语句是由多个逻辑条件组合而成的。如果仅仅是判断整个判断的最终结果，而忽略每一个条件的取值情况，那么就会遗漏部分的测试路径。显然，判定覆盖有比语句覆盖更强的测试能力，但仍然是比较弱的逻辑覆盖</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32</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第三，条件覆盖，他要求每个判断中每一个条件的可能取值至少要满足一次。对于这个例子。输入</a:t>
            </a:r>
            <a:r>
              <a:rPr lang="en-US" altLang="zh-CN" dirty="0"/>
              <a:t>a</a:t>
            </a:r>
            <a:r>
              <a:rPr lang="zh-CN" altLang="en-US" dirty="0"/>
              <a:t>等于</a:t>
            </a:r>
            <a:r>
              <a:rPr lang="en-US" altLang="zh-CN" dirty="0"/>
              <a:t>2B</a:t>
            </a:r>
            <a:r>
              <a:rPr lang="zh-CN" altLang="en-US" dirty="0"/>
              <a:t>，等于负</a:t>
            </a:r>
            <a:r>
              <a:rPr lang="en-US" altLang="zh-CN" dirty="0"/>
              <a:t>1C</a:t>
            </a:r>
            <a:r>
              <a:rPr lang="zh-CN" altLang="en-US" dirty="0"/>
              <a:t>等于初二，这个测试用例覆盖了</a:t>
            </a:r>
            <a:r>
              <a:rPr lang="en-US" altLang="zh-CN" dirty="0"/>
              <a:t>a</a:t>
            </a:r>
            <a:r>
              <a:rPr lang="zh-CN" altLang="en-US" dirty="0"/>
              <a:t>代理</a:t>
            </a:r>
            <a:r>
              <a:rPr lang="en-US" altLang="zh-CN" dirty="0"/>
              <a:t>B</a:t>
            </a:r>
            <a:r>
              <a:rPr lang="zh-CN" altLang="en-US" dirty="0"/>
              <a:t>小于等于</a:t>
            </a:r>
            <a:r>
              <a:rPr lang="en-US" altLang="zh-CN" dirty="0"/>
              <a:t>0a</a:t>
            </a:r>
            <a:r>
              <a:rPr lang="zh-CN" altLang="en-US" dirty="0"/>
              <a:t>，大一</a:t>
            </a:r>
            <a:r>
              <a:rPr lang="en-US" altLang="zh-CN" dirty="0"/>
              <a:t>a</a:t>
            </a:r>
            <a:r>
              <a:rPr lang="zh-CN" altLang="en-US" dirty="0"/>
              <a:t>小于等于四个条件。输入</a:t>
            </a:r>
            <a:r>
              <a:rPr lang="en-US" altLang="zh-CN" dirty="0"/>
              <a:t>a</a:t>
            </a:r>
            <a:r>
              <a:rPr lang="zh-CN" altLang="en-US" dirty="0"/>
              <a:t>的属于</a:t>
            </a:r>
            <a:r>
              <a:rPr lang="en-US" altLang="zh-CN" dirty="0"/>
              <a:t>B</a:t>
            </a:r>
            <a:r>
              <a:rPr lang="zh-CN" altLang="en-US" dirty="0"/>
              <a:t>等于</a:t>
            </a:r>
            <a:r>
              <a:rPr lang="en-US" altLang="zh-CN" dirty="0"/>
              <a:t>2C</a:t>
            </a:r>
            <a:r>
              <a:rPr lang="zh-CN" altLang="en-US" dirty="0"/>
              <a:t>等于三，这个测试用例呢，就覆盖了，一小于等于</a:t>
            </a:r>
            <a:r>
              <a:rPr lang="en-US" altLang="zh-CN" dirty="0"/>
              <a:t>0B</a:t>
            </a:r>
            <a:r>
              <a:rPr lang="zh-CN" altLang="en-US" dirty="0"/>
              <a:t>大于零。非大衣这样四个条件，这两个测试用例覆盖了两个判断的所有条件的可能取值。需要说明的是，条件覆盖不一定包含判定覆盖，比如说上面的测试用例就没有覆盖判断一的真分支和判定二的假分支</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33</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显然，条件覆盖只能保证每一个条件至少有一次为真，而没有考虑到整个判定的结果</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34</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第四，判定条件覆盖，他要求判断中所有条件的可能取值至少执行一次，而且所有判断的可能结果也要至少执行一次。对于前面那个例子，输入</a:t>
            </a:r>
            <a:r>
              <a:rPr lang="en-US" altLang="zh-CN" dirty="0"/>
              <a:t>a</a:t>
            </a:r>
            <a:r>
              <a:rPr lang="zh-CN" altLang="en-US" dirty="0"/>
              <a:t>等于</a:t>
            </a:r>
            <a:r>
              <a:rPr lang="en-US" altLang="zh-CN" dirty="0"/>
              <a:t>2B</a:t>
            </a:r>
            <a:r>
              <a:rPr lang="zh-CN" altLang="en-US" dirty="0"/>
              <a:t>，等于</a:t>
            </a:r>
            <a:r>
              <a:rPr lang="en-US" altLang="zh-CN" dirty="0"/>
              <a:t>1C</a:t>
            </a:r>
            <a:r>
              <a:rPr lang="zh-CN" altLang="en-US" dirty="0"/>
              <a:t>等于六，这个测试用例是覆盖了</a:t>
            </a:r>
            <a:r>
              <a:rPr lang="en-US" altLang="zh-CN" dirty="0"/>
              <a:t>ABB0AC</a:t>
            </a:r>
            <a:r>
              <a:rPr lang="zh-CN" altLang="en-US" dirty="0"/>
              <a:t>大于一这样的四个条件，同时呢，也覆盖了两个判断都为真这样的结果。收入</a:t>
            </a:r>
            <a:r>
              <a:rPr lang="en-US" altLang="zh-CN" dirty="0"/>
              <a:t>a</a:t>
            </a:r>
            <a:r>
              <a:rPr lang="zh-CN" altLang="en-US" dirty="0"/>
              <a:t>等于负，</a:t>
            </a:r>
            <a:r>
              <a:rPr lang="en-US" altLang="zh-CN" dirty="0"/>
              <a:t>1B</a:t>
            </a:r>
            <a:r>
              <a:rPr lang="zh-CN" altLang="en-US" dirty="0"/>
              <a:t>等于负</a:t>
            </a:r>
            <a:r>
              <a:rPr lang="en-US" altLang="zh-CN" dirty="0"/>
              <a:t>2C</a:t>
            </a:r>
            <a:r>
              <a:rPr lang="zh-CN" altLang="en-US" dirty="0"/>
              <a:t>等于负三，这个测试用例覆盖啦</a:t>
            </a:r>
            <a:r>
              <a:rPr lang="en-US" altLang="zh-CN" dirty="0"/>
              <a:t>AB</a:t>
            </a:r>
            <a:r>
              <a:rPr lang="zh-CN" altLang="en-US" dirty="0"/>
              <a:t>小于等于</a:t>
            </a:r>
            <a:r>
              <a:rPr lang="en-US" altLang="zh-CN" dirty="0"/>
              <a:t>0ac</a:t>
            </a:r>
            <a:r>
              <a:rPr lang="zh-CN" altLang="en-US" dirty="0"/>
              <a:t>小于等于一四个条件，同时覆盖了两个判断为假这样的结果。显然，判定条件覆盖能够同时满足判定和条件两种覆盖的标准，但是它还是有不足的，他没有考虑到条件的各种组合的情况</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35</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五条件组合覆盖，他是在判定条件覆盖的基础上，增加了每一个条件的所有可能取值的组合情况。对于示例程序的潘转一来说，这里是四种条件的组合情况，这里呢是对应的判断一的结果取值。最后呢是判断一，满足判定条件组合的四种取值情况，同样也可以得到判断二的结果。</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36</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根据前面的分析，我们选择了图上所示的四个测试用例，他们可以满足每个条件所有可能的组合，而且覆盖了每一个判断的所有结果。但是我们再进一步看一下这些测试用例所覆盖的路径。显然，</a:t>
            </a:r>
            <a:r>
              <a:rPr lang="en-US" altLang="zh-CN" dirty="0"/>
              <a:t>125</a:t>
            </a:r>
            <a:r>
              <a:rPr lang="zh-CN" altLang="en-US" dirty="0"/>
              <a:t>这个路径是没有被覆盖的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37</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六路径覆盖，他要求覆盖程序中所有可能的执行路径。我们把前面条件组合覆盖的第二个测试用例进行了修改，得到了上面的这样的结果。这个测试用例的结果覆盖了所有的执行路径，但是呢，我们再进一步的看他并没有覆盖每一个条件的所有组合情况。</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38</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为了在覆盖所有执行路径的同时，还能够覆盖所有条件组合的情况，我们要补充了一个测试用例，最终得到了上面显示的五个测试用例的结果</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39</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测试覆盖率是对测试完全程度的一种评价，但是达到</a:t>
            </a:r>
            <a:r>
              <a:rPr lang="en-US" altLang="zh-CN" dirty="0"/>
              <a:t>100%</a:t>
            </a:r>
            <a:r>
              <a:rPr lang="zh-CN" altLang="en-US" dirty="0"/>
              <a:t>只是一个理想的情况。而且即使达到了</a:t>
            </a:r>
            <a:r>
              <a:rPr lang="en-US" altLang="zh-CN" dirty="0"/>
              <a:t>100%</a:t>
            </a:r>
            <a:r>
              <a:rPr lang="zh-CN" altLang="en-US" dirty="0"/>
              <a:t>，也很难说明测试是完全彻底的。测试覆盖率只能代表测试过哪些代码并不能代表测试的好坏。测试覆盖率过低，说明测试做得不够，反过来并不成立。我们不能盲目地追求高的覆盖率，要结合整体要求和测试成本来决定</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40</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基本路径测试也是一种白盒方法，它是在控制流图的基础上，通过分析控制构造的环路复杂性导出一个基本的可执行路径集合，然后设计出测试用例。他有四个步骤，第一步，绘制程序的控制流图，第二部计算环路复杂度，这是对程序逻辑复杂性的一种度量，它代表了程序中基本独立路径的数量。第三步，确定基本路径第四步，根据基本路径集合中每一条路径，要被执行一次的原则设计出测试用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41</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我们用前面提到的计算平均成绩的这个例子来介绍一下基本路径方法。</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42</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要画出程序的控制流图，这一部分在前面已经讲过，然后是计算环路的复杂度，我们可以用三种方法进行计算。另一种方法计算有边和节点圈定的区域数，在这个例子中，我们可以找到区域一区域二区域三，另外还有一个图形外的开放区域，也就是区域四一共是有四个区域。第二种方法，通过边数简洁点数加，二来计算这个图有时一条边和九个节点，最后得到四。第三种方法，通过判断节点数加一来计算。这个图一共有三个判断节点，分别是二三和六，最后也是得到四。在计算的过程中，你可以使用任何一种方法来计算我们这个例子得到的环路复杂度</a:t>
            </a:r>
            <a:r>
              <a:rPr lang="en-US" altLang="zh-CN" dirty="0"/>
              <a:t>4</a:t>
            </a:r>
            <a:r>
              <a:rPr lang="zh-CN" altLang="en-US" dirty="0"/>
              <a:t>。</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43</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接下来要找出基本独立路径集，独立路径具有这样的性质，一条独立路径和其他独立路径相比，至少要包含一条新的边，而环路复杂度，正好是等于程序的独立路径数，我们先来找第一条路径，从头</a:t>
            </a:r>
            <a:r>
              <a:rPr lang="en-US" altLang="zh-CN" dirty="0"/>
              <a:t>12345</a:t>
            </a:r>
            <a:r>
              <a:rPr lang="zh-CN" altLang="en-US" dirty="0"/>
              <a:t>，然后再回到二，这是第一条路径，第二条路径，至少要加入一条新边，所以我们选择节点三的另一个分支，得到了</a:t>
            </a:r>
            <a:r>
              <a:rPr lang="en-US" altLang="zh-CN" dirty="0"/>
              <a:t>1235</a:t>
            </a:r>
            <a:r>
              <a:rPr lang="zh-CN" altLang="en-US" dirty="0"/>
              <a:t>，然后再回到二。第三条路径我们选择节点二的另一个分支，得到</a:t>
            </a:r>
            <a:r>
              <a:rPr lang="en-US" altLang="zh-CN" dirty="0"/>
              <a:t>12679</a:t>
            </a:r>
            <a:r>
              <a:rPr lang="zh-CN" altLang="en-US" dirty="0"/>
              <a:t>第四条路径选择，六节点的另一个分支得到</a:t>
            </a:r>
            <a:r>
              <a:rPr lang="en-US" altLang="zh-CN" dirty="0"/>
              <a:t>12689</a:t>
            </a:r>
            <a:r>
              <a:rPr lang="zh-CN" altLang="en-US" dirty="0"/>
              <a:t>，这样我们就得到了示例程序的基本路径集</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44</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最后，我们选择合适的输入数据，形成测试用例集。这里</a:t>
            </a:r>
            <a:r>
              <a:rPr lang="en-US" altLang="zh-CN" dirty="0"/>
              <a:t>P3</a:t>
            </a:r>
            <a:r>
              <a:rPr lang="zh-CN" altLang="en-US" dirty="0"/>
              <a:t>这条路径是无法达到的，因为在文件没有数据的时候，不可能满足成绩个数大于零这个条件。另外，有一些独立路径往往不是孤立的，它是正常控制流的一部分，比如</a:t>
            </a:r>
            <a:r>
              <a:rPr lang="en-US" altLang="zh-CN" dirty="0"/>
              <a:t>P3</a:t>
            </a:r>
            <a:r>
              <a:rPr lang="zh-CN" altLang="en-US" dirty="0"/>
              <a:t>就是</a:t>
            </a:r>
            <a:r>
              <a:rPr lang="en-US" altLang="zh-CN" dirty="0"/>
              <a:t>p1</a:t>
            </a:r>
            <a:r>
              <a:rPr lang="zh-CN" altLang="en-US" dirty="0"/>
              <a:t>和</a:t>
            </a:r>
            <a:r>
              <a:rPr lang="en-US" altLang="zh-CN" dirty="0"/>
              <a:t>2</a:t>
            </a:r>
            <a:r>
              <a:rPr lang="zh-CN" altLang="en-US" dirty="0"/>
              <a:t>的一部分。为了更好的测试，你也可以再补充一些测试用例，像这个例子中可以补充文件数据全是零和负数的情况，他的输出信息和上面的</a:t>
            </a:r>
            <a:r>
              <a:rPr lang="en-US" altLang="zh-CN" dirty="0"/>
              <a:t>4</a:t>
            </a:r>
            <a:r>
              <a:rPr lang="zh-CN" altLang="en-US" dirty="0"/>
              <a:t>是一样的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45</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循环也是测试的重点，其目的是检查循环结构的有效性，循环可以分成简单循环嵌套循环串接循环和非结构循环等类型。对于简单循环来说，根据循环次数</a:t>
            </a:r>
            <a:r>
              <a:rPr lang="en-US" altLang="zh-CN" dirty="0"/>
              <a:t>N</a:t>
            </a:r>
            <a:r>
              <a:rPr lang="zh-CN" altLang="en-US" dirty="0"/>
              <a:t>可以选择次数的最小边界</a:t>
            </a:r>
            <a:r>
              <a:rPr lang="en-US" altLang="zh-CN" dirty="0"/>
              <a:t>012</a:t>
            </a:r>
            <a:r>
              <a:rPr lang="zh-CN" altLang="en-US" dirty="0"/>
              <a:t>，中间任意职</a:t>
            </a:r>
            <a:r>
              <a:rPr lang="en-US" altLang="zh-CN" dirty="0"/>
              <a:t>M</a:t>
            </a:r>
            <a:r>
              <a:rPr lang="zh-CN" altLang="en-US" dirty="0"/>
              <a:t>和最大边界</a:t>
            </a:r>
            <a:r>
              <a:rPr lang="en-US" altLang="zh-CN" dirty="0"/>
              <a:t>N</a:t>
            </a:r>
            <a:r>
              <a:rPr lang="zh-CN" altLang="en-US" dirty="0"/>
              <a:t>减</a:t>
            </a:r>
            <a:r>
              <a:rPr lang="en-US" altLang="zh-CN" dirty="0"/>
              <a:t>1</a:t>
            </a:r>
            <a:r>
              <a:rPr lang="zh-CN" altLang="en-US" dirty="0"/>
              <a:t>，</a:t>
            </a:r>
            <a:r>
              <a:rPr lang="en-US" altLang="zh-CN" dirty="0"/>
              <a:t>N</a:t>
            </a:r>
            <a:r>
              <a:rPr lang="zh-CN" altLang="en-US" dirty="0"/>
              <a:t>和</a:t>
            </a:r>
            <a:r>
              <a:rPr lang="en-US" altLang="zh-CN" dirty="0"/>
              <a:t>N</a:t>
            </a:r>
            <a:r>
              <a:rPr lang="zh-CN" altLang="en-US" dirty="0"/>
              <a:t>加一次</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46</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嵌套循环，先从最内层的循环开始，把其他层循环次数设为最小值，最内层的循环按照简单循环进行测试，然后从内向外再进行下一层循环重复这个过程，直到测试完所有循环。对于串接循环，如果循环之间是相互独立的，就按照简单循环来处理，如果存在依赖性，那么采用嵌套循环的方法进行测试</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47</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还有一种</a:t>
            </a:r>
            <a:r>
              <a:rPr lang="en-US" altLang="zh-CN" dirty="0"/>
              <a:t>z</a:t>
            </a:r>
            <a:r>
              <a:rPr lang="zh-CN" altLang="en-US" dirty="0"/>
              <a:t>路径覆盖下的循环测试，他是把循环简化为只考虑执行循环体一次和零次的情况</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48</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49</a:t>
            </a:fld>
            <a:endParaRPr lang="zh-CN" altLang="en-US"/>
          </a:p>
        </p:txBody>
      </p:sp>
    </p:spTree>
    <p:extLst>
      <p:ext uri="{BB962C8B-B14F-4D97-AF65-F5344CB8AC3E}">
        <p14:creationId xmlns:p14="http://schemas.microsoft.com/office/powerpoint/2010/main" val="50340333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接下来，单元测试的最后，我们以</a:t>
            </a:r>
            <a:r>
              <a:rPr lang="en-US" altLang="zh-CN" dirty="0"/>
              <a:t>python</a:t>
            </a:r>
            <a:r>
              <a:rPr lang="zh-CN" altLang="en-US" dirty="0"/>
              <a:t>为例，介绍一下它的单元测试工具和案例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55</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Python</a:t>
            </a:r>
            <a:r>
              <a:rPr lang="zh-CN" altLang="en-US" dirty="0"/>
              <a:t>的单元测试框架</a:t>
            </a:r>
            <a:r>
              <a:rPr lang="en-US" altLang="zh-CN" dirty="0" err="1"/>
              <a:t>unittest</a:t>
            </a:r>
            <a:r>
              <a:rPr lang="zh-CN" altLang="en-US" dirty="0"/>
              <a:t>是受到</a:t>
            </a:r>
            <a:r>
              <a:rPr lang="en-US" altLang="zh-CN" dirty="0"/>
              <a:t>JUnit</a:t>
            </a:r>
            <a:r>
              <a:rPr lang="zh-CN" altLang="en-US" dirty="0"/>
              <a:t>的启发产生的，并且内置在</a:t>
            </a:r>
            <a:r>
              <a:rPr lang="en-US" altLang="zh-CN" dirty="0"/>
              <a:t>python</a:t>
            </a:r>
            <a:r>
              <a:rPr lang="zh-CN" altLang="en-US" dirty="0"/>
              <a:t>中，无需我们安装，</a:t>
            </a:r>
            <a:r>
              <a:rPr lang="en-US" altLang="zh-CN" dirty="0" err="1"/>
              <a:t>unittest</a:t>
            </a:r>
            <a:r>
              <a:rPr lang="zh-CN" altLang="en-US" dirty="0"/>
              <a:t>框架主要由以下几部分组成。首先是</a:t>
            </a:r>
            <a:r>
              <a:rPr lang="en-US" altLang="zh-CN" dirty="0" err="1"/>
              <a:t>TestCase</a:t>
            </a:r>
            <a:r>
              <a:rPr lang="zh-CN" altLang="en-US" dirty="0"/>
              <a:t>类，它是一个最小的测试单元，我们通过继承这个类来编写测试用例，</a:t>
            </a:r>
            <a:r>
              <a:rPr lang="zh-CN" altLang="en-US" sz="1200" b="0" i="0" kern="1200" dirty="0">
                <a:solidFill>
                  <a:schemeClr val="tx1"/>
                </a:solidFill>
                <a:effectLst/>
                <a:latin typeface="+mn-lt"/>
                <a:ea typeface="+mn-ea"/>
                <a:cs typeface="+mn-cs"/>
              </a:rPr>
              <a:t>每一个继承</a:t>
            </a:r>
            <a:r>
              <a:rPr lang="en-US" altLang="zh-CN" sz="1200" b="0" i="0" kern="1200" dirty="0" err="1">
                <a:solidFill>
                  <a:schemeClr val="tx1"/>
                </a:solidFill>
                <a:effectLst/>
                <a:latin typeface="+mn-lt"/>
                <a:ea typeface="+mn-ea"/>
                <a:cs typeface="+mn-cs"/>
              </a:rPr>
              <a:t>TestCase</a:t>
            </a:r>
            <a:r>
              <a:rPr lang="zh-CN" altLang="en-US" sz="1200" b="0" i="0" kern="1200" dirty="0">
                <a:solidFill>
                  <a:schemeClr val="tx1"/>
                </a:solidFill>
                <a:effectLst/>
                <a:latin typeface="+mn-lt"/>
                <a:ea typeface="+mn-ea"/>
                <a:cs typeface="+mn-cs"/>
              </a:rPr>
              <a:t>类的子类都是一个测试用例</a:t>
            </a:r>
            <a:r>
              <a:rPr lang="en-US" altLang="zh-CN" sz="1200" b="0" i="0" kern="1200" dirty="0">
                <a:solidFill>
                  <a:schemeClr val="tx1"/>
                </a:solidFill>
                <a:effectLst/>
                <a:latin typeface="+mn-lt"/>
                <a:ea typeface="+mn-ea"/>
                <a:cs typeface="+mn-cs"/>
              </a:rPr>
              <a:t>test case</a:t>
            </a:r>
            <a:r>
              <a:rPr lang="zh-CN" altLang="en-US" sz="1200" b="0" i="0" kern="1200" dirty="0">
                <a:solidFill>
                  <a:schemeClr val="tx1"/>
                </a:solidFill>
                <a:effectLst/>
                <a:latin typeface="+mn-lt"/>
                <a:ea typeface="+mn-ea"/>
                <a:cs typeface="+mn-cs"/>
              </a:rPr>
              <a:t>，里面实现的具体的方法都是以</a:t>
            </a:r>
            <a:r>
              <a:rPr lang="en-US" altLang="zh-CN" sz="1200" b="0" i="0" kern="1200" dirty="0">
                <a:solidFill>
                  <a:schemeClr val="tx1"/>
                </a:solidFill>
                <a:effectLst/>
                <a:latin typeface="+mn-lt"/>
                <a:ea typeface="+mn-ea"/>
                <a:cs typeface="+mn-cs"/>
              </a:rPr>
              <a:t>test</a:t>
            </a:r>
            <a:r>
              <a:rPr lang="zh-CN" altLang="en-US" sz="1200" b="0" i="0" kern="1200" dirty="0">
                <a:solidFill>
                  <a:schemeClr val="tx1"/>
                </a:solidFill>
                <a:effectLst/>
                <a:latin typeface="+mn-lt"/>
                <a:ea typeface="+mn-ea"/>
                <a:cs typeface="+mn-cs"/>
              </a:rPr>
              <a:t>开头的</a:t>
            </a:r>
            <a:r>
              <a:rPr lang="zh-CN" altLang="en-US" dirty="0"/>
              <a:t>、相互独立的测试方法。除此以外，测试用例也可以使用在</a:t>
            </a:r>
            <a:r>
              <a:rPr lang="en-US" altLang="zh-CN" dirty="0"/>
              <a:t>setup</a:t>
            </a:r>
            <a:r>
              <a:rPr lang="zh-CN" altLang="en-US" dirty="0"/>
              <a:t>和</a:t>
            </a:r>
            <a:r>
              <a:rPr lang="en-US" altLang="zh-CN" dirty="0" err="1"/>
              <a:t>tearDown</a:t>
            </a:r>
            <a:r>
              <a:rPr lang="zh-CN" altLang="en-US" dirty="0"/>
              <a:t>来为每一个测试初始化和销毁。具体来说，</a:t>
            </a:r>
            <a:r>
              <a:rPr lang="en-US" altLang="zh-CN" sz="1200" b="0" i="0" kern="1200" dirty="0">
                <a:solidFill>
                  <a:schemeClr val="tx1"/>
                </a:solidFill>
                <a:effectLst/>
                <a:latin typeface="+mn-lt"/>
                <a:ea typeface="+mn-ea"/>
                <a:cs typeface="+mn-cs"/>
              </a:rPr>
              <a:t>setup</a:t>
            </a:r>
            <a:r>
              <a:rPr lang="zh-CN" altLang="en-US" sz="1200" b="0" i="0" kern="1200" dirty="0">
                <a:solidFill>
                  <a:schemeClr val="tx1"/>
                </a:solidFill>
                <a:effectLst/>
                <a:latin typeface="+mn-lt"/>
                <a:ea typeface="+mn-ea"/>
                <a:cs typeface="+mn-cs"/>
              </a:rPr>
              <a:t>主要是进行测试前的初始化工作，比如在接口测试前面做一些前置的参数赋值，数据库操作等等；</a:t>
            </a:r>
            <a:r>
              <a:rPr lang="en-US" altLang="zh-CN" sz="1200" b="0" i="0" kern="1200" dirty="0">
                <a:solidFill>
                  <a:schemeClr val="tx1"/>
                </a:solidFill>
                <a:effectLst/>
                <a:latin typeface="+mn-lt"/>
                <a:ea typeface="+mn-ea"/>
                <a:cs typeface="+mn-cs"/>
              </a:rPr>
              <a:t>teardown</a:t>
            </a:r>
            <a:r>
              <a:rPr lang="zh-CN" altLang="en-US" sz="1200" b="0" i="0" kern="1200" dirty="0">
                <a:solidFill>
                  <a:schemeClr val="tx1"/>
                </a:solidFill>
                <a:effectLst/>
                <a:latin typeface="+mn-lt"/>
                <a:ea typeface="+mn-ea"/>
                <a:cs typeface="+mn-cs"/>
              </a:rPr>
              <a:t>是测试后的清除工作，比如参数还原或销毁，数据库的还原恢复等。</a:t>
            </a:r>
            <a:r>
              <a:rPr lang="en-US" altLang="zh-CN" dirty="0" err="1"/>
              <a:t>TestSuite</a:t>
            </a:r>
            <a:r>
              <a:rPr lang="zh-CN" altLang="en-US" dirty="0"/>
              <a:t>类，他是测试套件类，包含若干个</a:t>
            </a:r>
            <a:r>
              <a:rPr lang="en-US" altLang="zh-CN" dirty="0"/>
              <a:t>test case</a:t>
            </a:r>
            <a:r>
              <a:rPr lang="zh-CN" altLang="en-US" dirty="0"/>
              <a:t>，用来对测试进行分组管理，</a:t>
            </a:r>
            <a:r>
              <a:rPr lang="en-US" altLang="zh-CN" dirty="0" err="1"/>
              <a:t>TestLoader</a:t>
            </a:r>
            <a:r>
              <a:rPr lang="zh-CN" altLang="en-US" dirty="0"/>
              <a:t>用来对指定测试套件、类、方法等进行测试，</a:t>
            </a:r>
            <a:r>
              <a:rPr lang="en-US" altLang="zh-CN" dirty="0"/>
              <a:t>test results</a:t>
            </a:r>
            <a:r>
              <a:rPr lang="zh-CN" altLang="en-US" dirty="0"/>
              <a:t>类</a:t>
            </a:r>
            <a:r>
              <a:rPr lang="zh-CN" altLang="en-US" sz="1200" b="0" i="0" kern="1200" dirty="0">
                <a:solidFill>
                  <a:schemeClr val="tx1"/>
                </a:solidFill>
                <a:effectLst/>
                <a:latin typeface="+mn-lt"/>
                <a:ea typeface="+mn-ea"/>
                <a:cs typeface="+mn-cs"/>
              </a:rPr>
              <a:t>用来处理测试用例或测试集执行过程中的所有信息并最终输出。</a:t>
            </a:r>
            <a:r>
              <a:rPr lang="en-US" altLang="zh-CN" dirty="0" err="1"/>
              <a:t>TestLoader</a:t>
            </a:r>
            <a:r>
              <a:rPr lang="zh-CN" altLang="en-US" dirty="0"/>
              <a:t>和</a:t>
            </a:r>
            <a:r>
              <a:rPr lang="en-US" altLang="zh-CN" dirty="0" err="1"/>
              <a:t>TestResult</a:t>
            </a:r>
            <a:r>
              <a:rPr lang="zh-CN" altLang="en-US" dirty="0"/>
              <a:t>这两个类在编写测试中通常不会直接用到，一些基于</a:t>
            </a:r>
            <a:r>
              <a:rPr lang="en-US" altLang="zh-CN" dirty="0" err="1"/>
              <a:t>unnittest</a:t>
            </a:r>
            <a:r>
              <a:rPr lang="zh-CN" altLang="en-US" dirty="0"/>
              <a:t>的工具可能会用到。最后，</a:t>
            </a:r>
            <a:r>
              <a:rPr lang="en-US" altLang="zh-CN" dirty="0" err="1"/>
              <a:t>unnittest.main</a:t>
            </a:r>
            <a:r>
              <a:rPr lang="zh-CN" altLang="en-US" dirty="0"/>
              <a:t>方法，用于自动运行当前文件中的所有测试。</a:t>
            </a:r>
            <a:endParaRPr lang="en-US" altLang="zh-CN"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56</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solidFill>
                  <a:srgbClr val="FFFFFF"/>
                </a:solidFill>
                <a:latin typeface="微软雅黑" panose="020B0503020204020204" pitchFamily="34" charset="-122"/>
                <a:cs typeface="微软雅黑" panose="020B0503020204020204" pitchFamily="34" charset="-122"/>
              </a:rPr>
              <a:t>测试过程中需要对结果进行判断，以验证结果是否符合我们的预期，这就是属性断言。</a:t>
            </a:r>
            <a:r>
              <a:rPr lang="en-US" altLang="zh-CN" sz="1200" dirty="0">
                <a:solidFill>
                  <a:srgbClr val="FFFFFF"/>
                </a:solidFill>
                <a:latin typeface="微软雅黑" panose="020B0503020204020204" pitchFamily="34" charset="-122"/>
                <a:cs typeface="微软雅黑" panose="020B0503020204020204" pitchFamily="34" charset="-122"/>
              </a:rPr>
              <a:t>Assert</a:t>
            </a:r>
            <a:r>
              <a:rPr lang="zh-CN" altLang="en-US" sz="1200" dirty="0">
                <a:solidFill>
                  <a:srgbClr val="FFFFFF"/>
                </a:solidFill>
                <a:latin typeface="微软雅黑" panose="020B0503020204020204" pitchFamily="34" charset="-122"/>
                <a:cs typeface="微软雅黑" panose="020B0503020204020204" pitchFamily="34" charset="-122"/>
              </a:rPr>
              <a:t>关键字就是一种断言，不过</a:t>
            </a:r>
            <a:r>
              <a:rPr lang="en-US" altLang="zh-CN" sz="1200" dirty="0">
                <a:solidFill>
                  <a:srgbClr val="FFFFFF"/>
                </a:solidFill>
                <a:latin typeface="微软雅黑" panose="020B0503020204020204" pitchFamily="34" charset="-122"/>
                <a:cs typeface="微软雅黑" panose="020B0503020204020204" pitchFamily="34" charset="-122"/>
              </a:rPr>
              <a:t>assert</a:t>
            </a:r>
            <a:r>
              <a:rPr lang="zh-CN" altLang="en-US" sz="1200" dirty="0">
                <a:solidFill>
                  <a:srgbClr val="FFFFFF"/>
                </a:solidFill>
                <a:latin typeface="微软雅黑" panose="020B0503020204020204" pitchFamily="34" charset="-122"/>
                <a:cs typeface="微软雅黑" panose="020B0503020204020204" pitchFamily="34" charset="-122"/>
              </a:rPr>
              <a:t>关键字比较弱，</a:t>
            </a:r>
            <a:r>
              <a:rPr lang="en-US" altLang="zh-CN" sz="1200" dirty="0" err="1">
                <a:solidFill>
                  <a:srgbClr val="FFFFFF"/>
                </a:solidFill>
                <a:latin typeface="微软雅黑" panose="020B0503020204020204" pitchFamily="34" charset="-122"/>
                <a:cs typeface="微软雅黑" panose="020B0503020204020204" pitchFamily="34" charset="-122"/>
              </a:rPr>
              <a:t>unnittest</a:t>
            </a:r>
            <a:r>
              <a:rPr lang="zh-CN" altLang="en-US" sz="1200" dirty="0">
                <a:solidFill>
                  <a:srgbClr val="FFFFFF"/>
                </a:solidFill>
                <a:latin typeface="微软雅黑" panose="020B0503020204020204" pitchFamily="34" charset="-122"/>
                <a:cs typeface="微软雅黑" panose="020B0503020204020204" pitchFamily="34" charset="-122"/>
              </a:rPr>
              <a:t>提供了多种强大的断言方法，如。。。大家可以可以在这个链接中进行查询。这些断言方法可以。。。</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57</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Unnittest</a:t>
            </a:r>
            <a:r>
              <a:rPr lang="zh-CN" altLang="en-US" dirty="0"/>
              <a:t>的主要步骤如下：首先我们需要</a:t>
            </a:r>
            <a:r>
              <a:rPr lang="en-US" altLang="zh-CN" dirty="0"/>
              <a:t>import </a:t>
            </a:r>
            <a:r>
              <a:rPr lang="en-US" altLang="zh-CN" dirty="0" err="1"/>
              <a:t>unnitest</a:t>
            </a:r>
            <a:r>
              <a:rPr lang="zh-CN" altLang="en-US" dirty="0"/>
              <a:t>包，然后我们要集成</a:t>
            </a:r>
            <a:r>
              <a:rPr lang="en-US" altLang="zh-CN" dirty="0" err="1"/>
              <a:t>TestCase</a:t>
            </a:r>
            <a:r>
              <a:rPr lang="zh-CN" altLang="en-US" dirty="0"/>
              <a:t>类，定义自己的测试用例类，接下来定义</a:t>
            </a:r>
            <a:r>
              <a:rPr lang="en-US" altLang="zh-CN" dirty="0"/>
              <a:t>setup</a:t>
            </a:r>
            <a:r>
              <a:rPr lang="zh-CN" altLang="en-US" dirty="0"/>
              <a:t>和</a:t>
            </a:r>
            <a:r>
              <a:rPr lang="en-US" altLang="zh-CN" dirty="0"/>
              <a:t>teardown</a:t>
            </a:r>
            <a:r>
              <a:rPr lang="zh-CN" altLang="en-US" dirty="0"/>
              <a:t>方法，在每个。。公祖，之后就可以开始正式定义测试用例了，所有的测试用例都是以</a:t>
            </a:r>
            <a:r>
              <a:rPr lang="en-US" altLang="zh-CN" dirty="0"/>
              <a:t>test</a:t>
            </a:r>
            <a:r>
              <a:rPr lang="zh-CN" altLang="en-US" dirty="0"/>
              <a:t>开头，这里需要注意，单元测试和集成测试不一样，单元测试的测试用例应该只测试一个方面。。。并且。。。主要是调用。。。，然后我们调用。。。如果。。。</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58</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Python3.3</a:t>
            </a:r>
            <a:r>
              <a:rPr lang="zh-CN" altLang="en-US" dirty="0"/>
              <a:t>中开始内置了</a:t>
            </a:r>
            <a:r>
              <a:rPr lang="en-US" altLang="zh-CN" dirty="0"/>
              <a:t>mock</a:t>
            </a:r>
            <a:r>
              <a:rPr lang="zh-CN" altLang="en-US" dirty="0"/>
              <a:t>框架，可以让我们在测试中用</a:t>
            </a:r>
            <a:r>
              <a:rPr lang="en-US" altLang="zh-CN" dirty="0"/>
              <a:t>mock</a:t>
            </a:r>
            <a:r>
              <a:rPr lang="zh-CN" altLang="en-US" dirty="0"/>
              <a:t>对象代替所依赖的真实的</a:t>
            </a:r>
            <a:r>
              <a:rPr lang="en-US" altLang="zh-CN" dirty="0"/>
              <a:t>python</a:t>
            </a:r>
            <a:r>
              <a:rPr lang="zh-CN" altLang="en-US" dirty="0"/>
              <a:t>对象，控制依赖对象的行为，并且记录依赖对象是如何被调用的。它主要由以下几部分组成：</a:t>
            </a:r>
            <a:r>
              <a:rPr lang="en-US" altLang="zh-CN" dirty="0"/>
              <a:t>mock</a:t>
            </a:r>
            <a:r>
              <a:rPr lang="zh-CN" altLang="en-US" dirty="0"/>
              <a:t>类，用来。。。自动创建该属性，并且为该属性也自动创建一个</a:t>
            </a:r>
            <a:r>
              <a:rPr lang="en-US" altLang="zh-CN" dirty="0"/>
              <a:t>mock</a:t>
            </a:r>
            <a:r>
              <a:rPr lang="zh-CN" altLang="en-US" dirty="0"/>
              <a:t>，</a:t>
            </a:r>
            <a:r>
              <a:rPr lang="en-US" altLang="zh-CN" dirty="0"/>
              <a:t>magic mock</a:t>
            </a:r>
            <a:r>
              <a:rPr lang="zh-CN" altLang="en-US" dirty="0"/>
              <a:t>类，是</a:t>
            </a:r>
            <a:r>
              <a:rPr lang="en-US" altLang="zh-CN" dirty="0"/>
              <a:t>mock</a:t>
            </a:r>
            <a:r>
              <a:rPr lang="zh-CN" altLang="en-US" dirty="0"/>
              <a:t>类的一个子类，区别是它额外定义了操作符，比如大小比较、长度等等，</a:t>
            </a:r>
            <a:r>
              <a:rPr lang="en-US" altLang="zh-CN" dirty="0"/>
              <a:t>patch</a:t>
            </a:r>
            <a:r>
              <a:rPr lang="zh-CN" altLang="en-US" dirty="0"/>
              <a:t>装饰器，可以将其。。。也可以等价的用</a:t>
            </a:r>
            <a:r>
              <a:rPr lang="en-US" altLang="zh-CN" dirty="0"/>
              <a:t>with</a:t>
            </a:r>
            <a:r>
              <a:rPr lang="zh-CN" altLang="en-US" dirty="0"/>
              <a:t>关键字创建一个作用域，</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59</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Mock</a:t>
            </a:r>
            <a:r>
              <a:rPr lang="zh-CN" altLang="en-US" dirty="0"/>
              <a:t>对象提供了一些。。。可以。。。大家可以在这个链接中查看具体的说明。另外，我们通常需要从。。。返回值，</a:t>
            </a:r>
            <a:r>
              <a:rPr lang="en-US" altLang="zh-CN" dirty="0"/>
              <a:t>mock</a:t>
            </a:r>
            <a:r>
              <a:rPr lang="zh-CN" altLang="en-US" dirty="0"/>
              <a:t>。。。进行控制。比如返回一个固定值或者提供一个返回值序列或其他自定义方法来模拟真实的返回值。</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60</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Python</a:t>
            </a:r>
            <a:r>
              <a:rPr lang="zh-CN" altLang="en-US" dirty="0"/>
              <a:t>的单元测试覆盖工具，</a:t>
            </a:r>
            <a:r>
              <a:rPr lang="en-US" altLang="zh-CN" dirty="0"/>
              <a:t>coverage.py</a:t>
            </a:r>
            <a:r>
              <a:rPr lang="zh-CN" altLang="en-US" dirty="0"/>
              <a:t>，咱们前面也提过，可以用</a:t>
            </a:r>
            <a:r>
              <a:rPr lang="en-US" altLang="zh-CN" dirty="0"/>
              <a:t>pip</a:t>
            </a:r>
            <a:r>
              <a:rPr lang="zh-CN" altLang="en-US" dirty="0"/>
              <a:t>来安装，使用起来非常简单，可以记录每条语句的执行情况，给出语句覆盖率。我们只需要选择在运行</a:t>
            </a:r>
            <a:r>
              <a:rPr lang="en-US" altLang="zh-CN" dirty="0" err="1"/>
              <a:t>unnittest</a:t>
            </a:r>
            <a:r>
              <a:rPr lang="zh-CN" altLang="en-US" dirty="0"/>
              <a:t>时与覆盖分析一起运行，就可以看到覆盖分析的结果，如果是在</a:t>
            </a:r>
            <a:r>
              <a:rPr lang="en-US" altLang="zh-CN" dirty="0" err="1"/>
              <a:t>pycharm</a:t>
            </a:r>
            <a:r>
              <a:rPr lang="zh-CN" altLang="en-US" dirty="0"/>
              <a:t>里，就可以直接看到运行的结果，包括语句的覆盖情况，用红色表示没有执行的语句，绿色表示执行的语句，还可以看到覆盖率的统计。</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61</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下面我们通过一个案例来学习一下</a:t>
            </a:r>
            <a:r>
              <a:rPr lang="en-US" altLang="zh-CN" dirty="0"/>
              <a:t>python</a:t>
            </a:r>
            <a:r>
              <a:rPr lang="zh-CN" altLang="en-US" dirty="0"/>
              <a:t>的单元测试。</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62</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我们首先来分析一下前面提到过的生命游戏这个案例，它包含</a:t>
            </a:r>
            <a:r>
              <a:rPr lang="en-US" altLang="zh-CN" dirty="0"/>
              <a:t>4</a:t>
            </a:r>
            <a:r>
              <a:rPr lang="zh-CN" altLang="en-US" dirty="0"/>
              <a:t>个文件，分别是主程序、输出程序、定时器和游戏地图，我们通过</a:t>
            </a:r>
            <a:r>
              <a:rPr lang="en-US" altLang="zh-CN" dirty="0" err="1"/>
              <a:t>pylint</a:t>
            </a:r>
            <a:r>
              <a:rPr lang="zh-CN" altLang="en-US" dirty="0"/>
              <a:t>可以得到这样一个依赖关系图，我们可以看到</a:t>
            </a:r>
            <a:r>
              <a:rPr lang="en-US" altLang="zh-CN" dirty="0" err="1"/>
              <a:t>game_timer</a:t>
            </a:r>
            <a:r>
              <a:rPr lang="zh-CN" altLang="en-US" dirty="0"/>
              <a:t>和</a:t>
            </a:r>
            <a:r>
              <a:rPr lang="en-US" altLang="zh-CN" dirty="0" err="1"/>
              <a:t>game_map</a:t>
            </a:r>
            <a:r>
              <a:rPr lang="zh-CN" altLang="en-US" dirty="0"/>
              <a:t>这两个是最底层的操作，</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63</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在这两个模块中，</a:t>
            </a:r>
            <a:r>
              <a:rPr lang="en-US" altLang="zh-CN" dirty="0"/>
              <a:t>game)map</a:t>
            </a:r>
            <a:r>
              <a:rPr lang="zh-CN" altLang="en-US" dirty="0"/>
              <a:t>是最核心的模块，它包含了生命游戏的主要逻辑，这里列出了它的属性和方法。</a:t>
            </a:r>
            <a:r>
              <a:rPr lang="en-US" altLang="zh-CN" dirty="0"/>
              <a:t>Rows</a:t>
            </a:r>
            <a:r>
              <a:rPr lang="zh-CN" altLang="en-US" dirty="0"/>
              <a:t>和</a:t>
            </a:r>
            <a:r>
              <a:rPr lang="en-US" altLang="zh-CN" dirty="0"/>
              <a:t>cols</a:t>
            </a:r>
            <a:r>
              <a:rPr lang="zh-CN" altLang="en-US" dirty="0"/>
              <a:t>属性</a:t>
            </a:r>
            <a:r>
              <a:rPr lang="en-US" altLang="zh-CN" dirty="0"/>
              <a:t>b</a:t>
            </a:r>
            <a:r>
              <a:rPr lang="zh-CN" altLang="en-US" dirty="0"/>
              <a:t>表示地图的行和列的数量，</a:t>
            </a:r>
            <a:r>
              <a:rPr lang="en-US" altLang="zh-CN" dirty="0"/>
              <a:t>reset</a:t>
            </a:r>
            <a:r>
              <a:rPr lang="zh-CN" altLang="en-US" dirty="0"/>
              <a:t>方法，以。。。</a:t>
            </a:r>
            <a:r>
              <a:rPr lang="en-US" altLang="zh-CN" dirty="0"/>
              <a:t>Get/set</a:t>
            </a:r>
            <a:r>
              <a:rPr lang="zh-CN" altLang="en-US" dirty="0"/>
              <a:t>：。。。</a:t>
            </a:r>
            <a:r>
              <a:rPr lang="en-US" altLang="zh-CN" dirty="0" err="1"/>
              <a:t>Get_neighoubor_count</a:t>
            </a:r>
            <a:r>
              <a:rPr lang="zh-CN" altLang="en-US" dirty="0"/>
              <a:t>，获得。。。。。。所有念一遍。</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64</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下面我们首先来创建测试，我们打开</a:t>
            </a:r>
            <a:r>
              <a:rPr lang="en-US" altLang="zh-CN" dirty="0"/>
              <a:t>game_map.py</a:t>
            </a:r>
            <a:r>
              <a:rPr lang="zh-CN" altLang="en-US" dirty="0"/>
              <a:t>，然后在菜单上选择</a:t>
            </a:r>
            <a:r>
              <a:rPr lang="en-US" altLang="zh-CN" dirty="0"/>
              <a:t>Navigate test</a:t>
            </a:r>
            <a:r>
              <a:rPr lang="zh-CN" altLang="en-US" dirty="0"/>
              <a:t>，</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65</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这时会在</a:t>
            </a:r>
            <a:r>
              <a:rPr lang="en-US" altLang="zh-CN" dirty="0" err="1"/>
              <a:t>GameMap</a:t>
            </a:r>
            <a:r>
              <a:rPr lang="zh-CN" altLang="en-US" dirty="0"/>
              <a:t>的类上弹出一个小菜单，我们选择</a:t>
            </a:r>
            <a:r>
              <a:rPr lang="en-US" altLang="zh-CN" dirty="0"/>
              <a:t>create new test</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66</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这时会弹出创建测试的对话框，让我们选择要测试的方法，</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67</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这里我们把所有方法都选中，然后输入测试文件的名称和测试类的名称，最后点击</a:t>
            </a:r>
            <a:r>
              <a:rPr lang="en-US" altLang="zh-CN" dirty="0"/>
              <a:t>ok</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68</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这样我们就完成了测试类的创建，我们可以看到他是继承了</a:t>
            </a:r>
            <a:r>
              <a:rPr lang="en-US" altLang="zh-CN" dirty="0" err="1"/>
              <a:t>unnitest</a:t>
            </a:r>
            <a:r>
              <a:rPr lang="en-US" altLang="zh-CN" dirty="0"/>
              <a:t> </a:t>
            </a:r>
            <a:r>
              <a:rPr lang="zh-CN" altLang="en-US" dirty="0"/>
              <a:t>中的</a:t>
            </a:r>
            <a:r>
              <a:rPr lang="en-US" altLang="zh-CN" dirty="0" err="1"/>
              <a:t>TestCase</a:t>
            </a:r>
            <a:r>
              <a:rPr lang="zh-CN" altLang="en-US" dirty="0"/>
              <a:t>类的。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69</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接下来，我们首先看一下如何运行测试，我们在类名上点击右键，选择运行这个测试类，也就是</a:t>
            </a:r>
            <a:r>
              <a:rPr lang="en-US" altLang="zh-CN" dirty="0" err="1"/>
              <a:t>TestGameMap</a:t>
            </a:r>
            <a:r>
              <a:rPr lang="zh-CN" altLang="en-US" dirty="0"/>
              <a:t>，</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70</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然后我们就可以在</a:t>
            </a:r>
            <a:r>
              <a:rPr lang="en-US" altLang="zh-CN" dirty="0" err="1"/>
              <a:t>pyCharm</a:t>
            </a:r>
            <a:r>
              <a:rPr lang="zh-CN" altLang="en-US" dirty="0"/>
              <a:t>中看到测试结果。这里一共有</a:t>
            </a:r>
            <a:r>
              <a:rPr lang="en-US" altLang="zh-CN" dirty="0"/>
              <a:t>9</a:t>
            </a:r>
            <a:r>
              <a:rPr lang="zh-CN" altLang="en-US" dirty="0"/>
              <a:t>个测试，测试失败会在左边窗口中用感叹号来表示。我们看到，这里一共失败了</a:t>
            </a:r>
            <a:r>
              <a:rPr lang="en-US" altLang="zh-CN" dirty="0"/>
              <a:t>9</a:t>
            </a:r>
            <a:r>
              <a:rPr lang="zh-CN" altLang="en-US" dirty="0"/>
              <a:t>个，</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71</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这是因为新创建的测试方法，默认调用了</a:t>
            </a:r>
            <a:r>
              <a:rPr lang="en-US" altLang="zh-CN" dirty="0" err="1"/>
              <a:t>testcase.fail</a:t>
            </a:r>
            <a:r>
              <a:rPr lang="zh-CN" altLang="en-US" dirty="0"/>
              <a:t>方法，这个方法会无条件得让测试失败</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72</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下面我们来正式开始编写测试。我们首先来创建</a:t>
            </a:r>
            <a:r>
              <a:rPr lang="en-US" altLang="zh-CN" dirty="0"/>
              <a:t>fixture</a:t>
            </a:r>
            <a:r>
              <a:rPr lang="zh-CN" altLang="en-US" dirty="0"/>
              <a:t>，回顾一下，</a:t>
            </a:r>
            <a:r>
              <a:rPr lang="en-US" altLang="zh-CN" dirty="0"/>
              <a:t>setup</a:t>
            </a:r>
            <a:r>
              <a:rPr lang="zh-CN" altLang="en-US" dirty="0"/>
              <a:t>方法，他通常在测试之前被调用，所以我们可以用它来创建每个测试方法都需要的公共对象，</a:t>
            </a:r>
            <a:r>
              <a:rPr lang="en-US" altLang="zh-CN" dirty="0"/>
              <a:t>Teardown</a:t>
            </a:r>
            <a:r>
              <a:rPr lang="zh-CN" altLang="en-US" dirty="0"/>
              <a:t>方法进行收尾工作，我们可以让他销毁公共对象，比如断开数据库连接、关闭文件等。这里我们只需要用到</a:t>
            </a:r>
            <a:r>
              <a:rPr lang="en-US" altLang="zh-CN" dirty="0"/>
              <a:t>setup</a:t>
            </a:r>
            <a:r>
              <a:rPr lang="zh-CN" altLang="en-US" dirty="0"/>
              <a:t>方法，我们在期中创建一个。。这里创建一个</a:t>
            </a:r>
            <a:r>
              <a:rPr lang="en-US" altLang="zh-CN" dirty="0"/>
              <a:t>4</a:t>
            </a:r>
            <a:r>
              <a:rPr lang="zh-CN" altLang="en-US" dirty="0"/>
              <a:t>行</a:t>
            </a:r>
            <a:r>
              <a:rPr lang="en-US" altLang="zh-CN" dirty="0"/>
              <a:t>3</a:t>
            </a:r>
            <a:r>
              <a:rPr lang="zh-CN" altLang="en-US" dirty="0"/>
              <a:t>列的</a:t>
            </a:r>
            <a:r>
              <a:rPr lang="en-US" altLang="zh-CN" dirty="0"/>
              <a:t>game map.</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73</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然后我们对</a:t>
            </a:r>
            <a:r>
              <a:rPr lang="en-US" altLang="zh-CN" dirty="0"/>
              <a:t>rows</a:t>
            </a:r>
            <a:r>
              <a:rPr lang="zh-CN" altLang="en-US" dirty="0"/>
              <a:t>和</a:t>
            </a:r>
            <a:r>
              <a:rPr lang="en-US" altLang="zh-CN" dirty="0"/>
              <a:t>cols</a:t>
            </a:r>
            <a:r>
              <a:rPr lang="zh-CN" altLang="en-US" dirty="0"/>
              <a:t>这两个属性进行测试，这里通过</a:t>
            </a:r>
            <a:r>
              <a:rPr lang="en-US" altLang="zh-CN" dirty="0" err="1"/>
              <a:t>assertEqual</a:t>
            </a:r>
            <a:r>
              <a:rPr lang="zh-CN" altLang="en-US" dirty="0"/>
              <a:t>来判断行位</a:t>
            </a:r>
            <a:r>
              <a:rPr lang="en-US" altLang="zh-CN" dirty="0"/>
              <a:t>4</a:t>
            </a:r>
            <a:r>
              <a:rPr lang="zh-CN" altLang="en-US" dirty="0"/>
              <a:t>，列为</a:t>
            </a:r>
            <a:r>
              <a:rPr lang="en-US" altLang="zh-CN" dirty="0"/>
              <a:t>3</a:t>
            </a:r>
            <a:r>
              <a:rPr lang="zh-CN" altLang="en-US" dirty="0"/>
              <a:t>是否成立，</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74</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然后我们重新运行测试，可以看到这两个测试通过了。</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75</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接下来我们来看一下</a:t>
            </a:r>
            <a:r>
              <a:rPr lang="en-US" altLang="zh-CN" dirty="0"/>
              <a:t>get</a:t>
            </a:r>
            <a:r>
              <a:rPr lang="zh-CN" altLang="en-US" dirty="0"/>
              <a:t>和</a:t>
            </a:r>
            <a:r>
              <a:rPr lang="en-US" altLang="zh-CN" dirty="0"/>
              <a:t>set</a:t>
            </a:r>
            <a:r>
              <a:rPr lang="zh-CN" altLang="en-US" dirty="0"/>
              <a:t>方法，这两个方法有密切联系，我们把对他们的测试合并到一个测试中，这里，我们断言默认的情况下每个格子的值都是</a:t>
            </a:r>
            <a:r>
              <a:rPr lang="en-US" altLang="zh-CN" dirty="0"/>
              <a:t>0</a:t>
            </a:r>
            <a:r>
              <a:rPr lang="zh-CN" altLang="en-US" dirty="0"/>
              <a:t>，然后我们给</a:t>
            </a:r>
            <a:r>
              <a:rPr lang="en-US" altLang="zh-CN" dirty="0"/>
              <a:t>0.0</a:t>
            </a:r>
            <a:r>
              <a:rPr lang="zh-CN" altLang="en-US" dirty="0"/>
              <a:t>格子的值设置为</a:t>
            </a:r>
            <a:r>
              <a:rPr lang="en-US" altLang="zh-CN" dirty="0"/>
              <a:t>1</a:t>
            </a:r>
            <a:r>
              <a:rPr lang="zh-CN" altLang="en-US" dirty="0"/>
              <a:t>，然后判断我们用</a:t>
            </a:r>
            <a:r>
              <a:rPr lang="en-US" altLang="zh-CN" dirty="0"/>
              <a:t>get</a:t>
            </a:r>
            <a:r>
              <a:rPr lang="zh-CN" altLang="en-US" dirty="0"/>
              <a:t>返回的值与我们通过</a:t>
            </a:r>
            <a:r>
              <a:rPr lang="en-US" altLang="zh-CN" dirty="0"/>
              <a:t>set</a:t>
            </a:r>
            <a:r>
              <a:rPr lang="zh-CN" altLang="en-US" dirty="0"/>
              <a:t>设置的值是否相等。接下来我们运行测试，发现又多通过了一个方法。</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76</a:t>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然后是</a:t>
            </a:r>
            <a:r>
              <a:rPr lang="en-US" altLang="zh-CN" dirty="0"/>
              <a:t>reset</a:t>
            </a:r>
            <a:r>
              <a:rPr lang="zh-CN" altLang="en-US" dirty="0"/>
              <a:t>方法，这个方法它依赖于概率，为了对他进行测试，我们需要进行</a:t>
            </a:r>
            <a:r>
              <a:rPr lang="en-US" altLang="zh-CN" dirty="0"/>
              <a:t>mock</a:t>
            </a:r>
            <a:r>
              <a:rPr lang="zh-CN" altLang="en-US" dirty="0"/>
              <a:t>，我们首先看一下这个方法的源代码，我们可以发现对于每一个格子，他都会生成一个随机数，然后判断这个随机数是否小于预先定义好的概率值，如果小于，就把这个格子设置为</a:t>
            </a:r>
            <a:r>
              <a:rPr lang="en-US" altLang="zh-CN" dirty="0"/>
              <a:t>1</a:t>
            </a:r>
            <a:r>
              <a:rPr lang="zh-CN" altLang="en-US" dirty="0"/>
              <a:t>，否则设置为</a:t>
            </a:r>
            <a:r>
              <a:rPr lang="en-US" altLang="zh-CN" dirty="0"/>
              <a:t>0</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77</a:t>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我们通过</a:t>
            </a:r>
            <a:r>
              <a:rPr lang="en-US" altLang="zh-CN" dirty="0"/>
              <a:t>patch</a:t>
            </a:r>
            <a:r>
              <a:rPr lang="zh-CN" altLang="en-US" dirty="0"/>
              <a:t>装饰器，在</a:t>
            </a:r>
            <a:r>
              <a:rPr lang="en-US" altLang="zh-CN" dirty="0" err="1"/>
              <a:t>test_reset</a:t>
            </a:r>
            <a:r>
              <a:rPr lang="zh-CN" altLang="en-US" dirty="0"/>
              <a:t>方法中，把</a:t>
            </a:r>
            <a:r>
              <a:rPr lang="en-US" altLang="zh-CN" dirty="0"/>
              <a:t>random</a:t>
            </a:r>
            <a:r>
              <a:rPr lang="zh-CN" altLang="en-US" dirty="0"/>
              <a:t>模块的</a:t>
            </a:r>
            <a:r>
              <a:rPr lang="en-US" altLang="zh-CN" dirty="0"/>
              <a:t>random</a:t>
            </a:r>
            <a:r>
              <a:rPr lang="zh-CN" altLang="en-US" dirty="0"/>
              <a:t>方法，换为一个</a:t>
            </a:r>
            <a:r>
              <a:rPr lang="en-US" altLang="zh-CN" dirty="0"/>
              <a:t>Mock</a:t>
            </a:r>
            <a:r>
              <a:rPr lang="zh-CN" altLang="en-US" dirty="0"/>
              <a:t>对象，这个</a:t>
            </a:r>
            <a:r>
              <a:rPr lang="en-US" altLang="zh-CN" dirty="0"/>
              <a:t>mock</a:t>
            </a:r>
            <a:r>
              <a:rPr lang="zh-CN" altLang="en-US" dirty="0"/>
              <a:t>对象的行为是，返回一个</a:t>
            </a:r>
            <a:r>
              <a:rPr lang="en-US" altLang="zh-CN" dirty="0"/>
              <a:t>0.3</a:t>
            </a:r>
            <a:r>
              <a:rPr lang="zh-CN" altLang="en-US" dirty="0"/>
              <a:t>，</a:t>
            </a:r>
            <a:r>
              <a:rPr lang="en-US" altLang="zh-CN" dirty="0"/>
              <a:t>0.6,0.9</a:t>
            </a:r>
            <a:r>
              <a:rPr lang="zh-CN" altLang="en-US" dirty="0"/>
              <a:t>的循环序列，然后我们在测试方法中，调用</a:t>
            </a:r>
            <a:r>
              <a:rPr lang="en-US" altLang="zh-CN" dirty="0"/>
              <a:t>reset</a:t>
            </a:r>
            <a:r>
              <a:rPr lang="zh-CN" altLang="en-US" dirty="0"/>
              <a:t>方法，然后我们判断每个格子的值，我们会发现这个</a:t>
            </a:r>
            <a:r>
              <a:rPr lang="en-US" altLang="zh-CN" dirty="0"/>
              <a:t>4</a:t>
            </a:r>
            <a:r>
              <a:rPr lang="zh-CN" altLang="en-US" dirty="0"/>
              <a:t>行</a:t>
            </a:r>
            <a:r>
              <a:rPr lang="en-US" altLang="zh-CN" dirty="0"/>
              <a:t>3</a:t>
            </a:r>
            <a:r>
              <a:rPr lang="zh-CN" altLang="en-US" dirty="0"/>
              <a:t>列的</a:t>
            </a:r>
            <a:r>
              <a:rPr lang="en-US" altLang="zh-CN" dirty="0"/>
              <a:t>game map</a:t>
            </a:r>
            <a:r>
              <a:rPr lang="zh-CN" altLang="en-US" dirty="0"/>
              <a:t>中第一列的格子值都是</a:t>
            </a:r>
            <a:r>
              <a:rPr lang="en-US" altLang="zh-CN" dirty="0"/>
              <a:t>1</a:t>
            </a:r>
            <a:r>
              <a:rPr lang="zh-CN" altLang="en-US" dirty="0"/>
              <a:t>，其它两列的值都为</a:t>
            </a:r>
            <a:r>
              <a:rPr lang="en-US" altLang="zh-CN" dirty="0"/>
              <a:t>0</a:t>
            </a:r>
            <a:r>
              <a:rPr lang="zh-CN" altLang="en-US" dirty="0"/>
              <a:t>，这是因为第一列的格子在调用</a:t>
            </a:r>
            <a:r>
              <a:rPr lang="en-US" altLang="zh-CN" dirty="0" err="1"/>
              <a:t>random.random</a:t>
            </a:r>
            <a:r>
              <a:rPr lang="zh-CN" altLang="en-US" dirty="0"/>
              <a:t>时，他的</a:t>
            </a:r>
            <a:r>
              <a:rPr lang="en-US" altLang="zh-CN" dirty="0"/>
              <a:t>mock</a:t>
            </a:r>
            <a:r>
              <a:rPr lang="zh-CN" altLang="en-US" dirty="0"/>
              <a:t>对象返回的永远是</a:t>
            </a:r>
            <a:r>
              <a:rPr lang="en-US" altLang="zh-CN" dirty="0"/>
              <a:t>0.3</a:t>
            </a:r>
            <a:r>
              <a:rPr lang="zh-CN" altLang="en-US" dirty="0"/>
              <a:t>，另外两列则概率分别是</a:t>
            </a:r>
            <a:r>
              <a:rPr lang="en-US" altLang="zh-CN" dirty="0"/>
              <a:t>0.6</a:t>
            </a:r>
            <a:r>
              <a:rPr lang="zh-CN" altLang="en-US" dirty="0"/>
              <a:t>和</a:t>
            </a:r>
            <a:r>
              <a:rPr lang="en-US" altLang="zh-CN" dirty="0"/>
              <a:t>0.9. </a:t>
            </a:r>
            <a:r>
              <a:rPr lang="zh-CN" altLang="en-US" dirty="0"/>
              <a:t>我们再运行测试，发现这个测试方法又通过了。</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78</a:t>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接下来是</a:t>
            </a:r>
            <a:r>
              <a:rPr lang="en-US" altLang="zh-CN" dirty="0" err="1"/>
              <a:t>get_neighbor_count</a:t>
            </a:r>
            <a:r>
              <a:rPr lang="zh-CN" altLang="en-US" dirty="0"/>
              <a:t>方法，从源代码中我们看到它需要访问</a:t>
            </a:r>
            <a:r>
              <a:rPr lang="en-US" altLang="zh-CN" dirty="0"/>
              <a:t>cells</a:t>
            </a:r>
            <a:r>
              <a:rPr lang="zh-CN" altLang="en-US" dirty="0"/>
              <a:t>属性，这里我们可以对它进行一个设置，</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79</a:t>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我们首先将</a:t>
            </a:r>
            <a:r>
              <a:rPr lang="en-US" altLang="zh-CN" dirty="0"/>
              <a:t>cells</a:t>
            </a:r>
            <a:r>
              <a:rPr lang="zh-CN" altLang="en-US" dirty="0"/>
              <a:t>全部设置为</a:t>
            </a:r>
            <a:r>
              <a:rPr lang="en-US" altLang="zh-CN" dirty="0"/>
              <a:t>1</a:t>
            </a:r>
            <a:r>
              <a:rPr lang="zh-CN" altLang="en-US" dirty="0"/>
              <a:t>，这样所有的格子的邻居数量，也就是邻居中活细胞的数量应该是</a:t>
            </a:r>
            <a:r>
              <a:rPr lang="en-US" altLang="zh-CN" dirty="0"/>
              <a:t>8</a:t>
            </a:r>
            <a:r>
              <a:rPr lang="zh-CN" altLang="en-US" dirty="0"/>
              <a:t>，这是我们运行测试，发现这个测试失败了，对于第一个格子，它的邻居数量应该是</a:t>
            </a:r>
            <a:r>
              <a:rPr lang="en-US" altLang="zh-CN" dirty="0"/>
              <a:t>4</a:t>
            </a:r>
            <a:r>
              <a:rPr lang="zh-CN" altLang="en-US" dirty="0"/>
              <a:t>，而不是</a:t>
            </a:r>
            <a:r>
              <a:rPr lang="en-US" altLang="zh-CN" dirty="0"/>
              <a:t>8</a:t>
            </a:r>
            <a:r>
              <a:rPr lang="zh-CN" altLang="en-US" dirty="0"/>
              <a:t>。这里我们要注意的是，虽然我们初始化为</a:t>
            </a:r>
            <a:r>
              <a:rPr lang="en-US" altLang="zh-CN" dirty="0"/>
              <a:t>4</a:t>
            </a:r>
            <a:r>
              <a:rPr lang="zh-CN" altLang="en-US" dirty="0"/>
              <a:t>行</a:t>
            </a:r>
            <a:r>
              <a:rPr lang="en-US" altLang="zh-CN" dirty="0"/>
              <a:t>3</a:t>
            </a:r>
            <a:r>
              <a:rPr lang="zh-CN" altLang="en-US" dirty="0"/>
              <a:t>列，但是生命游戏的</a:t>
            </a:r>
            <a:r>
              <a:rPr lang="en-US" altLang="zh-CN" dirty="0"/>
              <a:t>Game Map</a:t>
            </a:r>
            <a:r>
              <a:rPr lang="zh-CN" altLang="en-US" dirty="0"/>
              <a:t>实际上是无限延伸的。</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80</a:t>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我们检查一下</a:t>
            </a:r>
            <a:r>
              <a:rPr lang="en-US" altLang="zh-CN" dirty="0" err="1"/>
              <a:t>get_neighbor_count</a:t>
            </a:r>
            <a:r>
              <a:rPr lang="zh-CN" altLang="en-US" dirty="0"/>
              <a:t>方法，这里因为每个格子都是</a:t>
            </a:r>
            <a:r>
              <a:rPr lang="en-US" altLang="zh-CN" dirty="0"/>
              <a:t>1</a:t>
            </a:r>
            <a:r>
              <a:rPr lang="zh-CN" altLang="en-US" dirty="0"/>
              <a:t>，也就是</a:t>
            </a:r>
            <a:r>
              <a:rPr lang="en-US" altLang="zh-CN" dirty="0"/>
              <a:t>cells</a:t>
            </a:r>
            <a:r>
              <a:rPr lang="zh-CN" altLang="en-US" dirty="0"/>
              <a:t>都是</a:t>
            </a:r>
            <a:r>
              <a:rPr lang="en-US" altLang="zh-CN" dirty="0"/>
              <a:t>1</a:t>
            </a:r>
            <a:r>
              <a:rPr lang="zh-CN" altLang="en-US" dirty="0"/>
              <a:t>，最终的结果只和循环次数有关。而循环次数只跟</a:t>
            </a:r>
            <a:r>
              <a:rPr lang="en-US" altLang="zh-CN" dirty="0"/>
              <a:t>directions</a:t>
            </a:r>
            <a:r>
              <a:rPr lang="zh-CN" altLang="en-US" dirty="0"/>
              <a:t>有关，我们检查一下</a:t>
            </a:r>
            <a:r>
              <a:rPr lang="en-US" altLang="zh-CN" dirty="0"/>
              <a:t>directions</a:t>
            </a:r>
            <a:r>
              <a:rPr lang="zh-CN" altLang="en-US" dirty="0"/>
              <a:t>，发现这里只写了四个相邻的方向，忽略了对角的方向，也就是应该是</a:t>
            </a:r>
            <a:r>
              <a:rPr lang="en-US" altLang="zh-CN" dirty="0"/>
              <a:t>8</a:t>
            </a:r>
            <a:r>
              <a:rPr lang="zh-CN" altLang="en-US" dirty="0"/>
              <a:t>个方向，再重新进行测试，测试通过。</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81</a:t>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接下来是。。。它依赖。。。所以测试的时候我们要对。。。来保持测试的独立性，这样</a:t>
            </a:r>
            <a:r>
              <a:rPr lang="en-US" altLang="zh-CN" dirty="0"/>
              <a:t>get..</a:t>
            </a:r>
            <a:r>
              <a:rPr lang="zh-CN" altLang="en-US" dirty="0"/>
              <a:t>就不依赖于</a:t>
            </a:r>
            <a:r>
              <a:rPr lang="en-US" altLang="zh-CN" dirty="0"/>
              <a:t>get..</a:t>
            </a:r>
            <a:r>
              <a:rPr lang="zh-CN" altLang="en-US" dirty="0"/>
              <a:t>的正确性了。同时，我们在后面看覆盖率的时候，他们相互之间也不会干扰。这里我们看到</a:t>
            </a:r>
            <a:r>
              <a:rPr lang="en-US" altLang="zh-CN" dirty="0"/>
              <a:t>mock</a:t>
            </a:r>
            <a:r>
              <a:rPr lang="zh-CN" altLang="en-US" dirty="0"/>
              <a:t>对象模拟</a:t>
            </a:r>
            <a:r>
              <a:rPr lang="en-US" altLang="zh-CN" dirty="0" err="1"/>
              <a:t>get_neigbr_count</a:t>
            </a:r>
            <a:r>
              <a:rPr lang="zh-CN" altLang="en-US" dirty="0"/>
              <a:t>的行为，返回一个</a:t>
            </a:r>
            <a:r>
              <a:rPr lang="en-US" altLang="zh-CN" dirty="0"/>
              <a:t>8</a:t>
            </a:r>
            <a:r>
              <a:rPr lang="zh-CN" altLang="en-US" dirty="0"/>
              <a:t>来模拟真实数据。其他的跟前面类似，也是一个断言，就不再仔细说明了。</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82</a:t>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Set_map</a:t>
            </a:r>
            <a:r>
              <a:rPr lang="zh-CN" altLang="en-US" dirty="0"/>
              <a:t>它本身比较简单，所以这里我们只要测试一下它对参数的检查是否完备。</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83</a:t>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这里我们主要测试一下前面源代码中定义的异常，在运行时是否抛出了，我们看到测试通过了。</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84</a:t>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我们看到</a:t>
            </a:r>
            <a:r>
              <a:rPr lang="en-US" altLang="zh-CN" dirty="0"/>
              <a:t>print map</a:t>
            </a:r>
            <a:r>
              <a:rPr lang="zh-CN" altLang="en-US" dirty="0"/>
              <a:t>调用了</a:t>
            </a:r>
            <a:r>
              <a:rPr lang="en-US" altLang="zh-CN" dirty="0"/>
              <a:t>print</a:t>
            </a:r>
            <a:r>
              <a:rPr lang="zh-CN" altLang="en-US" dirty="0"/>
              <a:t>，并且使用了</a:t>
            </a:r>
            <a:r>
              <a:rPr lang="en-US" altLang="zh-CN" dirty="0"/>
              <a:t>join</a:t>
            </a:r>
            <a:r>
              <a:rPr lang="zh-CN" altLang="en-US" dirty="0"/>
              <a:t>对字符串进行处理</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85</a:t>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我们在测试时，先设置一下</a:t>
            </a:r>
            <a:r>
              <a:rPr lang="en-US" altLang="zh-CN" dirty="0"/>
              <a:t>cell</a:t>
            </a:r>
            <a:r>
              <a:rPr lang="zh-CN" altLang="en-US" dirty="0"/>
              <a:t>，然后对</a:t>
            </a:r>
            <a:r>
              <a:rPr lang="en-US" altLang="zh-CN" dirty="0"/>
              <a:t>print</a:t>
            </a:r>
            <a:r>
              <a:rPr lang="zh-CN" altLang="en-US" dirty="0"/>
              <a:t>进行</a:t>
            </a:r>
            <a:r>
              <a:rPr lang="en-US" altLang="zh-CN" dirty="0"/>
              <a:t>mock</a:t>
            </a:r>
            <a:r>
              <a:rPr lang="zh-CN" altLang="en-US" dirty="0"/>
              <a:t>，</a:t>
            </a:r>
            <a:r>
              <a:rPr lang="en-US" altLang="zh-CN" dirty="0"/>
              <a:t>print</a:t>
            </a:r>
            <a:r>
              <a:rPr lang="zh-CN" altLang="en-US" dirty="0"/>
              <a:t>函数位于</a:t>
            </a:r>
            <a:r>
              <a:rPr lang="en-US" altLang="zh-CN" dirty="0" err="1"/>
              <a:t>builtin</a:t>
            </a:r>
            <a:r>
              <a:rPr lang="zh-CN" altLang="en-US" dirty="0"/>
              <a:t>底下，我们调用</a:t>
            </a:r>
            <a:r>
              <a:rPr lang="en-US" altLang="zh-CN" dirty="0"/>
              <a:t>assert has calls</a:t>
            </a:r>
            <a:r>
              <a:rPr lang="zh-CN" altLang="en-US" dirty="0"/>
              <a:t>断言，这个断言是查看他们是否按照</a:t>
            </a:r>
            <a:r>
              <a:rPr lang="zh-CN" altLang="en-US" sz="1200" b="0" i="0" kern="1200" dirty="0">
                <a:solidFill>
                  <a:schemeClr val="tx1"/>
                </a:solidFill>
                <a:effectLst/>
                <a:latin typeface="+mn-lt"/>
                <a:ea typeface="+mn-ea"/>
                <a:cs typeface="+mn-cs"/>
              </a:rPr>
              <a:t>正确的次序调用并带有正确的参数。我们再运行测试，发现全部测试都通过了。</a:t>
            </a:r>
            <a:endParaRPr lang="zh-CN" altLang="en-US" dirty="0"/>
          </a:p>
        </p:txBody>
      </p:sp>
      <p:sp>
        <p:nvSpPr>
          <p:cNvPr id="4" name="灯片编号占位符 3"/>
          <p:cNvSpPr>
            <a:spLocks noGrp="1"/>
          </p:cNvSpPr>
          <p:nvPr>
            <p:ph type="sldNum" sz="quarter" idx="5"/>
          </p:nvPr>
        </p:nvSpPr>
        <p:spPr/>
        <p:txBody>
          <a:bodyPr/>
          <a:lstStyle/>
          <a:p>
            <a:fld id="{64308F8E-A66F-462A-B457-A69A741C0933}" type="slidenum">
              <a:rPr lang="zh-CN" altLang="en-US" smtClean="0"/>
              <a:t>86</a:t>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在所有测试通过后，我们就可以进行测试覆盖分析了，我们可以看到</a:t>
            </a:r>
            <a:r>
              <a:rPr lang="en-US" altLang="zh-CN" dirty="0"/>
              <a:t>84%</a:t>
            </a:r>
            <a:r>
              <a:rPr lang="zh-CN" altLang="en-US" dirty="0"/>
              <a:t>的行都覆盖了，查看代码，我们发现没有被覆盖的行都是类似这样的类型检查，类型检查可以通过静态分析工具来检查，所以这里我们就不继续进行测试了。实际上，我们也不需要得到</a:t>
            </a:r>
            <a:r>
              <a:rPr lang="en-US" altLang="zh-CN" dirty="0"/>
              <a:t>100%</a:t>
            </a:r>
            <a:r>
              <a:rPr lang="zh-CN" altLang="en-US" dirty="0"/>
              <a:t>的覆盖率，</a:t>
            </a:r>
            <a:r>
              <a:rPr lang="en-US" altLang="zh-CN" dirty="0"/>
              <a:t>100%</a:t>
            </a:r>
            <a:r>
              <a:rPr lang="zh-CN" altLang="en-US" dirty="0"/>
              <a:t>的覆盖率也不一定表示程序完全正确。</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87</a:t>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除了</a:t>
            </a:r>
            <a:r>
              <a:rPr lang="en-US" altLang="zh-CN" dirty="0" err="1"/>
              <a:t>unnittest</a:t>
            </a:r>
            <a:r>
              <a:rPr lang="zh-CN" altLang="en-US" dirty="0"/>
              <a:t>，</a:t>
            </a:r>
            <a:r>
              <a:rPr lang="en-US" altLang="zh-CN" dirty="0"/>
              <a:t>python</a:t>
            </a:r>
            <a:r>
              <a:rPr lang="zh-CN" altLang="en-US" dirty="0"/>
              <a:t>还有很多其他的单元测试工具和框架，比如</a:t>
            </a:r>
            <a:r>
              <a:rPr lang="en-US" altLang="zh-CN" dirty="0"/>
              <a:t>python nose</a:t>
            </a:r>
            <a:r>
              <a:rPr lang="zh-CN" altLang="en-US" dirty="0"/>
              <a:t>和</a:t>
            </a:r>
            <a:r>
              <a:rPr lang="en-US" altLang="zh-CN" dirty="0" err="1"/>
              <a:t>pytest</a:t>
            </a:r>
            <a:r>
              <a:rPr lang="zh-CN" altLang="en-US" dirty="0"/>
              <a:t>，这里还有一个比较其他</a:t>
            </a:r>
            <a:r>
              <a:rPr lang="en-US" altLang="zh-CN" dirty="0"/>
              <a:t>mock</a:t>
            </a:r>
            <a:r>
              <a:rPr lang="zh-CN" altLang="en-US" dirty="0"/>
              <a:t>框架的链接。最后，还有一个关于</a:t>
            </a:r>
            <a:r>
              <a:rPr lang="en-US" altLang="zh-CN" dirty="0"/>
              <a:t>python</a:t>
            </a:r>
            <a:r>
              <a:rPr lang="zh-CN" altLang="en-US" dirty="0"/>
              <a:t>测试工具大全的链接，里面几乎包括全部</a:t>
            </a:r>
            <a:r>
              <a:rPr lang="en-US" altLang="zh-CN" dirty="0"/>
              <a:t>python</a:t>
            </a:r>
            <a:r>
              <a:rPr lang="zh-CN" altLang="en-US" dirty="0"/>
              <a:t>的测试框架、。。。有兴趣的同学可以访问这个网站来自学，</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88</a:t>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以上便是关于单元测试的全部内容。</a:t>
            </a:r>
          </a:p>
        </p:txBody>
      </p:sp>
      <p:sp>
        <p:nvSpPr>
          <p:cNvPr id="4" name="灯片编号占位符 3"/>
          <p:cNvSpPr>
            <a:spLocks noGrp="1"/>
          </p:cNvSpPr>
          <p:nvPr>
            <p:ph type="sldNum" sz="quarter" idx="5"/>
          </p:nvPr>
        </p:nvSpPr>
        <p:spPr/>
        <p:txBody>
          <a:bodyPr/>
          <a:lstStyle/>
          <a:p>
            <a:fld id="{64308F8E-A66F-462A-B457-A69A741C0933}" type="slidenum">
              <a:rPr lang="zh-CN" altLang="en-US" smtClean="0"/>
              <a:t>89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a:xfrm>
            <a:off x="9677398" y="6538912"/>
            <a:ext cx="910773" cy="365125"/>
          </a:xfrm>
        </p:spPr>
        <p:txBody>
          <a:bodyPr/>
          <a:lstStyle>
            <a:lvl1pPr>
              <a:defRPr>
                <a:solidFill>
                  <a:schemeClr val="tx1"/>
                </a:solidFill>
              </a:defRPr>
            </a:lvl1pPr>
          </a:lstStyle>
          <a:p>
            <a:fld id="{FC8D7E35-14AB-4286-AB5D-2E468617D2DA}" type="datetime1">
              <a:rPr lang="en-US" altLang="zh-CN" smtClean="0"/>
              <a:t>5/19/25</a:t>
            </a:fld>
            <a:endParaRPr lang="zh-CN" altLang="en-US"/>
          </a:p>
        </p:txBody>
      </p:sp>
      <p:sp>
        <p:nvSpPr>
          <p:cNvPr id="6" name="灯片编号占位符 5"/>
          <p:cNvSpPr>
            <a:spLocks noGrp="1"/>
          </p:cNvSpPr>
          <p:nvPr>
            <p:ph type="sldNum" sz="quarter" idx="12"/>
          </p:nvPr>
        </p:nvSpPr>
        <p:spPr>
          <a:xfrm>
            <a:off x="10588171" y="6538912"/>
            <a:ext cx="809172" cy="365125"/>
          </a:xfrm>
        </p:spPr>
        <p:txBody>
          <a:bodyPr/>
          <a:lstStyle>
            <a:lvl1pPr>
              <a:defRPr>
                <a:solidFill>
                  <a:schemeClr val="tx1"/>
                </a:solidFill>
              </a:defRPr>
            </a:lvl1pPr>
          </a:lstStyle>
          <a:p>
            <a:fld id="{74D2AB8B-5816-41F2-8B4B-CA5C3E4E6A65}" type="slidenum">
              <a:rPr lang="zh-CN" altLang="en-US" smtClean="0"/>
              <a:t>‹#›</a:t>
            </a:fld>
            <a:endParaRPr lang="zh-CN" altLang="en-US"/>
          </a:p>
        </p:txBody>
      </p:sp>
      <p:sp>
        <p:nvSpPr>
          <p:cNvPr id="5" name="页脚占位符 4"/>
          <p:cNvSpPr>
            <a:spLocks noGrp="1"/>
          </p:cNvSpPr>
          <p:nvPr>
            <p:ph type="ftr" sz="quarter" idx="11"/>
          </p:nvPr>
        </p:nvSpPr>
        <p:spPr>
          <a:xfrm>
            <a:off x="4038600" y="6538911"/>
            <a:ext cx="4114800" cy="365125"/>
          </a:xfrm>
        </p:spPr>
        <p:txBody>
          <a:bodyPr/>
          <a:lstStyle>
            <a:lvl1pPr>
              <a:defRPr>
                <a:solidFill>
                  <a:schemeClr val="tx1"/>
                </a:solidFill>
              </a:defRPr>
            </a:lvl1pPr>
          </a:lstStyle>
          <a:p>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C1E7A69-DDFF-413C-9336-B8D91472E3AC}" type="datetime1">
              <a:rPr lang="en-US" altLang="zh-CN" smtClean="0"/>
              <a:t>5/19/25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cxnSp>
        <p:nvCxnSpPr>
          <p:cNvPr id="13" name="直接连接符 12"/>
          <p:cNvCxnSpPr/>
          <p:nvPr userDrawn="1"/>
        </p:nvCxnSpPr>
        <p:spPr>
          <a:xfrm>
            <a:off x="0" y="1379220"/>
            <a:ext cx="7719060" cy="0"/>
          </a:xfrm>
          <a:prstGeom prst="line">
            <a:avLst/>
          </a:prstGeom>
          <a:ln w="38100">
            <a:solidFill>
              <a:srgbClr val="C00000"/>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F99A68FE-20F4-4661-BA45-66B4176BE55C}" type="datetime1">
              <a:rPr lang="en-US" altLang="zh-CN" smtClean="0"/>
              <a:t>5/19/25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AA107BC-441F-4C3C-9EAC-BA7FA89A5994}" type="datetime1">
              <a:rPr lang="en-US" altLang="zh-CN" smtClean="0"/>
              <a:t>5/19/25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7CDD21A-F1E1-4C6F-851D-5EBDD7996622}" type="datetime1">
              <a:rPr lang="en-US" altLang="zh-CN" smtClean="0"/>
              <a:t>5/19/25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5A0A8AB-20D5-46BF-971F-D7FE3E7EA34B}" type="datetime1">
              <a:rPr lang="en-US" altLang="zh-CN" smtClean="0"/>
              <a:t>5/19/25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70D0E3C-BF58-4837-BC97-E00745F23985}" type="datetime1">
              <a:rPr lang="en-US" altLang="zh-CN" smtClean="0"/>
              <a:t>5/19/25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076F10A-DF1E-4CD3-B4E7-9CFB706F9E96}" type="datetime1">
              <a:rPr lang="en-US" altLang="zh-CN" smtClean="0"/>
              <a:t>5/19/25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6975EE-127E-4B79-B83D-BB03355D1ED6}" type="datetime1">
              <a:rPr lang="en-US" altLang="zh-CN" smtClean="0"/>
              <a:t>5/19/25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6F4F94D-B085-4DCE-B4E7-2E13B14F99D5}" type="datetime1">
              <a:rPr lang="en-US" altLang="zh-CN" smtClean="0"/>
              <a:t>5/19/25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54B8D91-31B8-422B-BBA0-393421232005}" type="datetime1">
              <a:rPr lang="en-US" altLang="zh-CN" smtClean="0"/>
              <a:t>5/19/25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4D2AB8B-5816-41F2-8B4B-CA5C3E4E6A65}"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微软雅黑" panose="020B0503020204020204" pitchFamily="34" charset="-122"/>
                <a:cs typeface="微软雅黑" panose="020B0503020204020204" pitchFamily="34" charset="-122"/>
              </a:defRPr>
            </a:lvl1pPr>
          </a:lstStyle>
          <a:p>
            <a:endParaRPr/>
          </a:p>
        </p:txBody>
      </p:sp>
      <p:sp>
        <p:nvSpPr>
          <p:cNvPr id="3" name="Holder 3"/>
          <p:cNvSpPr>
            <a:spLocks noGrp="1"/>
          </p:cNvSpPr>
          <p:nvPr>
            <p:ph sz="half" idx="2"/>
          </p:nvPr>
        </p:nvSpPr>
        <p:spPr>
          <a:xfrm>
            <a:off x="1204800" y="1406095"/>
            <a:ext cx="3545204" cy="4414520"/>
          </a:xfrm>
          <a:prstGeom prst="rect">
            <a:avLst/>
          </a:prstGeom>
        </p:spPr>
        <p:txBody>
          <a:bodyPr wrap="square" lIns="0" tIns="0" rIns="0" bIns="0">
            <a:spAutoFit/>
          </a:bodyPr>
          <a:lstStyle>
            <a:lvl1pPr>
              <a:defRPr sz="1800" b="0" i="1">
                <a:solidFill>
                  <a:srgbClr val="408080"/>
                </a:solidFill>
                <a:latin typeface="Consolas" panose="020B0609020204030204"/>
                <a:cs typeface="Consolas" panose="020B0609020204030204"/>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ECCC85D5-4920-432E-ACE5-7D71CBFC9258}" type="datetime1">
              <a:rPr lang="en-US" altLang="zh-CN" smtClean="0"/>
              <a:t>5/19/25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4B26EC03-B2D5-4B37-87D6-30ABC8C28CF9}" type="datetime1">
              <a:rPr lang="en-US" altLang="zh-CN" smtClean="0"/>
              <a:t>5/19/25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cSld name="Title Only">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0" i="0">
                <a:solidFill>
                  <a:schemeClr val="tx1"/>
                </a:solidFill>
                <a:latin typeface="Arial" panose="020B0604020202020204"/>
                <a:cs typeface="Arial" panose="020B0604020202020204"/>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5/19/25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813676" y="6248725"/>
            <a:ext cx="1060619" cy="365125"/>
          </a:xfrm>
          <a:prstGeom prst="rect">
            <a:avLst/>
          </a:prstGeom>
        </p:spPr>
        <p:txBody>
          <a:bodyPr vert="horz" lIns="91440" tIns="45720" rIns="91440" bIns="45720" rtlCol="0" anchor="ctr"/>
          <a:lstStyle>
            <a:lvl1pPr algn="l">
              <a:defRPr sz="1200">
                <a:solidFill>
                  <a:schemeClr val="tx1"/>
                </a:solidFill>
              </a:defRPr>
            </a:lvl1pPr>
          </a:lstStyle>
          <a:p>
            <a:fld id="{D1997228-EB34-4757-AD03-B11217C381AA}" type="datetime1">
              <a:rPr lang="en-US" altLang="zh-CN" smtClean="0"/>
              <a:t>5/19/25</a:t>
            </a:fld>
            <a:endParaRPr lang="zh-CN" altLang="en-US"/>
          </a:p>
        </p:txBody>
      </p:sp>
      <p:sp>
        <p:nvSpPr>
          <p:cNvPr id="6" name="灯片编号占位符 5"/>
          <p:cNvSpPr>
            <a:spLocks noGrp="1"/>
          </p:cNvSpPr>
          <p:nvPr>
            <p:ph type="sldNum" sz="quarter" idx="4"/>
          </p:nvPr>
        </p:nvSpPr>
        <p:spPr>
          <a:xfrm>
            <a:off x="10406617" y="6382978"/>
            <a:ext cx="997857" cy="365125"/>
          </a:xfrm>
          <a:prstGeom prst="rect">
            <a:avLst/>
          </a:prstGeom>
        </p:spPr>
        <p:txBody>
          <a:bodyPr vert="horz" lIns="91440" tIns="45720" rIns="91440" bIns="45720" rtlCol="0" anchor="ctr"/>
          <a:lstStyle>
            <a:lvl1pPr algn="r">
              <a:defRPr sz="1200">
                <a:solidFill>
                  <a:schemeClr val="tx1"/>
                </a:solidFill>
              </a:defRPr>
            </a:lvl1pPr>
          </a:lstStyle>
          <a:p>
            <a:fld id="{74D2AB8B-5816-41F2-8B4B-CA5C3E4E6A65}" type="slidenum">
              <a:rPr lang="zh-CN" altLang="en-US" smtClean="0"/>
              <a:t>‹#›</a:t>
            </a:fld>
            <a:endParaRPr lang="zh-CN" altLang="en-US"/>
          </a:p>
        </p:txBody>
      </p:sp>
      <p:sp>
        <p:nvSpPr>
          <p:cNvPr id="5" name="页脚占位符 4"/>
          <p:cNvSpPr>
            <a:spLocks noGrp="1"/>
          </p:cNvSpPr>
          <p:nvPr>
            <p:ph type="ftr" sz="quarter" idx="3"/>
          </p:nvPr>
        </p:nvSpPr>
        <p:spPr>
          <a:xfrm>
            <a:off x="4038600" y="6248725"/>
            <a:ext cx="4114800" cy="365125"/>
          </a:xfrm>
          <a:prstGeom prst="rect">
            <a:avLst/>
          </a:prstGeom>
        </p:spPr>
        <p:txBody>
          <a:bodyPr vert="horz" lIns="91440" tIns="45720" rIns="91440" bIns="45720" rtlCol="0" anchor="ctr"/>
          <a:lstStyle>
            <a:lvl1pPr algn="ctr">
              <a:defRPr sz="1200">
                <a:solidFill>
                  <a:schemeClr val="tx1"/>
                </a:solidFill>
              </a:defRPr>
            </a:lvl1pPr>
          </a:lstStyle>
          <a:p>
            <a:endParaRPr lang="zh-CN" altLang="en-US" dirty="0"/>
          </a:p>
        </p:txBody>
      </p:sp>
      <p:cxnSp>
        <p:nvCxnSpPr>
          <p:cNvPr id="13" name="直接连接符 12"/>
          <p:cNvCxnSpPr/>
          <p:nvPr userDrawn="1"/>
        </p:nvCxnSpPr>
        <p:spPr>
          <a:xfrm>
            <a:off x="2" y="6649001"/>
            <a:ext cx="10925173" cy="0"/>
          </a:xfrm>
          <a:prstGeom prst="line">
            <a:avLst/>
          </a:prstGeom>
          <a:ln w="19050">
            <a:solidFill>
              <a:srgbClr val="7030A0"/>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4" name="矩形 13"/>
          <p:cNvSpPr/>
          <p:nvPr userDrawn="1"/>
        </p:nvSpPr>
        <p:spPr>
          <a:xfrm>
            <a:off x="1" y="6512379"/>
            <a:ext cx="10925174" cy="79698"/>
          </a:xfrm>
          <a:prstGeom prst="rect">
            <a:avLst/>
          </a:prstGeom>
          <a:gradFill flip="none" rotWithShape="1">
            <a:gsLst>
              <a:gs pos="0">
                <a:srgbClr val="7030A0">
                  <a:shade val="30000"/>
                  <a:satMod val="115000"/>
                </a:srgbClr>
              </a:gs>
              <a:gs pos="50000">
                <a:srgbClr val="7030A0">
                  <a:shade val="67500"/>
                  <a:satMod val="115000"/>
                </a:srgbClr>
              </a:gs>
              <a:gs pos="100000">
                <a:srgbClr val="7030A0">
                  <a:shade val="100000"/>
                  <a:satMod val="115000"/>
                </a:srgb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968965" y="6321759"/>
            <a:ext cx="1600200" cy="48756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image" Target="../media/image14.png"/><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38.png"/><Relationship Id="rId7" Type="http://schemas.openxmlformats.org/officeDocument/2006/relationships/image" Target="../media/image41.png"/><Relationship Id="rId2" Type="http://schemas.openxmlformats.org/officeDocument/2006/relationships/notesSlide" Target="../notesSlides/notesSlide41.xml"/><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10"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42.png"/></Relationships>
</file>

<file path=ppt/slides/_rels/slide44.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38.png"/><Relationship Id="rId7" Type="http://schemas.openxmlformats.org/officeDocument/2006/relationships/image" Target="../media/image41.png"/><Relationship Id="rId2" Type="http://schemas.openxmlformats.org/officeDocument/2006/relationships/notesSlide" Target="../notesSlides/notesSlide42.xml"/><Relationship Id="rId1" Type="http://schemas.openxmlformats.org/officeDocument/2006/relationships/slideLayout" Target="../slideLayouts/slideLayout7.xml"/><Relationship Id="rId6" Type="http://schemas.openxmlformats.org/officeDocument/2006/relationships/image" Target="../media/image40.png"/><Relationship Id="rId11" Type="http://schemas.openxmlformats.org/officeDocument/2006/relationships/image" Target="../media/image31.png"/><Relationship Id="rId5" Type="http://schemas.openxmlformats.org/officeDocument/2006/relationships/image" Target="../media/image39.png"/><Relationship Id="rId10"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42.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47.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45.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30.png"/></Relationships>
</file>

<file path=ppt/slides/_rels/slide48.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5.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27.png"/><Relationship Id="rId4" Type="http://schemas.openxmlformats.org/officeDocument/2006/relationships/image" Target="../media/image53.png"/></Relationships>
</file>

<file path=ppt/slides/_rels/slide49.xml.rels><?xml version="1.0" encoding="UTF-8" standalone="yes"?>
<Relationships xmlns="http://schemas.openxmlformats.org/package/2006/relationships"><Relationship Id="rId8" Type="http://schemas.openxmlformats.org/officeDocument/2006/relationships/tags" Target="../tags/tag21.xml"/><Relationship Id="rId13" Type="http://schemas.openxmlformats.org/officeDocument/2006/relationships/tags" Target="../tags/tag26.xml"/><Relationship Id="rId3" Type="http://schemas.openxmlformats.org/officeDocument/2006/relationships/tags" Target="../tags/tag16.xml"/><Relationship Id="rId7" Type="http://schemas.openxmlformats.org/officeDocument/2006/relationships/tags" Target="../tags/tag20.xml"/><Relationship Id="rId12" Type="http://schemas.openxmlformats.org/officeDocument/2006/relationships/tags" Target="../tags/tag25.xml"/><Relationship Id="rId2" Type="http://schemas.openxmlformats.org/officeDocument/2006/relationships/tags" Target="../tags/tag15.xml"/><Relationship Id="rId16" Type="http://schemas.openxmlformats.org/officeDocument/2006/relationships/image" Target="../media/image14.png"/><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tags" Target="../tags/tag24.xml"/><Relationship Id="rId5" Type="http://schemas.openxmlformats.org/officeDocument/2006/relationships/tags" Target="../tags/tag18.xml"/><Relationship Id="rId15" Type="http://schemas.openxmlformats.org/officeDocument/2006/relationships/notesSlide" Target="../notesSlides/notesSlide47.xml"/><Relationship Id="rId10" Type="http://schemas.openxmlformats.org/officeDocument/2006/relationships/tags" Target="../tags/tag23.xml"/><Relationship Id="rId4" Type="http://schemas.openxmlformats.org/officeDocument/2006/relationships/tags" Target="../tags/tag17.xml"/><Relationship Id="rId9" Type="http://schemas.openxmlformats.org/officeDocument/2006/relationships/tags" Target="../tags/tag22.xml"/><Relationship Id="rId14"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8" Type="http://schemas.openxmlformats.org/officeDocument/2006/relationships/tags" Target="../tags/tag34.xml"/><Relationship Id="rId13" Type="http://schemas.openxmlformats.org/officeDocument/2006/relationships/tags" Target="../tags/tag39.xml"/><Relationship Id="rId3" Type="http://schemas.openxmlformats.org/officeDocument/2006/relationships/tags" Target="../tags/tag29.xml"/><Relationship Id="rId7" Type="http://schemas.openxmlformats.org/officeDocument/2006/relationships/tags" Target="../tags/tag33.xml"/><Relationship Id="rId12" Type="http://schemas.openxmlformats.org/officeDocument/2006/relationships/tags" Target="../tags/tag38.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tags" Target="../tags/tag32.xml"/><Relationship Id="rId11" Type="http://schemas.openxmlformats.org/officeDocument/2006/relationships/tags" Target="../tags/tag37.xml"/><Relationship Id="rId5" Type="http://schemas.openxmlformats.org/officeDocument/2006/relationships/tags" Target="../tags/tag31.xml"/><Relationship Id="rId15" Type="http://schemas.openxmlformats.org/officeDocument/2006/relationships/image" Target="../media/image14.png"/><Relationship Id="rId10" Type="http://schemas.openxmlformats.org/officeDocument/2006/relationships/tags" Target="../tags/tag36.xml"/><Relationship Id="rId4" Type="http://schemas.openxmlformats.org/officeDocument/2006/relationships/tags" Target="../tags/tag30.xml"/><Relationship Id="rId9" Type="http://schemas.openxmlformats.org/officeDocument/2006/relationships/tags" Target="../tags/tag35.xml"/><Relationship Id="rId14"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8" Type="http://schemas.openxmlformats.org/officeDocument/2006/relationships/tags" Target="../tags/tag47.xml"/><Relationship Id="rId13" Type="http://schemas.openxmlformats.org/officeDocument/2006/relationships/tags" Target="../tags/tag52.xml"/><Relationship Id="rId3" Type="http://schemas.openxmlformats.org/officeDocument/2006/relationships/tags" Target="../tags/tag42.xml"/><Relationship Id="rId7" Type="http://schemas.openxmlformats.org/officeDocument/2006/relationships/tags" Target="../tags/tag46.xml"/><Relationship Id="rId12" Type="http://schemas.openxmlformats.org/officeDocument/2006/relationships/tags" Target="../tags/tag51.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tags" Target="../tags/tag45.xml"/><Relationship Id="rId11" Type="http://schemas.openxmlformats.org/officeDocument/2006/relationships/tags" Target="../tags/tag50.xml"/><Relationship Id="rId5" Type="http://schemas.openxmlformats.org/officeDocument/2006/relationships/tags" Target="../tags/tag44.xml"/><Relationship Id="rId15" Type="http://schemas.openxmlformats.org/officeDocument/2006/relationships/image" Target="../media/image14.png"/><Relationship Id="rId10" Type="http://schemas.openxmlformats.org/officeDocument/2006/relationships/tags" Target="../tags/tag49.xml"/><Relationship Id="rId4" Type="http://schemas.openxmlformats.org/officeDocument/2006/relationships/tags" Target="../tags/tag43.xml"/><Relationship Id="rId9" Type="http://schemas.openxmlformats.org/officeDocument/2006/relationships/tags" Target="../tags/tag48.xml"/><Relationship Id="rId14"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8" Type="http://schemas.openxmlformats.org/officeDocument/2006/relationships/tags" Target="../tags/tag60.xml"/><Relationship Id="rId13" Type="http://schemas.openxmlformats.org/officeDocument/2006/relationships/tags" Target="../tags/tag65.xml"/><Relationship Id="rId3" Type="http://schemas.openxmlformats.org/officeDocument/2006/relationships/tags" Target="../tags/tag55.xml"/><Relationship Id="rId7" Type="http://schemas.openxmlformats.org/officeDocument/2006/relationships/tags" Target="../tags/tag59.xml"/><Relationship Id="rId12" Type="http://schemas.openxmlformats.org/officeDocument/2006/relationships/tags" Target="../tags/tag64.xm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tags" Target="../tags/tag58.xml"/><Relationship Id="rId11" Type="http://schemas.openxmlformats.org/officeDocument/2006/relationships/tags" Target="../tags/tag63.xml"/><Relationship Id="rId5" Type="http://schemas.openxmlformats.org/officeDocument/2006/relationships/tags" Target="../tags/tag57.xml"/><Relationship Id="rId15" Type="http://schemas.openxmlformats.org/officeDocument/2006/relationships/image" Target="../media/image14.png"/><Relationship Id="rId10" Type="http://schemas.openxmlformats.org/officeDocument/2006/relationships/tags" Target="../tags/tag62.xml"/><Relationship Id="rId4" Type="http://schemas.openxmlformats.org/officeDocument/2006/relationships/tags" Target="../tags/tag56.xml"/><Relationship Id="rId9" Type="http://schemas.openxmlformats.org/officeDocument/2006/relationships/tags" Target="../tags/tag61.xml"/><Relationship Id="rId14"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8" Type="http://schemas.openxmlformats.org/officeDocument/2006/relationships/tags" Target="../tags/tag73.xml"/><Relationship Id="rId13" Type="http://schemas.openxmlformats.org/officeDocument/2006/relationships/tags" Target="../tags/tag78.xml"/><Relationship Id="rId3" Type="http://schemas.openxmlformats.org/officeDocument/2006/relationships/tags" Target="../tags/tag68.xml"/><Relationship Id="rId7" Type="http://schemas.openxmlformats.org/officeDocument/2006/relationships/tags" Target="../tags/tag72.xml"/><Relationship Id="rId12" Type="http://schemas.openxmlformats.org/officeDocument/2006/relationships/tags" Target="../tags/tag77.xm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tags" Target="../tags/tag71.xml"/><Relationship Id="rId11" Type="http://schemas.openxmlformats.org/officeDocument/2006/relationships/tags" Target="../tags/tag76.xml"/><Relationship Id="rId5" Type="http://schemas.openxmlformats.org/officeDocument/2006/relationships/tags" Target="../tags/tag70.xml"/><Relationship Id="rId15" Type="http://schemas.openxmlformats.org/officeDocument/2006/relationships/image" Target="../media/image14.png"/><Relationship Id="rId10" Type="http://schemas.openxmlformats.org/officeDocument/2006/relationships/tags" Target="../tags/tag75.xml"/><Relationship Id="rId4" Type="http://schemas.openxmlformats.org/officeDocument/2006/relationships/tags" Target="../tags/tag69.xml"/><Relationship Id="rId9" Type="http://schemas.openxmlformats.org/officeDocument/2006/relationships/tags" Target="../tags/tag74.xml"/><Relationship Id="rId14"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8" Type="http://schemas.openxmlformats.org/officeDocument/2006/relationships/tags" Target="../tags/tag86.xml"/><Relationship Id="rId13" Type="http://schemas.openxmlformats.org/officeDocument/2006/relationships/tags" Target="../tags/tag91.xml"/><Relationship Id="rId3" Type="http://schemas.openxmlformats.org/officeDocument/2006/relationships/tags" Target="../tags/tag81.xml"/><Relationship Id="rId7" Type="http://schemas.openxmlformats.org/officeDocument/2006/relationships/tags" Target="../tags/tag85.xml"/><Relationship Id="rId12" Type="http://schemas.openxmlformats.org/officeDocument/2006/relationships/tags" Target="../tags/tag90.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tags" Target="../tags/tag84.xml"/><Relationship Id="rId11" Type="http://schemas.openxmlformats.org/officeDocument/2006/relationships/tags" Target="../tags/tag89.xml"/><Relationship Id="rId5" Type="http://schemas.openxmlformats.org/officeDocument/2006/relationships/tags" Target="../tags/tag83.xml"/><Relationship Id="rId15" Type="http://schemas.openxmlformats.org/officeDocument/2006/relationships/image" Target="../media/image14.png"/><Relationship Id="rId10" Type="http://schemas.openxmlformats.org/officeDocument/2006/relationships/tags" Target="../tags/tag88.xml"/><Relationship Id="rId4" Type="http://schemas.openxmlformats.org/officeDocument/2006/relationships/tags" Target="../tags/tag82.xml"/><Relationship Id="rId9" Type="http://schemas.openxmlformats.org/officeDocument/2006/relationships/tags" Target="../tags/tag87.xml"/><Relationship Id="rId14"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62.jpeg"/><Relationship Id="rId5" Type="http://schemas.openxmlformats.org/officeDocument/2006/relationships/image" Target="../media/image61.jpeg"/><Relationship Id="rId4" Type="http://schemas.openxmlformats.org/officeDocument/2006/relationships/image" Target="../media/image60.jpeg"/></Relationships>
</file>

<file path=ppt/slides/_rels/slide6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6.xml"/><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65.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58.xml"/><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59.xml"/><Relationship Id="rId1" Type="http://schemas.openxmlformats.org/officeDocument/2006/relationships/slideLayout" Target="../slideLayouts/slideLayout14.xml"/></Relationships>
</file>

<file path=ppt/slides/_rels/slide6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0.xml"/><Relationship Id="rId1" Type="http://schemas.openxmlformats.org/officeDocument/2006/relationships/slideLayout" Target="../slideLayouts/slideLayout14.xml"/></Relationships>
</file>

<file path=ppt/slides/_rels/slide6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1.xml"/><Relationship Id="rId1" Type="http://schemas.openxmlformats.org/officeDocument/2006/relationships/slideLayout" Target="../slideLayouts/slideLayout14.xml"/></Relationships>
</file>

<file path=ppt/slides/_rels/slide69.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62.xml"/><Relationship Id="rId1" Type="http://schemas.openxmlformats.org/officeDocument/2006/relationships/slideLayout" Target="../slideLayouts/slideLayout14.xml"/></Relationships>
</file>

<file path=ppt/slides/_rels/slide70.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63.xml"/><Relationship Id="rId1" Type="http://schemas.openxmlformats.org/officeDocument/2006/relationships/slideLayout" Target="../slideLayouts/slideLayout14.xml"/></Relationships>
</file>

<file path=ppt/slides/_rels/slide7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65.xml"/><Relationship Id="rId1" Type="http://schemas.openxmlformats.org/officeDocument/2006/relationships/slideLayout" Target="../slideLayouts/slideLayout14.xml"/></Relationships>
</file>

<file path=ppt/slides/_rels/slide7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2.xml"/><Relationship Id="rId1" Type="http://schemas.openxmlformats.org/officeDocument/2006/relationships/tags" Target="../tags/tag92.xml"/><Relationship Id="rId5" Type="http://schemas.openxmlformats.org/officeDocument/2006/relationships/image" Target="../media/image78.png"/><Relationship Id="rId4" Type="http://schemas.openxmlformats.org/officeDocument/2006/relationships/image" Target="../media/image77.jpeg"/></Relationships>
</file>

<file path=ppt/slides/_rels/slide77.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2.xml"/><Relationship Id="rId1" Type="http://schemas.openxmlformats.org/officeDocument/2006/relationships/tags" Target="../tags/tag93.xml"/><Relationship Id="rId6" Type="http://schemas.openxmlformats.org/officeDocument/2006/relationships/image" Target="../media/image81.png"/><Relationship Id="rId5" Type="http://schemas.openxmlformats.org/officeDocument/2006/relationships/image" Target="../media/image80.jpeg"/><Relationship Id="rId4" Type="http://schemas.openxmlformats.org/officeDocument/2006/relationships/image" Target="../media/image79.jpeg"/></Relationships>
</file>

<file path=ppt/slides/_rels/slide7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72.xml"/><Relationship Id="rId1" Type="http://schemas.openxmlformats.org/officeDocument/2006/relationships/slideLayout" Target="../slideLayouts/slideLayout14.xml"/></Relationships>
</file>

<file path=ppt/slides/_rels/slide80.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73.xml"/><Relationship Id="rId1" Type="http://schemas.openxmlformats.org/officeDocument/2006/relationships/slideLayout" Target="../slideLayouts/slideLayout14.xml"/><Relationship Id="rId4" Type="http://schemas.openxmlformats.org/officeDocument/2006/relationships/image" Target="../media/image84.jpeg"/></Relationships>
</file>

<file path=ppt/slides/_rels/slide81.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74.xml"/><Relationship Id="rId1" Type="http://schemas.openxmlformats.org/officeDocument/2006/relationships/slideLayout" Target="../slideLayouts/slideLayout14.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s>
</file>

<file path=ppt/slides/_rels/slide82.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75.xml"/><Relationship Id="rId1" Type="http://schemas.openxmlformats.org/officeDocument/2006/relationships/slideLayout" Target="../slideLayouts/slideLayout14.xml"/><Relationship Id="rId4" Type="http://schemas.openxmlformats.org/officeDocument/2006/relationships/image" Target="../media/image90.png"/></Relationships>
</file>

<file path=ppt/slides/_rels/slide83.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76.xml"/><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12.xml"/><Relationship Id="rId1" Type="http://schemas.openxmlformats.org/officeDocument/2006/relationships/tags" Target="../tags/tag94.xml"/><Relationship Id="rId5" Type="http://schemas.openxmlformats.org/officeDocument/2006/relationships/image" Target="../media/image93.png"/><Relationship Id="rId4" Type="http://schemas.openxmlformats.org/officeDocument/2006/relationships/image" Target="../media/image92.png"/></Relationships>
</file>

<file path=ppt/slides/_rels/slide85.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78.xml"/><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79.xml"/><Relationship Id="rId1" Type="http://schemas.openxmlformats.org/officeDocument/2006/relationships/slideLayout" Target="../slideLayouts/slideLayout12.xml"/><Relationship Id="rId4" Type="http://schemas.openxmlformats.org/officeDocument/2006/relationships/image" Target="../media/image96.png"/></Relationships>
</file>

<file path=ppt/slides/_rels/slide87.xml.rels><?xml version="1.0" encoding="UTF-8" standalone="yes"?>
<Relationships xmlns="http://schemas.openxmlformats.org/package/2006/relationships"><Relationship Id="rId3" Type="http://schemas.openxmlformats.org/officeDocument/2006/relationships/image" Target="../media/image97.png"/><Relationship Id="rId7" Type="http://schemas.openxmlformats.org/officeDocument/2006/relationships/image" Target="../media/image101.png"/><Relationship Id="rId2" Type="http://schemas.openxmlformats.org/officeDocument/2006/relationships/notesSlide" Target="../notesSlides/notesSlide80.xml"/><Relationship Id="rId1" Type="http://schemas.openxmlformats.org/officeDocument/2006/relationships/slideLayout" Target="../slideLayouts/slideLayout14.xml"/><Relationship Id="rId6" Type="http://schemas.openxmlformats.org/officeDocument/2006/relationships/image" Target="../media/image100.jpeg"/><Relationship Id="rId5" Type="http://schemas.openxmlformats.org/officeDocument/2006/relationships/image" Target="../media/image99.jpeg"/><Relationship Id="rId4" Type="http://schemas.openxmlformats.org/officeDocument/2006/relationships/image" Target="../media/image98.png"/></Relationships>
</file>

<file path=ppt/slides/_rels/slide88.xml.rels><?xml version="1.0" encoding="UTF-8" standalone="yes"?>
<Relationships xmlns="http://schemas.openxmlformats.org/package/2006/relationships"><Relationship Id="rId3" Type="http://schemas.openxmlformats.org/officeDocument/2006/relationships/hyperlink" Target="http://pytest.org/latest/" TargetMode="External"/><Relationship Id="rId2" Type="http://schemas.openxmlformats.org/officeDocument/2006/relationships/notesSlide" Target="../notesSlides/notesSlide81.xml"/><Relationship Id="rId1" Type="http://schemas.openxmlformats.org/officeDocument/2006/relationships/slideLayout" Target="../slideLayouts/slideLayout2.xml"/><Relationship Id="rId5" Type="http://schemas.openxmlformats.org/officeDocument/2006/relationships/image" Target="../media/image102.jpeg"/><Relationship Id="rId4" Type="http://schemas.openxmlformats.org/officeDocument/2006/relationships/hyperlink" Target="http://garybernhardt.github.io/python-mock-comparison/" TargetMode="Externa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lstStyle/>
          <a:p>
            <a:pPr algn="ctr"/>
            <a:r>
              <a:rPr lang="zh-CN" altLang="en-US" dirty="0"/>
              <a:t>黑盒测试方法</a:t>
            </a:r>
          </a:p>
        </p:txBody>
      </p:sp>
      <p:sp>
        <p:nvSpPr>
          <p:cNvPr id="3" name="文本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74D2AB8B-5816-41F2-8B4B-CA5C3E4E6A65}" type="slidenum">
              <a:rPr lang="zh-CN" altLang="en-US" smtClean="0"/>
              <a:t>1</a:t>
            </a:fld>
            <a:endParaRPr lang="zh-CN" altLang="en-US"/>
          </a:p>
        </p:txBody>
      </p:sp>
    </p:spTree>
    <p:extLst>
      <p:ext uri="{BB962C8B-B14F-4D97-AF65-F5344CB8AC3E}">
        <p14:creationId xmlns:p14="http://schemas.microsoft.com/office/powerpoint/2010/main" val="29219377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660312" y="3087326"/>
            <a:ext cx="3391472" cy="2409549"/>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1938864" y="4275667"/>
            <a:ext cx="1024466" cy="1024466"/>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3937001" y="4428067"/>
            <a:ext cx="804332" cy="804333"/>
          </a:xfrm>
          <a:prstGeom prst="rect">
            <a:avLst/>
          </a:prstGeom>
          <a:blipFill>
            <a:blip r:embed="rId5" cstate="print"/>
            <a:stretch>
              <a:fillRect/>
            </a:stretch>
          </a:blipFill>
        </p:spPr>
        <p:txBody>
          <a:bodyPr wrap="square" lIns="0" tIns="0" rIns="0" bIns="0" rtlCol="0"/>
          <a:lstStyle/>
          <a:p>
            <a:endParaRPr/>
          </a:p>
        </p:txBody>
      </p:sp>
      <p:sp>
        <p:nvSpPr>
          <p:cNvPr id="6" name="object 6"/>
          <p:cNvSpPr txBox="1"/>
          <p:nvPr/>
        </p:nvSpPr>
        <p:spPr>
          <a:xfrm>
            <a:off x="1055294" y="1654155"/>
            <a:ext cx="10088880" cy="3689985"/>
          </a:xfrm>
          <a:prstGeom prst="rect">
            <a:avLst/>
          </a:prstGeom>
        </p:spPr>
        <p:txBody>
          <a:bodyPr vert="horz" wrap="square" lIns="0" tIns="12700" rIns="0" bIns="0" rtlCol="0">
            <a:spAutoFit/>
          </a:bodyPr>
          <a:lstStyle/>
          <a:p>
            <a:pPr marL="12700" marR="5080">
              <a:lnSpc>
                <a:spcPct val="117000"/>
              </a:lnSpc>
              <a:spcBef>
                <a:spcPts val="100"/>
              </a:spcBef>
            </a:pPr>
            <a:r>
              <a:rPr sz="2200" spc="60" dirty="0">
                <a:solidFill>
                  <a:srgbClr val="0033CC"/>
                </a:solidFill>
                <a:latin typeface="微软雅黑" panose="020B0503020204020204" pitchFamily="34" charset="-122"/>
                <a:cs typeface="微软雅黑" panose="020B0503020204020204" pitchFamily="34" charset="-122"/>
              </a:rPr>
              <a:t>等价类划分</a:t>
            </a:r>
            <a:r>
              <a:rPr sz="2200" spc="60" dirty="0">
                <a:latin typeface="微软雅黑" panose="020B0503020204020204" pitchFamily="34" charset="-122"/>
                <a:cs typeface="微软雅黑" panose="020B0503020204020204" pitchFamily="34" charset="-122"/>
              </a:rPr>
              <a:t>是将输入域划分成尽可能少的若干子域，在划分中要求每个子域两两 </a:t>
            </a:r>
            <a:r>
              <a:rPr sz="2200" dirty="0">
                <a:latin typeface="微软雅黑" panose="020B0503020204020204" pitchFamily="34" charset="-122"/>
                <a:cs typeface="微软雅黑" panose="020B0503020204020204" pitchFamily="34" charset="-122"/>
              </a:rPr>
              <a:t>互不相交，每个子域称为一个等价类。</a:t>
            </a:r>
          </a:p>
          <a:p>
            <a:pPr>
              <a:lnSpc>
                <a:spcPct val="100000"/>
              </a:lnSpc>
            </a:pPr>
            <a:endParaRPr sz="2900" dirty="0">
              <a:latin typeface="Times New Roman" panose="02020603050405020304"/>
              <a:cs typeface="Times New Roman" panose="02020603050405020304"/>
            </a:endParaRPr>
          </a:p>
          <a:p>
            <a:pPr marL="5414645" indent="-448310">
              <a:lnSpc>
                <a:spcPct val="100000"/>
              </a:lnSpc>
              <a:spcBef>
                <a:spcPts val="1675"/>
              </a:spcBef>
              <a:buFont typeface="Arial" panose="020B0604020202020204"/>
              <a:buChar char="•"/>
              <a:tabLst>
                <a:tab pos="5414645" algn="l"/>
                <a:tab pos="5415280" algn="l"/>
              </a:tabLst>
            </a:pPr>
            <a:r>
              <a:rPr sz="2200" dirty="0">
                <a:latin typeface="微软雅黑" panose="020B0503020204020204" pitchFamily="34" charset="-122"/>
                <a:cs typeface="微软雅黑" panose="020B0503020204020204" pitchFamily="34" charset="-122"/>
              </a:rPr>
              <a:t>同一输入域的等价类划分可能不唯一</a:t>
            </a:r>
          </a:p>
          <a:p>
            <a:pPr marL="5411470" marR="149860" indent="-444500">
              <a:lnSpc>
                <a:spcPct val="121000"/>
              </a:lnSpc>
              <a:spcBef>
                <a:spcPts val="1100"/>
              </a:spcBef>
              <a:buFont typeface="Arial" panose="020B0604020202020204"/>
              <a:buChar char="•"/>
              <a:tabLst>
                <a:tab pos="5415915" algn="l"/>
                <a:tab pos="5416550" algn="l"/>
              </a:tabLst>
            </a:pPr>
            <a:r>
              <a:rPr sz="2200" spc="20" dirty="0">
                <a:latin typeface="微软雅黑" panose="020B0503020204020204" pitchFamily="34" charset="-122"/>
                <a:cs typeface="微软雅黑" panose="020B0503020204020204" pitchFamily="34" charset="-122"/>
              </a:rPr>
              <a:t>只需从每一个等价类中选取一个输入 </a:t>
            </a:r>
            <a:r>
              <a:rPr sz="2200" dirty="0">
                <a:latin typeface="微软雅黑" panose="020B0503020204020204" pitchFamily="34" charset="-122"/>
                <a:cs typeface="微软雅黑" panose="020B0503020204020204" pitchFamily="34" charset="-122"/>
              </a:rPr>
              <a:t>作为测试用例</a:t>
            </a:r>
          </a:p>
          <a:p>
            <a:pPr marL="5411470" marR="149860" indent="-444500">
              <a:lnSpc>
                <a:spcPct val="117000"/>
              </a:lnSpc>
              <a:spcBef>
                <a:spcPts val="1300"/>
              </a:spcBef>
              <a:buFont typeface="Arial" panose="020B0604020202020204"/>
              <a:buChar char="•"/>
              <a:tabLst>
                <a:tab pos="5415915" algn="l"/>
                <a:tab pos="5416550" algn="l"/>
              </a:tabLst>
            </a:pPr>
            <a:r>
              <a:rPr sz="2200" spc="20" dirty="0">
                <a:latin typeface="微软雅黑" panose="020B0503020204020204" pitchFamily="34" charset="-122"/>
                <a:cs typeface="微软雅黑" panose="020B0503020204020204" pitchFamily="34" charset="-122"/>
              </a:rPr>
              <a:t>对于相同的等价类划分，不同测试人 </a:t>
            </a:r>
            <a:r>
              <a:rPr sz="2200" dirty="0">
                <a:latin typeface="微软雅黑" panose="020B0503020204020204" pitchFamily="34" charset="-122"/>
                <a:cs typeface="微软雅黑" panose="020B0503020204020204" pitchFamily="34" charset="-122"/>
              </a:rPr>
              <a:t>员选取的测试用例集可能是不同的</a:t>
            </a:r>
          </a:p>
        </p:txBody>
      </p:sp>
      <p:sp>
        <p:nvSpPr>
          <p:cNvPr id="7" name="灯片编号占位符 6"/>
          <p:cNvSpPr>
            <a:spLocks noGrp="1"/>
          </p:cNvSpPr>
          <p:nvPr>
            <p:ph type="sldNum" sz="quarter" idx="12"/>
          </p:nvPr>
        </p:nvSpPr>
        <p:spPr/>
        <p:txBody>
          <a:bodyPr/>
          <a:lstStyle/>
          <a:p>
            <a:fld id="{74D2AB8B-5816-41F2-8B4B-CA5C3E4E6A65}" type="slidenum">
              <a:rPr lang="zh-CN" altLang="en-US" smtClean="0"/>
              <a:t>2</a:t>
            </a:fld>
            <a:endParaRPr lang="zh-CN" altLang="en-US"/>
          </a:p>
        </p:txBody>
      </p:sp>
      <p:sp>
        <p:nvSpPr>
          <p:cNvPr id="9" name="标题 8"/>
          <p:cNvSpPr>
            <a:spLocks noGrp="1"/>
          </p:cNvSpPr>
          <p:nvPr>
            <p:ph type="title"/>
          </p:nvPr>
        </p:nvSpPr>
        <p:spPr/>
        <p:txBody>
          <a:bodyPr/>
          <a:lstStyle/>
          <a:p>
            <a:r>
              <a:rPr lang="zh-CN" altLang="en-US" dirty="0"/>
              <a:t>等价类划分</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153061" y="3805782"/>
            <a:ext cx="1085651" cy="1757889"/>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1163875" y="1550342"/>
            <a:ext cx="9759315" cy="3470275"/>
          </a:xfrm>
          <a:prstGeom prst="rect">
            <a:avLst/>
          </a:prstGeom>
        </p:spPr>
        <p:txBody>
          <a:bodyPr vert="horz" wrap="square" lIns="0" tIns="12700" rIns="0" bIns="0" rtlCol="0">
            <a:spAutoFit/>
          </a:bodyPr>
          <a:lstStyle/>
          <a:p>
            <a:pPr marL="12700" marR="5080">
              <a:lnSpc>
                <a:spcPct val="117000"/>
              </a:lnSpc>
              <a:spcBef>
                <a:spcPts val="100"/>
              </a:spcBef>
            </a:pPr>
            <a:r>
              <a:rPr sz="2200" spc="50" dirty="0">
                <a:solidFill>
                  <a:srgbClr val="0033CC"/>
                </a:solidFill>
                <a:latin typeface="微软雅黑" panose="020B0503020204020204" pitchFamily="34" charset="-122"/>
                <a:cs typeface="微软雅黑" panose="020B0503020204020204" pitchFamily="34" charset="-122"/>
              </a:rPr>
              <a:t>有效等价类</a:t>
            </a:r>
            <a:r>
              <a:rPr sz="2200" spc="50" dirty="0">
                <a:latin typeface="微软雅黑" panose="020B0503020204020204" pitchFamily="34" charset="-122"/>
                <a:cs typeface="微软雅黑" panose="020B0503020204020204" pitchFamily="34" charset="-122"/>
              </a:rPr>
              <a:t>是对规格说明有意义、合理的输入数据构成的集合，能够检验程序 </a:t>
            </a:r>
            <a:r>
              <a:rPr sz="2200" dirty="0">
                <a:latin typeface="微软雅黑" panose="020B0503020204020204" pitchFamily="34" charset="-122"/>
                <a:cs typeface="微软雅黑" panose="020B0503020204020204" pitchFamily="34" charset="-122"/>
              </a:rPr>
              <a:t>是否实现了规格说明中预先规定的功能和性能。</a:t>
            </a:r>
            <a:endParaRPr sz="2200">
              <a:latin typeface="微软雅黑" panose="020B0503020204020204" pitchFamily="34" charset="-122"/>
              <a:cs typeface="微软雅黑" panose="020B0503020204020204" pitchFamily="34" charset="-122"/>
            </a:endParaRPr>
          </a:p>
          <a:p>
            <a:pPr marL="12700" marR="5080">
              <a:lnSpc>
                <a:spcPct val="121000"/>
              </a:lnSpc>
              <a:spcBef>
                <a:spcPts val="1200"/>
              </a:spcBef>
            </a:pPr>
            <a:r>
              <a:rPr sz="2200" spc="50" dirty="0">
                <a:solidFill>
                  <a:srgbClr val="0033CC"/>
                </a:solidFill>
                <a:latin typeface="微软雅黑" panose="020B0503020204020204" pitchFamily="34" charset="-122"/>
                <a:cs typeface="微软雅黑" panose="020B0503020204020204" pitchFamily="34" charset="-122"/>
              </a:rPr>
              <a:t>无效等价类</a:t>
            </a:r>
            <a:r>
              <a:rPr sz="2200" spc="50" dirty="0">
                <a:latin typeface="微软雅黑" panose="020B0503020204020204" pitchFamily="34" charset="-122"/>
                <a:cs typeface="微软雅黑" panose="020B0503020204020204" pitchFamily="34" charset="-122"/>
              </a:rPr>
              <a:t>是对规格说明无意义、不合理的输入数据构成的集合，以检查程序 </a:t>
            </a:r>
            <a:r>
              <a:rPr sz="2200" dirty="0">
                <a:latin typeface="微软雅黑" panose="020B0503020204020204" pitchFamily="34" charset="-122"/>
                <a:cs typeface="微软雅黑" panose="020B0503020204020204" pitchFamily="34" charset="-122"/>
              </a:rPr>
              <a:t>是否具有一定的容错性。</a:t>
            </a:r>
            <a:endParaRPr sz="2200">
              <a:latin typeface="微软雅黑" panose="020B0503020204020204" pitchFamily="34" charset="-122"/>
              <a:cs typeface="微软雅黑" panose="020B0503020204020204" pitchFamily="34" charset="-122"/>
            </a:endParaRPr>
          </a:p>
          <a:p>
            <a:pPr>
              <a:lnSpc>
                <a:spcPct val="100000"/>
              </a:lnSpc>
            </a:pPr>
            <a:endParaRPr sz="2900">
              <a:latin typeface="Times New Roman" panose="02020603050405020304"/>
              <a:cs typeface="Times New Roman" panose="02020603050405020304"/>
            </a:endParaRPr>
          </a:p>
          <a:p>
            <a:pPr>
              <a:lnSpc>
                <a:spcPct val="100000"/>
              </a:lnSpc>
              <a:spcBef>
                <a:spcPts val="25"/>
              </a:spcBef>
            </a:pPr>
            <a:endParaRPr sz="3150">
              <a:latin typeface="Times New Roman" panose="02020603050405020304"/>
              <a:cs typeface="Times New Roman" panose="02020603050405020304"/>
            </a:endParaRPr>
          </a:p>
          <a:p>
            <a:pPr marL="4474210" indent="-264160">
              <a:lnSpc>
                <a:spcPct val="100000"/>
              </a:lnSpc>
              <a:buChar char="•"/>
              <a:tabLst>
                <a:tab pos="4473575" algn="l"/>
                <a:tab pos="4474845" algn="l"/>
              </a:tabLst>
            </a:pPr>
            <a:r>
              <a:rPr sz="2200" dirty="0">
                <a:latin typeface="Arial" panose="020B0604020202020204"/>
                <a:cs typeface="Arial" panose="020B0604020202020204"/>
              </a:rPr>
              <a:t>E</a:t>
            </a:r>
            <a:r>
              <a:rPr sz="2200" spc="-100" dirty="0">
                <a:latin typeface="Arial" panose="020B0604020202020204"/>
                <a:cs typeface="Arial" panose="020B0604020202020204"/>
              </a:rPr>
              <a:t> </a:t>
            </a:r>
            <a:r>
              <a:rPr sz="2200" dirty="0">
                <a:latin typeface="微软雅黑" panose="020B0503020204020204" pitchFamily="34" charset="-122"/>
                <a:cs typeface="微软雅黑" panose="020B0503020204020204" pitchFamily="34" charset="-122"/>
              </a:rPr>
              <a:t>表示所有正常和合法的输入</a:t>
            </a:r>
            <a:endParaRPr sz="2200">
              <a:latin typeface="微软雅黑" panose="020B0503020204020204" pitchFamily="34" charset="-122"/>
              <a:cs typeface="微软雅黑" panose="020B0503020204020204" pitchFamily="34" charset="-122"/>
            </a:endParaRPr>
          </a:p>
          <a:p>
            <a:pPr marL="4474210" indent="-264160">
              <a:lnSpc>
                <a:spcPct val="100000"/>
              </a:lnSpc>
              <a:spcBef>
                <a:spcPts val="1060"/>
              </a:spcBef>
              <a:buChar char="•"/>
              <a:tabLst>
                <a:tab pos="4473575" algn="l"/>
                <a:tab pos="4474845" algn="l"/>
              </a:tabLst>
            </a:pPr>
            <a:r>
              <a:rPr sz="2200" dirty="0">
                <a:latin typeface="Arial" panose="020B0604020202020204"/>
                <a:cs typeface="Arial" panose="020B0604020202020204"/>
              </a:rPr>
              <a:t>U</a:t>
            </a:r>
            <a:r>
              <a:rPr sz="2200" spc="-100" dirty="0">
                <a:latin typeface="Arial" panose="020B0604020202020204"/>
                <a:cs typeface="Arial" panose="020B0604020202020204"/>
              </a:rPr>
              <a:t> </a:t>
            </a:r>
            <a:r>
              <a:rPr sz="2200" dirty="0">
                <a:latin typeface="微软雅黑" panose="020B0503020204020204" pitchFamily="34" charset="-122"/>
                <a:cs typeface="微软雅黑" panose="020B0503020204020204" pitchFamily="34" charset="-122"/>
              </a:rPr>
              <a:t>表示所有异常和非法的输入</a:t>
            </a:r>
            <a:endParaRPr sz="2200">
              <a:latin typeface="微软雅黑" panose="020B0503020204020204" pitchFamily="34" charset="-122"/>
              <a:cs typeface="微软雅黑" panose="020B0503020204020204" pitchFamily="34" charset="-122"/>
            </a:endParaRPr>
          </a:p>
        </p:txBody>
      </p:sp>
      <p:sp>
        <p:nvSpPr>
          <p:cNvPr id="5" name="灯片编号占位符 4"/>
          <p:cNvSpPr>
            <a:spLocks noGrp="1"/>
          </p:cNvSpPr>
          <p:nvPr>
            <p:ph type="sldNum" sz="quarter" idx="12"/>
          </p:nvPr>
        </p:nvSpPr>
        <p:spPr/>
        <p:txBody>
          <a:bodyPr/>
          <a:lstStyle/>
          <a:p>
            <a:fld id="{74D2AB8B-5816-41F2-8B4B-CA5C3E4E6A65}" type="slidenum">
              <a:rPr lang="zh-CN" altLang="en-US" smtClean="0"/>
              <a:t>3</a:t>
            </a:fld>
            <a:endParaRPr lang="zh-CN" altLang="en-US"/>
          </a:p>
        </p:txBody>
      </p:sp>
      <p:sp>
        <p:nvSpPr>
          <p:cNvPr id="7" name="标题 6"/>
          <p:cNvSpPr>
            <a:spLocks noGrp="1"/>
          </p:cNvSpPr>
          <p:nvPr>
            <p:ph type="title"/>
          </p:nvPr>
        </p:nvSpPr>
        <p:spPr/>
        <p:txBody>
          <a:bodyPr/>
          <a:lstStyle/>
          <a:p>
            <a:r>
              <a:rPr lang="zh-CN" altLang="en-US" dirty="0"/>
              <a:t>等价类类型</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21654" y="1453478"/>
            <a:ext cx="9808210" cy="889000"/>
          </a:xfrm>
          <a:prstGeom prst="rect">
            <a:avLst/>
          </a:prstGeom>
        </p:spPr>
        <p:txBody>
          <a:bodyPr vert="horz" wrap="square" lIns="0" tIns="12700" rIns="0" bIns="0" rtlCol="0">
            <a:spAutoFit/>
          </a:bodyPr>
          <a:lstStyle/>
          <a:p>
            <a:pPr marL="12700" marR="5080">
              <a:lnSpc>
                <a:spcPct val="129000"/>
              </a:lnSpc>
              <a:spcBef>
                <a:spcPts val="100"/>
              </a:spcBef>
            </a:pPr>
            <a:r>
              <a:rPr sz="2200" spc="65" dirty="0">
                <a:solidFill>
                  <a:srgbClr val="0033CC"/>
                </a:solidFill>
                <a:latin typeface="微软雅黑" panose="020B0503020204020204" pitchFamily="34" charset="-122"/>
                <a:cs typeface="微软雅黑" panose="020B0503020204020204" pitchFamily="34" charset="-122"/>
              </a:rPr>
              <a:t>取值范围：</a:t>
            </a:r>
            <a:r>
              <a:rPr sz="2200" spc="65" dirty="0">
                <a:latin typeface="微软雅黑" panose="020B0503020204020204" pitchFamily="34" charset="-122"/>
                <a:cs typeface="微软雅黑" panose="020B0503020204020204" pitchFamily="34" charset="-122"/>
              </a:rPr>
              <a:t>在输入条件规定了取值范围的情况下，可以确定一个有效等价类和 </a:t>
            </a:r>
            <a:r>
              <a:rPr sz="2200" dirty="0">
                <a:latin typeface="微软雅黑" panose="020B0503020204020204" pitchFamily="34" charset="-122"/>
                <a:cs typeface="微软雅黑" panose="020B0503020204020204" pitchFamily="34" charset="-122"/>
              </a:rPr>
              <a:t>两个无效等价类。</a:t>
            </a:r>
            <a:endParaRPr sz="2200">
              <a:latin typeface="微软雅黑" panose="020B0503020204020204" pitchFamily="34" charset="-122"/>
              <a:cs typeface="微软雅黑" panose="020B0503020204020204" pitchFamily="34" charset="-122"/>
            </a:endParaRPr>
          </a:p>
        </p:txBody>
      </p:sp>
      <p:sp>
        <p:nvSpPr>
          <p:cNvPr id="4" name="object 4"/>
          <p:cNvSpPr/>
          <p:nvPr/>
        </p:nvSpPr>
        <p:spPr>
          <a:xfrm>
            <a:off x="7314920" y="3049138"/>
            <a:ext cx="2197735" cy="0"/>
          </a:xfrm>
          <a:custGeom>
            <a:avLst/>
            <a:gdLst/>
            <a:ahLst/>
            <a:cxnLst/>
            <a:rect l="l" t="t" r="r" b="b"/>
            <a:pathLst>
              <a:path w="2197734">
                <a:moveTo>
                  <a:pt x="0" y="0"/>
                </a:moveTo>
                <a:lnTo>
                  <a:pt x="2197594" y="0"/>
                </a:lnTo>
              </a:path>
            </a:pathLst>
          </a:custGeom>
          <a:ln w="38101">
            <a:solidFill>
              <a:srgbClr val="000000"/>
            </a:solidFill>
          </a:ln>
        </p:spPr>
        <p:txBody>
          <a:bodyPr wrap="square" lIns="0" tIns="0" rIns="0" bIns="0" rtlCol="0"/>
          <a:lstStyle/>
          <a:p>
            <a:endParaRPr/>
          </a:p>
        </p:txBody>
      </p:sp>
      <p:sp>
        <p:nvSpPr>
          <p:cNvPr id="5" name="object 5"/>
          <p:cNvSpPr/>
          <p:nvPr/>
        </p:nvSpPr>
        <p:spPr>
          <a:xfrm>
            <a:off x="2568117" y="3049138"/>
            <a:ext cx="2197735" cy="0"/>
          </a:xfrm>
          <a:custGeom>
            <a:avLst/>
            <a:gdLst/>
            <a:ahLst/>
            <a:cxnLst/>
            <a:rect l="l" t="t" r="r" b="b"/>
            <a:pathLst>
              <a:path w="2197735">
                <a:moveTo>
                  <a:pt x="0" y="0"/>
                </a:moveTo>
                <a:lnTo>
                  <a:pt x="2197592" y="0"/>
                </a:lnTo>
              </a:path>
            </a:pathLst>
          </a:custGeom>
          <a:ln w="38101">
            <a:solidFill>
              <a:srgbClr val="000000"/>
            </a:solidFill>
          </a:ln>
        </p:spPr>
        <p:txBody>
          <a:bodyPr wrap="square" lIns="0" tIns="0" rIns="0" bIns="0" rtlCol="0"/>
          <a:lstStyle/>
          <a:p>
            <a:endParaRPr/>
          </a:p>
        </p:txBody>
      </p:sp>
      <p:sp>
        <p:nvSpPr>
          <p:cNvPr id="6" name="object 6"/>
          <p:cNvSpPr/>
          <p:nvPr/>
        </p:nvSpPr>
        <p:spPr>
          <a:xfrm>
            <a:off x="4765710" y="2949859"/>
            <a:ext cx="2549210" cy="198559"/>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4765710" y="2949859"/>
            <a:ext cx="2549525" cy="198755"/>
          </a:xfrm>
          <a:custGeom>
            <a:avLst/>
            <a:gdLst/>
            <a:ahLst/>
            <a:cxnLst/>
            <a:rect l="l" t="t" r="r" b="b"/>
            <a:pathLst>
              <a:path w="2549525" h="198755">
                <a:moveTo>
                  <a:pt x="0" y="0"/>
                </a:moveTo>
                <a:lnTo>
                  <a:pt x="2549209" y="0"/>
                </a:lnTo>
                <a:lnTo>
                  <a:pt x="2549209" y="198558"/>
                </a:lnTo>
                <a:lnTo>
                  <a:pt x="0" y="198558"/>
                </a:lnTo>
                <a:lnTo>
                  <a:pt x="0" y="0"/>
                </a:lnTo>
                <a:close/>
              </a:path>
            </a:pathLst>
          </a:custGeom>
          <a:ln w="12699">
            <a:solidFill>
              <a:srgbClr val="000000"/>
            </a:solidFill>
          </a:ln>
        </p:spPr>
        <p:txBody>
          <a:bodyPr wrap="square" lIns="0" tIns="0" rIns="0" bIns="0" rtlCol="0"/>
          <a:lstStyle/>
          <a:p>
            <a:endParaRPr/>
          </a:p>
        </p:txBody>
      </p:sp>
      <p:sp>
        <p:nvSpPr>
          <p:cNvPr id="8" name="object 8"/>
          <p:cNvSpPr/>
          <p:nvPr/>
        </p:nvSpPr>
        <p:spPr>
          <a:xfrm>
            <a:off x="4760217" y="2668881"/>
            <a:ext cx="2563495" cy="725805"/>
          </a:xfrm>
          <a:custGeom>
            <a:avLst/>
            <a:gdLst/>
            <a:ahLst/>
            <a:cxnLst/>
            <a:rect l="l" t="t" r="r" b="b"/>
            <a:pathLst>
              <a:path w="2563495" h="725804">
                <a:moveTo>
                  <a:pt x="1230651" y="20604"/>
                </a:moveTo>
                <a:lnTo>
                  <a:pt x="1182226" y="23644"/>
                </a:lnTo>
                <a:lnTo>
                  <a:pt x="1133026" y="26457"/>
                </a:lnTo>
                <a:lnTo>
                  <a:pt x="1083131" y="29115"/>
                </a:lnTo>
                <a:lnTo>
                  <a:pt x="1032616" y="31689"/>
                </a:lnTo>
                <a:lnTo>
                  <a:pt x="981561" y="34250"/>
                </a:lnTo>
                <a:lnTo>
                  <a:pt x="930043" y="36869"/>
                </a:lnTo>
                <a:lnTo>
                  <a:pt x="878138" y="39617"/>
                </a:lnTo>
                <a:lnTo>
                  <a:pt x="825926" y="42566"/>
                </a:lnTo>
                <a:lnTo>
                  <a:pt x="773484" y="45787"/>
                </a:lnTo>
                <a:lnTo>
                  <a:pt x="720889" y="49350"/>
                </a:lnTo>
                <a:lnTo>
                  <a:pt x="668219" y="53327"/>
                </a:lnTo>
                <a:lnTo>
                  <a:pt x="615551" y="57789"/>
                </a:lnTo>
                <a:lnTo>
                  <a:pt x="562964" y="62807"/>
                </a:lnTo>
                <a:lnTo>
                  <a:pt x="510535" y="68452"/>
                </a:lnTo>
                <a:lnTo>
                  <a:pt x="458342" y="74796"/>
                </a:lnTo>
                <a:lnTo>
                  <a:pt x="406462" y="81909"/>
                </a:lnTo>
                <a:lnTo>
                  <a:pt x="354974" y="89863"/>
                </a:lnTo>
                <a:lnTo>
                  <a:pt x="303954" y="98728"/>
                </a:lnTo>
                <a:lnTo>
                  <a:pt x="253480" y="108576"/>
                </a:lnTo>
                <a:lnTo>
                  <a:pt x="203630" y="119479"/>
                </a:lnTo>
                <a:lnTo>
                  <a:pt x="154482" y="131506"/>
                </a:lnTo>
                <a:lnTo>
                  <a:pt x="106114" y="144730"/>
                </a:lnTo>
                <a:lnTo>
                  <a:pt x="58602" y="159221"/>
                </a:lnTo>
                <a:lnTo>
                  <a:pt x="21747" y="214246"/>
                </a:lnTo>
                <a:lnTo>
                  <a:pt x="4778" y="249046"/>
                </a:lnTo>
                <a:lnTo>
                  <a:pt x="0" y="279105"/>
                </a:lnTo>
                <a:lnTo>
                  <a:pt x="3481" y="326399"/>
                </a:lnTo>
                <a:lnTo>
                  <a:pt x="5424" y="376020"/>
                </a:lnTo>
                <a:lnTo>
                  <a:pt x="7207" y="426853"/>
                </a:lnTo>
                <a:lnTo>
                  <a:pt x="10208" y="477784"/>
                </a:lnTo>
                <a:lnTo>
                  <a:pt x="15803" y="527699"/>
                </a:lnTo>
                <a:lnTo>
                  <a:pt x="25371" y="575485"/>
                </a:lnTo>
                <a:lnTo>
                  <a:pt x="40289" y="620026"/>
                </a:lnTo>
                <a:lnTo>
                  <a:pt x="115848" y="635220"/>
                </a:lnTo>
                <a:lnTo>
                  <a:pt x="183361" y="641100"/>
                </a:lnTo>
                <a:lnTo>
                  <a:pt x="251638" y="646667"/>
                </a:lnTo>
                <a:lnTo>
                  <a:pt x="306382" y="652547"/>
                </a:lnTo>
                <a:lnTo>
                  <a:pt x="333301" y="659363"/>
                </a:lnTo>
                <a:lnTo>
                  <a:pt x="370259" y="689149"/>
                </a:lnTo>
                <a:lnTo>
                  <a:pt x="405951" y="703395"/>
                </a:lnTo>
                <a:lnTo>
                  <a:pt x="441146" y="705569"/>
                </a:lnTo>
                <a:lnTo>
                  <a:pt x="476612" y="699140"/>
                </a:lnTo>
                <a:lnTo>
                  <a:pt x="513118" y="687577"/>
                </a:lnTo>
                <a:lnTo>
                  <a:pt x="551433" y="674349"/>
                </a:lnTo>
                <a:lnTo>
                  <a:pt x="592325" y="662925"/>
                </a:lnTo>
                <a:lnTo>
                  <a:pt x="636563" y="656773"/>
                </a:lnTo>
                <a:lnTo>
                  <a:pt x="684916" y="659363"/>
                </a:lnTo>
                <a:lnTo>
                  <a:pt x="741561" y="658534"/>
                </a:lnTo>
                <a:lnTo>
                  <a:pt x="795085" y="659791"/>
                </a:lnTo>
                <a:lnTo>
                  <a:pt x="846182" y="662619"/>
                </a:lnTo>
                <a:lnTo>
                  <a:pt x="895545" y="666501"/>
                </a:lnTo>
                <a:lnTo>
                  <a:pt x="943868" y="670925"/>
                </a:lnTo>
                <a:lnTo>
                  <a:pt x="991845" y="675373"/>
                </a:lnTo>
                <a:lnTo>
                  <a:pt x="1040168" y="679332"/>
                </a:lnTo>
                <a:lnTo>
                  <a:pt x="1089531" y="682286"/>
                </a:lnTo>
                <a:lnTo>
                  <a:pt x="1140628" y="683720"/>
                </a:lnTo>
                <a:lnTo>
                  <a:pt x="1194152" y="683119"/>
                </a:lnTo>
                <a:lnTo>
                  <a:pt x="1250796" y="679968"/>
                </a:lnTo>
                <a:lnTo>
                  <a:pt x="1298613" y="677439"/>
                </a:lnTo>
                <a:lnTo>
                  <a:pt x="1346541" y="678086"/>
                </a:lnTo>
                <a:lnTo>
                  <a:pt x="1394558" y="681296"/>
                </a:lnTo>
                <a:lnTo>
                  <a:pt x="1442645" y="686455"/>
                </a:lnTo>
                <a:lnTo>
                  <a:pt x="1490782" y="692950"/>
                </a:lnTo>
                <a:lnTo>
                  <a:pt x="1538949" y="700165"/>
                </a:lnTo>
                <a:lnTo>
                  <a:pt x="1587126" y="707488"/>
                </a:lnTo>
                <a:lnTo>
                  <a:pt x="1635294" y="714305"/>
                </a:lnTo>
                <a:lnTo>
                  <a:pt x="1683431" y="720001"/>
                </a:lnTo>
                <a:lnTo>
                  <a:pt x="1731518" y="723963"/>
                </a:lnTo>
                <a:lnTo>
                  <a:pt x="1779535" y="725577"/>
                </a:lnTo>
                <a:lnTo>
                  <a:pt x="1827462" y="724229"/>
                </a:lnTo>
                <a:lnTo>
                  <a:pt x="1875279" y="719305"/>
                </a:lnTo>
                <a:lnTo>
                  <a:pt x="1924078" y="712504"/>
                </a:lnTo>
                <a:lnTo>
                  <a:pt x="1975173" y="707042"/>
                </a:lnTo>
                <a:lnTo>
                  <a:pt x="2027770" y="702150"/>
                </a:lnTo>
                <a:lnTo>
                  <a:pt x="2081075" y="697061"/>
                </a:lnTo>
                <a:lnTo>
                  <a:pt x="2134294" y="691006"/>
                </a:lnTo>
                <a:lnTo>
                  <a:pt x="2186634" y="683217"/>
                </a:lnTo>
                <a:lnTo>
                  <a:pt x="2237299" y="672926"/>
                </a:lnTo>
                <a:lnTo>
                  <a:pt x="2285497" y="659363"/>
                </a:lnTo>
                <a:lnTo>
                  <a:pt x="2314369" y="649529"/>
                </a:lnTo>
                <a:lnTo>
                  <a:pt x="2343413" y="639695"/>
                </a:lnTo>
                <a:lnTo>
                  <a:pt x="2372800" y="629861"/>
                </a:lnTo>
                <a:lnTo>
                  <a:pt x="2402702" y="620026"/>
                </a:lnTo>
                <a:lnTo>
                  <a:pt x="2419584" y="613646"/>
                </a:lnTo>
                <a:lnTo>
                  <a:pt x="2438870" y="606914"/>
                </a:lnTo>
                <a:lnTo>
                  <a:pt x="2454722" y="601587"/>
                </a:lnTo>
                <a:lnTo>
                  <a:pt x="2461303" y="599421"/>
                </a:lnTo>
                <a:lnTo>
                  <a:pt x="2494267" y="562689"/>
                </a:lnTo>
                <a:lnTo>
                  <a:pt x="2520364" y="526133"/>
                </a:lnTo>
                <a:lnTo>
                  <a:pt x="2541653" y="486415"/>
                </a:lnTo>
                <a:lnTo>
                  <a:pt x="2560196" y="440200"/>
                </a:lnTo>
                <a:lnTo>
                  <a:pt x="2563143" y="389038"/>
                </a:lnTo>
                <a:lnTo>
                  <a:pt x="2560425" y="331555"/>
                </a:lnTo>
                <a:lnTo>
                  <a:pt x="2551182" y="276881"/>
                </a:lnTo>
                <a:lnTo>
                  <a:pt x="2534557" y="234149"/>
                </a:lnTo>
                <a:lnTo>
                  <a:pt x="2489003" y="189660"/>
                </a:lnTo>
                <a:lnTo>
                  <a:pt x="2449315" y="176197"/>
                </a:lnTo>
                <a:lnTo>
                  <a:pt x="2384388" y="159221"/>
                </a:lnTo>
                <a:lnTo>
                  <a:pt x="2349374" y="131745"/>
                </a:lnTo>
                <a:lnTo>
                  <a:pt x="2308144" y="110138"/>
                </a:lnTo>
                <a:lnTo>
                  <a:pt x="2262018" y="93673"/>
                </a:lnTo>
                <a:lnTo>
                  <a:pt x="2212318" y="81625"/>
                </a:lnTo>
                <a:lnTo>
                  <a:pt x="2160364" y="73266"/>
                </a:lnTo>
                <a:lnTo>
                  <a:pt x="2107477" y="67872"/>
                </a:lnTo>
                <a:lnTo>
                  <a:pt x="2054978" y="64715"/>
                </a:lnTo>
                <a:lnTo>
                  <a:pt x="2004188" y="63070"/>
                </a:lnTo>
                <a:lnTo>
                  <a:pt x="1956427" y="62210"/>
                </a:lnTo>
                <a:lnTo>
                  <a:pt x="1913018" y="61409"/>
                </a:lnTo>
                <a:lnTo>
                  <a:pt x="1875279" y="59942"/>
                </a:lnTo>
                <a:lnTo>
                  <a:pt x="1826385" y="51537"/>
                </a:lnTo>
                <a:lnTo>
                  <a:pt x="1777501" y="44177"/>
                </a:lnTo>
                <a:lnTo>
                  <a:pt x="1728639" y="37671"/>
                </a:lnTo>
                <a:lnTo>
                  <a:pt x="1679811" y="31829"/>
                </a:lnTo>
                <a:lnTo>
                  <a:pt x="1631026" y="26458"/>
                </a:lnTo>
                <a:lnTo>
                  <a:pt x="1582296" y="21369"/>
                </a:lnTo>
                <a:lnTo>
                  <a:pt x="1533633" y="16369"/>
                </a:lnTo>
                <a:lnTo>
                  <a:pt x="1485046" y="11269"/>
                </a:lnTo>
                <a:lnTo>
                  <a:pt x="1436547" y="5876"/>
                </a:lnTo>
                <a:lnTo>
                  <a:pt x="1388146" y="0"/>
                </a:lnTo>
                <a:lnTo>
                  <a:pt x="1328694" y="10774"/>
                </a:lnTo>
                <a:lnTo>
                  <a:pt x="1298426" y="16963"/>
                </a:lnTo>
                <a:lnTo>
                  <a:pt x="1282134" y="19825"/>
                </a:lnTo>
                <a:lnTo>
                  <a:pt x="1264612" y="20619"/>
                </a:lnTo>
                <a:lnTo>
                  <a:pt x="1230651" y="20604"/>
                </a:lnTo>
                <a:close/>
              </a:path>
            </a:pathLst>
          </a:custGeom>
          <a:ln w="12699">
            <a:solidFill>
              <a:srgbClr val="000000"/>
            </a:solidFill>
          </a:ln>
        </p:spPr>
        <p:txBody>
          <a:bodyPr wrap="square" lIns="0" tIns="0" rIns="0" bIns="0" rtlCol="0"/>
          <a:lstStyle/>
          <a:p>
            <a:endParaRPr/>
          </a:p>
        </p:txBody>
      </p:sp>
      <p:sp>
        <p:nvSpPr>
          <p:cNvPr id="9" name="object 9"/>
          <p:cNvSpPr txBox="1"/>
          <p:nvPr/>
        </p:nvSpPr>
        <p:spPr>
          <a:xfrm>
            <a:off x="5719826" y="3387490"/>
            <a:ext cx="79692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panose="020F0502020204030204"/>
                <a:cs typeface="Calibri" panose="020F0502020204030204"/>
              </a:rPr>
              <a:t>in</a:t>
            </a:r>
            <a:r>
              <a:rPr sz="1800" b="1" spc="-70" dirty="0">
                <a:latin typeface="Calibri" panose="020F0502020204030204"/>
                <a:cs typeface="Calibri" panose="020F0502020204030204"/>
              </a:rPr>
              <a:t> </a:t>
            </a:r>
            <a:r>
              <a:rPr sz="1800" b="1" spc="-5" dirty="0">
                <a:latin typeface="Calibri" panose="020F0502020204030204"/>
                <a:cs typeface="Calibri" panose="020F0502020204030204"/>
              </a:rPr>
              <a:t>range</a:t>
            </a:r>
            <a:endParaRPr sz="1800">
              <a:latin typeface="Calibri" panose="020F0502020204030204"/>
              <a:cs typeface="Calibri" panose="020F0502020204030204"/>
            </a:endParaRPr>
          </a:p>
        </p:txBody>
      </p:sp>
      <p:sp>
        <p:nvSpPr>
          <p:cNvPr id="10" name="object 10"/>
          <p:cNvSpPr/>
          <p:nvPr/>
        </p:nvSpPr>
        <p:spPr>
          <a:xfrm>
            <a:off x="7320414" y="2703298"/>
            <a:ext cx="2558415" cy="655320"/>
          </a:xfrm>
          <a:custGeom>
            <a:avLst/>
            <a:gdLst/>
            <a:ahLst/>
            <a:cxnLst/>
            <a:rect l="l" t="t" r="r" b="b"/>
            <a:pathLst>
              <a:path w="2558415" h="655320">
                <a:moveTo>
                  <a:pt x="955953" y="33015"/>
                </a:moveTo>
                <a:lnTo>
                  <a:pt x="941024" y="32705"/>
                </a:lnTo>
                <a:lnTo>
                  <a:pt x="915405" y="31925"/>
                </a:lnTo>
                <a:lnTo>
                  <a:pt x="880376" y="30899"/>
                </a:lnTo>
                <a:lnTo>
                  <a:pt x="837220" y="29849"/>
                </a:lnTo>
                <a:lnTo>
                  <a:pt x="787217" y="29000"/>
                </a:lnTo>
                <a:lnTo>
                  <a:pt x="731649" y="28574"/>
                </a:lnTo>
                <a:lnTo>
                  <a:pt x="671796" y="28797"/>
                </a:lnTo>
                <a:lnTo>
                  <a:pt x="608940" y="29890"/>
                </a:lnTo>
                <a:lnTo>
                  <a:pt x="544362" y="32078"/>
                </a:lnTo>
                <a:lnTo>
                  <a:pt x="479343" y="35584"/>
                </a:lnTo>
                <a:lnTo>
                  <a:pt x="415164" y="40632"/>
                </a:lnTo>
                <a:lnTo>
                  <a:pt x="353107" y="47445"/>
                </a:lnTo>
                <a:lnTo>
                  <a:pt x="294452" y="56247"/>
                </a:lnTo>
                <a:lnTo>
                  <a:pt x="240481" y="67261"/>
                </a:lnTo>
                <a:lnTo>
                  <a:pt x="192475" y="80711"/>
                </a:lnTo>
                <a:lnTo>
                  <a:pt x="151716" y="96821"/>
                </a:lnTo>
                <a:lnTo>
                  <a:pt x="97059" y="137913"/>
                </a:lnTo>
                <a:lnTo>
                  <a:pt x="87216" y="151494"/>
                </a:lnTo>
                <a:lnTo>
                  <a:pt x="71879" y="159455"/>
                </a:lnTo>
                <a:lnTo>
                  <a:pt x="39344" y="191182"/>
                </a:lnTo>
                <a:lnTo>
                  <a:pt x="29301" y="225953"/>
                </a:lnTo>
                <a:lnTo>
                  <a:pt x="21889" y="242666"/>
                </a:lnTo>
                <a:lnTo>
                  <a:pt x="12590" y="262715"/>
                </a:lnTo>
                <a:lnTo>
                  <a:pt x="4320" y="287330"/>
                </a:lnTo>
                <a:lnTo>
                  <a:pt x="0" y="317740"/>
                </a:lnTo>
                <a:lnTo>
                  <a:pt x="1316" y="362140"/>
                </a:lnTo>
                <a:lnTo>
                  <a:pt x="915" y="407419"/>
                </a:lnTo>
                <a:lnTo>
                  <a:pt x="4635" y="452346"/>
                </a:lnTo>
                <a:lnTo>
                  <a:pt x="18312" y="495693"/>
                </a:lnTo>
                <a:lnTo>
                  <a:pt x="47843" y="522064"/>
                </a:lnTo>
                <a:lnTo>
                  <a:pt x="96602" y="542288"/>
                </a:lnTo>
                <a:lnTo>
                  <a:pt x="150168" y="556542"/>
                </a:lnTo>
                <a:lnTo>
                  <a:pt x="194120" y="565001"/>
                </a:lnTo>
                <a:lnTo>
                  <a:pt x="246397" y="573321"/>
                </a:lnTo>
                <a:lnTo>
                  <a:pt x="297713" y="581016"/>
                </a:lnTo>
                <a:lnTo>
                  <a:pt x="348279" y="588129"/>
                </a:lnTo>
                <a:lnTo>
                  <a:pt x="398305" y="594699"/>
                </a:lnTo>
                <a:lnTo>
                  <a:pt x="448001" y="600768"/>
                </a:lnTo>
                <a:lnTo>
                  <a:pt x="497577" y="606377"/>
                </a:lnTo>
                <a:lnTo>
                  <a:pt x="547243" y="611566"/>
                </a:lnTo>
                <a:lnTo>
                  <a:pt x="597209" y="616376"/>
                </a:lnTo>
                <a:lnTo>
                  <a:pt x="647685" y="620849"/>
                </a:lnTo>
                <a:lnTo>
                  <a:pt x="698881" y="625025"/>
                </a:lnTo>
                <a:lnTo>
                  <a:pt x="751008" y="628945"/>
                </a:lnTo>
                <a:lnTo>
                  <a:pt x="804275" y="632651"/>
                </a:lnTo>
                <a:lnTo>
                  <a:pt x="858892" y="636182"/>
                </a:lnTo>
                <a:lnTo>
                  <a:pt x="909451" y="639569"/>
                </a:lnTo>
                <a:lnTo>
                  <a:pt x="960099" y="643046"/>
                </a:lnTo>
                <a:lnTo>
                  <a:pt x="1010922" y="646702"/>
                </a:lnTo>
                <a:lnTo>
                  <a:pt x="1062009" y="650628"/>
                </a:lnTo>
                <a:lnTo>
                  <a:pt x="1113447" y="654914"/>
                </a:lnTo>
                <a:lnTo>
                  <a:pt x="1162893" y="653309"/>
                </a:lnTo>
                <a:lnTo>
                  <a:pt x="1212345" y="651920"/>
                </a:lnTo>
                <a:lnTo>
                  <a:pt x="1261807" y="650694"/>
                </a:lnTo>
                <a:lnTo>
                  <a:pt x="1311284" y="649580"/>
                </a:lnTo>
                <a:lnTo>
                  <a:pt x="1360780" y="648528"/>
                </a:lnTo>
                <a:lnTo>
                  <a:pt x="1410302" y="647486"/>
                </a:lnTo>
                <a:lnTo>
                  <a:pt x="1459854" y="646403"/>
                </a:lnTo>
                <a:lnTo>
                  <a:pt x="1509441" y="645229"/>
                </a:lnTo>
                <a:lnTo>
                  <a:pt x="1559067" y="643910"/>
                </a:lnTo>
                <a:lnTo>
                  <a:pt x="1608739" y="642398"/>
                </a:lnTo>
                <a:lnTo>
                  <a:pt x="1658461" y="640640"/>
                </a:lnTo>
                <a:lnTo>
                  <a:pt x="1708238" y="638585"/>
                </a:lnTo>
                <a:lnTo>
                  <a:pt x="1758075" y="636182"/>
                </a:lnTo>
                <a:lnTo>
                  <a:pt x="1803901" y="630008"/>
                </a:lnTo>
                <a:lnTo>
                  <a:pt x="1850871" y="618260"/>
                </a:lnTo>
                <a:lnTo>
                  <a:pt x="1898369" y="604353"/>
                </a:lnTo>
                <a:lnTo>
                  <a:pt x="1945778" y="591705"/>
                </a:lnTo>
                <a:lnTo>
                  <a:pt x="1992484" y="583733"/>
                </a:lnTo>
                <a:lnTo>
                  <a:pt x="2042468" y="578233"/>
                </a:lnTo>
                <a:lnTo>
                  <a:pt x="2092501" y="573729"/>
                </a:lnTo>
                <a:lnTo>
                  <a:pt x="2142543" y="569825"/>
                </a:lnTo>
                <a:lnTo>
                  <a:pt x="2192551" y="566124"/>
                </a:lnTo>
                <a:lnTo>
                  <a:pt x="2242486" y="562228"/>
                </a:lnTo>
                <a:lnTo>
                  <a:pt x="2292305" y="557742"/>
                </a:lnTo>
                <a:lnTo>
                  <a:pt x="2341967" y="552267"/>
                </a:lnTo>
                <a:lnTo>
                  <a:pt x="2391430" y="545408"/>
                </a:lnTo>
                <a:lnTo>
                  <a:pt x="2440655" y="536767"/>
                </a:lnTo>
                <a:lnTo>
                  <a:pt x="2489599" y="525947"/>
                </a:lnTo>
                <a:lnTo>
                  <a:pt x="2538220" y="512552"/>
                </a:lnTo>
                <a:lnTo>
                  <a:pt x="2543943" y="480590"/>
                </a:lnTo>
                <a:lnTo>
                  <a:pt x="2551039" y="449331"/>
                </a:lnTo>
                <a:lnTo>
                  <a:pt x="2556762" y="418775"/>
                </a:lnTo>
                <a:lnTo>
                  <a:pt x="2558364" y="388921"/>
                </a:lnTo>
                <a:lnTo>
                  <a:pt x="2553098" y="345328"/>
                </a:lnTo>
                <a:lnTo>
                  <a:pt x="2543550" y="305007"/>
                </a:lnTo>
                <a:lnTo>
                  <a:pt x="2529943" y="267839"/>
                </a:lnTo>
                <a:lnTo>
                  <a:pt x="2512496" y="233706"/>
                </a:lnTo>
                <a:lnTo>
                  <a:pt x="2466968" y="174068"/>
                </a:lnTo>
                <a:lnTo>
                  <a:pt x="2408733" y="125143"/>
                </a:lnTo>
                <a:lnTo>
                  <a:pt x="2375403" y="104401"/>
                </a:lnTo>
                <a:lnTo>
                  <a:pt x="2339560" y="85981"/>
                </a:lnTo>
                <a:lnTo>
                  <a:pt x="2301423" y="69764"/>
                </a:lnTo>
                <a:lnTo>
                  <a:pt x="2261215" y="55632"/>
                </a:lnTo>
                <a:lnTo>
                  <a:pt x="2219155" y="43465"/>
                </a:lnTo>
                <a:lnTo>
                  <a:pt x="2175465" y="33145"/>
                </a:lnTo>
                <a:lnTo>
                  <a:pt x="2130366" y="24554"/>
                </a:lnTo>
                <a:lnTo>
                  <a:pt x="2084078" y="17572"/>
                </a:lnTo>
                <a:lnTo>
                  <a:pt x="2036823" y="12080"/>
                </a:lnTo>
                <a:lnTo>
                  <a:pt x="1988822" y="7961"/>
                </a:lnTo>
                <a:lnTo>
                  <a:pt x="1940294" y="5094"/>
                </a:lnTo>
                <a:lnTo>
                  <a:pt x="1891462" y="3362"/>
                </a:lnTo>
                <a:lnTo>
                  <a:pt x="1842546" y="2646"/>
                </a:lnTo>
                <a:lnTo>
                  <a:pt x="1793768" y="2826"/>
                </a:lnTo>
                <a:lnTo>
                  <a:pt x="1745347" y="3784"/>
                </a:lnTo>
                <a:lnTo>
                  <a:pt x="1697505" y="5402"/>
                </a:lnTo>
                <a:lnTo>
                  <a:pt x="1650463" y="7561"/>
                </a:lnTo>
                <a:lnTo>
                  <a:pt x="1604441" y="10141"/>
                </a:lnTo>
                <a:lnTo>
                  <a:pt x="1559661" y="13024"/>
                </a:lnTo>
                <a:lnTo>
                  <a:pt x="1516344" y="16092"/>
                </a:lnTo>
                <a:lnTo>
                  <a:pt x="1474710" y="19225"/>
                </a:lnTo>
                <a:lnTo>
                  <a:pt x="1434980" y="22304"/>
                </a:lnTo>
                <a:lnTo>
                  <a:pt x="1397376" y="25212"/>
                </a:lnTo>
                <a:lnTo>
                  <a:pt x="1329427" y="30037"/>
                </a:lnTo>
                <a:lnTo>
                  <a:pt x="1272629" y="32748"/>
                </a:lnTo>
                <a:lnTo>
                  <a:pt x="1248965" y="33015"/>
                </a:lnTo>
                <a:lnTo>
                  <a:pt x="1194957" y="17014"/>
                </a:lnTo>
                <a:lnTo>
                  <a:pt x="1147767" y="5541"/>
                </a:lnTo>
                <a:lnTo>
                  <a:pt x="1103832" y="0"/>
                </a:lnTo>
                <a:lnTo>
                  <a:pt x="1059592" y="1795"/>
                </a:lnTo>
                <a:lnTo>
                  <a:pt x="1011486" y="12331"/>
                </a:lnTo>
                <a:lnTo>
                  <a:pt x="955953" y="33015"/>
                </a:lnTo>
                <a:close/>
              </a:path>
            </a:pathLst>
          </a:custGeom>
          <a:ln w="12699">
            <a:solidFill>
              <a:srgbClr val="000000"/>
            </a:solidFill>
          </a:ln>
        </p:spPr>
        <p:txBody>
          <a:bodyPr wrap="square" lIns="0" tIns="0" rIns="0" bIns="0" rtlCol="0"/>
          <a:lstStyle/>
          <a:p>
            <a:endParaRPr/>
          </a:p>
        </p:txBody>
      </p:sp>
      <p:sp>
        <p:nvSpPr>
          <p:cNvPr id="11" name="object 11"/>
          <p:cNvSpPr txBox="1"/>
          <p:nvPr/>
        </p:nvSpPr>
        <p:spPr>
          <a:xfrm>
            <a:off x="7781782" y="3389360"/>
            <a:ext cx="179895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alibri" panose="020F0502020204030204"/>
                <a:cs typeface="Calibri" panose="020F0502020204030204"/>
              </a:rPr>
              <a:t>greater than</a:t>
            </a:r>
            <a:r>
              <a:rPr sz="1800" b="1" spc="-75" dirty="0">
                <a:latin typeface="Calibri" panose="020F0502020204030204"/>
                <a:cs typeface="Calibri" panose="020F0502020204030204"/>
              </a:rPr>
              <a:t> </a:t>
            </a:r>
            <a:r>
              <a:rPr sz="1800" b="1" spc="-5" dirty="0">
                <a:latin typeface="Calibri" panose="020F0502020204030204"/>
                <a:cs typeface="Calibri" panose="020F0502020204030204"/>
              </a:rPr>
              <a:t>range</a:t>
            </a:r>
            <a:endParaRPr sz="1800">
              <a:latin typeface="Calibri" panose="020F0502020204030204"/>
              <a:cs typeface="Calibri" panose="020F0502020204030204"/>
            </a:endParaRPr>
          </a:p>
        </p:txBody>
      </p:sp>
      <p:sp>
        <p:nvSpPr>
          <p:cNvPr id="12" name="object 12"/>
          <p:cNvSpPr/>
          <p:nvPr/>
        </p:nvSpPr>
        <p:spPr>
          <a:xfrm>
            <a:off x="2392477" y="2735146"/>
            <a:ext cx="2367915" cy="615950"/>
          </a:xfrm>
          <a:custGeom>
            <a:avLst/>
            <a:gdLst/>
            <a:ahLst/>
            <a:cxnLst/>
            <a:rect l="l" t="t" r="r" b="b"/>
            <a:pathLst>
              <a:path w="2367915" h="615950">
                <a:moveTo>
                  <a:pt x="2367739" y="299008"/>
                </a:moveTo>
                <a:lnTo>
                  <a:pt x="2363933" y="262042"/>
                </a:lnTo>
                <a:lnTo>
                  <a:pt x="2359269" y="223846"/>
                </a:lnTo>
                <a:lnTo>
                  <a:pt x="2351515" y="188109"/>
                </a:lnTo>
                <a:lnTo>
                  <a:pt x="2338438" y="158519"/>
                </a:lnTo>
                <a:lnTo>
                  <a:pt x="2327393" y="130421"/>
                </a:lnTo>
                <a:lnTo>
                  <a:pt x="2317377" y="105133"/>
                </a:lnTo>
                <a:lnTo>
                  <a:pt x="2293627" y="82654"/>
                </a:lnTo>
                <a:lnTo>
                  <a:pt x="2241378" y="62986"/>
                </a:lnTo>
                <a:lnTo>
                  <a:pt x="2208068" y="37890"/>
                </a:lnTo>
                <a:lnTo>
                  <a:pt x="2166527" y="20247"/>
                </a:lnTo>
                <a:lnTo>
                  <a:pt x="2118636" y="8852"/>
                </a:lnTo>
                <a:lnTo>
                  <a:pt x="2066273" y="2504"/>
                </a:lnTo>
                <a:lnTo>
                  <a:pt x="2011317" y="0"/>
                </a:lnTo>
                <a:lnTo>
                  <a:pt x="1955646" y="136"/>
                </a:lnTo>
                <a:lnTo>
                  <a:pt x="1901140" y="1712"/>
                </a:lnTo>
                <a:lnTo>
                  <a:pt x="1849678" y="3523"/>
                </a:lnTo>
                <a:lnTo>
                  <a:pt x="1803138" y="4368"/>
                </a:lnTo>
                <a:lnTo>
                  <a:pt x="1763400" y="3044"/>
                </a:lnTo>
                <a:lnTo>
                  <a:pt x="1712066" y="3586"/>
                </a:lnTo>
                <a:lnTo>
                  <a:pt x="1660745" y="4058"/>
                </a:lnTo>
                <a:lnTo>
                  <a:pt x="1609436" y="4466"/>
                </a:lnTo>
                <a:lnTo>
                  <a:pt x="1558139" y="4821"/>
                </a:lnTo>
                <a:lnTo>
                  <a:pt x="1506853" y="5130"/>
                </a:lnTo>
                <a:lnTo>
                  <a:pt x="1455577" y="5403"/>
                </a:lnTo>
                <a:lnTo>
                  <a:pt x="1404312" y="5649"/>
                </a:lnTo>
                <a:lnTo>
                  <a:pt x="1353057" y="5875"/>
                </a:lnTo>
                <a:lnTo>
                  <a:pt x="1301812" y="6092"/>
                </a:lnTo>
                <a:lnTo>
                  <a:pt x="1250575" y="6307"/>
                </a:lnTo>
                <a:lnTo>
                  <a:pt x="1199347" y="6529"/>
                </a:lnTo>
                <a:lnTo>
                  <a:pt x="1148128" y="6768"/>
                </a:lnTo>
                <a:lnTo>
                  <a:pt x="1096915" y="7031"/>
                </a:lnTo>
                <a:lnTo>
                  <a:pt x="1045710" y="7328"/>
                </a:lnTo>
                <a:lnTo>
                  <a:pt x="994512" y="7668"/>
                </a:lnTo>
                <a:lnTo>
                  <a:pt x="943320" y="8059"/>
                </a:lnTo>
                <a:lnTo>
                  <a:pt x="892134" y="8509"/>
                </a:lnTo>
                <a:lnTo>
                  <a:pt x="840953" y="9028"/>
                </a:lnTo>
                <a:lnTo>
                  <a:pt x="789777" y="9625"/>
                </a:lnTo>
                <a:lnTo>
                  <a:pt x="738606" y="10308"/>
                </a:lnTo>
                <a:lnTo>
                  <a:pt x="687439" y="11085"/>
                </a:lnTo>
                <a:lnTo>
                  <a:pt x="636275" y="11967"/>
                </a:lnTo>
                <a:lnTo>
                  <a:pt x="585115" y="12961"/>
                </a:lnTo>
                <a:lnTo>
                  <a:pt x="533957" y="14076"/>
                </a:lnTo>
                <a:lnTo>
                  <a:pt x="482802" y="15321"/>
                </a:lnTo>
                <a:lnTo>
                  <a:pt x="431648" y="16704"/>
                </a:lnTo>
                <a:lnTo>
                  <a:pt x="380496" y="18236"/>
                </a:lnTo>
                <a:lnTo>
                  <a:pt x="329344" y="19923"/>
                </a:lnTo>
                <a:lnTo>
                  <a:pt x="278193" y="21775"/>
                </a:lnTo>
                <a:lnTo>
                  <a:pt x="210977" y="60627"/>
                </a:lnTo>
                <a:lnTo>
                  <a:pt x="165338" y="98108"/>
                </a:lnTo>
                <a:lnTo>
                  <a:pt x="116494" y="137774"/>
                </a:lnTo>
                <a:lnTo>
                  <a:pt x="68057" y="172238"/>
                </a:lnTo>
                <a:lnTo>
                  <a:pt x="23639" y="194109"/>
                </a:lnTo>
                <a:lnTo>
                  <a:pt x="8507" y="234556"/>
                </a:lnTo>
                <a:lnTo>
                  <a:pt x="788" y="272144"/>
                </a:lnTo>
                <a:lnTo>
                  <a:pt x="0" y="306976"/>
                </a:lnTo>
                <a:lnTo>
                  <a:pt x="5656" y="339160"/>
                </a:lnTo>
                <a:lnTo>
                  <a:pt x="34369" y="396004"/>
                </a:lnTo>
                <a:lnTo>
                  <a:pt x="83055" y="443521"/>
                </a:lnTo>
                <a:lnTo>
                  <a:pt x="147842" y="482557"/>
                </a:lnTo>
                <a:lnTo>
                  <a:pt x="185062" y="499159"/>
                </a:lnTo>
                <a:lnTo>
                  <a:pt x="224856" y="513957"/>
                </a:lnTo>
                <a:lnTo>
                  <a:pt x="266738" y="527058"/>
                </a:lnTo>
                <a:lnTo>
                  <a:pt x="310226" y="538566"/>
                </a:lnTo>
                <a:lnTo>
                  <a:pt x="354834" y="548589"/>
                </a:lnTo>
                <a:lnTo>
                  <a:pt x="400078" y="557231"/>
                </a:lnTo>
                <a:lnTo>
                  <a:pt x="445476" y="564598"/>
                </a:lnTo>
                <a:lnTo>
                  <a:pt x="490542" y="570797"/>
                </a:lnTo>
                <a:lnTo>
                  <a:pt x="534792" y="575931"/>
                </a:lnTo>
                <a:lnTo>
                  <a:pt x="577743" y="580108"/>
                </a:lnTo>
                <a:lnTo>
                  <a:pt x="618910" y="583433"/>
                </a:lnTo>
                <a:lnTo>
                  <a:pt x="657809" y="586012"/>
                </a:lnTo>
                <a:lnTo>
                  <a:pt x="726869" y="589353"/>
                </a:lnTo>
                <a:lnTo>
                  <a:pt x="776315" y="590803"/>
                </a:lnTo>
                <a:lnTo>
                  <a:pt x="825765" y="592164"/>
                </a:lnTo>
                <a:lnTo>
                  <a:pt x="875221" y="593444"/>
                </a:lnTo>
                <a:lnTo>
                  <a:pt x="924687" y="594655"/>
                </a:lnTo>
                <a:lnTo>
                  <a:pt x="974166" y="595805"/>
                </a:lnTo>
                <a:lnTo>
                  <a:pt x="1023661" y="596906"/>
                </a:lnTo>
                <a:lnTo>
                  <a:pt x="1073176" y="597966"/>
                </a:lnTo>
                <a:lnTo>
                  <a:pt x="1122713" y="598997"/>
                </a:lnTo>
                <a:lnTo>
                  <a:pt x="1172277" y="600008"/>
                </a:lnTo>
                <a:lnTo>
                  <a:pt x="1221870" y="601008"/>
                </a:lnTo>
                <a:lnTo>
                  <a:pt x="1271495" y="602009"/>
                </a:lnTo>
                <a:lnTo>
                  <a:pt x="1321157" y="603020"/>
                </a:lnTo>
                <a:lnTo>
                  <a:pt x="1370857" y="604050"/>
                </a:lnTo>
                <a:lnTo>
                  <a:pt x="1420600" y="605111"/>
                </a:lnTo>
                <a:lnTo>
                  <a:pt x="1470388" y="606212"/>
                </a:lnTo>
                <a:lnTo>
                  <a:pt x="1520173" y="610197"/>
                </a:lnTo>
                <a:lnTo>
                  <a:pt x="1568466" y="613257"/>
                </a:lnTo>
                <a:lnTo>
                  <a:pt x="1615673" y="615161"/>
                </a:lnTo>
                <a:lnTo>
                  <a:pt x="1662203" y="615678"/>
                </a:lnTo>
                <a:lnTo>
                  <a:pt x="1708461" y="614576"/>
                </a:lnTo>
                <a:lnTo>
                  <a:pt x="1754854" y="611623"/>
                </a:lnTo>
                <a:lnTo>
                  <a:pt x="1801791" y="606590"/>
                </a:lnTo>
                <a:lnTo>
                  <a:pt x="1849677" y="599243"/>
                </a:lnTo>
                <a:lnTo>
                  <a:pt x="1898919" y="589353"/>
                </a:lnTo>
                <a:lnTo>
                  <a:pt x="1933600" y="584582"/>
                </a:lnTo>
                <a:lnTo>
                  <a:pt x="1929136" y="584904"/>
                </a:lnTo>
                <a:lnTo>
                  <a:pt x="1912311" y="586982"/>
                </a:lnTo>
                <a:lnTo>
                  <a:pt x="1909907" y="587480"/>
                </a:lnTo>
                <a:lnTo>
                  <a:pt x="1926103" y="584084"/>
                </a:lnTo>
                <a:lnTo>
                  <a:pt x="1948823" y="579987"/>
                </a:lnTo>
                <a:lnTo>
                  <a:pt x="1976350" y="575889"/>
                </a:lnTo>
                <a:lnTo>
                  <a:pt x="2006967" y="572494"/>
                </a:lnTo>
                <a:lnTo>
                  <a:pt x="2037985" y="590904"/>
                </a:lnTo>
                <a:lnTo>
                  <a:pt x="2080678" y="587714"/>
                </a:lnTo>
                <a:lnTo>
                  <a:pt x="2125431" y="572231"/>
                </a:lnTo>
                <a:lnTo>
                  <a:pt x="2162630" y="553762"/>
                </a:lnTo>
                <a:lnTo>
                  <a:pt x="2181229" y="546474"/>
                </a:lnTo>
                <a:lnTo>
                  <a:pt x="2204293" y="543225"/>
                </a:lnTo>
                <a:lnTo>
                  <a:pt x="2223923" y="542435"/>
                </a:lnTo>
                <a:lnTo>
                  <a:pt x="2232221" y="542523"/>
                </a:lnTo>
                <a:lnTo>
                  <a:pt x="2256722" y="507495"/>
                </a:lnTo>
                <a:lnTo>
                  <a:pt x="2267000" y="490063"/>
                </a:lnTo>
                <a:lnTo>
                  <a:pt x="2269461" y="484427"/>
                </a:lnTo>
                <a:lnTo>
                  <a:pt x="2270513" y="484787"/>
                </a:lnTo>
                <a:lnTo>
                  <a:pt x="2276562" y="485344"/>
                </a:lnTo>
                <a:lnTo>
                  <a:pt x="2294016" y="480298"/>
                </a:lnTo>
                <a:lnTo>
                  <a:pt x="2329281" y="463849"/>
                </a:lnTo>
                <a:lnTo>
                  <a:pt x="2339696" y="453371"/>
                </a:lnTo>
                <a:lnTo>
                  <a:pt x="2345305" y="450268"/>
                </a:lnTo>
                <a:lnTo>
                  <a:pt x="2357180" y="404902"/>
                </a:lnTo>
                <a:lnTo>
                  <a:pt x="2361100" y="366443"/>
                </a:lnTo>
                <a:lnTo>
                  <a:pt x="2364677" y="327984"/>
                </a:lnTo>
                <a:lnTo>
                  <a:pt x="2367739" y="299008"/>
                </a:lnTo>
                <a:close/>
              </a:path>
            </a:pathLst>
          </a:custGeom>
          <a:ln w="12699">
            <a:solidFill>
              <a:srgbClr val="000000"/>
            </a:solidFill>
          </a:ln>
        </p:spPr>
        <p:txBody>
          <a:bodyPr wrap="square" lIns="0" tIns="0" rIns="0" bIns="0" rtlCol="0"/>
          <a:lstStyle/>
          <a:p>
            <a:endParaRPr/>
          </a:p>
        </p:txBody>
      </p:sp>
      <p:sp>
        <p:nvSpPr>
          <p:cNvPr id="13" name="object 13"/>
          <p:cNvSpPr txBox="1"/>
          <p:nvPr/>
        </p:nvSpPr>
        <p:spPr>
          <a:xfrm>
            <a:off x="2765774" y="3389364"/>
            <a:ext cx="14611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alibri" panose="020F0502020204030204"/>
                <a:cs typeface="Calibri" panose="020F0502020204030204"/>
              </a:rPr>
              <a:t>less </a:t>
            </a:r>
            <a:r>
              <a:rPr sz="1800" b="1" dirty="0">
                <a:latin typeface="Calibri" panose="020F0502020204030204"/>
                <a:cs typeface="Calibri" panose="020F0502020204030204"/>
              </a:rPr>
              <a:t>than</a:t>
            </a:r>
            <a:r>
              <a:rPr sz="1800" b="1" spc="-60" dirty="0">
                <a:latin typeface="Calibri" panose="020F0502020204030204"/>
                <a:cs typeface="Calibri" panose="020F0502020204030204"/>
              </a:rPr>
              <a:t> </a:t>
            </a:r>
            <a:r>
              <a:rPr sz="1800" b="1" spc="-5" dirty="0">
                <a:latin typeface="Calibri" panose="020F0502020204030204"/>
                <a:cs typeface="Calibri" panose="020F0502020204030204"/>
              </a:rPr>
              <a:t>range</a:t>
            </a:r>
            <a:endParaRPr sz="1800">
              <a:latin typeface="Calibri" panose="020F0502020204030204"/>
              <a:cs typeface="Calibri" panose="020F0502020204030204"/>
            </a:endParaRPr>
          </a:p>
        </p:txBody>
      </p:sp>
      <p:sp>
        <p:nvSpPr>
          <p:cNvPr id="14" name="object 14"/>
          <p:cNvSpPr txBox="1"/>
          <p:nvPr/>
        </p:nvSpPr>
        <p:spPr>
          <a:xfrm>
            <a:off x="1259012" y="4212187"/>
            <a:ext cx="6410960" cy="1450340"/>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0033CC"/>
                </a:solidFill>
                <a:latin typeface="微软雅黑" panose="020B0503020204020204" pitchFamily="34" charset="-122"/>
                <a:cs typeface="微软雅黑" panose="020B0503020204020204" pitchFamily="34" charset="-122"/>
              </a:rPr>
              <a:t>举例：</a:t>
            </a:r>
            <a:r>
              <a:rPr sz="2200" dirty="0">
                <a:latin typeface="微软雅黑" panose="020B0503020204020204" pitchFamily="34" charset="-122"/>
                <a:cs typeface="微软雅黑" panose="020B0503020204020204" pitchFamily="34" charset="-122"/>
              </a:rPr>
              <a:t>程序的输入参数</a:t>
            </a:r>
            <a:r>
              <a:rPr sz="2200" spc="-45" dirty="0">
                <a:latin typeface="微软雅黑" panose="020B0503020204020204" pitchFamily="34" charset="-122"/>
                <a:cs typeface="微软雅黑" panose="020B0503020204020204" pitchFamily="34" charset="-122"/>
              </a:rPr>
              <a:t> </a:t>
            </a:r>
            <a:r>
              <a:rPr sz="2200" dirty="0">
                <a:latin typeface="Arial" panose="020B0604020202020204"/>
                <a:cs typeface="Arial" panose="020B0604020202020204"/>
              </a:rPr>
              <a:t>x</a:t>
            </a:r>
            <a:r>
              <a:rPr sz="2200" spc="-35" dirty="0">
                <a:latin typeface="Arial" panose="020B0604020202020204"/>
                <a:cs typeface="Arial" panose="020B0604020202020204"/>
              </a:rPr>
              <a:t> </a:t>
            </a:r>
            <a:r>
              <a:rPr sz="2200" dirty="0">
                <a:latin typeface="微软雅黑" panose="020B0503020204020204" pitchFamily="34" charset="-122"/>
                <a:cs typeface="微软雅黑" panose="020B0503020204020204" pitchFamily="34" charset="-122"/>
              </a:rPr>
              <a:t>是小于</a:t>
            </a:r>
            <a:r>
              <a:rPr sz="2200" spc="-5" dirty="0">
                <a:latin typeface="Arial" panose="020B0604020202020204"/>
                <a:cs typeface="Arial" panose="020B0604020202020204"/>
              </a:rPr>
              <a:t>100</a:t>
            </a:r>
            <a:r>
              <a:rPr sz="2200" dirty="0">
                <a:latin typeface="微软雅黑" panose="020B0503020204020204" pitchFamily="34" charset="-122"/>
                <a:cs typeface="微软雅黑" panose="020B0503020204020204" pitchFamily="34" charset="-122"/>
              </a:rPr>
              <a:t>大于</a:t>
            </a:r>
            <a:r>
              <a:rPr sz="2200" spc="-5" dirty="0">
                <a:latin typeface="Arial" panose="020B0604020202020204"/>
                <a:cs typeface="Arial" panose="020B0604020202020204"/>
              </a:rPr>
              <a:t>10</a:t>
            </a:r>
            <a:r>
              <a:rPr sz="2200" dirty="0">
                <a:latin typeface="微软雅黑" panose="020B0503020204020204" pitchFamily="34" charset="-122"/>
                <a:cs typeface="微软雅黑" panose="020B0503020204020204" pitchFamily="34" charset="-122"/>
              </a:rPr>
              <a:t>的整数。</a:t>
            </a:r>
            <a:endParaRPr sz="2200">
              <a:latin typeface="微软雅黑" panose="020B0503020204020204" pitchFamily="34" charset="-122"/>
              <a:cs typeface="微软雅黑" panose="020B0503020204020204" pitchFamily="34" charset="-122"/>
            </a:endParaRPr>
          </a:p>
          <a:p>
            <a:pPr marL="889635">
              <a:lnSpc>
                <a:spcPct val="100000"/>
              </a:lnSpc>
              <a:spcBef>
                <a:spcPts val="2435"/>
              </a:spcBef>
            </a:pPr>
            <a:r>
              <a:rPr sz="2200" dirty="0">
                <a:solidFill>
                  <a:srgbClr val="C00000"/>
                </a:solidFill>
                <a:latin typeface="Arial" panose="020B0604020202020204"/>
                <a:cs typeface="Arial" panose="020B0604020202020204"/>
              </a:rPr>
              <a:t>1</a:t>
            </a:r>
            <a:r>
              <a:rPr sz="2200" dirty="0">
                <a:solidFill>
                  <a:srgbClr val="C00000"/>
                </a:solidFill>
                <a:latin typeface="微软雅黑" panose="020B0503020204020204" pitchFamily="34" charset="-122"/>
                <a:cs typeface="微软雅黑" panose="020B0503020204020204" pitchFamily="34" charset="-122"/>
              </a:rPr>
              <a:t>个有效等价类</a:t>
            </a:r>
            <a:r>
              <a:rPr sz="2200" spc="-5" dirty="0">
                <a:solidFill>
                  <a:srgbClr val="CE1C00"/>
                </a:solidFill>
                <a:latin typeface="微软雅黑" panose="020B0503020204020204" pitchFamily="34" charset="-122"/>
                <a:cs typeface="微软雅黑" panose="020B0503020204020204" pitchFamily="34" charset="-122"/>
              </a:rPr>
              <a:t>：</a:t>
            </a:r>
            <a:r>
              <a:rPr sz="2200" spc="-5" dirty="0">
                <a:latin typeface="Arial" panose="020B0604020202020204"/>
                <a:cs typeface="Arial" panose="020B0604020202020204"/>
              </a:rPr>
              <a:t>10</a:t>
            </a:r>
            <a:r>
              <a:rPr sz="2200" spc="-5" dirty="0">
                <a:latin typeface="微软雅黑" panose="020B0503020204020204" pitchFamily="34" charset="-122"/>
                <a:cs typeface="微软雅黑" panose="020B0503020204020204" pitchFamily="34" charset="-122"/>
              </a:rPr>
              <a:t>＜</a:t>
            </a:r>
            <a:r>
              <a:rPr sz="2200" spc="-5" dirty="0">
                <a:latin typeface="Arial" panose="020B0604020202020204"/>
                <a:cs typeface="Arial" panose="020B0604020202020204"/>
              </a:rPr>
              <a:t>x</a:t>
            </a:r>
            <a:r>
              <a:rPr sz="2200" spc="-5" dirty="0">
                <a:latin typeface="微软雅黑" panose="020B0503020204020204" pitchFamily="34" charset="-122"/>
                <a:cs typeface="微软雅黑" panose="020B0503020204020204" pitchFamily="34" charset="-122"/>
              </a:rPr>
              <a:t>＜</a:t>
            </a:r>
            <a:r>
              <a:rPr sz="2200" spc="-5" dirty="0">
                <a:latin typeface="Arial" panose="020B0604020202020204"/>
                <a:cs typeface="Arial" panose="020B0604020202020204"/>
              </a:rPr>
              <a:t>100</a:t>
            </a:r>
            <a:endParaRPr sz="2200">
              <a:latin typeface="Arial" panose="020B0604020202020204"/>
              <a:cs typeface="Arial" panose="020B0604020202020204"/>
            </a:endParaRPr>
          </a:p>
          <a:p>
            <a:pPr marL="889635">
              <a:lnSpc>
                <a:spcPct val="100000"/>
              </a:lnSpc>
              <a:spcBef>
                <a:spcPts val="860"/>
              </a:spcBef>
            </a:pPr>
            <a:r>
              <a:rPr sz="2200" dirty="0">
                <a:solidFill>
                  <a:srgbClr val="C00000"/>
                </a:solidFill>
                <a:latin typeface="Arial" panose="020B0604020202020204"/>
                <a:cs typeface="Arial" panose="020B0604020202020204"/>
              </a:rPr>
              <a:t>2</a:t>
            </a:r>
            <a:r>
              <a:rPr sz="2200" dirty="0">
                <a:solidFill>
                  <a:srgbClr val="C00000"/>
                </a:solidFill>
                <a:latin typeface="微软雅黑" panose="020B0503020204020204" pitchFamily="34" charset="-122"/>
                <a:cs typeface="微软雅黑" panose="020B0503020204020204" pitchFamily="34" charset="-122"/>
              </a:rPr>
              <a:t>个无效等价类</a:t>
            </a:r>
            <a:r>
              <a:rPr sz="2200" spc="-5" dirty="0">
                <a:solidFill>
                  <a:srgbClr val="CE1C00"/>
                </a:solidFill>
                <a:latin typeface="微软雅黑" panose="020B0503020204020204" pitchFamily="34" charset="-122"/>
                <a:cs typeface="微软雅黑" panose="020B0503020204020204" pitchFamily="34" charset="-122"/>
              </a:rPr>
              <a:t>：</a:t>
            </a:r>
            <a:r>
              <a:rPr sz="2200" spc="-5" dirty="0">
                <a:latin typeface="Arial" panose="020B0604020202020204"/>
                <a:cs typeface="Arial" panose="020B0604020202020204"/>
              </a:rPr>
              <a:t>x≤10 </a:t>
            </a:r>
            <a:r>
              <a:rPr sz="2200" dirty="0">
                <a:latin typeface="微软雅黑" panose="020B0503020204020204" pitchFamily="34" charset="-122"/>
                <a:cs typeface="微软雅黑" panose="020B0503020204020204" pitchFamily="34" charset="-122"/>
              </a:rPr>
              <a:t>和</a:t>
            </a:r>
            <a:r>
              <a:rPr sz="2200" spc="-5" dirty="0">
                <a:latin typeface="微软雅黑" panose="020B0503020204020204" pitchFamily="34" charset="-122"/>
                <a:cs typeface="微软雅黑" panose="020B0503020204020204" pitchFamily="34" charset="-122"/>
              </a:rPr>
              <a:t> </a:t>
            </a:r>
            <a:r>
              <a:rPr sz="2200" spc="-5" dirty="0">
                <a:latin typeface="Arial" panose="020B0604020202020204"/>
                <a:cs typeface="Arial" panose="020B0604020202020204"/>
              </a:rPr>
              <a:t>x≥100</a:t>
            </a:r>
            <a:endParaRPr sz="2200">
              <a:latin typeface="Arial" panose="020B0604020202020204"/>
              <a:cs typeface="Arial" panose="020B0604020202020204"/>
            </a:endParaRPr>
          </a:p>
        </p:txBody>
      </p:sp>
      <p:sp>
        <p:nvSpPr>
          <p:cNvPr id="15" name="灯片编号占位符 14"/>
          <p:cNvSpPr>
            <a:spLocks noGrp="1"/>
          </p:cNvSpPr>
          <p:nvPr>
            <p:ph type="sldNum" sz="quarter" idx="12"/>
          </p:nvPr>
        </p:nvSpPr>
        <p:spPr/>
        <p:txBody>
          <a:bodyPr/>
          <a:lstStyle/>
          <a:p>
            <a:fld id="{74D2AB8B-5816-41F2-8B4B-CA5C3E4E6A65}" type="slidenum">
              <a:rPr lang="zh-CN" altLang="en-US" smtClean="0"/>
              <a:t>4</a:t>
            </a:fld>
            <a:endParaRPr lang="zh-CN" altLang="en-US"/>
          </a:p>
        </p:txBody>
      </p:sp>
      <p:sp>
        <p:nvSpPr>
          <p:cNvPr id="17" name="标题 16"/>
          <p:cNvSpPr>
            <a:spLocks noGrp="1"/>
          </p:cNvSpPr>
          <p:nvPr>
            <p:ph type="title"/>
          </p:nvPr>
        </p:nvSpPr>
        <p:spPr/>
        <p:txBody>
          <a:bodyPr/>
          <a:lstStyle/>
          <a:p>
            <a:r>
              <a:rPr lang="zh-CN" altLang="en-US" dirty="0"/>
              <a:t>变量的等价类</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72230" y="1486471"/>
            <a:ext cx="10050145" cy="1930400"/>
          </a:xfrm>
          <a:prstGeom prst="rect">
            <a:avLst/>
          </a:prstGeom>
        </p:spPr>
        <p:txBody>
          <a:bodyPr vert="horz" wrap="square" lIns="0" tIns="6350" rIns="0" bIns="0" rtlCol="0">
            <a:spAutoFit/>
          </a:bodyPr>
          <a:lstStyle/>
          <a:p>
            <a:pPr marL="12700" marR="5080" algn="just">
              <a:lnSpc>
                <a:spcPct val="119000"/>
              </a:lnSpc>
              <a:spcBef>
                <a:spcPts val="50"/>
              </a:spcBef>
            </a:pPr>
            <a:r>
              <a:rPr sz="2200" spc="10" dirty="0">
                <a:latin typeface="微软雅黑" panose="020B0503020204020204" pitchFamily="34" charset="-122"/>
                <a:cs typeface="微软雅黑" panose="020B0503020204020204" pitchFamily="34" charset="-122"/>
              </a:rPr>
              <a:t>输入三个整数</a:t>
            </a:r>
            <a:r>
              <a:rPr sz="2200" spc="10" dirty="0">
                <a:latin typeface="Arial" panose="020B0604020202020204"/>
                <a:cs typeface="Arial" panose="020B0604020202020204"/>
              </a:rPr>
              <a:t>a</a:t>
            </a:r>
            <a:r>
              <a:rPr sz="2200" spc="10" dirty="0">
                <a:latin typeface="微软雅黑" panose="020B0503020204020204" pitchFamily="34" charset="-122"/>
                <a:cs typeface="微软雅黑" panose="020B0503020204020204" pitchFamily="34" charset="-122"/>
              </a:rPr>
              <a:t>、</a:t>
            </a:r>
            <a:r>
              <a:rPr sz="2200" spc="10" dirty="0">
                <a:latin typeface="Arial" panose="020B0604020202020204"/>
                <a:cs typeface="Arial" panose="020B0604020202020204"/>
              </a:rPr>
              <a:t>b</a:t>
            </a:r>
            <a:r>
              <a:rPr sz="2200" spc="10" dirty="0">
                <a:latin typeface="微软雅黑" panose="020B0503020204020204" pitchFamily="34" charset="-122"/>
                <a:cs typeface="微软雅黑" panose="020B0503020204020204" pitchFamily="34" charset="-122"/>
              </a:rPr>
              <a:t>、</a:t>
            </a:r>
            <a:r>
              <a:rPr sz="2200" spc="10" dirty="0">
                <a:latin typeface="Arial" panose="020B0604020202020204"/>
                <a:cs typeface="Arial" panose="020B0604020202020204"/>
              </a:rPr>
              <a:t>c</a:t>
            </a:r>
            <a:r>
              <a:rPr sz="2200" spc="10" dirty="0">
                <a:latin typeface="微软雅黑" panose="020B0503020204020204" pitchFamily="34" charset="-122"/>
                <a:cs typeface="微软雅黑" panose="020B0503020204020204" pitchFamily="34" charset="-122"/>
              </a:rPr>
              <a:t>，分别作为三角形的三条边，现通过一个程序判断这三条边 </a:t>
            </a:r>
            <a:r>
              <a:rPr sz="2200" spc="55" dirty="0">
                <a:latin typeface="微软雅黑" panose="020B0503020204020204" pitchFamily="34" charset="-122"/>
                <a:cs typeface="微软雅黑" panose="020B0503020204020204" pitchFamily="34" charset="-122"/>
              </a:rPr>
              <a:t>构成的三角形类</a:t>
            </a:r>
            <a:r>
              <a:rPr sz="2200" spc="50" dirty="0">
                <a:latin typeface="微软雅黑" panose="020B0503020204020204" pitchFamily="34" charset="-122"/>
                <a:cs typeface="微软雅黑" panose="020B0503020204020204" pitchFamily="34" charset="-122"/>
              </a:rPr>
              <a:t>型</a:t>
            </a:r>
            <a:r>
              <a:rPr sz="2200" spc="55" dirty="0">
                <a:latin typeface="微软雅黑" panose="020B0503020204020204" pitchFamily="34" charset="-122"/>
                <a:cs typeface="微软雅黑" panose="020B0503020204020204" pitchFamily="34" charset="-122"/>
              </a:rPr>
              <a:t>，包括等边三角</a:t>
            </a:r>
            <a:r>
              <a:rPr sz="2200" spc="50" dirty="0">
                <a:latin typeface="微软雅黑" panose="020B0503020204020204" pitchFamily="34" charset="-122"/>
                <a:cs typeface="微软雅黑" panose="020B0503020204020204" pitchFamily="34" charset="-122"/>
              </a:rPr>
              <a:t>形</a:t>
            </a:r>
            <a:r>
              <a:rPr sz="2200" spc="55" dirty="0">
                <a:latin typeface="微软雅黑" panose="020B0503020204020204" pitchFamily="34" charset="-122"/>
                <a:cs typeface="微软雅黑" panose="020B0503020204020204" pitchFamily="34" charset="-122"/>
              </a:rPr>
              <a:t>、等腰三角</a:t>
            </a:r>
            <a:r>
              <a:rPr sz="2200" spc="50" dirty="0">
                <a:latin typeface="微软雅黑" panose="020B0503020204020204" pitchFamily="34" charset="-122"/>
                <a:cs typeface="微软雅黑" panose="020B0503020204020204" pitchFamily="34" charset="-122"/>
              </a:rPr>
              <a:t>形</a:t>
            </a:r>
            <a:r>
              <a:rPr sz="2200" spc="55" dirty="0">
                <a:latin typeface="微软雅黑" panose="020B0503020204020204" pitchFamily="34" charset="-122"/>
                <a:cs typeface="微软雅黑" panose="020B0503020204020204" pitchFamily="34" charset="-122"/>
              </a:rPr>
              <a:t>、一般三角形（特殊的还包括 </a:t>
            </a:r>
            <a:r>
              <a:rPr sz="2200" dirty="0">
                <a:latin typeface="微软雅黑" panose="020B0503020204020204" pitchFamily="34" charset="-122"/>
                <a:cs typeface="微软雅黑" panose="020B0503020204020204" pitchFamily="34" charset="-122"/>
              </a:rPr>
              <a:t>直角三角形）以及构不成三角形。</a:t>
            </a:r>
          </a:p>
          <a:p>
            <a:pPr>
              <a:lnSpc>
                <a:spcPct val="100000"/>
              </a:lnSpc>
              <a:spcBef>
                <a:spcPts val="25"/>
              </a:spcBef>
            </a:pPr>
            <a:endParaRPr sz="2550" dirty="0">
              <a:latin typeface="Times New Roman" panose="02020603050405020304"/>
              <a:cs typeface="Times New Roman" panose="02020603050405020304"/>
            </a:endParaRPr>
          </a:p>
          <a:p>
            <a:pPr marL="12700">
              <a:lnSpc>
                <a:spcPct val="100000"/>
              </a:lnSpc>
            </a:pPr>
            <a:r>
              <a:rPr sz="2200" dirty="0">
                <a:latin typeface="微软雅黑" panose="020B0503020204020204" pitchFamily="34" charset="-122"/>
                <a:cs typeface="微软雅黑" panose="020B0503020204020204" pitchFamily="34" charset="-122"/>
              </a:rPr>
              <a:t>现在要求输入的三个整数</a:t>
            </a:r>
            <a:r>
              <a:rPr sz="2200" dirty="0">
                <a:latin typeface="Arial" panose="020B0604020202020204"/>
                <a:cs typeface="Arial" panose="020B0604020202020204"/>
              </a:rPr>
              <a:t>a</a:t>
            </a:r>
            <a:r>
              <a:rPr sz="2200" dirty="0">
                <a:latin typeface="微软雅黑" panose="020B0503020204020204" pitchFamily="34" charset="-122"/>
                <a:cs typeface="微软雅黑" panose="020B0503020204020204" pitchFamily="34" charset="-122"/>
              </a:rPr>
              <a:t>、</a:t>
            </a:r>
            <a:r>
              <a:rPr sz="2200" dirty="0">
                <a:latin typeface="Arial" panose="020B0604020202020204"/>
                <a:cs typeface="Arial" panose="020B0604020202020204"/>
              </a:rPr>
              <a:t>b</a:t>
            </a:r>
            <a:r>
              <a:rPr sz="2200" dirty="0">
                <a:latin typeface="微软雅黑" panose="020B0503020204020204" pitchFamily="34" charset="-122"/>
                <a:cs typeface="微软雅黑" panose="020B0503020204020204" pitchFamily="34" charset="-122"/>
              </a:rPr>
              <a:t>、</a:t>
            </a:r>
            <a:r>
              <a:rPr sz="2200" dirty="0">
                <a:latin typeface="Arial" panose="020B0604020202020204"/>
                <a:cs typeface="Arial" panose="020B0604020202020204"/>
              </a:rPr>
              <a:t>c</a:t>
            </a:r>
            <a:r>
              <a:rPr sz="2200" dirty="0">
                <a:latin typeface="微软雅黑" panose="020B0503020204020204" pitchFamily="34" charset="-122"/>
                <a:cs typeface="微软雅黑" panose="020B0503020204020204" pitchFamily="34" charset="-122"/>
              </a:rPr>
              <a:t>必须满足以下条件：</a:t>
            </a:r>
          </a:p>
        </p:txBody>
      </p:sp>
      <p:sp>
        <p:nvSpPr>
          <p:cNvPr id="4" name="object 4"/>
          <p:cNvSpPr txBox="1"/>
          <p:nvPr/>
        </p:nvSpPr>
        <p:spPr>
          <a:xfrm>
            <a:off x="2074199" y="3490273"/>
            <a:ext cx="2103120" cy="1395126"/>
          </a:xfrm>
          <a:prstGeom prst="rect">
            <a:avLst/>
          </a:prstGeom>
        </p:spPr>
        <p:txBody>
          <a:bodyPr vert="horz" wrap="square" lIns="0" tIns="6350" rIns="0" bIns="0" rtlCol="0">
            <a:spAutoFit/>
          </a:bodyPr>
          <a:lstStyle/>
          <a:p>
            <a:pPr marL="12700" marR="5080" algn="just">
              <a:lnSpc>
                <a:spcPct val="142000"/>
              </a:lnSpc>
              <a:spcBef>
                <a:spcPts val="50"/>
              </a:spcBef>
            </a:pPr>
            <a:r>
              <a:rPr sz="2200" dirty="0">
                <a:latin typeface="微软雅黑" panose="020B0503020204020204" pitchFamily="34" charset="-122"/>
                <a:cs typeface="微软雅黑" panose="020B0503020204020204" pitchFamily="34" charset="-122"/>
              </a:rPr>
              <a:t>条件</a:t>
            </a:r>
            <a:r>
              <a:rPr sz="2200" dirty="0">
                <a:latin typeface="Arial" panose="020B0604020202020204"/>
                <a:cs typeface="Arial" panose="020B0604020202020204"/>
              </a:rPr>
              <a:t>1</a:t>
            </a:r>
            <a:r>
              <a:rPr sz="2200" dirty="0">
                <a:latin typeface="微软雅黑" panose="020B0503020204020204" pitchFamily="34" charset="-122"/>
                <a:cs typeface="微软雅黑" panose="020B0503020204020204" pitchFamily="34" charset="-122"/>
              </a:rPr>
              <a:t>：</a:t>
            </a:r>
            <a:r>
              <a:rPr sz="2200" dirty="0">
                <a:latin typeface="Arial" panose="020B0604020202020204"/>
                <a:cs typeface="Arial" panose="020B0604020202020204"/>
              </a:rPr>
              <a:t>1≤a≤</a:t>
            </a:r>
            <a:r>
              <a:rPr lang="en-US" altLang="zh-CN" sz="2200" spc="-5" dirty="0">
                <a:latin typeface="Arial" panose="020B0604020202020204"/>
                <a:cs typeface="Arial" panose="020B0604020202020204"/>
              </a:rPr>
              <a:t>20</a:t>
            </a:r>
            <a:r>
              <a:rPr sz="2200" spc="-5" dirty="0">
                <a:latin typeface="Arial" panose="020B0604020202020204"/>
                <a:cs typeface="Arial" panose="020B0604020202020204"/>
              </a:rPr>
              <a:t>0 </a:t>
            </a:r>
            <a:r>
              <a:rPr sz="2200" dirty="0">
                <a:latin typeface="微软雅黑" panose="020B0503020204020204" pitchFamily="34" charset="-122"/>
                <a:cs typeface="微软雅黑" panose="020B0503020204020204" pitchFamily="34" charset="-122"/>
              </a:rPr>
              <a:t>条件</a:t>
            </a:r>
            <a:r>
              <a:rPr sz="2200" dirty="0">
                <a:latin typeface="Arial" panose="020B0604020202020204"/>
                <a:cs typeface="Arial" panose="020B0604020202020204"/>
              </a:rPr>
              <a:t>2</a:t>
            </a:r>
            <a:r>
              <a:rPr sz="2200" dirty="0">
                <a:latin typeface="微软雅黑" panose="020B0503020204020204" pitchFamily="34" charset="-122"/>
                <a:cs typeface="微软雅黑" panose="020B0503020204020204" pitchFamily="34" charset="-122"/>
              </a:rPr>
              <a:t>：</a:t>
            </a:r>
            <a:r>
              <a:rPr sz="2200" dirty="0">
                <a:latin typeface="Arial" panose="020B0604020202020204"/>
                <a:cs typeface="Arial" panose="020B0604020202020204"/>
              </a:rPr>
              <a:t>1≤b≤</a:t>
            </a:r>
            <a:r>
              <a:rPr lang="en-US" altLang="zh-CN" sz="2200" spc="-5" dirty="0">
                <a:latin typeface="Arial" panose="020B0604020202020204"/>
                <a:cs typeface="Arial" panose="020B0604020202020204"/>
              </a:rPr>
              <a:t>20</a:t>
            </a:r>
            <a:r>
              <a:rPr sz="2200" spc="-5" dirty="0">
                <a:latin typeface="Arial" panose="020B0604020202020204"/>
                <a:cs typeface="Arial" panose="020B0604020202020204"/>
              </a:rPr>
              <a:t>0 </a:t>
            </a:r>
            <a:r>
              <a:rPr sz="2200" dirty="0">
                <a:latin typeface="微软雅黑" panose="020B0503020204020204" pitchFamily="34" charset="-122"/>
                <a:cs typeface="微软雅黑" panose="020B0503020204020204" pitchFamily="34" charset="-122"/>
              </a:rPr>
              <a:t>条件</a:t>
            </a:r>
            <a:r>
              <a:rPr sz="2200" spc="-5" dirty="0">
                <a:latin typeface="Arial" panose="020B0604020202020204"/>
                <a:cs typeface="Arial" panose="020B0604020202020204"/>
              </a:rPr>
              <a:t>3</a:t>
            </a:r>
            <a:r>
              <a:rPr sz="2200" spc="-5" dirty="0">
                <a:latin typeface="微软雅黑" panose="020B0503020204020204" pitchFamily="34" charset="-122"/>
                <a:cs typeface="微软雅黑" panose="020B0503020204020204" pitchFamily="34" charset="-122"/>
              </a:rPr>
              <a:t>：</a:t>
            </a:r>
            <a:r>
              <a:rPr sz="2200" spc="-5" dirty="0">
                <a:latin typeface="Arial" panose="020B0604020202020204"/>
                <a:cs typeface="Arial" panose="020B0604020202020204"/>
              </a:rPr>
              <a:t>1≤c≤</a:t>
            </a:r>
            <a:r>
              <a:rPr lang="en-US" altLang="zh-CN" sz="2200" spc="-5" dirty="0">
                <a:latin typeface="Arial" panose="020B0604020202020204"/>
                <a:cs typeface="Arial" panose="020B0604020202020204"/>
              </a:rPr>
              <a:t>20</a:t>
            </a:r>
            <a:r>
              <a:rPr sz="2200" spc="-5" dirty="0">
                <a:latin typeface="Arial" panose="020B0604020202020204"/>
                <a:cs typeface="Arial" panose="020B0604020202020204"/>
              </a:rPr>
              <a:t>0</a:t>
            </a:r>
            <a:endParaRPr sz="2200" dirty="0">
              <a:latin typeface="Arial" panose="020B0604020202020204"/>
              <a:cs typeface="Arial" panose="020B0604020202020204"/>
            </a:endParaRPr>
          </a:p>
        </p:txBody>
      </p:sp>
      <p:sp>
        <p:nvSpPr>
          <p:cNvPr id="6" name="object 6"/>
          <p:cNvSpPr txBox="1"/>
          <p:nvPr/>
        </p:nvSpPr>
        <p:spPr>
          <a:xfrm>
            <a:off x="1072230" y="5195820"/>
            <a:ext cx="6172200" cy="360680"/>
          </a:xfrm>
          <a:prstGeom prst="rect">
            <a:avLst/>
          </a:prstGeom>
        </p:spPr>
        <p:txBody>
          <a:bodyPr vert="horz" wrap="square" lIns="0" tIns="12700" rIns="0" bIns="0" rtlCol="0">
            <a:spAutoFit/>
          </a:bodyPr>
          <a:lstStyle/>
          <a:p>
            <a:pPr marL="12700">
              <a:lnSpc>
                <a:spcPct val="100000"/>
              </a:lnSpc>
              <a:spcBef>
                <a:spcPts val="100"/>
              </a:spcBef>
            </a:pPr>
            <a:r>
              <a:rPr sz="2200" dirty="0">
                <a:latin typeface="微软雅黑" panose="020B0503020204020204" pitchFamily="34" charset="-122"/>
                <a:cs typeface="微软雅黑" panose="020B0503020204020204" pitchFamily="34" charset="-122"/>
              </a:rPr>
              <a:t>请使用等价类划分方法，设计该程序的测试用例。</a:t>
            </a:r>
          </a:p>
        </p:txBody>
      </p:sp>
      <p:sp>
        <p:nvSpPr>
          <p:cNvPr id="7" name="灯片编号占位符 6"/>
          <p:cNvSpPr>
            <a:spLocks noGrp="1"/>
          </p:cNvSpPr>
          <p:nvPr>
            <p:ph type="sldNum" sz="quarter" idx="12"/>
          </p:nvPr>
        </p:nvSpPr>
        <p:spPr/>
        <p:txBody>
          <a:bodyPr/>
          <a:lstStyle/>
          <a:p>
            <a:fld id="{74D2AB8B-5816-41F2-8B4B-CA5C3E4E6A65}" type="slidenum">
              <a:rPr lang="zh-CN" altLang="en-US" smtClean="0"/>
              <a:t>5</a:t>
            </a:fld>
            <a:endParaRPr lang="zh-CN" altLang="en-US"/>
          </a:p>
        </p:txBody>
      </p:sp>
      <p:sp>
        <p:nvSpPr>
          <p:cNvPr id="9" name="标题 8"/>
          <p:cNvSpPr>
            <a:spLocks noGrp="1"/>
          </p:cNvSpPr>
          <p:nvPr>
            <p:ph type="title"/>
          </p:nvPr>
        </p:nvSpPr>
        <p:spPr/>
        <p:txBody>
          <a:bodyPr/>
          <a:lstStyle/>
          <a:p>
            <a:r>
              <a:rPr lang="zh-CN" altLang="en-US" dirty="0"/>
              <a:t>举例：判断三角形类型</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8504180" y="4415941"/>
            <a:ext cx="778678" cy="1165675"/>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1112967" y="1463607"/>
            <a:ext cx="8046084" cy="3896360"/>
          </a:xfrm>
          <a:prstGeom prst="rect">
            <a:avLst/>
          </a:prstGeom>
        </p:spPr>
        <p:txBody>
          <a:bodyPr vert="horz" wrap="square" lIns="0" tIns="185420" rIns="0" bIns="0" rtlCol="0">
            <a:spAutoFit/>
          </a:bodyPr>
          <a:lstStyle/>
          <a:p>
            <a:pPr marL="12700">
              <a:lnSpc>
                <a:spcPct val="100000"/>
              </a:lnSpc>
              <a:spcBef>
                <a:spcPts val="1460"/>
              </a:spcBef>
            </a:pPr>
            <a:r>
              <a:rPr sz="2200" dirty="0">
                <a:solidFill>
                  <a:srgbClr val="0033CC"/>
                </a:solidFill>
                <a:latin typeface="微软雅黑" panose="020B0503020204020204" pitchFamily="34" charset="-122"/>
                <a:cs typeface="微软雅黑" panose="020B0503020204020204" pitchFamily="34" charset="-122"/>
              </a:rPr>
              <a:t>等价类划分：</a:t>
            </a:r>
            <a:endParaRPr sz="2200">
              <a:latin typeface="微软雅黑" panose="020B0503020204020204" pitchFamily="34" charset="-122"/>
              <a:cs typeface="微软雅黑" panose="020B0503020204020204" pitchFamily="34" charset="-122"/>
            </a:endParaRPr>
          </a:p>
          <a:p>
            <a:pPr marL="100965">
              <a:lnSpc>
                <a:spcPct val="100000"/>
              </a:lnSpc>
              <a:spcBef>
                <a:spcPts val="1360"/>
              </a:spcBef>
              <a:tabLst>
                <a:tab pos="558165" algn="l"/>
              </a:tabLst>
            </a:pPr>
            <a:r>
              <a:rPr sz="2200" dirty="0">
                <a:latin typeface="微软雅黑" panose="020B0503020204020204" pitchFamily="34" charset="-122"/>
                <a:cs typeface="微软雅黑" panose="020B0503020204020204" pitchFamily="34" charset="-122"/>
              </a:rPr>
              <a:t>①	按输入取值划分</a:t>
            </a:r>
            <a:endParaRPr sz="2200">
              <a:latin typeface="微软雅黑" panose="020B0503020204020204" pitchFamily="34" charset="-122"/>
              <a:cs typeface="微软雅黑" panose="020B0503020204020204" pitchFamily="34" charset="-122"/>
            </a:endParaRPr>
          </a:p>
          <a:p>
            <a:pPr marL="578485">
              <a:lnSpc>
                <a:spcPct val="100000"/>
              </a:lnSpc>
              <a:spcBef>
                <a:spcPts val="970"/>
              </a:spcBef>
              <a:tabLst>
                <a:tab pos="2271395" algn="l"/>
                <a:tab pos="2716530" algn="l"/>
              </a:tabLst>
            </a:pPr>
            <a:r>
              <a:rPr sz="2200" dirty="0">
                <a:latin typeface="Arial" panose="020B0604020202020204"/>
                <a:cs typeface="Arial" panose="020B0604020202020204"/>
              </a:rPr>
              <a:t>{0</a:t>
            </a:r>
            <a:r>
              <a:rPr sz="2200" dirty="0">
                <a:latin typeface="微软雅黑" panose="020B0503020204020204" pitchFamily="34" charset="-122"/>
                <a:cs typeface="微软雅黑" panose="020B0503020204020204" pitchFamily="34" charset="-122"/>
              </a:rPr>
              <a:t>，</a:t>
            </a:r>
            <a:r>
              <a:rPr sz="2200" dirty="0">
                <a:latin typeface="Arial" panose="020B0604020202020204"/>
                <a:cs typeface="Arial" panose="020B0604020202020204"/>
              </a:rPr>
              <a:t>&gt;0</a:t>
            </a:r>
            <a:r>
              <a:rPr sz="2200" dirty="0">
                <a:latin typeface="微软雅黑" panose="020B0503020204020204" pitchFamily="34" charset="-122"/>
                <a:cs typeface="微软雅黑" panose="020B0503020204020204" pitchFamily="34" charset="-122"/>
              </a:rPr>
              <a:t>，</a:t>
            </a:r>
            <a:r>
              <a:rPr sz="2200" dirty="0">
                <a:latin typeface="Arial" panose="020B0604020202020204"/>
                <a:cs typeface="Arial" panose="020B0604020202020204"/>
              </a:rPr>
              <a:t>&lt;0}	</a:t>
            </a:r>
            <a:r>
              <a:rPr sz="2200" dirty="0">
                <a:latin typeface="微软雅黑" panose="020B0503020204020204" pitchFamily="34" charset="-122"/>
                <a:cs typeface="微软雅黑" panose="020B0503020204020204" pitchFamily="34" charset="-122"/>
              </a:rPr>
              <a:t>或	</a:t>
            </a:r>
            <a:r>
              <a:rPr sz="2200" dirty="0">
                <a:latin typeface="Arial" panose="020B0604020202020204"/>
                <a:cs typeface="Arial" panose="020B0604020202020204"/>
              </a:rPr>
              <a:t>{0</a:t>
            </a:r>
            <a:r>
              <a:rPr sz="2200" dirty="0">
                <a:latin typeface="微软雅黑" panose="020B0503020204020204" pitchFamily="34" charset="-122"/>
                <a:cs typeface="微软雅黑" panose="020B0503020204020204" pitchFamily="34" charset="-122"/>
              </a:rPr>
              <a:t>，</a:t>
            </a:r>
            <a:r>
              <a:rPr sz="2200" dirty="0">
                <a:latin typeface="Arial" panose="020B0604020202020204"/>
                <a:cs typeface="Arial" panose="020B0604020202020204"/>
              </a:rPr>
              <a:t>1</a:t>
            </a:r>
            <a:r>
              <a:rPr sz="2200" dirty="0">
                <a:latin typeface="微软雅黑" panose="020B0503020204020204" pitchFamily="34" charset="-122"/>
                <a:cs typeface="微软雅黑" panose="020B0503020204020204" pitchFamily="34" charset="-122"/>
              </a:rPr>
              <a:t>，</a:t>
            </a:r>
            <a:r>
              <a:rPr sz="2200" dirty="0">
                <a:latin typeface="Arial" panose="020B0604020202020204"/>
                <a:cs typeface="Arial" panose="020B0604020202020204"/>
              </a:rPr>
              <a:t>&gt;1</a:t>
            </a:r>
            <a:r>
              <a:rPr sz="2200" dirty="0">
                <a:latin typeface="微软雅黑" panose="020B0503020204020204" pitchFamily="34" charset="-122"/>
                <a:cs typeface="微软雅黑" panose="020B0503020204020204" pitchFamily="34" charset="-122"/>
              </a:rPr>
              <a:t>，</a:t>
            </a:r>
            <a:r>
              <a:rPr sz="2200" dirty="0">
                <a:latin typeface="Arial" panose="020B0604020202020204"/>
                <a:cs typeface="Arial" panose="020B0604020202020204"/>
              </a:rPr>
              <a:t>&lt;0}</a:t>
            </a:r>
            <a:endParaRPr sz="2200">
              <a:latin typeface="Arial" panose="020B0604020202020204"/>
              <a:cs typeface="Arial" panose="020B0604020202020204"/>
            </a:endParaRPr>
          </a:p>
          <a:p>
            <a:pPr marL="100965">
              <a:lnSpc>
                <a:spcPct val="100000"/>
              </a:lnSpc>
              <a:spcBef>
                <a:spcPts val="1950"/>
              </a:spcBef>
              <a:tabLst>
                <a:tab pos="558165" algn="l"/>
              </a:tabLst>
            </a:pPr>
            <a:r>
              <a:rPr sz="2200" dirty="0">
                <a:latin typeface="微软雅黑" panose="020B0503020204020204" pitchFamily="34" charset="-122"/>
                <a:cs typeface="微软雅黑" panose="020B0503020204020204" pitchFamily="34" charset="-122"/>
              </a:rPr>
              <a:t>②	按输出的几何特性划分</a:t>
            </a:r>
            <a:endParaRPr sz="2200">
              <a:latin typeface="微软雅黑" panose="020B0503020204020204" pitchFamily="34" charset="-122"/>
              <a:cs typeface="微软雅黑" panose="020B0503020204020204" pitchFamily="34" charset="-122"/>
            </a:endParaRPr>
          </a:p>
          <a:p>
            <a:pPr marL="581660">
              <a:lnSpc>
                <a:spcPct val="100000"/>
              </a:lnSpc>
              <a:spcBef>
                <a:spcPts val="1340"/>
              </a:spcBef>
            </a:pPr>
            <a:r>
              <a:rPr sz="2200" dirty="0">
                <a:latin typeface="Arial" panose="020B0604020202020204"/>
                <a:cs typeface="Arial" panose="020B0604020202020204"/>
              </a:rPr>
              <a:t>{</a:t>
            </a:r>
            <a:r>
              <a:rPr sz="2200" dirty="0">
                <a:latin typeface="微软雅黑" panose="020B0503020204020204" pitchFamily="34" charset="-122"/>
                <a:cs typeface="微软雅黑" panose="020B0503020204020204" pitchFamily="34" charset="-122"/>
              </a:rPr>
              <a:t>等腰且非等边三角形，等边三角形，一般三角形，非三角形</a:t>
            </a:r>
            <a:r>
              <a:rPr sz="2200" dirty="0">
                <a:latin typeface="Arial" panose="020B0604020202020204"/>
                <a:cs typeface="Arial" panose="020B0604020202020204"/>
              </a:rPr>
              <a:t>}</a:t>
            </a:r>
            <a:endParaRPr sz="2200">
              <a:latin typeface="Arial" panose="020B0604020202020204"/>
              <a:cs typeface="Arial" panose="020B0604020202020204"/>
            </a:endParaRPr>
          </a:p>
          <a:p>
            <a:pPr>
              <a:lnSpc>
                <a:spcPct val="100000"/>
              </a:lnSpc>
            </a:pPr>
            <a:endParaRPr sz="2900">
              <a:latin typeface="Times New Roman" panose="02020603050405020304"/>
              <a:cs typeface="Times New Roman" panose="02020603050405020304"/>
            </a:endParaRPr>
          </a:p>
          <a:p>
            <a:pPr>
              <a:lnSpc>
                <a:spcPct val="100000"/>
              </a:lnSpc>
              <a:spcBef>
                <a:spcPts val="15"/>
              </a:spcBef>
            </a:pPr>
            <a:endParaRPr sz="2700">
              <a:latin typeface="Times New Roman" panose="02020603050405020304"/>
              <a:cs typeface="Times New Roman" panose="02020603050405020304"/>
            </a:endParaRPr>
          </a:p>
          <a:p>
            <a:pPr marL="147955" algn="ctr">
              <a:lnSpc>
                <a:spcPct val="100000"/>
              </a:lnSpc>
            </a:pPr>
            <a:r>
              <a:rPr sz="3200" b="1" spc="-5" dirty="0">
                <a:latin typeface="华文楷体" panose="02010600040101010101" charset="-122"/>
                <a:cs typeface="华文楷体" panose="02010600040101010101" charset="-122"/>
              </a:rPr>
              <a:t>你会选择哪⼀种⽅法划分等价类</a:t>
            </a:r>
            <a:endParaRPr sz="3200">
              <a:latin typeface="华文楷体" panose="02010600040101010101" charset="-122"/>
              <a:cs typeface="华文楷体" panose="02010600040101010101" charset="-122"/>
            </a:endParaRPr>
          </a:p>
        </p:txBody>
      </p:sp>
      <p:sp>
        <p:nvSpPr>
          <p:cNvPr id="5" name="object 5"/>
          <p:cNvSpPr/>
          <p:nvPr/>
        </p:nvSpPr>
        <p:spPr>
          <a:xfrm>
            <a:off x="9869814" y="3232249"/>
            <a:ext cx="984447" cy="868395"/>
          </a:xfrm>
          <a:prstGeom prst="rect">
            <a:avLst/>
          </a:prstGeom>
          <a:blipFill>
            <a:blip r:embed="rId4" cstate="print"/>
            <a:stretch>
              <a:fillRect/>
            </a:stretch>
          </a:blipFill>
        </p:spPr>
        <p:txBody>
          <a:bodyPr wrap="square" lIns="0" tIns="0" rIns="0" bIns="0" rtlCol="0"/>
          <a:lstStyle/>
          <a:p>
            <a:endParaRPr/>
          </a:p>
        </p:txBody>
      </p:sp>
      <p:sp>
        <p:nvSpPr>
          <p:cNvPr id="6" name="灯片编号占位符 5"/>
          <p:cNvSpPr>
            <a:spLocks noGrp="1"/>
          </p:cNvSpPr>
          <p:nvPr>
            <p:ph type="sldNum" sz="quarter" idx="12"/>
          </p:nvPr>
        </p:nvSpPr>
        <p:spPr/>
        <p:txBody>
          <a:bodyPr/>
          <a:lstStyle/>
          <a:p>
            <a:fld id="{74D2AB8B-5816-41F2-8B4B-CA5C3E4E6A65}" type="slidenum">
              <a:rPr lang="zh-CN" altLang="en-US" smtClean="0"/>
              <a:t>6</a:t>
            </a:fld>
            <a:endParaRPr lang="zh-CN" altLang="en-US"/>
          </a:p>
        </p:txBody>
      </p:sp>
      <p:sp>
        <p:nvSpPr>
          <p:cNvPr id="8" name="标题 7"/>
          <p:cNvSpPr>
            <a:spLocks noGrp="1"/>
          </p:cNvSpPr>
          <p:nvPr>
            <p:ph type="title"/>
          </p:nvPr>
        </p:nvSpPr>
        <p:spPr/>
        <p:txBody>
          <a:bodyPr/>
          <a:lstStyle/>
          <a:p>
            <a:r>
              <a:rPr lang="zh-CN" altLang="en-US" dirty="0"/>
              <a:t>举例：判断三角形类型</a:t>
            </a:r>
          </a:p>
        </p:txBody>
      </p:sp>
      <p:sp>
        <p:nvSpPr>
          <p:cNvPr id="2" name="矩形 1">
            <a:extLst>
              <a:ext uri="{FF2B5EF4-FFF2-40B4-BE49-F238E27FC236}">
                <a16:creationId xmlns:a16="http://schemas.microsoft.com/office/drawing/2014/main" id="{9FEEE5A3-F88C-4DBF-BE33-8672B59511B6}"/>
              </a:ext>
            </a:extLst>
          </p:cNvPr>
          <p:cNvSpPr/>
          <p:nvPr/>
        </p:nvSpPr>
        <p:spPr>
          <a:xfrm>
            <a:off x="1255486" y="5739547"/>
            <a:ext cx="9598775" cy="369332"/>
          </a:xfrm>
          <a:prstGeom prst="rect">
            <a:avLst/>
          </a:prstGeom>
        </p:spPr>
        <p:txBody>
          <a:bodyPr wrap="square">
            <a:spAutoFit/>
          </a:bodyPr>
          <a:lstStyle/>
          <a:p>
            <a:pPr algn="ctr"/>
            <a:r>
              <a:rPr lang="zh-CN" altLang="en-US" dirty="0">
                <a:latin typeface="微软雅黑" panose="020B0503020204020204" pitchFamily="34" charset="-122"/>
                <a:ea typeface="微软雅黑" panose="020B0503020204020204" pitchFamily="34" charset="-122"/>
              </a:rPr>
              <a:t>在多数情况下，等价类是根据输入域进行划分的，但并不是说不能从输出反过来划分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47133" y="1521585"/>
            <a:ext cx="3096260" cy="540385"/>
          </a:xfrm>
          <a:prstGeom prst="rect">
            <a:avLst/>
          </a:prstGeom>
          <a:solidFill>
            <a:srgbClr val="797BA9"/>
          </a:solidFill>
        </p:spPr>
        <p:txBody>
          <a:bodyPr vert="horz" wrap="square" lIns="0" tIns="117475" rIns="0" bIns="0" rtlCol="0">
            <a:spAutoFit/>
          </a:bodyPr>
          <a:lstStyle/>
          <a:p>
            <a:pPr marL="408940">
              <a:lnSpc>
                <a:spcPct val="100000"/>
              </a:lnSpc>
              <a:spcBef>
                <a:spcPts val="925"/>
              </a:spcBef>
            </a:pPr>
            <a:r>
              <a:rPr sz="2000" dirty="0">
                <a:solidFill>
                  <a:srgbClr val="FFFFFF"/>
                </a:solidFill>
                <a:latin typeface="微软雅黑" panose="020B0503020204020204" pitchFamily="34" charset="-122"/>
                <a:cs typeface="微软雅黑" panose="020B0503020204020204" pitchFamily="34" charset="-122"/>
              </a:rPr>
              <a:t>标准等价类测试用例</a:t>
            </a:r>
            <a:endParaRPr sz="2000">
              <a:latin typeface="微软雅黑" panose="020B0503020204020204" pitchFamily="34" charset="-122"/>
              <a:cs typeface="微软雅黑" panose="020B0503020204020204" pitchFamily="34" charset="-122"/>
            </a:endParaRPr>
          </a:p>
        </p:txBody>
      </p:sp>
      <p:graphicFrame>
        <p:nvGraphicFramePr>
          <p:cNvPr id="4" name="object 4"/>
          <p:cNvGraphicFramePr>
            <a:graphicFrameLocks noGrp="1"/>
          </p:cNvGraphicFramePr>
          <p:nvPr>
            <p:extLst>
              <p:ext uri="{D42A27DB-BD31-4B8C-83A1-F6EECF244321}">
                <p14:modId xmlns:p14="http://schemas.microsoft.com/office/powerpoint/2010/main" val="306654257"/>
              </p:ext>
            </p:extLst>
          </p:nvPr>
        </p:nvGraphicFramePr>
        <p:xfrm>
          <a:off x="1039311" y="2081975"/>
          <a:ext cx="9988549" cy="4190995"/>
        </p:xfrm>
        <a:graphic>
          <a:graphicData uri="http://schemas.openxmlformats.org/drawingml/2006/table">
            <a:tbl>
              <a:tblPr firstRow="1" bandRow="1">
                <a:tableStyleId>{2D5ABB26-0587-4C30-8999-92F81FD0307C}</a:tableStyleId>
              </a:tblPr>
              <a:tblGrid>
                <a:gridCol w="849630">
                  <a:extLst>
                    <a:ext uri="{9D8B030D-6E8A-4147-A177-3AD203B41FA5}">
                      <a16:colId xmlns:a16="http://schemas.microsoft.com/office/drawing/2014/main" val="20000"/>
                    </a:ext>
                  </a:extLst>
                </a:gridCol>
                <a:gridCol w="3984625">
                  <a:extLst>
                    <a:ext uri="{9D8B030D-6E8A-4147-A177-3AD203B41FA5}">
                      <a16:colId xmlns:a16="http://schemas.microsoft.com/office/drawing/2014/main" val="20001"/>
                    </a:ext>
                  </a:extLst>
                </a:gridCol>
                <a:gridCol w="930910">
                  <a:extLst>
                    <a:ext uri="{9D8B030D-6E8A-4147-A177-3AD203B41FA5}">
                      <a16:colId xmlns:a16="http://schemas.microsoft.com/office/drawing/2014/main" val="20002"/>
                    </a:ext>
                  </a:extLst>
                </a:gridCol>
                <a:gridCol w="951230">
                  <a:extLst>
                    <a:ext uri="{9D8B030D-6E8A-4147-A177-3AD203B41FA5}">
                      <a16:colId xmlns:a16="http://schemas.microsoft.com/office/drawing/2014/main" val="20003"/>
                    </a:ext>
                  </a:extLst>
                </a:gridCol>
                <a:gridCol w="1012190">
                  <a:extLst>
                    <a:ext uri="{9D8B030D-6E8A-4147-A177-3AD203B41FA5}">
                      <a16:colId xmlns:a16="http://schemas.microsoft.com/office/drawing/2014/main" val="20004"/>
                    </a:ext>
                  </a:extLst>
                </a:gridCol>
                <a:gridCol w="2259964">
                  <a:extLst>
                    <a:ext uri="{9D8B030D-6E8A-4147-A177-3AD203B41FA5}">
                      <a16:colId xmlns:a16="http://schemas.microsoft.com/office/drawing/2014/main" val="20005"/>
                    </a:ext>
                  </a:extLst>
                </a:gridCol>
              </a:tblGrid>
              <a:tr h="365759">
                <a:tc rowSpan="2">
                  <a:txBody>
                    <a:bodyPr/>
                    <a:lstStyle/>
                    <a:p>
                      <a:pPr marL="170180">
                        <a:lnSpc>
                          <a:spcPct val="100000"/>
                        </a:lnSpc>
                        <a:spcBef>
                          <a:spcPts val="1580"/>
                        </a:spcBef>
                      </a:pPr>
                      <a:r>
                        <a:rPr sz="2000" dirty="0">
                          <a:solidFill>
                            <a:srgbClr val="0033CC"/>
                          </a:solidFill>
                          <a:latin typeface="微软雅黑" panose="020B0503020204020204" pitchFamily="34" charset="-122"/>
                          <a:cs typeface="微软雅黑" panose="020B0503020204020204" pitchFamily="34" charset="-122"/>
                        </a:rPr>
                        <a:t>序号</a:t>
                      </a:r>
                      <a:endParaRPr sz="2000">
                        <a:latin typeface="微软雅黑" panose="020B0503020204020204" pitchFamily="34" charset="-122"/>
                        <a:cs typeface="微软雅黑" panose="020B0503020204020204" pitchFamily="34" charset="-122"/>
                      </a:endParaRPr>
                    </a:p>
                  </a:txBody>
                  <a:tcPr marL="0" marR="0" marT="200660" marB="0">
                    <a:lnR w="12700">
                      <a:solidFill>
                        <a:srgbClr val="000000"/>
                      </a:solidFill>
                      <a:prstDash val="solid"/>
                    </a:lnR>
                    <a:lnT w="28575">
                      <a:solidFill>
                        <a:srgbClr val="000000"/>
                      </a:solidFill>
                      <a:prstDash val="solid"/>
                    </a:lnT>
                    <a:lnB w="28575">
                      <a:solidFill>
                        <a:srgbClr val="000000"/>
                      </a:solidFill>
                      <a:prstDash val="solid"/>
                    </a:lnB>
                  </a:tcPr>
                </a:tc>
                <a:tc rowSpan="2">
                  <a:txBody>
                    <a:bodyPr/>
                    <a:lstStyle/>
                    <a:p>
                      <a:pPr marL="1229995">
                        <a:lnSpc>
                          <a:spcPct val="100000"/>
                        </a:lnSpc>
                        <a:spcBef>
                          <a:spcPts val="1580"/>
                        </a:spcBef>
                      </a:pPr>
                      <a:r>
                        <a:rPr sz="2000" dirty="0">
                          <a:solidFill>
                            <a:srgbClr val="0033CC"/>
                          </a:solidFill>
                          <a:latin typeface="微软雅黑" panose="020B0503020204020204" pitchFamily="34" charset="-122"/>
                          <a:cs typeface="微软雅黑" panose="020B0503020204020204" pitchFamily="34" charset="-122"/>
                        </a:rPr>
                        <a:t>测试用例描述</a:t>
                      </a:r>
                      <a:endParaRPr sz="2000">
                        <a:latin typeface="微软雅黑" panose="020B0503020204020204" pitchFamily="34" charset="-122"/>
                        <a:cs typeface="微软雅黑" panose="020B0503020204020204" pitchFamily="34" charset="-122"/>
                      </a:endParaRPr>
                    </a:p>
                  </a:txBody>
                  <a:tcPr marL="0" marR="0" marT="20066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gridSpan="3">
                  <a:txBody>
                    <a:bodyPr/>
                    <a:lstStyle/>
                    <a:p>
                      <a:pPr marL="937895">
                        <a:lnSpc>
                          <a:spcPct val="100000"/>
                        </a:lnSpc>
                        <a:spcBef>
                          <a:spcPts val="140"/>
                        </a:spcBef>
                      </a:pPr>
                      <a:r>
                        <a:rPr sz="2000" dirty="0">
                          <a:solidFill>
                            <a:srgbClr val="0033CC"/>
                          </a:solidFill>
                          <a:latin typeface="微软雅黑" panose="020B0503020204020204" pitchFamily="34" charset="-122"/>
                          <a:cs typeface="微软雅黑" panose="020B0503020204020204" pitchFamily="34" charset="-122"/>
                        </a:rPr>
                        <a:t>输入参数</a:t>
                      </a:r>
                      <a:endParaRPr sz="2000">
                        <a:latin typeface="微软雅黑" panose="020B0503020204020204" pitchFamily="34" charset="-122"/>
                        <a:cs typeface="微软雅黑" panose="020B0503020204020204" pitchFamily="34" charset="-122"/>
                      </a:endParaRPr>
                    </a:p>
                  </a:txBody>
                  <a:tcPr marL="0" marR="0" marT="17780"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hMerge="1">
                  <a:txBody>
                    <a:bodyPr/>
                    <a:lstStyle/>
                    <a:p>
                      <a:endParaRPr lang="zh-CN"/>
                    </a:p>
                  </a:txBody>
                  <a:tcPr marL="0" marR="0" marT="0" marB="0"/>
                </a:tc>
                <a:tc hMerge="1">
                  <a:txBody>
                    <a:bodyPr/>
                    <a:lstStyle/>
                    <a:p>
                      <a:endParaRPr lang="zh-CN"/>
                    </a:p>
                  </a:txBody>
                  <a:tcPr marL="0" marR="0" marT="0" marB="0"/>
                </a:tc>
                <a:tc rowSpan="2">
                  <a:txBody>
                    <a:bodyPr/>
                    <a:lstStyle/>
                    <a:p>
                      <a:pPr marL="621030">
                        <a:lnSpc>
                          <a:spcPct val="100000"/>
                        </a:lnSpc>
                        <a:spcBef>
                          <a:spcPts val="1580"/>
                        </a:spcBef>
                      </a:pPr>
                      <a:r>
                        <a:rPr sz="2000" dirty="0">
                          <a:solidFill>
                            <a:srgbClr val="0033CC"/>
                          </a:solidFill>
                          <a:latin typeface="微软雅黑" panose="020B0503020204020204" pitchFamily="34" charset="-122"/>
                          <a:cs typeface="微软雅黑" panose="020B0503020204020204" pitchFamily="34" charset="-122"/>
                        </a:rPr>
                        <a:t>期望输出</a:t>
                      </a:r>
                      <a:endParaRPr sz="2000">
                        <a:latin typeface="微软雅黑" panose="020B0503020204020204" pitchFamily="34" charset="-122"/>
                        <a:cs typeface="微软雅黑" panose="020B0503020204020204" pitchFamily="34" charset="-122"/>
                      </a:endParaRPr>
                    </a:p>
                  </a:txBody>
                  <a:tcPr marL="0" marR="0" marT="200660" marB="0">
                    <a:lnL w="12700">
                      <a:solidFill>
                        <a:srgbClr val="000000"/>
                      </a:solidFill>
                      <a:prstDash val="solid"/>
                    </a:lnL>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r h="365760">
                <a:tc vMerge="1">
                  <a:txBody>
                    <a:bodyPr/>
                    <a:lstStyle/>
                    <a:p>
                      <a:endParaRPr lang="zh-CN"/>
                    </a:p>
                  </a:txBody>
                  <a:tcPr marL="0" marR="0" marT="200660" marB="0">
                    <a:lnR w="12700">
                      <a:solidFill>
                        <a:srgbClr val="000000"/>
                      </a:solidFill>
                      <a:prstDash val="solid"/>
                    </a:lnR>
                    <a:lnT w="28575">
                      <a:solidFill>
                        <a:srgbClr val="000000"/>
                      </a:solidFill>
                      <a:prstDash val="solid"/>
                    </a:lnT>
                    <a:lnB w="28575">
                      <a:solidFill>
                        <a:srgbClr val="000000"/>
                      </a:solidFill>
                      <a:prstDash val="solid"/>
                    </a:lnB>
                  </a:tcPr>
                </a:tc>
                <a:tc vMerge="1">
                  <a:txBody>
                    <a:bodyPr/>
                    <a:lstStyle/>
                    <a:p>
                      <a:endParaRPr lang="zh-CN"/>
                    </a:p>
                  </a:txBody>
                  <a:tcPr marL="0" marR="0" marT="20066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algn="ctr">
                        <a:lnSpc>
                          <a:spcPct val="100000"/>
                        </a:lnSpc>
                        <a:spcBef>
                          <a:spcPts val="140"/>
                        </a:spcBef>
                      </a:pPr>
                      <a:r>
                        <a:rPr sz="2000" dirty="0">
                          <a:solidFill>
                            <a:srgbClr val="0033CC"/>
                          </a:solidFill>
                          <a:latin typeface="Arial" panose="020B0604020202020204"/>
                          <a:cs typeface="Arial" panose="020B0604020202020204"/>
                        </a:rPr>
                        <a:t>a</a:t>
                      </a:r>
                      <a:endParaRPr sz="2000">
                        <a:latin typeface="Arial" panose="020B0604020202020204"/>
                        <a:cs typeface="Arial" panose="020B0604020202020204"/>
                      </a:endParaRPr>
                    </a:p>
                  </a:txBody>
                  <a:tcPr marL="0" marR="0" marT="1778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gn="ctr">
                        <a:lnSpc>
                          <a:spcPct val="100000"/>
                        </a:lnSpc>
                        <a:spcBef>
                          <a:spcPts val="140"/>
                        </a:spcBef>
                      </a:pPr>
                      <a:r>
                        <a:rPr sz="2000" dirty="0">
                          <a:solidFill>
                            <a:srgbClr val="0033CC"/>
                          </a:solidFill>
                          <a:latin typeface="Arial" panose="020B0604020202020204"/>
                          <a:cs typeface="Arial" panose="020B0604020202020204"/>
                        </a:rPr>
                        <a:t>b</a:t>
                      </a:r>
                      <a:endParaRPr sz="2000">
                        <a:latin typeface="Arial" panose="020B0604020202020204"/>
                        <a:cs typeface="Arial" panose="020B0604020202020204"/>
                      </a:endParaRPr>
                    </a:p>
                  </a:txBody>
                  <a:tcPr marL="0" marR="0" marT="1778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gn="ctr">
                        <a:lnSpc>
                          <a:spcPct val="100000"/>
                        </a:lnSpc>
                        <a:spcBef>
                          <a:spcPts val="140"/>
                        </a:spcBef>
                      </a:pPr>
                      <a:r>
                        <a:rPr sz="2000" dirty="0">
                          <a:solidFill>
                            <a:srgbClr val="0033CC"/>
                          </a:solidFill>
                          <a:latin typeface="Arial" panose="020B0604020202020204"/>
                          <a:cs typeface="Arial" panose="020B0604020202020204"/>
                        </a:rPr>
                        <a:t>c</a:t>
                      </a:r>
                      <a:endParaRPr sz="2000">
                        <a:latin typeface="Arial" panose="020B0604020202020204"/>
                        <a:cs typeface="Arial" panose="020B0604020202020204"/>
                      </a:endParaRPr>
                    </a:p>
                  </a:txBody>
                  <a:tcPr marL="0" marR="0" marT="1778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vMerge="1">
                  <a:txBody>
                    <a:bodyPr/>
                    <a:lstStyle/>
                    <a:p>
                      <a:endParaRPr lang="zh-CN"/>
                    </a:p>
                  </a:txBody>
                  <a:tcPr marL="0" marR="0" marT="200660" marB="0">
                    <a:lnL w="12700">
                      <a:solidFill>
                        <a:srgbClr val="000000"/>
                      </a:solidFill>
                      <a:prstDash val="solid"/>
                    </a:lnL>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1"/>
                  </a:ext>
                </a:extLst>
              </a:tr>
              <a:tr h="952499">
                <a:tc>
                  <a:txBody>
                    <a:bodyPr/>
                    <a:lstStyle/>
                    <a:p>
                      <a:pPr>
                        <a:lnSpc>
                          <a:spcPct val="100000"/>
                        </a:lnSpc>
                        <a:spcBef>
                          <a:spcPts val="35"/>
                        </a:spcBef>
                      </a:pPr>
                      <a:endParaRPr sz="2100">
                        <a:latin typeface="Times New Roman" panose="02020603050405020304"/>
                        <a:cs typeface="Times New Roman" panose="02020603050405020304"/>
                      </a:endParaRPr>
                    </a:p>
                    <a:p>
                      <a:pPr algn="ctr">
                        <a:lnSpc>
                          <a:spcPct val="100000"/>
                        </a:lnSpc>
                      </a:pPr>
                      <a:r>
                        <a:rPr sz="2000" dirty="0">
                          <a:latin typeface="Arial" panose="020B0604020202020204"/>
                          <a:cs typeface="Arial" panose="020B0604020202020204"/>
                        </a:rPr>
                        <a:t>1</a:t>
                      </a:r>
                      <a:endParaRPr sz="2000">
                        <a:latin typeface="Arial" panose="020B0604020202020204"/>
                        <a:cs typeface="Arial" panose="020B0604020202020204"/>
                      </a:endParaRPr>
                    </a:p>
                  </a:txBody>
                  <a:tcPr marL="0" marR="0" marT="4445" marB="0">
                    <a:lnR w="12700">
                      <a:solidFill>
                        <a:srgbClr val="000000"/>
                      </a:solidFill>
                      <a:prstDash val="solid"/>
                    </a:lnR>
                    <a:lnT w="28575">
                      <a:solidFill>
                        <a:srgbClr val="000000"/>
                      </a:solidFill>
                      <a:prstDash val="solid"/>
                    </a:lnT>
                    <a:lnB w="9525">
                      <a:solidFill>
                        <a:srgbClr val="000000"/>
                      </a:solidFill>
                      <a:prstDash val="solid"/>
                    </a:lnB>
                  </a:tcPr>
                </a:tc>
                <a:tc>
                  <a:txBody>
                    <a:bodyPr/>
                    <a:lstStyle/>
                    <a:p>
                      <a:pPr marL="678815" marR="671195" indent="-635" algn="ctr">
                        <a:lnSpc>
                          <a:spcPct val="90000"/>
                        </a:lnSpc>
                        <a:spcBef>
                          <a:spcPts val="540"/>
                        </a:spcBef>
                      </a:pPr>
                      <a:r>
                        <a:rPr sz="2000" spc="-5" dirty="0">
                          <a:latin typeface="Arial" panose="020B0604020202020204"/>
                          <a:cs typeface="Arial" panose="020B0604020202020204"/>
                        </a:rPr>
                        <a:t>a&gt;0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c&gt;0  </a:t>
                      </a:r>
                      <a:r>
                        <a:rPr sz="2000" dirty="0">
                          <a:latin typeface="Arial" panose="020B0604020202020204"/>
                          <a:cs typeface="Arial" panose="020B0604020202020204"/>
                        </a:rPr>
                        <a:t>a+</a:t>
                      </a:r>
                      <a:r>
                        <a:rPr sz="2000" spc="-5" dirty="0">
                          <a:latin typeface="Arial" panose="020B0604020202020204"/>
                          <a:cs typeface="Arial" panose="020B0604020202020204"/>
                        </a:rPr>
                        <a:t>b</a:t>
                      </a:r>
                      <a:r>
                        <a:rPr sz="2000" dirty="0">
                          <a:latin typeface="Arial" panose="020B0604020202020204"/>
                          <a:cs typeface="Arial" panose="020B0604020202020204"/>
                        </a:rPr>
                        <a:t>&gt;c</a:t>
                      </a:r>
                      <a:r>
                        <a:rPr sz="2000" dirty="0">
                          <a:latin typeface="微软雅黑" panose="020B0503020204020204" pitchFamily="34" charset="-122"/>
                          <a:cs typeface="微软雅黑" panose="020B0503020204020204" pitchFamily="34" charset="-122"/>
                        </a:rPr>
                        <a:t>，</a:t>
                      </a:r>
                      <a:r>
                        <a:rPr sz="2000" dirty="0">
                          <a:latin typeface="Arial" panose="020B0604020202020204"/>
                          <a:cs typeface="Arial" panose="020B0604020202020204"/>
                        </a:rPr>
                        <a:t>b+</a:t>
                      </a:r>
                      <a:r>
                        <a:rPr sz="2000" spc="-5" dirty="0">
                          <a:latin typeface="Arial" panose="020B0604020202020204"/>
                          <a:cs typeface="Arial" panose="020B0604020202020204"/>
                        </a:rPr>
                        <a:t>c</a:t>
                      </a:r>
                      <a:r>
                        <a:rPr sz="2000" dirty="0">
                          <a:latin typeface="Arial" panose="020B0604020202020204"/>
                          <a:cs typeface="Arial" panose="020B0604020202020204"/>
                        </a:rPr>
                        <a:t>&gt;a</a:t>
                      </a:r>
                      <a:r>
                        <a:rPr sz="2000" dirty="0">
                          <a:latin typeface="微软雅黑" panose="020B0503020204020204" pitchFamily="34" charset="-122"/>
                          <a:cs typeface="微软雅黑" panose="020B0503020204020204" pitchFamily="34" charset="-122"/>
                        </a:rPr>
                        <a:t>，</a:t>
                      </a:r>
                      <a:r>
                        <a:rPr sz="2000" dirty="0">
                          <a:latin typeface="Arial" panose="020B0604020202020204"/>
                          <a:cs typeface="Arial" panose="020B0604020202020204"/>
                        </a:rPr>
                        <a:t>a+</a:t>
                      </a:r>
                      <a:r>
                        <a:rPr sz="2000" spc="-5" dirty="0">
                          <a:latin typeface="Arial" panose="020B0604020202020204"/>
                          <a:cs typeface="Arial" panose="020B0604020202020204"/>
                        </a:rPr>
                        <a:t>c</a:t>
                      </a:r>
                      <a:r>
                        <a:rPr sz="2000" dirty="0">
                          <a:latin typeface="Arial" panose="020B0604020202020204"/>
                          <a:cs typeface="Arial" panose="020B0604020202020204"/>
                        </a:rPr>
                        <a:t>&gt;b  a=b=c</a:t>
                      </a:r>
                    </a:p>
                  </a:txBody>
                  <a:tcPr marL="0" marR="0" marT="68580"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a:lnSpc>
                          <a:spcPct val="100000"/>
                        </a:lnSpc>
                        <a:spcBef>
                          <a:spcPts val="35"/>
                        </a:spcBef>
                      </a:pPr>
                      <a:endParaRPr sz="2100" dirty="0">
                        <a:latin typeface="Times New Roman" panose="02020603050405020304"/>
                        <a:cs typeface="Times New Roman" panose="02020603050405020304"/>
                      </a:endParaRPr>
                    </a:p>
                    <a:p>
                      <a:pPr algn="ctr">
                        <a:lnSpc>
                          <a:spcPct val="100000"/>
                        </a:lnSpc>
                      </a:pPr>
                      <a:r>
                        <a:rPr lang="en-US" altLang="zh-CN" sz="2000" dirty="0">
                          <a:latin typeface="Arial" panose="020B0604020202020204"/>
                          <a:cs typeface="Arial" panose="020B0604020202020204"/>
                        </a:rPr>
                        <a:t>60</a:t>
                      </a:r>
                      <a:endParaRPr sz="2000" dirty="0">
                        <a:latin typeface="Arial" panose="020B0604020202020204"/>
                        <a:cs typeface="Arial" panose="020B0604020202020204"/>
                      </a:endParaRPr>
                    </a:p>
                  </a:txBody>
                  <a:tcPr marL="0" marR="0" marT="4445"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a:lnSpc>
                          <a:spcPct val="100000"/>
                        </a:lnSpc>
                        <a:spcBef>
                          <a:spcPts val="35"/>
                        </a:spcBef>
                      </a:pPr>
                      <a:endParaRPr sz="2100" dirty="0">
                        <a:latin typeface="Times New Roman" panose="02020603050405020304"/>
                        <a:cs typeface="Times New Roman" panose="02020603050405020304"/>
                      </a:endParaRPr>
                    </a:p>
                    <a:p>
                      <a:pPr algn="ctr">
                        <a:lnSpc>
                          <a:spcPct val="100000"/>
                        </a:lnSpc>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4445"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a:lnSpc>
                          <a:spcPct val="100000"/>
                        </a:lnSpc>
                        <a:spcBef>
                          <a:spcPts val="35"/>
                        </a:spcBef>
                      </a:pPr>
                      <a:endParaRPr sz="2100" dirty="0">
                        <a:latin typeface="Times New Roman" panose="02020603050405020304"/>
                        <a:cs typeface="Times New Roman" panose="02020603050405020304"/>
                      </a:endParaRPr>
                    </a:p>
                    <a:p>
                      <a:pPr algn="ctr">
                        <a:lnSpc>
                          <a:spcPct val="100000"/>
                        </a:lnSpc>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4445"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a:lnSpc>
                          <a:spcPct val="100000"/>
                        </a:lnSpc>
                        <a:spcBef>
                          <a:spcPts val="35"/>
                        </a:spcBef>
                      </a:pPr>
                      <a:endParaRPr sz="2100">
                        <a:latin typeface="Times New Roman" panose="02020603050405020304"/>
                        <a:cs typeface="Times New Roman" panose="02020603050405020304"/>
                      </a:endParaRPr>
                    </a:p>
                    <a:p>
                      <a:pPr algn="ctr">
                        <a:lnSpc>
                          <a:spcPct val="100000"/>
                        </a:lnSpc>
                      </a:pPr>
                      <a:r>
                        <a:rPr sz="2000" dirty="0">
                          <a:latin typeface="微软雅黑" panose="020B0503020204020204" pitchFamily="34" charset="-122"/>
                          <a:cs typeface="微软雅黑" panose="020B0503020204020204" pitchFamily="34" charset="-122"/>
                        </a:rPr>
                        <a:t>等边三角形</a:t>
                      </a:r>
                      <a:endParaRPr sz="2000">
                        <a:latin typeface="微软雅黑" panose="020B0503020204020204" pitchFamily="34" charset="-122"/>
                        <a:cs typeface="微软雅黑" panose="020B0503020204020204" pitchFamily="34" charset="-122"/>
                      </a:endParaRPr>
                    </a:p>
                  </a:txBody>
                  <a:tcPr marL="0" marR="0" marT="4445" marB="0">
                    <a:lnL w="12700">
                      <a:solidFill>
                        <a:srgbClr val="000000"/>
                      </a:solidFill>
                      <a:prstDash val="solid"/>
                    </a:lnL>
                    <a:lnT w="28575">
                      <a:solidFill>
                        <a:srgbClr val="000000"/>
                      </a:solidFill>
                      <a:prstDash val="solid"/>
                    </a:lnT>
                    <a:lnB w="9525">
                      <a:solidFill>
                        <a:srgbClr val="000000"/>
                      </a:solidFill>
                      <a:prstDash val="solid"/>
                    </a:lnB>
                  </a:tcPr>
                </a:tc>
                <a:extLst>
                  <a:ext uri="{0D108BD9-81ED-4DB2-BD59-A6C34878D82A}">
                    <a16:rowId xmlns:a16="http://schemas.microsoft.com/office/drawing/2014/main" val="10002"/>
                  </a:ext>
                </a:extLst>
              </a:tr>
              <a:tr h="914399">
                <a:tc>
                  <a:txBody>
                    <a:bodyPr/>
                    <a:lstStyle/>
                    <a:p>
                      <a:pPr>
                        <a:lnSpc>
                          <a:spcPct val="100000"/>
                        </a:lnSpc>
                      </a:pPr>
                      <a:endParaRPr sz="2000">
                        <a:latin typeface="Times New Roman" panose="02020603050405020304"/>
                        <a:cs typeface="Times New Roman" panose="02020603050405020304"/>
                      </a:endParaRPr>
                    </a:p>
                    <a:p>
                      <a:pPr algn="ctr">
                        <a:lnSpc>
                          <a:spcPct val="100000"/>
                        </a:lnSpc>
                      </a:pPr>
                      <a:r>
                        <a:rPr sz="2000" dirty="0">
                          <a:latin typeface="Arial" panose="020B0604020202020204"/>
                          <a:cs typeface="Arial" panose="020B0604020202020204"/>
                        </a:rPr>
                        <a:t>2</a:t>
                      </a:r>
                      <a:endParaRPr sz="2000">
                        <a:latin typeface="Arial" panose="020B0604020202020204"/>
                        <a:cs typeface="Arial" panose="020B0604020202020204"/>
                      </a:endParaRPr>
                    </a:p>
                  </a:txBody>
                  <a:tcPr marL="0" marR="0" marT="0" marB="0">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L="546100" marR="538480" algn="ctr">
                        <a:lnSpc>
                          <a:spcPct val="90000"/>
                        </a:lnSpc>
                        <a:spcBef>
                          <a:spcPts val="390"/>
                        </a:spcBef>
                      </a:pPr>
                      <a:r>
                        <a:rPr sz="2000" spc="-5" dirty="0">
                          <a:latin typeface="Arial" panose="020B0604020202020204"/>
                          <a:cs typeface="Arial" panose="020B0604020202020204"/>
                        </a:rPr>
                        <a:t>a&gt;0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c&gt;0  a+b&gt;c</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b+c&gt;a</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a+c&gt;b  a=b≠c </a:t>
                      </a:r>
                      <a:r>
                        <a:rPr sz="2000" dirty="0">
                          <a:latin typeface="微软雅黑" panose="020B0503020204020204" pitchFamily="34" charset="-122"/>
                          <a:cs typeface="微软雅黑" panose="020B0503020204020204" pitchFamily="34" charset="-122"/>
                        </a:rPr>
                        <a:t>或 </a:t>
                      </a:r>
                      <a:r>
                        <a:rPr sz="2000" spc="-5" dirty="0">
                          <a:latin typeface="Arial" panose="020B0604020202020204"/>
                          <a:cs typeface="Arial" panose="020B0604020202020204"/>
                        </a:rPr>
                        <a:t>b=c≠a </a:t>
                      </a:r>
                      <a:r>
                        <a:rPr sz="2000" dirty="0">
                          <a:latin typeface="微软雅黑" panose="020B0503020204020204" pitchFamily="34" charset="-122"/>
                          <a:cs typeface="微软雅黑" panose="020B0503020204020204" pitchFamily="34" charset="-122"/>
                        </a:rPr>
                        <a:t>或</a:t>
                      </a:r>
                      <a:r>
                        <a:rPr sz="2000" spc="-45" dirty="0">
                          <a:latin typeface="微软雅黑" panose="020B0503020204020204" pitchFamily="34" charset="-122"/>
                          <a:cs typeface="微软雅黑" panose="020B0503020204020204" pitchFamily="34" charset="-122"/>
                        </a:rPr>
                        <a:t> </a:t>
                      </a:r>
                      <a:r>
                        <a:rPr sz="2000" spc="-5" dirty="0">
                          <a:latin typeface="Arial" panose="020B0604020202020204"/>
                          <a:cs typeface="Arial" panose="020B0604020202020204"/>
                        </a:rPr>
                        <a:t>a=c≠b</a:t>
                      </a:r>
                      <a:endParaRPr sz="2000">
                        <a:latin typeface="Arial" panose="020B0604020202020204"/>
                        <a:cs typeface="Arial" panose="020B0604020202020204"/>
                      </a:endParaRPr>
                    </a:p>
                  </a:txBody>
                  <a:tcPr marL="0" marR="0" marT="4953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2000" dirty="0">
                        <a:latin typeface="Times New Roman" panose="02020603050405020304"/>
                        <a:cs typeface="Times New Roman" panose="02020603050405020304"/>
                      </a:endParaRPr>
                    </a:p>
                    <a:p>
                      <a:pPr algn="ctr">
                        <a:lnSpc>
                          <a:spcPct val="100000"/>
                        </a:lnSpc>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2000" dirty="0">
                        <a:latin typeface="Times New Roman" panose="02020603050405020304"/>
                        <a:cs typeface="Times New Roman" panose="02020603050405020304"/>
                      </a:endParaRPr>
                    </a:p>
                    <a:p>
                      <a:pPr algn="ctr">
                        <a:lnSpc>
                          <a:spcPct val="100000"/>
                        </a:lnSpc>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2000" dirty="0">
                        <a:latin typeface="Times New Roman" panose="02020603050405020304"/>
                        <a:cs typeface="Times New Roman" panose="02020603050405020304"/>
                      </a:endParaRPr>
                    </a:p>
                    <a:p>
                      <a:pPr algn="ctr">
                        <a:lnSpc>
                          <a:spcPct val="100000"/>
                        </a:lnSpc>
                      </a:pPr>
                      <a:r>
                        <a:rPr sz="2000" dirty="0">
                          <a:latin typeface="Arial" panose="020B0604020202020204"/>
                          <a:cs typeface="Arial" panose="020B0604020202020204"/>
                        </a:rPr>
                        <a:t>5</a:t>
                      </a:r>
                      <a:r>
                        <a:rPr lang="en-US" altLang="zh-CN" sz="2000" dirty="0">
                          <a:latin typeface="Arial" panose="020B0604020202020204"/>
                          <a:cs typeface="Arial" panose="020B0604020202020204"/>
                        </a:rPr>
                        <a:t>0</a:t>
                      </a:r>
                      <a:endParaRPr sz="2000" dirty="0">
                        <a:latin typeface="Arial" panose="020B0604020202020204"/>
                        <a:cs typeface="Arial" panose="020B0604020202020204"/>
                      </a:endParaRPr>
                    </a:p>
                  </a:txBody>
                  <a:tcPr marL="0" marR="0" marT="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2300"/>
                        </a:spcBef>
                      </a:pPr>
                      <a:r>
                        <a:rPr sz="2000" dirty="0">
                          <a:latin typeface="微软雅黑" panose="020B0503020204020204" pitchFamily="34" charset="-122"/>
                          <a:cs typeface="微软雅黑" panose="020B0503020204020204" pitchFamily="34" charset="-122"/>
                        </a:rPr>
                        <a:t>等腰三角形</a:t>
                      </a:r>
                      <a:endParaRPr sz="2000">
                        <a:latin typeface="微软雅黑" panose="020B0503020204020204" pitchFamily="34" charset="-122"/>
                        <a:cs typeface="微软雅黑" panose="020B0503020204020204" pitchFamily="34" charset="-122"/>
                      </a:endParaRPr>
                    </a:p>
                  </a:txBody>
                  <a:tcPr marL="0" marR="0" marT="292100" marB="0">
                    <a:lnL w="12700">
                      <a:solidFill>
                        <a:srgbClr val="000000"/>
                      </a:solidFill>
                      <a:prstDash val="solid"/>
                    </a:lnL>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3"/>
                  </a:ext>
                </a:extLst>
              </a:tr>
              <a:tr h="952499">
                <a:tc>
                  <a:txBody>
                    <a:bodyPr/>
                    <a:lstStyle/>
                    <a:p>
                      <a:pPr>
                        <a:lnSpc>
                          <a:spcPct val="100000"/>
                        </a:lnSpc>
                        <a:spcBef>
                          <a:spcPts val="35"/>
                        </a:spcBef>
                      </a:pPr>
                      <a:endParaRPr sz="2100">
                        <a:latin typeface="Times New Roman" panose="02020603050405020304"/>
                        <a:cs typeface="Times New Roman" panose="02020603050405020304"/>
                      </a:endParaRPr>
                    </a:p>
                    <a:p>
                      <a:pPr algn="ctr">
                        <a:lnSpc>
                          <a:spcPct val="100000"/>
                        </a:lnSpc>
                      </a:pPr>
                      <a:r>
                        <a:rPr sz="2000" dirty="0">
                          <a:latin typeface="Arial" panose="020B0604020202020204"/>
                          <a:cs typeface="Arial" panose="020B0604020202020204"/>
                        </a:rPr>
                        <a:t>3</a:t>
                      </a:r>
                      <a:endParaRPr sz="2000">
                        <a:latin typeface="Arial" panose="020B0604020202020204"/>
                        <a:cs typeface="Arial" panose="020B0604020202020204"/>
                      </a:endParaRPr>
                    </a:p>
                  </a:txBody>
                  <a:tcPr marL="0" marR="0" marT="4445" marB="0">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L="678815" marR="671195" indent="-635" algn="ctr">
                        <a:lnSpc>
                          <a:spcPct val="90000"/>
                        </a:lnSpc>
                        <a:spcBef>
                          <a:spcPts val="540"/>
                        </a:spcBef>
                      </a:pPr>
                      <a:r>
                        <a:rPr sz="2000" spc="-5" dirty="0">
                          <a:latin typeface="Arial" panose="020B0604020202020204"/>
                          <a:cs typeface="Arial" panose="020B0604020202020204"/>
                        </a:rPr>
                        <a:t>a&gt;0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c&gt;0  </a:t>
                      </a:r>
                      <a:r>
                        <a:rPr sz="2000" dirty="0">
                          <a:latin typeface="Arial" panose="020B0604020202020204"/>
                          <a:cs typeface="Arial" panose="020B0604020202020204"/>
                        </a:rPr>
                        <a:t>a+</a:t>
                      </a:r>
                      <a:r>
                        <a:rPr sz="2000" spc="-5" dirty="0">
                          <a:latin typeface="Arial" panose="020B0604020202020204"/>
                          <a:cs typeface="Arial" panose="020B0604020202020204"/>
                        </a:rPr>
                        <a:t>b</a:t>
                      </a:r>
                      <a:r>
                        <a:rPr sz="2000" dirty="0">
                          <a:latin typeface="Arial" panose="020B0604020202020204"/>
                          <a:cs typeface="Arial" panose="020B0604020202020204"/>
                        </a:rPr>
                        <a:t>&gt;c</a:t>
                      </a:r>
                      <a:r>
                        <a:rPr sz="2000" dirty="0">
                          <a:latin typeface="微软雅黑" panose="020B0503020204020204" pitchFamily="34" charset="-122"/>
                          <a:cs typeface="微软雅黑" panose="020B0503020204020204" pitchFamily="34" charset="-122"/>
                        </a:rPr>
                        <a:t>，</a:t>
                      </a:r>
                      <a:r>
                        <a:rPr sz="2000" dirty="0">
                          <a:latin typeface="Arial" panose="020B0604020202020204"/>
                          <a:cs typeface="Arial" panose="020B0604020202020204"/>
                        </a:rPr>
                        <a:t>b+</a:t>
                      </a:r>
                      <a:r>
                        <a:rPr sz="2000" spc="-5" dirty="0">
                          <a:latin typeface="Arial" panose="020B0604020202020204"/>
                          <a:cs typeface="Arial" panose="020B0604020202020204"/>
                        </a:rPr>
                        <a:t>c</a:t>
                      </a:r>
                      <a:r>
                        <a:rPr sz="2000" dirty="0">
                          <a:latin typeface="Arial" panose="020B0604020202020204"/>
                          <a:cs typeface="Arial" panose="020B0604020202020204"/>
                        </a:rPr>
                        <a:t>&gt;a</a:t>
                      </a:r>
                      <a:r>
                        <a:rPr sz="2000" dirty="0">
                          <a:latin typeface="微软雅黑" panose="020B0503020204020204" pitchFamily="34" charset="-122"/>
                          <a:cs typeface="微软雅黑" panose="020B0503020204020204" pitchFamily="34" charset="-122"/>
                        </a:rPr>
                        <a:t>，</a:t>
                      </a:r>
                      <a:r>
                        <a:rPr sz="2000" dirty="0">
                          <a:latin typeface="Arial" panose="020B0604020202020204"/>
                          <a:cs typeface="Arial" panose="020B0604020202020204"/>
                        </a:rPr>
                        <a:t>a+</a:t>
                      </a:r>
                      <a:r>
                        <a:rPr sz="2000" spc="-5" dirty="0">
                          <a:latin typeface="Arial" panose="020B0604020202020204"/>
                          <a:cs typeface="Arial" panose="020B0604020202020204"/>
                        </a:rPr>
                        <a:t>c</a:t>
                      </a:r>
                      <a:r>
                        <a:rPr sz="2000" dirty="0">
                          <a:latin typeface="Arial" panose="020B0604020202020204"/>
                          <a:cs typeface="Arial" panose="020B0604020202020204"/>
                        </a:rPr>
                        <a:t>&gt;b  a≠b≠c</a:t>
                      </a:r>
                      <a:endParaRPr sz="2000">
                        <a:latin typeface="Arial" panose="020B0604020202020204"/>
                        <a:cs typeface="Arial" panose="020B0604020202020204"/>
                      </a:endParaRPr>
                    </a:p>
                  </a:txBody>
                  <a:tcPr marL="0" marR="0" marT="6858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spcBef>
                          <a:spcPts val="35"/>
                        </a:spcBef>
                      </a:pPr>
                      <a:endParaRPr sz="2100" dirty="0">
                        <a:latin typeface="Times New Roman" panose="02020603050405020304"/>
                        <a:cs typeface="Times New Roman" panose="02020603050405020304"/>
                      </a:endParaRPr>
                    </a:p>
                    <a:p>
                      <a:pPr algn="ctr">
                        <a:lnSpc>
                          <a:spcPct val="100000"/>
                        </a:lnSpc>
                      </a:pPr>
                      <a:r>
                        <a:rPr sz="2000" dirty="0">
                          <a:latin typeface="Arial" panose="020B0604020202020204"/>
                          <a:cs typeface="Arial" panose="020B0604020202020204"/>
                        </a:rPr>
                        <a:t>3</a:t>
                      </a:r>
                      <a:r>
                        <a:rPr lang="en-US" altLang="zh-CN" sz="2000" dirty="0">
                          <a:latin typeface="Arial" panose="020B0604020202020204"/>
                          <a:cs typeface="Arial" panose="020B0604020202020204"/>
                        </a:rPr>
                        <a:t>0</a:t>
                      </a:r>
                      <a:endParaRPr sz="2000" dirty="0">
                        <a:latin typeface="Arial" panose="020B0604020202020204"/>
                        <a:cs typeface="Arial" panose="020B0604020202020204"/>
                      </a:endParaRPr>
                    </a:p>
                  </a:txBody>
                  <a:tcPr marL="0" marR="0" marT="44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spcBef>
                          <a:spcPts val="35"/>
                        </a:spcBef>
                      </a:pPr>
                      <a:endParaRPr sz="2100" dirty="0">
                        <a:latin typeface="Times New Roman" panose="02020603050405020304"/>
                        <a:cs typeface="Times New Roman" panose="02020603050405020304"/>
                      </a:endParaRPr>
                    </a:p>
                    <a:p>
                      <a:pPr algn="ctr">
                        <a:lnSpc>
                          <a:spcPct val="100000"/>
                        </a:lnSpc>
                      </a:pPr>
                      <a:r>
                        <a:rPr sz="2000" dirty="0">
                          <a:latin typeface="Arial" panose="020B0604020202020204"/>
                          <a:cs typeface="Arial" panose="020B0604020202020204"/>
                        </a:rPr>
                        <a:t>4</a:t>
                      </a:r>
                      <a:r>
                        <a:rPr lang="en-US" altLang="zh-CN" sz="2000" dirty="0">
                          <a:latin typeface="Arial" panose="020B0604020202020204"/>
                          <a:cs typeface="Arial" panose="020B0604020202020204"/>
                        </a:rPr>
                        <a:t>0</a:t>
                      </a:r>
                      <a:endParaRPr sz="2000" dirty="0">
                        <a:latin typeface="Arial" panose="020B0604020202020204"/>
                        <a:cs typeface="Arial" panose="020B0604020202020204"/>
                      </a:endParaRPr>
                    </a:p>
                  </a:txBody>
                  <a:tcPr marL="0" marR="0" marT="44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spcBef>
                          <a:spcPts val="35"/>
                        </a:spcBef>
                      </a:pPr>
                      <a:endParaRPr sz="2100" dirty="0">
                        <a:latin typeface="Times New Roman" panose="02020603050405020304"/>
                        <a:cs typeface="Times New Roman" panose="02020603050405020304"/>
                      </a:endParaRPr>
                    </a:p>
                    <a:p>
                      <a:pPr algn="ctr">
                        <a:lnSpc>
                          <a:spcPct val="100000"/>
                        </a:lnSpc>
                      </a:pPr>
                      <a:r>
                        <a:rPr sz="2000" dirty="0">
                          <a:latin typeface="Arial" panose="020B0604020202020204"/>
                          <a:cs typeface="Arial" panose="020B0604020202020204"/>
                        </a:rPr>
                        <a:t>5</a:t>
                      </a:r>
                      <a:r>
                        <a:rPr lang="en-US" altLang="zh-CN" sz="2000" dirty="0">
                          <a:latin typeface="Arial" panose="020B0604020202020204"/>
                          <a:cs typeface="Arial" panose="020B0604020202020204"/>
                        </a:rPr>
                        <a:t>0</a:t>
                      </a:r>
                      <a:endParaRPr sz="2000" dirty="0">
                        <a:latin typeface="Arial" panose="020B0604020202020204"/>
                        <a:cs typeface="Arial" panose="020B0604020202020204"/>
                      </a:endParaRPr>
                    </a:p>
                  </a:txBody>
                  <a:tcPr marL="0" marR="0" marT="44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spcBef>
                          <a:spcPts val="35"/>
                        </a:spcBef>
                      </a:pPr>
                      <a:endParaRPr sz="2100">
                        <a:latin typeface="Times New Roman" panose="02020603050405020304"/>
                        <a:cs typeface="Times New Roman" panose="02020603050405020304"/>
                      </a:endParaRPr>
                    </a:p>
                    <a:p>
                      <a:pPr algn="ctr">
                        <a:lnSpc>
                          <a:spcPct val="100000"/>
                        </a:lnSpc>
                      </a:pPr>
                      <a:r>
                        <a:rPr sz="2000" dirty="0">
                          <a:latin typeface="微软雅黑" panose="020B0503020204020204" pitchFamily="34" charset="-122"/>
                          <a:cs typeface="微软雅黑" panose="020B0503020204020204" pitchFamily="34" charset="-122"/>
                        </a:rPr>
                        <a:t>一般三角形</a:t>
                      </a:r>
                      <a:endParaRPr sz="2000">
                        <a:latin typeface="微软雅黑" panose="020B0503020204020204" pitchFamily="34" charset="-122"/>
                        <a:cs typeface="微软雅黑" panose="020B0503020204020204" pitchFamily="34" charset="-122"/>
                      </a:endParaRPr>
                    </a:p>
                  </a:txBody>
                  <a:tcPr marL="0" marR="0" marT="4445" marB="0">
                    <a:lnL w="12700">
                      <a:solidFill>
                        <a:srgbClr val="000000"/>
                      </a:solidFill>
                      <a:prstDash val="solid"/>
                    </a:lnL>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4"/>
                  </a:ext>
                </a:extLst>
              </a:tr>
              <a:tr h="640079">
                <a:tc>
                  <a:txBody>
                    <a:bodyPr/>
                    <a:lstStyle/>
                    <a:p>
                      <a:pPr algn="ctr">
                        <a:lnSpc>
                          <a:spcPct val="100000"/>
                        </a:lnSpc>
                        <a:spcBef>
                          <a:spcPts val="1220"/>
                        </a:spcBef>
                      </a:pPr>
                      <a:r>
                        <a:rPr sz="2000" dirty="0">
                          <a:latin typeface="Arial" panose="020B0604020202020204"/>
                          <a:cs typeface="Arial" panose="020B0604020202020204"/>
                        </a:rPr>
                        <a:t>4</a:t>
                      </a:r>
                      <a:endParaRPr sz="2000">
                        <a:latin typeface="Arial" panose="020B0604020202020204"/>
                        <a:cs typeface="Arial" panose="020B0604020202020204"/>
                      </a:endParaRPr>
                    </a:p>
                  </a:txBody>
                  <a:tcPr marL="0" marR="0" marT="154940" marB="0">
                    <a:lnR w="12700">
                      <a:solidFill>
                        <a:srgbClr val="000000"/>
                      </a:solidFill>
                      <a:prstDash val="solid"/>
                    </a:lnR>
                    <a:lnT w="9525">
                      <a:solidFill>
                        <a:srgbClr val="000000"/>
                      </a:solidFill>
                      <a:prstDash val="solid"/>
                    </a:lnT>
                    <a:lnB w="28575">
                      <a:solidFill>
                        <a:srgbClr val="000000"/>
                      </a:solidFill>
                      <a:prstDash val="solid"/>
                    </a:lnB>
                  </a:tcPr>
                </a:tc>
                <a:tc>
                  <a:txBody>
                    <a:bodyPr/>
                    <a:lstStyle/>
                    <a:p>
                      <a:pPr marL="546100" marR="538480" indent="552450">
                        <a:lnSpc>
                          <a:spcPts val="2100"/>
                        </a:lnSpc>
                        <a:spcBef>
                          <a:spcPts val="460"/>
                        </a:spcBef>
                      </a:pPr>
                      <a:r>
                        <a:rPr sz="2000" spc="-5" dirty="0">
                          <a:latin typeface="Arial" panose="020B0604020202020204"/>
                          <a:cs typeface="Arial" panose="020B0604020202020204"/>
                        </a:rPr>
                        <a:t>a&gt;0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c&gt;0  a+b≤c </a:t>
                      </a:r>
                      <a:r>
                        <a:rPr sz="2000" dirty="0">
                          <a:latin typeface="微软雅黑" panose="020B0503020204020204" pitchFamily="34" charset="-122"/>
                          <a:cs typeface="微软雅黑" panose="020B0503020204020204" pitchFamily="34" charset="-122"/>
                        </a:rPr>
                        <a:t>或 </a:t>
                      </a:r>
                      <a:r>
                        <a:rPr sz="2000" spc="-5" dirty="0">
                          <a:latin typeface="Arial" panose="020B0604020202020204"/>
                          <a:cs typeface="Arial" panose="020B0604020202020204"/>
                        </a:rPr>
                        <a:t>b+c≤a </a:t>
                      </a:r>
                      <a:r>
                        <a:rPr sz="2000" dirty="0">
                          <a:latin typeface="微软雅黑" panose="020B0503020204020204" pitchFamily="34" charset="-122"/>
                          <a:cs typeface="微软雅黑" panose="020B0503020204020204" pitchFamily="34" charset="-122"/>
                        </a:rPr>
                        <a:t>或</a:t>
                      </a:r>
                      <a:r>
                        <a:rPr sz="2000" spc="-40" dirty="0">
                          <a:latin typeface="微软雅黑" panose="020B0503020204020204" pitchFamily="34" charset="-122"/>
                          <a:cs typeface="微软雅黑" panose="020B0503020204020204" pitchFamily="34" charset="-122"/>
                        </a:rPr>
                        <a:t> </a:t>
                      </a:r>
                      <a:r>
                        <a:rPr sz="2000" spc="-5" dirty="0">
                          <a:latin typeface="Arial" panose="020B0604020202020204"/>
                          <a:cs typeface="Arial" panose="020B0604020202020204"/>
                        </a:rPr>
                        <a:t>a+c≤b</a:t>
                      </a:r>
                      <a:endParaRPr sz="2000">
                        <a:latin typeface="Arial" panose="020B0604020202020204"/>
                        <a:cs typeface="Arial" panose="020B0604020202020204"/>
                      </a:endParaRPr>
                    </a:p>
                  </a:txBody>
                  <a:tcPr marL="0" marR="0" marT="58419" marB="0">
                    <a:lnL w="12700">
                      <a:solidFill>
                        <a:srgbClr val="000000"/>
                      </a:solidFill>
                      <a:prstDash val="solid"/>
                    </a:lnL>
                    <a:lnR w="12700">
                      <a:solidFill>
                        <a:srgbClr val="000000"/>
                      </a:solidFill>
                      <a:prstDash val="solid"/>
                    </a:lnR>
                    <a:lnT w="9525">
                      <a:solidFill>
                        <a:srgbClr val="000000"/>
                      </a:solidFill>
                      <a:prstDash val="solid"/>
                    </a:lnT>
                    <a:lnB w="28575">
                      <a:solidFill>
                        <a:srgbClr val="000000"/>
                      </a:solidFill>
                      <a:prstDash val="solid"/>
                    </a:lnB>
                  </a:tcPr>
                </a:tc>
                <a:tc>
                  <a:txBody>
                    <a:bodyPr/>
                    <a:lstStyle/>
                    <a:p>
                      <a:pPr marL="635" algn="ctr">
                        <a:lnSpc>
                          <a:spcPct val="100000"/>
                        </a:lnSpc>
                        <a:spcBef>
                          <a:spcPts val="1220"/>
                        </a:spcBef>
                      </a:pPr>
                      <a:r>
                        <a:rPr sz="2000" dirty="0">
                          <a:latin typeface="Arial" panose="020B0604020202020204"/>
                          <a:cs typeface="Arial" panose="020B0604020202020204"/>
                        </a:rPr>
                        <a:t>4</a:t>
                      </a:r>
                      <a:r>
                        <a:rPr lang="en-US" altLang="zh-CN" sz="2000" dirty="0">
                          <a:latin typeface="Arial" panose="020B0604020202020204"/>
                          <a:cs typeface="Arial" panose="020B0604020202020204"/>
                        </a:rPr>
                        <a:t>0</a:t>
                      </a:r>
                      <a:endParaRPr sz="2000" dirty="0">
                        <a:latin typeface="Arial" panose="020B0604020202020204"/>
                        <a:cs typeface="Arial" panose="020B0604020202020204"/>
                      </a:endParaRPr>
                    </a:p>
                  </a:txBody>
                  <a:tcPr marL="0" marR="0" marT="154940" marB="0">
                    <a:lnL w="12700">
                      <a:solidFill>
                        <a:srgbClr val="000000"/>
                      </a:solidFill>
                      <a:prstDash val="solid"/>
                    </a:lnL>
                    <a:lnR w="12700">
                      <a:solidFill>
                        <a:srgbClr val="000000"/>
                      </a:solidFill>
                      <a:prstDash val="solid"/>
                    </a:lnR>
                    <a:lnT w="9525">
                      <a:solidFill>
                        <a:srgbClr val="000000"/>
                      </a:solidFill>
                      <a:prstDash val="solid"/>
                    </a:lnT>
                    <a:lnB w="28575">
                      <a:solidFill>
                        <a:srgbClr val="000000"/>
                      </a:solidFill>
                      <a:prstDash val="solid"/>
                    </a:lnB>
                  </a:tcPr>
                </a:tc>
                <a:tc>
                  <a:txBody>
                    <a:bodyPr/>
                    <a:lstStyle/>
                    <a:p>
                      <a:pPr algn="ctr">
                        <a:lnSpc>
                          <a:spcPct val="100000"/>
                        </a:lnSpc>
                        <a:spcBef>
                          <a:spcPts val="1220"/>
                        </a:spcBef>
                      </a:pPr>
                      <a:r>
                        <a:rPr sz="2000" dirty="0">
                          <a:latin typeface="Arial" panose="020B0604020202020204"/>
                          <a:cs typeface="Arial" panose="020B0604020202020204"/>
                        </a:rPr>
                        <a:t>1</a:t>
                      </a:r>
                      <a:r>
                        <a:rPr lang="en-US" altLang="zh-CN" sz="2000" dirty="0">
                          <a:latin typeface="Arial" panose="020B0604020202020204"/>
                          <a:cs typeface="Arial" panose="020B0604020202020204"/>
                        </a:rPr>
                        <a:t>0</a:t>
                      </a:r>
                      <a:endParaRPr sz="2000" dirty="0">
                        <a:latin typeface="Arial" panose="020B0604020202020204"/>
                        <a:cs typeface="Arial" panose="020B0604020202020204"/>
                      </a:endParaRPr>
                    </a:p>
                  </a:txBody>
                  <a:tcPr marL="0" marR="0" marT="154940" marB="0">
                    <a:lnL w="12700">
                      <a:solidFill>
                        <a:srgbClr val="000000"/>
                      </a:solidFill>
                      <a:prstDash val="solid"/>
                    </a:lnL>
                    <a:lnR w="12700">
                      <a:solidFill>
                        <a:srgbClr val="000000"/>
                      </a:solidFill>
                      <a:prstDash val="solid"/>
                    </a:lnR>
                    <a:lnT w="9525">
                      <a:solidFill>
                        <a:srgbClr val="000000"/>
                      </a:solidFill>
                      <a:prstDash val="solid"/>
                    </a:lnT>
                    <a:lnB w="28575">
                      <a:solidFill>
                        <a:srgbClr val="000000"/>
                      </a:solidFill>
                      <a:prstDash val="solid"/>
                    </a:lnB>
                  </a:tcPr>
                </a:tc>
                <a:tc>
                  <a:txBody>
                    <a:bodyPr/>
                    <a:lstStyle/>
                    <a:p>
                      <a:pPr algn="ctr">
                        <a:lnSpc>
                          <a:spcPct val="100000"/>
                        </a:lnSpc>
                        <a:spcBef>
                          <a:spcPts val="1220"/>
                        </a:spcBef>
                      </a:pPr>
                      <a:r>
                        <a:rPr sz="2000" dirty="0">
                          <a:latin typeface="Arial" panose="020B0604020202020204"/>
                          <a:cs typeface="Arial" panose="020B0604020202020204"/>
                        </a:rPr>
                        <a:t>2</a:t>
                      </a:r>
                      <a:r>
                        <a:rPr lang="en-US" altLang="zh-CN" sz="2000" dirty="0">
                          <a:latin typeface="Arial" panose="020B0604020202020204"/>
                          <a:cs typeface="Arial" panose="020B0604020202020204"/>
                        </a:rPr>
                        <a:t>0</a:t>
                      </a:r>
                      <a:endParaRPr sz="2000" dirty="0">
                        <a:latin typeface="Arial" panose="020B0604020202020204"/>
                        <a:cs typeface="Arial" panose="020B0604020202020204"/>
                      </a:endParaRPr>
                    </a:p>
                  </a:txBody>
                  <a:tcPr marL="0" marR="0" marT="154940" marB="0">
                    <a:lnL w="12700">
                      <a:solidFill>
                        <a:srgbClr val="000000"/>
                      </a:solidFill>
                      <a:prstDash val="solid"/>
                    </a:lnL>
                    <a:lnR w="12700">
                      <a:solidFill>
                        <a:srgbClr val="000000"/>
                      </a:solidFill>
                      <a:prstDash val="solid"/>
                    </a:lnR>
                    <a:lnT w="9525">
                      <a:solidFill>
                        <a:srgbClr val="000000"/>
                      </a:solidFill>
                      <a:prstDash val="solid"/>
                    </a:lnT>
                    <a:lnB w="28575">
                      <a:solidFill>
                        <a:srgbClr val="000000"/>
                      </a:solidFill>
                      <a:prstDash val="solid"/>
                    </a:lnB>
                  </a:tcPr>
                </a:tc>
                <a:tc>
                  <a:txBody>
                    <a:bodyPr/>
                    <a:lstStyle/>
                    <a:p>
                      <a:pPr algn="ctr">
                        <a:lnSpc>
                          <a:spcPct val="100000"/>
                        </a:lnSpc>
                        <a:spcBef>
                          <a:spcPts val="1220"/>
                        </a:spcBef>
                      </a:pPr>
                      <a:r>
                        <a:rPr sz="2000" dirty="0">
                          <a:latin typeface="微软雅黑" panose="020B0503020204020204" pitchFamily="34" charset="-122"/>
                          <a:cs typeface="微软雅黑" panose="020B0503020204020204" pitchFamily="34" charset="-122"/>
                        </a:rPr>
                        <a:t>非三角形</a:t>
                      </a:r>
                    </a:p>
                  </a:txBody>
                  <a:tcPr marL="0" marR="0" marT="154940" marB="0">
                    <a:lnL w="12700">
                      <a:solidFill>
                        <a:srgbClr val="000000"/>
                      </a:solidFill>
                      <a:prstDash val="solid"/>
                    </a:lnL>
                    <a:lnT w="9525">
                      <a:solidFill>
                        <a:srgbClr val="000000"/>
                      </a:solidFill>
                      <a:prstDash val="solid"/>
                    </a:lnT>
                    <a:lnB w="28575">
                      <a:solidFill>
                        <a:srgbClr val="000000"/>
                      </a:solidFill>
                      <a:prstDash val="solid"/>
                    </a:lnB>
                  </a:tcPr>
                </a:tc>
                <a:extLst>
                  <a:ext uri="{0D108BD9-81ED-4DB2-BD59-A6C34878D82A}">
                    <a16:rowId xmlns:a16="http://schemas.microsoft.com/office/drawing/2014/main" val="10005"/>
                  </a:ext>
                </a:extLst>
              </a:tr>
            </a:tbl>
          </a:graphicData>
        </a:graphic>
      </p:graphicFrame>
      <p:sp>
        <p:nvSpPr>
          <p:cNvPr id="5" name="灯片编号占位符 4"/>
          <p:cNvSpPr>
            <a:spLocks noGrp="1"/>
          </p:cNvSpPr>
          <p:nvPr>
            <p:ph type="sldNum" sz="quarter" idx="12"/>
          </p:nvPr>
        </p:nvSpPr>
        <p:spPr/>
        <p:txBody>
          <a:bodyPr/>
          <a:lstStyle/>
          <a:p>
            <a:fld id="{74D2AB8B-5816-41F2-8B4B-CA5C3E4E6A65}" type="slidenum">
              <a:rPr lang="zh-CN" altLang="en-US" smtClean="0"/>
              <a:t>7</a:t>
            </a:fld>
            <a:endParaRPr lang="zh-CN" altLang="en-US"/>
          </a:p>
        </p:txBody>
      </p:sp>
      <p:sp>
        <p:nvSpPr>
          <p:cNvPr id="7" name="标题 6"/>
          <p:cNvSpPr>
            <a:spLocks noGrp="1"/>
          </p:cNvSpPr>
          <p:nvPr>
            <p:ph type="title"/>
          </p:nvPr>
        </p:nvSpPr>
        <p:spPr/>
        <p:txBody>
          <a:bodyPr/>
          <a:lstStyle/>
          <a:p>
            <a:r>
              <a:rPr lang="zh-CN" altLang="en-US" dirty="0"/>
              <a:t>举例：判断三角形类型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65619" y="1644674"/>
            <a:ext cx="10134600" cy="3799204"/>
          </a:xfrm>
          <a:prstGeom prst="rect">
            <a:avLst/>
          </a:prstGeom>
        </p:spPr>
        <p:txBody>
          <a:bodyPr vert="horz" wrap="square" lIns="0" tIns="12700" rIns="0" bIns="0" rtlCol="0">
            <a:spAutoFit/>
          </a:bodyPr>
          <a:lstStyle/>
          <a:p>
            <a:pPr marL="12700" marR="282575">
              <a:lnSpc>
                <a:spcPct val="129000"/>
              </a:lnSpc>
              <a:spcBef>
                <a:spcPts val="100"/>
              </a:spcBef>
            </a:pPr>
            <a:r>
              <a:rPr sz="2200" spc="10" dirty="0">
                <a:solidFill>
                  <a:srgbClr val="0033CC"/>
                </a:solidFill>
                <a:latin typeface="微软雅黑" panose="020B0503020204020204" pitchFamily="34" charset="-122"/>
                <a:cs typeface="微软雅黑" panose="020B0503020204020204" pitchFamily="34" charset="-122"/>
              </a:rPr>
              <a:t>边界值分析</a:t>
            </a:r>
            <a:r>
              <a:rPr sz="2200" spc="10" dirty="0">
                <a:latin typeface="微软雅黑" panose="020B0503020204020204" pitchFamily="34" charset="-122"/>
                <a:cs typeface="微软雅黑" panose="020B0503020204020204" pitchFamily="34" charset="-122"/>
              </a:rPr>
              <a:t>是对输入或输出的边界值进行测试的一种方法，</a:t>
            </a:r>
            <a:r>
              <a:rPr sz="2200" spc="10" dirty="0">
                <a:solidFill>
                  <a:srgbClr val="FF0000"/>
                </a:solidFill>
                <a:latin typeface="微软雅黑" panose="020B0503020204020204" pitchFamily="34" charset="-122"/>
                <a:cs typeface="微软雅黑" panose="020B0503020204020204" pitchFamily="34" charset="-122"/>
              </a:rPr>
              <a:t>它通常作为等价类划 </a:t>
            </a:r>
            <a:r>
              <a:rPr sz="2200" dirty="0">
                <a:solidFill>
                  <a:srgbClr val="FF0000"/>
                </a:solidFill>
                <a:latin typeface="微软雅黑" panose="020B0503020204020204" pitchFamily="34" charset="-122"/>
                <a:cs typeface="微软雅黑" panose="020B0503020204020204" pitchFamily="34" charset="-122"/>
              </a:rPr>
              <a:t>分法的补充</a:t>
            </a:r>
            <a:r>
              <a:rPr sz="2200" dirty="0">
                <a:latin typeface="微软雅黑" panose="020B0503020204020204" pitchFamily="34" charset="-122"/>
                <a:cs typeface="微软雅黑" panose="020B0503020204020204" pitchFamily="34" charset="-122"/>
              </a:rPr>
              <a:t>，这种情况下的测试用例来自等价类的边界。</a:t>
            </a:r>
          </a:p>
          <a:p>
            <a:pPr marL="276225" indent="-263525">
              <a:lnSpc>
                <a:spcPct val="100000"/>
              </a:lnSpc>
              <a:spcBef>
                <a:spcPts val="2560"/>
              </a:spcBef>
              <a:buFont typeface="Arial" panose="020B0604020202020204"/>
              <a:buChar char="•"/>
              <a:tabLst>
                <a:tab pos="275590" algn="l"/>
                <a:tab pos="276225" algn="l"/>
              </a:tabLst>
            </a:pPr>
            <a:r>
              <a:rPr sz="2200" dirty="0">
                <a:latin typeface="微软雅黑" panose="020B0503020204020204" pitchFamily="34" charset="-122"/>
                <a:cs typeface="微软雅黑" panose="020B0503020204020204" pitchFamily="34" charset="-122"/>
              </a:rPr>
              <a:t>先确定边界：通常输入或输出等价类的边界就是应该着重测试的边界情况。</a:t>
            </a:r>
          </a:p>
          <a:p>
            <a:pPr marL="266700" marR="281940" indent="-254000">
              <a:lnSpc>
                <a:spcPct val="133000"/>
              </a:lnSpc>
              <a:spcBef>
                <a:spcPts val="500"/>
              </a:spcBef>
              <a:buFont typeface="Arial" panose="020B0604020202020204"/>
              <a:buChar char="•"/>
              <a:tabLst>
                <a:tab pos="276860" algn="l"/>
                <a:tab pos="277495" algn="l"/>
              </a:tabLst>
            </a:pPr>
            <a:r>
              <a:rPr sz="2200" spc="15" dirty="0">
                <a:solidFill>
                  <a:srgbClr val="FF0000"/>
                </a:solidFill>
                <a:latin typeface="微软雅黑" panose="020B0503020204020204" pitchFamily="34" charset="-122"/>
                <a:cs typeface="微软雅黑" panose="020B0503020204020204" pitchFamily="34" charset="-122"/>
              </a:rPr>
              <a:t>选取正好等于、刚刚大于或刚刚小于边界</a:t>
            </a:r>
            <a:r>
              <a:rPr sz="2200" spc="15" dirty="0">
                <a:latin typeface="微软雅黑" panose="020B0503020204020204" pitchFamily="34" charset="-122"/>
                <a:cs typeface="微软雅黑" panose="020B0503020204020204" pitchFamily="34" charset="-122"/>
              </a:rPr>
              <a:t>的值作为测试数据，而不是选取等价 </a:t>
            </a:r>
            <a:r>
              <a:rPr sz="2200" dirty="0">
                <a:latin typeface="微软雅黑" panose="020B0503020204020204" pitchFamily="34" charset="-122"/>
                <a:cs typeface="微软雅黑" panose="020B0503020204020204" pitchFamily="34" charset="-122"/>
              </a:rPr>
              <a:t>类中的典型值或任意值。</a:t>
            </a:r>
          </a:p>
          <a:p>
            <a:pPr>
              <a:lnSpc>
                <a:spcPct val="100000"/>
              </a:lnSpc>
              <a:spcBef>
                <a:spcPts val="15"/>
              </a:spcBef>
            </a:pPr>
            <a:endParaRPr sz="2950" dirty="0">
              <a:latin typeface="Times New Roman" panose="02020603050405020304"/>
              <a:cs typeface="Times New Roman" panose="02020603050405020304"/>
            </a:endParaRPr>
          </a:p>
          <a:p>
            <a:pPr marL="12700" marR="5080">
              <a:lnSpc>
                <a:spcPct val="129000"/>
              </a:lnSpc>
            </a:pPr>
            <a:r>
              <a:rPr sz="2200" spc="10" dirty="0">
                <a:latin typeface="微软雅黑" panose="020B0503020204020204" pitchFamily="34" charset="-122"/>
                <a:cs typeface="微软雅黑" panose="020B0503020204020204" pitchFamily="34" charset="-122"/>
              </a:rPr>
              <a:t>实践表明：</a:t>
            </a:r>
            <a:r>
              <a:rPr sz="2200" spc="10" dirty="0">
                <a:solidFill>
                  <a:srgbClr val="C00000"/>
                </a:solidFill>
                <a:latin typeface="微软雅黑" panose="020B0503020204020204" pitchFamily="34" charset="-122"/>
                <a:cs typeface="微软雅黑" panose="020B0503020204020204" pitchFamily="34" charset="-122"/>
              </a:rPr>
              <a:t>大多数故障往往发生在输入定义域或输出值域的边界上</a:t>
            </a:r>
            <a:r>
              <a:rPr sz="2200" spc="10" dirty="0">
                <a:latin typeface="微软雅黑" panose="020B0503020204020204" pitchFamily="34" charset="-122"/>
                <a:cs typeface="微软雅黑" panose="020B0503020204020204" pitchFamily="34" charset="-122"/>
              </a:rPr>
              <a:t>，而不是内</a:t>
            </a:r>
            <a:r>
              <a:rPr sz="2200" dirty="0">
                <a:latin typeface="微软雅黑" panose="020B0503020204020204" pitchFamily="34" charset="-122"/>
                <a:cs typeface="微软雅黑" panose="020B0503020204020204" pitchFamily="34" charset="-122"/>
              </a:rPr>
              <a:t>部。 因此，针对各种边界情况设计测试用例，通常会取得很好的测试效果。</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t>8</a:t>
            </a:fld>
            <a:endParaRPr lang="zh-CN" altLang="en-US"/>
          </a:p>
        </p:txBody>
      </p:sp>
      <p:sp>
        <p:nvSpPr>
          <p:cNvPr id="6" name="标题 5"/>
          <p:cNvSpPr>
            <a:spLocks noGrp="1"/>
          </p:cNvSpPr>
          <p:nvPr>
            <p:ph type="title"/>
          </p:nvPr>
        </p:nvSpPr>
        <p:spPr/>
        <p:txBody>
          <a:bodyPr/>
          <a:lstStyle/>
          <a:p>
            <a:r>
              <a:rPr lang="zh-CN" altLang="en-US" dirty="0"/>
              <a:t>边界值分析</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862730" y="5499844"/>
            <a:ext cx="26733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panose="020B0604020202020204"/>
                <a:cs typeface="Arial" panose="020B0604020202020204"/>
              </a:rPr>
              <a:t>x1</a:t>
            </a:r>
            <a:endParaRPr sz="1800">
              <a:latin typeface="Arial" panose="020B0604020202020204"/>
              <a:cs typeface="Arial" panose="020B0604020202020204"/>
            </a:endParaRPr>
          </a:p>
        </p:txBody>
      </p:sp>
      <p:sp>
        <p:nvSpPr>
          <p:cNvPr id="4" name="object 4"/>
          <p:cNvSpPr/>
          <p:nvPr/>
        </p:nvSpPr>
        <p:spPr>
          <a:xfrm>
            <a:off x="1280007" y="4209248"/>
            <a:ext cx="0" cy="1370330"/>
          </a:xfrm>
          <a:custGeom>
            <a:avLst/>
            <a:gdLst/>
            <a:ahLst/>
            <a:cxnLst/>
            <a:rect l="l" t="t" r="r" b="b"/>
            <a:pathLst>
              <a:path h="1370329">
                <a:moveTo>
                  <a:pt x="0" y="1370012"/>
                </a:moveTo>
                <a:lnTo>
                  <a:pt x="0" y="0"/>
                </a:lnTo>
              </a:path>
            </a:pathLst>
          </a:custGeom>
          <a:ln w="9524">
            <a:solidFill>
              <a:srgbClr val="000000"/>
            </a:solidFill>
          </a:ln>
        </p:spPr>
        <p:txBody>
          <a:bodyPr wrap="square" lIns="0" tIns="0" rIns="0" bIns="0" rtlCol="0"/>
          <a:lstStyle/>
          <a:p>
            <a:endParaRPr/>
          </a:p>
        </p:txBody>
      </p:sp>
      <p:sp>
        <p:nvSpPr>
          <p:cNvPr id="5" name="object 5"/>
          <p:cNvSpPr/>
          <p:nvPr/>
        </p:nvSpPr>
        <p:spPr>
          <a:xfrm>
            <a:off x="1241907" y="4183848"/>
            <a:ext cx="76200" cy="76200"/>
          </a:xfrm>
          <a:custGeom>
            <a:avLst/>
            <a:gdLst/>
            <a:ahLst/>
            <a:cxnLst/>
            <a:rect l="l" t="t" r="r" b="b"/>
            <a:pathLst>
              <a:path w="76200" h="76200">
                <a:moveTo>
                  <a:pt x="38100" y="0"/>
                </a:moveTo>
                <a:lnTo>
                  <a:pt x="0" y="76199"/>
                </a:lnTo>
                <a:lnTo>
                  <a:pt x="76200" y="76199"/>
                </a:lnTo>
                <a:lnTo>
                  <a:pt x="38100" y="0"/>
                </a:lnTo>
                <a:close/>
              </a:path>
            </a:pathLst>
          </a:custGeom>
          <a:solidFill>
            <a:srgbClr val="000000"/>
          </a:solidFill>
        </p:spPr>
        <p:txBody>
          <a:bodyPr wrap="square" lIns="0" tIns="0" rIns="0" bIns="0" rtlCol="0"/>
          <a:lstStyle/>
          <a:p>
            <a:endParaRPr/>
          </a:p>
        </p:txBody>
      </p:sp>
      <p:sp>
        <p:nvSpPr>
          <p:cNvPr id="6" name="object 6"/>
          <p:cNvSpPr/>
          <p:nvPr/>
        </p:nvSpPr>
        <p:spPr>
          <a:xfrm>
            <a:off x="1283513" y="5586940"/>
            <a:ext cx="2453640" cy="0"/>
          </a:xfrm>
          <a:custGeom>
            <a:avLst/>
            <a:gdLst/>
            <a:ahLst/>
            <a:cxnLst/>
            <a:rect l="l" t="t" r="r" b="b"/>
            <a:pathLst>
              <a:path w="2453640">
                <a:moveTo>
                  <a:pt x="0" y="0"/>
                </a:moveTo>
                <a:lnTo>
                  <a:pt x="2453481" y="0"/>
                </a:lnTo>
              </a:path>
            </a:pathLst>
          </a:custGeom>
          <a:ln w="9524">
            <a:solidFill>
              <a:srgbClr val="000000"/>
            </a:solidFill>
          </a:ln>
        </p:spPr>
        <p:txBody>
          <a:bodyPr wrap="square" lIns="0" tIns="0" rIns="0" bIns="0" rtlCol="0"/>
          <a:lstStyle/>
          <a:p>
            <a:endParaRPr/>
          </a:p>
        </p:txBody>
      </p:sp>
      <p:sp>
        <p:nvSpPr>
          <p:cNvPr id="7" name="object 7"/>
          <p:cNvSpPr/>
          <p:nvPr/>
        </p:nvSpPr>
        <p:spPr>
          <a:xfrm>
            <a:off x="3686195" y="5548840"/>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lstStyle/>
          <a:p>
            <a:endParaRPr/>
          </a:p>
        </p:txBody>
      </p:sp>
      <p:sp>
        <p:nvSpPr>
          <p:cNvPr id="8" name="object 8"/>
          <p:cNvSpPr/>
          <p:nvPr/>
        </p:nvSpPr>
        <p:spPr>
          <a:xfrm>
            <a:off x="1777879" y="4563489"/>
            <a:ext cx="1620520" cy="684530"/>
          </a:xfrm>
          <a:custGeom>
            <a:avLst/>
            <a:gdLst/>
            <a:ahLst/>
            <a:cxnLst/>
            <a:rect l="l" t="t" r="r" b="b"/>
            <a:pathLst>
              <a:path w="1620520" h="684529">
                <a:moveTo>
                  <a:pt x="0" y="0"/>
                </a:moveTo>
                <a:lnTo>
                  <a:pt x="1620000" y="0"/>
                </a:lnTo>
                <a:lnTo>
                  <a:pt x="1620000" y="684493"/>
                </a:lnTo>
                <a:lnTo>
                  <a:pt x="0" y="684493"/>
                </a:lnTo>
                <a:lnTo>
                  <a:pt x="0" y="0"/>
                </a:lnTo>
                <a:close/>
              </a:path>
            </a:pathLst>
          </a:custGeom>
          <a:solidFill>
            <a:srgbClr val="EBEBEB"/>
          </a:solidFill>
        </p:spPr>
        <p:txBody>
          <a:bodyPr wrap="square" lIns="0" tIns="0" rIns="0" bIns="0" rtlCol="0"/>
          <a:lstStyle/>
          <a:p>
            <a:endParaRPr/>
          </a:p>
        </p:txBody>
      </p:sp>
      <p:sp>
        <p:nvSpPr>
          <p:cNvPr id="9" name="object 9"/>
          <p:cNvSpPr/>
          <p:nvPr/>
        </p:nvSpPr>
        <p:spPr>
          <a:xfrm>
            <a:off x="1777879" y="4563489"/>
            <a:ext cx="1620520" cy="684530"/>
          </a:xfrm>
          <a:custGeom>
            <a:avLst/>
            <a:gdLst/>
            <a:ahLst/>
            <a:cxnLst/>
            <a:rect l="l" t="t" r="r" b="b"/>
            <a:pathLst>
              <a:path w="1620520" h="684529">
                <a:moveTo>
                  <a:pt x="0" y="0"/>
                </a:moveTo>
                <a:lnTo>
                  <a:pt x="1619999" y="0"/>
                </a:lnTo>
                <a:lnTo>
                  <a:pt x="1619999" y="684493"/>
                </a:lnTo>
                <a:lnTo>
                  <a:pt x="0" y="684493"/>
                </a:lnTo>
                <a:lnTo>
                  <a:pt x="0" y="0"/>
                </a:lnTo>
                <a:close/>
              </a:path>
            </a:pathLst>
          </a:custGeom>
          <a:ln w="9524">
            <a:solidFill>
              <a:srgbClr val="000000"/>
            </a:solidFill>
          </a:ln>
        </p:spPr>
        <p:txBody>
          <a:bodyPr wrap="square" lIns="0" tIns="0" rIns="0" bIns="0" rtlCol="0"/>
          <a:lstStyle/>
          <a:p>
            <a:endParaRPr/>
          </a:p>
        </p:txBody>
      </p:sp>
      <p:sp>
        <p:nvSpPr>
          <p:cNvPr id="10" name="object 10"/>
          <p:cNvSpPr/>
          <p:nvPr/>
        </p:nvSpPr>
        <p:spPr>
          <a:xfrm>
            <a:off x="1283513" y="4563489"/>
            <a:ext cx="2500630" cy="0"/>
          </a:xfrm>
          <a:custGeom>
            <a:avLst/>
            <a:gdLst/>
            <a:ahLst/>
            <a:cxnLst/>
            <a:rect l="l" t="t" r="r" b="b"/>
            <a:pathLst>
              <a:path w="2500629">
                <a:moveTo>
                  <a:pt x="0" y="0"/>
                </a:moveTo>
                <a:lnTo>
                  <a:pt x="2500477" y="0"/>
                </a:lnTo>
              </a:path>
            </a:pathLst>
          </a:custGeom>
          <a:ln w="9524">
            <a:solidFill>
              <a:srgbClr val="000000"/>
            </a:solidFill>
          </a:ln>
        </p:spPr>
        <p:txBody>
          <a:bodyPr wrap="square" lIns="0" tIns="0" rIns="0" bIns="0" rtlCol="0"/>
          <a:lstStyle/>
          <a:p>
            <a:endParaRPr/>
          </a:p>
        </p:txBody>
      </p:sp>
      <p:sp>
        <p:nvSpPr>
          <p:cNvPr id="11" name="object 11"/>
          <p:cNvSpPr/>
          <p:nvPr/>
        </p:nvSpPr>
        <p:spPr>
          <a:xfrm>
            <a:off x="1283512" y="5245787"/>
            <a:ext cx="2479675" cy="0"/>
          </a:xfrm>
          <a:custGeom>
            <a:avLst/>
            <a:gdLst/>
            <a:ahLst/>
            <a:cxnLst/>
            <a:rect l="l" t="t" r="r" b="b"/>
            <a:pathLst>
              <a:path w="2479675">
                <a:moveTo>
                  <a:pt x="0" y="0"/>
                </a:moveTo>
                <a:lnTo>
                  <a:pt x="2479095" y="0"/>
                </a:lnTo>
              </a:path>
            </a:pathLst>
          </a:custGeom>
          <a:ln w="9524">
            <a:solidFill>
              <a:srgbClr val="000000"/>
            </a:solidFill>
          </a:ln>
        </p:spPr>
        <p:txBody>
          <a:bodyPr wrap="square" lIns="0" tIns="0" rIns="0" bIns="0" rtlCol="0"/>
          <a:lstStyle/>
          <a:p>
            <a:endParaRPr/>
          </a:p>
        </p:txBody>
      </p:sp>
      <p:sp>
        <p:nvSpPr>
          <p:cNvPr id="12" name="object 12"/>
          <p:cNvSpPr/>
          <p:nvPr/>
        </p:nvSpPr>
        <p:spPr>
          <a:xfrm>
            <a:off x="1777879" y="4278283"/>
            <a:ext cx="0" cy="1308735"/>
          </a:xfrm>
          <a:custGeom>
            <a:avLst/>
            <a:gdLst/>
            <a:ahLst/>
            <a:cxnLst/>
            <a:rect l="l" t="t" r="r" b="b"/>
            <a:pathLst>
              <a:path h="1308735">
                <a:moveTo>
                  <a:pt x="0" y="0"/>
                </a:moveTo>
                <a:lnTo>
                  <a:pt x="0" y="1308656"/>
                </a:lnTo>
              </a:path>
            </a:pathLst>
          </a:custGeom>
          <a:ln w="9524">
            <a:solidFill>
              <a:srgbClr val="000000"/>
            </a:solidFill>
          </a:ln>
        </p:spPr>
        <p:txBody>
          <a:bodyPr wrap="square" lIns="0" tIns="0" rIns="0" bIns="0" rtlCol="0"/>
          <a:lstStyle/>
          <a:p>
            <a:endParaRPr/>
          </a:p>
        </p:txBody>
      </p:sp>
      <p:sp>
        <p:nvSpPr>
          <p:cNvPr id="13" name="object 13"/>
          <p:cNvSpPr/>
          <p:nvPr/>
        </p:nvSpPr>
        <p:spPr>
          <a:xfrm>
            <a:off x="3400163" y="4278283"/>
            <a:ext cx="0" cy="1308735"/>
          </a:xfrm>
          <a:custGeom>
            <a:avLst/>
            <a:gdLst/>
            <a:ahLst/>
            <a:cxnLst/>
            <a:rect l="l" t="t" r="r" b="b"/>
            <a:pathLst>
              <a:path h="1308735">
                <a:moveTo>
                  <a:pt x="0" y="0"/>
                </a:moveTo>
                <a:lnTo>
                  <a:pt x="1" y="1308656"/>
                </a:lnTo>
              </a:path>
            </a:pathLst>
          </a:custGeom>
          <a:ln w="9524">
            <a:solidFill>
              <a:srgbClr val="000000"/>
            </a:solidFill>
          </a:ln>
        </p:spPr>
        <p:txBody>
          <a:bodyPr wrap="square" lIns="0" tIns="0" rIns="0" bIns="0" rtlCol="0"/>
          <a:lstStyle/>
          <a:p>
            <a:endParaRPr/>
          </a:p>
        </p:txBody>
      </p:sp>
      <p:sp>
        <p:nvSpPr>
          <p:cNvPr id="14" name="object 14"/>
          <p:cNvSpPr txBox="1">
            <a:spLocks noGrp="1"/>
          </p:cNvSpPr>
          <p:nvPr>
            <p:ph type="body" idx="1"/>
          </p:nvPr>
        </p:nvSpPr>
        <p:spPr>
          <a:xfrm>
            <a:off x="838199" y="1825625"/>
            <a:ext cx="10776281" cy="2452466"/>
          </a:xfrm>
          <a:prstGeom prst="rect">
            <a:avLst/>
          </a:prstGeom>
        </p:spPr>
        <p:txBody>
          <a:bodyPr vert="horz" wrap="square" lIns="0" tIns="12700" rIns="0" bIns="0" rtlCol="0">
            <a:spAutoFit/>
          </a:bodyPr>
          <a:lstStyle/>
          <a:p>
            <a:pPr marL="21590">
              <a:lnSpc>
                <a:spcPct val="100000"/>
              </a:lnSpc>
              <a:spcBef>
                <a:spcPts val="100"/>
              </a:spcBef>
            </a:pPr>
            <a:r>
              <a:rPr sz="2000" dirty="0">
                <a:solidFill>
                  <a:srgbClr val="000000"/>
                </a:solidFill>
              </a:rPr>
              <a:t>基本思想：</a:t>
            </a:r>
            <a:r>
              <a:rPr sz="2000" dirty="0"/>
              <a:t>故障往往出现在程序输入变量的边界值附近</a:t>
            </a:r>
          </a:p>
          <a:p>
            <a:pPr marL="275590" marR="5080" indent="-254000">
              <a:lnSpc>
                <a:spcPct val="121000"/>
              </a:lnSpc>
              <a:spcBef>
                <a:spcPts val="1100"/>
              </a:spcBef>
              <a:buFont typeface="Arial" panose="020B0604020202020204"/>
              <a:buChar char="•"/>
              <a:tabLst>
                <a:tab pos="287655" algn="l"/>
                <a:tab pos="288290" algn="l"/>
              </a:tabLst>
            </a:pPr>
            <a:r>
              <a:rPr sz="2000" spc="40" dirty="0">
                <a:solidFill>
                  <a:srgbClr val="000000"/>
                </a:solidFill>
              </a:rPr>
              <a:t>边界值分析法是基于可靠性理论中称为“</a:t>
            </a:r>
            <a:r>
              <a:rPr sz="2000" spc="40" dirty="0">
                <a:solidFill>
                  <a:srgbClr val="0033CC"/>
                </a:solidFill>
              </a:rPr>
              <a:t>单故障</a:t>
            </a:r>
            <a:r>
              <a:rPr sz="2000" spc="40" dirty="0">
                <a:solidFill>
                  <a:srgbClr val="000000"/>
                </a:solidFill>
              </a:rPr>
              <a:t>”的假设，即有两个或两个以上 </a:t>
            </a:r>
            <a:r>
              <a:rPr sz="2000" dirty="0">
                <a:solidFill>
                  <a:srgbClr val="000000"/>
                </a:solidFill>
              </a:rPr>
              <a:t>故障同时出现而导致失效的情况很少。</a:t>
            </a:r>
          </a:p>
          <a:p>
            <a:pPr marL="275590" marR="5080" indent="-254000">
              <a:lnSpc>
                <a:spcPct val="117000"/>
              </a:lnSpc>
              <a:spcBef>
                <a:spcPts val="700"/>
              </a:spcBef>
              <a:buFont typeface="Arial" panose="020B0604020202020204"/>
              <a:buChar char="•"/>
              <a:tabLst>
                <a:tab pos="287655" algn="l"/>
                <a:tab pos="288290" algn="l"/>
              </a:tabLst>
            </a:pPr>
            <a:r>
              <a:rPr sz="2000" spc="40" dirty="0">
                <a:solidFill>
                  <a:srgbClr val="000000"/>
                </a:solidFill>
              </a:rPr>
              <a:t>对程序中的每个变量重复：每次保留一个变量，让其余的变量取正常值，被保留 </a:t>
            </a:r>
            <a:r>
              <a:rPr sz="2000" dirty="0">
                <a:solidFill>
                  <a:srgbClr val="000000"/>
                </a:solidFill>
              </a:rPr>
              <a:t>的变量依次取</a:t>
            </a:r>
            <a:r>
              <a:rPr sz="2000" spc="-5" dirty="0">
                <a:solidFill>
                  <a:srgbClr val="000000"/>
                </a:solidFill>
              </a:rPr>
              <a:t> </a:t>
            </a:r>
            <a:r>
              <a:rPr sz="2000" spc="-5" dirty="0">
                <a:solidFill>
                  <a:srgbClr val="000000"/>
                </a:solidFill>
                <a:latin typeface="Arial" panose="020B0604020202020204"/>
                <a:cs typeface="Arial" panose="020B0604020202020204"/>
              </a:rPr>
              <a:t>min</a:t>
            </a:r>
            <a:r>
              <a:rPr sz="2000" dirty="0">
                <a:solidFill>
                  <a:srgbClr val="000000"/>
                </a:solidFill>
              </a:rPr>
              <a:t>、</a:t>
            </a:r>
            <a:r>
              <a:rPr sz="2000" spc="-5" dirty="0">
                <a:solidFill>
                  <a:srgbClr val="000000"/>
                </a:solidFill>
                <a:latin typeface="Arial" panose="020B0604020202020204"/>
                <a:cs typeface="Arial" panose="020B0604020202020204"/>
              </a:rPr>
              <a:t>min+</a:t>
            </a:r>
            <a:r>
              <a:rPr sz="2000" dirty="0">
                <a:solidFill>
                  <a:srgbClr val="000000"/>
                </a:solidFill>
              </a:rPr>
              <a:t>、</a:t>
            </a:r>
            <a:r>
              <a:rPr sz="2000" spc="-5" dirty="0">
                <a:solidFill>
                  <a:srgbClr val="000000"/>
                </a:solidFill>
                <a:latin typeface="Arial" panose="020B0604020202020204"/>
                <a:cs typeface="Arial" panose="020B0604020202020204"/>
              </a:rPr>
              <a:t>nom</a:t>
            </a:r>
            <a:r>
              <a:rPr sz="2000" dirty="0">
                <a:solidFill>
                  <a:srgbClr val="000000"/>
                </a:solidFill>
              </a:rPr>
              <a:t>、</a:t>
            </a:r>
            <a:r>
              <a:rPr sz="2000" spc="-5" dirty="0">
                <a:solidFill>
                  <a:srgbClr val="000000"/>
                </a:solidFill>
                <a:latin typeface="Arial" panose="020B0604020202020204"/>
                <a:cs typeface="Arial" panose="020B0604020202020204"/>
              </a:rPr>
              <a:t>max-</a:t>
            </a:r>
            <a:r>
              <a:rPr sz="2000" dirty="0">
                <a:solidFill>
                  <a:srgbClr val="000000"/>
                </a:solidFill>
                <a:latin typeface="Arial" panose="020B0604020202020204"/>
                <a:cs typeface="Arial" panose="020B0604020202020204"/>
              </a:rPr>
              <a:t> </a:t>
            </a:r>
            <a:r>
              <a:rPr sz="2000" dirty="0">
                <a:solidFill>
                  <a:srgbClr val="000000"/>
                </a:solidFill>
              </a:rPr>
              <a:t>和 </a:t>
            </a:r>
            <a:r>
              <a:rPr sz="2000" spc="-5" dirty="0">
                <a:solidFill>
                  <a:srgbClr val="000000"/>
                </a:solidFill>
                <a:latin typeface="Arial" panose="020B0604020202020204"/>
                <a:cs typeface="Arial" panose="020B0604020202020204"/>
              </a:rPr>
              <a:t>max</a:t>
            </a:r>
            <a:endParaRPr lang="en-US" sz="2000" dirty="0">
              <a:solidFill>
                <a:srgbClr val="000000"/>
              </a:solidFill>
            </a:endParaRPr>
          </a:p>
          <a:p>
            <a:pPr marL="340995" indent="0">
              <a:lnSpc>
                <a:spcPct val="100000"/>
              </a:lnSpc>
              <a:spcBef>
                <a:spcPts val="995"/>
              </a:spcBef>
              <a:buNone/>
            </a:pPr>
            <a:r>
              <a:rPr lang="en-US" sz="2000" dirty="0">
                <a:solidFill>
                  <a:srgbClr val="000000"/>
                </a:solidFill>
                <a:latin typeface="Arial" panose="020B0604020202020204"/>
                <a:cs typeface="Arial" panose="020B0604020202020204"/>
              </a:rPr>
              <a:t>x2</a:t>
            </a:r>
            <a:endParaRPr lang="en-US" sz="2000" dirty="0">
              <a:latin typeface="Arial" panose="020B0604020202020204"/>
              <a:cs typeface="Arial" panose="020B0604020202020204"/>
            </a:endParaRPr>
          </a:p>
        </p:txBody>
      </p:sp>
      <p:sp>
        <p:nvSpPr>
          <p:cNvPr id="15" name="object 15"/>
          <p:cNvSpPr txBox="1"/>
          <p:nvPr/>
        </p:nvSpPr>
        <p:spPr>
          <a:xfrm>
            <a:off x="1744475" y="5574984"/>
            <a:ext cx="15303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panose="020B0604020202020204"/>
                <a:cs typeface="Arial" panose="020B0604020202020204"/>
              </a:rPr>
              <a:t>a</a:t>
            </a:r>
            <a:endParaRPr sz="1800">
              <a:latin typeface="Arial" panose="020B0604020202020204"/>
              <a:cs typeface="Arial" panose="020B0604020202020204"/>
            </a:endParaRPr>
          </a:p>
        </p:txBody>
      </p:sp>
      <p:sp>
        <p:nvSpPr>
          <p:cNvPr id="16" name="object 16"/>
          <p:cNvSpPr txBox="1"/>
          <p:nvPr/>
        </p:nvSpPr>
        <p:spPr>
          <a:xfrm>
            <a:off x="3315891" y="5581088"/>
            <a:ext cx="15303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panose="020B0604020202020204"/>
                <a:cs typeface="Arial" panose="020B0604020202020204"/>
              </a:rPr>
              <a:t>b</a:t>
            </a:r>
            <a:endParaRPr sz="1800">
              <a:latin typeface="Arial" panose="020B0604020202020204"/>
              <a:cs typeface="Arial" panose="020B0604020202020204"/>
            </a:endParaRPr>
          </a:p>
        </p:txBody>
      </p:sp>
      <p:sp>
        <p:nvSpPr>
          <p:cNvPr id="17" name="object 17"/>
          <p:cNvSpPr txBox="1"/>
          <p:nvPr/>
        </p:nvSpPr>
        <p:spPr>
          <a:xfrm>
            <a:off x="1115767" y="4447323"/>
            <a:ext cx="1397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panose="020B0604020202020204"/>
                <a:cs typeface="Arial" panose="020B0604020202020204"/>
              </a:rPr>
              <a:t>c</a:t>
            </a:r>
            <a:endParaRPr sz="1800">
              <a:latin typeface="Arial" panose="020B0604020202020204"/>
              <a:cs typeface="Arial" panose="020B0604020202020204"/>
            </a:endParaRPr>
          </a:p>
        </p:txBody>
      </p:sp>
      <p:sp>
        <p:nvSpPr>
          <p:cNvPr id="18" name="object 18"/>
          <p:cNvSpPr txBox="1"/>
          <p:nvPr/>
        </p:nvSpPr>
        <p:spPr>
          <a:xfrm>
            <a:off x="1101750" y="5129624"/>
            <a:ext cx="15303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panose="020B0604020202020204"/>
                <a:cs typeface="Arial" panose="020B0604020202020204"/>
              </a:rPr>
              <a:t>d</a:t>
            </a:r>
            <a:endParaRPr sz="1800">
              <a:latin typeface="Arial" panose="020B0604020202020204"/>
              <a:cs typeface="Arial" panose="020B0604020202020204"/>
            </a:endParaRPr>
          </a:p>
        </p:txBody>
      </p:sp>
      <p:sp>
        <p:nvSpPr>
          <p:cNvPr id="19" name="object 19"/>
          <p:cNvSpPr/>
          <p:nvPr/>
        </p:nvSpPr>
        <p:spPr>
          <a:xfrm>
            <a:off x="3192539" y="4846501"/>
            <a:ext cx="105410" cy="105410"/>
          </a:xfrm>
          <a:custGeom>
            <a:avLst/>
            <a:gdLst/>
            <a:ahLst/>
            <a:cxnLst/>
            <a:rect l="l" t="t" r="r" b="b"/>
            <a:pathLst>
              <a:path w="105410" h="105410">
                <a:moveTo>
                  <a:pt x="52567" y="0"/>
                </a:moveTo>
                <a:lnTo>
                  <a:pt x="32106" y="4137"/>
                </a:lnTo>
                <a:lnTo>
                  <a:pt x="15396" y="15421"/>
                </a:lnTo>
                <a:lnTo>
                  <a:pt x="4131" y="32158"/>
                </a:lnTo>
                <a:lnTo>
                  <a:pt x="0" y="52654"/>
                </a:lnTo>
                <a:lnTo>
                  <a:pt x="4131" y="73149"/>
                </a:lnTo>
                <a:lnTo>
                  <a:pt x="15396" y="89885"/>
                </a:lnTo>
                <a:lnTo>
                  <a:pt x="32106" y="101169"/>
                </a:lnTo>
                <a:lnTo>
                  <a:pt x="52567" y="105307"/>
                </a:lnTo>
                <a:lnTo>
                  <a:pt x="73029" y="101169"/>
                </a:lnTo>
                <a:lnTo>
                  <a:pt x="89738" y="89885"/>
                </a:lnTo>
                <a:lnTo>
                  <a:pt x="101004" y="73149"/>
                </a:lnTo>
                <a:lnTo>
                  <a:pt x="105135" y="52654"/>
                </a:lnTo>
                <a:lnTo>
                  <a:pt x="101004" y="32158"/>
                </a:lnTo>
                <a:lnTo>
                  <a:pt x="89738" y="15421"/>
                </a:lnTo>
                <a:lnTo>
                  <a:pt x="73029" y="4137"/>
                </a:lnTo>
                <a:lnTo>
                  <a:pt x="52567" y="0"/>
                </a:lnTo>
                <a:close/>
              </a:path>
            </a:pathLst>
          </a:custGeom>
          <a:solidFill>
            <a:srgbClr val="000000"/>
          </a:solidFill>
        </p:spPr>
        <p:txBody>
          <a:bodyPr wrap="square" lIns="0" tIns="0" rIns="0" bIns="0" rtlCol="0"/>
          <a:lstStyle/>
          <a:p>
            <a:endParaRPr/>
          </a:p>
        </p:txBody>
      </p:sp>
      <p:sp>
        <p:nvSpPr>
          <p:cNvPr id="20" name="object 20"/>
          <p:cNvSpPr/>
          <p:nvPr/>
        </p:nvSpPr>
        <p:spPr>
          <a:xfrm>
            <a:off x="3192539" y="4846501"/>
            <a:ext cx="105410" cy="105410"/>
          </a:xfrm>
          <a:custGeom>
            <a:avLst/>
            <a:gdLst/>
            <a:ahLst/>
            <a:cxnLst/>
            <a:rect l="l" t="t" r="r" b="b"/>
            <a:pathLst>
              <a:path w="105410" h="105410">
                <a:moveTo>
                  <a:pt x="0" y="52653"/>
                </a:moveTo>
                <a:lnTo>
                  <a:pt x="4131" y="32158"/>
                </a:lnTo>
                <a:lnTo>
                  <a:pt x="15396" y="15421"/>
                </a:lnTo>
                <a:lnTo>
                  <a:pt x="32106" y="4137"/>
                </a:lnTo>
                <a:lnTo>
                  <a:pt x="52568" y="0"/>
                </a:lnTo>
                <a:lnTo>
                  <a:pt x="73029" y="4137"/>
                </a:lnTo>
                <a:lnTo>
                  <a:pt x="89739" y="15421"/>
                </a:lnTo>
                <a:lnTo>
                  <a:pt x="101004" y="32158"/>
                </a:lnTo>
                <a:lnTo>
                  <a:pt x="105135" y="52653"/>
                </a:lnTo>
                <a:lnTo>
                  <a:pt x="101004" y="73149"/>
                </a:lnTo>
                <a:lnTo>
                  <a:pt x="89739" y="89885"/>
                </a:lnTo>
                <a:lnTo>
                  <a:pt x="73029" y="101170"/>
                </a:lnTo>
                <a:lnTo>
                  <a:pt x="52568" y="105307"/>
                </a:lnTo>
                <a:lnTo>
                  <a:pt x="32106" y="101170"/>
                </a:lnTo>
                <a:lnTo>
                  <a:pt x="15396" y="89885"/>
                </a:lnTo>
                <a:lnTo>
                  <a:pt x="4131" y="73149"/>
                </a:lnTo>
                <a:lnTo>
                  <a:pt x="0" y="52653"/>
                </a:lnTo>
                <a:close/>
              </a:path>
            </a:pathLst>
          </a:custGeom>
          <a:ln w="9524">
            <a:solidFill>
              <a:srgbClr val="000000"/>
            </a:solidFill>
          </a:ln>
        </p:spPr>
        <p:txBody>
          <a:bodyPr wrap="square" lIns="0" tIns="0" rIns="0" bIns="0" rtlCol="0"/>
          <a:lstStyle/>
          <a:p>
            <a:endParaRPr/>
          </a:p>
        </p:txBody>
      </p:sp>
      <p:sp>
        <p:nvSpPr>
          <p:cNvPr id="21" name="object 21"/>
          <p:cNvSpPr/>
          <p:nvPr/>
        </p:nvSpPr>
        <p:spPr>
          <a:xfrm>
            <a:off x="2329168" y="5026026"/>
            <a:ext cx="115829" cy="225623"/>
          </a:xfrm>
          <a:prstGeom prst="rect">
            <a:avLst/>
          </a:prstGeom>
          <a:blipFill>
            <a:blip r:embed="rId3" cstate="print"/>
            <a:stretch>
              <a:fillRect/>
            </a:stretch>
          </a:blipFill>
        </p:spPr>
        <p:txBody>
          <a:bodyPr wrap="square" lIns="0" tIns="0" rIns="0" bIns="0" rtlCol="0"/>
          <a:lstStyle/>
          <a:p>
            <a:endParaRPr/>
          </a:p>
        </p:txBody>
      </p:sp>
      <p:sp>
        <p:nvSpPr>
          <p:cNvPr id="22" name="object 22"/>
          <p:cNvSpPr/>
          <p:nvPr/>
        </p:nvSpPr>
        <p:spPr>
          <a:xfrm>
            <a:off x="2565139" y="4829671"/>
            <a:ext cx="114660" cy="114832"/>
          </a:xfrm>
          <a:prstGeom prst="rect">
            <a:avLst/>
          </a:prstGeom>
          <a:blipFill>
            <a:blip r:embed="rId4" cstate="print"/>
            <a:stretch>
              <a:fillRect/>
            </a:stretch>
          </a:blipFill>
        </p:spPr>
        <p:txBody>
          <a:bodyPr wrap="square" lIns="0" tIns="0" rIns="0" bIns="0" rtlCol="0"/>
          <a:lstStyle/>
          <a:p>
            <a:endParaRPr/>
          </a:p>
        </p:txBody>
      </p:sp>
      <p:sp>
        <p:nvSpPr>
          <p:cNvPr id="23" name="object 23"/>
          <p:cNvSpPr/>
          <p:nvPr/>
        </p:nvSpPr>
        <p:spPr>
          <a:xfrm>
            <a:off x="2328090" y="4566780"/>
            <a:ext cx="105410" cy="105410"/>
          </a:xfrm>
          <a:custGeom>
            <a:avLst/>
            <a:gdLst/>
            <a:ahLst/>
            <a:cxnLst/>
            <a:rect l="l" t="t" r="r" b="b"/>
            <a:pathLst>
              <a:path w="105410" h="105410">
                <a:moveTo>
                  <a:pt x="52567" y="0"/>
                </a:moveTo>
                <a:lnTo>
                  <a:pt x="32106" y="4137"/>
                </a:lnTo>
                <a:lnTo>
                  <a:pt x="15396" y="15421"/>
                </a:lnTo>
                <a:lnTo>
                  <a:pt x="4131" y="32158"/>
                </a:lnTo>
                <a:lnTo>
                  <a:pt x="0" y="52654"/>
                </a:lnTo>
                <a:lnTo>
                  <a:pt x="4131" y="73149"/>
                </a:lnTo>
                <a:lnTo>
                  <a:pt x="15396" y="89886"/>
                </a:lnTo>
                <a:lnTo>
                  <a:pt x="32106" y="101170"/>
                </a:lnTo>
                <a:lnTo>
                  <a:pt x="52567" y="105308"/>
                </a:lnTo>
                <a:lnTo>
                  <a:pt x="73029" y="101170"/>
                </a:lnTo>
                <a:lnTo>
                  <a:pt x="89738" y="89886"/>
                </a:lnTo>
                <a:lnTo>
                  <a:pt x="101004" y="73149"/>
                </a:lnTo>
                <a:lnTo>
                  <a:pt x="105135" y="52654"/>
                </a:lnTo>
                <a:lnTo>
                  <a:pt x="101004" y="32158"/>
                </a:lnTo>
                <a:lnTo>
                  <a:pt x="89738" y="15421"/>
                </a:lnTo>
                <a:lnTo>
                  <a:pt x="73029" y="4137"/>
                </a:lnTo>
                <a:lnTo>
                  <a:pt x="52567" y="0"/>
                </a:lnTo>
                <a:close/>
              </a:path>
            </a:pathLst>
          </a:custGeom>
          <a:solidFill>
            <a:srgbClr val="000000"/>
          </a:solidFill>
        </p:spPr>
        <p:txBody>
          <a:bodyPr wrap="square" lIns="0" tIns="0" rIns="0" bIns="0" rtlCol="0"/>
          <a:lstStyle/>
          <a:p>
            <a:endParaRPr/>
          </a:p>
        </p:txBody>
      </p:sp>
      <p:sp>
        <p:nvSpPr>
          <p:cNvPr id="24" name="object 24"/>
          <p:cNvSpPr/>
          <p:nvPr/>
        </p:nvSpPr>
        <p:spPr>
          <a:xfrm>
            <a:off x="2328090" y="4566780"/>
            <a:ext cx="105410" cy="105410"/>
          </a:xfrm>
          <a:custGeom>
            <a:avLst/>
            <a:gdLst/>
            <a:ahLst/>
            <a:cxnLst/>
            <a:rect l="l" t="t" r="r" b="b"/>
            <a:pathLst>
              <a:path w="105410" h="105410">
                <a:moveTo>
                  <a:pt x="0" y="52653"/>
                </a:moveTo>
                <a:lnTo>
                  <a:pt x="4131" y="32158"/>
                </a:lnTo>
                <a:lnTo>
                  <a:pt x="15396" y="15421"/>
                </a:lnTo>
                <a:lnTo>
                  <a:pt x="32106" y="4137"/>
                </a:lnTo>
                <a:lnTo>
                  <a:pt x="52567" y="0"/>
                </a:lnTo>
                <a:lnTo>
                  <a:pt x="73029" y="4137"/>
                </a:lnTo>
                <a:lnTo>
                  <a:pt x="89739" y="15421"/>
                </a:lnTo>
                <a:lnTo>
                  <a:pt x="101004" y="32158"/>
                </a:lnTo>
                <a:lnTo>
                  <a:pt x="105136" y="52653"/>
                </a:lnTo>
                <a:lnTo>
                  <a:pt x="101004" y="73149"/>
                </a:lnTo>
                <a:lnTo>
                  <a:pt x="89739" y="89885"/>
                </a:lnTo>
                <a:lnTo>
                  <a:pt x="73029" y="101170"/>
                </a:lnTo>
                <a:lnTo>
                  <a:pt x="52567" y="105307"/>
                </a:lnTo>
                <a:lnTo>
                  <a:pt x="32106" y="101170"/>
                </a:lnTo>
                <a:lnTo>
                  <a:pt x="15396" y="89885"/>
                </a:lnTo>
                <a:lnTo>
                  <a:pt x="4131" y="73149"/>
                </a:lnTo>
                <a:lnTo>
                  <a:pt x="0" y="52653"/>
                </a:lnTo>
                <a:close/>
              </a:path>
            </a:pathLst>
          </a:custGeom>
          <a:ln w="9524">
            <a:solidFill>
              <a:srgbClr val="000000"/>
            </a:solidFill>
          </a:ln>
        </p:spPr>
        <p:txBody>
          <a:bodyPr wrap="square" lIns="0" tIns="0" rIns="0" bIns="0" rtlCol="0"/>
          <a:lstStyle/>
          <a:p>
            <a:endParaRPr/>
          </a:p>
        </p:txBody>
      </p:sp>
      <p:sp>
        <p:nvSpPr>
          <p:cNvPr id="25" name="object 25"/>
          <p:cNvSpPr/>
          <p:nvPr/>
        </p:nvSpPr>
        <p:spPr>
          <a:xfrm>
            <a:off x="1776621" y="4854902"/>
            <a:ext cx="227974" cy="115928"/>
          </a:xfrm>
          <a:prstGeom prst="rect">
            <a:avLst/>
          </a:prstGeom>
          <a:blipFill>
            <a:blip r:embed="rId5" cstate="print"/>
            <a:stretch>
              <a:fillRect/>
            </a:stretch>
          </a:blipFill>
        </p:spPr>
        <p:txBody>
          <a:bodyPr wrap="square" lIns="0" tIns="0" rIns="0" bIns="0" rtlCol="0"/>
          <a:lstStyle/>
          <a:p>
            <a:endParaRPr/>
          </a:p>
        </p:txBody>
      </p:sp>
      <p:sp>
        <p:nvSpPr>
          <p:cNvPr id="26" name="object 26"/>
          <p:cNvSpPr/>
          <p:nvPr/>
        </p:nvSpPr>
        <p:spPr>
          <a:xfrm>
            <a:off x="2328090" y="4683056"/>
            <a:ext cx="105410" cy="105410"/>
          </a:xfrm>
          <a:custGeom>
            <a:avLst/>
            <a:gdLst/>
            <a:ahLst/>
            <a:cxnLst/>
            <a:rect l="l" t="t" r="r" b="b"/>
            <a:pathLst>
              <a:path w="105410" h="105410">
                <a:moveTo>
                  <a:pt x="52567" y="0"/>
                </a:moveTo>
                <a:lnTo>
                  <a:pt x="32106" y="4137"/>
                </a:lnTo>
                <a:lnTo>
                  <a:pt x="15396" y="15421"/>
                </a:lnTo>
                <a:lnTo>
                  <a:pt x="4131" y="32158"/>
                </a:lnTo>
                <a:lnTo>
                  <a:pt x="0" y="52654"/>
                </a:lnTo>
                <a:lnTo>
                  <a:pt x="4131" y="73149"/>
                </a:lnTo>
                <a:lnTo>
                  <a:pt x="15396" y="89885"/>
                </a:lnTo>
                <a:lnTo>
                  <a:pt x="32106" y="101170"/>
                </a:lnTo>
                <a:lnTo>
                  <a:pt x="52567" y="105308"/>
                </a:lnTo>
                <a:lnTo>
                  <a:pt x="73029" y="101170"/>
                </a:lnTo>
                <a:lnTo>
                  <a:pt x="89738" y="89885"/>
                </a:lnTo>
                <a:lnTo>
                  <a:pt x="101004" y="73149"/>
                </a:lnTo>
                <a:lnTo>
                  <a:pt x="105135" y="52654"/>
                </a:lnTo>
                <a:lnTo>
                  <a:pt x="101004" y="32158"/>
                </a:lnTo>
                <a:lnTo>
                  <a:pt x="89738" y="15421"/>
                </a:lnTo>
                <a:lnTo>
                  <a:pt x="73029" y="4137"/>
                </a:lnTo>
                <a:lnTo>
                  <a:pt x="52567" y="0"/>
                </a:lnTo>
                <a:close/>
              </a:path>
            </a:pathLst>
          </a:custGeom>
          <a:solidFill>
            <a:srgbClr val="000000"/>
          </a:solidFill>
        </p:spPr>
        <p:txBody>
          <a:bodyPr wrap="square" lIns="0" tIns="0" rIns="0" bIns="0" rtlCol="0"/>
          <a:lstStyle/>
          <a:p>
            <a:endParaRPr/>
          </a:p>
        </p:txBody>
      </p:sp>
      <p:sp>
        <p:nvSpPr>
          <p:cNvPr id="27" name="object 27"/>
          <p:cNvSpPr/>
          <p:nvPr/>
        </p:nvSpPr>
        <p:spPr>
          <a:xfrm>
            <a:off x="2328090" y="4683056"/>
            <a:ext cx="105410" cy="105410"/>
          </a:xfrm>
          <a:custGeom>
            <a:avLst/>
            <a:gdLst/>
            <a:ahLst/>
            <a:cxnLst/>
            <a:rect l="l" t="t" r="r" b="b"/>
            <a:pathLst>
              <a:path w="105410" h="105410">
                <a:moveTo>
                  <a:pt x="0" y="52653"/>
                </a:moveTo>
                <a:lnTo>
                  <a:pt x="4131" y="32158"/>
                </a:lnTo>
                <a:lnTo>
                  <a:pt x="15396" y="15421"/>
                </a:lnTo>
                <a:lnTo>
                  <a:pt x="32106" y="4137"/>
                </a:lnTo>
                <a:lnTo>
                  <a:pt x="52567" y="0"/>
                </a:lnTo>
                <a:lnTo>
                  <a:pt x="73029" y="4137"/>
                </a:lnTo>
                <a:lnTo>
                  <a:pt x="89739" y="15421"/>
                </a:lnTo>
                <a:lnTo>
                  <a:pt x="101004" y="32158"/>
                </a:lnTo>
                <a:lnTo>
                  <a:pt x="105136" y="52653"/>
                </a:lnTo>
                <a:lnTo>
                  <a:pt x="101004" y="73149"/>
                </a:lnTo>
                <a:lnTo>
                  <a:pt x="89739" y="89885"/>
                </a:lnTo>
                <a:lnTo>
                  <a:pt x="73029" y="101170"/>
                </a:lnTo>
                <a:lnTo>
                  <a:pt x="52567" y="105307"/>
                </a:lnTo>
                <a:lnTo>
                  <a:pt x="32106" y="101170"/>
                </a:lnTo>
                <a:lnTo>
                  <a:pt x="15396" y="89885"/>
                </a:lnTo>
                <a:lnTo>
                  <a:pt x="4131" y="73149"/>
                </a:lnTo>
                <a:lnTo>
                  <a:pt x="0" y="52653"/>
                </a:lnTo>
                <a:close/>
              </a:path>
            </a:pathLst>
          </a:custGeom>
          <a:ln w="9524">
            <a:solidFill>
              <a:srgbClr val="000000"/>
            </a:solidFill>
          </a:ln>
        </p:spPr>
        <p:txBody>
          <a:bodyPr wrap="square" lIns="0" tIns="0" rIns="0" bIns="0" rtlCol="0"/>
          <a:lstStyle/>
          <a:p>
            <a:endParaRPr/>
          </a:p>
        </p:txBody>
      </p:sp>
      <p:sp>
        <p:nvSpPr>
          <p:cNvPr id="28" name="object 28"/>
          <p:cNvSpPr/>
          <p:nvPr/>
        </p:nvSpPr>
        <p:spPr>
          <a:xfrm>
            <a:off x="3307020" y="4847598"/>
            <a:ext cx="105410" cy="105410"/>
          </a:xfrm>
          <a:custGeom>
            <a:avLst/>
            <a:gdLst/>
            <a:ahLst/>
            <a:cxnLst/>
            <a:rect l="l" t="t" r="r" b="b"/>
            <a:pathLst>
              <a:path w="105410" h="105410">
                <a:moveTo>
                  <a:pt x="52569" y="0"/>
                </a:moveTo>
                <a:lnTo>
                  <a:pt x="32106" y="4137"/>
                </a:lnTo>
                <a:lnTo>
                  <a:pt x="15397" y="15421"/>
                </a:lnTo>
                <a:lnTo>
                  <a:pt x="4131" y="32158"/>
                </a:lnTo>
                <a:lnTo>
                  <a:pt x="0" y="52652"/>
                </a:lnTo>
                <a:lnTo>
                  <a:pt x="4131" y="73148"/>
                </a:lnTo>
                <a:lnTo>
                  <a:pt x="15397" y="89885"/>
                </a:lnTo>
                <a:lnTo>
                  <a:pt x="32106" y="101169"/>
                </a:lnTo>
                <a:lnTo>
                  <a:pt x="52569" y="105307"/>
                </a:lnTo>
                <a:lnTo>
                  <a:pt x="73030" y="101169"/>
                </a:lnTo>
                <a:lnTo>
                  <a:pt x="89740" y="89885"/>
                </a:lnTo>
                <a:lnTo>
                  <a:pt x="101005" y="73148"/>
                </a:lnTo>
                <a:lnTo>
                  <a:pt x="105136" y="52652"/>
                </a:lnTo>
                <a:lnTo>
                  <a:pt x="101005" y="32158"/>
                </a:lnTo>
                <a:lnTo>
                  <a:pt x="89740" y="15421"/>
                </a:lnTo>
                <a:lnTo>
                  <a:pt x="73030" y="4137"/>
                </a:lnTo>
                <a:lnTo>
                  <a:pt x="52569" y="0"/>
                </a:lnTo>
                <a:close/>
              </a:path>
            </a:pathLst>
          </a:custGeom>
          <a:solidFill>
            <a:srgbClr val="000000"/>
          </a:solidFill>
        </p:spPr>
        <p:txBody>
          <a:bodyPr wrap="square" lIns="0" tIns="0" rIns="0" bIns="0" rtlCol="0"/>
          <a:lstStyle/>
          <a:p>
            <a:endParaRPr/>
          </a:p>
        </p:txBody>
      </p:sp>
      <p:sp>
        <p:nvSpPr>
          <p:cNvPr id="29" name="object 29"/>
          <p:cNvSpPr/>
          <p:nvPr/>
        </p:nvSpPr>
        <p:spPr>
          <a:xfrm>
            <a:off x="3307020" y="4847598"/>
            <a:ext cx="105410" cy="105410"/>
          </a:xfrm>
          <a:custGeom>
            <a:avLst/>
            <a:gdLst/>
            <a:ahLst/>
            <a:cxnLst/>
            <a:rect l="l" t="t" r="r" b="b"/>
            <a:pathLst>
              <a:path w="105410" h="105410">
                <a:moveTo>
                  <a:pt x="0" y="52653"/>
                </a:moveTo>
                <a:lnTo>
                  <a:pt x="4131" y="32158"/>
                </a:lnTo>
                <a:lnTo>
                  <a:pt x="15396" y="15421"/>
                </a:lnTo>
                <a:lnTo>
                  <a:pt x="32106" y="4137"/>
                </a:lnTo>
                <a:lnTo>
                  <a:pt x="52568" y="0"/>
                </a:lnTo>
                <a:lnTo>
                  <a:pt x="73029" y="4137"/>
                </a:lnTo>
                <a:lnTo>
                  <a:pt x="89739" y="15421"/>
                </a:lnTo>
                <a:lnTo>
                  <a:pt x="101004" y="32158"/>
                </a:lnTo>
                <a:lnTo>
                  <a:pt x="105135" y="52653"/>
                </a:lnTo>
                <a:lnTo>
                  <a:pt x="101004" y="73149"/>
                </a:lnTo>
                <a:lnTo>
                  <a:pt x="89739" y="89885"/>
                </a:lnTo>
                <a:lnTo>
                  <a:pt x="73029" y="101170"/>
                </a:lnTo>
                <a:lnTo>
                  <a:pt x="52568" y="105307"/>
                </a:lnTo>
                <a:lnTo>
                  <a:pt x="32106" y="101170"/>
                </a:lnTo>
                <a:lnTo>
                  <a:pt x="15396" y="89885"/>
                </a:lnTo>
                <a:lnTo>
                  <a:pt x="4131" y="73149"/>
                </a:lnTo>
                <a:lnTo>
                  <a:pt x="0" y="52653"/>
                </a:lnTo>
                <a:close/>
              </a:path>
            </a:pathLst>
          </a:custGeom>
          <a:ln w="9524">
            <a:solidFill>
              <a:srgbClr val="000000"/>
            </a:solidFill>
          </a:ln>
        </p:spPr>
        <p:txBody>
          <a:bodyPr wrap="square" lIns="0" tIns="0" rIns="0" bIns="0" rtlCol="0"/>
          <a:lstStyle/>
          <a:p>
            <a:endParaRPr/>
          </a:p>
        </p:txBody>
      </p:sp>
      <p:sp>
        <p:nvSpPr>
          <p:cNvPr id="30" name="object 30"/>
          <p:cNvSpPr txBox="1"/>
          <p:nvPr/>
        </p:nvSpPr>
        <p:spPr>
          <a:xfrm>
            <a:off x="4851285" y="4278091"/>
            <a:ext cx="1751964" cy="1168400"/>
          </a:xfrm>
          <a:prstGeom prst="rect">
            <a:avLst/>
          </a:prstGeom>
        </p:spPr>
        <p:txBody>
          <a:bodyPr vert="horz" wrap="square" lIns="0" tIns="88900" rIns="0" bIns="0" rtlCol="0">
            <a:spAutoFit/>
          </a:bodyPr>
          <a:lstStyle/>
          <a:p>
            <a:pPr marL="38100">
              <a:lnSpc>
                <a:spcPct val="100000"/>
              </a:lnSpc>
              <a:spcBef>
                <a:spcPts val="700"/>
              </a:spcBef>
            </a:pPr>
            <a:r>
              <a:rPr sz="2000" spc="5" dirty="0">
                <a:highlight>
                  <a:srgbClr val="FFFF00"/>
                </a:highlight>
                <a:latin typeface="Arial" panose="020B0604020202020204"/>
                <a:cs typeface="Arial" panose="020B0604020202020204"/>
              </a:rPr>
              <a:t>&lt;x1</a:t>
            </a:r>
            <a:r>
              <a:rPr sz="1950" spc="7" baseline="-21000" dirty="0">
                <a:highlight>
                  <a:srgbClr val="FFFF00"/>
                </a:highlight>
                <a:latin typeface="Arial" panose="020B0604020202020204"/>
                <a:cs typeface="Arial" panose="020B0604020202020204"/>
              </a:rPr>
              <a:t>nom</a:t>
            </a:r>
            <a:r>
              <a:rPr sz="2000" spc="5" dirty="0">
                <a:highlight>
                  <a:srgbClr val="FFFF00"/>
                </a:highlight>
                <a:latin typeface="Arial" panose="020B0604020202020204"/>
                <a:cs typeface="Arial" panose="020B0604020202020204"/>
              </a:rPr>
              <a:t>, </a:t>
            </a:r>
            <a:r>
              <a:rPr sz="2000" spc="10" dirty="0">
                <a:highlight>
                  <a:srgbClr val="FFFF00"/>
                </a:highlight>
                <a:latin typeface="Arial" panose="020B0604020202020204"/>
                <a:cs typeface="Arial" panose="020B0604020202020204"/>
              </a:rPr>
              <a:t>x2</a:t>
            </a:r>
            <a:r>
              <a:rPr sz="1950" spc="15" baseline="-21000" dirty="0">
                <a:highlight>
                  <a:srgbClr val="FFFF00"/>
                </a:highlight>
                <a:latin typeface="Arial" panose="020B0604020202020204"/>
                <a:cs typeface="Arial" panose="020B0604020202020204"/>
              </a:rPr>
              <a:t>min</a:t>
            </a:r>
            <a:r>
              <a:rPr sz="1950" spc="427" baseline="-21000" dirty="0">
                <a:highlight>
                  <a:srgbClr val="FFFF00"/>
                </a:highlight>
                <a:latin typeface="Arial" panose="020B0604020202020204"/>
                <a:cs typeface="Arial" panose="020B0604020202020204"/>
              </a:rPr>
              <a:t> </a:t>
            </a:r>
            <a:r>
              <a:rPr sz="2000" dirty="0">
                <a:highlight>
                  <a:srgbClr val="FFFF00"/>
                </a:highlight>
                <a:latin typeface="Arial" panose="020B0604020202020204"/>
                <a:cs typeface="Arial" panose="020B0604020202020204"/>
              </a:rPr>
              <a:t>&gt;</a:t>
            </a:r>
          </a:p>
          <a:p>
            <a:pPr marL="38100">
              <a:lnSpc>
                <a:spcPct val="100000"/>
              </a:lnSpc>
              <a:spcBef>
                <a:spcPts val="600"/>
              </a:spcBef>
            </a:pPr>
            <a:r>
              <a:rPr sz="2000" spc="5" dirty="0">
                <a:highlight>
                  <a:srgbClr val="FFFF00"/>
                </a:highlight>
                <a:latin typeface="Arial" panose="020B0604020202020204"/>
                <a:cs typeface="Arial" panose="020B0604020202020204"/>
              </a:rPr>
              <a:t>&lt;x1</a:t>
            </a:r>
            <a:r>
              <a:rPr sz="1950" spc="7" baseline="-21000" dirty="0">
                <a:highlight>
                  <a:srgbClr val="FFFF00"/>
                </a:highlight>
                <a:latin typeface="Arial" panose="020B0604020202020204"/>
                <a:cs typeface="Arial" panose="020B0604020202020204"/>
              </a:rPr>
              <a:t>nom</a:t>
            </a:r>
            <a:r>
              <a:rPr sz="2000" spc="5" dirty="0">
                <a:highlight>
                  <a:srgbClr val="FFFF00"/>
                </a:highlight>
                <a:latin typeface="Arial" panose="020B0604020202020204"/>
                <a:cs typeface="Arial" panose="020B0604020202020204"/>
              </a:rPr>
              <a:t>, </a:t>
            </a:r>
            <a:r>
              <a:rPr sz="2000" spc="10" dirty="0">
                <a:highlight>
                  <a:srgbClr val="FFFF00"/>
                </a:highlight>
                <a:latin typeface="Arial" panose="020B0604020202020204"/>
                <a:cs typeface="Arial" panose="020B0604020202020204"/>
              </a:rPr>
              <a:t>x2</a:t>
            </a:r>
            <a:r>
              <a:rPr sz="1950" spc="15" baseline="-21000" dirty="0">
                <a:highlight>
                  <a:srgbClr val="FFFF00"/>
                </a:highlight>
                <a:latin typeface="Arial" panose="020B0604020202020204"/>
                <a:cs typeface="Arial" panose="020B0604020202020204"/>
              </a:rPr>
              <a:t>max</a:t>
            </a:r>
            <a:r>
              <a:rPr sz="1950" spc="-112" baseline="-21000" dirty="0">
                <a:highlight>
                  <a:srgbClr val="FFFF00"/>
                </a:highlight>
                <a:latin typeface="Arial" panose="020B0604020202020204"/>
                <a:cs typeface="Arial" panose="020B0604020202020204"/>
              </a:rPr>
              <a:t> </a:t>
            </a:r>
            <a:r>
              <a:rPr sz="2000" dirty="0">
                <a:highlight>
                  <a:srgbClr val="FFFF00"/>
                </a:highlight>
                <a:latin typeface="Arial" panose="020B0604020202020204"/>
                <a:cs typeface="Arial" panose="020B0604020202020204"/>
              </a:rPr>
              <a:t>&gt;</a:t>
            </a:r>
          </a:p>
          <a:p>
            <a:pPr marL="38100">
              <a:lnSpc>
                <a:spcPct val="100000"/>
              </a:lnSpc>
              <a:spcBef>
                <a:spcPts val="600"/>
              </a:spcBef>
            </a:pPr>
            <a:r>
              <a:rPr sz="2000" spc="5" dirty="0">
                <a:highlight>
                  <a:srgbClr val="00FFFF"/>
                </a:highlight>
                <a:latin typeface="Arial" panose="020B0604020202020204"/>
                <a:cs typeface="Arial" panose="020B0604020202020204"/>
              </a:rPr>
              <a:t>&lt;x1</a:t>
            </a:r>
            <a:r>
              <a:rPr sz="1950" spc="7" baseline="-21000" dirty="0">
                <a:highlight>
                  <a:srgbClr val="00FFFF"/>
                </a:highlight>
                <a:latin typeface="Arial" panose="020B0604020202020204"/>
                <a:cs typeface="Arial" panose="020B0604020202020204"/>
              </a:rPr>
              <a:t>min+</a:t>
            </a:r>
            <a:r>
              <a:rPr sz="2000" spc="5" dirty="0">
                <a:highlight>
                  <a:srgbClr val="00FFFF"/>
                </a:highlight>
                <a:latin typeface="Arial" panose="020B0604020202020204"/>
                <a:cs typeface="Arial" panose="020B0604020202020204"/>
              </a:rPr>
              <a:t>,</a:t>
            </a:r>
            <a:r>
              <a:rPr sz="2000" spc="-85" dirty="0">
                <a:highlight>
                  <a:srgbClr val="00FFFF"/>
                </a:highlight>
                <a:latin typeface="Arial" panose="020B0604020202020204"/>
                <a:cs typeface="Arial" panose="020B0604020202020204"/>
              </a:rPr>
              <a:t> </a:t>
            </a:r>
            <a:r>
              <a:rPr sz="2000" spc="10" dirty="0">
                <a:highlight>
                  <a:srgbClr val="00FFFF"/>
                </a:highlight>
                <a:latin typeface="Arial" panose="020B0604020202020204"/>
                <a:cs typeface="Arial" panose="020B0604020202020204"/>
              </a:rPr>
              <a:t>x2</a:t>
            </a:r>
            <a:r>
              <a:rPr sz="1950" spc="15" baseline="-21000" dirty="0">
                <a:highlight>
                  <a:srgbClr val="00FFFF"/>
                </a:highlight>
                <a:latin typeface="Arial" panose="020B0604020202020204"/>
                <a:cs typeface="Arial" panose="020B0604020202020204"/>
              </a:rPr>
              <a:t>nom</a:t>
            </a:r>
            <a:r>
              <a:rPr sz="2000" spc="10" dirty="0">
                <a:highlight>
                  <a:srgbClr val="00FFFF"/>
                </a:highlight>
                <a:latin typeface="Arial" panose="020B0604020202020204"/>
                <a:cs typeface="Arial" panose="020B0604020202020204"/>
              </a:rPr>
              <a:t>&gt;</a:t>
            </a:r>
            <a:endParaRPr sz="2000" dirty="0">
              <a:highlight>
                <a:srgbClr val="00FFFF"/>
              </a:highlight>
              <a:latin typeface="Arial" panose="020B0604020202020204"/>
              <a:cs typeface="Arial" panose="020B0604020202020204"/>
            </a:endParaRPr>
          </a:p>
        </p:txBody>
      </p:sp>
      <p:sp>
        <p:nvSpPr>
          <p:cNvPr id="31" name="object 31"/>
          <p:cNvSpPr txBox="1"/>
          <p:nvPr/>
        </p:nvSpPr>
        <p:spPr>
          <a:xfrm>
            <a:off x="6804216" y="4278091"/>
            <a:ext cx="1756410" cy="1168400"/>
          </a:xfrm>
          <a:prstGeom prst="rect">
            <a:avLst/>
          </a:prstGeom>
        </p:spPr>
        <p:txBody>
          <a:bodyPr vert="horz" wrap="square" lIns="0" tIns="88900" rIns="0" bIns="0" rtlCol="0">
            <a:spAutoFit/>
          </a:bodyPr>
          <a:lstStyle/>
          <a:p>
            <a:pPr marL="38100">
              <a:lnSpc>
                <a:spcPct val="100000"/>
              </a:lnSpc>
              <a:spcBef>
                <a:spcPts val="700"/>
              </a:spcBef>
            </a:pPr>
            <a:r>
              <a:rPr sz="2000" spc="5" dirty="0">
                <a:highlight>
                  <a:srgbClr val="FFFF00"/>
                </a:highlight>
                <a:latin typeface="Arial" panose="020B0604020202020204"/>
                <a:cs typeface="Arial" panose="020B0604020202020204"/>
              </a:rPr>
              <a:t>&lt;x1</a:t>
            </a:r>
            <a:r>
              <a:rPr sz="1950" spc="7" baseline="-21000" dirty="0">
                <a:highlight>
                  <a:srgbClr val="FFFF00"/>
                </a:highlight>
                <a:latin typeface="Arial" panose="020B0604020202020204"/>
                <a:cs typeface="Arial" panose="020B0604020202020204"/>
              </a:rPr>
              <a:t>nom</a:t>
            </a:r>
            <a:r>
              <a:rPr sz="2000" spc="5" dirty="0">
                <a:highlight>
                  <a:srgbClr val="FFFF00"/>
                </a:highlight>
                <a:latin typeface="Arial" panose="020B0604020202020204"/>
                <a:cs typeface="Arial" panose="020B0604020202020204"/>
              </a:rPr>
              <a:t>,</a:t>
            </a:r>
            <a:r>
              <a:rPr sz="2000" spc="-50" dirty="0">
                <a:highlight>
                  <a:srgbClr val="FFFF00"/>
                </a:highlight>
                <a:latin typeface="Arial" panose="020B0604020202020204"/>
                <a:cs typeface="Arial" panose="020B0604020202020204"/>
              </a:rPr>
              <a:t> </a:t>
            </a:r>
            <a:r>
              <a:rPr sz="2000" spc="5" dirty="0">
                <a:highlight>
                  <a:srgbClr val="FFFF00"/>
                </a:highlight>
                <a:latin typeface="Arial" panose="020B0604020202020204"/>
                <a:cs typeface="Arial" panose="020B0604020202020204"/>
              </a:rPr>
              <a:t>x2</a:t>
            </a:r>
            <a:r>
              <a:rPr sz="1950" spc="7" baseline="-21000" dirty="0">
                <a:highlight>
                  <a:srgbClr val="FFFF00"/>
                </a:highlight>
                <a:latin typeface="Arial" panose="020B0604020202020204"/>
                <a:cs typeface="Arial" panose="020B0604020202020204"/>
              </a:rPr>
              <a:t>min+</a:t>
            </a:r>
            <a:r>
              <a:rPr sz="2000" spc="5" dirty="0">
                <a:highlight>
                  <a:srgbClr val="FFFF00"/>
                </a:highlight>
                <a:latin typeface="Arial" panose="020B0604020202020204"/>
                <a:cs typeface="Arial" panose="020B0604020202020204"/>
              </a:rPr>
              <a:t>&gt;</a:t>
            </a:r>
            <a:endParaRPr sz="2000" dirty="0">
              <a:highlight>
                <a:srgbClr val="FFFF00"/>
              </a:highlight>
              <a:latin typeface="Arial" panose="020B0604020202020204"/>
              <a:cs typeface="Arial" panose="020B0604020202020204"/>
            </a:endParaRPr>
          </a:p>
          <a:p>
            <a:pPr marL="38100">
              <a:lnSpc>
                <a:spcPct val="100000"/>
              </a:lnSpc>
              <a:spcBef>
                <a:spcPts val="600"/>
              </a:spcBef>
            </a:pPr>
            <a:r>
              <a:rPr sz="2000" spc="5" dirty="0">
                <a:highlight>
                  <a:srgbClr val="FFFF00"/>
                </a:highlight>
                <a:latin typeface="Arial" panose="020B0604020202020204"/>
                <a:cs typeface="Arial" panose="020B0604020202020204"/>
              </a:rPr>
              <a:t>&lt;x1</a:t>
            </a:r>
            <a:r>
              <a:rPr sz="1950" spc="7" baseline="-21000" dirty="0">
                <a:highlight>
                  <a:srgbClr val="FFFF00"/>
                </a:highlight>
                <a:latin typeface="Arial" panose="020B0604020202020204"/>
                <a:cs typeface="Arial" panose="020B0604020202020204"/>
              </a:rPr>
              <a:t>nom</a:t>
            </a:r>
            <a:r>
              <a:rPr sz="2000" spc="5" dirty="0">
                <a:highlight>
                  <a:srgbClr val="FFFF00"/>
                </a:highlight>
                <a:latin typeface="Arial" panose="020B0604020202020204"/>
                <a:cs typeface="Arial" panose="020B0604020202020204"/>
              </a:rPr>
              <a:t>,</a:t>
            </a:r>
            <a:r>
              <a:rPr sz="2000" spc="-50" dirty="0">
                <a:highlight>
                  <a:srgbClr val="FFFF00"/>
                </a:highlight>
                <a:latin typeface="Arial" panose="020B0604020202020204"/>
                <a:cs typeface="Arial" panose="020B0604020202020204"/>
              </a:rPr>
              <a:t> </a:t>
            </a:r>
            <a:r>
              <a:rPr sz="2000" spc="5" dirty="0">
                <a:highlight>
                  <a:srgbClr val="FFFF00"/>
                </a:highlight>
                <a:latin typeface="Arial" panose="020B0604020202020204"/>
                <a:cs typeface="Arial" panose="020B0604020202020204"/>
              </a:rPr>
              <a:t>x2</a:t>
            </a:r>
            <a:r>
              <a:rPr sz="1950" spc="7" baseline="-21000" dirty="0">
                <a:highlight>
                  <a:srgbClr val="FFFF00"/>
                </a:highlight>
                <a:latin typeface="Arial" panose="020B0604020202020204"/>
                <a:cs typeface="Arial" panose="020B0604020202020204"/>
              </a:rPr>
              <a:t>max-</a:t>
            </a:r>
            <a:r>
              <a:rPr sz="2000" spc="5" dirty="0">
                <a:highlight>
                  <a:srgbClr val="FFFF00"/>
                </a:highlight>
                <a:latin typeface="Arial" panose="020B0604020202020204"/>
                <a:cs typeface="Arial" panose="020B0604020202020204"/>
              </a:rPr>
              <a:t>&gt;</a:t>
            </a:r>
            <a:endParaRPr sz="2000" dirty="0">
              <a:highlight>
                <a:srgbClr val="FFFF00"/>
              </a:highlight>
              <a:latin typeface="Arial" panose="020B0604020202020204"/>
              <a:cs typeface="Arial" panose="020B0604020202020204"/>
            </a:endParaRPr>
          </a:p>
          <a:p>
            <a:pPr marL="42545">
              <a:lnSpc>
                <a:spcPct val="100000"/>
              </a:lnSpc>
              <a:spcBef>
                <a:spcPts val="600"/>
              </a:spcBef>
            </a:pPr>
            <a:r>
              <a:rPr sz="2000" spc="5" dirty="0">
                <a:highlight>
                  <a:srgbClr val="00FFFF"/>
                </a:highlight>
                <a:latin typeface="Arial" panose="020B0604020202020204"/>
                <a:cs typeface="Arial" panose="020B0604020202020204"/>
              </a:rPr>
              <a:t>&lt;x1</a:t>
            </a:r>
            <a:r>
              <a:rPr sz="1950" spc="7" baseline="-21000" dirty="0">
                <a:highlight>
                  <a:srgbClr val="00FFFF"/>
                </a:highlight>
                <a:latin typeface="Arial" panose="020B0604020202020204"/>
                <a:cs typeface="Arial" panose="020B0604020202020204"/>
              </a:rPr>
              <a:t>max</a:t>
            </a:r>
            <a:r>
              <a:rPr sz="2000" spc="5" dirty="0">
                <a:highlight>
                  <a:srgbClr val="00FFFF"/>
                </a:highlight>
                <a:latin typeface="Arial" panose="020B0604020202020204"/>
                <a:cs typeface="Arial" panose="020B0604020202020204"/>
              </a:rPr>
              <a:t>, </a:t>
            </a:r>
            <a:r>
              <a:rPr sz="2000" spc="10" dirty="0">
                <a:highlight>
                  <a:srgbClr val="00FFFF"/>
                </a:highlight>
                <a:latin typeface="Arial" panose="020B0604020202020204"/>
                <a:cs typeface="Arial" panose="020B0604020202020204"/>
              </a:rPr>
              <a:t>x2</a:t>
            </a:r>
            <a:r>
              <a:rPr sz="1950" spc="15" baseline="-21000" dirty="0">
                <a:highlight>
                  <a:srgbClr val="00FFFF"/>
                </a:highlight>
                <a:latin typeface="Arial" panose="020B0604020202020204"/>
                <a:cs typeface="Arial" panose="020B0604020202020204"/>
              </a:rPr>
              <a:t>nom</a:t>
            </a:r>
            <a:r>
              <a:rPr sz="1950" spc="-104" baseline="-21000" dirty="0">
                <a:highlight>
                  <a:srgbClr val="00FFFF"/>
                </a:highlight>
                <a:latin typeface="Arial" panose="020B0604020202020204"/>
                <a:cs typeface="Arial" panose="020B0604020202020204"/>
              </a:rPr>
              <a:t> </a:t>
            </a:r>
            <a:r>
              <a:rPr sz="2000" dirty="0">
                <a:highlight>
                  <a:srgbClr val="00FFFF"/>
                </a:highlight>
                <a:latin typeface="Arial" panose="020B0604020202020204"/>
                <a:cs typeface="Arial" panose="020B0604020202020204"/>
              </a:rPr>
              <a:t>&gt;</a:t>
            </a:r>
          </a:p>
        </p:txBody>
      </p:sp>
      <p:sp>
        <p:nvSpPr>
          <p:cNvPr id="32" name="object 32"/>
          <p:cNvSpPr txBox="1"/>
          <p:nvPr/>
        </p:nvSpPr>
        <p:spPr>
          <a:xfrm>
            <a:off x="8761967" y="4278091"/>
            <a:ext cx="1756410" cy="1168400"/>
          </a:xfrm>
          <a:prstGeom prst="rect">
            <a:avLst/>
          </a:prstGeom>
        </p:spPr>
        <p:txBody>
          <a:bodyPr vert="horz" wrap="square" lIns="0" tIns="88900" rIns="0" bIns="0" rtlCol="0">
            <a:spAutoFit/>
          </a:bodyPr>
          <a:lstStyle/>
          <a:p>
            <a:pPr marL="38100">
              <a:lnSpc>
                <a:spcPct val="100000"/>
              </a:lnSpc>
              <a:spcBef>
                <a:spcPts val="700"/>
              </a:spcBef>
            </a:pPr>
            <a:r>
              <a:rPr sz="2000" spc="5" dirty="0">
                <a:highlight>
                  <a:srgbClr val="00FF00"/>
                </a:highlight>
                <a:latin typeface="Arial" panose="020B0604020202020204"/>
                <a:cs typeface="Arial" panose="020B0604020202020204"/>
              </a:rPr>
              <a:t>&lt;x1</a:t>
            </a:r>
            <a:r>
              <a:rPr sz="1950" spc="7" baseline="-21000" dirty="0">
                <a:highlight>
                  <a:srgbClr val="00FF00"/>
                </a:highlight>
                <a:latin typeface="Arial" panose="020B0604020202020204"/>
                <a:cs typeface="Arial" panose="020B0604020202020204"/>
              </a:rPr>
              <a:t>nom</a:t>
            </a:r>
            <a:r>
              <a:rPr sz="2000" spc="5" dirty="0">
                <a:highlight>
                  <a:srgbClr val="00FF00"/>
                </a:highlight>
                <a:latin typeface="Arial" panose="020B0604020202020204"/>
                <a:cs typeface="Arial" panose="020B0604020202020204"/>
              </a:rPr>
              <a:t>, </a:t>
            </a:r>
            <a:r>
              <a:rPr sz="2000" spc="10" dirty="0">
                <a:highlight>
                  <a:srgbClr val="00FF00"/>
                </a:highlight>
                <a:latin typeface="Arial" panose="020B0604020202020204"/>
                <a:cs typeface="Arial" panose="020B0604020202020204"/>
              </a:rPr>
              <a:t>x2</a:t>
            </a:r>
            <a:r>
              <a:rPr sz="1950" spc="15" baseline="-21000" dirty="0">
                <a:highlight>
                  <a:srgbClr val="00FF00"/>
                </a:highlight>
                <a:latin typeface="Arial" panose="020B0604020202020204"/>
                <a:cs typeface="Arial" panose="020B0604020202020204"/>
              </a:rPr>
              <a:t>nom</a:t>
            </a:r>
            <a:r>
              <a:rPr sz="1950" spc="-104" baseline="-21000" dirty="0">
                <a:highlight>
                  <a:srgbClr val="00FF00"/>
                </a:highlight>
                <a:latin typeface="Arial" panose="020B0604020202020204"/>
                <a:cs typeface="Arial" panose="020B0604020202020204"/>
              </a:rPr>
              <a:t> </a:t>
            </a:r>
            <a:r>
              <a:rPr sz="2000" dirty="0">
                <a:highlight>
                  <a:srgbClr val="00FF00"/>
                </a:highlight>
                <a:latin typeface="Arial" panose="020B0604020202020204"/>
                <a:cs typeface="Arial" panose="020B0604020202020204"/>
              </a:rPr>
              <a:t>&gt;</a:t>
            </a:r>
          </a:p>
          <a:p>
            <a:pPr marL="42545">
              <a:lnSpc>
                <a:spcPct val="100000"/>
              </a:lnSpc>
              <a:spcBef>
                <a:spcPts val="600"/>
              </a:spcBef>
            </a:pPr>
            <a:r>
              <a:rPr sz="2000" spc="5" dirty="0">
                <a:highlight>
                  <a:srgbClr val="00FFFF"/>
                </a:highlight>
                <a:latin typeface="Arial" panose="020B0604020202020204"/>
                <a:cs typeface="Arial" panose="020B0604020202020204"/>
              </a:rPr>
              <a:t>&lt;x1</a:t>
            </a:r>
            <a:r>
              <a:rPr sz="1950" spc="7" baseline="-21000" dirty="0">
                <a:highlight>
                  <a:srgbClr val="00FFFF"/>
                </a:highlight>
                <a:latin typeface="Arial" panose="020B0604020202020204"/>
                <a:cs typeface="Arial" panose="020B0604020202020204"/>
              </a:rPr>
              <a:t>min</a:t>
            </a:r>
            <a:r>
              <a:rPr sz="2000" spc="5" dirty="0">
                <a:highlight>
                  <a:srgbClr val="00FFFF"/>
                </a:highlight>
                <a:latin typeface="Arial" panose="020B0604020202020204"/>
                <a:cs typeface="Arial" panose="020B0604020202020204"/>
              </a:rPr>
              <a:t>, </a:t>
            </a:r>
            <a:r>
              <a:rPr sz="2000" spc="10" dirty="0">
                <a:highlight>
                  <a:srgbClr val="00FFFF"/>
                </a:highlight>
                <a:latin typeface="Arial" panose="020B0604020202020204"/>
                <a:cs typeface="Arial" panose="020B0604020202020204"/>
              </a:rPr>
              <a:t>x2</a:t>
            </a:r>
            <a:r>
              <a:rPr sz="1950" spc="15" baseline="-21000" dirty="0">
                <a:highlight>
                  <a:srgbClr val="00FFFF"/>
                </a:highlight>
                <a:latin typeface="Arial" panose="020B0604020202020204"/>
                <a:cs typeface="Arial" panose="020B0604020202020204"/>
              </a:rPr>
              <a:t>nom</a:t>
            </a:r>
            <a:r>
              <a:rPr sz="1950" spc="434" baseline="-21000" dirty="0">
                <a:highlight>
                  <a:srgbClr val="00FFFF"/>
                </a:highlight>
                <a:latin typeface="Arial" panose="020B0604020202020204"/>
                <a:cs typeface="Arial" panose="020B0604020202020204"/>
              </a:rPr>
              <a:t> </a:t>
            </a:r>
            <a:r>
              <a:rPr sz="2000" dirty="0">
                <a:highlight>
                  <a:srgbClr val="00FFFF"/>
                </a:highlight>
                <a:latin typeface="Arial" panose="020B0604020202020204"/>
                <a:cs typeface="Arial" panose="020B0604020202020204"/>
              </a:rPr>
              <a:t>&gt;</a:t>
            </a:r>
          </a:p>
          <a:p>
            <a:pPr marL="38100">
              <a:lnSpc>
                <a:spcPct val="100000"/>
              </a:lnSpc>
              <a:spcBef>
                <a:spcPts val="600"/>
              </a:spcBef>
            </a:pPr>
            <a:r>
              <a:rPr sz="2000" spc="5" dirty="0">
                <a:highlight>
                  <a:srgbClr val="00FFFF"/>
                </a:highlight>
                <a:latin typeface="Arial" panose="020B0604020202020204"/>
                <a:cs typeface="Arial" panose="020B0604020202020204"/>
              </a:rPr>
              <a:t>&lt;x1</a:t>
            </a:r>
            <a:r>
              <a:rPr sz="1950" spc="7" baseline="-21000" dirty="0">
                <a:highlight>
                  <a:srgbClr val="00FFFF"/>
                </a:highlight>
                <a:latin typeface="Arial" panose="020B0604020202020204"/>
                <a:cs typeface="Arial" panose="020B0604020202020204"/>
              </a:rPr>
              <a:t>max-</a:t>
            </a:r>
            <a:r>
              <a:rPr sz="2000" spc="5" dirty="0">
                <a:highlight>
                  <a:srgbClr val="00FFFF"/>
                </a:highlight>
                <a:latin typeface="Arial" panose="020B0604020202020204"/>
                <a:cs typeface="Arial" panose="020B0604020202020204"/>
              </a:rPr>
              <a:t>,</a:t>
            </a:r>
            <a:r>
              <a:rPr sz="2000" spc="-80" dirty="0">
                <a:highlight>
                  <a:srgbClr val="00FFFF"/>
                </a:highlight>
                <a:latin typeface="Arial" panose="020B0604020202020204"/>
                <a:cs typeface="Arial" panose="020B0604020202020204"/>
              </a:rPr>
              <a:t> </a:t>
            </a:r>
            <a:r>
              <a:rPr sz="2000" spc="10" dirty="0">
                <a:highlight>
                  <a:srgbClr val="00FFFF"/>
                </a:highlight>
                <a:latin typeface="Arial" panose="020B0604020202020204"/>
                <a:cs typeface="Arial" panose="020B0604020202020204"/>
              </a:rPr>
              <a:t>x2</a:t>
            </a:r>
            <a:r>
              <a:rPr sz="1950" spc="15" baseline="-21000" dirty="0">
                <a:highlight>
                  <a:srgbClr val="00FFFF"/>
                </a:highlight>
                <a:latin typeface="Arial" panose="020B0604020202020204"/>
                <a:cs typeface="Arial" panose="020B0604020202020204"/>
              </a:rPr>
              <a:t>nom</a:t>
            </a:r>
            <a:r>
              <a:rPr sz="2000" spc="10" dirty="0">
                <a:highlight>
                  <a:srgbClr val="00FFFF"/>
                </a:highlight>
                <a:latin typeface="Arial" panose="020B0604020202020204"/>
                <a:cs typeface="Arial" panose="020B0604020202020204"/>
              </a:rPr>
              <a:t>&gt;</a:t>
            </a:r>
            <a:endParaRPr sz="2000" dirty="0">
              <a:highlight>
                <a:srgbClr val="00FFFF"/>
              </a:highlight>
              <a:latin typeface="Arial" panose="020B0604020202020204"/>
              <a:cs typeface="Arial" panose="020B0604020202020204"/>
            </a:endParaRPr>
          </a:p>
        </p:txBody>
      </p:sp>
      <p:sp>
        <p:nvSpPr>
          <p:cNvPr id="33" name="灯片编号占位符 32"/>
          <p:cNvSpPr>
            <a:spLocks noGrp="1"/>
          </p:cNvSpPr>
          <p:nvPr>
            <p:ph type="sldNum" sz="quarter" idx="12"/>
          </p:nvPr>
        </p:nvSpPr>
        <p:spPr/>
        <p:txBody>
          <a:bodyPr/>
          <a:lstStyle/>
          <a:p>
            <a:fld id="{74D2AB8B-5816-41F2-8B4B-CA5C3E4E6A65}" type="slidenum">
              <a:rPr lang="zh-CN" altLang="en-US" smtClean="0"/>
              <a:t>9</a:t>
            </a:fld>
            <a:endParaRPr lang="zh-CN" altLang="en-US"/>
          </a:p>
        </p:txBody>
      </p:sp>
      <p:sp>
        <p:nvSpPr>
          <p:cNvPr id="35" name="标题 34"/>
          <p:cNvSpPr>
            <a:spLocks noGrp="1"/>
          </p:cNvSpPr>
          <p:nvPr>
            <p:ph type="title"/>
          </p:nvPr>
        </p:nvSpPr>
        <p:spPr/>
        <p:txBody>
          <a:bodyPr/>
          <a:lstStyle/>
          <a:p>
            <a:r>
              <a:rPr lang="zh-CN" altLang="en-US" dirty="0"/>
              <a:t>边界值分析</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859129" y="5615097"/>
            <a:ext cx="294005"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Arial" panose="020B0604020202020204"/>
                <a:cs typeface="Arial" panose="020B0604020202020204"/>
              </a:rPr>
              <a:t>x1</a:t>
            </a:r>
            <a:endParaRPr sz="2000">
              <a:latin typeface="Arial" panose="020B0604020202020204"/>
              <a:cs typeface="Arial" panose="020B0604020202020204"/>
            </a:endParaRPr>
          </a:p>
        </p:txBody>
      </p:sp>
      <p:sp>
        <p:nvSpPr>
          <p:cNvPr id="4" name="object 4"/>
          <p:cNvSpPr/>
          <p:nvPr/>
        </p:nvSpPr>
        <p:spPr>
          <a:xfrm>
            <a:off x="3525426" y="3602055"/>
            <a:ext cx="0" cy="2195195"/>
          </a:xfrm>
          <a:custGeom>
            <a:avLst/>
            <a:gdLst/>
            <a:ahLst/>
            <a:cxnLst/>
            <a:rect l="l" t="t" r="r" b="b"/>
            <a:pathLst>
              <a:path h="2195195">
                <a:moveTo>
                  <a:pt x="0" y="2194718"/>
                </a:moveTo>
                <a:lnTo>
                  <a:pt x="0" y="0"/>
                </a:lnTo>
              </a:path>
            </a:pathLst>
          </a:custGeom>
          <a:ln w="9524">
            <a:solidFill>
              <a:srgbClr val="000000"/>
            </a:solidFill>
          </a:ln>
        </p:spPr>
        <p:txBody>
          <a:bodyPr wrap="square" lIns="0" tIns="0" rIns="0" bIns="0" rtlCol="0"/>
          <a:lstStyle/>
          <a:p>
            <a:endParaRPr/>
          </a:p>
        </p:txBody>
      </p:sp>
      <p:sp>
        <p:nvSpPr>
          <p:cNvPr id="5" name="object 5"/>
          <p:cNvSpPr/>
          <p:nvPr/>
        </p:nvSpPr>
        <p:spPr>
          <a:xfrm>
            <a:off x="3487326" y="3576655"/>
            <a:ext cx="76200" cy="76200"/>
          </a:xfrm>
          <a:custGeom>
            <a:avLst/>
            <a:gdLst/>
            <a:ahLst/>
            <a:cxnLst/>
            <a:rect l="l" t="t" r="r" b="b"/>
            <a:pathLst>
              <a:path w="76200" h="76200">
                <a:moveTo>
                  <a:pt x="38100" y="0"/>
                </a:moveTo>
                <a:lnTo>
                  <a:pt x="0" y="76200"/>
                </a:lnTo>
                <a:lnTo>
                  <a:pt x="76200" y="76200"/>
                </a:lnTo>
                <a:lnTo>
                  <a:pt x="38100" y="0"/>
                </a:lnTo>
                <a:close/>
              </a:path>
            </a:pathLst>
          </a:custGeom>
          <a:solidFill>
            <a:srgbClr val="000000"/>
          </a:solidFill>
        </p:spPr>
        <p:txBody>
          <a:bodyPr wrap="square" lIns="0" tIns="0" rIns="0" bIns="0" rtlCol="0"/>
          <a:lstStyle/>
          <a:p>
            <a:endParaRPr/>
          </a:p>
        </p:txBody>
      </p:sp>
      <p:sp>
        <p:nvSpPr>
          <p:cNvPr id="6" name="object 6"/>
          <p:cNvSpPr/>
          <p:nvPr/>
        </p:nvSpPr>
        <p:spPr>
          <a:xfrm>
            <a:off x="3531002" y="5808992"/>
            <a:ext cx="5211445" cy="0"/>
          </a:xfrm>
          <a:custGeom>
            <a:avLst/>
            <a:gdLst/>
            <a:ahLst/>
            <a:cxnLst/>
            <a:rect l="l" t="t" r="r" b="b"/>
            <a:pathLst>
              <a:path w="5211445">
                <a:moveTo>
                  <a:pt x="0" y="0"/>
                </a:moveTo>
                <a:lnTo>
                  <a:pt x="5210968" y="0"/>
                </a:lnTo>
              </a:path>
            </a:pathLst>
          </a:custGeom>
          <a:ln w="9524">
            <a:solidFill>
              <a:srgbClr val="000000"/>
            </a:solidFill>
          </a:ln>
        </p:spPr>
        <p:txBody>
          <a:bodyPr wrap="square" lIns="0" tIns="0" rIns="0" bIns="0" rtlCol="0"/>
          <a:lstStyle/>
          <a:p>
            <a:endParaRPr/>
          </a:p>
        </p:txBody>
      </p:sp>
      <p:sp>
        <p:nvSpPr>
          <p:cNvPr id="7" name="object 7"/>
          <p:cNvSpPr/>
          <p:nvPr/>
        </p:nvSpPr>
        <p:spPr>
          <a:xfrm>
            <a:off x="8691171" y="5770892"/>
            <a:ext cx="76200" cy="76200"/>
          </a:xfrm>
          <a:custGeom>
            <a:avLst/>
            <a:gdLst/>
            <a:ahLst/>
            <a:cxnLst/>
            <a:rect l="l" t="t" r="r" b="b"/>
            <a:pathLst>
              <a:path w="76200" h="76200">
                <a:moveTo>
                  <a:pt x="0" y="0"/>
                </a:moveTo>
                <a:lnTo>
                  <a:pt x="0" y="76200"/>
                </a:lnTo>
                <a:lnTo>
                  <a:pt x="76200" y="38099"/>
                </a:lnTo>
                <a:lnTo>
                  <a:pt x="0" y="0"/>
                </a:lnTo>
                <a:close/>
              </a:path>
            </a:pathLst>
          </a:custGeom>
          <a:solidFill>
            <a:srgbClr val="000000"/>
          </a:solidFill>
        </p:spPr>
        <p:txBody>
          <a:bodyPr wrap="square" lIns="0" tIns="0" rIns="0" bIns="0" rtlCol="0"/>
          <a:lstStyle/>
          <a:p>
            <a:endParaRPr/>
          </a:p>
        </p:txBody>
      </p:sp>
      <p:sp>
        <p:nvSpPr>
          <p:cNvPr id="8" name="object 8"/>
          <p:cNvSpPr/>
          <p:nvPr/>
        </p:nvSpPr>
        <p:spPr>
          <a:xfrm>
            <a:off x="4769064" y="4185977"/>
            <a:ext cx="2597150" cy="1089660"/>
          </a:xfrm>
          <a:custGeom>
            <a:avLst/>
            <a:gdLst/>
            <a:ahLst/>
            <a:cxnLst/>
            <a:rect l="l" t="t" r="r" b="b"/>
            <a:pathLst>
              <a:path w="2597150" h="1089660">
                <a:moveTo>
                  <a:pt x="0" y="0"/>
                </a:moveTo>
                <a:lnTo>
                  <a:pt x="2596809" y="0"/>
                </a:lnTo>
                <a:lnTo>
                  <a:pt x="2596809" y="1089196"/>
                </a:lnTo>
                <a:lnTo>
                  <a:pt x="0" y="1089196"/>
                </a:lnTo>
                <a:lnTo>
                  <a:pt x="0" y="0"/>
                </a:lnTo>
                <a:close/>
              </a:path>
            </a:pathLst>
          </a:custGeom>
          <a:solidFill>
            <a:srgbClr val="EBEBEB"/>
          </a:solidFill>
        </p:spPr>
        <p:txBody>
          <a:bodyPr wrap="square" lIns="0" tIns="0" rIns="0" bIns="0" rtlCol="0"/>
          <a:lstStyle/>
          <a:p>
            <a:endParaRPr/>
          </a:p>
        </p:txBody>
      </p:sp>
      <p:sp>
        <p:nvSpPr>
          <p:cNvPr id="9" name="object 9"/>
          <p:cNvSpPr/>
          <p:nvPr/>
        </p:nvSpPr>
        <p:spPr>
          <a:xfrm>
            <a:off x="4769064" y="4185977"/>
            <a:ext cx="2597150" cy="1089660"/>
          </a:xfrm>
          <a:custGeom>
            <a:avLst/>
            <a:gdLst/>
            <a:ahLst/>
            <a:cxnLst/>
            <a:rect l="l" t="t" r="r" b="b"/>
            <a:pathLst>
              <a:path w="2597150" h="1089660">
                <a:moveTo>
                  <a:pt x="0" y="0"/>
                </a:moveTo>
                <a:lnTo>
                  <a:pt x="2596810" y="0"/>
                </a:lnTo>
                <a:lnTo>
                  <a:pt x="2596810" y="1089196"/>
                </a:lnTo>
                <a:lnTo>
                  <a:pt x="0" y="1089196"/>
                </a:lnTo>
                <a:lnTo>
                  <a:pt x="0" y="0"/>
                </a:lnTo>
                <a:close/>
              </a:path>
            </a:pathLst>
          </a:custGeom>
          <a:ln w="9524">
            <a:solidFill>
              <a:srgbClr val="000000"/>
            </a:solidFill>
          </a:ln>
        </p:spPr>
        <p:txBody>
          <a:bodyPr wrap="square" lIns="0" tIns="0" rIns="0" bIns="0" rtlCol="0"/>
          <a:lstStyle/>
          <a:p>
            <a:endParaRPr/>
          </a:p>
        </p:txBody>
      </p:sp>
      <p:sp>
        <p:nvSpPr>
          <p:cNvPr id="10" name="object 10"/>
          <p:cNvSpPr/>
          <p:nvPr/>
        </p:nvSpPr>
        <p:spPr>
          <a:xfrm>
            <a:off x="3531002" y="4180434"/>
            <a:ext cx="4398645" cy="17780"/>
          </a:xfrm>
          <a:custGeom>
            <a:avLst/>
            <a:gdLst/>
            <a:ahLst/>
            <a:cxnLst/>
            <a:rect l="l" t="t" r="r" b="b"/>
            <a:pathLst>
              <a:path w="4398645" h="17779">
                <a:moveTo>
                  <a:pt x="0" y="0"/>
                </a:moveTo>
                <a:lnTo>
                  <a:pt x="4398032" y="17455"/>
                </a:lnTo>
              </a:path>
            </a:pathLst>
          </a:custGeom>
          <a:ln w="9524">
            <a:solidFill>
              <a:srgbClr val="000000"/>
            </a:solidFill>
          </a:ln>
        </p:spPr>
        <p:txBody>
          <a:bodyPr wrap="square" lIns="0" tIns="0" rIns="0" bIns="0" rtlCol="0"/>
          <a:lstStyle/>
          <a:p>
            <a:endParaRPr/>
          </a:p>
        </p:txBody>
      </p:sp>
      <p:sp>
        <p:nvSpPr>
          <p:cNvPr id="11" name="object 11"/>
          <p:cNvSpPr/>
          <p:nvPr/>
        </p:nvSpPr>
        <p:spPr>
          <a:xfrm>
            <a:off x="3531002" y="5260905"/>
            <a:ext cx="4435475" cy="5715"/>
          </a:xfrm>
          <a:custGeom>
            <a:avLst/>
            <a:gdLst/>
            <a:ahLst/>
            <a:cxnLst/>
            <a:rect l="l" t="t" r="r" b="b"/>
            <a:pathLst>
              <a:path w="4435475" h="5714">
                <a:moveTo>
                  <a:pt x="0" y="5235"/>
                </a:moveTo>
                <a:lnTo>
                  <a:pt x="4435208" y="0"/>
                </a:lnTo>
              </a:path>
            </a:pathLst>
          </a:custGeom>
          <a:ln w="9524">
            <a:solidFill>
              <a:srgbClr val="000000"/>
            </a:solidFill>
          </a:ln>
        </p:spPr>
        <p:txBody>
          <a:bodyPr wrap="square" lIns="0" tIns="0" rIns="0" bIns="0" rtlCol="0"/>
          <a:lstStyle/>
          <a:p>
            <a:endParaRPr/>
          </a:p>
        </p:txBody>
      </p:sp>
      <p:sp>
        <p:nvSpPr>
          <p:cNvPr id="12" name="object 12"/>
          <p:cNvSpPr/>
          <p:nvPr/>
        </p:nvSpPr>
        <p:spPr>
          <a:xfrm>
            <a:off x="4761558" y="3726602"/>
            <a:ext cx="0" cy="2082800"/>
          </a:xfrm>
          <a:custGeom>
            <a:avLst/>
            <a:gdLst/>
            <a:ahLst/>
            <a:cxnLst/>
            <a:rect l="l" t="t" r="r" b="b"/>
            <a:pathLst>
              <a:path h="2082800">
                <a:moveTo>
                  <a:pt x="0" y="0"/>
                </a:moveTo>
                <a:lnTo>
                  <a:pt x="1" y="2082389"/>
                </a:lnTo>
              </a:path>
            </a:pathLst>
          </a:custGeom>
          <a:ln w="9524">
            <a:solidFill>
              <a:srgbClr val="000000"/>
            </a:solidFill>
          </a:ln>
        </p:spPr>
        <p:txBody>
          <a:bodyPr wrap="square" lIns="0" tIns="0" rIns="0" bIns="0" rtlCol="0"/>
          <a:lstStyle/>
          <a:p>
            <a:endParaRPr/>
          </a:p>
        </p:txBody>
      </p:sp>
      <p:sp>
        <p:nvSpPr>
          <p:cNvPr id="13" name="object 13"/>
          <p:cNvSpPr/>
          <p:nvPr/>
        </p:nvSpPr>
        <p:spPr>
          <a:xfrm>
            <a:off x="7367662" y="3726602"/>
            <a:ext cx="0" cy="2082800"/>
          </a:xfrm>
          <a:custGeom>
            <a:avLst/>
            <a:gdLst/>
            <a:ahLst/>
            <a:cxnLst/>
            <a:rect l="l" t="t" r="r" b="b"/>
            <a:pathLst>
              <a:path h="2082800">
                <a:moveTo>
                  <a:pt x="0" y="0"/>
                </a:moveTo>
                <a:lnTo>
                  <a:pt x="0" y="2082389"/>
                </a:lnTo>
              </a:path>
            </a:pathLst>
          </a:custGeom>
          <a:ln w="9524">
            <a:solidFill>
              <a:srgbClr val="000000"/>
            </a:solidFill>
          </a:ln>
        </p:spPr>
        <p:txBody>
          <a:bodyPr wrap="square" lIns="0" tIns="0" rIns="0" bIns="0" rtlCol="0"/>
          <a:lstStyle/>
          <a:p>
            <a:endParaRPr/>
          </a:p>
        </p:txBody>
      </p:sp>
      <p:sp>
        <p:nvSpPr>
          <p:cNvPr id="14" name="object 14"/>
          <p:cNvSpPr txBox="1"/>
          <p:nvPr/>
        </p:nvSpPr>
        <p:spPr>
          <a:xfrm>
            <a:off x="4661848" y="5770447"/>
            <a:ext cx="167005"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Arial" panose="020B0604020202020204"/>
                <a:cs typeface="Arial" panose="020B0604020202020204"/>
              </a:rPr>
              <a:t>a</a:t>
            </a:r>
            <a:endParaRPr sz="2000">
              <a:latin typeface="Arial" panose="020B0604020202020204"/>
              <a:cs typeface="Arial" panose="020B0604020202020204"/>
            </a:endParaRPr>
          </a:p>
        </p:txBody>
      </p:sp>
      <p:sp>
        <p:nvSpPr>
          <p:cNvPr id="15" name="object 15"/>
          <p:cNvSpPr txBox="1"/>
          <p:nvPr/>
        </p:nvSpPr>
        <p:spPr>
          <a:xfrm>
            <a:off x="7284609" y="5807103"/>
            <a:ext cx="167005"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Arial" panose="020B0604020202020204"/>
                <a:cs typeface="Arial" panose="020B0604020202020204"/>
              </a:rPr>
              <a:t>b</a:t>
            </a:r>
            <a:endParaRPr sz="2000">
              <a:latin typeface="Arial" panose="020B0604020202020204"/>
              <a:cs typeface="Arial" panose="020B0604020202020204"/>
            </a:endParaRPr>
          </a:p>
        </p:txBody>
      </p:sp>
      <p:sp>
        <p:nvSpPr>
          <p:cNvPr id="16" name="object 16"/>
          <p:cNvSpPr txBox="1"/>
          <p:nvPr/>
        </p:nvSpPr>
        <p:spPr>
          <a:xfrm>
            <a:off x="1002825" y="1731522"/>
            <a:ext cx="10321925" cy="2607958"/>
          </a:xfrm>
          <a:prstGeom prst="rect">
            <a:avLst/>
          </a:prstGeom>
        </p:spPr>
        <p:txBody>
          <a:bodyPr vert="horz" wrap="square" lIns="0" tIns="12700" rIns="0" bIns="0" rtlCol="0">
            <a:spAutoFit/>
          </a:bodyPr>
          <a:lstStyle/>
          <a:p>
            <a:pPr marL="12700" marR="5080">
              <a:lnSpc>
                <a:spcPct val="129000"/>
              </a:lnSpc>
              <a:spcBef>
                <a:spcPts val="100"/>
              </a:spcBef>
            </a:pPr>
            <a:r>
              <a:rPr sz="2200" spc="15" dirty="0">
                <a:solidFill>
                  <a:srgbClr val="0033CC"/>
                </a:solidFill>
                <a:latin typeface="微软雅黑" panose="020B0503020204020204" pitchFamily="34" charset="-122"/>
                <a:cs typeface="微软雅黑" panose="020B0503020204020204" pitchFamily="34" charset="-122"/>
              </a:rPr>
              <a:t>健壮性测试</a:t>
            </a:r>
            <a:r>
              <a:rPr sz="2200" spc="15" dirty="0">
                <a:latin typeface="微软雅黑" panose="020B0503020204020204" pitchFamily="34" charset="-122"/>
                <a:cs typeface="微软雅黑" panose="020B0503020204020204" pitchFamily="34" charset="-122"/>
              </a:rPr>
              <a:t>是作为边界值分析的一个简单的扩充，它除了对变量的</a:t>
            </a:r>
            <a:r>
              <a:rPr sz="2200" spc="15" dirty="0">
                <a:latin typeface="Arial" panose="020B0604020202020204"/>
                <a:cs typeface="Arial" panose="020B0604020202020204"/>
              </a:rPr>
              <a:t>5</a:t>
            </a:r>
            <a:r>
              <a:rPr sz="2200" spc="15" dirty="0">
                <a:latin typeface="微软雅黑" panose="020B0503020204020204" pitchFamily="34" charset="-122"/>
                <a:cs typeface="微软雅黑" panose="020B0503020204020204" pitchFamily="34" charset="-122"/>
              </a:rPr>
              <a:t>个边界值分析 </a:t>
            </a:r>
            <a:r>
              <a:rPr sz="2200" spc="25" dirty="0">
                <a:latin typeface="微软雅黑" panose="020B0503020204020204" pitchFamily="34" charset="-122"/>
                <a:cs typeface="微软雅黑" panose="020B0503020204020204" pitchFamily="34" charset="-122"/>
              </a:rPr>
              <a:t>取值外，还要增加一个略大于最大值（</a:t>
            </a:r>
            <a:r>
              <a:rPr sz="2200" spc="25" dirty="0">
                <a:latin typeface="Arial" panose="020B0604020202020204"/>
                <a:cs typeface="Arial" panose="020B0604020202020204"/>
              </a:rPr>
              <a:t>max+</a:t>
            </a:r>
            <a:r>
              <a:rPr sz="2200" spc="25" dirty="0">
                <a:latin typeface="微软雅黑" panose="020B0503020204020204" pitchFamily="34" charset="-122"/>
                <a:cs typeface="微软雅黑" panose="020B0503020204020204" pitchFamily="34" charset="-122"/>
              </a:rPr>
              <a:t>）以及略小于最小值（</a:t>
            </a:r>
            <a:r>
              <a:rPr sz="2200" spc="25" dirty="0">
                <a:latin typeface="Arial" panose="020B0604020202020204"/>
                <a:cs typeface="Arial" panose="020B0604020202020204"/>
              </a:rPr>
              <a:t>min-</a:t>
            </a:r>
            <a:r>
              <a:rPr sz="2200" spc="25" dirty="0">
                <a:latin typeface="微软雅黑" panose="020B0503020204020204" pitchFamily="34" charset="-122"/>
                <a:cs typeface="微软雅黑" panose="020B0503020204020204" pitchFamily="34" charset="-122"/>
              </a:rPr>
              <a:t>）的取</a:t>
            </a:r>
            <a:r>
              <a:rPr sz="2200" dirty="0">
                <a:latin typeface="微软雅黑" panose="020B0503020204020204" pitchFamily="34" charset="-122"/>
                <a:cs typeface="微软雅黑" panose="020B0503020204020204" pitchFamily="34" charset="-122"/>
              </a:rPr>
              <a:t>值， 检查</a:t>
            </a:r>
            <a:r>
              <a:rPr sz="2200" dirty="0">
                <a:solidFill>
                  <a:srgbClr val="FF0000"/>
                </a:solidFill>
                <a:latin typeface="微软雅黑" panose="020B0503020204020204" pitchFamily="34" charset="-122"/>
                <a:cs typeface="微软雅黑" panose="020B0503020204020204" pitchFamily="34" charset="-122"/>
              </a:rPr>
              <a:t>超过极限值时</a:t>
            </a:r>
            <a:r>
              <a:rPr sz="2200" dirty="0">
                <a:latin typeface="微软雅黑" panose="020B0503020204020204" pitchFamily="34" charset="-122"/>
                <a:cs typeface="微软雅黑" panose="020B0503020204020204" pitchFamily="34" charset="-122"/>
              </a:rPr>
              <a:t>系统的情况。</a:t>
            </a:r>
          </a:p>
          <a:p>
            <a:pPr marL="2366645">
              <a:lnSpc>
                <a:spcPct val="100000"/>
              </a:lnSpc>
              <a:spcBef>
                <a:spcPts val="1480"/>
              </a:spcBef>
            </a:pPr>
            <a:r>
              <a:rPr sz="2000" dirty="0">
                <a:latin typeface="Arial" panose="020B0604020202020204"/>
                <a:cs typeface="Arial" panose="020B0604020202020204"/>
              </a:rPr>
              <a:t>x2</a:t>
            </a:r>
          </a:p>
          <a:p>
            <a:pPr>
              <a:lnSpc>
                <a:spcPct val="100000"/>
              </a:lnSpc>
              <a:spcBef>
                <a:spcPts val="25"/>
              </a:spcBef>
            </a:pPr>
            <a:endParaRPr sz="3100" dirty="0">
              <a:latin typeface="Times New Roman" panose="02020603050405020304"/>
              <a:cs typeface="Times New Roman" panose="02020603050405020304"/>
            </a:endParaRPr>
          </a:p>
          <a:p>
            <a:pPr marL="2296160">
              <a:lnSpc>
                <a:spcPct val="100000"/>
              </a:lnSpc>
            </a:pPr>
            <a:r>
              <a:rPr sz="2000" dirty="0">
                <a:latin typeface="Arial" panose="020B0604020202020204"/>
                <a:cs typeface="Arial" panose="020B0604020202020204"/>
              </a:rPr>
              <a:t>c</a:t>
            </a:r>
          </a:p>
        </p:txBody>
      </p:sp>
      <p:sp>
        <p:nvSpPr>
          <p:cNvPr id="17" name="object 17"/>
          <p:cNvSpPr txBox="1"/>
          <p:nvPr/>
        </p:nvSpPr>
        <p:spPr>
          <a:xfrm>
            <a:off x="3286302" y="5061771"/>
            <a:ext cx="167005"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Arial" panose="020B0604020202020204"/>
                <a:cs typeface="Arial" panose="020B0604020202020204"/>
              </a:rPr>
              <a:t>d</a:t>
            </a:r>
            <a:endParaRPr sz="2000">
              <a:latin typeface="Arial" panose="020B0604020202020204"/>
              <a:cs typeface="Arial" panose="020B0604020202020204"/>
            </a:endParaRPr>
          </a:p>
        </p:txBody>
      </p:sp>
      <p:sp>
        <p:nvSpPr>
          <p:cNvPr id="18" name="object 18"/>
          <p:cNvSpPr/>
          <p:nvPr/>
        </p:nvSpPr>
        <p:spPr>
          <a:xfrm>
            <a:off x="7029388" y="4630775"/>
            <a:ext cx="167640" cy="167640"/>
          </a:xfrm>
          <a:custGeom>
            <a:avLst/>
            <a:gdLst/>
            <a:ahLst/>
            <a:cxnLst/>
            <a:rect l="l" t="t" r="r" b="b"/>
            <a:pathLst>
              <a:path w="167640" h="167639">
                <a:moveTo>
                  <a:pt x="83648" y="0"/>
                </a:moveTo>
                <a:lnTo>
                  <a:pt x="51088" y="6584"/>
                </a:lnTo>
                <a:lnTo>
                  <a:pt x="24500" y="24540"/>
                </a:lnTo>
                <a:lnTo>
                  <a:pt x="6573" y="51172"/>
                </a:lnTo>
                <a:lnTo>
                  <a:pt x="0" y="83785"/>
                </a:lnTo>
                <a:lnTo>
                  <a:pt x="6573" y="116398"/>
                </a:lnTo>
                <a:lnTo>
                  <a:pt x="24500" y="143030"/>
                </a:lnTo>
                <a:lnTo>
                  <a:pt x="51088" y="160985"/>
                </a:lnTo>
                <a:lnTo>
                  <a:pt x="83648" y="167570"/>
                </a:lnTo>
                <a:lnTo>
                  <a:pt x="116208" y="160985"/>
                </a:lnTo>
                <a:lnTo>
                  <a:pt x="142796" y="143030"/>
                </a:lnTo>
                <a:lnTo>
                  <a:pt x="160722" y="116398"/>
                </a:lnTo>
                <a:lnTo>
                  <a:pt x="167295" y="83785"/>
                </a:lnTo>
                <a:lnTo>
                  <a:pt x="160722" y="51172"/>
                </a:lnTo>
                <a:lnTo>
                  <a:pt x="142796" y="24540"/>
                </a:lnTo>
                <a:lnTo>
                  <a:pt x="116208" y="6584"/>
                </a:lnTo>
                <a:lnTo>
                  <a:pt x="83648" y="0"/>
                </a:lnTo>
                <a:close/>
              </a:path>
            </a:pathLst>
          </a:custGeom>
          <a:solidFill>
            <a:srgbClr val="000000"/>
          </a:solidFill>
        </p:spPr>
        <p:txBody>
          <a:bodyPr wrap="square" lIns="0" tIns="0" rIns="0" bIns="0" rtlCol="0"/>
          <a:lstStyle/>
          <a:p>
            <a:endParaRPr/>
          </a:p>
        </p:txBody>
      </p:sp>
      <p:sp>
        <p:nvSpPr>
          <p:cNvPr id="19" name="object 19"/>
          <p:cNvSpPr/>
          <p:nvPr/>
        </p:nvSpPr>
        <p:spPr>
          <a:xfrm>
            <a:off x="7029387" y="4630775"/>
            <a:ext cx="167640" cy="167640"/>
          </a:xfrm>
          <a:custGeom>
            <a:avLst/>
            <a:gdLst/>
            <a:ahLst/>
            <a:cxnLst/>
            <a:rect l="l" t="t" r="r" b="b"/>
            <a:pathLst>
              <a:path w="167640" h="167639">
                <a:moveTo>
                  <a:pt x="0" y="83784"/>
                </a:moveTo>
                <a:lnTo>
                  <a:pt x="6573" y="51172"/>
                </a:lnTo>
                <a:lnTo>
                  <a:pt x="24499" y="24540"/>
                </a:lnTo>
                <a:lnTo>
                  <a:pt x="51088" y="6584"/>
                </a:lnTo>
                <a:lnTo>
                  <a:pt x="83647" y="0"/>
                </a:lnTo>
                <a:lnTo>
                  <a:pt x="116207" y="6584"/>
                </a:lnTo>
                <a:lnTo>
                  <a:pt x="142796" y="24540"/>
                </a:lnTo>
                <a:lnTo>
                  <a:pt x="160722" y="51172"/>
                </a:lnTo>
                <a:lnTo>
                  <a:pt x="167296" y="83784"/>
                </a:lnTo>
                <a:lnTo>
                  <a:pt x="160722" y="116397"/>
                </a:lnTo>
                <a:lnTo>
                  <a:pt x="142796" y="143029"/>
                </a:lnTo>
                <a:lnTo>
                  <a:pt x="116207" y="160985"/>
                </a:lnTo>
                <a:lnTo>
                  <a:pt x="83647" y="167570"/>
                </a:lnTo>
                <a:lnTo>
                  <a:pt x="51088" y="160985"/>
                </a:lnTo>
                <a:lnTo>
                  <a:pt x="24499" y="143029"/>
                </a:lnTo>
                <a:lnTo>
                  <a:pt x="6573" y="116397"/>
                </a:lnTo>
                <a:lnTo>
                  <a:pt x="0" y="83784"/>
                </a:lnTo>
                <a:close/>
              </a:path>
            </a:pathLst>
          </a:custGeom>
          <a:ln w="9524">
            <a:solidFill>
              <a:srgbClr val="000000"/>
            </a:solidFill>
          </a:ln>
        </p:spPr>
        <p:txBody>
          <a:bodyPr wrap="square" lIns="0" tIns="0" rIns="0" bIns="0" rtlCol="0"/>
          <a:lstStyle/>
          <a:p>
            <a:endParaRPr/>
          </a:p>
        </p:txBody>
      </p:sp>
      <p:sp>
        <p:nvSpPr>
          <p:cNvPr id="20" name="object 20"/>
          <p:cNvSpPr/>
          <p:nvPr/>
        </p:nvSpPr>
        <p:spPr>
          <a:xfrm>
            <a:off x="5648230" y="5100318"/>
            <a:ext cx="167640" cy="167640"/>
          </a:xfrm>
          <a:custGeom>
            <a:avLst/>
            <a:gdLst/>
            <a:ahLst/>
            <a:cxnLst/>
            <a:rect l="l" t="t" r="r" b="b"/>
            <a:pathLst>
              <a:path w="167639" h="167639">
                <a:moveTo>
                  <a:pt x="83647" y="0"/>
                </a:moveTo>
                <a:lnTo>
                  <a:pt x="51087" y="6584"/>
                </a:lnTo>
                <a:lnTo>
                  <a:pt x="24499" y="24540"/>
                </a:lnTo>
                <a:lnTo>
                  <a:pt x="6573" y="51171"/>
                </a:lnTo>
                <a:lnTo>
                  <a:pt x="0" y="83784"/>
                </a:lnTo>
                <a:lnTo>
                  <a:pt x="6573" y="116397"/>
                </a:lnTo>
                <a:lnTo>
                  <a:pt x="24499" y="143029"/>
                </a:lnTo>
                <a:lnTo>
                  <a:pt x="51087" y="160985"/>
                </a:lnTo>
                <a:lnTo>
                  <a:pt x="83647" y="167570"/>
                </a:lnTo>
                <a:lnTo>
                  <a:pt x="116206" y="160985"/>
                </a:lnTo>
                <a:lnTo>
                  <a:pt x="142795" y="143029"/>
                </a:lnTo>
                <a:lnTo>
                  <a:pt x="160722" y="116397"/>
                </a:lnTo>
                <a:lnTo>
                  <a:pt x="167295" y="83784"/>
                </a:lnTo>
                <a:lnTo>
                  <a:pt x="160722" y="51171"/>
                </a:lnTo>
                <a:lnTo>
                  <a:pt x="142795" y="24540"/>
                </a:lnTo>
                <a:lnTo>
                  <a:pt x="116206" y="6584"/>
                </a:lnTo>
                <a:lnTo>
                  <a:pt x="83647" y="0"/>
                </a:lnTo>
                <a:close/>
              </a:path>
            </a:pathLst>
          </a:custGeom>
          <a:solidFill>
            <a:srgbClr val="000000"/>
          </a:solidFill>
        </p:spPr>
        <p:txBody>
          <a:bodyPr wrap="square" lIns="0" tIns="0" rIns="0" bIns="0" rtlCol="0"/>
          <a:lstStyle/>
          <a:p>
            <a:endParaRPr/>
          </a:p>
        </p:txBody>
      </p:sp>
      <p:sp>
        <p:nvSpPr>
          <p:cNvPr id="21" name="object 21"/>
          <p:cNvSpPr/>
          <p:nvPr/>
        </p:nvSpPr>
        <p:spPr>
          <a:xfrm>
            <a:off x="5648230" y="5100318"/>
            <a:ext cx="167640" cy="167640"/>
          </a:xfrm>
          <a:custGeom>
            <a:avLst/>
            <a:gdLst/>
            <a:ahLst/>
            <a:cxnLst/>
            <a:rect l="l" t="t" r="r" b="b"/>
            <a:pathLst>
              <a:path w="167639" h="167639">
                <a:moveTo>
                  <a:pt x="0" y="83784"/>
                </a:moveTo>
                <a:lnTo>
                  <a:pt x="6573" y="51172"/>
                </a:lnTo>
                <a:lnTo>
                  <a:pt x="24499" y="24540"/>
                </a:lnTo>
                <a:lnTo>
                  <a:pt x="51088" y="6584"/>
                </a:lnTo>
                <a:lnTo>
                  <a:pt x="83647" y="0"/>
                </a:lnTo>
                <a:lnTo>
                  <a:pt x="116207" y="6584"/>
                </a:lnTo>
                <a:lnTo>
                  <a:pt x="142796" y="24540"/>
                </a:lnTo>
                <a:lnTo>
                  <a:pt x="160722" y="51172"/>
                </a:lnTo>
                <a:lnTo>
                  <a:pt x="167295" y="83784"/>
                </a:lnTo>
                <a:lnTo>
                  <a:pt x="160722" y="116397"/>
                </a:lnTo>
                <a:lnTo>
                  <a:pt x="142796" y="143029"/>
                </a:lnTo>
                <a:lnTo>
                  <a:pt x="116207" y="160985"/>
                </a:lnTo>
                <a:lnTo>
                  <a:pt x="83647" y="167569"/>
                </a:lnTo>
                <a:lnTo>
                  <a:pt x="51088" y="160985"/>
                </a:lnTo>
                <a:lnTo>
                  <a:pt x="24499" y="143029"/>
                </a:lnTo>
                <a:lnTo>
                  <a:pt x="6573" y="116397"/>
                </a:lnTo>
                <a:lnTo>
                  <a:pt x="0" y="83784"/>
                </a:lnTo>
                <a:close/>
              </a:path>
            </a:pathLst>
          </a:custGeom>
          <a:ln w="9524">
            <a:solidFill>
              <a:srgbClr val="000000"/>
            </a:solidFill>
          </a:ln>
        </p:spPr>
        <p:txBody>
          <a:bodyPr wrap="square" lIns="0" tIns="0" rIns="0" bIns="0" rtlCol="0"/>
          <a:lstStyle/>
          <a:p>
            <a:endParaRPr/>
          </a:p>
        </p:txBody>
      </p:sp>
      <p:sp>
        <p:nvSpPr>
          <p:cNvPr id="22" name="object 22"/>
          <p:cNvSpPr/>
          <p:nvPr/>
        </p:nvSpPr>
        <p:spPr>
          <a:xfrm>
            <a:off x="5651948" y="4924020"/>
            <a:ext cx="167640" cy="167640"/>
          </a:xfrm>
          <a:custGeom>
            <a:avLst/>
            <a:gdLst/>
            <a:ahLst/>
            <a:cxnLst/>
            <a:rect l="l" t="t" r="r" b="b"/>
            <a:pathLst>
              <a:path w="167639" h="167639">
                <a:moveTo>
                  <a:pt x="83648" y="0"/>
                </a:moveTo>
                <a:lnTo>
                  <a:pt x="51088" y="6584"/>
                </a:lnTo>
                <a:lnTo>
                  <a:pt x="24500" y="24540"/>
                </a:lnTo>
                <a:lnTo>
                  <a:pt x="6573" y="51172"/>
                </a:lnTo>
                <a:lnTo>
                  <a:pt x="0" y="83785"/>
                </a:lnTo>
                <a:lnTo>
                  <a:pt x="6573" y="116398"/>
                </a:lnTo>
                <a:lnTo>
                  <a:pt x="24500" y="143030"/>
                </a:lnTo>
                <a:lnTo>
                  <a:pt x="51088" y="160985"/>
                </a:lnTo>
                <a:lnTo>
                  <a:pt x="83648" y="167570"/>
                </a:lnTo>
                <a:lnTo>
                  <a:pt x="116208" y="160985"/>
                </a:lnTo>
                <a:lnTo>
                  <a:pt x="142796" y="143030"/>
                </a:lnTo>
                <a:lnTo>
                  <a:pt x="160722" y="116398"/>
                </a:lnTo>
                <a:lnTo>
                  <a:pt x="167295" y="83785"/>
                </a:lnTo>
                <a:lnTo>
                  <a:pt x="160722" y="51172"/>
                </a:lnTo>
                <a:lnTo>
                  <a:pt x="142796" y="24540"/>
                </a:lnTo>
                <a:lnTo>
                  <a:pt x="116208" y="6584"/>
                </a:lnTo>
                <a:lnTo>
                  <a:pt x="83648" y="0"/>
                </a:lnTo>
                <a:close/>
              </a:path>
            </a:pathLst>
          </a:custGeom>
          <a:solidFill>
            <a:srgbClr val="000000"/>
          </a:solidFill>
        </p:spPr>
        <p:txBody>
          <a:bodyPr wrap="square" lIns="0" tIns="0" rIns="0" bIns="0" rtlCol="0"/>
          <a:lstStyle/>
          <a:p>
            <a:endParaRPr/>
          </a:p>
        </p:txBody>
      </p:sp>
      <p:sp>
        <p:nvSpPr>
          <p:cNvPr id="23" name="object 23"/>
          <p:cNvSpPr/>
          <p:nvPr/>
        </p:nvSpPr>
        <p:spPr>
          <a:xfrm>
            <a:off x="5651948" y="4924020"/>
            <a:ext cx="167640" cy="167640"/>
          </a:xfrm>
          <a:custGeom>
            <a:avLst/>
            <a:gdLst/>
            <a:ahLst/>
            <a:cxnLst/>
            <a:rect l="l" t="t" r="r" b="b"/>
            <a:pathLst>
              <a:path w="167639" h="167639">
                <a:moveTo>
                  <a:pt x="0" y="83784"/>
                </a:moveTo>
                <a:lnTo>
                  <a:pt x="6573" y="51172"/>
                </a:lnTo>
                <a:lnTo>
                  <a:pt x="24499" y="24540"/>
                </a:lnTo>
                <a:lnTo>
                  <a:pt x="51088" y="6584"/>
                </a:lnTo>
                <a:lnTo>
                  <a:pt x="83647" y="0"/>
                </a:lnTo>
                <a:lnTo>
                  <a:pt x="116207" y="6584"/>
                </a:lnTo>
                <a:lnTo>
                  <a:pt x="142796" y="24540"/>
                </a:lnTo>
                <a:lnTo>
                  <a:pt x="160722" y="51172"/>
                </a:lnTo>
                <a:lnTo>
                  <a:pt x="167295" y="83784"/>
                </a:lnTo>
                <a:lnTo>
                  <a:pt x="160722" y="116397"/>
                </a:lnTo>
                <a:lnTo>
                  <a:pt x="142796" y="143029"/>
                </a:lnTo>
                <a:lnTo>
                  <a:pt x="116207" y="160985"/>
                </a:lnTo>
                <a:lnTo>
                  <a:pt x="83647" y="167569"/>
                </a:lnTo>
                <a:lnTo>
                  <a:pt x="51088" y="160985"/>
                </a:lnTo>
                <a:lnTo>
                  <a:pt x="24499" y="143029"/>
                </a:lnTo>
                <a:lnTo>
                  <a:pt x="6573" y="116397"/>
                </a:lnTo>
                <a:lnTo>
                  <a:pt x="0" y="83784"/>
                </a:lnTo>
                <a:close/>
              </a:path>
            </a:pathLst>
          </a:custGeom>
          <a:ln w="9524">
            <a:solidFill>
              <a:srgbClr val="000000"/>
            </a:solidFill>
          </a:ln>
        </p:spPr>
        <p:txBody>
          <a:bodyPr wrap="square" lIns="0" tIns="0" rIns="0" bIns="0" rtlCol="0"/>
          <a:lstStyle/>
          <a:p>
            <a:endParaRPr/>
          </a:p>
        </p:txBody>
      </p:sp>
      <p:sp>
        <p:nvSpPr>
          <p:cNvPr id="24" name="object 24"/>
          <p:cNvSpPr/>
          <p:nvPr/>
        </p:nvSpPr>
        <p:spPr>
          <a:xfrm>
            <a:off x="6017096" y="4606813"/>
            <a:ext cx="176820" cy="177095"/>
          </a:xfrm>
          <a:prstGeom prst="rect">
            <a:avLst/>
          </a:prstGeom>
          <a:blipFill>
            <a:blip r:embed="rId3" cstate="print"/>
            <a:stretch>
              <a:fillRect/>
            </a:stretch>
          </a:blipFill>
        </p:spPr>
        <p:txBody>
          <a:bodyPr wrap="square" lIns="0" tIns="0" rIns="0" bIns="0" rtlCol="0"/>
          <a:lstStyle/>
          <a:p>
            <a:endParaRPr/>
          </a:p>
        </p:txBody>
      </p:sp>
      <p:sp>
        <p:nvSpPr>
          <p:cNvPr id="25" name="object 25"/>
          <p:cNvSpPr/>
          <p:nvPr/>
        </p:nvSpPr>
        <p:spPr>
          <a:xfrm>
            <a:off x="5637076" y="4185977"/>
            <a:ext cx="167640" cy="167640"/>
          </a:xfrm>
          <a:custGeom>
            <a:avLst/>
            <a:gdLst/>
            <a:ahLst/>
            <a:cxnLst/>
            <a:rect l="l" t="t" r="r" b="b"/>
            <a:pathLst>
              <a:path w="167639" h="167639">
                <a:moveTo>
                  <a:pt x="83648" y="0"/>
                </a:moveTo>
                <a:lnTo>
                  <a:pt x="51088" y="6584"/>
                </a:lnTo>
                <a:lnTo>
                  <a:pt x="24500" y="24540"/>
                </a:lnTo>
                <a:lnTo>
                  <a:pt x="6573" y="51172"/>
                </a:lnTo>
                <a:lnTo>
                  <a:pt x="0" y="83785"/>
                </a:lnTo>
                <a:lnTo>
                  <a:pt x="6573" y="116398"/>
                </a:lnTo>
                <a:lnTo>
                  <a:pt x="24500" y="143030"/>
                </a:lnTo>
                <a:lnTo>
                  <a:pt x="51088" y="160985"/>
                </a:lnTo>
                <a:lnTo>
                  <a:pt x="83648" y="167570"/>
                </a:lnTo>
                <a:lnTo>
                  <a:pt x="116208" y="160985"/>
                </a:lnTo>
                <a:lnTo>
                  <a:pt x="142796" y="143030"/>
                </a:lnTo>
                <a:lnTo>
                  <a:pt x="160722" y="116398"/>
                </a:lnTo>
                <a:lnTo>
                  <a:pt x="167295" y="83785"/>
                </a:lnTo>
                <a:lnTo>
                  <a:pt x="160722" y="51172"/>
                </a:lnTo>
                <a:lnTo>
                  <a:pt x="142796" y="24540"/>
                </a:lnTo>
                <a:lnTo>
                  <a:pt x="116208" y="6584"/>
                </a:lnTo>
                <a:lnTo>
                  <a:pt x="83648" y="0"/>
                </a:lnTo>
                <a:close/>
              </a:path>
            </a:pathLst>
          </a:custGeom>
          <a:solidFill>
            <a:srgbClr val="000000"/>
          </a:solidFill>
        </p:spPr>
        <p:txBody>
          <a:bodyPr wrap="square" lIns="0" tIns="0" rIns="0" bIns="0" rtlCol="0"/>
          <a:lstStyle/>
          <a:p>
            <a:endParaRPr/>
          </a:p>
        </p:txBody>
      </p:sp>
      <p:sp>
        <p:nvSpPr>
          <p:cNvPr id="26" name="object 26"/>
          <p:cNvSpPr/>
          <p:nvPr/>
        </p:nvSpPr>
        <p:spPr>
          <a:xfrm>
            <a:off x="5637076" y="4185977"/>
            <a:ext cx="167640" cy="167640"/>
          </a:xfrm>
          <a:custGeom>
            <a:avLst/>
            <a:gdLst/>
            <a:ahLst/>
            <a:cxnLst/>
            <a:rect l="l" t="t" r="r" b="b"/>
            <a:pathLst>
              <a:path w="167639" h="167639">
                <a:moveTo>
                  <a:pt x="0" y="83784"/>
                </a:moveTo>
                <a:lnTo>
                  <a:pt x="6573" y="51172"/>
                </a:lnTo>
                <a:lnTo>
                  <a:pt x="24499" y="24540"/>
                </a:lnTo>
                <a:lnTo>
                  <a:pt x="51088" y="6584"/>
                </a:lnTo>
                <a:lnTo>
                  <a:pt x="83647" y="0"/>
                </a:lnTo>
                <a:lnTo>
                  <a:pt x="116207" y="6584"/>
                </a:lnTo>
                <a:lnTo>
                  <a:pt x="142796" y="24540"/>
                </a:lnTo>
                <a:lnTo>
                  <a:pt x="160722" y="51172"/>
                </a:lnTo>
                <a:lnTo>
                  <a:pt x="167295" y="83784"/>
                </a:lnTo>
                <a:lnTo>
                  <a:pt x="160722" y="116397"/>
                </a:lnTo>
                <a:lnTo>
                  <a:pt x="142796" y="143029"/>
                </a:lnTo>
                <a:lnTo>
                  <a:pt x="116207" y="160985"/>
                </a:lnTo>
                <a:lnTo>
                  <a:pt x="83647" y="167569"/>
                </a:lnTo>
                <a:lnTo>
                  <a:pt x="51088" y="160985"/>
                </a:lnTo>
                <a:lnTo>
                  <a:pt x="24499" y="143029"/>
                </a:lnTo>
                <a:lnTo>
                  <a:pt x="6573" y="116397"/>
                </a:lnTo>
                <a:lnTo>
                  <a:pt x="0" y="83784"/>
                </a:lnTo>
                <a:close/>
              </a:path>
            </a:pathLst>
          </a:custGeom>
          <a:ln w="9524">
            <a:solidFill>
              <a:srgbClr val="000000"/>
            </a:solidFill>
          </a:ln>
        </p:spPr>
        <p:txBody>
          <a:bodyPr wrap="square" lIns="0" tIns="0" rIns="0" bIns="0" rtlCol="0"/>
          <a:lstStyle/>
          <a:p>
            <a:endParaRPr/>
          </a:p>
        </p:txBody>
      </p:sp>
      <p:sp>
        <p:nvSpPr>
          <p:cNvPr id="27" name="object 27"/>
          <p:cNvSpPr/>
          <p:nvPr/>
        </p:nvSpPr>
        <p:spPr>
          <a:xfrm>
            <a:off x="4767136" y="4651722"/>
            <a:ext cx="167640" cy="167640"/>
          </a:xfrm>
          <a:custGeom>
            <a:avLst/>
            <a:gdLst/>
            <a:ahLst/>
            <a:cxnLst/>
            <a:rect l="l" t="t" r="r" b="b"/>
            <a:pathLst>
              <a:path w="167639" h="167639">
                <a:moveTo>
                  <a:pt x="83647" y="0"/>
                </a:moveTo>
                <a:lnTo>
                  <a:pt x="51087" y="6584"/>
                </a:lnTo>
                <a:lnTo>
                  <a:pt x="24499" y="24540"/>
                </a:lnTo>
                <a:lnTo>
                  <a:pt x="6573" y="51172"/>
                </a:lnTo>
                <a:lnTo>
                  <a:pt x="0" y="83785"/>
                </a:lnTo>
                <a:lnTo>
                  <a:pt x="6573" y="116398"/>
                </a:lnTo>
                <a:lnTo>
                  <a:pt x="24499" y="143030"/>
                </a:lnTo>
                <a:lnTo>
                  <a:pt x="51087" y="160985"/>
                </a:lnTo>
                <a:lnTo>
                  <a:pt x="83647" y="167570"/>
                </a:lnTo>
                <a:lnTo>
                  <a:pt x="116206" y="160985"/>
                </a:lnTo>
                <a:lnTo>
                  <a:pt x="142795" y="143030"/>
                </a:lnTo>
                <a:lnTo>
                  <a:pt x="160722" y="116398"/>
                </a:lnTo>
                <a:lnTo>
                  <a:pt x="167295" y="83785"/>
                </a:lnTo>
                <a:lnTo>
                  <a:pt x="160722" y="51172"/>
                </a:lnTo>
                <a:lnTo>
                  <a:pt x="142795" y="24540"/>
                </a:lnTo>
                <a:lnTo>
                  <a:pt x="116206" y="6584"/>
                </a:lnTo>
                <a:lnTo>
                  <a:pt x="83647" y="0"/>
                </a:lnTo>
                <a:close/>
              </a:path>
            </a:pathLst>
          </a:custGeom>
          <a:solidFill>
            <a:srgbClr val="000000"/>
          </a:solidFill>
        </p:spPr>
        <p:txBody>
          <a:bodyPr wrap="square" lIns="0" tIns="0" rIns="0" bIns="0" rtlCol="0"/>
          <a:lstStyle/>
          <a:p>
            <a:endParaRPr/>
          </a:p>
        </p:txBody>
      </p:sp>
      <p:sp>
        <p:nvSpPr>
          <p:cNvPr id="28" name="object 28"/>
          <p:cNvSpPr/>
          <p:nvPr/>
        </p:nvSpPr>
        <p:spPr>
          <a:xfrm>
            <a:off x="4767136" y="4651722"/>
            <a:ext cx="167640" cy="167640"/>
          </a:xfrm>
          <a:custGeom>
            <a:avLst/>
            <a:gdLst/>
            <a:ahLst/>
            <a:cxnLst/>
            <a:rect l="l" t="t" r="r" b="b"/>
            <a:pathLst>
              <a:path w="167639" h="167639">
                <a:moveTo>
                  <a:pt x="0" y="83784"/>
                </a:moveTo>
                <a:lnTo>
                  <a:pt x="6573" y="51172"/>
                </a:lnTo>
                <a:lnTo>
                  <a:pt x="24499" y="24540"/>
                </a:lnTo>
                <a:lnTo>
                  <a:pt x="51088" y="6584"/>
                </a:lnTo>
                <a:lnTo>
                  <a:pt x="83647" y="0"/>
                </a:lnTo>
                <a:lnTo>
                  <a:pt x="116207" y="6584"/>
                </a:lnTo>
                <a:lnTo>
                  <a:pt x="142796" y="24540"/>
                </a:lnTo>
                <a:lnTo>
                  <a:pt x="160722" y="51172"/>
                </a:lnTo>
                <a:lnTo>
                  <a:pt x="167295" y="83784"/>
                </a:lnTo>
                <a:lnTo>
                  <a:pt x="160722" y="116397"/>
                </a:lnTo>
                <a:lnTo>
                  <a:pt x="142796" y="143029"/>
                </a:lnTo>
                <a:lnTo>
                  <a:pt x="116207" y="160985"/>
                </a:lnTo>
                <a:lnTo>
                  <a:pt x="83647" y="167569"/>
                </a:lnTo>
                <a:lnTo>
                  <a:pt x="51088" y="160985"/>
                </a:lnTo>
                <a:lnTo>
                  <a:pt x="24499" y="143029"/>
                </a:lnTo>
                <a:lnTo>
                  <a:pt x="6573" y="116397"/>
                </a:lnTo>
                <a:lnTo>
                  <a:pt x="0" y="83784"/>
                </a:lnTo>
                <a:close/>
              </a:path>
            </a:pathLst>
          </a:custGeom>
          <a:ln w="9524">
            <a:solidFill>
              <a:srgbClr val="000000"/>
            </a:solidFill>
          </a:ln>
        </p:spPr>
        <p:txBody>
          <a:bodyPr wrap="square" lIns="0" tIns="0" rIns="0" bIns="0" rtlCol="0"/>
          <a:lstStyle/>
          <a:p>
            <a:endParaRPr/>
          </a:p>
        </p:txBody>
      </p:sp>
      <p:sp>
        <p:nvSpPr>
          <p:cNvPr id="29" name="object 29"/>
          <p:cNvSpPr/>
          <p:nvPr/>
        </p:nvSpPr>
        <p:spPr>
          <a:xfrm>
            <a:off x="4936291" y="4648230"/>
            <a:ext cx="167640" cy="167640"/>
          </a:xfrm>
          <a:custGeom>
            <a:avLst/>
            <a:gdLst/>
            <a:ahLst/>
            <a:cxnLst/>
            <a:rect l="l" t="t" r="r" b="b"/>
            <a:pathLst>
              <a:path w="167639" h="167639">
                <a:moveTo>
                  <a:pt x="83647" y="0"/>
                </a:moveTo>
                <a:lnTo>
                  <a:pt x="51087" y="6584"/>
                </a:lnTo>
                <a:lnTo>
                  <a:pt x="24499" y="24540"/>
                </a:lnTo>
                <a:lnTo>
                  <a:pt x="6573" y="51172"/>
                </a:lnTo>
                <a:lnTo>
                  <a:pt x="0" y="83785"/>
                </a:lnTo>
                <a:lnTo>
                  <a:pt x="6573" y="116398"/>
                </a:lnTo>
                <a:lnTo>
                  <a:pt x="24499" y="143030"/>
                </a:lnTo>
                <a:lnTo>
                  <a:pt x="51087" y="160985"/>
                </a:lnTo>
                <a:lnTo>
                  <a:pt x="83647" y="167570"/>
                </a:lnTo>
                <a:lnTo>
                  <a:pt x="116206" y="160985"/>
                </a:lnTo>
                <a:lnTo>
                  <a:pt x="142795" y="143030"/>
                </a:lnTo>
                <a:lnTo>
                  <a:pt x="160722" y="116398"/>
                </a:lnTo>
                <a:lnTo>
                  <a:pt x="167295" y="83785"/>
                </a:lnTo>
                <a:lnTo>
                  <a:pt x="160722" y="51172"/>
                </a:lnTo>
                <a:lnTo>
                  <a:pt x="142795" y="24540"/>
                </a:lnTo>
                <a:lnTo>
                  <a:pt x="116206" y="6584"/>
                </a:lnTo>
                <a:lnTo>
                  <a:pt x="83647" y="0"/>
                </a:lnTo>
                <a:close/>
              </a:path>
            </a:pathLst>
          </a:custGeom>
          <a:solidFill>
            <a:srgbClr val="000000"/>
          </a:solidFill>
        </p:spPr>
        <p:txBody>
          <a:bodyPr wrap="square" lIns="0" tIns="0" rIns="0" bIns="0" rtlCol="0"/>
          <a:lstStyle/>
          <a:p>
            <a:endParaRPr/>
          </a:p>
        </p:txBody>
      </p:sp>
      <p:sp>
        <p:nvSpPr>
          <p:cNvPr id="30" name="object 30"/>
          <p:cNvSpPr/>
          <p:nvPr/>
        </p:nvSpPr>
        <p:spPr>
          <a:xfrm>
            <a:off x="4936291" y="4648230"/>
            <a:ext cx="167640" cy="167640"/>
          </a:xfrm>
          <a:custGeom>
            <a:avLst/>
            <a:gdLst/>
            <a:ahLst/>
            <a:cxnLst/>
            <a:rect l="l" t="t" r="r" b="b"/>
            <a:pathLst>
              <a:path w="167639" h="167639">
                <a:moveTo>
                  <a:pt x="0" y="83784"/>
                </a:moveTo>
                <a:lnTo>
                  <a:pt x="6573" y="51172"/>
                </a:lnTo>
                <a:lnTo>
                  <a:pt x="24499" y="24540"/>
                </a:lnTo>
                <a:lnTo>
                  <a:pt x="51088" y="6584"/>
                </a:lnTo>
                <a:lnTo>
                  <a:pt x="83647" y="0"/>
                </a:lnTo>
                <a:lnTo>
                  <a:pt x="116207" y="6584"/>
                </a:lnTo>
                <a:lnTo>
                  <a:pt x="142796" y="24540"/>
                </a:lnTo>
                <a:lnTo>
                  <a:pt x="160722" y="51172"/>
                </a:lnTo>
                <a:lnTo>
                  <a:pt x="167295" y="83784"/>
                </a:lnTo>
                <a:lnTo>
                  <a:pt x="160722" y="116397"/>
                </a:lnTo>
                <a:lnTo>
                  <a:pt x="142796" y="143029"/>
                </a:lnTo>
                <a:lnTo>
                  <a:pt x="116207" y="160985"/>
                </a:lnTo>
                <a:lnTo>
                  <a:pt x="83647" y="167569"/>
                </a:lnTo>
                <a:lnTo>
                  <a:pt x="51088" y="160985"/>
                </a:lnTo>
                <a:lnTo>
                  <a:pt x="24499" y="143029"/>
                </a:lnTo>
                <a:lnTo>
                  <a:pt x="6573" y="116397"/>
                </a:lnTo>
                <a:lnTo>
                  <a:pt x="0" y="83784"/>
                </a:lnTo>
                <a:close/>
              </a:path>
            </a:pathLst>
          </a:custGeom>
          <a:ln w="9524">
            <a:solidFill>
              <a:srgbClr val="000000"/>
            </a:solidFill>
          </a:ln>
        </p:spPr>
        <p:txBody>
          <a:bodyPr wrap="square" lIns="0" tIns="0" rIns="0" bIns="0" rtlCol="0"/>
          <a:lstStyle/>
          <a:p>
            <a:endParaRPr/>
          </a:p>
        </p:txBody>
      </p:sp>
      <p:sp>
        <p:nvSpPr>
          <p:cNvPr id="31" name="object 31"/>
          <p:cNvSpPr/>
          <p:nvPr/>
        </p:nvSpPr>
        <p:spPr>
          <a:xfrm>
            <a:off x="5637076" y="4361051"/>
            <a:ext cx="167640" cy="167640"/>
          </a:xfrm>
          <a:custGeom>
            <a:avLst/>
            <a:gdLst/>
            <a:ahLst/>
            <a:cxnLst/>
            <a:rect l="l" t="t" r="r" b="b"/>
            <a:pathLst>
              <a:path w="167639" h="167639">
                <a:moveTo>
                  <a:pt x="83648" y="0"/>
                </a:moveTo>
                <a:lnTo>
                  <a:pt x="51088" y="6584"/>
                </a:lnTo>
                <a:lnTo>
                  <a:pt x="24500" y="24540"/>
                </a:lnTo>
                <a:lnTo>
                  <a:pt x="6573" y="51172"/>
                </a:lnTo>
                <a:lnTo>
                  <a:pt x="0" y="83785"/>
                </a:lnTo>
                <a:lnTo>
                  <a:pt x="6573" y="116398"/>
                </a:lnTo>
                <a:lnTo>
                  <a:pt x="24500" y="143030"/>
                </a:lnTo>
                <a:lnTo>
                  <a:pt x="51088" y="160985"/>
                </a:lnTo>
                <a:lnTo>
                  <a:pt x="83648" y="167570"/>
                </a:lnTo>
                <a:lnTo>
                  <a:pt x="116208" y="160985"/>
                </a:lnTo>
                <a:lnTo>
                  <a:pt x="142796" y="143030"/>
                </a:lnTo>
                <a:lnTo>
                  <a:pt x="160722" y="116398"/>
                </a:lnTo>
                <a:lnTo>
                  <a:pt x="167295" y="83785"/>
                </a:lnTo>
                <a:lnTo>
                  <a:pt x="160722" y="51172"/>
                </a:lnTo>
                <a:lnTo>
                  <a:pt x="142796" y="24540"/>
                </a:lnTo>
                <a:lnTo>
                  <a:pt x="116208" y="6584"/>
                </a:lnTo>
                <a:lnTo>
                  <a:pt x="83648" y="0"/>
                </a:lnTo>
                <a:close/>
              </a:path>
            </a:pathLst>
          </a:custGeom>
          <a:solidFill>
            <a:srgbClr val="000000"/>
          </a:solidFill>
        </p:spPr>
        <p:txBody>
          <a:bodyPr wrap="square" lIns="0" tIns="0" rIns="0" bIns="0" rtlCol="0"/>
          <a:lstStyle/>
          <a:p>
            <a:endParaRPr/>
          </a:p>
        </p:txBody>
      </p:sp>
      <p:sp>
        <p:nvSpPr>
          <p:cNvPr id="32" name="object 32"/>
          <p:cNvSpPr/>
          <p:nvPr/>
        </p:nvSpPr>
        <p:spPr>
          <a:xfrm>
            <a:off x="5637076" y="4361051"/>
            <a:ext cx="167640" cy="167640"/>
          </a:xfrm>
          <a:custGeom>
            <a:avLst/>
            <a:gdLst/>
            <a:ahLst/>
            <a:cxnLst/>
            <a:rect l="l" t="t" r="r" b="b"/>
            <a:pathLst>
              <a:path w="167639" h="167639">
                <a:moveTo>
                  <a:pt x="0" y="83784"/>
                </a:moveTo>
                <a:lnTo>
                  <a:pt x="6573" y="51172"/>
                </a:lnTo>
                <a:lnTo>
                  <a:pt x="24499" y="24540"/>
                </a:lnTo>
                <a:lnTo>
                  <a:pt x="51088" y="6584"/>
                </a:lnTo>
                <a:lnTo>
                  <a:pt x="83647" y="0"/>
                </a:lnTo>
                <a:lnTo>
                  <a:pt x="116207" y="6584"/>
                </a:lnTo>
                <a:lnTo>
                  <a:pt x="142796" y="24540"/>
                </a:lnTo>
                <a:lnTo>
                  <a:pt x="160722" y="51172"/>
                </a:lnTo>
                <a:lnTo>
                  <a:pt x="167295" y="83784"/>
                </a:lnTo>
                <a:lnTo>
                  <a:pt x="160722" y="116397"/>
                </a:lnTo>
                <a:lnTo>
                  <a:pt x="142796" y="143029"/>
                </a:lnTo>
                <a:lnTo>
                  <a:pt x="116207" y="160985"/>
                </a:lnTo>
                <a:lnTo>
                  <a:pt x="83647" y="167569"/>
                </a:lnTo>
                <a:lnTo>
                  <a:pt x="51088" y="160985"/>
                </a:lnTo>
                <a:lnTo>
                  <a:pt x="24499" y="143029"/>
                </a:lnTo>
                <a:lnTo>
                  <a:pt x="6573" y="116397"/>
                </a:lnTo>
                <a:lnTo>
                  <a:pt x="0" y="83784"/>
                </a:lnTo>
                <a:close/>
              </a:path>
            </a:pathLst>
          </a:custGeom>
          <a:ln w="9524">
            <a:solidFill>
              <a:srgbClr val="000000"/>
            </a:solidFill>
          </a:ln>
        </p:spPr>
        <p:txBody>
          <a:bodyPr wrap="square" lIns="0" tIns="0" rIns="0" bIns="0" rtlCol="0"/>
          <a:lstStyle/>
          <a:p>
            <a:endParaRPr/>
          </a:p>
        </p:txBody>
      </p:sp>
      <p:sp>
        <p:nvSpPr>
          <p:cNvPr id="33" name="object 33"/>
          <p:cNvSpPr/>
          <p:nvPr/>
        </p:nvSpPr>
        <p:spPr>
          <a:xfrm>
            <a:off x="7200403" y="4632523"/>
            <a:ext cx="167640" cy="167640"/>
          </a:xfrm>
          <a:custGeom>
            <a:avLst/>
            <a:gdLst/>
            <a:ahLst/>
            <a:cxnLst/>
            <a:rect l="l" t="t" r="r" b="b"/>
            <a:pathLst>
              <a:path w="167640" h="167639">
                <a:moveTo>
                  <a:pt x="83647" y="0"/>
                </a:moveTo>
                <a:lnTo>
                  <a:pt x="51087" y="6584"/>
                </a:lnTo>
                <a:lnTo>
                  <a:pt x="24499" y="24539"/>
                </a:lnTo>
                <a:lnTo>
                  <a:pt x="6573" y="51171"/>
                </a:lnTo>
                <a:lnTo>
                  <a:pt x="0" y="83784"/>
                </a:lnTo>
                <a:lnTo>
                  <a:pt x="6573" y="116397"/>
                </a:lnTo>
                <a:lnTo>
                  <a:pt x="24499" y="143029"/>
                </a:lnTo>
                <a:lnTo>
                  <a:pt x="51087" y="160984"/>
                </a:lnTo>
                <a:lnTo>
                  <a:pt x="83647" y="167568"/>
                </a:lnTo>
                <a:lnTo>
                  <a:pt x="116206" y="160984"/>
                </a:lnTo>
                <a:lnTo>
                  <a:pt x="142795" y="143029"/>
                </a:lnTo>
                <a:lnTo>
                  <a:pt x="160722" y="116397"/>
                </a:lnTo>
                <a:lnTo>
                  <a:pt x="167295" y="83784"/>
                </a:lnTo>
                <a:lnTo>
                  <a:pt x="160722" y="51171"/>
                </a:lnTo>
                <a:lnTo>
                  <a:pt x="142795" y="24539"/>
                </a:lnTo>
                <a:lnTo>
                  <a:pt x="116206" y="6584"/>
                </a:lnTo>
                <a:lnTo>
                  <a:pt x="83647" y="0"/>
                </a:lnTo>
                <a:close/>
              </a:path>
            </a:pathLst>
          </a:custGeom>
          <a:solidFill>
            <a:srgbClr val="000000"/>
          </a:solidFill>
        </p:spPr>
        <p:txBody>
          <a:bodyPr wrap="square" lIns="0" tIns="0" rIns="0" bIns="0" rtlCol="0"/>
          <a:lstStyle/>
          <a:p>
            <a:endParaRPr/>
          </a:p>
        </p:txBody>
      </p:sp>
      <p:sp>
        <p:nvSpPr>
          <p:cNvPr id="34" name="object 34"/>
          <p:cNvSpPr/>
          <p:nvPr/>
        </p:nvSpPr>
        <p:spPr>
          <a:xfrm>
            <a:off x="7200403" y="4632523"/>
            <a:ext cx="167640" cy="167640"/>
          </a:xfrm>
          <a:custGeom>
            <a:avLst/>
            <a:gdLst/>
            <a:ahLst/>
            <a:cxnLst/>
            <a:rect l="l" t="t" r="r" b="b"/>
            <a:pathLst>
              <a:path w="167640" h="167639">
                <a:moveTo>
                  <a:pt x="0" y="83784"/>
                </a:moveTo>
                <a:lnTo>
                  <a:pt x="6573" y="51172"/>
                </a:lnTo>
                <a:lnTo>
                  <a:pt x="24499" y="24540"/>
                </a:lnTo>
                <a:lnTo>
                  <a:pt x="51088" y="6584"/>
                </a:lnTo>
                <a:lnTo>
                  <a:pt x="83647" y="0"/>
                </a:lnTo>
                <a:lnTo>
                  <a:pt x="116207" y="6584"/>
                </a:lnTo>
                <a:lnTo>
                  <a:pt x="142795" y="24540"/>
                </a:lnTo>
                <a:lnTo>
                  <a:pt x="160722" y="51172"/>
                </a:lnTo>
                <a:lnTo>
                  <a:pt x="167295" y="83784"/>
                </a:lnTo>
                <a:lnTo>
                  <a:pt x="160722" y="116397"/>
                </a:lnTo>
                <a:lnTo>
                  <a:pt x="142795" y="143029"/>
                </a:lnTo>
                <a:lnTo>
                  <a:pt x="116207" y="160985"/>
                </a:lnTo>
                <a:lnTo>
                  <a:pt x="83647" y="167569"/>
                </a:lnTo>
                <a:lnTo>
                  <a:pt x="51088" y="160985"/>
                </a:lnTo>
                <a:lnTo>
                  <a:pt x="24499" y="143029"/>
                </a:lnTo>
                <a:lnTo>
                  <a:pt x="6573" y="116397"/>
                </a:lnTo>
                <a:lnTo>
                  <a:pt x="0" y="83784"/>
                </a:lnTo>
                <a:close/>
              </a:path>
            </a:pathLst>
          </a:custGeom>
          <a:ln w="9524">
            <a:solidFill>
              <a:srgbClr val="000000"/>
            </a:solidFill>
          </a:ln>
        </p:spPr>
        <p:txBody>
          <a:bodyPr wrap="square" lIns="0" tIns="0" rIns="0" bIns="0" rtlCol="0"/>
          <a:lstStyle/>
          <a:p>
            <a:endParaRPr/>
          </a:p>
        </p:txBody>
      </p:sp>
      <p:sp>
        <p:nvSpPr>
          <p:cNvPr id="35" name="object 35"/>
          <p:cNvSpPr/>
          <p:nvPr/>
        </p:nvSpPr>
        <p:spPr>
          <a:xfrm>
            <a:off x="5633746" y="4000897"/>
            <a:ext cx="167640" cy="167640"/>
          </a:xfrm>
          <a:custGeom>
            <a:avLst/>
            <a:gdLst/>
            <a:ahLst/>
            <a:cxnLst/>
            <a:rect l="l" t="t" r="r" b="b"/>
            <a:pathLst>
              <a:path w="167639" h="167639">
                <a:moveTo>
                  <a:pt x="83648" y="0"/>
                </a:moveTo>
                <a:lnTo>
                  <a:pt x="51088" y="6584"/>
                </a:lnTo>
                <a:lnTo>
                  <a:pt x="24500" y="24540"/>
                </a:lnTo>
                <a:lnTo>
                  <a:pt x="6573" y="51171"/>
                </a:lnTo>
                <a:lnTo>
                  <a:pt x="0" y="83784"/>
                </a:lnTo>
                <a:lnTo>
                  <a:pt x="6573" y="116397"/>
                </a:lnTo>
                <a:lnTo>
                  <a:pt x="24500" y="143029"/>
                </a:lnTo>
                <a:lnTo>
                  <a:pt x="51088" y="160985"/>
                </a:lnTo>
                <a:lnTo>
                  <a:pt x="83648" y="167570"/>
                </a:lnTo>
                <a:lnTo>
                  <a:pt x="116208" y="160985"/>
                </a:lnTo>
                <a:lnTo>
                  <a:pt x="142796" y="143029"/>
                </a:lnTo>
                <a:lnTo>
                  <a:pt x="160722" y="116397"/>
                </a:lnTo>
                <a:lnTo>
                  <a:pt x="167295" y="83784"/>
                </a:lnTo>
                <a:lnTo>
                  <a:pt x="160722" y="51171"/>
                </a:lnTo>
                <a:lnTo>
                  <a:pt x="142796" y="24540"/>
                </a:lnTo>
                <a:lnTo>
                  <a:pt x="116208" y="6584"/>
                </a:lnTo>
                <a:lnTo>
                  <a:pt x="83648" y="0"/>
                </a:lnTo>
                <a:close/>
              </a:path>
            </a:pathLst>
          </a:custGeom>
          <a:solidFill>
            <a:srgbClr val="D81E00"/>
          </a:solidFill>
        </p:spPr>
        <p:txBody>
          <a:bodyPr wrap="square" lIns="0" tIns="0" rIns="0" bIns="0" rtlCol="0"/>
          <a:lstStyle/>
          <a:p>
            <a:endParaRPr/>
          </a:p>
        </p:txBody>
      </p:sp>
      <p:sp>
        <p:nvSpPr>
          <p:cNvPr id="36" name="object 36"/>
          <p:cNvSpPr/>
          <p:nvPr/>
        </p:nvSpPr>
        <p:spPr>
          <a:xfrm>
            <a:off x="5633746" y="4000897"/>
            <a:ext cx="167640" cy="167640"/>
          </a:xfrm>
          <a:custGeom>
            <a:avLst/>
            <a:gdLst/>
            <a:ahLst/>
            <a:cxnLst/>
            <a:rect l="l" t="t" r="r" b="b"/>
            <a:pathLst>
              <a:path w="167639" h="167639">
                <a:moveTo>
                  <a:pt x="0" y="83784"/>
                </a:moveTo>
                <a:lnTo>
                  <a:pt x="6573" y="51172"/>
                </a:lnTo>
                <a:lnTo>
                  <a:pt x="24499" y="24540"/>
                </a:lnTo>
                <a:lnTo>
                  <a:pt x="51088" y="6584"/>
                </a:lnTo>
                <a:lnTo>
                  <a:pt x="83647" y="0"/>
                </a:lnTo>
                <a:lnTo>
                  <a:pt x="116207" y="6584"/>
                </a:lnTo>
                <a:lnTo>
                  <a:pt x="142796" y="24540"/>
                </a:lnTo>
                <a:lnTo>
                  <a:pt x="160722" y="51172"/>
                </a:lnTo>
                <a:lnTo>
                  <a:pt x="167295" y="83784"/>
                </a:lnTo>
                <a:lnTo>
                  <a:pt x="160722" y="116397"/>
                </a:lnTo>
                <a:lnTo>
                  <a:pt x="142796" y="143029"/>
                </a:lnTo>
                <a:lnTo>
                  <a:pt x="116207" y="160985"/>
                </a:lnTo>
                <a:lnTo>
                  <a:pt x="83647" y="167569"/>
                </a:lnTo>
                <a:lnTo>
                  <a:pt x="51088" y="160985"/>
                </a:lnTo>
                <a:lnTo>
                  <a:pt x="24499" y="143029"/>
                </a:lnTo>
                <a:lnTo>
                  <a:pt x="6573" y="116397"/>
                </a:lnTo>
                <a:lnTo>
                  <a:pt x="0" y="83784"/>
                </a:lnTo>
                <a:close/>
              </a:path>
            </a:pathLst>
          </a:custGeom>
          <a:ln w="9524">
            <a:solidFill>
              <a:srgbClr val="D81E00"/>
            </a:solidFill>
          </a:ln>
        </p:spPr>
        <p:txBody>
          <a:bodyPr wrap="square" lIns="0" tIns="0" rIns="0" bIns="0" rtlCol="0"/>
          <a:lstStyle/>
          <a:p>
            <a:endParaRPr/>
          </a:p>
        </p:txBody>
      </p:sp>
      <p:sp>
        <p:nvSpPr>
          <p:cNvPr id="37" name="object 37"/>
          <p:cNvSpPr/>
          <p:nvPr/>
        </p:nvSpPr>
        <p:spPr>
          <a:xfrm>
            <a:off x="4577567" y="4651722"/>
            <a:ext cx="167640" cy="167640"/>
          </a:xfrm>
          <a:custGeom>
            <a:avLst/>
            <a:gdLst/>
            <a:ahLst/>
            <a:cxnLst/>
            <a:rect l="l" t="t" r="r" b="b"/>
            <a:pathLst>
              <a:path w="167639" h="167639">
                <a:moveTo>
                  <a:pt x="83647" y="0"/>
                </a:moveTo>
                <a:lnTo>
                  <a:pt x="51087" y="6584"/>
                </a:lnTo>
                <a:lnTo>
                  <a:pt x="24499" y="24540"/>
                </a:lnTo>
                <a:lnTo>
                  <a:pt x="6573" y="51172"/>
                </a:lnTo>
                <a:lnTo>
                  <a:pt x="0" y="83785"/>
                </a:lnTo>
                <a:lnTo>
                  <a:pt x="6573" y="116398"/>
                </a:lnTo>
                <a:lnTo>
                  <a:pt x="24499" y="143030"/>
                </a:lnTo>
                <a:lnTo>
                  <a:pt x="51087" y="160985"/>
                </a:lnTo>
                <a:lnTo>
                  <a:pt x="83647" y="167570"/>
                </a:lnTo>
                <a:lnTo>
                  <a:pt x="116206" y="160985"/>
                </a:lnTo>
                <a:lnTo>
                  <a:pt x="142795" y="143030"/>
                </a:lnTo>
                <a:lnTo>
                  <a:pt x="160722" y="116398"/>
                </a:lnTo>
                <a:lnTo>
                  <a:pt x="167295" y="83785"/>
                </a:lnTo>
                <a:lnTo>
                  <a:pt x="160722" y="51172"/>
                </a:lnTo>
                <a:lnTo>
                  <a:pt x="142795" y="24540"/>
                </a:lnTo>
                <a:lnTo>
                  <a:pt x="116206" y="6584"/>
                </a:lnTo>
                <a:lnTo>
                  <a:pt x="83647" y="0"/>
                </a:lnTo>
                <a:close/>
              </a:path>
            </a:pathLst>
          </a:custGeom>
          <a:solidFill>
            <a:srgbClr val="D81E00"/>
          </a:solidFill>
        </p:spPr>
        <p:txBody>
          <a:bodyPr wrap="square" lIns="0" tIns="0" rIns="0" bIns="0" rtlCol="0"/>
          <a:lstStyle/>
          <a:p>
            <a:endParaRPr/>
          </a:p>
        </p:txBody>
      </p:sp>
      <p:sp>
        <p:nvSpPr>
          <p:cNvPr id="38" name="object 38"/>
          <p:cNvSpPr/>
          <p:nvPr/>
        </p:nvSpPr>
        <p:spPr>
          <a:xfrm>
            <a:off x="4577567" y="4651722"/>
            <a:ext cx="167640" cy="167640"/>
          </a:xfrm>
          <a:custGeom>
            <a:avLst/>
            <a:gdLst/>
            <a:ahLst/>
            <a:cxnLst/>
            <a:rect l="l" t="t" r="r" b="b"/>
            <a:pathLst>
              <a:path w="167639" h="167639">
                <a:moveTo>
                  <a:pt x="0" y="83784"/>
                </a:moveTo>
                <a:lnTo>
                  <a:pt x="6573" y="51172"/>
                </a:lnTo>
                <a:lnTo>
                  <a:pt x="24499" y="24540"/>
                </a:lnTo>
                <a:lnTo>
                  <a:pt x="51088" y="6584"/>
                </a:lnTo>
                <a:lnTo>
                  <a:pt x="83647" y="0"/>
                </a:lnTo>
                <a:lnTo>
                  <a:pt x="116207" y="6584"/>
                </a:lnTo>
                <a:lnTo>
                  <a:pt x="142796" y="24540"/>
                </a:lnTo>
                <a:lnTo>
                  <a:pt x="160722" y="51172"/>
                </a:lnTo>
                <a:lnTo>
                  <a:pt x="167295" y="83784"/>
                </a:lnTo>
                <a:lnTo>
                  <a:pt x="160722" y="116397"/>
                </a:lnTo>
                <a:lnTo>
                  <a:pt x="142796" y="143029"/>
                </a:lnTo>
                <a:lnTo>
                  <a:pt x="116207" y="160985"/>
                </a:lnTo>
                <a:lnTo>
                  <a:pt x="83647" y="167569"/>
                </a:lnTo>
                <a:lnTo>
                  <a:pt x="51088" y="160985"/>
                </a:lnTo>
                <a:lnTo>
                  <a:pt x="24499" y="143029"/>
                </a:lnTo>
                <a:lnTo>
                  <a:pt x="6573" y="116397"/>
                </a:lnTo>
                <a:lnTo>
                  <a:pt x="0" y="83784"/>
                </a:lnTo>
                <a:close/>
              </a:path>
            </a:pathLst>
          </a:custGeom>
          <a:ln w="9524">
            <a:solidFill>
              <a:srgbClr val="D81E00"/>
            </a:solidFill>
          </a:ln>
        </p:spPr>
        <p:txBody>
          <a:bodyPr wrap="square" lIns="0" tIns="0" rIns="0" bIns="0" rtlCol="0"/>
          <a:lstStyle/>
          <a:p>
            <a:endParaRPr/>
          </a:p>
        </p:txBody>
      </p:sp>
      <p:sp>
        <p:nvSpPr>
          <p:cNvPr id="39" name="object 39"/>
          <p:cNvSpPr/>
          <p:nvPr/>
        </p:nvSpPr>
        <p:spPr>
          <a:xfrm>
            <a:off x="7384323" y="4635097"/>
            <a:ext cx="167640" cy="167640"/>
          </a:xfrm>
          <a:custGeom>
            <a:avLst/>
            <a:gdLst/>
            <a:ahLst/>
            <a:cxnLst/>
            <a:rect l="l" t="t" r="r" b="b"/>
            <a:pathLst>
              <a:path w="167640" h="167639">
                <a:moveTo>
                  <a:pt x="83647" y="0"/>
                </a:moveTo>
                <a:lnTo>
                  <a:pt x="51088" y="6584"/>
                </a:lnTo>
                <a:lnTo>
                  <a:pt x="24500" y="24540"/>
                </a:lnTo>
                <a:lnTo>
                  <a:pt x="6573" y="51171"/>
                </a:lnTo>
                <a:lnTo>
                  <a:pt x="0" y="83784"/>
                </a:lnTo>
                <a:lnTo>
                  <a:pt x="6573" y="116397"/>
                </a:lnTo>
                <a:lnTo>
                  <a:pt x="24500" y="143029"/>
                </a:lnTo>
                <a:lnTo>
                  <a:pt x="51088" y="160985"/>
                </a:lnTo>
                <a:lnTo>
                  <a:pt x="83647" y="167570"/>
                </a:lnTo>
                <a:lnTo>
                  <a:pt x="116207" y="160985"/>
                </a:lnTo>
                <a:lnTo>
                  <a:pt x="142796" y="143029"/>
                </a:lnTo>
                <a:lnTo>
                  <a:pt x="160722" y="116397"/>
                </a:lnTo>
                <a:lnTo>
                  <a:pt x="167295" y="83784"/>
                </a:lnTo>
                <a:lnTo>
                  <a:pt x="160722" y="51171"/>
                </a:lnTo>
                <a:lnTo>
                  <a:pt x="142796" y="24540"/>
                </a:lnTo>
                <a:lnTo>
                  <a:pt x="116207" y="6584"/>
                </a:lnTo>
                <a:lnTo>
                  <a:pt x="83647" y="0"/>
                </a:lnTo>
                <a:close/>
              </a:path>
            </a:pathLst>
          </a:custGeom>
          <a:solidFill>
            <a:srgbClr val="D81E00"/>
          </a:solidFill>
        </p:spPr>
        <p:txBody>
          <a:bodyPr wrap="square" lIns="0" tIns="0" rIns="0" bIns="0" rtlCol="0"/>
          <a:lstStyle/>
          <a:p>
            <a:endParaRPr/>
          </a:p>
        </p:txBody>
      </p:sp>
      <p:sp>
        <p:nvSpPr>
          <p:cNvPr id="40" name="object 40"/>
          <p:cNvSpPr/>
          <p:nvPr/>
        </p:nvSpPr>
        <p:spPr>
          <a:xfrm>
            <a:off x="7384323" y="4635097"/>
            <a:ext cx="167640" cy="167640"/>
          </a:xfrm>
          <a:custGeom>
            <a:avLst/>
            <a:gdLst/>
            <a:ahLst/>
            <a:cxnLst/>
            <a:rect l="l" t="t" r="r" b="b"/>
            <a:pathLst>
              <a:path w="167640" h="167639">
                <a:moveTo>
                  <a:pt x="0" y="83784"/>
                </a:moveTo>
                <a:lnTo>
                  <a:pt x="6573" y="51172"/>
                </a:lnTo>
                <a:lnTo>
                  <a:pt x="24499" y="24540"/>
                </a:lnTo>
                <a:lnTo>
                  <a:pt x="51088" y="6584"/>
                </a:lnTo>
                <a:lnTo>
                  <a:pt x="83647" y="0"/>
                </a:lnTo>
                <a:lnTo>
                  <a:pt x="116207" y="6584"/>
                </a:lnTo>
                <a:lnTo>
                  <a:pt x="142796" y="24540"/>
                </a:lnTo>
                <a:lnTo>
                  <a:pt x="160722" y="51172"/>
                </a:lnTo>
                <a:lnTo>
                  <a:pt x="167295" y="83784"/>
                </a:lnTo>
                <a:lnTo>
                  <a:pt x="160722" y="116397"/>
                </a:lnTo>
                <a:lnTo>
                  <a:pt x="142796" y="143029"/>
                </a:lnTo>
                <a:lnTo>
                  <a:pt x="116207" y="160985"/>
                </a:lnTo>
                <a:lnTo>
                  <a:pt x="83647" y="167570"/>
                </a:lnTo>
                <a:lnTo>
                  <a:pt x="51088" y="160985"/>
                </a:lnTo>
                <a:lnTo>
                  <a:pt x="24499" y="143029"/>
                </a:lnTo>
                <a:lnTo>
                  <a:pt x="6573" y="116397"/>
                </a:lnTo>
                <a:lnTo>
                  <a:pt x="0" y="83784"/>
                </a:lnTo>
                <a:close/>
              </a:path>
            </a:pathLst>
          </a:custGeom>
          <a:ln w="9524">
            <a:solidFill>
              <a:srgbClr val="D81E00"/>
            </a:solidFill>
          </a:ln>
        </p:spPr>
        <p:txBody>
          <a:bodyPr wrap="square" lIns="0" tIns="0" rIns="0" bIns="0" rtlCol="0"/>
          <a:lstStyle/>
          <a:p>
            <a:endParaRPr/>
          </a:p>
        </p:txBody>
      </p:sp>
      <p:sp>
        <p:nvSpPr>
          <p:cNvPr id="41" name="object 41"/>
          <p:cNvSpPr/>
          <p:nvPr/>
        </p:nvSpPr>
        <p:spPr>
          <a:xfrm>
            <a:off x="5646405" y="5291801"/>
            <a:ext cx="167640" cy="167640"/>
          </a:xfrm>
          <a:custGeom>
            <a:avLst/>
            <a:gdLst/>
            <a:ahLst/>
            <a:cxnLst/>
            <a:rect l="l" t="t" r="r" b="b"/>
            <a:pathLst>
              <a:path w="167639" h="167639">
                <a:moveTo>
                  <a:pt x="83648" y="0"/>
                </a:moveTo>
                <a:lnTo>
                  <a:pt x="51088" y="6584"/>
                </a:lnTo>
                <a:lnTo>
                  <a:pt x="24500" y="24540"/>
                </a:lnTo>
                <a:lnTo>
                  <a:pt x="6573" y="51171"/>
                </a:lnTo>
                <a:lnTo>
                  <a:pt x="0" y="83784"/>
                </a:lnTo>
                <a:lnTo>
                  <a:pt x="6573" y="116397"/>
                </a:lnTo>
                <a:lnTo>
                  <a:pt x="24500" y="143029"/>
                </a:lnTo>
                <a:lnTo>
                  <a:pt x="51088" y="160985"/>
                </a:lnTo>
                <a:lnTo>
                  <a:pt x="83648" y="167570"/>
                </a:lnTo>
                <a:lnTo>
                  <a:pt x="116208" y="160985"/>
                </a:lnTo>
                <a:lnTo>
                  <a:pt x="142796" y="143029"/>
                </a:lnTo>
                <a:lnTo>
                  <a:pt x="160722" y="116397"/>
                </a:lnTo>
                <a:lnTo>
                  <a:pt x="167295" y="83784"/>
                </a:lnTo>
                <a:lnTo>
                  <a:pt x="160722" y="51171"/>
                </a:lnTo>
                <a:lnTo>
                  <a:pt x="142796" y="24540"/>
                </a:lnTo>
                <a:lnTo>
                  <a:pt x="116208" y="6584"/>
                </a:lnTo>
                <a:lnTo>
                  <a:pt x="83648" y="0"/>
                </a:lnTo>
                <a:close/>
              </a:path>
            </a:pathLst>
          </a:custGeom>
          <a:solidFill>
            <a:srgbClr val="D81E00"/>
          </a:solidFill>
        </p:spPr>
        <p:txBody>
          <a:bodyPr wrap="square" lIns="0" tIns="0" rIns="0" bIns="0" rtlCol="0"/>
          <a:lstStyle/>
          <a:p>
            <a:endParaRPr/>
          </a:p>
        </p:txBody>
      </p:sp>
      <p:sp>
        <p:nvSpPr>
          <p:cNvPr id="42" name="object 42"/>
          <p:cNvSpPr/>
          <p:nvPr/>
        </p:nvSpPr>
        <p:spPr>
          <a:xfrm>
            <a:off x="5646405" y="5291801"/>
            <a:ext cx="167640" cy="167640"/>
          </a:xfrm>
          <a:custGeom>
            <a:avLst/>
            <a:gdLst/>
            <a:ahLst/>
            <a:cxnLst/>
            <a:rect l="l" t="t" r="r" b="b"/>
            <a:pathLst>
              <a:path w="167639" h="167639">
                <a:moveTo>
                  <a:pt x="0" y="83784"/>
                </a:moveTo>
                <a:lnTo>
                  <a:pt x="6573" y="51172"/>
                </a:lnTo>
                <a:lnTo>
                  <a:pt x="24499" y="24540"/>
                </a:lnTo>
                <a:lnTo>
                  <a:pt x="51088" y="6584"/>
                </a:lnTo>
                <a:lnTo>
                  <a:pt x="83647" y="0"/>
                </a:lnTo>
                <a:lnTo>
                  <a:pt x="116207" y="6584"/>
                </a:lnTo>
                <a:lnTo>
                  <a:pt x="142796" y="24540"/>
                </a:lnTo>
                <a:lnTo>
                  <a:pt x="160722" y="51172"/>
                </a:lnTo>
                <a:lnTo>
                  <a:pt x="167295" y="83784"/>
                </a:lnTo>
                <a:lnTo>
                  <a:pt x="160722" y="116397"/>
                </a:lnTo>
                <a:lnTo>
                  <a:pt x="142796" y="143029"/>
                </a:lnTo>
                <a:lnTo>
                  <a:pt x="116207" y="160985"/>
                </a:lnTo>
                <a:lnTo>
                  <a:pt x="83647" y="167570"/>
                </a:lnTo>
                <a:lnTo>
                  <a:pt x="51088" y="160985"/>
                </a:lnTo>
                <a:lnTo>
                  <a:pt x="24499" y="143029"/>
                </a:lnTo>
                <a:lnTo>
                  <a:pt x="6573" y="116397"/>
                </a:lnTo>
                <a:lnTo>
                  <a:pt x="0" y="83784"/>
                </a:lnTo>
                <a:close/>
              </a:path>
            </a:pathLst>
          </a:custGeom>
          <a:ln w="9524">
            <a:solidFill>
              <a:srgbClr val="D81E00"/>
            </a:solidFill>
          </a:ln>
        </p:spPr>
        <p:txBody>
          <a:bodyPr wrap="square" lIns="0" tIns="0" rIns="0" bIns="0" rtlCol="0"/>
          <a:lstStyle/>
          <a:p>
            <a:endParaRPr/>
          </a:p>
        </p:txBody>
      </p:sp>
      <p:sp>
        <p:nvSpPr>
          <p:cNvPr id="43" name="灯片编号占位符 42"/>
          <p:cNvSpPr>
            <a:spLocks noGrp="1"/>
          </p:cNvSpPr>
          <p:nvPr>
            <p:ph type="sldNum" sz="quarter" idx="12"/>
          </p:nvPr>
        </p:nvSpPr>
        <p:spPr/>
        <p:txBody>
          <a:bodyPr/>
          <a:lstStyle/>
          <a:p>
            <a:fld id="{74D2AB8B-5816-41F2-8B4B-CA5C3E4E6A65}" type="slidenum">
              <a:rPr lang="zh-CN" altLang="en-US" smtClean="0"/>
              <a:t>10</a:t>
            </a:fld>
            <a:endParaRPr lang="zh-CN" altLang="en-US"/>
          </a:p>
        </p:txBody>
      </p:sp>
      <p:sp>
        <p:nvSpPr>
          <p:cNvPr id="45" name="标题 44"/>
          <p:cNvSpPr>
            <a:spLocks noGrp="1"/>
          </p:cNvSpPr>
          <p:nvPr>
            <p:ph type="title"/>
          </p:nvPr>
        </p:nvSpPr>
        <p:spPr/>
        <p:txBody>
          <a:bodyPr/>
          <a:lstStyle/>
          <a:p>
            <a:r>
              <a:rPr lang="zh-CN" altLang="en-US" dirty="0"/>
              <a:t>健壮性测试</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nvGraphicFramePr>
        <p:xfrm>
          <a:off x="1138462" y="1620151"/>
          <a:ext cx="9885045" cy="4407731"/>
        </p:xfrm>
        <a:graphic>
          <a:graphicData uri="http://schemas.openxmlformats.org/drawingml/2006/table">
            <a:tbl>
              <a:tblPr firstRow="1" bandRow="1">
                <a:tableStyleId>{2D5ABB26-0587-4C30-8999-92F81FD0307C}</a:tableStyleId>
              </a:tblPr>
              <a:tblGrid>
                <a:gridCol w="1149350">
                  <a:extLst>
                    <a:ext uri="{9D8B030D-6E8A-4147-A177-3AD203B41FA5}">
                      <a16:colId xmlns:a16="http://schemas.microsoft.com/office/drawing/2014/main" val="20000"/>
                    </a:ext>
                  </a:extLst>
                </a:gridCol>
                <a:gridCol w="2509520">
                  <a:extLst>
                    <a:ext uri="{9D8B030D-6E8A-4147-A177-3AD203B41FA5}">
                      <a16:colId xmlns:a16="http://schemas.microsoft.com/office/drawing/2014/main" val="20001"/>
                    </a:ext>
                  </a:extLst>
                </a:gridCol>
                <a:gridCol w="6226175">
                  <a:extLst>
                    <a:ext uri="{9D8B030D-6E8A-4147-A177-3AD203B41FA5}">
                      <a16:colId xmlns:a16="http://schemas.microsoft.com/office/drawing/2014/main" val="20002"/>
                    </a:ext>
                  </a:extLst>
                </a:gridCol>
              </a:tblGrid>
              <a:tr h="543562">
                <a:tc>
                  <a:txBody>
                    <a:bodyPr/>
                    <a:lstStyle/>
                    <a:p>
                      <a:pPr algn="ctr">
                        <a:lnSpc>
                          <a:spcPct val="100000"/>
                        </a:lnSpc>
                        <a:spcBef>
                          <a:spcPts val="1140"/>
                        </a:spcBef>
                      </a:pPr>
                      <a:r>
                        <a:rPr sz="2000" dirty="0">
                          <a:solidFill>
                            <a:srgbClr val="0033CC"/>
                          </a:solidFill>
                          <a:latin typeface="微软雅黑" panose="020B0503020204020204" pitchFamily="34" charset="-122"/>
                          <a:cs typeface="微软雅黑" panose="020B0503020204020204" pitchFamily="34" charset="-122"/>
                        </a:rPr>
                        <a:t>输入项</a:t>
                      </a:r>
                      <a:endParaRPr sz="2000">
                        <a:latin typeface="微软雅黑" panose="020B0503020204020204" pitchFamily="34" charset="-122"/>
                        <a:cs typeface="微软雅黑" panose="020B0503020204020204" pitchFamily="34" charset="-122"/>
                      </a:endParaRPr>
                    </a:p>
                  </a:txBody>
                  <a:tcPr marL="0" marR="0" marT="144780" marB="0">
                    <a:lnR w="19050">
                      <a:solidFill>
                        <a:srgbClr val="000000"/>
                      </a:solidFill>
                      <a:prstDash val="solid"/>
                    </a:lnR>
                    <a:lnT w="28575">
                      <a:solidFill>
                        <a:srgbClr val="000000"/>
                      </a:solidFill>
                      <a:prstDash val="solid"/>
                    </a:lnT>
                    <a:lnB w="28575">
                      <a:solidFill>
                        <a:srgbClr val="000000"/>
                      </a:solidFill>
                      <a:prstDash val="solid"/>
                    </a:lnB>
                  </a:tcPr>
                </a:tc>
                <a:tc>
                  <a:txBody>
                    <a:bodyPr/>
                    <a:lstStyle/>
                    <a:p>
                      <a:pPr algn="ctr">
                        <a:lnSpc>
                          <a:spcPct val="100000"/>
                        </a:lnSpc>
                        <a:spcBef>
                          <a:spcPts val="1140"/>
                        </a:spcBef>
                      </a:pPr>
                      <a:r>
                        <a:rPr sz="2000" dirty="0">
                          <a:solidFill>
                            <a:srgbClr val="0033CC"/>
                          </a:solidFill>
                          <a:latin typeface="微软雅黑" panose="020B0503020204020204" pitchFamily="34" charset="-122"/>
                          <a:cs typeface="微软雅黑" panose="020B0503020204020204" pitchFamily="34" charset="-122"/>
                        </a:rPr>
                        <a:t>边界值</a:t>
                      </a:r>
                      <a:endParaRPr sz="2000">
                        <a:latin typeface="微软雅黑" panose="020B0503020204020204" pitchFamily="34" charset="-122"/>
                        <a:cs typeface="微软雅黑" panose="020B0503020204020204" pitchFamily="34" charset="-122"/>
                      </a:endParaRPr>
                    </a:p>
                  </a:txBody>
                  <a:tcPr marL="0" marR="0" marT="144780" marB="0">
                    <a:lnL w="19050">
                      <a:solidFill>
                        <a:srgbClr val="000000"/>
                      </a:solidFill>
                      <a:prstDash val="solid"/>
                    </a:lnL>
                    <a:lnR w="19050">
                      <a:solidFill>
                        <a:srgbClr val="000000"/>
                      </a:solidFill>
                      <a:prstDash val="solid"/>
                    </a:lnR>
                    <a:lnT w="28575">
                      <a:solidFill>
                        <a:srgbClr val="000000"/>
                      </a:solidFill>
                      <a:prstDash val="solid"/>
                    </a:lnT>
                    <a:lnB w="28575">
                      <a:solidFill>
                        <a:srgbClr val="000000"/>
                      </a:solidFill>
                      <a:prstDash val="solid"/>
                    </a:lnB>
                  </a:tcPr>
                </a:tc>
                <a:tc>
                  <a:txBody>
                    <a:bodyPr/>
                    <a:lstStyle/>
                    <a:p>
                      <a:pPr algn="ctr">
                        <a:lnSpc>
                          <a:spcPct val="100000"/>
                        </a:lnSpc>
                        <a:spcBef>
                          <a:spcPts val="1140"/>
                        </a:spcBef>
                      </a:pPr>
                      <a:r>
                        <a:rPr sz="2000" dirty="0">
                          <a:solidFill>
                            <a:srgbClr val="0033CC"/>
                          </a:solidFill>
                          <a:latin typeface="微软雅黑" panose="020B0503020204020204" pitchFamily="34" charset="-122"/>
                          <a:cs typeface="微软雅黑" panose="020B0503020204020204" pitchFamily="34" charset="-122"/>
                        </a:rPr>
                        <a:t>测试用例的设计思路</a:t>
                      </a:r>
                      <a:endParaRPr sz="2000">
                        <a:latin typeface="微软雅黑" panose="020B0503020204020204" pitchFamily="34" charset="-122"/>
                        <a:cs typeface="微软雅黑" panose="020B0503020204020204" pitchFamily="34" charset="-122"/>
                      </a:endParaRPr>
                    </a:p>
                  </a:txBody>
                  <a:tcPr marL="0" marR="0" marT="144780" marB="0">
                    <a:lnL w="19050">
                      <a:solidFill>
                        <a:srgbClr val="000000"/>
                      </a:solidFill>
                      <a:prstDash val="solid"/>
                    </a:lnL>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r h="1680629">
                <a:tc>
                  <a:txBody>
                    <a:bodyPr/>
                    <a:lstStyle/>
                    <a:p>
                      <a:pPr>
                        <a:lnSpc>
                          <a:spcPct val="100000"/>
                        </a:lnSpc>
                      </a:pPr>
                      <a:endParaRPr sz="2600" dirty="0">
                        <a:latin typeface="Times New Roman" panose="02020603050405020304"/>
                        <a:cs typeface="Times New Roman" panose="02020603050405020304"/>
                      </a:endParaRPr>
                    </a:p>
                    <a:p>
                      <a:pPr>
                        <a:lnSpc>
                          <a:spcPct val="100000"/>
                        </a:lnSpc>
                        <a:spcBef>
                          <a:spcPts val="35"/>
                        </a:spcBef>
                      </a:pPr>
                      <a:endParaRPr sz="2250" dirty="0">
                        <a:latin typeface="Times New Roman" panose="02020603050405020304"/>
                        <a:cs typeface="Times New Roman" panose="02020603050405020304"/>
                      </a:endParaRPr>
                    </a:p>
                    <a:p>
                      <a:pPr algn="ctr">
                        <a:lnSpc>
                          <a:spcPct val="100000"/>
                        </a:lnSpc>
                        <a:spcBef>
                          <a:spcPts val="5"/>
                        </a:spcBef>
                      </a:pPr>
                      <a:r>
                        <a:rPr sz="2000" dirty="0">
                          <a:latin typeface="微软雅黑" panose="020B0503020204020204" pitchFamily="34" charset="-122"/>
                          <a:cs typeface="微软雅黑" panose="020B0503020204020204" pitchFamily="34" charset="-122"/>
                        </a:rPr>
                        <a:t>字符</a:t>
                      </a:r>
                    </a:p>
                  </a:txBody>
                  <a:tcPr marL="0" marR="0" marT="0" marB="0">
                    <a:lnR w="19050">
                      <a:solidFill>
                        <a:srgbClr val="000000"/>
                      </a:solidFill>
                      <a:prstDash val="solid"/>
                    </a:lnR>
                    <a:lnT w="28575">
                      <a:solidFill>
                        <a:srgbClr val="000000"/>
                      </a:solidFill>
                      <a:prstDash val="solid"/>
                    </a:lnT>
                    <a:lnB w="19050">
                      <a:solidFill>
                        <a:srgbClr val="000000"/>
                      </a:solidFill>
                      <a:prstDash val="solid"/>
                    </a:lnB>
                  </a:tcPr>
                </a:tc>
                <a:tc>
                  <a:txBody>
                    <a:bodyPr/>
                    <a:lstStyle/>
                    <a:p>
                      <a:pPr>
                        <a:lnSpc>
                          <a:spcPct val="100000"/>
                        </a:lnSpc>
                        <a:spcBef>
                          <a:spcPts val="5"/>
                        </a:spcBef>
                      </a:pPr>
                      <a:endParaRPr sz="2650">
                        <a:latin typeface="Times New Roman" panose="02020603050405020304"/>
                        <a:cs typeface="Times New Roman" panose="02020603050405020304"/>
                      </a:endParaRPr>
                    </a:p>
                    <a:p>
                      <a:pPr marL="431165" marR="404495">
                        <a:lnSpc>
                          <a:spcPct val="137000"/>
                        </a:lnSpc>
                      </a:pPr>
                      <a:r>
                        <a:rPr sz="2000" dirty="0">
                          <a:latin typeface="微软雅黑" panose="020B0503020204020204" pitchFamily="34" charset="-122"/>
                          <a:cs typeface="微软雅黑" panose="020B0503020204020204" pitchFamily="34" charset="-122"/>
                        </a:rPr>
                        <a:t>起始﹣</a:t>
                      </a:r>
                      <a:r>
                        <a:rPr sz="2000" dirty="0">
                          <a:latin typeface="Arial" panose="020B0604020202020204"/>
                          <a:cs typeface="Arial" panose="020B0604020202020204"/>
                        </a:rPr>
                        <a:t>1</a:t>
                      </a:r>
                      <a:r>
                        <a:rPr sz="2000" dirty="0">
                          <a:latin typeface="微软雅黑" panose="020B0503020204020204" pitchFamily="34" charset="-122"/>
                          <a:cs typeface="微软雅黑" panose="020B0503020204020204" pitchFamily="34" charset="-122"/>
                        </a:rPr>
                        <a:t>个字符 结束﹢</a:t>
                      </a:r>
                      <a:r>
                        <a:rPr sz="2000" dirty="0">
                          <a:latin typeface="Arial" panose="020B0604020202020204"/>
                          <a:cs typeface="Arial" panose="020B0604020202020204"/>
                        </a:rPr>
                        <a:t>1</a:t>
                      </a:r>
                      <a:r>
                        <a:rPr sz="2000" dirty="0">
                          <a:latin typeface="微软雅黑" panose="020B0503020204020204" pitchFamily="34" charset="-122"/>
                          <a:cs typeface="微软雅黑" panose="020B0503020204020204" pitchFamily="34" charset="-122"/>
                        </a:rPr>
                        <a:t>个字符</a:t>
                      </a:r>
                      <a:endParaRPr sz="2000">
                        <a:latin typeface="微软雅黑" panose="020B0503020204020204" pitchFamily="34" charset="-122"/>
                        <a:cs typeface="微软雅黑" panose="020B0503020204020204" pitchFamily="34" charset="-122"/>
                      </a:endParaRPr>
                    </a:p>
                  </a:txBody>
                  <a:tcPr marL="0" marR="0" marT="635" marB="0">
                    <a:lnL w="19050">
                      <a:solidFill>
                        <a:srgbClr val="000000"/>
                      </a:solidFill>
                      <a:prstDash val="solid"/>
                    </a:lnL>
                    <a:lnR w="19050">
                      <a:solidFill>
                        <a:srgbClr val="000000"/>
                      </a:solidFill>
                      <a:prstDash val="solid"/>
                    </a:lnR>
                    <a:lnT w="28575">
                      <a:solidFill>
                        <a:srgbClr val="000000"/>
                      </a:solidFill>
                      <a:prstDash val="solid"/>
                    </a:lnT>
                    <a:lnB w="19050">
                      <a:solidFill>
                        <a:srgbClr val="000000"/>
                      </a:solidFill>
                      <a:prstDash val="solid"/>
                    </a:lnB>
                  </a:tcPr>
                </a:tc>
                <a:tc>
                  <a:txBody>
                    <a:bodyPr/>
                    <a:lstStyle/>
                    <a:p>
                      <a:pPr marL="287655" marR="20320">
                        <a:lnSpc>
                          <a:spcPct val="119000"/>
                        </a:lnSpc>
                        <a:spcBef>
                          <a:spcPts val="830"/>
                        </a:spcBef>
                        <a:tabLst>
                          <a:tab pos="5015865" algn="l"/>
                        </a:tabLst>
                      </a:pPr>
                      <a:r>
                        <a:rPr sz="2000" spc="190" dirty="0">
                          <a:latin typeface="微软雅黑" panose="020B0503020204020204" pitchFamily="34" charset="-122"/>
                          <a:cs typeface="微软雅黑" panose="020B0503020204020204" pitchFamily="34" charset="-122"/>
                        </a:rPr>
                        <a:t>假设一个文本输入区域允许输</a:t>
                      </a:r>
                      <a:r>
                        <a:rPr sz="2000" spc="195" dirty="0">
                          <a:latin typeface="微软雅黑" panose="020B0503020204020204" pitchFamily="34" charset="-122"/>
                          <a:cs typeface="微软雅黑" panose="020B0503020204020204" pitchFamily="34" charset="-122"/>
                        </a:rPr>
                        <a:t>入</a:t>
                      </a:r>
                      <a:r>
                        <a:rPr sz="2000" dirty="0">
                          <a:latin typeface="Arial" panose="020B0604020202020204"/>
                          <a:cs typeface="Arial" panose="020B0604020202020204"/>
                        </a:rPr>
                        <a:t>1</a:t>
                      </a:r>
                      <a:r>
                        <a:rPr sz="2000" spc="-405" dirty="0">
                          <a:latin typeface="Arial" panose="020B0604020202020204"/>
                          <a:cs typeface="Arial" panose="020B0604020202020204"/>
                        </a:rPr>
                        <a:t> </a:t>
                      </a:r>
                      <a:r>
                        <a:rPr sz="2000" spc="190" dirty="0">
                          <a:latin typeface="微软雅黑" panose="020B0503020204020204" pitchFamily="34" charset="-122"/>
                          <a:cs typeface="微软雅黑" panose="020B0503020204020204" pitchFamily="34" charset="-122"/>
                        </a:rPr>
                        <a:t>到</a:t>
                      </a:r>
                      <a:r>
                        <a:rPr sz="2000" spc="125" dirty="0">
                          <a:latin typeface="Arial" panose="020B0604020202020204"/>
                          <a:cs typeface="Arial" panose="020B0604020202020204"/>
                        </a:rPr>
                        <a:t>255</a:t>
                      </a:r>
                      <a:r>
                        <a:rPr sz="2000" spc="-400" dirty="0">
                          <a:latin typeface="Arial" panose="020B0604020202020204"/>
                          <a:cs typeface="Arial" panose="020B0604020202020204"/>
                        </a:rPr>
                        <a:t> </a:t>
                      </a:r>
                      <a:r>
                        <a:rPr sz="2000" spc="190" dirty="0">
                          <a:latin typeface="微软雅黑" panose="020B0503020204020204" pitchFamily="34" charset="-122"/>
                          <a:cs typeface="微软雅黑" panose="020B0503020204020204" pitchFamily="34" charset="-122"/>
                        </a:rPr>
                        <a:t>个字</a:t>
                      </a:r>
                      <a:r>
                        <a:rPr sz="2000" dirty="0">
                          <a:latin typeface="微软雅黑" panose="020B0503020204020204" pitchFamily="34" charset="-122"/>
                          <a:cs typeface="微软雅黑" panose="020B0503020204020204" pitchFamily="34" charset="-122"/>
                        </a:rPr>
                        <a:t>符，  </a:t>
                      </a:r>
                      <a:r>
                        <a:rPr sz="2000" spc="60" dirty="0">
                          <a:latin typeface="微软雅黑" panose="020B0503020204020204" pitchFamily="34" charset="-122"/>
                          <a:cs typeface="微软雅黑" panose="020B0503020204020204" pitchFamily="34" charset="-122"/>
                        </a:rPr>
                        <a:t>输入</a:t>
                      </a:r>
                      <a:r>
                        <a:rPr sz="2000" spc="60" dirty="0">
                          <a:latin typeface="Arial" panose="020B0604020202020204"/>
                          <a:cs typeface="Arial" panose="020B0604020202020204"/>
                        </a:rPr>
                        <a:t>1</a:t>
                      </a:r>
                      <a:r>
                        <a:rPr sz="2000" spc="60" dirty="0">
                          <a:latin typeface="微软雅黑" panose="020B0503020204020204" pitchFamily="34" charset="-122"/>
                          <a:cs typeface="微软雅黑" panose="020B0503020204020204" pitchFamily="34" charset="-122"/>
                        </a:rPr>
                        <a:t>个和</a:t>
                      </a:r>
                      <a:r>
                        <a:rPr sz="2000" spc="60" dirty="0">
                          <a:latin typeface="Arial" panose="020B0604020202020204"/>
                          <a:cs typeface="Arial" panose="020B0604020202020204"/>
                        </a:rPr>
                        <a:t>255</a:t>
                      </a:r>
                      <a:r>
                        <a:rPr sz="2000" spc="60" dirty="0">
                          <a:latin typeface="微软雅黑" panose="020B0503020204020204" pitchFamily="34" charset="-122"/>
                          <a:cs typeface="微软雅黑" panose="020B0503020204020204" pitchFamily="34" charset="-122"/>
                        </a:rPr>
                        <a:t>个字符作为有效等价类</a:t>
                      </a:r>
                      <a:r>
                        <a:rPr sz="2000" dirty="0">
                          <a:latin typeface="微软雅黑" panose="020B0503020204020204" pitchFamily="34" charset="-122"/>
                          <a:cs typeface="微软雅黑" panose="020B0503020204020204" pitchFamily="34" charset="-122"/>
                        </a:rPr>
                        <a:t>；	</a:t>
                      </a:r>
                      <a:r>
                        <a:rPr sz="2000" spc="60" dirty="0">
                          <a:latin typeface="微软雅黑" panose="020B0503020204020204" pitchFamily="34" charset="-122"/>
                          <a:cs typeface="微软雅黑" panose="020B0503020204020204" pitchFamily="34" charset="-122"/>
                        </a:rPr>
                        <a:t>输入</a:t>
                      </a:r>
                      <a:r>
                        <a:rPr sz="2000" spc="60" dirty="0">
                          <a:latin typeface="Arial" panose="020B0604020202020204"/>
                          <a:cs typeface="Arial" panose="020B0604020202020204"/>
                        </a:rPr>
                        <a:t>0</a:t>
                      </a:r>
                      <a:r>
                        <a:rPr sz="2000" dirty="0">
                          <a:latin typeface="微软雅黑" panose="020B0503020204020204" pitchFamily="34" charset="-122"/>
                          <a:cs typeface="微软雅黑" panose="020B0503020204020204" pitchFamily="34" charset="-122"/>
                        </a:rPr>
                        <a:t>个 </a:t>
                      </a:r>
                      <a:r>
                        <a:rPr sz="2000" spc="150" dirty="0">
                          <a:latin typeface="微软雅黑" panose="020B0503020204020204" pitchFamily="34" charset="-122"/>
                          <a:cs typeface="微软雅黑" panose="020B0503020204020204" pitchFamily="34" charset="-122"/>
                        </a:rPr>
                        <a:t>和</a:t>
                      </a:r>
                      <a:r>
                        <a:rPr sz="2000" spc="150" dirty="0">
                          <a:latin typeface="Arial" panose="020B0604020202020204"/>
                          <a:cs typeface="Arial" panose="020B0604020202020204"/>
                        </a:rPr>
                        <a:t>256</a:t>
                      </a:r>
                      <a:r>
                        <a:rPr sz="2000" spc="150" dirty="0">
                          <a:latin typeface="微软雅黑" panose="020B0503020204020204" pitchFamily="34" charset="-122"/>
                          <a:cs typeface="微软雅黑" panose="020B0503020204020204" pitchFamily="34" charset="-122"/>
                        </a:rPr>
                        <a:t>个字符作为无效等价类，这几个数值都属 </a:t>
                      </a:r>
                      <a:r>
                        <a:rPr sz="2000" dirty="0">
                          <a:latin typeface="微软雅黑" panose="020B0503020204020204" pitchFamily="34" charset="-122"/>
                          <a:cs typeface="微软雅黑" panose="020B0503020204020204" pitchFamily="34" charset="-122"/>
                        </a:rPr>
                        <a:t>于边界条件值。</a:t>
                      </a:r>
                      <a:endParaRPr sz="2000">
                        <a:latin typeface="微软雅黑" panose="020B0503020204020204" pitchFamily="34" charset="-122"/>
                        <a:cs typeface="微软雅黑" panose="020B0503020204020204" pitchFamily="34" charset="-122"/>
                      </a:endParaRPr>
                    </a:p>
                  </a:txBody>
                  <a:tcPr marL="0" marR="0" marT="105410" marB="0">
                    <a:lnL w="19050">
                      <a:solidFill>
                        <a:srgbClr val="000000"/>
                      </a:solidFill>
                      <a:prstDash val="solid"/>
                    </a:lnL>
                    <a:lnT w="28575">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r h="1283061">
                <a:tc>
                  <a:txBody>
                    <a:bodyPr/>
                    <a:lstStyle/>
                    <a:p>
                      <a:pPr>
                        <a:lnSpc>
                          <a:spcPct val="100000"/>
                        </a:lnSpc>
                        <a:spcBef>
                          <a:spcPts val="25"/>
                        </a:spcBef>
                      </a:pPr>
                      <a:endParaRPr sz="3500">
                        <a:latin typeface="Times New Roman" panose="02020603050405020304"/>
                        <a:cs typeface="Times New Roman" panose="02020603050405020304"/>
                      </a:endParaRPr>
                    </a:p>
                    <a:p>
                      <a:pPr algn="ctr">
                        <a:lnSpc>
                          <a:spcPct val="100000"/>
                        </a:lnSpc>
                      </a:pPr>
                      <a:r>
                        <a:rPr sz="2000" dirty="0">
                          <a:latin typeface="微软雅黑" panose="020B0503020204020204" pitchFamily="34" charset="-122"/>
                          <a:cs typeface="微软雅黑" panose="020B0503020204020204" pitchFamily="34" charset="-122"/>
                        </a:rPr>
                        <a:t>数值</a:t>
                      </a:r>
                      <a:endParaRPr sz="2000">
                        <a:latin typeface="微软雅黑" panose="020B0503020204020204" pitchFamily="34" charset="-122"/>
                        <a:cs typeface="微软雅黑" panose="020B0503020204020204" pitchFamily="34" charset="-122"/>
                      </a:endParaRPr>
                    </a:p>
                  </a:txBody>
                  <a:tcPr marL="0" marR="0" marT="3175" marB="0">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704215" marR="639445">
                        <a:lnSpc>
                          <a:spcPct val="137000"/>
                        </a:lnSpc>
                        <a:spcBef>
                          <a:spcPts val="1490"/>
                        </a:spcBef>
                      </a:pPr>
                      <a:r>
                        <a:rPr sz="2000" dirty="0">
                          <a:latin typeface="微软雅黑" panose="020B0503020204020204" pitchFamily="34" charset="-122"/>
                          <a:cs typeface="微软雅黑" panose="020B0503020204020204" pitchFamily="34" charset="-122"/>
                        </a:rPr>
                        <a:t>最小值﹣</a:t>
                      </a:r>
                      <a:r>
                        <a:rPr sz="2000" dirty="0">
                          <a:latin typeface="Arial" panose="020B0604020202020204"/>
                          <a:cs typeface="Arial" panose="020B0604020202020204"/>
                        </a:rPr>
                        <a:t>1 </a:t>
                      </a:r>
                      <a:r>
                        <a:rPr sz="2000" dirty="0">
                          <a:latin typeface="微软雅黑" panose="020B0503020204020204" pitchFamily="34" charset="-122"/>
                          <a:cs typeface="微软雅黑" panose="020B0503020204020204" pitchFamily="34" charset="-122"/>
                        </a:rPr>
                        <a:t>最大值﹢</a:t>
                      </a:r>
                      <a:r>
                        <a:rPr sz="2000" dirty="0">
                          <a:latin typeface="Arial" panose="020B0604020202020204"/>
                          <a:cs typeface="Arial" panose="020B0604020202020204"/>
                        </a:rPr>
                        <a:t>1</a:t>
                      </a:r>
                      <a:endParaRPr sz="2000">
                        <a:latin typeface="Arial" panose="020B0604020202020204"/>
                        <a:cs typeface="Arial" panose="020B0604020202020204"/>
                      </a:endParaRPr>
                    </a:p>
                  </a:txBody>
                  <a:tcPr marL="0" marR="0" marT="18923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287655" marR="252730" algn="just">
                        <a:lnSpc>
                          <a:spcPct val="119000"/>
                        </a:lnSpc>
                        <a:spcBef>
                          <a:spcPts val="720"/>
                        </a:spcBef>
                      </a:pPr>
                      <a:r>
                        <a:rPr sz="2000" spc="170" dirty="0">
                          <a:latin typeface="微软雅黑" panose="020B0503020204020204" pitchFamily="34" charset="-122"/>
                          <a:cs typeface="微软雅黑" panose="020B0503020204020204" pitchFamily="34" charset="-122"/>
                        </a:rPr>
                        <a:t>假设某软件要求输入</a:t>
                      </a:r>
                      <a:r>
                        <a:rPr sz="2000" spc="170" dirty="0">
                          <a:latin typeface="Arial" panose="020B0604020202020204"/>
                          <a:cs typeface="Arial" panose="020B0604020202020204"/>
                        </a:rPr>
                        <a:t>5</a:t>
                      </a:r>
                      <a:r>
                        <a:rPr sz="2000" spc="170" dirty="0">
                          <a:latin typeface="微软雅黑" panose="020B0503020204020204" pitchFamily="34" charset="-122"/>
                          <a:cs typeface="微软雅黑" panose="020B0503020204020204" pitchFamily="34" charset="-122"/>
                        </a:rPr>
                        <a:t>位十进制整数值</a:t>
                      </a:r>
                      <a:r>
                        <a:rPr sz="2000" dirty="0">
                          <a:latin typeface="微软雅黑" panose="020B0503020204020204" pitchFamily="34" charset="-122"/>
                          <a:cs typeface="微软雅黑" panose="020B0503020204020204" pitchFamily="34" charset="-122"/>
                        </a:rPr>
                        <a:t>，</a:t>
                      </a:r>
                      <a:r>
                        <a:rPr sz="2000" spc="-509" dirty="0">
                          <a:latin typeface="微软雅黑" panose="020B0503020204020204" pitchFamily="34" charset="-122"/>
                          <a:cs typeface="微软雅黑" panose="020B0503020204020204" pitchFamily="34" charset="-122"/>
                        </a:rPr>
                        <a:t> </a:t>
                      </a:r>
                      <a:r>
                        <a:rPr sz="2000" spc="170" dirty="0">
                          <a:latin typeface="微软雅黑" panose="020B0503020204020204" pitchFamily="34" charset="-122"/>
                          <a:cs typeface="微软雅黑" panose="020B0503020204020204" pitchFamily="34" charset="-122"/>
                        </a:rPr>
                        <a:t>可以使 </a:t>
                      </a:r>
                      <a:r>
                        <a:rPr sz="2000" spc="140" dirty="0">
                          <a:latin typeface="微软雅黑" panose="020B0503020204020204" pitchFamily="34" charset="-122"/>
                          <a:cs typeface="微软雅黑" panose="020B0503020204020204" pitchFamily="34" charset="-122"/>
                        </a:rPr>
                        <a:t>用</a:t>
                      </a:r>
                      <a:r>
                        <a:rPr sz="2000" spc="140" dirty="0">
                          <a:latin typeface="Arial" panose="020B0604020202020204"/>
                          <a:cs typeface="Arial" panose="020B0604020202020204"/>
                        </a:rPr>
                        <a:t>10000</a:t>
                      </a:r>
                      <a:r>
                        <a:rPr sz="2000" spc="140" dirty="0">
                          <a:latin typeface="微软雅黑" panose="020B0503020204020204" pitchFamily="34" charset="-122"/>
                          <a:cs typeface="微软雅黑" panose="020B0503020204020204" pitchFamily="34" charset="-122"/>
                        </a:rPr>
                        <a:t>作为最小值、</a:t>
                      </a:r>
                      <a:r>
                        <a:rPr sz="2000" spc="140" dirty="0">
                          <a:latin typeface="Arial" panose="020B0604020202020204"/>
                          <a:cs typeface="Arial" panose="020B0604020202020204"/>
                        </a:rPr>
                        <a:t>99999</a:t>
                      </a:r>
                      <a:r>
                        <a:rPr sz="2000" spc="140" dirty="0">
                          <a:latin typeface="微软雅黑" panose="020B0503020204020204" pitchFamily="34" charset="-122"/>
                          <a:cs typeface="微软雅黑" panose="020B0503020204020204" pitchFamily="34" charset="-122"/>
                        </a:rPr>
                        <a:t>作为最大值；然后 </a:t>
                      </a:r>
                      <a:r>
                        <a:rPr sz="2000" dirty="0">
                          <a:latin typeface="微软雅黑" panose="020B0503020204020204" pitchFamily="34" charset="-122"/>
                          <a:cs typeface="微软雅黑" panose="020B0503020204020204" pitchFamily="34" charset="-122"/>
                        </a:rPr>
                        <a:t>使用刚好小于</a:t>
                      </a:r>
                      <a:r>
                        <a:rPr sz="2000" dirty="0">
                          <a:latin typeface="Arial" panose="020B0604020202020204"/>
                          <a:cs typeface="Arial" panose="020B0604020202020204"/>
                        </a:rPr>
                        <a:t>5</a:t>
                      </a:r>
                      <a:r>
                        <a:rPr sz="2000" dirty="0">
                          <a:latin typeface="微软雅黑" panose="020B0503020204020204" pitchFamily="34" charset="-122"/>
                          <a:cs typeface="微软雅黑" panose="020B0503020204020204" pitchFamily="34" charset="-122"/>
                        </a:rPr>
                        <a:t>位和大于</a:t>
                      </a:r>
                      <a:r>
                        <a:rPr sz="2000" dirty="0">
                          <a:latin typeface="Arial" panose="020B0604020202020204"/>
                          <a:cs typeface="Arial" panose="020B0604020202020204"/>
                        </a:rPr>
                        <a:t>5</a:t>
                      </a:r>
                      <a:r>
                        <a:rPr sz="2000" dirty="0">
                          <a:latin typeface="微软雅黑" panose="020B0503020204020204" pitchFamily="34" charset="-122"/>
                          <a:cs typeface="微软雅黑" panose="020B0503020204020204" pitchFamily="34" charset="-122"/>
                        </a:rPr>
                        <a:t>位的数值作为边界条件。</a:t>
                      </a:r>
                    </a:p>
                  </a:txBody>
                  <a:tcPr marL="0" marR="0" marT="91440" marB="0">
                    <a:lnL w="19050">
                      <a:solidFill>
                        <a:srgbClr val="000000"/>
                      </a:solidFill>
                      <a:prstDash val="solid"/>
                    </a:lnL>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2"/>
                  </a:ext>
                </a:extLst>
              </a:tr>
              <a:tr h="900479">
                <a:tc>
                  <a:txBody>
                    <a:bodyPr/>
                    <a:lstStyle/>
                    <a:p>
                      <a:pPr>
                        <a:lnSpc>
                          <a:spcPct val="100000"/>
                        </a:lnSpc>
                        <a:spcBef>
                          <a:spcPts val="15"/>
                        </a:spcBef>
                      </a:pPr>
                      <a:endParaRPr sz="2200">
                        <a:latin typeface="Times New Roman" panose="02020603050405020304"/>
                        <a:cs typeface="Times New Roman" panose="02020603050405020304"/>
                      </a:endParaRPr>
                    </a:p>
                    <a:p>
                      <a:pPr algn="ctr">
                        <a:lnSpc>
                          <a:spcPct val="100000"/>
                        </a:lnSpc>
                      </a:pPr>
                      <a:r>
                        <a:rPr sz="2000" dirty="0">
                          <a:latin typeface="微软雅黑" panose="020B0503020204020204" pitchFamily="34" charset="-122"/>
                          <a:cs typeface="微软雅黑" panose="020B0503020204020204" pitchFamily="34" charset="-122"/>
                        </a:rPr>
                        <a:t>空间</a:t>
                      </a:r>
                      <a:endParaRPr sz="2000">
                        <a:latin typeface="微软雅黑" panose="020B0503020204020204" pitchFamily="34" charset="-122"/>
                        <a:cs typeface="微软雅黑" panose="020B0503020204020204" pitchFamily="34" charset="-122"/>
                      </a:endParaRPr>
                    </a:p>
                  </a:txBody>
                  <a:tcPr marL="0" marR="0" marT="1905" marB="0">
                    <a:lnR w="19050">
                      <a:solidFill>
                        <a:srgbClr val="000000"/>
                      </a:solidFill>
                      <a:prstDash val="solid"/>
                    </a:lnR>
                    <a:lnT w="19050">
                      <a:solidFill>
                        <a:srgbClr val="000000"/>
                      </a:solidFill>
                      <a:prstDash val="solid"/>
                    </a:lnT>
                    <a:lnB w="28575">
                      <a:solidFill>
                        <a:srgbClr val="000000"/>
                      </a:solidFill>
                      <a:prstDash val="solid"/>
                    </a:lnB>
                  </a:tcPr>
                </a:tc>
                <a:tc>
                  <a:txBody>
                    <a:bodyPr/>
                    <a:lstStyle/>
                    <a:p>
                      <a:pPr marL="370205" marR="226060" indent="-127000">
                        <a:lnSpc>
                          <a:spcPts val="3280"/>
                        </a:lnSpc>
                        <a:spcBef>
                          <a:spcPts val="240"/>
                        </a:spcBef>
                      </a:pPr>
                      <a:r>
                        <a:rPr sz="2000" dirty="0">
                          <a:latin typeface="微软雅黑" panose="020B0503020204020204" pitchFamily="34" charset="-122"/>
                          <a:cs typeface="微软雅黑" panose="020B0503020204020204" pitchFamily="34" charset="-122"/>
                        </a:rPr>
                        <a:t>小于空余空间一点 大于满空间一点</a:t>
                      </a:r>
                      <a:endParaRPr sz="2000">
                        <a:latin typeface="微软雅黑" panose="020B0503020204020204" pitchFamily="34" charset="-122"/>
                        <a:cs typeface="微软雅黑" panose="020B0503020204020204" pitchFamily="34" charset="-122"/>
                      </a:endParaRPr>
                    </a:p>
                  </a:txBody>
                  <a:tcPr marL="0" marR="0" marT="30480" marB="0">
                    <a:lnL w="19050">
                      <a:solidFill>
                        <a:srgbClr val="000000"/>
                      </a:solidFill>
                      <a:prstDash val="solid"/>
                    </a:lnL>
                    <a:lnR w="19050">
                      <a:solidFill>
                        <a:srgbClr val="000000"/>
                      </a:solidFill>
                      <a:prstDash val="solid"/>
                    </a:lnR>
                    <a:lnT w="19050">
                      <a:solidFill>
                        <a:srgbClr val="000000"/>
                      </a:solidFill>
                      <a:prstDash val="solid"/>
                    </a:lnT>
                    <a:lnB w="28575">
                      <a:solidFill>
                        <a:srgbClr val="000000"/>
                      </a:solidFill>
                      <a:prstDash val="solid"/>
                    </a:lnB>
                  </a:tcPr>
                </a:tc>
                <a:tc>
                  <a:txBody>
                    <a:bodyPr/>
                    <a:lstStyle/>
                    <a:p>
                      <a:pPr marL="287655" marR="254635">
                        <a:lnSpc>
                          <a:spcPct val="117000"/>
                        </a:lnSpc>
                        <a:spcBef>
                          <a:spcPts val="705"/>
                        </a:spcBef>
                      </a:pPr>
                      <a:r>
                        <a:rPr sz="2000" spc="150" dirty="0">
                          <a:latin typeface="微软雅黑" panose="020B0503020204020204" pitchFamily="34" charset="-122"/>
                          <a:cs typeface="微软雅黑" panose="020B0503020204020204" pitchFamily="34" charset="-122"/>
                        </a:rPr>
                        <a:t>例如在用</a:t>
                      </a:r>
                      <a:r>
                        <a:rPr sz="2000" spc="150" dirty="0">
                          <a:latin typeface="Arial" panose="020B0604020202020204"/>
                          <a:cs typeface="Arial" panose="020B0604020202020204"/>
                        </a:rPr>
                        <a:t>U</a:t>
                      </a:r>
                      <a:r>
                        <a:rPr sz="2000" spc="150" dirty="0">
                          <a:latin typeface="微软雅黑" panose="020B0503020204020204" pitchFamily="34" charset="-122"/>
                          <a:cs typeface="微软雅黑" panose="020B0503020204020204" pitchFamily="34" charset="-122"/>
                        </a:rPr>
                        <a:t>盘存储数据时，使用比剩余磁盘空间 </a:t>
                      </a:r>
                      <a:r>
                        <a:rPr sz="2000" dirty="0">
                          <a:latin typeface="微软雅黑" panose="020B0503020204020204" pitchFamily="34" charset="-122"/>
                          <a:cs typeface="微软雅黑" panose="020B0503020204020204" pitchFamily="34" charset="-122"/>
                        </a:rPr>
                        <a:t>大一点（几</a:t>
                      </a:r>
                      <a:r>
                        <a:rPr sz="2000" spc="-10" dirty="0">
                          <a:latin typeface="微软雅黑" panose="020B0503020204020204" pitchFamily="34" charset="-122"/>
                          <a:cs typeface="微软雅黑" panose="020B0503020204020204" pitchFamily="34" charset="-122"/>
                        </a:rPr>
                        <a:t> </a:t>
                      </a:r>
                      <a:r>
                        <a:rPr sz="2000" dirty="0">
                          <a:latin typeface="Arial" panose="020B0604020202020204"/>
                          <a:cs typeface="Arial" panose="020B0604020202020204"/>
                        </a:rPr>
                        <a:t>KB</a:t>
                      </a:r>
                      <a:r>
                        <a:rPr sz="2000" dirty="0">
                          <a:latin typeface="微软雅黑" panose="020B0503020204020204" pitchFamily="34" charset="-122"/>
                          <a:cs typeface="微软雅黑" panose="020B0503020204020204" pitchFamily="34" charset="-122"/>
                        </a:rPr>
                        <a:t>）的文件作为边界条件。</a:t>
                      </a:r>
                    </a:p>
                  </a:txBody>
                  <a:tcPr marL="0" marR="0" marT="89535" marB="0">
                    <a:lnL w="19050">
                      <a:solidFill>
                        <a:srgbClr val="000000"/>
                      </a:solidFill>
                      <a:prstDash val="solid"/>
                    </a:lnL>
                    <a:lnT w="19050">
                      <a:solidFill>
                        <a:srgbClr val="000000"/>
                      </a:solidFill>
                      <a:prstDash val="solid"/>
                    </a:lnT>
                    <a:lnB w="28575">
                      <a:solidFill>
                        <a:srgbClr val="000000"/>
                      </a:solidFill>
                      <a:prstDash val="solid"/>
                    </a:lnB>
                  </a:tcPr>
                </a:tc>
                <a:extLst>
                  <a:ext uri="{0D108BD9-81ED-4DB2-BD59-A6C34878D82A}">
                    <a16:rowId xmlns:a16="http://schemas.microsoft.com/office/drawing/2014/main" val="10003"/>
                  </a:ext>
                </a:extLst>
              </a:tr>
            </a:tbl>
          </a:graphicData>
        </a:graphic>
      </p:graphicFrame>
      <p:sp>
        <p:nvSpPr>
          <p:cNvPr id="4" name="灯片编号占位符 3"/>
          <p:cNvSpPr>
            <a:spLocks noGrp="1"/>
          </p:cNvSpPr>
          <p:nvPr>
            <p:ph type="sldNum" sz="quarter" idx="12"/>
          </p:nvPr>
        </p:nvSpPr>
        <p:spPr/>
        <p:txBody>
          <a:bodyPr/>
          <a:lstStyle/>
          <a:p>
            <a:fld id="{74D2AB8B-5816-41F2-8B4B-CA5C3E4E6A65}" type="slidenum">
              <a:rPr lang="zh-CN" altLang="en-US" smtClean="0"/>
              <a:t>11</a:t>
            </a:fld>
            <a:endParaRPr lang="zh-CN" altLang="en-US"/>
          </a:p>
        </p:txBody>
      </p:sp>
      <p:sp>
        <p:nvSpPr>
          <p:cNvPr id="6" name="标题 5"/>
          <p:cNvSpPr>
            <a:spLocks noGrp="1"/>
          </p:cNvSpPr>
          <p:nvPr>
            <p:ph type="title"/>
          </p:nvPr>
        </p:nvSpPr>
        <p:spPr/>
        <p:txBody>
          <a:bodyPr/>
          <a:lstStyle/>
          <a:p>
            <a:r>
              <a:rPr lang="zh-CN" altLang="en-US" dirty="0"/>
              <a:t>健壮性测试</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47133" y="1521585"/>
            <a:ext cx="3096260" cy="540385"/>
          </a:xfrm>
          <a:prstGeom prst="rect">
            <a:avLst/>
          </a:prstGeom>
          <a:solidFill>
            <a:srgbClr val="797BA9"/>
          </a:solidFill>
        </p:spPr>
        <p:txBody>
          <a:bodyPr vert="horz" wrap="square" lIns="0" tIns="117475" rIns="0" bIns="0" rtlCol="0">
            <a:spAutoFit/>
          </a:bodyPr>
          <a:lstStyle/>
          <a:p>
            <a:pPr marL="408940">
              <a:lnSpc>
                <a:spcPct val="100000"/>
              </a:lnSpc>
              <a:spcBef>
                <a:spcPts val="925"/>
              </a:spcBef>
            </a:pPr>
            <a:r>
              <a:rPr sz="2000" dirty="0">
                <a:solidFill>
                  <a:srgbClr val="FFFFFF"/>
                </a:solidFill>
                <a:latin typeface="微软雅黑" panose="020B0503020204020204" pitchFamily="34" charset="-122"/>
                <a:cs typeface="微软雅黑" panose="020B0503020204020204" pitchFamily="34" charset="-122"/>
              </a:rPr>
              <a:t>标准等价类测试用例</a:t>
            </a:r>
            <a:endParaRPr sz="2000">
              <a:latin typeface="微软雅黑" panose="020B0503020204020204" pitchFamily="34" charset="-122"/>
              <a:cs typeface="微软雅黑" panose="020B0503020204020204" pitchFamily="34" charset="-122"/>
            </a:endParaRPr>
          </a:p>
        </p:txBody>
      </p:sp>
      <p:graphicFrame>
        <p:nvGraphicFramePr>
          <p:cNvPr id="4" name="object 4"/>
          <p:cNvGraphicFramePr>
            <a:graphicFrameLocks noGrp="1"/>
          </p:cNvGraphicFramePr>
          <p:nvPr/>
        </p:nvGraphicFramePr>
        <p:xfrm>
          <a:off x="1039311" y="2081975"/>
          <a:ext cx="9988549" cy="4190995"/>
        </p:xfrm>
        <a:graphic>
          <a:graphicData uri="http://schemas.openxmlformats.org/drawingml/2006/table">
            <a:tbl>
              <a:tblPr firstRow="1" bandRow="1">
                <a:tableStyleId>{2D5ABB26-0587-4C30-8999-92F81FD0307C}</a:tableStyleId>
              </a:tblPr>
              <a:tblGrid>
                <a:gridCol w="849630">
                  <a:extLst>
                    <a:ext uri="{9D8B030D-6E8A-4147-A177-3AD203B41FA5}">
                      <a16:colId xmlns:a16="http://schemas.microsoft.com/office/drawing/2014/main" val="20000"/>
                    </a:ext>
                  </a:extLst>
                </a:gridCol>
                <a:gridCol w="3984625">
                  <a:extLst>
                    <a:ext uri="{9D8B030D-6E8A-4147-A177-3AD203B41FA5}">
                      <a16:colId xmlns:a16="http://schemas.microsoft.com/office/drawing/2014/main" val="20001"/>
                    </a:ext>
                  </a:extLst>
                </a:gridCol>
                <a:gridCol w="930910">
                  <a:extLst>
                    <a:ext uri="{9D8B030D-6E8A-4147-A177-3AD203B41FA5}">
                      <a16:colId xmlns:a16="http://schemas.microsoft.com/office/drawing/2014/main" val="20002"/>
                    </a:ext>
                  </a:extLst>
                </a:gridCol>
                <a:gridCol w="951230">
                  <a:extLst>
                    <a:ext uri="{9D8B030D-6E8A-4147-A177-3AD203B41FA5}">
                      <a16:colId xmlns:a16="http://schemas.microsoft.com/office/drawing/2014/main" val="20003"/>
                    </a:ext>
                  </a:extLst>
                </a:gridCol>
                <a:gridCol w="1012190">
                  <a:extLst>
                    <a:ext uri="{9D8B030D-6E8A-4147-A177-3AD203B41FA5}">
                      <a16:colId xmlns:a16="http://schemas.microsoft.com/office/drawing/2014/main" val="20004"/>
                    </a:ext>
                  </a:extLst>
                </a:gridCol>
                <a:gridCol w="2259964">
                  <a:extLst>
                    <a:ext uri="{9D8B030D-6E8A-4147-A177-3AD203B41FA5}">
                      <a16:colId xmlns:a16="http://schemas.microsoft.com/office/drawing/2014/main" val="20005"/>
                    </a:ext>
                  </a:extLst>
                </a:gridCol>
              </a:tblGrid>
              <a:tr h="365759">
                <a:tc rowSpan="2">
                  <a:txBody>
                    <a:bodyPr/>
                    <a:lstStyle/>
                    <a:p>
                      <a:pPr marL="170180">
                        <a:lnSpc>
                          <a:spcPct val="100000"/>
                        </a:lnSpc>
                        <a:spcBef>
                          <a:spcPts val="1580"/>
                        </a:spcBef>
                      </a:pPr>
                      <a:r>
                        <a:rPr sz="2000" dirty="0">
                          <a:solidFill>
                            <a:srgbClr val="0033CC"/>
                          </a:solidFill>
                          <a:latin typeface="微软雅黑" panose="020B0503020204020204" pitchFamily="34" charset="-122"/>
                          <a:cs typeface="微软雅黑" panose="020B0503020204020204" pitchFamily="34" charset="-122"/>
                        </a:rPr>
                        <a:t>序号</a:t>
                      </a:r>
                      <a:endParaRPr sz="2000">
                        <a:latin typeface="微软雅黑" panose="020B0503020204020204" pitchFamily="34" charset="-122"/>
                        <a:cs typeface="微软雅黑" panose="020B0503020204020204" pitchFamily="34" charset="-122"/>
                      </a:endParaRPr>
                    </a:p>
                  </a:txBody>
                  <a:tcPr marL="0" marR="0" marT="200660" marB="0">
                    <a:lnR w="12700">
                      <a:solidFill>
                        <a:srgbClr val="000000"/>
                      </a:solidFill>
                      <a:prstDash val="solid"/>
                    </a:lnR>
                    <a:lnT w="28575">
                      <a:solidFill>
                        <a:srgbClr val="000000"/>
                      </a:solidFill>
                      <a:prstDash val="solid"/>
                    </a:lnT>
                    <a:lnB w="28575">
                      <a:solidFill>
                        <a:srgbClr val="000000"/>
                      </a:solidFill>
                      <a:prstDash val="solid"/>
                    </a:lnB>
                  </a:tcPr>
                </a:tc>
                <a:tc rowSpan="2">
                  <a:txBody>
                    <a:bodyPr/>
                    <a:lstStyle/>
                    <a:p>
                      <a:pPr marL="1229995">
                        <a:lnSpc>
                          <a:spcPct val="100000"/>
                        </a:lnSpc>
                        <a:spcBef>
                          <a:spcPts val="1580"/>
                        </a:spcBef>
                      </a:pPr>
                      <a:r>
                        <a:rPr sz="2000" dirty="0">
                          <a:solidFill>
                            <a:srgbClr val="0033CC"/>
                          </a:solidFill>
                          <a:latin typeface="微软雅黑" panose="020B0503020204020204" pitchFamily="34" charset="-122"/>
                          <a:cs typeface="微软雅黑" panose="020B0503020204020204" pitchFamily="34" charset="-122"/>
                        </a:rPr>
                        <a:t>测试用例描述</a:t>
                      </a:r>
                      <a:endParaRPr sz="2000">
                        <a:latin typeface="微软雅黑" panose="020B0503020204020204" pitchFamily="34" charset="-122"/>
                        <a:cs typeface="微软雅黑" panose="020B0503020204020204" pitchFamily="34" charset="-122"/>
                      </a:endParaRPr>
                    </a:p>
                  </a:txBody>
                  <a:tcPr marL="0" marR="0" marT="20066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gridSpan="3">
                  <a:txBody>
                    <a:bodyPr/>
                    <a:lstStyle/>
                    <a:p>
                      <a:pPr marL="937895">
                        <a:lnSpc>
                          <a:spcPct val="100000"/>
                        </a:lnSpc>
                        <a:spcBef>
                          <a:spcPts val="140"/>
                        </a:spcBef>
                      </a:pPr>
                      <a:r>
                        <a:rPr sz="2000" dirty="0">
                          <a:solidFill>
                            <a:srgbClr val="0033CC"/>
                          </a:solidFill>
                          <a:latin typeface="微软雅黑" panose="020B0503020204020204" pitchFamily="34" charset="-122"/>
                          <a:cs typeface="微软雅黑" panose="020B0503020204020204" pitchFamily="34" charset="-122"/>
                        </a:rPr>
                        <a:t>输入参数</a:t>
                      </a:r>
                      <a:endParaRPr sz="2000">
                        <a:latin typeface="微软雅黑" panose="020B0503020204020204" pitchFamily="34" charset="-122"/>
                        <a:cs typeface="微软雅黑" panose="020B0503020204020204" pitchFamily="34" charset="-122"/>
                      </a:endParaRPr>
                    </a:p>
                  </a:txBody>
                  <a:tcPr marL="0" marR="0" marT="17780"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hMerge="1">
                  <a:txBody>
                    <a:bodyPr/>
                    <a:lstStyle/>
                    <a:p>
                      <a:endParaRPr lang="zh-CN"/>
                    </a:p>
                  </a:txBody>
                  <a:tcPr marL="0" marR="0" marT="0" marB="0"/>
                </a:tc>
                <a:tc hMerge="1">
                  <a:txBody>
                    <a:bodyPr/>
                    <a:lstStyle/>
                    <a:p>
                      <a:endParaRPr lang="zh-CN"/>
                    </a:p>
                  </a:txBody>
                  <a:tcPr marL="0" marR="0" marT="0" marB="0"/>
                </a:tc>
                <a:tc rowSpan="2">
                  <a:txBody>
                    <a:bodyPr/>
                    <a:lstStyle/>
                    <a:p>
                      <a:pPr marL="621030">
                        <a:lnSpc>
                          <a:spcPct val="100000"/>
                        </a:lnSpc>
                        <a:spcBef>
                          <a:spcPts val="1580"/>
                        </a:spcBef>
                      </a:pPr>
                      <a:r>
                        <a:rPr sz="2000" dirty="0">
                          <a:solidFill>
                            <a:srgbClr val="0033CC"/>
                          </a:solidFill>
                          <a:latin typeface="微软雅黑" panose="020B0503020204020204" pitchFamily="34" charset="-122"/>
                          <a:cs typeface="微软雅黑" panose="020B0503020204020204" pitchFamily="34" charset="-122"/>
                        </a:rPr>
                        <a:t>期望输出</a:t>
                      </a:r>
                      <a:endParaRPr sz="2000">
                        <a:latin typeface="微软雅黑" panose="020B0503020204020204" pitchFamily="34" charset="-122"/>
                        <a:cs typeface="微软雅黑" panose="020B0503020204020204" pitchFamily="34" charset="-122"/>
                      </a:endParaRPr>
                    </a:p>
                  </a:txBody>
                  <a:tcPr marL="0" marR="0" marT="200660" marB="0">
                    <a:lnL w="12700">
                      <a:solidFill>
                        <a:srgbClr val="000000"/>
                      </a:solidFill>
                      <a:prstDash val="solid"/>
                    </a:lnL>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r h="365760">
                <a:tc vMerge="1">
                  <a:txBody>
                    <a:bodyPr/>
                    <a:lstStyle/>
                    <a:p>
                      <a:endParaRPr lang="zh-CN"/>
                    </a:p>
                  </a:txBody>
                  <a:tcPr marL="0" marR="0" marT="200660" marB="0">
                    <a:lnR w="12700">
                      <a:solidFill>
                        <a:srgbClr val="000000"/>
                      </a:solidFill>
                      <a:prstDash val="solid"/>
                    </a:lnR>
                    <a:lnT w="28575">
                      <a:solidFill>
                        <a:srgbClr val="000000"/>
                      </a:solidFill>
                      <a:prstDash val="solid"/>
                    </a:lnT>
                    <a:lnB w="28575">
                      <a:solidFill>
                        <a:srgbClr val="000000"/>
                      </a:solidFill>
                      <a:prstDash val="solid"/>
                    </a:lnB>
                  </a:tcPr>
                </a:tc>
                <a:tc vMerge="1">
                  <a:txBody>
                    <a:bodyPr/>
                    <a:lstStyle/>
                    <a:p>
                      <a:endParaRPr lang="zh-CN"/>
                    </a:p>
                  </a:txBody>
                  <a:tcPr marL="0" marR="0" marT="20066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algn="ctr">
                        <a:lnSpc>
                          <a:spcPct val="100000"/>
                        </a:lnSpc>
                        <a:spcBef>
                          <a:spcPts val="140"/>
                        </a:spcBef>
                      </a:pPr>
                      <a:r>
                        <a:rPr sz="2000" dirty="0">
                          <a:solidFill>
                            <a:srgbClr val="0033CC"/>
                          </a:solidFill>
                          <a:latin typeface="Arial" panose="020B0604020202020204"/>
                          <a:cs typeface="Arial" panose="020B0604020202020204"/>
                        </a:rPr>
                        <a:t>a</a:t>
                      </a:r>
                      <a:endParaRPr sz="2000">
                        <a:latin typeface="Arial" panose="020B0604020202020204"/>
                        <a:cs typeface="Arial" panose="020B0604020202020204"/>
                      </a:endParaRPr>
                    </a:p>
                  </a:txBody>
                  <a:tcPr marL="0" marR="0" marT="1778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gn="ctr">
                        <a:lnSpc>
                          <a:spcPct val="100000"/>
                        </a:lnSpc>
                        <a:spcBef>
                          <a:spcPts val="140"/>
                        </a:spcBef>
                      </a:pPr>
                      <a:r>
                        <a:rPr sz="2000" dirty="0">
                          <a:solidFill>
                            <a:srgbClr val="0033CC"/>
                          </a:solidFill>
                          <a:latin typeface="Arial" panose="020B0604020202020204"/>
                          <a:cs typeface="Arial" panose="020B0604020202020204"/>
                        </a:rPr>
                        <a:t>b</a:t>
                      </a:r>
                      <a:endParaRPr sz="2000">
                        <a:latin typeface="Arial" panose="020B0604020202020204"/>
                        <a:cs typeface="Arial" panose="020B0604020202020204"/>
                      </a:endParaRPr>
                    </a:p>
                  </a:txBody>
                  <a:tcPr marL="0" marR="0" marT="1778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gn="ctr">
                        <a:lnSpc>
                          <a:spcPct val="100000"/>
                        </a:lnSpc>
                        <a:spcBef>
                          <a:spcPts val="140"/>
                        </a:spcBef>
                      </a:pPr>
                      <a:r>
                        <a:rPr sz="2000" dirty="0">
                          <a:solidFill>
                            <a:srgbClr val="0033CC"/>
                          </a:solidFill>
                          <a:latin typeface="Arial" panose="020B0604020202020204"/>
                          <a:cs typeface="Arial" panose="020B0604020202020204"/>
                        </a:rPr>
                        <a:t>c</a:t>
                      </a:r>
                      <a:endParaRPr sz="2000">
                        <a:latin typeface="Arial" panose="020B0604020202020204"/>
                        <a:cs typeface="Arial" panose="020B0604020202020204"/>
                      </a:endParaRPr>
                    </a:p>
                  </a:txBody>
                  <a:tcPr marL="0" marR="0" marT="1778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vMerge="1">
                  <a:txBody>
                    <a:bodyPr/>
                    <a:lstStyle/>
                    <a:p>
                      <a:endParaRPr lang="zh-CN"/>
                    </a:p>
                  </a:txBody>
                  <a:tcPr marL="0" marR="0" marT="200660" marB="0">
                    <a:lnL w="12700">
                      <a:solidFill>
                        <a:srgbClr val="000000"/>
                      </a:solidFill>
                      <a:prstDash val="solid"/>
                    </a:lnL>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1"/>
                  </a:ext>
                </a:extLst>
              </a:tr>
              <a:tr h="952499">
                <a:tc>
                  <a:txBody>
                    <a:bodyPr/>
                    <a:lstStyle/>
                    <a:p>
                      <a:pPr>
                        <a:lnSpc>
                          <a:spcPct val="100000"/>
                        </a:lnSpc>
                        <a:spcBef>
                          <a:spcPts val="35"/>
                        </a:spcBef>
                      </a:pPr>
                      <a:endParaRPr sz="2100">
                        <a:latin typeface="Times New Roman" panose="02020603050405020304"/>
                        <a:cs typeface="Times New Roman" panose="02020603050405020304"/>
                      </a:endParaRPr>
                    </a:p>
                    <a:p>
                      <a:pPr algn="ctr">
                        <a:lnSpc>
                          <a:spcPct val="100000"/>
                        </a:lnSpc>
                      </a:pPr>
                      <a:r>
                        <a:rPr sz="2000" dirty="0">
                          <a:latin typeface="Arial" panose="020B0604020202020204"/>
                          <a:cs typeface="Arial" panose="020B0604020202020204"/>
                        </a:rPr>
                        <a:t>1</a:t>
                      </a:r>
                      <a:endParaRPr sz="2000">
                        <a:latin typeface="Arial" panose="020B0604020202020204"/>
                        <a:cs typeface="Arial" panose="020B0604020202020204"/>
                      </a:endParaRPr>
                    </a:p>
                  </a:txBody>
                  <a:tcPr marL="0" marR="0" marT="4445" marB="0">
                    <a:lnR w="12700">
                      <a:solidFill>
                        <a:srgbClr val="000000"/>
                      </a:solidFill>
                      <a:prstDash val="solid"/>
                    </a:lnR>
                    <a:lnT w="28575">
                      <a:solidFill>
                        <a:srgbClr val="000000"/>
                      </a:solidFill>
                      <a:prstDash val="solid"/>
                    </a:lnT>
                    <a:lnB w="9525">
                      <a:solidFill>
                        <a:srgbClr val="000000"/>
                      </a:solidFill>
                      <a:prstDash val="solid"/>
                    </a:lnB>
                  </a:tcPr>
                </a:tc>
                <a:tc>
                  <a:txBody>
                    <a:bodyPr/>
                    <a:lstStyle/>
                    <a:p>
                      <a:pPr marL="678815" marR="671195" indent="-635" algn="ctr">
                        <a:lnSpc>
                          <a:spcPct val="90000"/>
                        </a:lnSpc>
                        <a:spcBef>
                          <a:spcPts val="540"/>
                        </a:spcBef>
                      </a:pPr>
                      <a:r>
                        <a:rPr sz="2000" spc="-5" dirty="0">
                          <a:latin typeface="Arial" panose="020B0604020202020204"/>
                          <a:cs typeface="Arial" panose="020B0604020202020204"/>
                        </a:rPr>
                        <a:t>a&gt;0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c&gt;0  </a:t>
                      </a:r>
                      <a:r>
                        <a:rPr sz="2000" dirty="0">
                          <a:latin typeface="Arial" panose="020B0604020202020204"/>
                          <a:cs typeface="Arial" panose="020B0604020202020204"/>
                        </a:rPr>
                        <a:t>a+</a:t>
                      </a:r>
                      <a:r>
                        <a:rPr sz="2000" spc="-5" dirty="0">
                          <a:latin typeface="Arial" panose="020B0604020202020204"/>
                          <a:cs typeface="Arial" panose="020B0604020202020204"/>
                        </a:rPr>
                        <a:t>b</a:t>
                      </a:r>
                      <a:r>
                        <a:rPr sz="2000" dirty="0">
                          <a:latin typeface="Arial" panose="020B0604020202020204"/>
                          <a:cs typeface="Arial" panose="020B0604020202020204"/>
                        </a:rPr>
                        <a:t>&gt;c</a:t>
                      </a:r>
                      <a:r>
                        <a:rPr sz="2000" dirty="0">
                          <a:latin typeface="微软雅黑" panose="020B0503020204020204" pitchFamily="34" charset="-122"/>
                          <a:cs typeface="微软雅黑" panose="020B0503020204020204" pitchFamily="34" charset="-122"/>
                        </a:rPr>
                        <a:t>，</a:t>
                      </a:r>
                      <a:r>
                        <a:rPr sz="2000" dirty="0">
                          <a:latin typeface="Arial" panose="020B0604020202020204"/>
                          <a:cs typeface="Arial" panose="020B0604020202020204"/>
                        </a:rPr>
                        <a:t>b+</a:t>
                      </a:r>
                      <a:r>
                        <a:rPr sz="2000" spc="-5" dirty="0">
                          <a:latin typeface="Arial" panose="020B0604020202020204"/>
                          <a:cs typeface="Arial" panose="020B0604020202020204"/>
                        </a:rPr>
                        <a:t>c</a:t>
                      </a:r>
                      <a:r>
                        <a:rPr sz="2000" dirty="0">
                          <a:latin typeface="Arial" panose="020B0604020202020204"/>
                          <a:cs typeface="Arial" panose="020B0604020202020204"/>
                        </a:rPr>
                        <a:t>&gt;a</a:t>
                      </a:r>
                      <a:r>
                        <a:rPr sz="2000" dirty="0">
                          <a:latin typeface="微软雅黑" panose="020B0503020204020204" pitchFamily="34" charset="-122"/>
                          <a:cs typeface="微软雅黑" panose="020B0503020204020204" pitchFamily="34" charset="-122"/>
                        </a:rPr>
                        <a:t>，</a:t>
                      </a:r>
                      <a:r>
                        <a:rPr sz="2000" dirty="0">
                          <a:latin typeface="Arial" panose="020B0604020202020204"/>
                          <a:cs typeface="Arial" panose="020B0604020202020204"/>
                        </a:rPr>
                        <a:t>a+</a:t>
                      </a:r>
                      <a:r>
                        <a:rPr sz="2000" spc="-5" dirty="0">
                          <a:latin typeface="Arial" panose="020B0604020202020204"/>
                          <a:cs typeface="Arial" panose="020B0604020202020204"/>
                        </a:rPr>
                        <a:t>c</a:t>
                      </a:r>
                      <a:r>
                        <a:rPr sz="2000" dirty="0">
                          <a:latin typeface="Arial" panose="020B0604020202020204"/>
                          <a:cs typeface="Arial" panose="020B0604020202020204"/>
                        </a:rPr>
                        <a:t>&gt;b  a=b=c</a:t>
                      </a:r>
                    </a:p>
                  </a:txBody>
                  <a:tcPr marL="0" marR="0" marT="68580"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a:lnSpc>
                          <a:spcPct val="100000"/>
                        </a:lnSpc>
                        <a:spcBef>
                          <a:spcPts val="35"/>
                        </a:spcBef>
                      </a:pPr>
                      <a:endParaRPr sz="2100" dirty="0">
                        <a:latin typeface="Times New Roman" panose="02020603050405020304"/>
                        <a:cs typeface="Times New Roman" panose="02020603050405020304"/>
                      </a:endParaRPr>
                    </a:p>
                    <a:p>
                      <a:pPr algn="ctr">
                        <a:lnSpc>
                          <a:spcPct val="100000"/>
                        </a:lnSpc>
                      </a:pPr>
                      <a:r>
                        <a:rPr lang="en-US" altLang="zh-CN" sz="2000" dirty="0">
                          <a:latin typeface="Arial" panose="020B0604020202020204"/>
                          <a:cs typeface="Arial" panose="020B0604020202020204"/>
                        </a:rPr>
                        <a:t>60</a:t>
                      </a:r>
                      <a:endParaRPr sz="2000" dirty="0">
                        <a:latin typeface="Arial" panose="020B0604020202020204"/>
                        <a:cs typeface="Arial" panose="020B0604020202020204"/>
                      </a:endParaRPr>
                    </a:p>
                  </a:txBody>
                  <a:tcPr marL="0" marR="0" marT="4445"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a:lnSpc>
                          <a:spcPct val="100000"/>
                        </a:lnSpc>
                        <a:spcBef>
                          <a:spcPts val="35"/>
                        </a:spcBef>
                      </a:pPr>
                      <a:endParaRPr sz="2100" dirty="0">
                        <a:latin typeface="Times New Roman" panose="02020603050405020304"/>
                        <a:cs typeface="Times New Roman" panose="02020603050405020304"/>
                      </a:endParaRPr>
                    </a:p>
                    <a:p>
                      <a:pPr algn="ctr">
                        <a:lnSpc>
                          <a:spcPct val="100000"/>
                        </a:lnSpc>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4445"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a:lnSpc>
                          <a:spcPct val="100000"/>
                        </a:lnSpc>
                        <a:spcBef>
                          <a:spcPts val="35"/>
                        </a:spcBef>
                      </a:pPr>
                      <a:endParaRPr sz="2100" dirty="0">
                        <a:latin typeface="Times New Roman" panose="02020603050405020304"/>
                        <a:cs typeface="Times New Roman" panose="02020603050405020304"/>
                      </a:endParaRPr>
                    </a:p>
                    <a:p>
                      <a:pPr algn="ctr">
                        <a:lnSpc>
                          <a:spcPct val="100000"/>
                        </a:lnSpc>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4445"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a:lnSpc>
                          <a:spcPct val="100000"/>
                        </a:lnSpc>
                        <a:spcBef>
                          <a:spcPts val="35"/>
                        </a:spcBef>
                      </a:pPr>
                      <a:endParaRPr sz="2100">
                        <a:latin typeface="Times New Roman" panose="02020603050405020304"/>
                        <a:cs typeface="Times New Roman" panose="02020603050405020304"/>
                      </a:endParaRPr>
                    </a:p>
                    <a:p>
                      <a:pPr algn="ctr">
                        <a:lnSpc>
                          <a:spcPct val="100000"/>
                        </a:lnSpc>
                      </a:pPr>
                      <a:r>
                        <a:rPr sz="2000" dirty="0">
                          <a:latin typeface="微软雅黑" panose="020B0503020204020204" pitchFamily="34" charset="-122"/>
                          <a:cs typeface="微软雅黑" panose="020B0503020204020204" pitchFamily="34" charset="-122"/>
                        </a:rPr>
                        <a:t>等边三角形</a:t>
                      </a:r>
                      <a:endParaRPr sz="2000">
                        <a:latin typeface="微软雅黑" panose="020B0503020204020204" pitchFamily="34" charset="-122"/>
                        <a:cs typeface="微软雅黑" panose="020B0503020204020204" pitchFamily="34" charset="-122"/>
                      </a:endParaRPr>
                    </a:p>
                  </a:txBody>
                  <a:tcPr marL="0" marR="0" marT="4445" marB="0">
                    <a:lnL w="12700">
                      <a:solidFill>
                        <a:srgbClr val="000000"/>
                      </a:solidFill>
                      <a:prstDash val="solid"/>
                    </a:lnL>
                    <a:lnT w="28575">
                      <a:solidFill>
                        <a:srgbClr val="000000"/>
                      </a:solidFill>
                      <a:prstDash val="solid"/>
                    </a:lnT>
                    <a:lnB w="9525">
                      <a:solidFill>
                        <a:srgbClr val="000000"/>
                      </a:solidFill>
                      <a:prstDash val="solid"/>
                    </a:lnB>
                  </a:tcPr>
                </a:tc>
                <a:extLst>
                  <a:ext uri="{0D108BD9-81ED-4DB2-BD59-A6C34878D82A}">
                    <a16:rowId xmlns:a16="http://schemas.microsoft.com/office/drawing/2014/main" val="10002"/>
                  </a:ext>
                </a:extLst>
              </a:tr>
              <a:tr h="914399">
                <a:tc>
                  <a:txBody>
                    <a:bodyPr/>
                    <a:lstStyle/>
                    <a:p>
                      <a:pPr>
                        <a:lnSpc>
                          <a:spcPct val="100000"/>
                        </a:lnSpc>
                      </a:pPr>
                      <a:endParaRPr sz="2000">
                        <a:latin typeface="Times New Roman" panose="02020603050405020304"/>
                        <a:cs typeface="Times New Roman" panose="02020603050405020304"/>
                      </a:endParaRPr>
                    </a:p>
                    <a:p>
                      <a:pPr algn="ctr">
                        <a:lnSpc>
                          <a:spcPct val="100000"/>
                        </a:lnSpc>
                      </a:pPr>
                      <a:r>
                        <a:rPr sz="2000" dirty="0">
                          <a:latin typeface="Arial" panose="020B0604020202020204"/>
                          <a:cs typeface="Arial" panose="020B0604020202020204"/>
                        </a:rPr>
                        <a:t>2</a:t>
                      </a:r>
                      <a:endParaRPr sz="2000">
                        <a:latin typeface="Arial" panose="020B0604020202020204"/>
                        <a:cs typeface="Arial" panose="020B0604020202020204"/>
                      </a:endParaRPr>
                    </a:p>
                  </a:txBody>
                  <a:tcPr marL="0" marR="0" marT="0" marB="0">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L="546100" marR="538480" algn="ctr">
                        <a:lnSpc>
                          <a:spcPct val="90000"/>
                        </a:lnSpc>
                        <a:spcBef>
                          <a:spcPts val="390"/>
                        </a:spcBef>
                      </a:pPr>
                      <a:r>
                        <a:rPr sz="2000" spc="-5" dirty="0">
                          <a:latin typeface="Arial" panose="020B0604020202020204"/>
                          <a:cs typeface="Arial" panose="020B0604020202020204"/>
                        </a:rPr>
                        <a:t>a&gt;0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c&gt;0  a+b&gt;c</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b+c&gt;a</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a+c&gt;b  a=b≠c </a:t>
                      </a:r>
                      <a:r>
                        <a:rPr sz="2000" dirty="0">
                          <a:latin typeface="微软雅黑" panose="020B0503020204020204" pitchFamily="34" charset="-122"/>
                          <a:cs typeface="微软雅黑" panose="020B0503020204020204" pitchFamily="34" charset="-122"/>
                        </a:rPr>
                        <a:t>或 </a:t>
                      </a:r>
                      <a:r>
                        <a:rPr sz="2000" spc="-5" dirty="0">
                          <a:latin typeface="Arial" panose="020B0604020202020204"/>
                          <a:cs typeface="Arial" panose="020B0604020202020204"/>
                        </a:rPr>
                        <a:t>b=c≠a </a:t>
                      </a:r>
                      <a:r>
                        <a:rPr sz="2000" dirty="0">
                          <a:latin typeface="微软雅黑" panose="020B0503020204020204" pitchFamily="34" charset="-122"/>
                          <a:cs typeface="微软雅黑" panose="020B0503020204020204" pitchFamily="34" charset="-122"/>
                        </a:rPr>
                        <a:t>或</a:t>
                      </a:r>
                      <a:r>
                        <a:rPr sz="2000" spc="-45" dirty="0">
                          <a:latin typeface="微软雅黑" panose="020B0503020204020204" pitchFamily="34" charset="-122"/>
                          <a:cs typeface="微软雅黑" panose="020B0503020204020204" pitchFamily="34" charset="-122"/>
                        </a:rPr>
                        <a:t> </a:t>
                      </a:r>
                      <a:r>
                        <a:rPr sz="2000" spc="-5" dirty="0">
                          <a:latin typeface="Arial" panose="020B0604020202020204"/>
                          <a:cs typeface="Arial" panose="020B0604020202020204"/>
                        </a:rPr>
                        <a:t>a=c≠b</a:t>
                      </a:r>
                      <a:endParaRPr sz="2000">
                        <a:latin typeface="Arial" panose="020B0604020202020204"/>
                        <a:cs typeface="Arial" panose="020B0604020202020204"/>
                      </a:endParaRPr>
                    </a:p>
                  </a:txBody>
                  <a:tcPr marL="0" marR="0" marT="4953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2000" dirty="0">
                        <a:latin typeface="Times New Roman" panose="02020603050405020304"/>
                        <a:cs typeface="Times New Roman" panose="02020603050405020304"/>
                      </a:endParaRPr>
                    </a:p>
                    <a:p>
                      <a:pPr algn="ctr">
                        <a:lnSpc>
                          <a:spcPct val="100000"/>
                        </a:lnSpc>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2000" dirty="0">
                        <a:latin typeface="Times New Roman" panose="02020603050405020304"/>
                        <a:cs typeface="Times New Roman" panose="02020603050405020304"/>
                      </a:endParaRPr>
                    </a:p>
                    <a:p>
                      <a:pPr algn="ctr">
                        <a:lnSpc>
                          <a:spcPct val="100000"/>
                        </a:lnSpc>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2000" dirty="0">
                        <a:latin typeface="Times New Roman" panose="02020603050405020304"/>
                        <a:cs typeface="Times New Roman" panose="02020603050405020304"/>
                      </a:endParaRPr>
                    </a:p>
                    <a:p>
                      <a:pPr algn="ctr">
                        <a:lnSpc>
                          <a:spcPct val="100000"/>
                        </a:lnSpc>
                      </a:pPr>
                      <a:r>
                        <a:rPr sz="2000" dirty="0">
                          <a:latin typeface="Arial" panose="020B0604020202020204"/>
                          <a:cs typeface="Arial" panose="020B0604020202020204"/>
                        </a:rPr>
                        <a:t>5</a:t>
                      </a:r>
                      <a:r>
                        <a:rPr lang="en-US" altLang="zh-CN" sz="2000" dirty="0">
                          <a:latin typeface="Arial" panose="020B0604020202020204"/>
                          <a:cs typeface="Arial" panose="020B0604020202020204"/>
                        </a:rPr>
                        <a:t>0</a:t>
                      </a:r>
                      <a:endParaRPr sz="2000" dirty="0">
                        <a:latin typeface="Arial" panose="020B0604020202020204"/>
                        <a:cs typeface="Arial" panose="020B0604020202020204"/>
                      </a:endParaRPr>
                    </a:p>
                  </a:txBody>
                  <a:tcPr marL="0" marR="0" marT="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2300"/>
                        </a:spcBef>
                      </a:pPr>
                      <a:r>
                        <a:rPr sz="2000" dirty="0">
                          <a:latin typeface="微软雅黑" panose="020B0503020204020204" pitchFamily="34" charset="-122"/>
                          <a:cs typeface="微软雅黑" panose="020B0503020204020204" pitchFamily="34" charset="-122"/>
                        </a:rPr>
                        <a:t>等腰三角形</a:t>
                      </a:r>
                      <a:endParaRPr sz="2000">
                        <a:latin typeface="微软雅黑" panose="020B0503020204020204" pitchFamily="34" charset="-122"/>
                        <a:cs typeface="微软雅黑" panose="020B0503020204020204" pitchFamily="34" charset="-122"/>
                      </a:endParaRPr>
                    </a:p>
                  </a:txBody>
                  <a:tcPr marL="0" marR="0" marT="292100" marB="0">
                    <a:lnL w="12700">
                      <a:solidFill>
                        <a:srgbClr val="000000"/>
                      </a:solidFill>
                      <a:prstDash val="solid"/>
                    </a:lnL>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3"/>
                  </a:ext>
                </a:extLst>
              </a:tr>
              <a:tr h="952499">
                <a:tc>
                  <a:txBody>
                    <a:bodyPr/>
                    <a:lstStyle/>
                    <a:p>
                      <a:pPr>
                        <a:lnSpc>
                          <a:spcPct val="100000"/>
                        </a:lnSpc>
                        <a:spcBef>
                          <a:spcPts val="35"/>
                        </a:spcBef>
                      </a:pPr>
                      <a:endParaRPr sz="2100">
                        <a:latin typeface="Times New Roman" panose="02020603050405020304"/>
                        <a:cs typeface="Times New Roman" panose="02020603050405020304"/>
                      </a:endParaRPr>
                    </a:p>
                    <a:p>
                      <a:pPr algn="ctr">
                        <a:lnSpc>
                          <a:spcPct val="100000"/>
                        </a:lnSpc>
                      </a:pPr>
                      <a:r>
                        <a:rPr sz="2000" dirty="0">
                          <a:latin typeface="Arial" panose="020B0604020202020204"/>
                          <a:cs typeface="Arial" panose="020B0604020202020204"/>
                        </a:rPr>
                        <a:t>3</a:t>
                      </a:r>
                      <a:endParaRPr sz="2000">
                        <a:latin typeface="Arial" panose="020B0604020202020204"/>
                        <a:cs typeface="Arial" panose="020B0604020202020204"/>
                      </a:endParaRPr>
                    </a:p>
                  </a:txBody>
                  <a:tcPr marL="0" marR="0" marT="4445" marB="0">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L="678815" marR="671195" indent="-635" algn="ctr">
                        <a:lnSpc>
                          <a:spcPct val="90000"/>
                        </a:lnSpc>
                        <a:spcBef>
                          <a:spcPts val="540"/>
                        </a:spcBef>
                      </a:pPr>
                      <a:r>
                        <a:rPr sz="2000" spc="-5" dirty="0">
                          <a:latin typeface="Arial" panose="020B0604020202020204"/>
                          <a:cs typeface="Arial" panose="020B0604020202020204"/>
                        </a:rPr>
                        <a:t>a&gt;0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c&gt;0  </a:t>
                      </a:r>
                      <a:r>
                        <a:rPr sz="2000" dirty="0">
                          <a:latin typeface="Arial" panose="020B0604020202020204"/>
                          <a:cs typeface="Arial" panose="020B0604020202020204"/>
                        </a:rPr>
                        <a:t>a+</a:t>
                      </a:r>
                      <a:r>
                        <a:rPr sz="2000" spc="-5" dirty="0">
                          <a:latin typeface="Arial" panose="020B0604020202020204"/>
                          <a:cs typeface="Arial" panose="020B0604020202020204"/>
                        </a:rPr>
                        <a:t>b</a:t>
                      </a:r>
                      <a:r>
                        <a:rPr sz="2000" dirty="0">
                          <a:latin typeface="Arial" panose="020B0604020202020204"/>
                          <a:cs typeface="Arial" panose="020B0604020202020204"/>
                        </a:rPr>
                        <a:t>&gt;c</a:t>
                      </a:r>
                      <a:r>
                        <a:rPr sz="2000" dirty="0">
                          <a:latin typeface="微软雅黑" panose="020B0503020204020204" pitchFamily="34" charset="-122"/>
                          <a:cs typeface="微软雅黑" panose="020B0503020204020204" pitchFamily="34" charset="-122"/>
                        </a:rPr>
                        <a:t>，</a:t>
                      </a:r>
                      <a:r>
                        <a:rPr sz="2000" dirty="0">
                          <a:latin typeface="Arial" panose="020B0604020202020204"/>
                          <a:cs typeface="Arial" panose="020B0604020202020204"/>
                        </a:rPr>
                        <a:t>b+</a:t>
                      </a:r>
                      <a:r>
                        <a:rPr sz="2000" spc="-5" dirty="0">
                          <a:latin typeface="Arial" panose="020B0604020202020204"/>
                          <a:cs typeface="Arial" panose="020B0604020202020204"/>
                        </a:rPr>
                        <a:t>c</a:t>
                      </a:r>
                      <a:r>
                        <a:rPr sz="2000" dirty="0">
                          <a:latin typeface="Arial" panose="020B0604020202020204"/>
                          <a:cs typeface="Arial" panose="020B0604020202020204"/>
                        </a:rPr>
                        <a:t>&gt;a</a:t>
                      </a:r>
                      <a:r>
                        <a:rPr sz="2000" dirty="0">
                          <a:latin typeface="微软雅黑" panose="020B0503020204020204" pitchFamily="34" charset="-122"/>
                          <a:cs typeface="微软雅黑" panose="020B0503020204020204" pitchFamily="34" charset="-122"/>
                        </a:rPr>
                        <a:t>，</a:t>
                      </a:r>
                      <a:r>
                        <a:rPr sz="2000" dirty="0">
                          <a:latin typeface="Arial" panose="020B0604020202020204"/>
                          <a:cs typeface="Arial" panose="020B0604020202020204"/>
                        </a:rPr>
                        <a:t>a+</a:t>
                      </a:r>
                      <a:r>
                        <a:rPr sz="2000" spc="-5" dirty="0">
                          <a:latin typeface="Arial" panose="020B0604020202020204"/>
                          <a:cs typeface="Arial" panose="020B0604020202020204"/>
                        </a:rPr>
                        <a:t>c</a:t>
                      </a:r>
                      <a:r>
                        <a:rPr sz="2000" dirty="0">
                          <a:latin typeface="Arial" panose="020B0604020202020204"/>
                          <a:cs typeface="Arial" panose="020B0604020202020204"/>
                        </a:rPr>
                        <a:t>&gt;b  a≠b≠c</a:t>
                      </a:r>
                      <a:endParaRPr sz="2000">
                        <a:latin typeface="Arial" panose="020B0604020202020204"/>
                        <a:cs typeface="Arial" panose="020B0604020202020204"/>
                      </a:endParaRPr>
                    </a:p>
                  </a:txBody>
                  <a:tcPr marL="0" marR="0" marT="6858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spcBef>
                          <a:spcPts val="35"/>
                        </a:spcBef>
                      </a:pPr>
                      <a:endParaRPr sz="2100" dirty="0">
                        <a:latin typeface="Times New Roman" panose="02020603050405020304"/>
                        <a:cs typeface="Times New Roman" panose="02020603050405020304"/>
                      </a:endParaRPr>
                    </a:p>
                    <a:p>
                      <a:pPr algn="ctr">
                        <a:lnSpc>
                          <a:spcPct val="100000"/>
                        </a:lnSpc>
                      </a:pPr>
                      <a:r>
                        <a:rPr sz="2000" dirty="0">
                          <a:latin typeface="Arial" panose="020B0604020202020204"/>
                          <a:cs typeface="Arial" panose="020B0604020202020204"/>
                        </a:rPr>
                        <a:t>3</a:t>
                      </a:r>
                      <a:r>
                        <a:rPr lang="en-US" altLang="zh-CN" sz="2000" dirty="0">
                          <a:latin typeface="Arial" panose="020B0604020202020204"/>
                          <a:cs typeface="Arial" panose="020B0604020202020204"/>
                        </a:rPr>
                        <a:t>0</a:t>
                      </a:r>
                      <a:endParaRPr sz="2000" dirty="0">
                        <a:latin typeface="Arial" panose="020B0604020202020204"/>
                        <a:cs typeface="Arial" panose="020B0604020202020204"/>
                      </a:endParaRPr>
                    </a:p>
                  </a:txBody>
                  <a:tcPr marL="0" marR="0" marT="44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spcBef>
                          <a:spcPts val="35"/>
                        </a:spcBef>
                      </a:pPr>
                      <a:endParaRPr sz="2100" dirty="0">
                        <a:latin typeface="Times New Roman" panose="02020603050405020304"/>
                        <a:cs typeface="Times New Roman" panose="02020603050405020304"/>
                      </a:endParaRPr>
                    </a:p>
                    <a:p>
                      <a:pPr algn="ctr">
                        <a:lnSpc>
                          <a:spcPct val="100000"/>
                        </a:lnSpc>
                      </a:pPr>
                      <a:r>
                        <a:rPr sz="2000" dirty="0">
                          <a:latin typeface="Arial" panose="020B0604020202020204"/>
                          <a:cs typeface="Arial" panose="020B0604020202020204"/>
                        </a:rPr>
                        <a:t>4</a:t>
                      </a:r>
                      <a:r>
                        <a:rPr lang="en-US" altLang="zh-CN" sz="2000" dirty="0">
                          <a:latin typeface="Arial" panose="020B0604020202020204"/>
                          <a:cs typeface="Arial" panose="020B0604020202020204"/>
                        </a:rPr>
                        <a:t>0</a:t>
                      </a:r>
                      <a:endParaRPr sz="2000" dirty="0">
                        <a:latin typeface="Arial" panose="020B0604020202020204"/>
                        <a:cs typeface="Arial" panose="020B0604020202020204"/>
                      </a:endParaRPr>
                    </a:p>
                  </a:txBody>
                  <a:tcPr marL="0" marR="0" marT="44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spcBef>
                          <a:spcPts val="35"/>
                        </a:spcBef>
                      </a:pPr>
                      <a:endParaRPr sz="2100" dirty="0">
                        <a:latin typeface="Times New Roman" panose="02020603050405020304"/>
                        <a:cs typeface="Times New Roman" panose="02020603050405020304"/>
                      </a:endParaRPr>
                    </a:p>
                    <a:p>
                      <a:pPr algn="ctr">
                        <a:lnSpc>
                          <a:spcPct val="100000"/>
                        </a:lnSpc>
                      </a:pPr>
                      <a:r>
                        <a:rPr sz="2000" dirty="0">
                          <a:latin typeface="Arial" panose="020B0604020202020204"/>
                          <a:cs typeface="Arial" panose="020B0604020202020204"/>
                        </a:rPr>
                        <a:t>5</a:t>
                      </a:r>
                      <a:r>
                        <a:rPr lang="en-US" altLang="zh-CN" sz="2000" dirty="0">
                          <a:latin typeface="Arial" panose="020B0604020202020204"/>
                          <a:cs typeface="Arial" panose="020B0604020202020204"/>
                        </a:rPr>
                        <a:t>0</a:t>
                      </a:r>
                      <a:endParaRPr sz="2000" dirty="0">
                        <a:latin typeface="Arial" panose="020B0604020202020204"/>
                        <a:cs typeface="Arial" panose="020B0604020202020204"/>
                      </a:endParaRPr>
                    </a:p>
                  </a:txBody>
                  <a:tcPr marL="0" marR="0" marT="44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spcBef>
                          <a:spcPts val="35"/>
                        </a:spcBef>
                      </a:pPr>
                      <a:endParaRPr sz="2100">
                        <a:latin typeface="Times New Roman" panose="02020603050405020304"/>
                        <a:cs typeface="Times New Roman" panose="02020603050405020304"/>
                      </a:endParaRPr>
                    </a:p>
                    <a:p>
                      <a:pPr algn="ctr">
                        <a:lnSpc>
                          <a:spcPct val="100000"/>
                        </a:lnSpc>
                      </a:pPr>
                      <a:r>
                        <a:rPr sz="2000" dirty="0">
                          <a:latin typeface="微软雅黑" panose="020B0503020204020204" pitchFamily="34" charset="-122"/>
                          <a:cs typeface="微软雅黑" panose="020B0503020204020204" pitchFamily="34" charset="-122"/>
                        </a:rPr>
                        <a:t>一般三角形</a:t>
                      </a:r>
                      <a:endParaRPr sz="2000">
                        <a:latin typeface="微软雅黑" panose="020B0503020204020204" pitchFamily="34" charset="-122"/>
                        <a:cs typeface="微软雅黑" panose="020B0503020204020204" pitchFamily="34" charset="-122"/>
                      </a:endParaRPr>
                    </a:p>
                  </a:txBody>
                  <a:tcPr marL="0" marR="0" marT="4445" marB="0">
                    <a:lnL w="12700">
                      <a:solidFill>
                        <a:srgbClr val="000000"/>
                      </a:solidFill>
                      <a:prstDash val="solid"/>
                    </a:lnL>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4"/>
                  </a:ext>
                </a:extLst>
              </a:tr>
              <a:tr h="640079">
                <a:tc>
                  <a:txBody>
                    <a:bodyPr/>
                    <a:lstStyle/>
                    <a:p>
                      <a:pPr algn="ctr">
                        <a:lnSpc>
                          <a:spcPct val="100000"/>
                        </a:lnSpc>
                        <a:spcBef>
                          <a:spcPts val="1220"/>
                        </a:spcBef>
                      </a:pPr>
                      <a:r>
                        <a:rPr sz="2000" dirty="0">
                          <a:latin typeface="Arial" panose="020B0604020202020204"/>
                          <a:cs typeface="Arial" panose="020B0604020202020204"/>
                        </a:rPr>
                        <a:t>4</a:t>
                      </a:r>
                      <a:endParaRPr sz="2000">
                        <a:latin typeface="Arial" panose="020B0604020202020204"/>
                        <a:cs typeface="Arial" panose="020B0604020202020204"/>
                      </a:endParaRPr>
                    </a:p>
                  </a:txBody>
                  <a:tcPr marL="0" marR="0" marT="154940" marB="0">
                    <a:lnR w="12700">
                      <a:solidFill>
                        <a:srgbClr val="000000"/>
                      </a:solidFill>
                      <a:prstDash val="solid"/>
                    </a:lnR>
                    <a:lnT w="9525">
                      <a:solidFill>
                        <a:srgbClr val="000000"/>
                      </a:solidFill>
                      <a:prstDash val="solid"/>
                    </a:lnT>
                    <a:lnB w="28575">
                      <a:solidFill>
                        <a:srgbClr val="000000"/>
                      </a:solidFill>
                      <a:prstDash val="solid"/>
                    </a:lnB>
                  </a:tcPr>
                </a:tc>
                <a:tc>
                  <a:txBody>
                    <a:bodyPr/>
                    <a:lstStyle/>
                    <a:p>
                      <a:pPr marL="546100" marR="538480" indent="552450">
                        <a:lnSpc>
                          <a:spcPts val="2100"/>
                        </a:lnSpc>
                        <a:spcBef>
                          <a:spcPts val="460"/>
                        </a:spcBef>
                      </a:pPr>
                      <a:r>
                        <a:rPr sz="2000" spc="-5" dirty="0">
                          <a:latin typeface="Arial" panose="020B0604020202020204"/>
                          <a:cs typeface="Arial" panose="020B0604020202020204"/>
                        </a:rPr>
                        <a:t>a&gt;0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c&gt;0  a+b≤c </a:t>
                      </a:r>
                      <a:r>
                        <a:rPr sz="2000" dirty="0">
                          <a:latin typeface="微软雅黑" panose="020B0503020204020204" pitchFamily="34" charset="-122"/>
                          <a:cs typeface="微软雅黑" panose="020B0503020204020204" pitchFamily="34" charset="-122"/>
                        </a:rPr>
                        <a:t>或 </a:t>
                      </a:r>
                      <a:r>
                        <a:rPr sz="2000" spc="-5" dirty="0">
                          <a:latin typeface="Arial" panose="020B0604020202020204"/>
                          <a:cs typeface="Arial" panose="020B0604020202020204"/>
                        </a:rPr>
                        <a:t>b+c≤a </a:t>
                      </a:r>
                      <a:r>
                        <a:rPr sz="2000" dirty="0">
                          <a:latin typeface="微软雅黑" panose="020B0503020204020204" pitchFamily="34" charset="-122"/>
                          <a:cs typeface="微软雅黑" panose="020B0503020204020204" pitchFamily="34" charset="-122"/>
                        </a:rPr>
                        <a:t>或</a:t>
                      </a:r>
                      <a:r>
                        <a:rPr sz="2000" spc="-40" dirty="0">
                          <a:latin typeface="微软雅黑" panose="020B0503020204020204" pitchFamily="34" charset="-122"/>
                          <a:cs typeface="微软雅黑" panose="020B0503020204020204" pitchFamily="34" charset="-122"/>
                        </a:rPr>
                        <a:t> </a:t>
                      </a:r>
                      <a:r>
                        <a:rPr sz="2000" spc="-5" dirty="0">
                          <a:latin typeface="Arial" panose="020B0604020202020204"/>
                          <a:cs typeface="Arial" panose="020B0604020202020204"/>
                        </a:rPr>
                        <a:t>a+c≤b</a:t>
                      </a:r>
                      <a:endParaRPr sz="2000">
                        <a:latin typeface="Arial" panose="020B0604020202020204"/>
                        <a:cs typeface="Arial" panose="020B0604020202020204"/>
                      </a:endParaRPr>
                    </a:p>
                  </a:txBody>
                  <a:tcPr marL="0" marR="0" marT="58419" marB="0">
                    <a:lnL w="12700">
                      <a:solidFill>
                        <a:srgbClr val="000000"/>
                      </a:solidFill>
                      <a:prstDash val="solid"/>
                    </a:lnL>
                    <a:lnR w="12700">
                      <a:solidFill>
                        <a:srgbClr val="000000"/>
                      </a:solidFill>
                      <a:prstDash val="solid"/>
                    </a:lnR>
                    <a:lnT w="9525">
                      <a:solidFill>
                        <a:srgbClr val="000000"/>
                      </a:solidFill>
                      <a:prstDash val="solid"/>
                    </a:lnT>
                    <a:lnB w="28575">
                      <a:solidFill>
                        <a:srgbClr val="000000"/>
                      </a:solidFill>
                      <a:prstDash val="solid"/>
                    </a:lnB>
                  </a:tcPr>
                </a:tc>
                <a:tc>
                  <a:txBody>
                    <a:bodyPr/>
                    <a:lstStyle/>
                    <a:p>
                      <a:pPr marL="635" algn="ctr">
                        <a:lnSpc>
                          <a:spcPct val="100000"/>
                        </a:lnSpc>
                        <a:spcBef>
                          <a:spcPts val="1220"/>
                        </a:spcBef>
                      </a:pPr>
                      <a:r>
                        <a:rPr sz="2000" dirty="0">
                          <a:latin typeface="Arial" panose="020B0604020202020204"/>
                          <a:cs typeface="Arial" panose="020B0604020202020204"/>
                        </a:rPr>
                        <a:t>4</a:t>
                      </a:r>
                      <a:r>
                        <a:rPr lang="en-US" altLang="zh-CN" sz="2000" dirty="0">
                          <a:latin typeface="Arial" panose="020B0604020202020204"/>
                          <a:cs typeface="Arial" panose="020B0604020202020204"/>
                        </a:rPr>
                        <a:t>0</a:t>
                      </a:r>
                      <a:endParaRPr sz="2000" dirty="0">
                        <a:latin typeface="Arial" panose="020B0604020202020204"/>
                        <a:cs typeface="Arial" panose="020B0604020202020204"/>
                      </a:endParaRPr>
                    </a:p>
                  </a:txBody>
                  <a:tcPr marL="0" marR="0" marT="154940" marB="0">
                    <a:lnL w="12700">
                      <a:solidFill>
                        <a:srgbClr val="000000"/>
                      </a:solidFill>
                      <a:prstDash val="solid"/>
                    </a:lnL>
                    <a:lnR w="12700">
                      <a:solidFill>
                        <a:srgbClr val="000000"/>
                      </a:solidFill>
                      <a:prstDash val="solid"/>
                    </a:lnR>
                    <a:lnT w="9525">
                      <a:solidFill>
                        <a:srgbClr val="000000"/>
                      </a:solidFill>
                      <a:prstDash val="solid"/>
                    </a:lnT>
                    <a:lnB w="28575">
                      <a:solidFill>
                        <a:srgbClr val="000000"/>
                      </a:solidFill>
                      <a:prstDash val="solid"/>
                    </a:lnB>
                  </a:tcPr>
                </a:tc>
                <a:tc>
                  <a:txBody>
                    <a:bodyPr/>
                    <a:lstStyle/>
                    <a:p>
                      <a:pPr algn="ctr">
                        <a:lnSpc>
                          <a:spcPct val="100000"/>
                        </a:lnSpc>
                        <a:spcBef>
                          <a:spcPts val="1220"/>
                        </a:spcBef>
                      </a:pPr>
                      <a:r>
                        <a:rPr sz="2000" dirty="0">
                          <a:latin typeface="Arial" panose="020B0604020202020204"/>
                          <a:cs typeface="Arial" panose="020B0604020202020204"/>
                        </a:rPr>
                        <a:t>1</a:t>
                      </a:r>
                      <a:r>
                        <a:rPr lang="en-US" altLang="zh-CN" sz="2000" dirty="0">
                          <a:latin typeface="Arial" panose="020B0604020202020204"/>
                          <a:cs typeface="Arial" panose="020B0604020202020204"/>
                        </a:rPr>
                        <a:t>0</a:t>
                      </a:r>
                      <a:endParaRPr sz="2000" dirty="0">
                        <a:latin typeface="Arial" panose="020B0604020202020204"/>
                        <a:cs typeface="Arial" panose="020B0604020202020204"/>
                      </a:endParaRPr>
                    </a:p>
                  </a:txBody>
                  <a:tcPr marL="0" marR="0" marT="154940" marB="0">
                    <a:lnL w="12700">
                      <a:solidFill>
                        <a:srgbClr val="000000"/>
                      </a:solidFill>
                      <a:prstDash val="solid"/>
                    </a:lnL>
                    <a:lnR w="12700">
                      <a:solidFill>
                        <a:srgbClr val="000000"/>
                      </a:solidFill>
                      <a:prstDash val="solid"/>
                    </a:lnR>
                    <a:lnT w="9525">
                      <a:solidFill>
                        <a:srgbClr val="000000"/>
                      </a:solidFill>
                      <a:prstDash val="solid"/>
                    </a:lnT>
                    <a:lnB w="28575">
                      <a:solidFill>
                        <a:srgbClr val="000000"/>
                      </a:solidFill>
                      <a:prstDash val="solid"/>
                    </a:lnB>
                  </a:tcPr>
                </a:tc>
                <a:tc>
                  <a:txBody>
                    <a:bodyPr/>
                    <a:lstStyle/>
                    <a:p>
                      <a:pPr algn="ctr">
                        <a:lnSpc>
                          <a:spcPct val="100000"/>
                        </a:lnSpc>
                        <a:spcBef>
                          <a:spcPts val="1220"/>
                        </a:spcBef>
                      </a:pPr>
                      <a:r>
                        <a:rPr sz="2000" dirty="0">
                          <a:latin typeface="Arial" panose="020B0604020202020204"/>
                          <a:cs typeface="Arial" panose="020B0604020202020204"/>
                        </a:rPr>
                        <a:t>2</a:t>
                      </a:r>
                      <a:r>
                        <a:rPr lang="en-US" altLang="zh-CN" sz="2000" dirty="0">
                          <a:latin typeface="Arial" panose="020B0604020202020204"/>
                          <a:cs typeface="Arial" panose="020B0604020202020204"/>
                        </a:rPr>
                        <a:t>0</a:t>
                      </a:r>
                      <a:endParaRPr sz="2000" dirty="0">
                        <a:latin typeface="Arial" panose="020B0604020202020204"/>
                        <a:cs typeface="Arial" panose="020B0604020202020204"/>
                      </a:endParaRPr>
                    </a:p>
                  </a:txBody>
                  <a:tcPr marL="0" marR="0" marT="154940" marB="0">
                    <a:lnL w="12700">
                      <a:solidFill>
                        <a:srgbClr val="000000"/>
                      </a:solidFill>
                      <a:prstDash val="solid"/>
                    </a:lnL>
                    <a:lnR w="12700">
                      <a:solidFill>
                        <a:srgbClr val="000000"/>
                      </a:solidFill>
                      <a:prstDash val="solid"/>
                    </a:lnR>
                    <a:lnT w="9525">
                      <a:solidFill>
                        <a:srgbClr val="000000"/>
                      </a:solidFill>
                      <a:prstDash val="solid"/>
                    </a:lnT>
                    <a:lnB w="28575">
                      <a:solidFill>
                        <a:srgbClr val="000000"/>
                      </a:solidFill>
                      <a:prstDash val="solid"/>
                    </a:lnB>
                  </a:tcPr>
                </a:tc>
                <a:tc>
                  <a:txBody>
                    <a:bodyPr/>
                    <a:lstStyle/>
                    <a:p>
                      <a:pPr algn="ctr">
                        <a:lnSpc>
                          <a:spcPct val="100000"/>
                        </a:lnSpc>
                        <a:spcBef>
                          <a:spcPts val="1220"/>
                        </a:spcBef>
                      </a:pPr>
                      <a:r>
                        <a:rPr sz="2000" dirty="0">
                          <a:latin typeface="微软雅黑" panose="020B0503020204020204" pitchFamily="34" charset="-122"/>
                          <a:cs typeface="微软雅黑" panose="020B0503020204020204" pitchFamily="34" charset="-122"/>
                        </a:rPr>
                        <a:t>非三角形</a:t>
                      </a:r>
                    </a:p>
                  </a:txBody>
                  <a:tcPr marL="0" marR="0" marT="154940" marB="0">
                    <a:lnL w="12700">
                      <a:solidFill>
                        <a:srgbClr val="000000"/>
                      </a:solidFill>
                      <a:prstDash val="solid"/>
                    </a:lnL>
                    <a:lnT w="9525">
                      <a:solidFill>
                        <a:srgbClr val="000000"/>
                      </a:solidFill>
                      <a:prstDash val="solid"/>
                    </a:lnT>
                    <a:lnB w="28575">
                      <a:solidFill>
                        <a:srgbClr val="000000"/>
                      </a:solidFill>
                      <a:prstDash val="solid"/>
                    </a:lnB>
                  </a:tcPr>
                </a:tc>
                <a:extLst>
                  <a:ext uri="{0D108BD9-81ED-4DB2-BD59-A6C34878D82A}">
                    <a16:rowId xmlns:a16="http://schemas.microsoft.com/office/drawing/2014/main" val="10005"/>
                  </a:ext>
                </a:extLst>
              </a:tr>
            </a:tbl>
          </a:graphicData>
        </a:graphic>
      </p:graphicFrame>
      <p:sp>
        <p:nvSpPr>
          <p:cNvPr id="5" name="灯片编号占位符 4"/>
          <p:cNvSpPr>
            <a:spLocks noGrp="1"/>
          </p:cNvSpPr>
          <p:nvPr>
            <p:ph type="sldNum" sz="quarter" idx="12"/>
          </p:nvPr>
        </p:nvSpPr>
        <p:spPr/>
        <p:txBody>
          <a:bodyPr/>
          <a:lstStyle/>
          <a:p>
            <a:fld id="{74D2AB8B-5816-41F2-8B4B-CA5C3E4E6A65}" type="slidenum">
              <a:rPr lang="zh-CN" altLang="en-US" smtClean="0"/>
              <a:t>12</a:t>
            </a:fld>
            <a:endParaRPr lang="zh-CN" altLang="en-US"/>
          </a:p>
        </p:txBody>
      </p:sp>
      <p:sp>
        <p:nvSpPr>
          <p:cNvPr id="7" name="标题 6"/>
          <p:cNvSpPr>
            <a:spLocks noGrp="1"/>
          </p:cNvSpPr>
          <p:nvPr>
            <p:ph type="title"/>
          </p:nvPr>
        </p:nvSpPr>
        <p:spPr/>
        <p:txBody>
          <a:bodyPr/>
          <a:lstStyle/>
          <a:p>
            <a:r>
              <a:rPr lang="zh-CN" altLang="en-US" dirty="0"/>
              <a:t>举例：判断三角形类型 </a:t>
            </a:r>
            <a:r>
              <a:rPr lang="zh-CN" altLang="en-US" dirty="0">
                <a:solidFill>
                  <a:srgbClr val="FF0000"/>
                </a:solidFill>
              </a:rPr>
              <a:t>边界值分析？</a:t>
            </a:r>
          </a:p>
        </p:txBody>
      </p:sp>
    </p:spTree>
    <p:extLst>
      <p:ext uri="{BB962C8B-B14F-4D97-AF65-F5344CB8AC3E}">
        <p14:creationId xmlns:p14="http://schemas.microsoft.com/office/powerpoint/2010/main" val="30748841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extLst>
              <p:ext uri="{D42A27DB-BD31-4B8C-83A1-F6EECF244321}">
                <p14:modId xmlns:p14="http://schemas.microsoft.com/office/powerpoint/2010/main" val="215907272"/>
              </p:ext>
            </p:extLst>
          </p:nvPr>
        </p:nvGraphicFramePr>
        <p:xfrm>
          <a:off x="1239993" y="1664458"/>
          <a:ext cx="9733912" cy="4535999"/>
        </p:xfrm>
        <a:graphic>
          <a:graphicData uri="http://schemas.openxmlformats.org/drawingml/2006/table">
            <a:tbl>
              <a:tblPr firstRow="1" bandRow="1">
                <a:tableStyleId>{2D5ABB26-0587-4C30-8999-92F81FD0307C}</a:tableStyleId>
              </a:tblPr>
              <a:tblGrid>
                <a:gridCol w="828040">
                  <a:extLst>
                    <a:ext uri="{9D8B030D-6E8A-4147-A177-3AD203B41FA5}">
                      <a16:colId xmlns:a16="http://schemas.microsoft.com/office/drawing/2014/main" val="20000"/>
                    </a:ext>
                  </a:extLst>
                </a:gridCol>
                <a:gridCol w="3883025">
                  <a:extLst>
                    <a:ext uri="{9D8B030D-6E8A-4147-A177-3AD203B41FA5}">
                      <a16:colId xmlns:a16="http://schemas.microsoft.com/office/drawing/2014/main" val="20001"/>
                    </a:ext>
                  </a:extLst>
                </a:gridCol>
                <a:gridCol w="907414">
                  <a:extLst>
                    <a:ext uri="{9D8B030D-6E8A-4147-A177-3AD203B41FA5}">
                      <a16:colId xmlns:a16="http://schemas.microsoft.com/office/drawing/2014/main" val="20002"/>
                    </a:ext>
                  </a:extLst>
                </a:gridCol>
                <a:gridCol w="927100">
                  <a:extLst>
                    <a:ext uri="{9D8B030D-6E8A-4147-A177-3AD203B41FA5}">
                      <a16:colId xmlns:a16="http://schemas.microsoft.com/office/drawing/2014/main" val="20003"/>
                    </a:ext>
                  </a:extLst>
                </a:gridCol>
                <a:gridCol w="986154">
                  <a:extLst>
                    <a:ext uri="{9D8B030D-6E8A-4147-A177-3AD203B41FA5}">
                      <a16:colId xmlns:a16="http://schemas.microsoft.com/office/drawing/2014/main" val="20004"/>
                    </a:ext>
                  </a:extLst>
                </a:gridCol>
                <a:gridCol w="2202179">
                  <a:extLst>
                    <a:ext uri="{9D8B030D-6E8A-4147-A177-3AD203B41FA5}">
                      <a16:colId xmlns:a16="http://schemas.microsoft.com/office/drawing/2014/main" val="20005"/>
                    </a:ext>
                  </a:extLst>
                </a:gridCol>
              </a:tblGrid>
              <a:tr h="434609">
                <a:tc rowSpan="2">
                  <a:txBody>
                    <a:bodyPr/>
                    <a:lstStyle/>
                    <a:p>
                      <a:pPr marL="159385">
                        <a:lnSpc>
                          <a:spcPct val="100000"/>
                        </a:lnSpc>
                        <a:spcBef>
                          <a:spcPts val="2220"/>
                        </a:spcBef>
                      </a:pPr>
                      <a:r>
                        <a:rPr sz="2000" dirty="0">
                          <a:solidFill>
                            <a:srgbClr val="0033CC"/>
                          </a:solidFill>
                          <a:latin typeface="微软雅黑" panose="020B0503020204020204" pitchFamily="34" charset="-122"/>
                          <a:cs typeface="微软雅黑" panose="020B0503020204020204" pitchFamily="34" charset="-122"/>
                        </a:rPr>
                        <a:t>序号</a:t>
                      </a:r>
                      <a:endParaRPr sz="2000">
                        <a:latin typeface="微软雅黑" panose="020B0503020204020204" pitchFamily="34" charset="-122"/>
                        <a:cs typeface="微软雅黑" panose="020B0503020204020204" pitchFamily="34" charset="-122"/>
                      </a:endParaRPr>
                    </a:p>
                  </a:txBody>
                  <a:tcPr marL="0" marR="0" marT="281940" marB="0">
                    <a:lnR w="12700">
                      <a:solidFill>
                        <a:srgbClr val="000000"/>
                      </a:solidFill>
                      <a:prstDash val="solid"/>
                    </a:lnR>
                    <a:lnT w="28575">
                      <a:solidFill>
                        <a:srgbClr val="000000"/>
                      </a:solidFill>
                      <a:prstDash val="solid"/>
                    </a:lnT>
                    <a:lnB w="28575">
                      <a:solidFill>
                        <a:srgbClr val="000000"/>
                      </a:solidFill>
                      <a:prstDash val="solid"/>
                    </a:lnB>
                  </a:tcPr>
                </a:tc>
                <a:tc rowSpan="2">
                  <a:txBody>
                    <a:bodyPr/>
                    <a:lstStyle/>
                    <a:p>
                      <a:pPr marL="1179195">
                        <a:lnSpc>
                          <a:spcPct val="100000"/>
                        </a:lnSpc>
                        <a:spcBef>
                          <a:spcPts val="2220"/>
                        </a:spcBef>
                      </a:pPr>
                      <a:r>
                        <a:rPr sz="2000" dirty="0">
                          <a:solidFill>
                            <a:srgbClr val="0033CC"/>
                          </a:solidFill>
                          <a:latin typeface="微软雅黑" panose="020B0503020204020204" pitchFamily="34" charset="-122"/>
                          <a:cs typeface="微软雅黑" panose="020B0503020204020204" pitchFamily="34" charset="-122"/>
                        </a:rPr>
                        <a:t>测试用例描述</a:t>
                      </a:r>
                      <a:endParaRPr sz="2000">
                        <a:latin typeface="微软雅黑" panose="020B0503020204020204" pitchFamily="34" charset="-122"/>
                        <a:cs typeface="微软雅黑" panose="020B0503020204020204" pitchFamily="34" charset="-122"/>
                      </a:endParaRPr>
                    </a:p>
                  </a:txBody>
                  <a:tcPr marL="0" marR="0" marT="28194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gridSpan="3">
                  <a:txBody>
                    <a:bodyPr/>
                    <a:lstStyle/>
                    <a:p>
                      <a:pPr marL="901065">
                        <a:lnSpc>
                          <a:spcPct val="100000"/>
                        </a:lnSpc>
                        <a:spcBef>
                          <a:spcPts val="510"/>
                        </a:spcBef>
                      </a:pPr>
                      <a:r>
                        <a:rPr sz="2000" dirty="0">
                          <a:solidFill>
                            <a:srgbClr val="0033CC"/>
                          </a:solidFill>
                          <a:latin typeface="微软雅黑" panose="020B0503020204020204" pitchFamily="34" charset="-122"/>
                          <a:cs typeface="微软雅黑" panose="020B0503020204020204" pitchFamily="34" charset="-122"/>
                        </a:rPr>
                        <a:t>输入参数</a:t>
                      </a:r>
                      <a:endParaRPr sz="2000">
                        <a:latin typeface="微软雅黑" panose="020B0503020204020204" pitchFamily="34" charset="-122"/>
                        <a:cs typeface="微软雅黑" panose="020B0503020204020204" pitchFamily="34" charset="-122"/>
                      </a:endParaRPr>
                    </a:p>
                  </a:txBody>
                  <a:tcPr marL="0" marR="0" marT="64769"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hMerge="1">
                  <a:txBody>
                    <a:bodyPr/>
                    <a:lstStyle/>
                    <a:p>
                      <a:endParaRPr lang="zh-CN"/>
                    </a:p>
                  </a:txBody>
                  <a:tcPr marL="0" marR="0" marT="0" marB="0"/>
                </a:tc>
                <a:tc hMerge="1">
                  <a:txBody>
                    <a:bodyPr/>
                    <a:lstStyle/>
                    <a:p>
                      <a:endParaRPr lang="zh-CN"/>
                    </a:p>
                  </a:txBody>
                  <a:tcPr marL="0" marR="0" marT="0" marB="0"/>
                </a:tc>
                <a:tc rowSpan="2">
                  <a:txBody>
                    <a:bodyPr/>
                    <a:lstStyle/>
                    <a:p>
                      <a:pPr marL="592455">
                        <a:lnSpc>
                          <a:spcPct val="100000"/>
                        </a:lnSpc>
                        <a:spcBef>
                          <a:spcPts val="2220"/>
                        </a:spcBef>
                      </a:pPr>
                      <a:r>
                        <a:rPr sz="2000" dirty="0">
                          <a:solidFill>
                            <a:srgbClr val="0033CC"/>
                          </a:solidFill>
                          <a:latin typeface="微软雅黑" panose="020B0503020204020204" pitchFamily="34" charset="-122"/>
                          <a:cs typeface="微软雅黑" panose="020B0503020204020204" pitchFamily="34" charset="-122"/>
                        </a:rPr>
                        <a:t>期望输出</a:t>
                      </a:r>
                      <a:endParaRPr sz="2000">
                        <a:latin typeface="微软雅黑" panose="020B0503020204020204" pitchFamily="34" charset="-122"/>
                        <a:cs typeface="微软雅黑" panose="020B0503020204020204" pitchFamily="34" charset="-122"/>
                      </a:endParaRPr>
                    </a:p>
                  </a:txBody>
                  <a:tcPr marL="0" marR="0" marT="281940" marB="0">
                    <a:lnL w="12700">
                      <a:solidFill>
                        <a:srgbClr val="000000"/>
                      </a:solidFill>
                      <a:prstDash val="solid"/>
                    </a:lnL>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r h="434608">
                <a:tc vMerge="1">
                  <a:txBody>
                    <a:bodyPr/>
                    <a:lstStyle/>
                    <a:p>
                      <a:endParaRPr lang="zh-CN"/>
                    </a:p>
                  </a:txBody>
                  <a:tcPr marL="0" marR="0" marT="281940" marB="0">
                    <a:lnR w="12700">
                      <a:solidFill>
                        <a:srgbClr val="000000"/>
                      </a:solidFill>
                      <a:prstDash val="solid"/>
                    </a:lnR>
                    <a:lnT w="28575">
                      <a:solidFill>
                        <a:srgbClr val="000000"/>
                      </a:solidFill>
                      <a:prstDash val="solid"/>
                    </a:lnT>
                    <a:lnB w="28575">
                      <a:solidFill>
                        <a:srgbClr val="000000"/>
                      </a:solidFill>
                      <a:prstDash val="solid"/>
                    </a:lnB>
                  </a:tcPr>
                </a:tc>
                <a:tc vMerge="1">
                  <a:txBody>
                    <a:bodyPr/>
                    <a:lstStyle/>
                    <a:p>
                      <a:endParaRPr lang="zh-CN"/>
                    </a:p>
                  </a:txBody>
                  <a:tcPr marL="0" marR="0" marT="28194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algn="ctr">
                        <a:lnSpc>
                          <a:spcPct val="100000"/>
                        </a:lnSpc>
                        <a:spcBef>
                          <a:spcPts val="510"/>
                        </a:spcBef>
                      </a:pPr>
                      <a:r>
                        <a:rPr sz="2000" dirty="0">
                          <a:solidFill>
                            <a:srgbClr val="0033CC"/>
                          </a:solidFill>
                          <a:latin typeface="Arial" panose="020B0604020202020204"/>
                          <a:cs typeface="Arial" panose="020B0604020202020204"/>
                        </a:rPr>
                        <a:t>a</a:t>
                      </a:r>
                      <a:endParaRPr sz="2000">
                        <a:latin typeface="Arial" panose="020B0604020202020204"/>
                        <a:cs typeface="Arial" panose="020B0604020202020204"/>
                      </a:endParaRPr>
                    </a:p>
                  </a:txBody>
                  <a:tcPr marL="0" marR="0" marT="64769"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gn="ctr">
                        <a:lnSpc>
                          <a:spcPct val="100000"/>
                        </a:lnSpc>
                        <a:spcBef>
                          <a:spcPts val="510"/>
                        </a:spcBef>
                      </a:pPr>
                      <a:r>
                        <a:rPr sz="2000" dirty="0">
                          <a:solidFill>
                            <a:srgbClr val="0033CC"/>
                          </a:solidFill>
                          <a:latin typeface="Arial" panose="020B0604020202020204"/>
                          <a:cs typeface="Arial" panose="020B0604020202020204"/>
                        </a:rPr>
                        <a:t>b</a:t>
                      </a:r>
                      <a:endParaRPr sz="2000">
                        <a:latin typeface="Arial" panose="020B0604020202020204"/>
                        <a:cs typeface="Arial" panose="020B0604020202020204"/>
                      </a:endParaRPr>
                    </a:p>
                  </a:txBody>
                  <a:tcPr marL="0" marR="0" marT="64769"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gn="ctr">
                        <a:lnSpc>
                          <a:spcPct val="100000"/>
                        </a:lnSpc>
                        <a:spcBef>
                          <a:spcPts val="510"/>
                        </a:spcBef>
                      </a:pPr>
                      <a:r>
                        <a:rPr sz="2000" dirty="0">
                          <a:solidFill>
                            <a:srgbClr val="0033CC"/>
                          </a:solidFill>
                          <a:latin typeface="Arial" panose="020B0604020202020204"/>
                          <a:cs typeface="Arial" panose="020B0604020202020204"/>
                        </a:rPr>
                        <a:t>c</a:t>
                      </a:r>
                      <a:endParaRPr sz="2000">
                        <a:latin typeface="Arial" panose="020B0604020202020204"/>
                        <a:cs typeface="Arial" panose="020B0604020202020204"/>
                      </a:endParaRPr>
                    </a:p>
                  </a:txBody>
                  <a:tcPr marL="0" marR="0" marT="64769"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vMerge="1">
                  <a:txBody>
                    <a:bodyPr/>
                    <a:lstStyle/>
                    <a:p>
                      <a:endParaRPr lang="zh-CN"/>
                    </a:p>
                  </a:txBody>
                  <a:tcPr marL="0" marR="0" marT="281940" marB="0">
                    <a:lnL w="12700">
                      <a:solidFill>
                        <a:srgbClr val="000000"/>
                      </a:solidFill>
                      <a:prstDash val="solid"/>
                    </a:lnL>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1"/>
                  </a:ext>
                </a:extLst>
              </a:tr>
              <a:tr h="1086523">
                <a:tc>
                  <a:txBody>
                    <a:bodyPr/>
                    <a:lstStyle/>
                    <a:p>
                      <a:pPr>
                        <a:lnSpc>
                          <a:spcPct val="100000"/>
                        </a:lnSpc>
                        <a:spcBef>
                          <a:spcPts val="30"/>
                        </a:spcBef>
                      </a:pPr>
                      <a:endParaRPr sz="2650">
                        <a:latin typeface="Times New Roman" panose="02020603050405020304"/>
                        <a:cs typeface="Times New Roman" panose="02020603050405020304"/>
                      </a:endParaRPr>
                    </a:p>
                    <a:p>
                      <a:pPr marL="342900">
                        <a:lnSpc>
                          <a:spcPct val="100000"/>
                        </a:lnSpc>
                      </a:pPr>
                      <a:r>
                        <a:rPr sz="2000" dirty="0">
                          <a:latin typeface="Arial" panose="020B0604020202020204"/>
                          <a:cs typeface="Arial" panose="020B0604020202020204"/>
                        </a:rPr>
                        <a:t>1</a:t>
                      </a:r>
                      <a:endParaRPr sz="2000">
                        <a:latin typeface="Arial" panose="020B0604020202020204"/>
                        <a:cs typeface="Arial" panose="020B0604020202020204"/>
                      </a:endParaRPr>
                    </a:p>
                  </a:txBody>
                  <a:tcPr marL="0" marR="0" marT="3810" marB="0">
                    <a:lnR w="12700">
                      <a:solidFill>
                        <a:srgbClr val="000000"/>
                      </a:solidFill>
                      <a:prstDash val="solid"/>
                    </a:lnR>
                    <a:lnT w="28575">
                      <a:solidFill>
                        <a:srgbClr val="000000"/>
                      </a:solidFill>
                      <a:prstDash val="solid"/>
                    </a:lnT>
                    <a:lnB w="9525">
                      <a:solidFill>
                        <a:srgbClr val="000000"/>
                      </a:solidFill>
                      <a:prstDash val="solid"/>
                    </a:lnB>
                  </a:tcPr>
                </a:tc>
                <a:tc>
                  <a:txBody>
                    <a:bodyPr/>
                    <a:lstStyle/>
                    <a:p>
                      <a:pPr marL="627380" marR="619760" indent="-635" algn="ctr">
                        <a:lnSpc>
                          <a:spcPct val="100000"/>
                        </a:lnSpc>
                        <a:spcBef>
                          <a:spcPts val="675"/>
                        </a:spcBef>
                      </a:pPr>
                      <a:r>
                        <a:rPr sz="2000" spc="-5" dirty="0">
                          <a:latin typeface="Arial" panose="020B0604020202020204"/>
                          <a:cs typeface="Arial" panose="020B0604020202020204"/>
                        </a:rPr>
                        <a:t>a&gt;0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c&gt;0  </a:t>
                      </a:r>
                      <a:r>
                        <a:rPr sz="2000" dirty="0">
                          <a:latin typeface="Arial" panose="020B0604020202020204"/>
                          <a:cs typeface="Arial" panose="020B0604020202020204"/>
                        </a:rPr>
                        <a:t>a+</a:t>
                      </a:r>
                      <a:r>
                        <a:rPr sz="2000" spc="-5" dirty="0">
                          <a:latin typeface="Arial" panose="020B0604020202020204"/>
                          <a:cs typeface="Arial" panose="020B0604020202020204"/>
                        </a:rPr>
                        <a:t>b</a:t>
                      </a:r>
                      <a:r>
                        <a:rPr sz="2000" dirty="0">
                          <a:latin typeface="Arial" panose="020B0604020202020204"/>
                          <a:cs typeface="Arial" panose="020B0604020202020204"/>
                        </a:rPr>
                        <a:t>&gt;c</a:t>
                      </a:r>
                      <a:r>
                        <a:rPr sz="2000" dirty="0">
                          <a:latin typeface="微软雅黑" panose="020B0503020204020204" pitchFamily="34" charset="-122"/>
                          <a:cs typeface="微软雅黑" panose="020B0503020204020204" pitchFamily="34" charset="-122"/>
                        </a:rPr>
                        <a:t>，</a:t>
                      </a:r>
                      <a:r>
                        <a:rPr sz="2000" dirty="0">
                          <a:latin typeface="Arial" panose="020B0604020202020204"/>
                          <a:cs typeface="Arial" panose="020B0604020202020204"/>
                        </a:rPr>
                        <a:t>b+</a:t>
                      </a:r>
                      <a:r>
                        <a:rPr sz="2000" spc="-5" dirty="0">
                          <a:latin typeface="Arial" panose="020B0604020202020204"/>
                          <a:cs typeface="Arial" panose="020B0604020202020204"/>
                        </a:rPr>
                        <a:t>c</a:t>
                      </a:r>
                      <a:r>
                        <a:rPr sz="2000" dirty="0">
                          <a:latin typeface="Arial" panose="020B0604020202020204"/>
                          <a:cs typeface="Arial" panose="020B0604020202020204"/>
                        </a:rPr>
                        <a:t>&gt;a</a:t>
                      </a:r>
                      <a:r>
                        <a:rPr sz="2000" dirty="0">
                          <a:latin typeface="微软雅黑" panose="020B0503020204020204" pitchFamily="34" charset="-122"/>
                          <a:cs typeface="微软雅黑" panose="020B0503020204020204" pitchFamily="34" charset="-122"/>
                        </a:rPr>
                        <a:t>，</a:t>
                      </a:r>
                      <a:r>
                        <a:rPr sz="2000" dirty="0">
                          <a:latin typeface="Arial" panose="020B0604020202020204"/>
                          <a:cs typeface="Arial" panose="020B0604020202020204"/>
                        </a:rPr>
                        <a:t>a+</a:t>
                      </a:r>
                      <a:r>
                        <a:rPr sz="2000" spc="-5" dirty="0">
                          <a:latin typeface="Arial" panose="020B0604020202020204"/>
                          <a:cs typeface="Arial" panose="020B0604020202020204"/>
                        </a:rPr>
                        <a:t>c</a:t>
                      </a:r>
                      <a:r>
                        <a:rPr sz="2000" dirty="0">
                          <a:latin typeface="Arial" panose="020B0604020202020204"/>
                          <a:cs typeface="Arial" panose="020B0604020202020204"/>
                        </a:rPr>
                        <a:t>&gt;b  a=b=c</a:t>
                      </a:r>
                      <a:endParaRPr sz="2000">
                        <a:latin typeface="Arial" panose="020B0604020202020204"/>
                        <a:cs typeface="Arial" panose="020B0604020202020204"/>
                      </a:endParaRPr>
                    </a:p>
                  </a:txBody>
                  <a:tcPr marL="0" marR="0" marT="85725"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a:lnSpc>
                          <a:spcPct val="100000"/>
                        </a:lnSpc>
                        <a:spcBef>
                          <a:spcPts val="30"/>
                        </a:spcBef>
                      </a:pPr>
                      <a:endParaRPr sz="2650">
                        <a:latin typeface="Times New Roman" panose="02020603050405020304"/>
                        <a:cs typeface="Times New Roman" panose="02020603050405020304"/>
                      </a:endParaRPr>
                    </a:p>
                    <a:p>
                      <a:pPr algn="ctr">
                        <a:lnSpc>
                          <a:spcPct val="100000"/>
                        </a:lnSpc>
                      </a:pPr>
                      <a:r>
                        <a:rPr sz="2000" dirty="0">
                          <a:latin typeface="Arial" panose="020B0604020202020204"/>
                          <a:cs typeface="Arial" panose="020B0604020202020204"/>
                        </a:rPr>
                        <a:t>60</a:t>
                      </a:r>
                      <a:endParaRPr sz="2000">
                        <a:latin typeface="Arial" panose="020B0604020202020204"/>
                        <a:cs typeface="Arial" panose="020B0604020202020204"/>
                      </a:endParaRPr>
                    </a:p>
                  </a:txBody>
                  <a:tcPr marL="0" marR="0" marT="3810"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a:lnSpc>
                          <a:spcPct val="100000"/>
                        </a:lnSpc>
                        <a:spcBef>
                          <a:spcPts val="30"/>
                        </a:spcBef>
                      </a:pPr>
                      <a:endParaRPr sz="2650">
                        <a:latin typeface="Times New Roman" panose="02020603050405020304"/>
                        <a:cs typeface="Times New Roman" panose="02020603050405020304"/>
                      </a:endParaRPr>
                    </a:p>
                    <a:p>
                      <a:pPr algn="ctr">
                        <a:lnSpc>
                          <a:spcPct val="100000"/>
                        </a:lnSpc>
                      </a:pPr>
                      <a:r>
                        <a:rPr sz="2000" dirty="0">
                          <a:latin typeface="Arial" panose="020B0604020202020204"/>
                          <a:cs typeface="Arial" panose="020B0604020202020204"/>
                        </a:rPr>
                        <a:t>60</a:t>
                      </a:r>
                      <a:endParaRPr sz="2000">
                        <a:latin typeface="Arial" panose="020B0604020202020204"/>
                        <a:cs typeface="Arial" panose="020B0604020202020204"/>
                      </a:endParaRPr>
                    </a:p>
                  </a:txBody>
                  <a:tcPr marL="0" marR="0" marT="3810"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a:lnSpc>
                          <a:spcPct val="100000"/>
                        </a:lnSpc>
                        <a:spcBef>
                          <a:spcPts val="30"/>
                        </a:spcBef>
                      </a:pPr>
                      <a:endParaRPr sz="2650">
                        <a:latin typeface="Times New Roman" panose="02020603050405020304"/>
                        <a:cs typeface="Times New Roman" panose="02020603050405020304"/>
                      </a:endParaRPr>
                    </a:p>
                    <a:p>
                      <a:pPr algn="ctr">
                        <a:lnSpc>
                          <a:spcPct val="100000"/>
                        </a:lnSpc>
                      </a:pPr>
                      <a:r>
                        <a:rPr sz="2000" dirty="0">
                          <a:latin typeface="Arial" panose="020B0604020202020204"/>
                          <a:cs typeface="Arial" panose="020B0604020202020204"/>
                        </a:rPr>
                        <a:t>60</a:t>
                      </a:r>
                      <a:endParaRPr sz="2000">
                        <a:latin typeface="Arial" panose="020B0604020202020204"/>
                        <a:cs typeface="Arial" panose="020B0604020202020204"/>
                      </a:endParaRPr>
                    </a:p>
                  </a:txBody>
                  <a:tcPr marL="0" marR="0" marT="3810"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a:lnSpc>
                          <a:spcPct val="100000"/>
                        </a:lnSpc>
                        <a:spcBef>
                          <a:spcPts val="30"/>
                        </a:spcBef>
                      </a:pPr>
                      <a:endParaRPr sz="2650">
                        <a:latin typeface="Times New Roman" panose="02020603050405020304"/>
                        <a:cs typeface="Times New Roman" panose="02020603050405020304"/>
                      </a:endParaRPr>
                    </a:p>
                    <a:p>
                      <a:pPr marL="463550">
                        <a:lnSpc>
                          <a:spcPct val="100000"/>
                        </a:lnSpc>
                      </a:pPr>
                      <a:r>
                        <a:rPr sz="2000" dirty="0">
                          <a:latin typeface="微软雅黑" panose="020B0503020204020204" pitchFamily="34" charset="-122"/>
                          <a:cs typeface="微软雅黑" panose="020B0503020204020204" pitchFamily="34" charset="-122"/>
                        </a:rPr>
                        <a:t>等边三角形</a:t>
                      </a:r>
                      <a:endParaRPr sz="2000">
                        <a:latin typeface="微软雅黑" panose="020B0503020204020204" pitchFamily="34" charset="-122"/>
                        <a:cs typeface="微软雅黑" panose="020B0503020204020204" pitchFamily="34" charset="-122"/>
                      </a:endParaRPr>
                    </a:p>
                  </a:txBody>
                  <a:tcPr marL="0" marR="0" marT="3810" marB="0">
                    <a:lnL w="12700">
                      <a:solidFill>
                        <a:srgbClr val="000000"/>
                      </a:solidFill>
                      <a:prstDash val="solid"/>
                    </a:lnL>
                    <a:lnT w="28575">
                      <a:solidFill>
                        <a:srgbClr val="000000"/>
                      </a:solidFill>
                      <a:prstDash val="solid"/>
                    </a:lnT>
                    <a:lnB w="9525">
                      <a:solidFill>
                        <a:srgbClr val="000000"/>
                      </a:solidFill>
                      <a:prstDash val="solid"/>
                    </a:lnB>
                  </a:tcPr>
                </a:tc>
                <a:extLst>
                  <a:ext uri="{0D108BD9-81ED-4DB2-BD59-A6C34878D82A}">
                    <a16:rowId xmlns:a16="http://schemas.microsoft.com/office/drawing/2014/main" val="10002"/>
                  </a:ext>
                </a:extLst>
              </a:tr>
              <a:tr h="529596">
                <a:tc>
                  <a:txBody>
                    <a:bodyPr/>
                    <a:lstStyle/>
                    <a:p>
                      <a:pPr marL="342900">
                        <a:lnSpc>
                          <a:spcPct val="100000"/>
                        </a:lnSpc>
                        <a:spcBef>
                          <a:spcPts val="830"/>
                        </a:spcBef>
                      </a:pPr>
                      <a:r>
                        <a:rPr sz="2000" dirty="0">
                          <a:latin typeface="Arial" panose="020B0604020202020204"/>
                          <a:cs typeface="Arial" panose="020B0604020202020204"/>
                        </a:rPr>
                        <a:t>2</a:t>
                      </a:r>
                      <a:endParaRPr sz="2000">
                        <a:latin typeface="Arial" panose="020B0604020202020204"/>
                        <a:cs typeface="Arial" panose="020B0604020202020204"/>
                      </a:endParaRPr>
                    </a:p>
                  </a:txBody>
                  <a:tcPr marL="0" marR="0" marT="105410" marB="0">
                    <a:lnR w="12700">
                      <a:solidFill>
                        <a:srgbClr val="000000"/>
                      </a:solidFill>
                      <a:prstDash val="solid"/>
                    </a:lnR>
                    <a:lnT w="9525">
                      <a:solidFill>
                        <a:srgbClr val="000000"/>
                      </a:solidFill>
                      <a:prstDash val="solid"/>
                    </a:lnT>
                  </a:tcPr>
                </a:tc>
                <a:tc>
                  <a:txBody>
                    <a:bodyPr/>
                    <a:lstStyle/>
                    <a:p>
                      <a:pPr>
                        <a:lnSpc>
                          <a:spcPct val="100000"/>
                        </a:lnSpc>
                      </a:pPr>
                      <a:endParaRPr sz="20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9525">
                      <a:solidFill>
                        <a:srgbClr val="000000"/>
                      </a:solidFill>
                      <a:prstDash val="solid"/>
                    </a:lnT>
                  </a:tcPr>
                </a:tc>
                <a:tc>
                  <a:txBody>
                    <a:bodyPr/>
                    <a:lstStyle/>
                    <a:p>
                      <a:pPr algn="ctr">
                        <a:lnSpc>
                          <a:spcPct val="100000"/>
                        </a:lnSpc>
                        <a:spcBef>
                          <a:spcPts val="830"/>
                        </a:spcBef>
                      </a:pPr>
                      <a:r>
                        <a:rPr sz="2000" dirty="0">
                          <a:latin typeface="Arial" panose="020B0604020202020204"/>
                          <a:cs typeface="Arial" panose="020B0604020202020204"/>
                        </a:rPr>
                        <a:t>60</a:t>
                      </a:r>
                      <a:endParaRPr sz="2000">
                        <a:latin typeface="Arial" panose="020B0604020202020204"/>
                        <a:cs typeface="Arial" panose="020B0604020202020204"/>
                      </a:endParaRPr>
                    </a:p>
                  </a:txBody>
                  <a:tcPr marL="0" marR="0" marT="105410" marB="0">
                    <a:lnL w="12700">
                      <a:solidFill>
                        <a:srgbClr val="000000"/>
                      </a:solidFill>
                      <a:prstDash val="solid"/>
                    </a:lnL>
                    <a:lnR w="12700">
                      <a:solidFill>
                        <a:srgbClr val="000000"/>
                      </a:solidFill>
                      <a:prstDash val="solid"/>
                    </a:lnR>
                    <a:lnT w="9525">
                      <a:solidFill>
                        <a:srgbClr val="000000"/>
                      </a:solidFill>
                      <a:prstDash val="solid"/>
                    </a:lnT>
                  </a:tcPr>
                </a:tc>
                <a:tc>
                  <a:txBody>
                    <a:bodyPr/>
                    <a:lstStyle/>
                    <a:p>
                      <a:pPr algn="ctr">
                        <a:lnSpc>
                          <a:spcPct val="100000"/>
                        </a:lnSpc>
                        <a:spcBef>
                          <a:spcPts val="830"/>
                        </a:spcBef>
                      </a:pPr>
                      <a:r>
                        <a:rPr sz="2000" dirty="0">
                          <a:latin typeface="Arial" panose="020B0604020202020204"/>
                          <a:cs typeface="Arial" panose="020B0604020202020204"/>
                        </a:rPr>
                        <a:t>60</a:t>
                      </a:r>
                      <a:endParaRPr sz="2000">
                        <a:latin typeface="Arial" panose="020B0604020202020204"/>
                        <a:cs typeface="Arial" panose="020B0604020202020204"/>
                      </a:endParaRPr>
                    </a:p>
                  </a:txBody>
                  <a:tcPr marL="0" marR="0" marT="105410" marB="0">
                    <a:lnL w="12700">
                      <a:solidFill>
                        <a:srgbClr val="000000"/>
                      </a:solidFill>
                      <a:prstDash val="solid"/>
                    </a:lnL>
                    <a:lnR w="12700">
                      <a:solidFill>
                        <a:srgbClr val="000000"/>
                      </a:solidFill>
                      <a:prstDash val="solid"/>
                    </a:lnR>
                    <a:lnT w="9525">
                      <a:solidFill>
                        <a:srgbClr val="000000"/>
                      </a:solidFill>
                      <a:prstDash val="solid"/>
                    </a:lnT>
                  </a:tcPr>
                </a:tc>
                <a:tc>
                  <a:txBody>
                    <a:bodyPr/>
                    <a:lstStyle/>
                    <a:p>
                      <a:pPr algn="ctr">
                        <a:lnSpc>
                          <a:spcPct val="100000"/>
                        </a:lnSpc>
                        <a:spcBef>
                          <a:spcPts val="830"/>
                        </a:spcBef>
                      </a:pPr>
                      <a:r>
                        <a:rPr sz="2000" dirty="0">
                          <a:latin typeface="Arial" panose="020B0604020202020204"/>
                          <a:cs typeface="Arial" panose="020B0604020202020204"/>
                        </a:rPr>
                        <a:t>1</a:t>
                      </a:r>
                      <a:endParaRPr sz="2000">
                        <a:latin typeface="Arial" panose="020B0604020202020204"/>
                        <a:cs typeface="Arial" panose="020B0604020202020204"/>
                      </a:endParaRPr>
                    </a:p>
                  </a:txBody>
                  <a:tcPr marL="0" marR="0" marT="105410" marB="0">
                    <a:lnL w="12700">
                      <a:solidFill>
                        <a:srgbClr val="000000"/>
                      </a:solidFill>
                      <a:prstDash val="solid"/>
                    </a:lnL>
                    <a:lnR w="12700">
                      <a:solidFill>
                        <a:srgbClr val="000000"/>
                      </a:solidFill>
                      <a:prstDash val="solid"/>
                    </a:lnR>
                    <a:lnT w="9525">
                      <a:solidFill>
                        <a:srgbClr val="000000"/>
                      </a:solidFill>
                      <a:prstDash val="solid"/>
                    </a:lnT>
                  </a:tcPr>
                </a:tc>
                <a:tc rowSpan="5">
                  <a:txBody>
                    <a:bodyPr/>
                    <a:lstStyle/>
                    <a:p>
                      <a:pPr>
                        <a:lnSpc>
                          <a:spcPct val="100000"/>
                        </a:lnSpc>
                      </a:pPr>
                      <a:endParaRPr sz="2600">
                        <a:latin typeface="Times New Roman" panose="02020603050405020304"/>
                        <a:cs typeface="Times New Roman" panose="02020603050405020304"/>
                      </a:endParaRPr>
                    </a:p>
                    <a:p>
                      <a:pPr>
                        <a:lnSpc>
                          <a:spcPct val="100000"/>
                        </a:lnSpc>
                      </a:pPr>
                      <a:endParaRPr sz="2600">
                        <a:latin typeface="Times New Roman" panose="02020603050405020304"/>
                        <a:cs typeface="Times New Roman" panose="02020603050405020304"/>
                      </a:endParaRPr>
                    </a:p>
                    <a:p>
                      <a:pPr>
                        <a:lnSpc>
                          <a:spcPct val="100000"/>
                        </a:lnSpc>
                        <a:spcBef>
                          <a:spcPts val="45"/>
                        </a:spcBef>
                      </a:pPr>
                      <a:endParaRPr sz="2550">
                        <a:latin typeface="Times New Roman" panose="02020603050405020304"/>
                        <a:cs typeface="Times New Roman" panose="02020603050405020304"/>
                      </a:endParaRPr>
                    </a:p>
                    <a:p>
                      <a:pPr marL="463550">
                        <a:lnSpc>
                          <a:spcPct val="100000"/>
                        </a:lnSpc>
                      </a:pPr>
                      <a:r>
                        <a:rPr sz="2000" dirty="0">
                          <a:latin typeface="微软雅黑" panose="020B0503020204020204" pitchFamily="34" charset="-122"/>
                          <a:cs typeface="微软雅黑" panose="020B0503020204020204" pitchFamily="34" charset="-122"/>
                        </a:rPr>
                        <a:t>等腰三角形</a:t>
                      </a:r>
                      <a:endParaRPr sz="2000">
                        <a:latin typeface="微软雅黑" panose="020B0503020204020204" pitchFamily="34" charset="-122"/>
                        <a:cs typeface="微软雅黑" panose="020B0503020204020204" pitchFamily="34" charset="-122"/>
                      </a:endParaRPr>
                    </a:p>
                  </a:txBody>
                  <a:tcPr marL="0" marR="0" marT="0" marB="0">
                    <a:lnL w="12700">
                      <a:solidFill>
                        <a:srgbClr val="000000"/>
                      </a:solidFill>
                      <a:prstDash val="solid"/>
                    </a:lnL>
                    <a:lnT w="9525">
                      <a:solidFill>
                        <a:srgbClr val="000000"/>
                      </a:solidFill>
                      <a:prstDash val="solid"/>
                    </a:lnT>
                    <a:lnB w="28575">
                      <a:solidFill>
                        <a:srgbClr val="000000"/>
                      </a:solidFill>
                      <a:prstDash val="solid"/>
                    </a:lnB>
                  </a:tcPr>
                </a:tc>
                <a:extLst>
                  <a:ext uri="{0D108BD9-81ED-4DB2-BD59-A6C34878D82A}">
                    <a16:rowId xmlns:a16="http://schemas.microsoft.com/office/drawing/2014/main" val="10003"/>
                  </a:ext>
                </a:extLst>
              </a:tr>
              <a:tr h="608593">
                <a:tc>
                  <a:txBody>
                    <a:bodyPr/>
                    <a:lstStyle/>
                    <a:p>
                      <a:pPr marL="342900">
                        <a:lnSpc>
                          <a:spcPct val="100000"/>
                        </a:lnSpc>
                        <a:spcBef>
                          <a:spcPts val="725"/>
                        </a:spcBef>
                      </a:pPr>
                      <a:r>
                        <a:rPr sz="2000" dirty="0">
                          <a:latin typeface="Arial" panose="020B0604020202020204"/>
                          <a:cs typeface="Arial" panose="020B0604020202020204"/>
                        </a:rPr>
                        <a:t>3</a:t>
                      </a:r>
                      <a:endParaRPr sz="2000">
                        <a:latin typeface="Arial" panose="020B0604020202020204"/>
                        <a:cs typeface="Arial" panose="020B0604020202020204"/>
                      </a:endParaRPr>
                    </a:p>
                  </a:txBody>
                  <a:tcPr marL="0" marR="0" marT="92075" marB="0">
                    <a:lnR w="12700">
                      <a:solidFill>
                        <a:srgbClr val="000000"/>
                      </a:solidFill>
                      <a:prstDash val="solid"/>
                    </a:lnR>
                  </a:tcPr>
                </a:tc>
                <a:tc>
                  <a:txBody>
                    <a:bodyPr/>
                    <a:lstStyle/>
                    <a:p>
                      <a:pPr>
                        <a:lnSpc>
                          <a:spcPct val="100000"/>
                        </a:lnSpc>
                        <a:spcBef>
                          <a:spcPts val="30"/>
                        </a:spcBef>
                      </a:pPr>
                      <a:endParaRPr sz="2050">
                        <a:latin typeface="Times New Roman" panose="02020603050405020304"/>
                        <a:cs typeface="Times New Roman" panose="02020603050405020304"/>
                      </a:endParaRPr>
                    </a:p>
                    <a:p>
                      <a:pPr algn="ctr">
                        <a:lnSpc>
                          <a:spcPts val="2305"/>
                        </a:lnSpc>
                      </a:pPr>
                      <a:r>
                        <a:rPr sz="2000" spc="-5" dirty="0">
                          <a:latin typeface="Arial" panose="020B0604020202020204"/>
                          <a:cs typeface="Arial" panose="020B0604020202020204"/>
                        </a:rPr>
                        <a:t>a&gt;0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c&gt;0</a:t>
                      </a:r>
                      <a:endParaRPr sz="2000">
                        <a:latin typeface="Arial" panose="020B0604020202020204"/>
                        <a:cs typeface="Arial" panose="020B0604020202020204"/>
                      </a:endParaRPr>
                    </a:p>
                  </a:txBody>
                  <a:tcPr marL="0" marR="0" marT="3810" marB="0">
                    <a:lnL w="12700">
                      <a:solidFill>
                        <a:srgbClr val="000000"/>
                      </a:solidFill>
                      <a:prstDash val="solid"/>
                    </a:lnL>
                    <a:lnR w="12700">
                      <a:solidFill>
                        <a:srgbClr val="000000"/>
                      </a:solidFill>
                      <a:prstDash val="solid"/>
                    </a:lnR>
                  </a:tcPr>
                </a:tc>
                <a:tc>
                  <a:txBody>
                    <a:bodyPr/>
                    <a:lstStyle/>
                    <a:p>
                      <a:pPr algn="ctr">
                        <a:lnSpc>
                          <a:spcPct val="100000"/>
                        </a:lnSpc>
                        <a:spcBef>
                          <a:spcPts val="725"/>
                        </a:spcBef>
                      </a:pPr>
                      <a:r>
                        <a:rPr sz="2000" dirty="0">
                          <a:latin typeface="Arial" panose="020B0604020202020204"/>
                          <a:cs typeface="Arial" panose="020B0604020202020204"/>
                        </a:rPr>
                        <a:t>60</a:t>
                      </a:r>
                      <a:endParaRPr sz="2000">
                        <a:latin typeface="Arial" panose="020B0604020202020204"/>
                        <a:cs typeface="Arial" panose="020B0604020202020204"/>
                      </a:endParaRPr>
                    </a:p>
                  </a:txBody>
                  <a:tcPr marL="0" marR="0" marT="92075" marB="0">
                    <a:lnL w="12700">
                      <a:solidFill>
                        <a:srgbClr val="000000"/>
                      </a:solidFill>
                      <a:prstDash val="solid"/>
                    </a:lnL>
                    <a:lnR w="12700">
                      <a:solidFill>
                        <a:srgbClr val="000000"/>
                      </a:solidFill>
                      <a:prstDash val="solid"/>
                    </a:lnR>
                  </a:tcPr>
                </a:tc>
                <a:tc>
                  <a:txBody>
                    <a:bodyPr/>
                    <a:lstStyle/>
                    <a:p>
                      <a:pPr algn="ctr">
                        <a:lnSpc>
                          <a:spcPct val="100000"/>
                        </a:lnSpc>
                        <a:spcBef>
                          <a:spcPts val="725"/>
                        </a:spcBef>
                      </a:pPr>
                      <a:r>
                        <a:rPr sz="2000" dirty="0">
                          <a:latin typeface="Arial" panose="020B0604020202020204"/>
                          <a:cs typeface="Arial" panose="020B0604020202020204"/>
                        </a:rPr>
                        <a:t>60</a:t>
                      </a:r>
                      <a:endParaRPr sz="2000">
                        <a:latin typeface="Arial" panose="020B0604020202020204"/>
                        <a:cs typeface="Arial" panose="020B0604020202020204"/>
                      </a:endParaRPr>
                    </a:p>
                  </a:txBody>
                  <a:tcPr marL="0" marR="0" marT="92075" marB="0">
                    <a:lnL w="12700">
                      <a:solidFill>
                        <a:srgbClr val="000000"/>
                      </a:solidFill>
                      <a:prstDash val="solid"/>
                    </a:lnL>
                    <a:lnR w="12700">
                      <a:solidFill>
                        <a:srgbClr val="000000"/>
                      </a:solidFill>
                      <a:prstDash val="solid"/>
                    </a:lnR>
                  </a:tcPr>
                </a:tc>
                <a:tc>
                  <a:txBody>
                    <a:bodyPr/>
                    <a:lstStyle/>
                    <a:p>
                      <a:pPr algn="ctr">
                        <a:lnSpc>
                          <a:spcPct val="100000"/>
                        </a:lnSpc>
                        <a:spcBef>
                          <a:spcPts val="725"/>
                        </a:spcBef>
                      </a:pPr>
                      <a:r>
                        <a:rPr sz="2000" dirty="0">
                          <a:latin typeface="Arial" panose="020B0604020202020204"/>
                          <a:cs typeface="Arial" panose="020B0604020202020204"/>
                        </a:rPr>
                        <a:t>2</a:t>
                      </a:r>
                      <a:endParaRPr sz="2000">
                        <a:latin typeface="Arial" panose="020B0604020202020204"/>
                        <a:cs typeface="Arial" panose="020B0604020202020204"/>
                      </a:endParaRPr>
                    </a:p>
                  </a:txBody>
                  <a:tcPr marL="0" marR="0" marT="92075" marB="0">
                    <a:lnL w="12700">
                      <a:solidFill>
                        <a:srgbClr val="000000"/>
                      </a:solidFill>
                      <a:prstDash val="solid"/>
                    </a:lnL>
                    <a:lnR w="12700">
                      <a:solidFill>
                        <a:srgbClr val="000000"/>
                      </a:solidFill>
                      <a:prstDash val="solid"/>
                    </a:lnR>
                  </a:tcPr>
                </a:tc>
                <a:tc vMerge="1">
                  <a:txBody>
                    <a:bodyPr/>
                    <a:lstStyle/>
                    <a:p>
                      <a:endParaRPr lang="zh-CN"/>
                    </a:p>
                  </a:txBody>
                  <a:tcPr marL="0" marR="0" marT="0" marB="0">
                    <a:lnL w="12700">
                      <a:solidFill>
                        <a:srgbClr val="000000"/>
                      </a:solidFill>
                      <a:prstDash val="solid"/>
                    </a:lnL>
                    <a:lnT w="9525">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r h="304800">
                <a:tc>
                  <a:txBody>
                    <a:bodyPr/>
                    <a:lstStyle/>
                    <a:p>
                      <a:pPr marL="343535">
                        <a:lnSpc>
                          <a:spcPts val="2300"/>
                        </a:lnSpc>
                      </a:pPr>
                      <a:r>
                        <a:rPr sz="2000" dirty="0">
                          <a:latin typeface="Arial" panose="020B0604020202020204"/>
                          <a:cs typeface="Arial" panose="020B0604020202020204"/>
                        </a:rPr>
                        <a:t>4</a:t>
                      </a:r>
                      <a:endParaRPr sz="2000">
                        <a:latin typeface="Arial" panose="020B0604020202020204"/>
                        <a:cs typeface="Arial" panose="020B0604020202020204"/>
                      </a:endParaRPr>
                    </a:p>
                  </a:txBody>
                  <a:tcPr marL="0" marR="0" marT="0" marB="0">
                    <a:lnR w="12700">
                      <a:solidFill>
                        <a:srgbClr val="000000"/>
                      </a:solidFill>
                      <a:prstDash val="solid"/>
                    </a:lnR>
                  </a:tcPr>
                </a:tc>
                <a:tc>
                  <a:txBody>
                    <a:bodyPr/>
                    <a:lstStyle/>
                    <a:p>
                      <a:pPr algn="ctr">
                        <a:lnSpc>
                          <a:spcPts val="2300"/>
                        </a:lnSpc>
                      </a:pPr>
                      <a:r>
                        <a:rPr sz="2000" spc="-5" dirty="0">
                          <a:latin typeface="Arial" panose="020B0604020202020204"/>
                          <a:cs typeface="Arial" panose="020B0604020202020204"/>
                        </a:rPr>
                        <a:t>a+b&gt;c</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b+c&gt;a</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a+c&gt;b</a:t>
                      </a:r>
                      <a:endParaRPr sz="2000">
                        <a:latin typeface="Arial" panose="020B0604020202020204"/>
                        <a:cs typeface="Arial" panose="020B0604020202020204"/>
                      </a:endParaRPr>
                    </a:p>
                  </a:txBody>
                  <a:tcPr marL="0" marR="0" marT="0" marB="0">
                    <a:lnL w="12700">
                      <a:solidFill>
                        <a:srgbClr val="000000"/>
                      </a:solidFill>
                      <a:prstDash val="solid"/>
                    </a:lnL>
                    <a:lnR w="12700">
                      <a:solidFill>
                        <a:srgbClr val="000000"/>
                      </a:solidFill>
                      <a:prstDash val="solid"/>
                    </a:lnR>
                  </a:tcPr>
                </a:tc>
                <a:tc>
                  <a:txBody>
                    <a:bodyPr/>
                    <a:lstStyle/>
                    <a:p>
                      <a:pPr algn="ctr">
                        <a:lnSpc>
                          <a:spcPts val="2300"/>
                        </a:lnSpc>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0" marB="0">
                    <a:lnL w="12700">
                      <a:solidFill>
                        <a:srgbClr val="000000"/>
                      </a:solidFill>
                      <a:prstDash val="solid"/>
                    </a:lnL>
                    <a:lnR w="12700">
                      <a:solidFill>
                        <a:srgbClr val="000000"/>
                      </a:solidFill>
                      <a:prstDash val="solid"/>
                    </a:lnR>
                  </a:tcPr>
                </a:tc>
                <a:tc>
                  <a:txBody>
                    <a:bodyPr/>
                    <a:lstStyle/>
                    <a:p>
                      <a:pPr algn="ctr">
                        <a:lnSpc>
                          <a:spcPts val="2300"/>
                        </a:lnSpc>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0" marB="0">
                    <a:lnL w="12700">
                      <a:solidFill>
                        <a:srgbClr val="000000"/>
                      </a:solidFill>
                      <a:prstDash val="solid"/>
                    </a:lnL>
                    <a:lnR w="12700">
                      <a:solidFill>
                        <a:srgbClr val="000000"/>
                      </a:solidFill>
                      <a:prstDash val="solid"/>
                    </a:lnR>
                  </a:tcPr>
                </a:tc>
                <a:tc>
                  <a:txBody>
                    <a:bodyPr/>
                    <a:lstStyle/>
                    <a:p>
                      <a:pPr algn="ctr">
                        <a:lnSpc>
                          <a:spcPts val="2300"/>
                        </a:lnSpc>
                      </a:pPr>
                      <a:r>
                        <a:rPr lang="en-US" altLang="zh-CN" sz="2000" dirty="0">
                          <a:latin typeface="Arial" panose="020B0604020202020204"/>
                          <a:cs typeface="Arial" panose="020B0604020202020204"/>
                        </a:rPr>
                        <a:t>11</a:t>
                      </a:r>
                      <a:r>
                        <a:rPr sz="2000" dirty="0">
                          <a:latin typeface="Arial" panose="020B0604020202020204"/>
                          <a:cs typeface="Arial" panose="020B0604020202020204"/>
                        </a:rPr>
                        <a:t>9</a:t>
                      </a:r>
                    </a:p>
                  </a:txBody>
                  <a:tcPr marL="0" marR="0" marT="0" marB="0">
                    <a:lnL w="12700">
                      <a:solidFill>
                        <a:srgbClr val="000000"/>
                      </a:solidFill>
                      <a:prstDash val="solid"/>
                    </a:lnL>
                    <a:lnR w="12700">
                      <a:solidFill>
                        <a:srgbClr val="000000"/>
                      </a:solidFill>
                      <a:prstDash val="solid"/>
                    </a:lnR>
                  </a:tcPr>
                </a:tc>
                <a:tc vMerge="1">
                  <a:txBody>
                    <a:bodyPr/>
                    <a:lstStyle/>
                    <a:p>
                      <a:endParaRPr lang="zh-CN"/>
                    </a:p>
                  </a:txBody>
                  <a:tcPr marL="0" marR="0" marT="0" marB="0">
                    <a:lnL w="12700">
                      <a:solidFill>
                        <a:srgbClr val="000000"/>
                      </a:solidFill>
                      <a:prstDash val="solid"/>
                    </a:lnL>
                    <a:lnT w="9525">
                      <a:solidFill>
                        <a:srgbClr val="000000"/>
                      </a:solidFill>
                      <a:prstDash val="solid"/>
                    </a:lnT>
                    <a:lnB w="28575">
                      <a:solidFill>
                        <a:srgbClr val="000000"/>
                      </a:solidFill>
                      <a:prstDash val="solid"/>
                    </a:lnB>
                  </a:tcPr>
                </a:tc>
                <a:extLst>
                  <a:ext uri="{0D108BD9-81ED-4DB2-BD59-A6C34878D82A}">
                    <a16:rowId xmlns:a16="http://schemas.microsoft.com/office/drawing/2014/main" val="10005"/>
                  </a:ext>
                </a:extLst>
              </a:tr>
              <a:tr h="634762">
                <a:tc>
                  <a:txBody>
                    <a:bodyPr/>
                    <a:lstStyle/>
                    <a:p>
                      <a:pPr marL="342900">
                        <a:lnSpc>
                          <a:spcPct val="100000"/>
                        </a:lnSpc>
                        <a:spcBef>
                          <a:spcPts val="1660"/>
                        </a:spcBef>
                      </a:pPr>
                      <a:r>
                        <a:rPr sz="2000" dirty="0">
                          <a:latin typeface="Arial" panose="020B0604020202020204"/>
                          <a:cs typeface="Arial" panose="020B0604020202020204"/>
                        </a:rPr>
                        <a:t>5</a:t>
                      </a:r>
                      <a:endParaRPr sz="2000">
                        <a:latin typeface="Arial" panose="020B0604020202020204"/>
                        <a:cs typeface="Arial" panose="020B0604020202020204"/>
                      </a:endParaRPr>
                    </a:p>
                  </a:txBody>
                  <a:tcPr marL="0" marR="0" marT="210820" marB="0">
                    <a:lnR w="12700">
                      <a:solidFill>
                        <a:srgbClr val="000000"/>
                      </a:solidFill>
                      <a:prstDash val="solid"/>
                    </a:lnR>
                  </a:tcPr>
                </a:tc>
                <a:tc>
                  <a:txBody>
                    <a:bodyPr/>
                    <a:lstStyle/>
                    <a:p>
                      <a:pPr algn="ctr">
                        <a:lnSpc>
                          <a:spcPts val="2395"/>
                        </a:lnSpc>
                      </a:pPr>
                      <a:r>
                        <a:rPr sz="2000" spc="-5" dirty="0">
                          <a:latin typeface="Arial" panose="020B0604020202020204"/>
                          <a:cs typeface="Arial" panose="020B0604020202020204"/>
                        </a:rPr>
                        <a:t>a=b≠c </a:t>
                      </a:r>
                      <a:r>
                        <a:rPr sz="2000" dirty="0">
                          <a:latin typeface="微软雅黑" panose="020B0503020204020204" pitchFamily="34" charset="-122"/>
                          <a:cs typeface="微软雅黑" panose="020B0503020204020204" pitchFamily="34" charset="-122"/>
                        </a:rPr>
                        <a:t>或 </a:t>
                      </a:r>
                      <a:r>
                        <a:rPr sz="2000" spc="-5" dirty="0">
                          <a:latin typeface="Arial" panose="020B0604020202020204"/>
                          <a:cs typeface="Arial" panose="020B0604020202020204"/>
                        </a:rPr>
                        <a:t>b=c≠a </a:t>
                      </a:r>
                      <a:r>
                        <a:rPr sz="2000" dirty="0">
                          <a:latin typeface="微软雅黑" panose="020B0503020204020204" pitchFamily="34" charset="-122"/>
                          <a:cs typeface="微软雅黑" panose="020B0503020204020204" pitchFamily="34" charset="-122"/>
                        </a:rPr>
                        <a:t>或</a:t>
                      </a:r>
                      <a:r>
                        <a:rPr sz="2000" spc="-15" dirty="0">
                          <a:latin typeface="微软雅黑" panose="020B0503020204020204" pitchFamily="34" charset="-122"/>
                          <a:cs typeface="微软雅黑" panose="020B0503020204020204" pitchFamily="34" charset="-122"/>
                        </a:rPr>
                        <a:t> </a:t>
                      </a:r>
                      <a:r>
                        <a:rPr sz="2000" spc="-5" dirty="0">
                          <a:latin typeface="Arial" panose="020B0604020202020204"/>
                          <a:cs typeface="Arial" panose="020B0604020202020204"/>
                        </a:rPr>
                        <a:t>a=c≠b</a:t>
                      </a:r>
                      <a:endParaRPr sz="2000">
                        <a:latin typeface="Arial" panose="020B0604020202020204"/>
                        <a:cs typeface="Arial" panose="020B0604020202020204"/>
                      </a:endParaRPr>
                    </a:p>
                  </a:txBody>
                  <a:tcPr marL="0" marR="0" marT="0" marB="0">
                    <a:lnL w="12700">
                      <a:solidFill>
                        <a:srgbClr val="000000"/>
                      </a:solidFill>
                      <a:prstDash val="solid"/>
                    </a:lnL>
                    <a:lnR w="12700">
                      <a:solidFill>
                        <a:srgbClr val="000000"/>
                      </a:solidFill>
                      <a:prstDash val="solid"/>
                    </a:lnR>
                  </a:tcPr>
                </a:tc>
                <a:tc>
                  <a:txBody>
                    <a:bodyPr/>
                    <a:lstStyle/>
                    <a:p>
                      <a:pPr algn="ctr">
                        <a:lnSpc>
                          <a:spcPct val="100000"/>
                        </a:lnSpc>
                        <a:spcBef>
                          <a:spcPts val="1660"/>
                        </a:spcBef>
                      </a:pPr>
                      <a:r>
                        <a:rPr sz="2000" dirty="0">
                          <a:latin typeface="Arial" panose="020B0604020202020204"/>
                          <a:cs typeface="Arial" panose="020B0604020202020204"/>
                        </a:rPr>
                        <a:t>60</a:t>
                      </a:r>
                      <a:endParaRPr sz="2000">
                        <a:latin typeface="Arial" panose="020B0604020202020204"/>
                        <a:cs typeface="Arial" panose="020B0604020202020204"/>
                      </a:endParaRPr>
                    </a:p>
                  </a:txBody>
                  <a:tcPr marL="0" marR="0" marT="210820" marB="0">
                    <a:lnL w="12700">
                      <a:solidFill>
                        <a:srgbClr val="000000"/>
                      </a:solidFill>
                      <a:prstDash val="solid"/>
                    </a:lnL>
                    <a:lnR w="12700">
                      <a:solidFill>
                        <a:srgbClr val="000000"/>
                      </a:solidFill>
                      <a:prstDash val="solid"/>
                    </a:lnR>
                  </a:tcPr>
                </a:tc>
                <a:tc>
                  <a:txBody>
                    <a:bodyPr/>
                    <a:lstStyle/>
                    <a:p>
                      <a:pPr algn="ctr">
                        <a:lnSpc>
                          <a:spcPct val="100000"/>
                        </a:lnSpc>
                        <a:spcBef>
                          <a:spcPts val="1660"/>
                        </a:spcBef>
                      </a:pPr>
                      <a:r>
                        <a:rPr sz="2000" dirty="0">
                          <a:latin typeface="Arial" panose="020B0604020202020204"/>
                          <a:cs typeface="Arial" panose="020B0604020202020204"/>
                        </a:rPr>
                        <a:t>1</a:t>
                      </a:r>
                      <a:endParaRPr sz="2000">
                        <a:latin typeface="Arial" panose="020B0604020202020204"/>
                        <a:cs typeface="Arial" panose="020B0604020202020204"/>
                      </a:endParaRPr>
                    </a:p>
                  </a:txBody>
                  <a:tcPr marL="0" marR="0" marT="210820" marB="0">
                    <a:lnL w="12700">
                      <a:solidFill>
                        <a:srgbClr val="000000"/>
                      </a:solidFill>
                      <a:prstDash val="solid"/>
                    </a:lnL>
                    <a:lnR w="12700">
                      <a:solidFill>
                        <a:srgbClr val="000000"/>
                      </a:solidFill>
                      <a:prstDash val="solid"/>
                    </a:lnR>
                  </a:tcPr>
                </a:tc>
                <a:tc>
                  <a:txBody>
                    <a:bodyPr/>
                    <a:lstStyle/>
                    <a:p>
                      <a:pPr algn="ctr">
                        <a:lnSpc>
                          <a:spcPct val="100000"/>
                        </a:lnSpc>
                        <a:spcBef>
                          <a:spcPts val="1660"/>
                        </a:spcBef>
                      </a:pPr>
                      <a:r>
                        <a:rPr sz="2000" dirty="0">
                          <a:latin typeface="Arial" panose="020B0604020202020204"/>
                          <a:cs typeface="Arial" panose="020B0604020202020204"/>
                        </a:rPr>
                        <a:t>60</a:t>
                      </a:r>
                      <a:endParaRPr sz="2000">
                        <a:latin typeface="Arial" panose="020B0604020202020204"/>
                        <a:cs typeface="Arial" panose="020B0604020202020204"/>
                      </a:endParaRPr>
                    </a:p>
                  </a:txBody>
                  <a:tcPr marL="0" marR="0" marT="210820" marB="0">
                    <a:lnL w="12700">
                      <a:solidFill>
                        <a:srgbClr val="000000"/>
                      </a:solidFill>
                      <a:prstDash val="solid"/>
                    </a:lnL>
                    <a:lnR w="12700">
                      <a:solidFill>
                        <a:srgbClr val="000000"/>
                      </a:solidFill>
                      <a:prstDash val="solid"/>
                    </a:lnR>
                  </a:tcPr>
                </a:tc>
                <a:tc vMerge="1">
                  <a:txBody>
                    <a:bodyPr/>
                    <a:lstStyle/>
                    <a:p>
                      <a:endParaRPr lang="zh-CN"/>
                    </a:p>
                  </a:txBody>
                  <a:tcPr marL="0" marR="0" marT="0" marB="0">
                    <a:lnL w="12700">
                      <a:solidFill>
                        <a:srgbClr val="000000"/>
                      </a:solidFill>
                      <a:prstDash val="solid"/>
                    </a:lnL>
                    <a:lnT w="9525">
                      <a:solidFill>
                        <a:srgbClr val="000000"/>
                      </a:solidFill>
                      <a:prstDash val="solid"/>
                    </a:lnT>
                    <a:lnB w="28575">
                      <a:solidFill>
                        <a:srgbClr val="000000"/>
                      </a:solidFill>
                      <a:prstDash val="solid"/>
                    </a:lnB>
                  </a:tcPr>
                </a:tc>
                <a:extLst>
                  <a:ext uri="{0D108BD9-81ED-4DB2-BD59-A6C34878D82A}">
                    <a16:rowId xmlns:a16="http://schemas.microsoft.com/office/drawing/2014/main" val="10006"/>
                  </a:ext>
                </a:extLst>
              </a:tr>
              <a:tr h="502508">
                <a:tc>
                  <a:txBody>
                    <a:bodyPr/>
                    <a:lstStyle/>
                    <a:p>
                      <a:pPr marL="342900">
                        <a:lnSpc>
                          <a:spcPct val="100000"/>
                        </a:lnSpc>
                        <a:spcBef>
                          <a:spcPts val="725"/>
                        </a:spcBef>
                      </a:pPr>
                      <a:r>
                        <a:rPr sz="2000" dirty="0">
                          <a:latin typeface="Arial" panose="020B0604020202020204"/>
                          <a:cs typeface="Arial" panose="020B0604020202020204"/>
                        </a:rPr>
                        <a:t>6</a:t>
                      </a:r>
                      <a:endParaRPr sz="2000">
                        <a:latin typeface="Arial" panose="020B0604020202020204"/>
                        <a:cs typeface="Arial" panose="020B0604020202020204"/>
                      </a:endParaRPr>
                    </a:p>
                  </a:txBody>
                  <a:tcPr marL="0" marR="0" marT="92075" marB="0">
                    <a:lnR w="12700">
                      <a:solidFill>
                        <a:srgbClr val="000000"/>
                      </a:solidFill>
                      <a:prstDash val="solid"/>
                    </a:lnR>
                    <a:lnB w="28575">
                      <a:solidFill>
                        <a:srgbClr val="000000"/>
                      </a:solidFill>
                      <a:prstDash val="solid"/>
                    </a:lnB>
                  </a:tcPr>
                </a:tc>
                <a:tc>
                  <a:txBody>
                    <a:bodyPr/>
                    <a:lstStyle/>
                    <a:p>
                      <a:pPr>
                        <a:lnSpc>
                          <a:spcPct val="100000"/>
                        </a:lnSpc>
                      </a:pPr>
                      <a:endParaRPr sz="20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B w="28575">
                      <a:solidFill>
                        <a:srgbClr val="000000"/>
                      </a:solidFill>
                      <a:prstDash val="solid"/>
                    </a:lnB>
                  </a:tcPr>
                </a:tc>
                <a:tc>
                  <a:txBody>
                    <a:bodyPr/>
                    <a:lstStyle/>
                    <a:p>
                      <a:pPr algn="ctr">
                        <a:lnSpc>
                          <a:spcPct val="100000"/>
                        </a:lnSpc>
                        <a:spcBef>
                          <a:spcPts val="725"/>
                        </a:spcBef>
                      </a:pPr>
                      <a:r>
                        <a:rPr sz="2000" dirty="0">
                          <a:latin typeface="Arial" panose="020B0604020202020204"/>
                          <a:cs typeface="Arial" panose="020B0604020202020204"/>
                        </a:rPr>
                        <a:t>60</a:t>
                      </a:r>
                      <a:endParaRPr sz="2000">
                        <a:latin typeface="Arial" panose="020B0604020202020204"/>
                        <a:cs typeface="Arial" panose="020B0604020202020204"/>
                      </a:endParaRPr>
                    </a:p>
                  </a:txBody>
                  <a:tcPr marL="0" marR="0" marT="92075" marB="0">
                    <a:lnL w="12700">
                      <a:solidFill>
                        <a:srgbClr val="000000"/>
                      </a:solidFill>
                      <a:prstDash val="solid"/>
                    </a:lnL>
                    <a:lnR w="12700">
                      <a:solidFill>
                        <a:srgbClr val="000000"/>
                      </a:solidFill>
                      <a:prstDash val="solid"/>
                    </a:lnR>
                    <a:lnB w="28575">
                      <a:solidFill>
                        <a:srgbClr val="000000"/>
                      </a:solidFill>
                      <a:prstDash val="solid"/>
                    </a:lnB>
                  </a:tcPr>
                </a:tc>
                <a:tc>
                  <a:txBody>
                    <a:bodyPr/>
                    <a:lstStyle/>
                    <a:p>
                      <a:pPr algn="ctr">
                        <a:lnSpc>
                          <a:spcPct val="100000"/>
                        </a:lnSpc>
                        <a:spcBef>
                          <a:spcPts val="725"/>
                        </a:spcBef>
                      </a:pPr>
                      <a:r>
                        <a:rPr sz="2000" dirty="0">
                          <a:latin typeface="Arial" panose="020B0604020202020204"/>
                          <a:cs typeface="Arial" panose="020B0604020202020204"/>
                        </a:rPr>
                        <a:t>2</a:t>
                      </a:r>
                      <a:endParaRPr sz="2000">
                        <a:latin typeface="Arial" panose="020B0604020202020204"/>
                        <a:cs typeface="Arial" panose="020B0604020202020204"/>
                      </a:endParaRPr>
                    </a:p>
                  </a:txBody>
                  <a:tcPr marL="0" marR="0" marT="92075" marB="0">
                    <a:lnL w="12700">
                      <a:solidFill>
                        <a:srgbClr val="000000"/>
                      </a:solidFill>
                      <a:prstDash val="solid"/>
                    </a:lnL>
                    <a:lnR w="12700">
                      <a:solidFill>
                        <a:srgbClr val="000000"/>
                      </a:solidFill>
                      <a:prstDash val="solid"/>
                    </a:lnR>
                    <a:lnB w="28575">
                      <a:solidFill>
                        <a:srgbClr val="000000"/>
                      </a:solidFill>
                      <a:prstDash val="solid"/>
                    </a:lnB>
                  </a:tcPr>
                </a:tc>
                <a:tc>
                  <a:txBody>
                    <a:bodyPr/>
                    <a:lstStyle/>
                    <a:p>
                      <a:pPr algn="ctr">
                        <a:lnSpc>
                          <a:spcPct val="100000"/>
                        </a:lnSpc>
                        <a:spcBef>
                          <a:spcPts val="725"/>
                        </a:spcBef>
                      </a:pPr>
                      <a:r>
                        <a:rPr sz="2000" dirty="0">
                          <a:latin typeface="Arial" panose="020B0604020202020204"/>
                          <a:cs typeface="Arial" panose="020B0604020202020204"/>
                        </a:rPr>
                        <a:t>60</a:t>
                      </a:r>
                    </a:p>
                  </a:txBody>
                  <a:tcPr marL="0" marR="0" marT="92075" marB="0">
                    <a:lnL w="12700">
                      <a:solidFill>
                        <a:srgbClr val="000000"/>
                      </a:solidFill>
                      <a:prstDash val="solid"/>
                    </a:lnL>
                    <a:lnR w="12700">
                      <a:solidFill>
                        <a:srgbClr val="000000"/>
                      </a:solidFill>
                      <a:prstDash val="solid"/>
                    </a:lnR>
                    <a:lnB w="28575">
                      <a:solidFill>
                        <a:srgbClr val="000000"/>
                      </a:solidFill>
                      <a:prstDash val="solid"/>
                    </a:lnB>
                  </a:tcPr>
                </a:tc>
                <a:tc vMerge="1">
                  <a:txBody>
                    <a:bodyPr/>
                    <a:lstStyle/>
                    <a:p>
                      <a:endParaRPr lang="zh-CN"/>
                    </a:p>
                  </a:txBody>
                  <a:tcPr marL="0" marR="0" marT="0" marB="0">
                    <a:lnL w="12700">
                      <a:solidFill>
                        <a:srgbClr val="000000"/>
                      </a:solidFill>
                      <a:prstDash val="solid"/>
                    </a:lnL>
                    <a:lnT w="9525">
                      <a:solidFill>
                        <a:srgbClr val="000000"/>
                      </a:solidFill>
                      <a:prstDash val="solid"/>
                    </a:lnT>
                    <a:lnB w="28575">
                      <a:solidFill>
                        <a:srgbClr val="000000"/>
                      </a:solidFill>
                      <a:prstDash val="solid"/>
                    </a:lnB>
                  </a:tcPr>
                </a:tc>
                <a:extLst>
                  <a:ext uri="{0D108BD9-81ED-4DB2-BD59-A6C34878D82A}">
                    <a16:rowId xmlns:a16="http://schemas.microsoft.com/office/drawing/2014/main" val="10007"/>
                  </a:ext>
                </a:extLst>
              </a:tr>
            </a:tbl>
          </a:graphicData>
        </a:graphic>
      </p:graphicFrame>
      <p:sp>
        <p:nvSpPr>
          <p:cNvPr id="4" name="object 4"/>
          <p:cNvSpPr/>
          <p:nvPr/>
        </p:nvSpPr>
        <p:spPr>
          <a:xfrm>
            <a:off x="8026398" y="3661163"/>
            <a:ext cx="508000" cy="474345"/>
          </a:xfrm>
          <a:custGeom>
            <a:avLst/>
            <a:gdLst/>
            <a:ahLst/>
            <a:cxnLst/>
            <a:rect l="l" t="t" r="r" b="b"/>
            <a:pathLst>
              <a:path w="508000" h="474345">
                <a:moveTo>
                  <a:pt x="0" y="237066"/>
                </a:moveTo>
                <a:lnTo>
                  <a:pt x="5160" y="189289"/>
                </a:lnTo>
                <a:lnTo>
                  <a:pt x="19960" y="144789"/>
                </a:lnTo>
                <a:lnTo>
                  <a:pt x="43379" y="104520"/>
                </a:lnTo>
                <a:lnTo>
                  <a:pt x="74394" y="69435"/>
                </a:lnTo>
                <a:lnTo>
                  <a:pt x="111986" y="40487"/>
                </a:lnTo>
                <a:lnTo>
                  <a:pt x="155131" y="18629"/>
                </a:lnTo>
                <a:lnTo>
                  <a:pt x="202810" y="4816"/>
                </a:lnTo>
                <a:lnTo>
                  <a:pt x="253999" y="0"/>
                </a:lnTo>
                <a:lnTo>
                  <a:pt x="305189" y="4816"/>
                </a:lnTo>
                <a:lnTo>
                  <a:pt x="352868" y="18629"/>
                </a:lnTo>
                <a:lnTo>
                  <a:pt x="396013" y="40487"/>
                </a:lnTo>
                <a:lnTo>
                  <a:pt x="433605" y="69435"/>
                </a:lnTo>
                <a:lnTo>
                  <a:pt x="464620" y="104520"/>
                </a:lnTo>
                <a:lnTo>
                  <a:pt x="488039" y="144789"/>
                </a:lnTo>
                <a:lnTo>
                  <a:pt x="502839" y="189289"/>
                </a:lnTo>
                <a:lnTo>
                  <a:pt x="507999" y="237066"/>
                </a:lnTo>
                <a:lnTo>
                  <a:pt x="502839" y="284844"/>
                </a:lnTo>
                <a:lnTo>
                  <a:pt x="488039" y="329344"/>
                </a:lnTo>
                <a:lnTo>
                  <a:pt x="464620" y="369613"/>
                </a:lnTo>
                <a:lnTo>
                  <a:pt x="433605" y="404698"/>
                </a:lnTo>
                <a:lnTo>
                  <a:pt x="396013" y="433646"/>
                </a:lnTo>
                <a:lnTo>
                  <a:pt x="352868" y="455503"/>
                </a:lnTo>
                <a:lnTo>
                  <a:pt x="305189" y="469317"/>
                </a:lnTo>
                <a:lnTo>
                  <a:pt x="253999" y="474133"/>
                </a:lnTo>
                <a:lnTo>
                  <a:pt x="202810" y="469317"/>
                </a:lnTo>
                <a:lnTo>
                  <a:pt x="155131" y="455503"/>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5" name="object 5"/>
          <p:cNvSpPr/>
          <p:nvPr/>
        </p:nvSpPr>
        <p:spPr>
          <a:xfrm>
            <a:off x="7078133" y="5202095"/>
            <a:ext cx="508000" cy="474345"/>
          </a:xfrm>
          <a:custGeom>
            <a:avLst/>
            <a:gdLst/>
            <a:ahLst/>
            <a:cxnLst/>
            <a:rect l="l" t="t" r="r" b="b"/>
            <a:pathLst>
              <a:path w="508000" h="474345">
                <a:moveTo>
                  <a:pt x="0" y="237066"/>
                </a:moveTo>
                <a:lnTo>
                  <a:pt x="5160" y="189289"/>
                </a:lnTo>
                <a:lnTo>
                  <a:pt x="19960" y="144789"/>
                </a:lnTo>
                <a:lnTo>
                  <a:pt x="43379" y="104520"/>
                </a:lnTo>
                <a:lnTo>
                  <a:pt x="74394" y="69435"/>
                </a:lnTo>
                <a:lnTo>
                  <a:pt x="111986" y="40487"/>
                </a:lnTo>
                <a:lnTo>
                  <a:pt x="155131" y="18629"/>
                </a:lnTo>
                <a:lnTo>
                  <a:pt x="202810" y="4816"/>
                </a:lnTo>
                <a:lnTo>
                  <a:pt x="253999" y="0"/>
                </a:lnTo>
                <a:lnTo>
                  <a:pt x="305189" y="4816"/>
                </a:lnTo>
                <a:lnTo>
                  <a:pt x="352868" y="18629"/>
                </a:lnTo>
                <a:lnTo>
                  <a:pt x="396013" y="40487"/>
                </a:lnTo>
                <a:lnTo>
                  <a:pt x="433605" y="69435"/>
                </a:lnTo>
                <a:lnTo>
                  <a:pt x="464620" y="104520"/>
                </a:lnTo>
                <a:lnTo>
                  <a:pt x="488039" y="144789"/>
                </a:lnTo>
                <a:lnTo>
                  <a:pt x="502839" y="189289"/>
                </a:lnTo>
                <a:lnTo>
                  <a:pt x="507999" y="237066"/>
                </a:lnTo>
                <a:lnTo>
                  <a:pt x="502839" y="284844"/>
                </a:lnTo>
                <a:lnTo>
                  <a:pt x="488039" y="329344"/>
                </a:lnTo>
                <a:lnTo>
                  <a:pt x="464620" y="369613"/>
                </a:lnTo>
                <a:lnTo>
                  <a:pt x="433605" y="404698"/>
                </a:lnTo>
                <a:lnTo>
                  <a:pt x="396013" y="433646"/>
                </a:lnTo>
                <a:lnTo>
                  <a:pt x="352868" y="455504"/>
                </a:lnTo>
                <a:lnTo>
                  <a:pt x="305189" y="469317"/>
                </a:lnTo>
                <a:lnTo>
                  <a:pt x="253999" y="474133"/>
                </a:lnTo>
                <a:lnTo>
                  <a:pt x="202810" y="469317"/>
                </a:lnTo>
                <a:lnTo>
                  <a:pt x="155131" y="455504"/>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6" name="object 6"/>
          <p:cNvSpPr/>
          <p:nvPr/>
        </p:nvSpPr>
        <p:spPr>
          <a:xfrm>
            <a:off x="8026398" y="4711028"/>
            <a:ext cx="508000" cy="474345"/>
          </a:xfrm>
          <a:custGeom>
            <a:avLst/>
            <a:gdLst/>
            <a:ahLst/>
            <a:cxnLst/>
            <a:rect l="l" t="t" r="r" b="b"/>
            <a:pathLst>
              <a:path w="508000" h="474345">
                <a:moveTo>
                  <a:pt x="0" y="237066"/>
                </a:moveTo>
                <a:lnTo>
                  <a:pt x="5160" y="189289"/>
                </a:lnTo>
                <a:lnTo>
                  <a:pt x="19960" y="144789"/>
                </a:lnTo>
                <a:lnTo>
                  <a:pt x="43379" y="104520"/>
                </a:lnTo>
                <a:lnTo>
                  <a:pt x="74394" y="69435"/>
                </a:lnTo>
                <a:lnTo>
                  <a:pt x="111986" y="40487"/>
                </a:lnTo>
                <a:lnTo>
                  <a:pt x="155131" y="18629"/>
                </a:lnTo>
                <a:lnTo>
                  <a:pt x="202810" y="4816"/>
                </a:lnTo>
                <a:lnTo>
                  <a:pt x="253999" y="0"/>
                </a:lnTo>
                <a:lnTo>
                  <a:pt x="305189" y="4816"/>
                </a:lnTo>
                <a:lnTo>
                  <a:pt x="352868" y="18629"/>
                </a:lnTo>
                <a:lnTo>
                  <a:pt x="396013" y="40487"/>
                </a:lnTo>
                <a:lnTo>
                  <a:pt x="433605" y="69435"/>
                </a:lnTo>
                <a:lnTo>
                  <a:pt x="464620" y="104520"/>
                </a:lnTo>
                <a:lnTo>
                  <a:pt x="488039" y="144789"/>
                </a:lnTo>
                <a:lnTo>
                  <a:pt x="502839" y="189289"/>
                </a:lnTo>
                <a:lnTo>
                  <a:pt x="507999" y="237066"/>
                </a:lnTo>
                <a:lnTo>
                  <a:pt x="502839" y="284844"/>
                </a:lnTo>
                <a:lnTo>
                  <a:pt x="488039" y="329344"/>
                </a:lnTo>
                <a:lnTo>
                  <a:pt x="464620" y="369613"/>
                </a:lnTo>
                <a:lnTo>
                  <a:pt x="433605" y="404698"/>
                </a:lnTo>
                <a:lnTo>
                  <a:pt x="396013" y="433646"/>
                </a:lnTo>
                <a:lnTo>
                  <a:pt x="352868" y="455503"/>
                </a:lnTo>
                <a:lnTo>
                  <a:pt x="305189" y="469317"/>
                </a:lnTo>
                <a:lnTo>
                  <a:pt x="253999" y="474133"/>
                </a:lnTo>
                <a:lnTo>
                  <a:pt x="202810" y="469317"/>
                </a:lnTo>
                <a:lnTo>
                  <a:pt x="155131" y="455503"/>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7" name="object 7"/>
          <p:cNvSpPr/>
          <p:nvPr/>
        </p:nvSpPr>
        <p:spPr>
          <a:xfrm>
            <a:off x="8026397" y="4186094"/>
            <a:ext cx="508000" cy="474345"/>
          </a:xfrm>
          <a:custGeom>
            <a:avLst/>
            <a:gdLst/>
            <a:ahLst/>
            <a:cxnLst/>
            <a:rect l="l" t="t" r="r" b="b"/>
            <a:pathLst>
              <a:path w="508000" h="474345">
                <a:moveTo>
                  <a:pt x="0" y="237066"/>
                </a:moveTo>
                <a:lnTo>
                  <a:pt x="5160" y="189289"/>
                </a:lnTo>
                <a:lnTo>
                  <a:pt x="19960" y="144789"/>
                </a:lnTo>
                <a:lnTo>
                  <a:pt x="43379" y="104520"/>
                </a:lnTo>
                <a:lnTo>
                  <a:pt x="74394" y="69435"/>
                </a:lnTo>
                <a:lnTo>
                  <a:pt x="111986" y="40487"/>
                </a:lnTo>
                <a:lnTo>
                  <a:pt x="155131" y="18629"/>
                </a:lnTo>
                <a:lnTo>
                  <a:pt x="202810" y="4816"/>
                </a:lnTo>
                <a:lnTo>
                  <a:pt x="254000" y="0"/>
                </a:lnTo>
                <a:lnTo>
                  <a:pt x="305189" y="4816"/>
                </a:lnTo>
                <a:lnTo>
                  <a:pt x="352868" y="18629"/>
                </a:lnTo>
                <a:lnTo>
                  <a:pt x="396013" y="40487"/>
                </a:lnTo>
                <a:lnTo>
                  <a:pt x="433605" y="69435"/>
                </a:lnTo>
                <a:lnTo>
                  <a:pt x="464620" y="104520"/>
                </a:lnTo>
                <a:lnTo>
                  <a:pt x="488039" y="144789"/>
                </a:lnTo>
                <a:lnTo>
                  <a:pt x="502839" y="189289"/>
                </a:lnTo>
                <a:lnTo>
                  <a:pt x="507999" y="237066"/>
                </a:lnTo>
                <a:lnTo>
                  <a:pt x="502839" y="284844"/>
                </a:lnTo>
                <a:lnTo>
                  <a:pt x="488039" y="329344"/>
                </a:lnTo>
                <a:lnTo>
                  <a:pt x="464620" y="369613"/>
                </a:lnTo>
                <a:lnTo>
                  <a:pt x="433605" y="404698"/>
                </a:lnTo>
                <a:lnTo>
                  <a:pt x="396013" y="433646"/>
                </a:lnTo>
                <a:lnTo>
                  <a:pt x="352868" y="455503"/>
                </a:lnTo>
                <a:lnTo>
                  <a:pt x="305189" y="469317"/>
                </a:lnTo>
                <a:lnTo>
                  <a:pt x="254000" y="474133"/>
                </a:lnTo>
                <a:lnTo>
                  <a:pt x="202810" y="469317"/>
                </a:lnTo>
                <a:lnTo>
                  <a:pt x="155131" y="455503"/>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8" name="object 8"/>
          <p:cNvSpPr/>
          <p:nvPr/>
        </p:nvSpPr>
        <p:spPr>
          <a:xfrm>
            <a:off x="7078133" y="5710095"/>
            <a:ext cx="508000" cy="474345"/>
          </a:xfrm>
          <a:custGeom>
            <a:avLst/>
            <a:gdLst/>
            <a:ahLst/>
            <a:cxnLst/>
            <a:rect l="l" t="t" r="r" b="b"/>
            <a:pathLst>
              <a:path w="508000" h="474345">
                <a:moveTo>
                  <a:pt x="0" y="237066"/>
                </a:moveTo>
                <a:lnTo>
                  <a:pt x="5160" y="189289"/>
                </a:lnTo>
                <a:lnTo>
                  <a:pt x="19960" y="144789"/>
                </a:lnTo>
                <a:lnTo>
                  <a:pt x="43379" y="104520"/>
                </a:lnTo>
                <a:lnTo>
                  <a:pt x="74394" y="69435"/>
                </a:lnTo>
                <a:lnTo>
                  <a:pt x="111986" y="40487"/>
                </a:lnTo>
                <a:lnTo>
                  <a:pt x="155131" y="18629"/>
                </a:lnTo>
                <a:lnTo>
                  <a:pt x="202810" y="4816"/>
                </a:lnTo>
                <a:lnTo>
                  <a:pt x="253999" y="0"/>
                </a:lnTo>
                <a:lnTo>
                  <a:pt x="305189" y="4816"/>
                </a:lnTo>
                <a:lnTo>
                  <a:pt x="352868" y="18629"/>
                </a:lnTo>
                <a:lnTo>
                  <a:pt x="396013" y="40487"/>
                </a:lnTo>
                <a:lnTo>
                  <a:pt x="433605" y="69435"/>
                </a:lnTo>
                <a:lnTo>
                  <a:pt x="464620" y="104520"/>
                </a:lnTo>
                <a:lnTo>
                  <a:pt x="488039" y="144789"/>
                </a:lnTo>
                <a:lnTo>
                  <a:pt x="502839" y="189289"/>
                </a:lnTo>
                <a:lnTo>
                  <a:pt x="507999" y="237066"/>
                </a:lnTo>
                <a:lnTo>
                  <a:pt x="502839" y="284844"/>
                </a:lnTo>
                <a:lnTo>
                  <a:pt x="488039" y="329344"/>
                </a:lnTo>
                <a:lnTo>
                  <a:pt x="464620" y="369613"/>
                </a:lnTo>
                <a:lnTo>
                  <a:pt x="433605" y="404698"/>
                </a:lnTo>
                <a:lnTo>
                  <a:pt x="396013" y="433646"/>
                </a:lnTo>
                <a:lnTo>
                  <a:pt x="352868" y="455504"/>
                </a:lnTo>
                <a:lnTo>
                  <a:pt x="305189" y="469317"/>
                </a:lnTo>
                <a:lnTo>
                  <a:pt x="253999" y="474133"/>
                </a:lnTo>
                <a:lnTo>
                  <a:pt x="202810" y="469317"/>
                </a:lnTo>
                <a:lnTo>
                  <a:pt x="155131" y="455504"/>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9" name="灯片编号占位符 8"/>
          <p:cNvSpPr>
            <a:spLocks noGrp="1"/>
          </p:cNvSpPr>
          <p:nvPr>
            <p:ph type="sldNum" sz="quarter" idx="12"/>
          </p:nvPr>
        </p:nvSpPr>
        <p:spPr/>
        <p:txBody>
          <a:bodyPr/>
          <a:lstStyle/>
          <a:p>
            <a:fld id="{74D2AB8B-5816-41F2-8B4B-CA5C3E4E6A65}" type="slidenum">
              <a:rPr lang="zh-CN" altLang="en-US" smtClean="0"/>
              <a:t>13</a:t>
            </a:fld>
            <a:endParaRPr lang="zh-CN" altLang="en-US"/>
          </a:p>
        </p:txBody>
      </p:sp>
      <p:sp>
        <p:nvSpPr>
          <p:cNvPr id="11" name="标题 10"/>
          <p:cNvSpPr>
            <a:spLocks noGrp="1"/>
          </p:cNvSpPr>
          <p:nvPr>
            <p:ph type="title"/>
          </p:nvPr>
        </p:nvSpPr>
        <p:spPr/>
        <p:txBody>
          <a:bodyPr/>
          <a:lstStyle/>
          <a:p>
            <a:r>
              <a:rPr lang="zh-CN" altLang="en-US" dirty="0"/>
              <a:t>举例：判断三角形类型</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extLst>
              <p:ext uri="{D42A27DB-BD31-4B8C-83A1-F6EECF244321}">
                <p14:modId xmlns:p14="http://schemas.microsoft.com/office/powerpoint/2010/main" val="143849853"/>
              </p:ext>
            </p:extLst>
          </p:nvPr>
        </p:nvGraphicFramePr>
        <p:xfrm>
          <a:off x="1239993" y="1683040"/>
          <a:ext cx="9768837" cy="4535997"/>
        </p:xfrm>
        <a:graphic>
          <a:graphicData uri="http://schemas.openxmlformats.org/drawingml/2006/table">
            <a:tbl>
              <a:tblPr firstRow="1" bandRow="1">
                <a:tableStyleId>{2D5ABB26-0587-4C30-8999-92F81FD0307C}</a:tableStyleId>
              </a:tblPr>
              <a:tblGrid>
                <a:gridCol w="831215">
                  <a:extLst>
                    <a:ext uri="{9D8B030D-6E8A-4147-A177-3AD203B41FA5}">
                      <a16:colId xmlns:a16="http://schemas.microsoft.com/office/drawing/2014/main" val="20000"/>
                    </a:ext>
                  </a:extLst>
                </a:gridCol>
                <a:gridCol w="3897629">
                  <a:extLst>
                    <a:ext uri="{9D8B030D-6E8A-4147-A177-3AD203B41FA5}">
                      <a16:colId xmlns:a16="http://schemas.microsoft.com/office/drawing/2014/main" val="20001"/>
                    </a:ext>
                  </a:extLst>
                </a:gridCol>
                <a:gridCol w="910589">
                  <a:extLst>
                    <a:ext uri="{9D8B030D-6E8A-4147-A177-3AD203B41FA5}">
                      <a16:colId xmlns:a16="http://schemas.microsoft.com/office/drawing/2014/main" val="20002"/>
                    </a:ext>
                  </a:extLst>
                </a:gridCol>
                <a:gridCol w="930275">
                  <a:extLst>
                    <a:ext uri="{9D8B030D-6E8A-4147-A177-3AD203B41FA5}">
                      <a16:colId xmlns:a16="http://schemas.microsoft.com/office/drawing/2014/main" val="20003"/>
                    </a:ext>
                  </a:extLst>
                </a:gridCol>
                <a:gridCol w="989329">
                  <a:extLst>
                    <a:ext uri="{9D8B030D-6E8A-4147-A177-3AD203B41FA5}">
                      <a16:colId xmlns:a16="http://schemas.microsoft.com/office/drawing/2014/main" val="20004"/>
                    </a:ext>
                  </a:extLst>
                </a:gridCol>
                <a:gridCol w="2209800">
                  <a:extLst>
                    <a:ext uri="{9D8B030D-6E8A-4147-A177-3AD203B41FA5}">
                      <a16:colId xmlns:a16="http://schemas.microsoft.com/office/drawing/2014/main" val="20005"/>
                    </a:ext>
                  </a:extLst>
                </a:gridCol>
              </a:tblGrid>
              <a:tr h="439887">
                <a:tc rowSpan="2">
                  <a:txBody>
                    <a:bodyPr/>
                    <a:lstStyle/>
                    <a:p>
                      <a:pPr marL="161290">
                        <a:lnSpc>
                          <a:spcPct val="100000"/>
                        </a:lnSpc>
                        <a:spcBef>
                          <a:spcPts val="2260"/>
                        </a:spcBef>
                      </a:pPr>
                      <a:r>
                        <a:rPr sz="2000" dirty="0">
                          <a:solidFill>
                            <a:srgbClr val="0033CC"/>
                          </a:solidFill>
                          <a:latin typeface="微软雅黑" panose="020B0503020204020204" pitchFamily="34" charset="-122"/>
                          <a:cs typeface="微软雅黑" panose="020B0503020204020204" pitchFamily="34" charset="-122"/>
                        </a:rPr>
                        <a:t>序号</a:t>
                      </a:r>
                      <a:endParaRPr sz="2000">
                        <a:latin typeface="微软雅黑" panose="020B0503020204020204" pitchFamily="34" charset="-122"/>
                        <a:cs typeface="微软雅黑" panose="020B0503020204020204" pitchFamily="34" charset="-122"/>
                      </a:endParaRPr>
                    </a:p>
                  </a:txBody>
                  <a:tcPr marL="0" marR="0" marT="287020" marB="0">
                    <a:lnR w="12700">
                      <a:solidFill>
                        <a:srgbClr val="000000"/>
                      </a:solidFill>
                      <a:prstDash val="solid"/>
                    </a:lnR>
                    <a:lnT w="28575">
                      <a:solidFill>
                        <a:srgbClr val="000000"/>
                      </a:solidFill>
                      <a:prstDash val="solid"/>
                    </a:lnT>
                    <a:lnB w="28575">
                      <a:solidFill>
                        <a:srgbClr val="000000"/>
                      </a:solidFill>
                      <a:prstDash val="solid"/>
                    </a:lnB>
                  </a:tcPr>
                </a:tc>
                <a:tc rowSpan="2">
                  <a:txBody>
                    <a:bodyPr/>
                    <a:lstStyle/>
                    <a:p>
                      <a:pPr marL="1186180">
                        <a:lnSpc>
                          <a:spcPct val="100000"/>
                        </a:lnSpc>
                        <a:spcBef>
                          <a:spcPts val="2260"/>
                        </a:spcBef>
                      </a:pPr>
                      <a:r>
                        <a:rPr sz="2000" dirty="0">
                          <a:solidFill>
                            <a:srgbClr val="0033CC"/>
                          </a:solidFill>
                          <a:latin typeface="微软雅黑" panose="020B0503020204020204" pitchFamily="34" charset="-122"/>
                          <a:cs typeface="微软雅黑" panose="020B0503020204020204" pitchFamily="34" charset="-122"/>
                        </a:rPr>
                        <a:t>测试用例描述</a:t>
                      </a:r>
                      <a:endParaRPr sz="2000">
                        <a:latin typeface="微软雅黑" panose="020B0503020204020204" pitchFamily="34" charset="-122"/>
                        <a:cs typeface="微软雅黑" panose="020B0503020204020204" pitchFamily="34" charset="-122"/>
                      </a:endParaRPr>
                    </a:p>
                  </a:txBody>
                  <a:tcPr marL="0" marR="0" marT="28702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gridSpan="3">
                  <a:txBody>
                    <a:bodyPr/>
                    <a:lstStyle/>
                    <a:p>
                      <a:pPr marL="906145">
                        <a:lnSpc>
                          <a:spcPct val="100000"/>
                        </a:lnSpc>
                        <a:spcBef>
                          <a:spcPts val="530"/>
                        </a:spcBef>
                      </a:pPr>
                      <a:r>
                        <a:rPr sz="2000" dirty="0">
                          <a:solidFill>
                            <a:srgbClr val="0033CC"/>
                          </a:solidFill>
                          <a:latin typeface="微软雅黑" panose="020B0503020204020204" pitchFamily="34" charset="-122"/>
                          <a:cs typeface="微软雅黑" panose="020B0503020204020204" pitchFamily="34" charset="-122"/>
                        </a:rPr>
                        <a:t>输入参数</a:t>
                      </a:r>
                      <a:endParaRPr sz="2000">
                        <a:latin typeface="微软雅黑" panose="020B0503020204020204" pitchFamily="34" charset="-122"/>
                        <a:cs typeface="微软雅黑" panose="020B0503020204020204" pitchFamily="34" charset="-122"/>
                      </a:endParaRPr>
                    </a:p>
                  </a:txBody>
                  <a:tcPr marL="0" marR="0" marT="67310"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hMerge="1">
                  <a:txBody>
                    <a:bodyPr/>
                    <a:lstStyle/>
                    <a:p>
                      <a:endParaRPr lang="zh-CN"/>
                    </a:p>
                  </a:txBody>
                  <a:tcPr marL="0" marR="0" marT="0" marB="0"/>
                </a:tc>
                <a:tc hMerge="1">
                  <a:txBody>
                    <a:bodyPr/>
                    <a:lstStyle/>
                    <a:p>
                      <a:endParaRPr lang="zh-CN"/>
                    </a:p>
                  </a:txBody>
                  <a:tcPr marL="0" marR="0" marT="0" marB="0"/>
                </a:tc>
                <a:tc rowSpan="2">
                  <a:txBody>
                    <a:bodyPr/>
                    <a:lstStyle/>
                    <a:p>
                      <a:pPr marL="596900">
                        <a:lnSpc>
                          <a:spcPct val="100000"/>
                        </a:lnSpc>
                        <a:spcBef>
                          <a:spcPts val="2260"/>
                        </a:spcBef>
                      </a:pPr>
                      <a:r>
                        <a:rPr sz="2000" dirty="0">
                          <a:solidFill>
                            <a:srgbClr val="0033CC"/>
                          </a:solidFill>
                          <a:latin typeface="微软雅黑" panose="020B0503020204020204" pitchFamily="34" charset="-122"/>
                          <a:cs typeface="微软雅黑" panose="020B0503020204020204" pitchFamily="34" charset="-122"/>
                        </a:rPr>
                        <a:t>期望输出</a:t>
                      </a:r>
                      <a:endParaRPr sz="2000">
                        <a:latin typeface="微软雅黑" panose="020B0503020204020204" pitchFamily="34" charset="-122"/>
                        <a:cs typeface="微软雅黑" panose="020B0503020204020204" pitchFamily="34" charset="-122"/>
                      </a:endParaRPr>
                    </a:p>
                  </a:txBody>
                  <a:tcPr marL="0" marR="0" marT="287020" marB="0">
                    <a:lnL w="12700">
                      <a:solidFill>
                        <a:srgbClr val="000000"/>
                      </a:solidFill>
                      <a:prstDash val="solid"/>
                    </a:lnL>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r h="439887">
                <a:tc vMerge="1">
                  <a:txBody>
                    <a:bodyPr/>
                    <a:lstStyle/>
                    <a:p>
                      <a:endParaRPr lang="zh-CN"/>
                    </a:p>
                  </a:txBody>
                  <a:tcPr marL="0" marR="0" marT="287020" marB="0">
                    <a:lnR w="12700">
                      <a:solidFill>
                        <a:srgbClr val="000000"/>
                      </a:solidFill>
                      <a:prstDash val="solid"/>
                    </a:lnR>
                    <a:lnT w="28575">
                      <a:solidFill>
                        <a:srgbClr val="000000"/>
                      </a:solidFill>
                      <a:prstDash val="solid"/>
                    </a:lnT>
                    <a:lnB w="28575">
                      <a:solidFill>
                        <a:srgbClr val="000000"/>
                      </a:solidFill>
                      <a:prstDash val="solid"/>
                    </a:lnB>
                  </a:tcPr>
                </a:tc>
                <a:tc vMerge="1">
                  <a:txBody>
                    <a:bodyPr/>
                    <a:lstStyle/>
                    <a:p>
                      <a:endParaRPr lang="zh-CN"/>
                    </a:p>
                  </a:txBody>
                  <a:tcPr marL="0" marR="0" marT="28702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algn="ctr">
                        <a:lnSpc>
                          <a:spcPct val="100000"/>
                        </a:lnSpc>
                        <a:spcBef>
                          <a:spcPts val="530"/>
                        </a:spcBef>
                      </a:pPr>
                      <a:r>
                        <a:rPr sz="2000" dirty="0">
                          <a:solidFill>
                            <a:srgbClr val="0033CC"/>
                          </a:solidFill>
                          <a:latin typeface="Arial" panose="020B0604020202020204"/>
                          <a:cs typeface="Arial" panose="020B0604020202020204"/>
                        </a:rPr>
                        <a:t>a</a:t>
                      </a:r>
                      <a:endParaRPr sz="2000">
                        <a:latin typeface="Arial" panose="020B0604020202020204"/>
                        <a:cs typeface="Arial" panose="020B0604020202020204"/>
                      </a:endParaRPr>
                    </a:p>
                  </a:txBody>
                  <a:tcPr marL="0" marR="0" marT="6731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gn="ctr">
                        <a:lnSpc>
                          <a:spcPct val="100000"/>
                        </a:lnSpc>
                        <a:spcBef>
                          <a:spcPts val="530"/>
                        </a:spcBef>
                      </a:pPr>
                      <a:r>
                        <a:rPr sz="2000" dirty="0">
                          <a:solidFill>
                            <a:srgbClr val="0033CC"/>
                          </a:solidFill>
                          <a:latin typeface="Arial" panose="020B0604020202020204"/>
                          <a:cs typeface="Arial" panose="020B0604020202020204"/>
                        </a:rPr>
                        <a:t>b</a:t>
                      </a:r>
                      <a:endParaRPr sz="2000">
                        <a:latin typeface="Arial" panose="020B0604020202020204"/>
                        <a:cs typeface="Arial" panose="020B0604020202020204"/>
                      </a:endParaRPr>
                    </a:p>
                  </a:txBody>
                  <a:tcPr marL="0" marR="0" marT="6731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gn="ctr">
                        <a:lnSpc>
                          <a:spcPct val="100000"/>
                        </a:lnSpc>
                        <a:spcBef>
                          <a:spcPts val="530"/>
                        </a:spcBef>
                      </a:pPr>
                      <a:r>
                        <a:rPr sz="2000" dirty="0">
                          <a:solidFill>
                            <a:srgbClr val="0033CC"/>
                          </a:solidFill>
                          <a:latin typeface="Arial" panose="020B0604020202020204"/>
                          <a:cs typeface="Arial" panose="020B0604020202020204"/>
                        </a:rPr>
                        <a:t>c</a:t>
                      </a:r>
                      <a:endParaRPr sz="2000">
                        <a:latin typeface="Arial" panose="020B0604020202020204"/>
                        <a:cs typeface="Arial" panose="020B0604020202020204"/>
                      </a:endParaRPr>
                    </a:p>
                  </a:txBody>
                  <a:tcPr marL="0" marR="0" marT="6731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vMerge="1">
                  <a:txBody>
                    <a:bodyPr/>
                    <a:lstStyle/>
                    <a:p>
                      <a:endParaRPr lang="zh-CN"/>
                    </a:p>
                  </a:txBody>
                  <a:tcPr marL="0" marR="0" marT="287020" marB="0">
                    <a:lnL w="12700">
                      <a:solidFill>
                        <a:srgbClr val="000000"/>
                      </a:solidFill>
                      <a:prstDash val="solid"/>
                    </a:lnL>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1"/>
                  </a:ext>
                </a:extLst>
              </a:tr>
              <a:tr h="494632">
                <a:tc>
                  <a:txBody>
                    <a:bodyPr/>
                    <a:lstStyle/>
                    <a:p>
                      <a:pPr algn="ctr">
                        <a:lnSpc>
                          <a:spcPct val="100000"/>
                        </a:lnSpc>
                        <a:spcBef>
                          <a:spcPts val="855"/>
                        </a:spcBef>
                      </a:pPr>
                      <a:r>
                        <a:rPr sz="2000" dirty="0">
                          <a:latin typeface="Arial" panose="020B0604020202020204"/>
                          <a:cs typeface="Arial" panose="020B0604020202020204"/>
                        </a:rPr>
                        <a:t>7</a:t>
                      </a:r>
                      <a:endParaRPr sz="2000">
                        <a:latin typeface="Arial" panose="020B0604020202020204"/>
                        <a:cs typeface="Arial" panose="020B0604020202020204"/>
                      </a:endParaRPr>
                    </a:p>
                  </a:txBody>
                  <a:tcPr marL="0" marR="0" marT="108585" marB="0">
                    <a:lnR w="9525">
                      <a:solidFill>
                        <a:srgbClr val="000000"/>
                      </a:solidFill>
                      <a:prstDash val="solid"/>
                    </a:lnR>
                    <a:lnT w="28575">
                      <a:solidFill>
                        <a:srgbClr val="000000"/>
                      </a:solidFill>
                      <a:prstDash val="solid"/>
                    </a:lnT>
                  </a:tcPr>
                </a:tc>
                <a:tc>
                  <a:txBody>
                    <a:bodyPr/>
                    <a:lstStyle/>
                    <a:p>
                      <a:pPr>
                        <a:lnSpc>
                          <a:spcPct val="100000"/>
                        </a:lnSpc>
                      </a:pPr>
                      <a:endParaRPr sz="2000">
                        <a:latin typeface="Times New Roman" panose="02020603050405020304"/>
                        <a:cs typeface="Times New Roman" panose="02020603050405020304"/>
                      </a:endParaRPr>
                    </a:p>
                  </a:txBody>
                  <a:tcPr marL="0" marR="0" marT="0" marB="0">
                    <a:lnL w="9525">
                      <a:solidFill>
                        <a:srgbClr val="000000"/>
                      </a:solidFill>
                      <a:prstDash val="solid"/>
                    </a:lnL>
                    <a:lnR w="9525">
                      <a:solidFill>
                        <a:srgbClr val="000000"/>
                      </a:solidFill>
                      <a:prstDash val="solid"/>
                    </a:lnR>
                    <a:lnT w="28575">
                      <a:solidFill>
                        <a:srgbClr val="000000"/>
                      </a:solidFill>
                      <a:prstDash val="solid"/>
                    </a:lnT>
                  </a:tcPr>
                </a:tc>
                <a:tc>
                  <a:txBody>
                    <a:bodyPr/>
                    <a:lstStyle/>
                    <a:p>
                      <a:pPr algn="ctr">
                        <a:lnSpc>
                          <a:spcPct val="100000"/>
                        </a:lnSpc>
                        <a:spcBef>
                          <a:spcPts val="855"/>
                        </a:spcBef>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108585" marB="0">
                    <a:lnL w="9525">
                      <a:solidFill>
                        <a:srgbClr val="000000"/>
                      </a:solidFill>
                      <a:prstDash val="solid"/>
                    </a:lnL>
                    <a:lnR w="9525">
                      <a:solidFill>
                        <a:srgbClr val="000000"/>
                      </a:solidFill>
                      <a:prstDash val="solid"/>
                    </a:lnR>
                    <a:lnT w="28575">
                      <a:solidFill>
                        <a:srgbClr val="000000"/>
                      </a:solidFill>
                      <a:prstDash val="solid"/>
                    </a:lnT>
                  </a:tcPr>
                </a:tc>
                <a:tc>
                  <a:txBody>
                    <a:bodyPr/>
                    <a:lstStyle/>
                    <a:p>
                      <a:pPr algn="ctr">
                        <a:lnSpc>
                          <a:spcPct val="100000"/>
                        </a:lnSpc>
                        <a:spcBef>
                          <a:spcPts val="855"/>
                        </a:spcBef>
                      </a:pPr>
                      <a:r>
                        <a:rPr lang="en-US" altLang="zh-CN" sz="2000" dirty="0">
                          <a:latin typeface="Arial" panose="020B0604020202020204"/>
                          <a:cs typeface="Arial" panose="020B0604020202020204"/>
                        </a:rPr>
                        <a:t>11</a:t>
                      </a:r>
                      <a:r>
                        <a:rPr sz="2000" dirty="0">
                          <a:latin typeface="Arial" panose="020B0604020202020204"/>
                          <a:cs typeface="Arial" panose="020B0604020202020204"/>
                        </a:rPr>
                        <a:t>9</a:t>
                      </a:r>
                    </a:p>
                  </a:txBody>
                  <a:tcPr marL="0" marR="0" marT="108585" marB="0">
                    <a:lnL w="9525">
                      <a:solidFill>
                        <a:srgbClr val="000000"/>
                      </a:solidFill>
                      <a:prstDash val="solid"/>
                    </a:lnL>
                    <a:lnR w="9525">
                      <a:solidFill>
                        <a:srgbClr val="000000"/>
                      </a:solidFill>
                      <a:prstDash val="solid"/>
                    </a:lnR>
                    <a:lnT w="28575">
                      <a:solidFill>
                        <a:srgbClr val="000000"/>
                      </a:solidFill>
                      <a:prstDash val="solid"/>
                    </a:lnT>
                  </a:tcPr>
                </a:tc>
                <a:tc>
                  <a:txBody>
                    <a:bodyPr/>
                    <a:lstStyle/>
                    <a:p>
                      <a:pPr algn="ctr">
                        <a:lnSpc>
                          <a:spcPct val="100000"/>
                        </a:lnSpc>
                        <a:spcBef>
                          <a:spcPts val="855"/>
                        </a:spcBef>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108585" marB="0">
                    <a:lnL w="9525">
                      <a:solidFill>
                        <a:srgbClr val="000000"/>
                      </a:solidFill>
                      <a:prstDash val="solid"/>
                    </a:lnL>
                    <a:lnR w="9525">
                      <a:solidFill>
                        <a:srgbClr val="000000"/>
                      </a:solidFill>
                      <a:prstDash val="solid"/>
                    </a:lnR>
                    <a:lnT w="28575">
                      <a:solidFill>
                        <a:srgbClr val="000000"/>
                      </a:solidFill>
                      <a:prstDash val="solid"/>
                    </a:lnT>
                  </a:tcPr>
                </a:tc>
                <a:tc>
                  <a:txBody>
                    <a:bodyPr/>
                    <a:lstStyle/>
                    <a:p>
                      <a:pPr>
                        <a:lnSpc>
                          <a:spcPct val="100000"/>
                        </a:lnSpc>
                      </a:pPr>
                      <a:endParaRPr sz="2000">
                        <a:latin typeface="Times New Roman" panose="02020603050405020304"/>
                        <a:cs typeface="Times New Roman" panose="02020603050405020304"/>
                      </a:endParaRPr>
                    </a:p>
                  </a:txBody>
                  <a:tcPr marL="0" marR="0" marT="0" marB="0">
                    <a:lnL w="9525">
                      <a:solidFill>
                        <a:srgbClr val="000000"/>
                      </a:solidFill>
                      <a:prstDash val="solid"/>
                    </a:lnL>
                    <a:lnT w="28575">
                      <a:solidFill>
                        <a:srgbClr val="000000"/>
                      </a:solidFill>
                      <a:prstDash val="solid"/>
                    </a:lnT>
                  </a:tcPr>
                </a:tc>
                <a:extLst>
                  <a:ext uri="{0D108BD9-81ED-4DB2-BD59-A6C34878D82A}">
                    <a16:rowId xmlns:a16="http://schemas.microsoft.com/office/drawing/2014/main" val="10002"/>
                  </a:ext>
                </a:extLst>
              </a:tr>
              <a:tr h="1114011">
                <a:tc>
                  <a:txBody>
                    <a:bodyPr/>
                    <a:lstStyle/>
                    <a:p>
                      <a:pPr algn="ctr">
                        <a:lnSpc>
                          <a:spcPct val="100000"/>
                        </a:lnSpc>
                        <a:spcBef>
                          <a:spcPts val="1075"/>
                        </a:spcBef>
                      </a:pPr>
                      <a:r>
                        <a:rPr sz="2000" dirty="0">
                          <a:latin typeface="Arial" panose="020B0604020202020204"/>
                          <a:cs typeface="Arial" panose="020B0604020202020204"/>
                        </a:rPr>
                        <a:t>8</a:t>
                      </a:r>
                      <a:endParaRPr sz="2000">
                        <a:latin typeface="Arial" panose="020B0604020202020204"/>
                        <a:cs typeface="Arial" panose="020B0604020202020204"/>
                      </a:endParaRPr>
                    </a:p>
                    <a:p>
                      <a:pPr algn="ctr">
                        <a:lnSpc>
                          <a:spcPct val="100000"/>
                        </a:lnSpc>
                        <a:spcBef>
                          <a:spcPts val="1710"/>
                        </a:spcBef>
                      </a:pPr>
                      <a:r>
                        <a:rPr sz="2000" dirty="0">
                          <a:latin typeface="Arial" panose="020B0604020202020204"/>
                          <a:cs typeface="Arial" panose="020B0604020202020204"/>
                        </a:rPr>
                        <a:t>9</a:t>
                      </a:r>
                      <a:endParaRPr sz="2000">
                        <a:latin typeface="Arial" panose="020B0604020202020204"/>
                        <a:cs typeface="Arial" panose="020B0604020202020204"/>
                      </a:endParaRPr>
                    </a:p>
                  </a:txBody>
                  <a:tcPr marL="0" marR="0" marT="136525" marB="0">
                    <a:lnR w="9525">
                      <a:solidFill>
                        <a:srgbClr val="000000"/>
                      </a:solidFill>
                      <a:prstDash val="solid"/>
                    </a:lnR>
                  </a:tcPr>
                </a:tc>
                <a:tc>
                  <a:txBody>
                    <a:bodyPr/>
                    <a:lstStyle/>
                    <a:p>
                      <a:pPr marL="502920" marR="495300" algn="ctr">
                        <a:lnSpc>
                          <a:spcPct val="100000"/>
                        </a:lnSpc>
                        <a:spcBef>
                          <a:spcPts val="730"/>
                        </a:spcBef>
                      </a:pPr>
                      <a:r>
                        <a:rPr sz="2000" spc="-5" dirty="0">
                          <a:latin typeface="Arial" panose="020B0604020202020204"/>
                          <a:cs typeface="Arial" panose="020B0604020202020204"/>
                        </a:rPr>
                        <a:t>a&gt;0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c&gt;0  a+b&gt;c</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b+c&gt;a</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a+c&gt;b  a=b≠c </a:t>
                      </a:r>
                      <a:r>
                        <a:rPr sz="2000" dirty="0">
                          <a:latin typeface="微软雅黑" panose="020B0503020204020204" pitchFamily="34" charset="-122"/>
                          <a:cs typeface="微软雅黑" panose="020B0503020204020204" pitchFamily="34" charset="-122"/>
                        </a:rPr>
                        <a:t>或 </a:t>
                      </a:r>
                      <a:r>
                        <a:rPr sz="2000" spc="-5" dirty="0">
                          <a:latin typeface="Arial" panose="020B0604020202020204"/>
                          <a:cs typeface="Arial" panose="020B0604020202020204"/>
                        </a:rPr>
                        <a:t>b=c≠a </a:t>
                      </a:r>
                      <a:r>
                        <a:rPr sz="2000" dirty="0">
                          <a:latin typeface="微软雅黑" panose="020B0503020204020204" pitchFamily="34" charset="-122"/>
                          <a:cs typeface="微软雅黑" panose="020B0503020204020204" pitchFamily="34" charset="-122"/>
                        </a:rPr>
                        <a:t>或</a:t>
                      </a:r>
                      <a:r>
                        <a:rPr sz="2000" spc="-45" dirty="0">
                          <a:latin typeface="微软雅黑" panose="020B0503020204020204" pitchFamily="34" charset="-122"/>
                          <a:cs typeface="微软雅黑" panose="020B0503020204020204" pitchFamily="34" charset="-122"/>
                        </a:rPr>
                        <a:t> </a:t>
                      </a:r>
                      <a:r>
                        <a:rPr sz="2000" spc="-5" dirty="0">
                          <a:latin typeface="Arial" panose="020B0604020202020204"/>
                          <a:cs typeface="Arial" panose="020B0604020202020204"/>
                        </a:rPr>
                        <a:t>a=c≠b</a:t>
                      </a:r>
                      <a:endParaRPr sz="2000">
                        <a:latin typeface="Arial" panose="020B0604020202020204"/>
                        <a:cs typeface="Arial" panose="020B0604020202020204"/>
                      </a:endParaRPr>
                    </a:p>
                  </a:txBody>
                  <a:tcPr marL="0" marR="0" marT="92710" marB="0">
                    <a:lnL w="9525">
                      <a:solidFill>
                        <a:srgbClr val="000000"/>
                      </a:solidFill>
                      <a:prstDash val="solid"/>
                    </a:lnL>
                    <a:lnR w="9525">
                      <a:solidFill>
                        <a:srgbClr val="000000"/>
                      </a:solidFill>
                      <a:prstDash val="solid"/>
                    </a:lnR>
                  </a:tcPr>
                </a:tc>
                <a:tc>
                  <a:txBody>
                    <a:bodyPr/>
                    <a:lstStyle/>
                    <a:p>
                      <a:pPr algn="ctr">
                        <a:lnSpc>
                          <a:spcPct val="100000"/>
                        </a:lnSpc>
                        <a:spcBef>
                          <a:spcPts val="1075"/>
                        </a:spcBef>
                      </a:pPr>
                      <a:r>
                        <a:rPr sz="2000" dirty="0">
                          <a:latin typeface="Arial" panose="020B0604020202020204"/>
                          <a:cs typeface="Arial" panose="020B0604020202020204"/>
                        </a:rPr>
                        <a:t>1</a:t>
                      </a:r>
                      <a:endParaRPr sz="2000">
                        <a:latin typeface="Arial" panose="020B0604020202020204"/>
                        <a:cs typeface="Arial" panose="020B0604020202020204"/>
                      </a:endParaRPr>
                    </a:p>
                    <a:p>
                      <a:pPr algn="ctr">
                        <a:lnSpc>
                          <a:spcPct val="100000"/>
                        </a:lnSpc>
                        <a:spcBef>
                          <a:spcPts val="1710"/>
                        </a:spcBef>
                      </a:pPr>
                      <a:r>
                        <a:rPr sz="2000" dirty="0">
                          <a:latin typeface="Arial" panose="020B0604020202020204"/>
                          <a:cs typeface="Arial" panose="020B0604020202020204"/>
                        </a:rPr>
                        <a:t>2</a:t>
                      </a:r>
                      <a:endParaRPr sz="2000">
                        <a:latin typeface="Arial" panose="020B0604020202020204"/>
                        <a:cs typeface="Arial" panose="020B0604020202020204"/>
                      </a:endParaRPr>
                    </a:p>
                  </a:txBody>
                  <a:tcPr marL="0" marR="0" marT="136525" marB="0">
                    <a:lnL w="9525">
                      <a:solidFill>
                        <a:srgbClr val="000000"/>
                      </a:solidFill>
                      <a:prstDash val="solid"/>
                    </a:lnL>
                    <a:lnR w="9525">
                      <a:solidFill>
                        <a:srgbClr val="000000"/>
                      </a:solidFill>
                      <a:prstDash val="solid"/>
                    </a:lnR>
                  </a:tcPr>
                </a:tc>
                <a:tc>
                  <a:txBody>
                    <a:bodyPr/>
                    <a:lstStyle/>
                    <a:p>
                      <a:pPr algn="ctr">
                        <a:lnSpc>
                          <a:spcPct val="100000"/>
                        </a:lnSpc>
                        <a:spcBef>
                          <a:spcPts val="1075"/>
                        </a:spcBef>
                      </a:pPr>
                      <a:r>
                        <a:rPr sz="2000" dirty="0">
                          <a:latin typeface="Arial" panose="020B0604020202020204"/>
                          <a:cs typeface="Arial" panose="020B0604020202020204"/>
                        </a:rPr>
                        <a:t>60</a:t>
                      </a:r>
                      <a:endParaRPr sz="2000">
                        <a:latin typeface="Arial" panose="020B0604020202020204"/>
                        <a:cs typeface="Arial" panose="020B0604020202020204"/>
                      </a:endParaRPr>
                    </a:p>
                    <a:p>
                      <a:pPr algn="ctr">
                        <a:lnSpc>
                          <a:spcPct val="100000"/>
                        </a:lnSpc>
                        <a:spcBef>
                          <a:spcPts val="1710"/>
                        </a:spcBef>
                      </a:pPr>
                      <a:r>
                        <a:rPr sz="2000" dirty="0">
                          <a:latin typeface="Arial" panose="020B0604020202020204"/>
                          <a:cs typeface="Arial" panose="020B0604020202020204"/>
                        </a:rPr>
                        <a:t>60</a:t>
                      </a:r>
                      <a:endParaRPr sz="2000">
                        <a:latin typeface="Arial" panose="020B0604020202020204"/>
                        <a:cs typeface="Arial" panose="020B0604020202020204"/>
                      </a:endParaRPr>
                    </a:p>
                  </a:txBody>
                  <a:tcPr marL="0" marR="0" marT="136525" marB="0">
                    <a:lnL w="9525">
                      <a:solidFill>
                        <a:srgbClr val="000000"/>
                      </a:solidFill>
                      <a:prstDash val="solid"/>
                    </a:lnL>
                    <a:lnR w="9525">
                      <a:solidFill>
                        <a:srgbClr val="000000"/>
                      </a:solidFill>
                      <a:prstDash val="solid"/>
                    </a:lnR>
                  </a:tcPr>
                </a:tc>
                <a:tc>
                  <a:txBody>
                    <a:bodyPr/>
                    <a:lstStyle/>
                    <a:p>
                      <a:pPr algn="ctr">
                        <a:lnSpc>
                          <a:spcPct val="100000"/>
                        </a:lnSpc>
                        <a:spcBef>
                          <a:spcPts val="1075"/>
                        </a:spcBef>
                      </a:pPr>
                      <a:r>
                        <a:rPr sz="2000" dirty="0">
                          <a:latin typeface="Arial" panose="020B0604020202020204"/>
                          <a:cs typeface="Arial" panose="020B0604020202020204"/>
                        </a:rPr>
                        <a:t>60</a:t>
                      </a:r>
                      <a:endParaRPr sz="2000">
                        <a:latin typeface="Arial" panose="020B0604020202020204"/>
                        <a:cs typeface="Arial" panose="020B0604020202020204"/>
                      </a:endParaRPr>
                    </a:p>
                    <a:p>
                      <a:pPr algn="ctr">
                        <a:lnSpc>
                          <a:spcPct val="100000"/>
                        </a:lnSpc>
                        <a:spcBef>
                          <a:spcPts val="1710"/>
                        </a:spcBef>
                      </a:pPr>
                      <a:r>
                        <a:rPr sz="2000" dirty="0">
                          <a:latin typeface="Arial" panose="020B0604020202020204"/>
                          <a:cs typeface="Arial" panose="020B0604020202020204"/>
                        </a:rPr>
                        <a:t>60</a:t>
                      </a:r>
                      <a:endParaRPr sz="2000">
                        <a:latin typeface="Arial" panose="020B0604020202020204"/>
                        <a:cs typeface="Arial" panose="020B0604020202020204"/>
                      </a:endParaRPr>
                    </a:p>
                  </a:txBody>
                  <a:tcPr marL="0" marR="0" marT="136525" marB="0">
                    <a:lnL w="9525">
                      <a:solidFill>
                        <a:srgbClr val="000000"/>
                      </a:solidFill>
                      <a:prstDash val="solid"/>
                    </a:lnL>
                    <a:lnR w="9525">
                      <a:solidFill>
                        <a:srgbClr val="000000"/>
                      </a:solidFill>
                      <a:prstDash val="solid"/>
                    </a:lnR>
                  </a:tcPr>
                </a:tc>
                <a:tc>
                  <a:txBody>
                    <a:bodyPr/>
                    <a:lstStyle/>
                    <a:p>
                      <a:pPr>
                        <a:lnSpc>
                          <a:spcPct val="100000"/>
                        </a:lnSpc>
                        <a:spcBef>
                          <a:spcPts val="25"/>
                        </a:spcBef>
                      </a:pPr>
                      <a:endParaRPr sz="2700">
                        <a:latin typeface="Times New Roman" panose="02020603050405020304"/>
                        <a:cs typeface="Times New Roman" panose="02020603050405020304"/>
                      </a:endParaRPr>
                    </a:p>
                    <a:p>
                      <a:pPr algn="ctr">
                        <a:lnSpc>
                          <a:spcPct val="100000"/>
                        </a:lnSpc>
                      </a:pPr>
                      <a:r>
                        <a:rPr sz="2000" dirty="0">
                          <a:latin typeface="微软雅黑" panose="020B0503020204020204" pitchFamily="34" charset="-122"/>
                          <a:cs typeface="微软雅黑" panose="020B0503020204020204" pitchFamily="34" charset="-122"/>
                        </a:rPr>
                        <a:t>等腰三角形</a:t>
                      </a:r>
                      <a:endParaRPr sz="2000">
                        <a:latin typeface="微软雅黑" panose="020B0503020204020204" pitchFamily="34" charset="-122"/>
                        <a:cs typeface="微软雅黑" panose="020B0503020204020204" pitchFamily="34" charset="-122"/>
                      </a:endParaRPr>
                    </a:p>
                  </a:txBody>
                  <a:tcPr marL="0" marR="0" marT="3175" marB="0">
                    <a:lnL w="9525">
                      <a:solidFill>
                        <a:srgbClr val="000000"/>
                      </a:solidFill>
                      <a:prstDash val="solid"/>
                    </a:lnL>
                  </a:tcPr>
                </a:tc>
                <a:extLst>
                  <a:ext uri="{0D108BD9-81ED-4DB2-BD59-A6C34878D82A}">
                    <a16:rowId xmlns:a16="http://schemas.microsoft.com/office/drawing/2014/main" val="10003"/>
                  </a:ext>
                </a:extLst>
              </a:tr>
              <a:tr h="480628">
                <a:tc>
                  <a:txBody>
                    <a:bodyPr/>
                    <a:lstStyle/>
                    <a:p>
                      <a:pPr algn="ctr">
                        <a:lnSpc>
                          <a:spcPct val="100000"/>
                        </a:lnSpc>
                        <a:spcBef>
                          <a:spcPts val="525"/>
                        </a:spcBef>
                      </a:pPr>
                      <a:r>
                        <a:rPr sz="2000" dirty="0">
                          <a:latin typeface="Arial" panose="020B0604020202020204"/>
                          <a:cs typeface="Arial" panose="020B0604020202020204"/>
                        </a:rPr>
                        <a:t>10</a:t>
                      </a:r>
                      <a:endParaRPr sz="2000">
                        <a:latin typeface="Arial" panose="020B0604020202020204"/>
                        <a:cs typeface="Arial" panose="020B0604020202020204"/>
                      </a:endParaRPr>
                    </a:p>
                  </a:txBody>
                  <a:tcPr marL="0" marR="0" marT="66675" marB="0">
                    <a:lnR w="9525">
                      <a:solidFill>
                        <a:srgbClr val="000000"/>
                      </a:solidFill>
                      <a:prstDash val="solid"/>
                    </a:lnR>
                    <a:lnB w="9525">
                      <a:solidFill>
                        <a:srgbClr val="000000"/>
                      </a:solidFill>
                      <a:prstDash val="solid"/>
                    </a:lnB>
                  </a:tcPr>
                </a:tc>
                <a:tc>
                  <a:txBody>
                    <a:bodyPr/>
                    <a:lstStyle/>
                    <a:p>
                      <a:pPr>
                        <a:lnSpc>
                          <a:spcPct val="100000"/>
                        </a:lnSpc>
                      </a:pPr>
                      <a:endParaRPr sz="2000">
                        <a:latin typeface="Times New Roman" panose="02020603050405020304"/>
                        <a:cs typeface="Times New Roman" panose="02020603050405020304"/>
                      </a:endParaRPr>
                    </a:p>
                  </a:txBody>
                  <a:tcPr marL="0" marR="0" marT="0" marB="0">
                    <a:lnL w="9525">
                      <a:solidFill>
                        <a:srgbClr val="000000"/>
                      </a:solidFill>
                      <a:prstDash val="solid"/>
                    </a:lnL>
                    <a:lnR w="9525">
                      <a:solidFill>
                        <a:srgbClr val="000000"/>
                      </a:solidFill>
                      <a:prstDash val="solid"/>
                    </a:lnR>
                    <a:lnB w="9525">
                      <a:solidFill>
                        <a:srgbClr val="000000"/>
                      </a:solidFill>
                      <a:prstDash val="solid"/>
                    </a:lnB>
                  </a:tcPr>
                </a:tc>
                <a:tc>
                  <a:txBody>
                    <a:bodyPr/>
                    <a:lstStyle/>
                    <a:p>
                      <a:pPr algn="ctr">
                        <a:lnSpc>
                          <a:spcPct val="100000"/>
                        </a:lnSpc>
                        <a:spcBef>
                          <a:spcPts val="525"/>
                        </a:spcBef>
                      </a:pPr>
                      <a:r>
                        <a:rPr lang="en-US" altLang="zh-CN" sz="2000" dirty="0">
                          <a:latin typeface="Arial" panose="020B0604020202020204"/>
                          <a:cs typeface="Arial" panose="020B0604020202020204"/>
                        </a:rPr>
                        <a:t>11</a:t>
                      </a:r>
                      <a:r>
                        <a:rPr sz="2000" dirty="0">
                          <a:latin typeface="Arial" panose="020B0604020202020204"/>
                          <a:cs typeface="Arial" panose="020B0604020202020204"/>
                        </a:rPr>
                        <a:t>9</a:t>
                      </a:r>
                    </a:p>
                  </a:txBody>
                  <a:tcPr marL="0" marR="0" marT="66675" marB="0">
                    <a:lnL w="9525">
                      <a:solidFill>
                        <a:srgbClr val="000000"/>
                      </a:solidFill>
                      <a:prstDash val="solid"/>
                    </a:lnL>
                    <a:lnR w="9525">
                      <a:solidFill>
                        <a:srgbClr val="000000"/>
                      </a:solidFill>
                      <a:prstDash val="solid"/>
                    </a:lnR>
                    <a:lnB w="9525">
                      <a:solidFill>
                        <a:srgbClr val="000000"/>
                      </a:solidFill>
                      <a:prstDash val="solid"/>
                    </a:lnB>
                  </a:tcPr>
                </a:tc>
                <a:tc>
                  <a:txBody>
                    <a:bodyPr/>
                    <a:lstStyle/>
                    <a:p>
                      <a:pPr algn="ctr">
                        <a:lnSpc>
                          <a:spcPct val="100000"/>
                        </a:lnSpc>
                        <a:spcBef>
                          <a:spcPts val="525"/>
                        </a:spcBef>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66675" marB="0">
                    <a:lnL w="9525">
                      <a:solidFill>
                        <a:srgbClr val="000000"/>
                      </a:solidFill>
                      <a:prstDash val="solid"/>
                    </a:lnL>
                    <a:lnR w="9525">
                      <a:solidFill>
                        <a:srgbClr val="000000"/>
                      </a:solidFill>
                      <a:prstDash val="solid"/>
                    </a:lnR>
                    <a:lnB w="9525">
                      <a:solidFill>
                        <a:srgbClr val="000000"/>
                      </a:solidFill>
                      <a:prstDash val="solid"/>
                    </a:lnB>
                  </a:tcPr>
                </a:tc>
                <a:tc>
                  <a:txBody>
                    <a:bodyPr/>
                    <a:lstStyle/>
                    <a:p>
                      <a:pPr algn="ctr">
                        <a:lnSpc>
                          <a:spcPct val="100000"/>
                        </a:lnSpc>
                        <a:spcBef>
                          <a:spcPts val="525"/>
                        </a:spcBef>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66675" marB="0">
                    <a:lnL w="9525">
                      <a:solidFill>
                        <a:srgbClr val="000000"/>
                      </a:solidFill>
                      <a:prstDash val="solid"/>
                    </a:lnL>
                    <a:lnR w="9525">
                      <a:solidFill>
                        <a:srgbClr val="000000"/>
                      </a:solidFill>
                      <a:prstDash val="solid"/>
                    </a:lnR>
                    <a:lnB w="9525">
                      <a:solidFill>
                        <a:srgbClr val="000000"/>
                      </a:solidFill>
                      <a:prstDash val="solid"/>
                    </a:lnB>
                  </a:tcPr>
                </a:tc>
                <a:tc>
                  <a:txBody>
                    <a:bodyPr/>
                    <a:lstStyle/>
                    <a:p>
                      <a:pPr>
                        <a:lnSpc>
                          <a:spcPct val="100000"/>
                        </a:lnSpc>
                      </a:pPr>
                      <a:endParaRPr sz="2000">
                        <a:latin typeface="Times New Roman" panose="02020603050405020304"/>
                        <a:cs typeface="Times New Roman" panose="02020603050405020304"/>
                      </a:endParaRPr>
                    </a:p>
                  </a:txBody>
                  <a:tcPr marL="0" marR="0" marT="0" marB="0">
                    <a:lnL w="9525">
                      <a:solidFill>
                        <a:srgbClr val="000000"/>
                      </a:solidFill>
                      <a:prstDash val="solid"/>
                    </a:lnL>
                    <a:lnB w="9525">
                      <a:solidFill>
                        <a:srgbClr val="000000"/>
                      </a:solidFill>
                      <a:prstDash val="solid"/>
                    </a:lnB>
                  </a:tcPr>
                </a:tc>
                <a:extLst>
                  <a:ext uri="{0D108BD9-81ED-4DB2-BD59-A6C34878D82A}">
                    <a16:rowId xmlns:a16="http://schemas.microsoft.com/office/drawing/2014/main" val="10004"/>
                  </a:ext>
                </a:extLst>
              </a:tr>
              <a:tr h="440251">
                <a:tc>
                  <a:txBody>
                    <a:bodyPr/>
                    <a:lstStyle/>
                    <a:p>
                      <a:pPr marR="10795" algn="ctr">
                        <a:lnSpc>
                          <a:spcPct val="100000"/>
                        </a:lnSpc>
                        <a:spcBef>
                          <a:spcPts val="855"/>
                        </a:spcBef>
                      </a:pPr>
                      <a:r>
                        <a:rPr sz="2000" spc="-150" dirty="0">
                          <a:latin typeface="Arial" panose="020B0604020202020204"/>
                          <a:cs typeface="Arial" panose="020B0604020202020204"/>
                        </a:rPr>
                        <a:t>11</a:t>
                      </a:r>
                      <a:endParaRPr sz="2000">
                        <a:latin typeface="Arial" panose="020B0604020202020204"/>
                        <a:cs typeface="Arial" panose="020B0604020202020204"/>
                      </a:endParaRPr>
                    </a:p>
                  </a:txBody>
                  <a:tcPr marL="0" marR="0" marT="108585" marB="0">
                    <a:lnR w="9525">
                      <a:solidFill>
                        <a:srgbClr val="000000"/>
                      </a:solidFill>
                      <a:prstDash val="solid"/>
                    </a:lnR>
                    <a:lnT w="9525">
                      <a:solidFill>
                        <a:srgbClr val="000000"/>
                      </a:solidFill>
                      <a:prstDash val="solid"/>
                    </a:lnT>
                  </a:tcPr>
                </a:tc>
                <a:tc>
                  <a:txBody>
                    <a:bodyPr/>
                    <a:lstStyle/>
                    <a:p>
                      <a:pPr>
                        <a:lnSpc>
                          <a:spcPct val="100000"/>
                        </a:lnSpc>
                      </a:pPr>
                      <a:endParaRPr sz="2000">
                        <a:latin typeface="Times New Roman" panose="02020603050405020304"/>
                        <a:cs typeface="Times New Roman" panose="02020603050405020304"/>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tcPr>
                </a:tc>
                <a:tc>
                  <a:txBody>
                    <a:bodyPr/>
                    <a:lstStyle/>
                    <a:p>
                      <a:pPr algn="ctr">
                        <a:lnSpc>
                          <a:spcPct val="100000"/>
                        </a:lnSpc>
                        <a:spcBef>
                          <a:spcPts val="855"/>
                        </a:spcBef>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108585" marB="0">
                    <a:lnL w="9525">
                      <a:solidFill>
                        <a:srgbClr val="000000"/>
                      </a:solidFill>
                      <a:prstDash val="solid"/>
                    </a:lnL>
                    <a:lnR w="9525">
                      <a:solidFill>
                        <a:srgbClr val="000000"/>
                      </a:solidFill>
                      <a:prstDash val="solid"/>
                    </a:lnR>
                    <a:lnT w="9525">
                      <a:solidFill>
                        <a:srgbClr val="000000"/>
                      </a:solidFill>
                      <a:prstDash val="solid"/>
                    </a:lnT>
                  </a:tcPr>
                </a:tc>
                <a:tc>
                  <a:txBody>
                    <a:bodyPr/>
                    <a:lstStyle/>
                    <a:p>
                      <a:pPr algn="ctr">
                        <a:lnSpc>
                          <a:spcPct val="100000"/>
                        </a:lnSpc>
                        <a:spcBef>
                          <a:spcPts val="855"/>
                        </a:spcBef>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108585" marB="0">
                    <a:lnL w="9525">
                      <a:solidFill>
                        <a:srgbClr val="000000"/>
                      </a:solidFill>
                      <a:prstDash val="solid"/>
                    </a:lnL>
                    <a:lnR w="9525">
                      <a:solidFill>
                        <a:srgbClr val="000000"/>
                      </a:solidFill>
                      <a:prstDash val="solid"/>
                    </a:lnR>
                    <a:lnT w="9525">
                      <a:solidFill>
                        <a:srgbClr val="000000"/>
                      </a:solidFill>
                      <a:prstDash val="solid"/>
                    </a:lnT>
                  </a:tcPr>
                </a:tc>
                <a:tc>
                  <a:txBody>
                    <a:bodyPr/>
                    <a:lstStyle/>
                    <a:p>
                      <a:pPr algn="ctr">
                        <a:lnSpc>
                          <a:spcPct val="100000"/>
                        </a:lnSpc>
                        <a:spcBef>
                          <a:spcPts val="855"/>
                        </a:spcBef>
                      </a:pPr>
                      <a:r>
                        <a:rPr sz="2000" dirty="0">
                          <a:latin typeface="Arial" panose="020B0604020202020204"/>
                          <a:cs typeface="Arial" panose="020B0604020202020204"/>
                        </a:rPr>
                        <a:t>1</a:t>
                      </a:r>
                      <a:r>
                        <a:rPr lang="en-US" altLang="zh-CN" sz="2000" dirty="0">
                          <a:latin typeface="Arial" panose="020B0604020202020204"/>
                          <a:cs typeface="Arial" panose="020B0604020202020204"/>
                        </a:rPr>
                        <a:t>2</a:t>
                      </a:r>
                      <a:r>
                        <a:rPr sz="2000" dirty="0">
                          <a:latin typeface="Arial" panose="020B0604020202020204"/>
                          <a:cs typeface="Arial" panose="020B0604020202020204"/>
                        </a:rPr>
                        <a:t>0</a:t>
                      </a:r>
                    </a:p>
                  </a:txBody>
                  <a:tcPr marL="0" marR="0" marT="108585" marB="0">
                    <a:lnL w="9525">
                      <a:solidFill>
                        <a:srgbClr val="000000"/>
                      </a:solidFill>
                      <a:prstDash val="solid"/>
                    </a:lnL>
                    <a:lnR w="9525">
                      <a:solidFill>
                        <a:srgbClr val="000000"/>
                      </a:solidFill>
                      <a:prstDash val="solid"/>
                    </a:lnR>
                    <a:lnT w="9525">
                      <a:solidFill>
                        <a:srgbClr val="000000"/>
                      </a:solidFill>
                      <a:prstDash val="solid"/>
                    </a:lnT>
                  </a:tcPr>
                </a:tc>
                <a:tc>
                  <a:txBody>
                    <a:bodyPr/>
                    <a:lstStyle/>
                    <a:p>
                      <a:pPr>
                        <a:lnSpc>
                          <a:spcPct val="100000"/>
                        </a:lnSpc>
                      </a:pPr>
                      <a:endParaRPr sz="2000">
                        <a:latin typeface="Times New Roman" panose="02020603050405020304"/>
                        <a:cs typeface="Times New Roman" panose="02020603050405020304"/>
                      </a:endParaRPr>
                    </a:p>
                  </a:txBody>
                  <a:tcPr marL="0" marR="0" marT="0" marB="0">
                    <a:lnL w="9525">
                      <a:solidFill>
                        <a:srgbClr val="000000"/>
                      </a:solidFill>
                      <a:prstDash val="solid"/>
                    </a:lnL>
                    <a:lnT w="9525">
                      <a:solidFill>
                        <a:srgbClr val="000000"/>
                      </a:solidFill>
                      <a:prstDash val="solid"/>
                    </a:lnT>
                  </a:tcPr>
                </a:tc>
                <a:extLst>
                  <a:ext uri="{0D108BD9-81ED-4DB2-BD59-A6C34878D82A}">
                    <a16:rowId xmlns:a16="http://schemas.microsoft.com/office/drawing/2014/main" val="10005"/>
                  </a:ext>
                </a:extLst>
              </a:tr>
              <a:tr h="700452">
                <a:tc>
                  <a:txBody>
                    <a:bodyPr/>
                    <a:lstStyle/>
                    <a:p>
                      <a:pPr algn="ctr">
                        <a:lnSpc>
                          <a:spcPct val="100000"/>
                        </a:lnSpc>
                        <a:spcBef>
                          <a:spcPts val="1500"/>
                        </a:spcBef>
                      </a:pPr>
                      <a:r>
                        <a:rPr sz="2000" dirty="0">
                          <a:latin typeface="Arial" panose="020B0604020202020204"/>
                          <a:cs typeface="Arial" panose="020B0604020202020204"/>
                        </a:rPr>
                        <a:t>12</a:t>
                      </a:r>
                      <a:endParaRPr sz="2000">
                        <a:latin typeface="Arial" panose="020B0604020202020204"/>
                        <a:cs typeface="Arial" panose="020B0604020202020204"/>
                      </a:endParaRPr>
                    </a:p>
                  </a:txBody>
                  <a:tcPr marL="0" marR="0" marT="190500" marB="0">
                    <a:lnR w="9525">
                      <a:solidFill>
                        <a:srgbClr val="000000"/>
                      </a:solidFill>
                      <a:prstDash val="solid"/>
                    </a:lnR>
                  </a:tcPr>
                </a:tc>
                <a:tc>
                  <a:txBody>
                    <a:bodyPr/>
                    <a:lstStyle/>
                    <a:p>
                      <a:pPr marL="502920" marR="495300" indent="552450">
                        <a:lnSpc>
                          <a:spcPct val="100000"/>
                        </a:lnSpc>
                        <a:spcBef>
                          <a:spcPts val="300"/>
                        </a:spcBef>
                      </a:pPr>
                      <a:r>
                        <a:rPr sz="2000" spc="-5" dirty="0">
                          <a:latin typeface="Arial" panose="020B0604020202020204"/>
                          <a:cs typeface="Arial" panose="020B0604020202020204"/>
                        </a:rPr>
                        <a:t>a&gt;0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c&gt;0  a+b≤c </a:t>
                      </a:r>
                      <a:r>
                        <a:rPr sz="2000" dirty="0">
                          <a:latin typeface="微软雅黑" panose="020B0503020204020204" pitchFamily="34" charset="-122"/>
                          <a:cs typeface="微软雅黑" panose="020B0503020204020204" pitchFamily="34" charset="-122"/>
                        </a:rPr>
                        <a:t>或 </a:t>
                      </a:r>
                      <a:r>
                        <a:rPr sz="2000" spc="-5" dirty="0">
                          <a:latin typeface="Arial" panose="020B0604020202020204"/>
                          <a:cs typeface="Arial" panose="020B0604020202020204"/>
                        </a:rPr>
                        <a:t>b+c≤a </a:t>
                      </a:r>
                      <a:r>
                        <a:rPr sz="2000" dirty="0">
                          <a:latin typeface="微软雅黑" panose="020B0503020204020204" pitchFamily="34" charset="-122"/>
                          <a:cs typeface="微软雅黑" panose="020B0503020204020204" pitchFamily="34" charset="-122"/>
                        </a:rPr>
                        <a:t>或</a:t>
                      </a:r>
                      <a:r>
                        <a:rPr sz="2000" spc="-40" dirty="0">
                          <a:latin typeface="微软雅黑" panose="020B0503020204020204" pitchFamily="34" charset="-122"/>
                          <a:cs typeface="微软雅黑" panose="020B0503020204020204" pitchFamily="34" charset="-122"/>
                        </a:rPr>
                        <a:t> </a:t>
                      </a:r>
                      <a:r>
                        <a:rPr sz="2000" spc="-5" dirty="0">
                          <a:latin typeface="Arial" panose="020B0604020202020204"/>
                          <a:cs typeface="Arial" panose="020B0604020202020204"/>
                        </a:rPr>
                        <a:t>a+c≤b</a:t>
                      </a:r>
                      <a:endParaRPr sz="2000">
                        <a:latin typeface="Arial" panose="020B0604020202020204"/>
                        <a:cs typeface="Arial" panose="020B0604020202020204"/>
                      </a:endParaRPr>
                    </a:p>
                  </a:txBody>
                  <a:tcPr marL="0" marR="0" marT="38100" marB="0">
                    <a:lnL w="9525">
                      <a:solidFill>
                        <a:srgbClr val="000000"/>
                      </a:solidFill>
                      <a:prstDash val="solid"/>
                    </a:lnL>
                    <a:lnR w="9525">
                      <a:solidFill>
                        <a:srgbClr val="000000"/>
                      </a:solidFill>
                      <a:prstDash val="solid"/>
                    </a:lnR>
                  </a:tcPr>
                </a:tc>
                <a:tc>
                  <a:txBody>
                    <a:bodyPr/>
                    <a:lstStyle/>
                    <a:p>
                      <a:pPr algn="ctr">
                        <a:lnSpc>
                          <a:spcPct val="100000"/>
                        </a:lnSpc>
                        <a:spcBef>
                          <a:spcPts val="1500"/>
                        </a:spcBef>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190500" marB="0">
                    <a:lnL w="9525">
                      <a:solidFill>
                        <a:srgbClr val="000000"/>
                      </a:solidFill>
                      <a:prstDash val="solid"/>
                    </a:lnL>
                    <a:lnR w="9525">
                      <a:solidFill>
                        <a:srgbClr val="000000"/>
                      </a:solidFill>
                      <a:prstDash val="solid"/>
                    </a:lnR>
                  </a:tcPr>
                </a:tc>
                <a:tc>
                  <a:txBody>
                    <a:bodyPr/>
                    <a:lstStyle/>
                    <a:p>
                      <a:pPr algn="ctr">
                        <a:lnSpc>
                          <a:spcPct val="100000"/>
                        </a:lnSpc>
                        <a:spcBef>
                          <a:spcPts val="1500"/>
                        </a:spcBef>
                      </a:pPr>
                      <a:r>
                        <a:rPr sz="2000" dirty="0">
                          <a:latin typeface="Arial" panose="020B0604020202020204"/>
                          <a:cs typeface="Arial" panose="020B0604020202020204"/>
                        </a:rPr>
                        <a:t>1</a:t>
                      </a:r>
                      <a:r>
                        <a:rPr lang="en-US" altLang="zh-CN" sz="2000" dirty="0">
                          <a:latin typeface="Arial" panose="020B0604020202020204"/>
                          <a:cs typeface="Arial" panose="020B0604020202020204"/>
                        </a:rPr>
                        <a:t>2</a:t>
                      </a:r>
                      <a:r>
                        <a:rPr sz="2000" dirty="0">
                          <a:latin typeface="Arial" panose="020B0604020202020204"/>
                          <a:cs typeface="Arial" panose="020B0604020202020204"/>
                        </a:rPr>
                        <a:t>0</a:t>
                      </a:r>
                    </a:p>
                  </a:txBody>
                  <a:tcPr marL="0" marR="0" marT="190500" marB="0">
                    <a:lnL w="9525">
                      <a:solidFill>
                        <a:srgbClr val="000000"/>
                      </a:solidFill>
                      <a:prstDash val="solid"/>
                    </a:lnL>
                    <a:lnR w="9525">
                      <a:solidFill>
                        <a:srgbClr val="000000"/>
                      </a:solidFill>
                      <a:prstDash val="solid"/>
                    </a:lnR>
                  </a:tcPr>
                </a:tc>
                <a:tc>
                  <a:txBody>
                    <a:bodyPr/>
                    <a:lstStyle/>
                    <a:p>
                      <a:pPr algn="ctr">
                        <a:lnSpc>
                          <a:spcPct val="100000"/>
                        </a:lnSpc>
                        <a:spcBef>
                          <a:spcPts val="1500"/>
                        </a:spcBef>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190500" marB="0">
                    <a:lnL w="9525">
                      <a:solidFill>
                        <a:srgbClr val="000000"/>
                      </a:solidFill>
                      <a:prstDash val="solid"/>
                    </a:lnL>
                    <a:lnR w="9525">
                      <a:solidFill>
                        <a:srgbClr val="000000"/>
                      </a:solidFill>
                      <a:prstDash val="solid"/>
                    </a:lnR>
                  </a:tcPr>
                </a:tc>
                <a:tc>
                  <a:txBody>
                    <a:bodyPr/>
                    <a:lstStyle/>
                    <a:p>
                      <a:pPr algn="ctr">
                        <a:lnSpc>
                          <a:spcPct val="100000"/>
                        </a:lnSpc>
                        <a:spcBef>
                          <a:spcPts val="1500"/>
                        </a:spcBef>
                      </a:pPr>
                      <a:r>
                        <a:rPr sz="2000" dirty="0">
                          <a:latin typeface="微软雅黑" panose="020B0503020204020204" pitchFamily="34" charset="-122"/>
                          <a:cs typeface="微软雅黑" panose="020B0503020204020204" pitchFamily="34" charset="-122"/>
                        </a:rPr>
                        <a:t>非三角形</a:t>
                      </a:r>
                      <a:endParaRPr sz="2000">
                        <a:latin typeface="微软雅黑" panose="020B0503020204020204" pitchFamily="34" charset="-122"/>
                        <a:cs typeface="微软雅黑" panose="020B0503020204020204" pitchFamily="34" charset="-122"/>
                      </a:endParaRPr>
                    </a:p>
                  </a:txBody>
                  <a:tcPr marL="0" marR="0" marT="190500" marB="0">
                    <a:lnL w="9525">
                      <a:solidFill>
                        <a:srgbClr val="000000"/>
                      </a:solidFill>
                      <a:prstDash val="solid"/>
                    </a:lnL>
                  </a:tcPr>
                </a:tc>
                <a:extLst>
                  <a:ext uri="{0D108BD9-81ED-4DB2-BD59-A6C34878D82A}">
                    <a16:rowId xmlns:a16="http://schemas.microsoft.com/office/drawing/2014/main" val="10006"/>
                  </a:ext>
                </a:extLst>
              </a:tr>
              <a:tr h="426249">
                <a:tc>
                  <a:txBody>
                    <a:bodyPr/>
                    <a:lstStyle/>
                    <a:p>
                      <a:pPr algn="ctr">
                        <a:lnSpc>
                          <a:spcPct val="100000"/>
                        </a:lnSpc>
                        <a:spcBef>
                          <a:spcPts val="100"/>
                        </a:spcBef>
                      </a:pPr>
                      <a:r>
                        <a:rPr sz="2000" dirty="0">
                          <a:latin typeface="Arial" panose="020B0604020202020204"/>
                          <a:cs typeface="Arial" panose="020B0604020202020204"/>
                        </a:rPr>
                        <a:t>13</a:t>
                      </a:r>
                      <a:endParaRPr sz="2000">
                        <a:latin typeface="Arial" panose="020B0604020202020204"/>
                        <a:cs typeface="Arial" panose="020B0604020202020204"/>
                      </a:endParaRPr>
                    </a:p>
                  </a:txBody>
                  <a:tcPr marL="0" marR="0" marT="12700" marB="0">
                    <a:lnR w="9525">
                      <a:solidFill>
                        <a:srgbClr val="000000"/>
                      </a:solidFill>
                      <a:prstDash val="solid"/>
                    </a:lnR>
                    <a:lnB w="28575">
                      <a:solidFill>
                        <a:srgbClr val="000000"/>
                      </a:solidFill>
                      <a:prstDash val="solid"/>
                    </a:lnB>
                  </a:tcPr>
                </a:tc>
                <a:tc>
                  <a:txBody>
                    <a:bodyPr/>
                    <a:lstStyle/>
                    <a:p>
                      <a:pPr>
                        <a:lnSpc>
                          <a:spcPct val="100000"/>
                        </a:lnSpc>
                      </a:pPr>
                      <a:endParaRPr sz="2000">
                        <a:latin typeface="Times New Roman" panose="02020603050405020304"/>
                        <a:cs typeface="Times New Roman" panose="02020603050405020304"/>
                      </a:endParaRPr>
                    </a:p>
                  </a:txBody>
                  <a:tcPr marL="0" marR="0" marT="0" marB="0">
                    <a:lnL w="9525">
                      <a:solidFill>
                        <a:srgbClr val="000000"/>
                      </a:solidFill>
                      <a:prstDash val="solid"/>
                    </a:lnL>
                    <a:lnR w="9525">
                      <a:solidFill>
                        <a:srgbClr val="000000"/>
                      </a:solidFill>
                      <a:prstDash val="solid"/>
                    </a:lnR>
                    <a:lnB w="28575">
                      <a:solidFill>
                        <a:srgbClr val="000000"/>
                      </a:solidFill>
                      <a:prstDash val="solid"/>
                    </a:lnB>
                  </a:tcPr>
                </a:tc>
                <a:tc>
                  <a:txBody>
                    <a:bodyPr/>
                    <a:lstStyle/>
                    <a:p>
                      <a:pPr algn="ctr">
                        <a:lnSpc>
                          <a:spcPct val="100000"/>
                        </a:lnSpc>
                        <a:spcBef>
                          <a:spcPts val="100"/>
                        </a:spcBef>
                      </a:pPr>
                      <a:r>
                        <a:rPr sz="2000" dirty="0">
                          <a:latin typeface="Arial" panose="020B0604020202020204"/>
                          <a:cs typeface="Arial" panose="020B0604020202020204"/>
                        </a:rPr>
                        <a:t>1</a:t>
                      </a:r>
                      <a:r>
                        <a:rPr lang="en-US" altLang="zh-CN" sz="2000" dirty="0">
                          <a:latin typeface="Arial" panose="020B0604020202020204"/>
                          <a:cs typeface="Arial" panose="020B0604020202020204"/>
                        </a:rPr>
                        <a:t>2</a:t>
                      </a:r>
                      <a:r>
                        <a:rPr sz="2000" dirty="0">
                          <a:latin typeface="Arial" panose="020B0604020202020204"/>
                          <a:cs typeface="Arial" panose="020B0604020202020204"/>
                        </a:rPr>
                        <a:t>0</a:t>
                      </a:r>
                    </a:p>
                  </a:txBody>
                  <a:tcPr marL="0" marR="0" marT="12700" marB="0">
                    <a:lnL w="9525">
                      <a:solidFill>
                        <a:srgbClr val="000000"/>
                      </a:solidFill>
                      <a:prstDash val="solid"/>
                    </a:lnL>
                    <a:lnR w="9525">
                      <a:solidFill>
                        <a:srgbClr val="000000"/>
                      </a:solidFill>
                      <a:prstDash val="solid"/>
                    </a:lnR>
                    <a:lnB w="28575">
                      <a:solidFill>
                        <a:srgbClr val="000000"/>
                      </a:solidFill>
                      <a:prstDash val="solid"/>
                    </a:lnB>
                  </a:tcPr>
                </a:tc>
                <a:tc>
                  <a:txBody>
                    <a:bodyPr/>
                    <a:lstStyle/>
                    <a:p>
                      <a:pPr algn="ctr">
                        <a:lnSpc>
                          <a:spcPct val="100000"/>
                        </a:lnSpc>
                        <a:spcBef>
                          <a:spcPts val="100"/>
                        </a:spcBef>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12700" marB="0">
                    <a:lnL w="9525">
                      <a:solidFill>
                        <a:srgbClr val="000000"/>
                      </a:solidFill>
                      <a:prstDash val="solid"/>
                    </a:lnL>
                    <a:lnR w="9525">
                      <a:solidFill>
                        <a:srgbClr val="000000"/>
                      </a:solidFill>
                      <a:prstDash val="solid"/>
                    </a:lnR>
                    <a:lnB w="28575">
                      <a:solidFill>
                        <a:srgbClr val="000000"/>
                      </a:solidFill>
                      <a:prstDash val="solid"/>
                    </a:lnB>
                  </a:tcPr>
                </a:tc>
                <a:tc>
                  <a:txBody>
                    <a:bodyPr/>
                    <a:lstStyle/>
                    <a:p>
                      <a:pPr algn="ctr">
                        <a:lnSpc>
                          <a:spcPct val="100000"/>
                        </a:lnSpc>
                        <a:spcBef>
                          <a:spcPts val="100"/>
                        </a:spcBef>
                      </a:pPr>
                      <a:r>
                        <a:rPr lang="en-US" altLang="zh-CN" sz="2000" dirty="0">
                          <a:latin typeface="Arial" panose="020B0604020202020204"/>
                          <a:cs typeface="Arial" panose="020B0604020202020204"/>
                        </a:rPr>
                        <a:t>6</a:t>
                      </a:r>
                      <a:r>
                        <a:rPr sz="2000" dirty="0">
                          <a:latin typeface="Arial" panose="020B0604020202020204"/>
                          <a:cs typeface="Arial" panose="020B0604020202020204"/>
                        </a:rPr>
                        <a:t>0</a:t>
                      </a:r>
                    </a:p>
                  </a:txBody>
                  <a:tcPr marL="0" marR="0" marT="12700" marB="0">
                    <a:lnL w="9525">
                      <a:solidFill>
                        <a:srgbClr val="000000"/>
                      </a:solidFill>
                      <a:prstDash val="solid"/>
                    </a:lnL>
                    <a:lnR w="9525">
                      <a:solidFill>
                        <a:srgbClr val="000000"/>
                      </a:solidFill>
                      <a:prstDash val="solid"/>
                    </a:lnR>
                    <a:lnB w="28575">
                      <a:solidFill>
                        <a:srgbClr val="000000"/>
                      </a:solidFill>
                      <a:prstDash val="solid"/>
                    </a:lnB>
                  </a:tcPr>
                </a:tc>
                <a:tc>
                  <a:txBody>
                    <a:bodyPr/>
                    <a:lstStyle/>
                    <a:p>
                      <a:pPr>
                        <a:lnSpc>
                          <a:spcPct val="100000"/>
                        </a:lnSpc>
                      </a:pPr>
                      <a:endParaRPr sz="2000" dirty="0">
                        <a:latin typeface="Times New Roman" panose="02020603050405020304"/>
                        <a:cs typeface="Times New Roman" panose="02020603050405020304"/>
                      </a:endParaRPr>
                    </a:p>
                  </a:txBody>
                  <a:tcPr marL="0" marR="0" marT="0" marB="0">
                    <a:lnL w="9525">
                      <a:solidFill>
                        <a:srgbClr val="000000"/>
                      </a:solidFill>
                      <a:prstDash val="solid"/>
                    </a:lnL>
                    <a:lnB w="28575">
                      <a:solidFill>
                        <a:srgbClr val="000000"/>
                      </a:solidFill>
                      <a:prstDash val="solid"/>
                    </a:lnB>
                  </a:tcPr>
                </a:tc>
                <a:extLst>
                  <a:ext uri="{0D108BD9-81ED-4DB2-BD59-A6C34878D82A}">
                    <a16:rowId xmlns:a16="http://schemas.microsoft.com/office/drawing/2014/main" val="10007"/>
                  </a:ext>
                </a:extLst>
              </a:tr>
            </a:tbl>
          </a:graphicData>
        </a:graphic>
      </p:graphicFrame>
      <p:sp>
        <p:nvSpPr>
          <p:cNvPr id="4" name="object 4"/>
          <p:cNvSpPr/>
          <p:nvPr/>
        </p:nvSpPr>
        <p:spPr>
          <a:xfrm>
            <a:off x="7095066" y="5235070"/>
            <a:ext cx="508000" cy="474345"/>
          </a:xfrm>
          <a:custGeom>
            <a:avLst/>
            <a:gdLst/>
            <a:ahLst/>
            <a:cxnLst/>
            <a:rect l="l" t="t" r="r" b="b"/>
            <a:pathLst>
              <a:path w="508000" h="474345">
                <a:moveTo>
                  <a:pt x="0" y="237066"/>
                </a:moveTo>
                <a:lnTo>
                  <a:pt x="5160" y="189289"/>
                </a:lnTo>
                <a:lnTo>
                  <a:pt x="19960" y="144789"/>
                </a:lnTo>
                <a:lnTo>
                  <a:pt x="43379" y="104520"/>
                </a:lnTo>
                <a:lnTo>
                  <a:pt x="74394" y="69435"/>
                </a:lnTo>
                <a:lnTo>
                  <a:pt x="111986" y="40487"/>
                </a:lnTo>
                <a:lnTo>
                  <a:pt x="155131" y="18629"/>
                </a:lnTo>
                <a:lnTo>
                  <a:pt x="202810" y="4816"/>
                </a:lnTo>
                <a:lnTo>
                  <a:pt x="253999" y="0"/>
                </a:lnTo>
                <a:lnTo>
                  <a:pt x="305189" y="4816"/>
                </a:lnTo>
                <a:lnTo>
                  <a:pt x="352868" y="18629"/>
                </a:lnTo>
                <a:lnTo>
                  <a:pt x="396013" y="40487"/>
                </a:lnTo>
                <a:lnTo>
                  <a:pt x="433605" y="69435"/>
                </a:lnTo>
                <a:lnTo>
                  <a:pt x="464620" y="104520"/>
                </a:lnTo>
                <a:lnTo>
                  <a:pt x="488039" y="144789"/>
                </a:lnTo>
                <a:lnTo>
                  <a:pt x="502839" y="189289"/>
                </a:lnTo>
                <a:lnTo>
                  <a:pt x="507999" y="237066"/>
                </a:lnTo>
                <a:lnTo>
                  <a:pt x="502839" y="284844"/>
                </a:lnTo>
                <a:lnTo>
                  <a:pt x="488039" y="329344"/>
                </a:lnTo>
                <a:lnTo>
                  <a:pt x="464620" y="369613"/>
                </a:lnTo>
                <a:lnTo>
                  <a:pt x="433605" y="404698"/>
                </a:lnTo>
                <a:lnTo>
                  <a:pt x="396013" y="433646"/>
                </a:lnTo>
                <a:lnTo>
                  <a:pt x="352868" y="455504"/>
                </a:lnTo>
                <a:lnTo>
                  <a:pt x="305189" y="469317"/>
                </a:lnTo>
                <a:lnTo>
                  <a:pt x="253999" y="474133"/>
                </a:lnTo>
                <a:lnTo>
                  <a:pt x="202810" y="469317"/>
                </a:lnTo>
                <a:lnTo>
                  <a:pt x="155131" y="455504"/>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5" name="object 5"/>
          <p:cNvSpPr/>
          <p:nvPr/>
        </p:nvSpPr>
        <p:spPr>
          <a:xfrm>
            <a:off x="7095066" y="2610405"/>
            <a:ext cx="508000" cy="474345"/>
          </a:xfrm>
          <a:custGeom>
            <a:avLst/>
            <a:gdLst/>
            <a:ahLst/>
            <a:cxnLst/>
            <a:rect l="l" t="t" r="r" b="b"/>
            <a:pathLst>
              <a:path w="508000" h="474344">
                <a:moveTo>
                  <a:pt x="0" y="237066"/>
                </a:moveTo>
                <a:lnTo>
                  <a:pt x="5160" y="189289"/>
                </a:lnTo>
                <a:lnTo>
                  <a:pt x="19960" y="144789"/>
                </a:lnTo>
                <a:lnTo>
                  <a:pt x="43379" y="104520"/>
                </a:lnTo>
                <a:lnTo>
                  <a:pt x="74394" y="69435"/>
                </a:lnTo>
                <a:lnTo>
                  <a:pt x="111986" y="40487"/>
                </a:lnTo>
                <a:lnTo>
                  <a:pt x="155131" y="18629"/>
                </a:lnTo>
                <a:lnTo>
                  <a:pt x="202810" y="4816"/>
                </a:lnTo>
                <a:lnTo>
                  <a:pt x="253999" y="0"/>
                </a:lnTo>
                <a:lnTo>
                  <a:pt x="305189" y="4816"/>
                </a:lnTo>
                <a:lnTo>
                  <a:pt x="352868" y="18629"/>
                </a:lnTo>
                <a:lnTo>
                  <a:pt x="396013" y="40487"/>
                </a:lnTo>
                <a:lnTo>
                  <a:pt x="433605" y="69435"/>
                </a:lnTo>
                <a:lnTo>
                  <a:pt x="464620" y="104520"/>
                </a:lnTo>
                <a:lnTo>
                  <a:pt x="488039" y="144789"/>
                </a:lnTo>
                <a:lnTo>
                  <a:pt x="502839" y="189289"/>
                </a:lnTo>
                <a:lnTo>
                  <a:pt x="507999" y="237066"/>
                </a:lnTo>
                <a:lnTo>
                  <a:pt x="502839" y="284844"/>
                </a:lnTo>
                <a:lnTo>
                  <a:pt x="488039" y="329344"/>
                </a:lnTo>
                <a:lnTo>
                  <a:pt x="464620" y="369613"/>
                </a:lnTo>
                <a:lnTo>
                  <a:pt x="433605" y="404698"/>
                </a:lnTo>
                <a:lnTo>
                  <a:pt x="396013" y="433646"/>
                </a:lnTo>
                <a:lnTo>
                  <a:pt x="352868" y="455503"/>
                </a:lnTo>
                <a:lnTo>
                  <a:pt x="305189" y="469317"/>
                </a:lnTo>
                <a:lnTo>
                  <a:pt x="253999" y="474133"/>
                </a:lnTo>
                <a:lnTo>
                  <a:pt x="202810" y="469317"/>
                </a:lnTo>
                <a:lnTo>
                  <a:pt x="155131" y="455503"/>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6" name="object 6"/>
          <p:cNvSpPr/>
          <p:nvPr/>
        </p:nvSpPr>
        <p:spPr>
          <a:xfrm>
            <a:off x="6180664" y="3135337"/>
            <a:ext cx="508000" cy="474345"/>
          </a:xfrm>
          <a:custGeom>
            <a:avLst/>
            <a:gdLst/>
            <a:ahLst/>
            <a:cxnLst/>
            <a:rect l="l" t="t" r="r" b="b"/>
            <a:pathLst>
              <a:path w="508000" h="474345">
                <a:moveTo>
                  <a:pt x="0" y="237066"/>
                </a:moveTo>
                <a:lnTo>
                  <a:pt x="5160" y="189289"/>
                </a:lnTo>
                <a:lnTo>
                  <a:pt x="19960" y="144789"/>
                </a:lnTo>
                <a:lnTo>
                  <a:pt x="43379" y="104520"/>
                </a:lnTo>
                <a:lnTo>
                  <a:pt x="74394" y="69435"/>
                </a:lnTo>
                <a:lnTo>
                  <a:pt x="111986" y="40487"/>
                </a:lnTo>
                <a:lnTo>
                  <a:pt x="155131" y="18629"/>
                </a:lnTo>
                <a:lnTo>
                  <a:pt x="202810" y="4816"/>
                </a:lnTo>
                <a:lnTo>
                  <a:pt x="253999" y="0"/>
                </a:lnTo>
                <a:lnTo>
                  <a:pt x="305189" y="4816"/>
                </a:lnTo>
                <a:lnTo>
                  <a:pt x="352868" y="18629"/>
                </a:lnTo>
                <a:lnTo>
                  <a:pt x="396013" y="40487"/>
                </a:lnTo>
                <a:lnTo>
                  <a:pt x="433604" y="69435"/>
                </a:lnTo>
                <a:lnTo>
                  <a:pt x="464620" y="104520"/>
                </a:lnTo>
                <a:lnTo>
                  <a:pt x="488038" y="144789"/>
                </a:lnTo>
                <a:lnTo>
                  <a:pt x="502839" y="189289"/>
                </a:lnTo>
                <a:lnTo>
                  <a:pt x="507999" y="237066"/>
                </a:lnTo>
                <a:lnTo>
                  <a:pt x="502839" y="284844"/>
                </a:lnTo>
                <a:lnTo>
                  <a:pt x="488038" y="329344"/>
                </a:lnTo>
                <a:lnTo>
                  <a:pt x="464620" y="369613"/>
                </a:lnTo>
                <a:lnTo>
                  <a:pt x="433604" y="404698"/>
                </a:lnTo>
                <a:lnTo>
                  <a:pt x="396013" y="433646"/>
                </a:lnTo>
                <a:lnTo>
                  <a:pt x="352868" y="455503"/>
                </a:lnTo>
                <a:lnTo>
                  <a:pt x="305189" y="469317"/>
                </a:lnTo>
                <a:lnTo>
                  <a:pt x="253999" y="474133"/>
                </a:lnTo>
                <a:lnTo>
                  <a:pt x="202810" y="469317"/>
                </a:lnTo>
                <a:lnTo>
                  <a:pt x="155131" y="455503"/>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7" name="object 7"/>
          <p:cNvSpPr/>
          <p:nvPr/>
        </p:nvSpPr>
        <p:spPr>
          <a:xfrm>
            <a:off x="6180664" y="4168272"/>
            <a:ext cx="508000" cy="474345"/>
          </a:xfrm>
          <a:custGeom>
            <a:avLst/>
            <a:gdLst/>
            <a:ahLst/>
            <a:cxnLst/>
            <a:rect l="l" t="t" r="r" b="b"/>
            <a:pathLst>
              <a:path w="508000" h="474345">
                <a:moveTo>
                  <a:pt x="0" y="237066"/>
                </a:moveTo>
                <a:lnTo>
                  <a:pt x="5160" y="189289"/>
                </a:lnTo>
                <a:lnTo>
                  <a:pt x="19960" y="144789"/>
                </a:lnTo>
                <a:lnTo>
                  <a:pt x="43379" y="104520"/>
                </a:lnTo>
                <a:lnTo>
                  <a:pt x="74394" y="69435"/>
                </a:lnTo>
                <a:lnTo>
                  <a:pt x="111986" y="40487"/>
                </a:lnTo>
                <a:lnTo>
                  <a:pt x="155131" y="18629"/>
                </a:lnTo>
                <a:lnTo>
                  <a:pt x="202810" y="4816"/>
                </a:lnTo>
                <a:lnTo>
                  <a:pt x="253999" y="0"/>
                </a:lnTo>
                <a:lnTo>
                  <a:pt x="305189" y="4816"/>
                </a:lnTo>
                <a:lnTo>
                  <a:pt x="352868" y="18629"/>
                </a:lnTo>
                <a:lnTo>
                  <a:pt x="396013" y="40487"/>
                </a:lnTo>
                <a:lnTo>
                  <a:pt x="433604" y="69435"/>
                </a:lnTo>
                <a:lnTo>
                  <a:pt x="464620" y="104520"/>
                </a:lnTo>
                <a:lnTo>
                  <a:pt x="488038" y="144789"/>
                </a:lnTo>
                <a:lnTo>
                  <a:pt x="502839" y="189289"/>
                </a:lnTo>
                <a:lnTo>
                  <a:pt x="507999" y="237066"/>
                </a:lnTo>
                <a:lnTo>
                  <a:pt x="502839" y="284844"/>
                </a:lnTo>
                <a:lnTo>
                  <a:pt x="488038" y="329344"/>
                </a:lnTo>
                <a:lnTo>
                  <a:pt x="464620" y="369613"/>
                </a:lnTo>
                <a:lnTo>
                  <a:pt x="433604" y="404698"/>
                </a:lnTo>
                <a:lnTo>
                  <a:pt x="396013" y="433646"/>
                </a:lnTo>
                <a:lnTo>
                  <a:pt x="352868" y="455503"/>
                </a:lnTo>
                <a:lnTo>
                  <a:pt x="305189" y="469317"/>
                </a:lnTo>
                <a:lnTo>
                  <a:pt x="253999" y="474133"/>
                </a:lnTo>
                <a:lnTo>
                  <a:pt x="202810" y="469317"/>
                </a:lnTo>
                <a:lnTo>
                  <a:pt x="155131" y="455503"/>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8" name="object 8"/>
          <p:cNvSpPr/>
          <p:nvPr/>
        </p:nvSpPr>
        <p:spPr>
          <a:xfrm>
            <a:off x="8060266" y="4693204"/>
            <a:ext cx="508000" cy="474345"/>
          </a:xfrm>
          <a:custGeom>
            <a:avLst/>
            <a:gdLst/>
            <a:ahLst/>
            <a:cxnLst/>
            <a:rect l="l" t="t" r="r" b="b"/>
            <a:pathLst>
              <a:path w="508000" h="474345">
                <a:moveTo>
                  <a:pt x="0" y="237066"/>
                </a:moveTo>
                <a:lnTo>
                  <a:pt x="5160" y="189289"/>
                </a:lnTo>
                <a:lnTo>
                  <a:pt x="19960" y="144789"/>
                </a:lnTo>
                <a:lnTo>
                  <a:pt x="43379" y="104520"/>
                </a:lnTo>
                <a:lnTo>
                  <a:pt x="74394" y="69435"/>
                </a:lnTo>
                <a:lnTo>
                  <a:pt x="111986" y="40487"/>
                </a:lnTo>
                <a:lnTo>
                  <a:pt x="155131" y="18629"/>
                </a:lnTo>
                <a:lnTo>
                  <a:pt x="202810" y="4816"/>
                </a:lnTo>
                <a:lnTo>
                  <a:pt x="254000" y="0"/>
                </a:lnTo>
                <a:lnTo>
                  <a:pt x="305189" y="4816"/>
                </a:lnTo>
                <a:lnTo>
                  <a:pt x="352868" y="18629"/>
                </a:lnTo>
                <a:lnTo>
                  <a:pt x="396013" y="40487"/>
                </a:lnTo>
                <a:lnTo>
                  <a:pt x="433605" y="69435"/>
                </a:lnTo>
                <a:lnTo>
                  <a:pt x="464620" y="104520"/>
                </a:lnTo>
                <a:lnTo>
                  <a:pt x="488039" y="144789"/>
                </a:lnTo>
                <a:lnTo>
                  <a:pt x="502839" y="189289"/>
                </a:lnTo>
                <a:lnTo>
                  <a:pt x="507999" y="237066"/>
                </a:lnTo>
                <a:lnTo>
                  <a:pt x="502839" y="284844"/>
                </a:lnTo>
                <a:lnTo>
                  <a:pt x="488039" y="329344"/>
                </a:lnTo>
                <a:lnTo>
                  <a:pt x="464620" y="369613"/>
                </a:lnTo>
                <a:lnTo>
                  <a:pt x="433605" y="404698"/>
                </a:lnTo>
                <a:lnTo>
                  <a:pt x="396013" y="433646"/>
                </a:lnTo>
                <a:lnTo>
                  <a:pt x="352868" y="455503"/>
                </a:lnTo>
                <a:lnTo>
                  <a:pt x="305189" y="469317"/>
                </a:lnTo>
                <a:lnTo>
                  <a:pt x="254000" y="474133"/>
                </a:lnTo>
                <a:lnTo>
                  <a:pt x="202810" y="469317"/>
                </a:lnTo>
                <a:lnTo>
                  <a:pt x="155131" y="455503"/>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9" name="object 9"/>
          <p:cNvSpPr/>
          <p:nvPr/>
        </p:nvSpPr>
        <p:spPr>
          <a:xfrm>
            <a:off x="6180664" y="5726137"/>
            <a:ext cx="508000" cy="474345"/>
          </a:xfrm>
          <a:custGeom>
            <a:avLst/>
            <a:gdLst/>
            <a:ahLst/>
            <a:cxnLst/>
            <a:rect l="l" t="t" r="r" b="b"/>
            <a:pathLst>
              <a:path w="508000" h="474345">
                <a:moveTo>
                  <a:pt x="0" y="237066"/>
                </a:moveTo>
                <a:lnTo>
                  <a:pt x="5160" y="189289"/>
                </a:lnTo>
                <a:lnTo>
                  <a:pt x="19960" y="144789"/>
                </a:lnTo>
                <a:lnTo>
                  <a:pt x="43379" y="104520"/>
                </a:lnTo>
                <a:lnTo>
                  <a:pt x="74394" y="69435"/>
                </a:lnTo>
                <a:lnTo>
                  <a:pt x="111986" y="40487"/>
                </a:lnTo>
                <a:lnTo>
                  <a:pt x="155131" y="18629"/>
                </a:lnTo>
                <a:lnTo>
                  <a:pt x="202810" y="4816"/>
                </a:lnTo>
                <a:lnTo>
                  <a:pt x="253999" y="0"/>
                </a:lnTo>
                <a:lnTo>
                  <a:pt x="305189" y="4816"/>
                </a:lnTo>
                <a:lnTo>
                  <a:pt x="352868" y="18629"/>
                </a:lnTo>
                <a:lnTo>
                  <a:pt x="396013" y="40487"/>
                </a:lnTo>
                <a:lnTo>
                  <a:pt x="433604" y="69435"/>
                </a:lnTo>
                <a:lnTo>
                  <a:pt x="464620" y="104520"/>
                </a:lnTo>
                <a:lnTo>
                  <a:pt x="488038" y="144789"/>
                </a:lnTo>
                <a:lnTo>
                  <a:pt x="502839" y="189289"/>
                </a:lnTo>
                <a:lnTo>
                  <a:pt x="507999" y="237066"/>
                </a:lnTo>
                <a:lnTo>
                  <a:pt x="502839" y="284844"/>
                </a:lnTo>
                <a:lnTo>
                  <a:pt x="488038" y="329344"/>
                </a:lnTo>
                <a:lnTo>
                  <a:pt x="464620" y="369613"/>
                </a:lnTo>
                <a:lnTo>
                  <a:pt x="433604" y="404698"/>
                </a:lnTo>
                <a:lnTo>
                  <a:pt x="396013" y="433646"/>
                </a:lnTo>
                <a:lnTo>
                  <a:pt x="352868" y="455504"/>
                </a:lnTo>
                <a:lnTo>
                  <a:pt x="305189" y="469317"/>
                </a:lnTo>
                <a:lnTo>
                  <a:pt x="253999" y="474133"/>
                </a:lnTo>
                <a:lnTo>
                  <a:pt x="202810" y="469317"/>
                </a:lnTo>
                <a:lnTo>
                  <a:pt x="155131" y="455504"/>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10" name="object 10"/>
          <p:cNvSpPr/>
          <p:nvPr/>
        </p:nvSpPr>
        <p:spPr>
          <a:xfrm>
            <a:off x="6180664" y="3660272"/>
            <a:ext cx="508000" cy="474345"/>
          </a:xfrm>
          <a:custGeom>
            <a:avLst/>
            <a:gdLst/>
            <a:ahLst/>
            <a:cxnLst/>
            <a:rect l="l" t="t" r="r" b="b"/>
            <a:pathLst>
              <a:path w="508000" h="474345">
                <a:moveTo>
                  <a:pt x="0" y="237066"/>
                </a:moveTo>
                <a:lnTo>
                  <a:pt x="5160" y="189289"/>
                </a:lnTo>
                <a:lnTo>
                  <a:pt x="19960" y="144789"/>
                </a:lnTo>
                <a:lnTo>
                  <a:pt x="43379" y="104520"/>
                </a:lnTo>
                <a:lnTo>
                  <a:pt x="74394" y="69435"/>
                </a:lnTo>
                <a:lnTo>
                  <a:pt x="111986" y="40487"/>
                </a:lnTo>
                <a:lnTo>
                  <a:pt x="155131" y="18629"/>
                </a:lnTo>
                <a:lnTo>
                  <a:pt x="202810" y="4816"/>
                </a:lnTo>
                <a:lnTo>
                  <a:pt x="253999" y="0"/>
                </a:lnTo>
                <a:lnTo>
                  <a:pt x="305189" y="4816"/>
                </a:lnTo>
                <a:lnTo>
                  <a:pt x="352868" y="18629"/>
                </a:lnTo>
                <a:lnTo>
                  <a:pt x="396013" y="40487"/>
                </a:lnTo>
                <a:lnTo>
                  <a:pt x="433604" y="69435"/>
                </a:lnTo>
                <a:lnTo>
                  <a:pt x="464620" y="104520"/>
                </a:lnTo>
                <a:lnTo>
                  <a:pt x="488038" y="144789"/>
                </a:lnTo>
                <a:lnTo>
                  <a:pt x="502839" y="189289"/>
                </a:lnTo>
                <a:lnTo>
                  <a:pt x="507999" y="237066"/>
                </a:lnTo>
                <a:lnTo>
                  <a:pt x="502839" y="284844"/>
                </a:lnTo>
                <a:lnTo>
                  <a:pt x="488038" y="329344"/>
                </a:lnTo>
                <a:lnTo>
                  <a:pt x="464620" y="369613"/>
                </a:lnTo>
                <a:lnTo>
                  <a:pt x="433604" y="404698"/>
                </a:lnTo>
                <a:lnTo>
                  <a:pt x="396013" y="433646"/>
                </a:lnTo>
                <a:lnTo>
                  <a:pt x="352868" y="455503"/>
                </a:lnTo>
                <a:lnTo>
                  <a:pt x="305189" y="469317"/>
                </a:lnTo>
                <a:lnTo>
                  <a:pt x="253999" y="474133"/>
                </a:lnTo>
                <a:lnTo>
                  <a:pt x="202810" y="469317"/>
                </a:lnTo>
                <a:lnTo>
                  <a:pt x="155131" y="455503"/>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11" name="灯片编号占位符 10"/>
          <p:cNvSpPr>
            <a:spLocks noGrp="1"/>
          </p:cNvSpPr>
          <p:nvPr>
            <p:ph type="sldNum" sz="quarter" idx="12"/>
          </p:nvPr>
        </p:nvSpPr>
        <p:spPr/>
        <p:txBody>
          <a:bodyPr/>
          <a:lstStyle/>
          <a:p>
            <a:fld id="{74D2AB8B-5816-41F2-8B4B-CA5C3E4E6A65}" type="slidenum">
              <a:rPr lang="zh-CN" altLang="en-US" smtClean="0"/>
              <a:t>14</a:t>
            </a:fld>
            <a:endParaRPr lang="zh-CN" altLang="en-US"/>
          </a:p>
        </p:txBody>
      </p:sp>
      <p:sp>
        <p:nvSpPr>
          <p:cNvPr id="13" name="标题 12"/>
          <p:cNvSpPr>
            <a:spLocks noGrp="1"/>
          </p:cNvSpPr>
          <p:nvPr>
            <p:ph type="title"/>
          </p:nvPr>
        </p:nvSpPr>
        <p:spPr/>
        <p:txBody>
          <a:bodyPr/>
          <a:lstStyle/>
          <a:p>
            <a:r>
              <a:rPr lang="zh-CN" altLang="en-US" dirty="0"/>
              <a:t>举例：判断三角形类型</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47133" y="1489501"/>
            <a:ext cx="3096260" cy="540385"/>
          </a:xfrm>
          <a:prstGeom prst="rect">
            <a:avLst/>
          </a:prstGeom>
          <a:solidFill>
            <a:srgbClr val="797BA9"/>
          </a:solidFill>
        </p:spPr>
        <p:txBody>
          <a:bodyPr vert="horz" wrap="square" lIns="0" tIns="117475" rIns="0" bIns="0" rtlCol="0">
            <a:spAutoFit/>
          </a:bodyPr>
          <a:lstStyle/>
          <a:p>
            <a:pPr marL="408940">
              <a:lnSpc>
                <a:spcPct val="100000"/>
              </a:lnSpc>
              <a:spcBef>
                <a:spcPts val="925"/>
              </a:spcBef>
            </a:pPr>
            <a:r>
              <a:rPr sz="2000" dirty="0">
                <a:solidFill>
                  <a:srgbClr val="FFFFFF"/>
                </a:solidFill>
                <a:latin typeface="微软雅黑" panose="020B0503020204020204" pitchFamily="34" charset="-122"/>
                <a:cs typeface="微软雅黑" panose="020B0503020204020204" pitchFamily="34" charset="-122"/>
              </a:rPr>
              <a:t>健壮等价类测试用例</a:t>
            </a:r>
            <a:endParaRPr sz="2000">
              <a:latin typeface="微软雅黑" panose="020B0503020204020204" pitchFamily="34" charset="-122"/>
              <a:cs typeface="微软雅黑" panose="020B0503020204020204" pitchFamily="34" charset="-122"/>
            </a:endParaRPr>
          </a:p>
        </p:txBody>
      </p:sp>
      <p:graphicFrame>
        <p:nvGraphicFramePr>
          <p:cNvPr id="4" name="object 4"/>
          <p:cNvGraphicFramePr>
            <a:graphicFrameLocks noGrp="1"/>
          </p:cNvGraphicFramePr>
          <p:nvPr>
            <p:extLst>
              <p:ext uri="{D42A27DB-BD31-4B8C-83A1-F6EECF244321}">
                <p14:modId xmlns:p14="http://schemas.microsoft.com/office/powerpoint/2010/main" val="2362073446"/>
              </p:ext>
            </p:extLst>
          </p:nvPr>
        </p:nvGraphicFramePr>
        <p:xfrm>
          <a:off x="1040897" y="2051478"/>
          <a:ext cx="9988549" cy="4198231"/>
        </p:xfrm>
        <a:graphic>
          <a:graphicData uri="http://schemas.openxmlformats.org/drawingml/2006/table">
            <a:tbl>
              <a:tblPr firstRow="1" bandRow="1">
                <a:tableStyleId>{2D5ABB26-0587-4C30-8999-92F81FD0307C}</a:tableStyleId>
              </a:tblPr>
              <a:tblGrid>
                <a:gridCol w="849630">
                  <a:extLst>
                    <a:ext uri="{9D8B030D-6E8A-4147-A177-3AD203B41FA5}">
                      <a16:colId xmlns:a16="http://schemas.microsoft.com/office/drawing/2014/main" val="20000"/>
                    </a:ext>
                  </a:extLst>
                </a:gridCol>
                <a:gridCol w="3984625">
                  <a:extLst>
                    <a:ext uri="{9D8B030D-6E8A-4147-A177-3AD203B41FA5}">
                      <a16:colId xmlns:a16="http://schemas.microsoft.com/office/drawing/2014/main" val="20001"/>
                    </a:ext>
                  </a:extLst>
                </a:gridCol>
                <a:gridCol w="930910">
                  <a:extLst>
                    <a:ext uri="{9D8B030D-6E8A-4147-A177-3AD203B41FA5}">
                      <a16:colId xmlns:a16="http://schemas.microsoft.com/office/drawing/2014/main" val="20002"/>
                    </a:ext>
                  </a:extLst>
                </a:gridCol>
                <a:gridCol w="951230">
                  <a:extLst>
                    <a:ext uri="{9D8B030D-6E8A-4147-A177-3AD203B41FA5}">
                      <a16:colId xmlns:a16="http://schemas.microsoft.com/office/drawing/2014/main" val="20003"/>
                    </a:ext>
                  </a:extLst>
                </a:gridCol>
                <a:gridCol w="1012190">
                  <a:extLst>
                    <a:ext uri="{9D8B030D-6E8A-4147-A177-3AD203B41FA5}">
                      <a16:colId xmlns:a16="http://schemas.microsoft.com/office/drawing/2014/main" val="20004"/>
                    </a:ext>
                  </a:extLst>
                </a:gridCol>
                <a:gridCol w="2259964">
                  <a:extLst>
                    <a:ext uri="{9D8B030D-6E8A-4147-A177-3AD203B41FA5}">
                      <a16:colId xmlns:a16="http://schemas.microsoft.com/office/drawing/2014/main" val="20005"/>
                    </a:ext>
                  </a:extLst>
                </a:gridCol>
              </a:tblGrid>
              <a:tr h="466471">
                <a:tc rowSpan="2">
                  <a:txBody>
                    <a:bodyPr/>
                    <a:lstStyle/>
                    <a:p>
                      <a:pPr>
                        <a:lnSpc>
                          <a:spcPct val="100000"/>
                        </a:lnSpc>
                      </a:pPr>
                      <a:endParaRPr sz="2150">
                        <a:latin typeface="Times New Roman" panose="02020603050405020304"/>
                        <a:cs typeface="Times New Roman" panose="02020603050405020304"/>
                      </a:endParaRPr>
                    </a:p>
                    <a:p>
                      <a:pPr marL="170180">
                        <a:lnSpc>
                          <a:spcPct val="100000"/>
                        </a:lnSpc>
                      </a:pPr>
                      <a:r>
                        <a:rPr sz="2000" dirty="0">
                          <a:solidFill>
                            <a:srgbClr val="0033CC"/>
                          </a:solidFill>
                          <a:latin typeface="微软雅黑" panose="020B0503020204020204" pitchFamily="34" charset="-122"/>
                          <a:cs typeface="微软雅黑" panose="020B0503020204020204" pitchFamily="34" charset="-122"/>
                        </a:rPr>
                        <a:t>序号</a:t>
                      </a:r>
                      <a:endParaRPr sz="2000">
                        <a:latin typeface="微软雅黑" panose="020B0503020204020204" pitchFamily="34" charset="-122"/>
                        <a:cs typeface="微软雅黑" panose="020B0503020204020204" pitchFamily="34" charset="-122"/>
                      </a:endParaRPr>
                    </a:p>
                  </a:txBody>
                  <a:tcPr marL="0" marR="0" marT="0" marB="0">
                    <a:lnR w="12700">
                      <a:solidFill>
                        <a:srgbClr val="000000"/>
                      </a:solidFill>
                      <a:prstDash val="solid"/>
                    </a:lnR>
                    <a:lnT w="28575">
                      <a:solidFill>
                        <a:srgbClr val="000000"/>
                      </a:solidFill>
                      <a:prstDash val="solid"/>
                    </a:lnT>
                    <a:lnB w="28575">
                      <a:solidFill>
                        <a:srgbClr val="000000"/>
                      </a:solidFill>
                      <a:prstDash val="solid"/>
                    </a:lnB>
                  </a:tcPr>
                </a:tc>
                <a:tc rowSpan="2">
                  <a:txBody>
                    <a:bodyPr/>
                    <a:lstStyle/>
                    <a:p>
                      <a:pPr>
                        <a:lnSpc>
                          <a:spcPct val="100000"/>
                        </a:lnSpc>
                      </a:pPr>
                      <a:endParaRPr sz="2150">
                        <a:latin typeface="Times New Roman" panose="02020603050405020304"/>
                        <a:cs typeface="Times New Roman" panose="02020603050405020304"/>
                      </a:endParaRPr>
                    </a:p>
                    <a:p>
                      <a:pPr marL="1229995">
                        <a:lnSpc>
                          <a:spcPct val="100000"/>
                        </a:lnSpc>
                      </a:pPr>
                      <a:r>
                        <a:rPr sz="2000" dirty="0">
                          <a:solidFill>
                            <a:srgbClr val="0033CC"/>
                          </a:solidFill>
                          <a:latin typeface="微软雅黑" panose="020B0503020204020204" pitchFamily="34" charset="-122"/>
                          <a:cs typeface="微软雅黑" panose="020B0503020204020204" pitchFamily="34" charset="-122"/>
                        </a:rPr>
                        <a:t>测试用例描述</a:t>
                      </a:r>
                      <a:endParaRPr sz="2000">
                        <a:latin typeface="微软雅黑" panose="020B0503020204020204" pitchFamily="34" charset="-122"/>
                        <a:cs typeface="微软雅黑" panose="020B0503020204020204" pitchFamily="34" charset="-122"/>
                      </a:endParaRPr>
                    </a:p>
                  </a:txBody>
                  <a:tcPr marL="0" marR="0" marT="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gridSpan="3">
                  <a:txBody>
                    <a:bodyPr/>
                    <a:lstStyle/>
                    <a:p>
                      <a:pPr marL="937895">
                        <a:lnSpc>
                          <a:spcPct val="100000"/>
                        </a:lnSpc>
                        <a:spcBef>
                          <a:spcPts val="635"/>
                        </a:spcBef>
                      </a:pPr>
                      <a:r>
                        <a:rPr sz="2000" dirty="0">
                          <a:solidFill>
                            <a:srgbClr val="0033CC"/>
                          </a:solidFill>
                          <a:latin typeface="微软雅黑" panose="020B0503020204020204" pitchFamily="34" charset="-122"/>
                          <a:cs typeface="微软雅黑" panose="020B0503020204020204" pitchFamily="34" charset="-122"/>
                        </a:rPr>
                        <a:t>输入参数</a:t>
                      </a:r>
                      <a:endParaRPr sz="2000">
                        <a:latin typeface="微软雅黑" panose="020B0503020204020204" pitchFamily="34" charset="-122"/>
                        <a:cs typeface="微软雅黑" panose="020B0503020204020204" pitchFamily="34" charset="-122"/>
                      </a:endParaRPr>
                    </a:p>
                  </a:txBody>
                  <a:tcPr marL="0" marR="0" marT="80645"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hMerge="1">
                  <a:txBody>
                    <a:bodyPr/>
                    <a:lstStyle/>
                    <a:p>
                      <a:endParaRPr lang="zh-CN"/>
                    </a:p>
                  </a:txBody>
                  <a:tcPr marL="0" marR="0" marT="0" marB="0"/>
                </a:tc>
                <a:tc hMerge="1">
                  <a:txBody>
                    <a:bodyPr/>
                    <a:lstStyle/>
                    <a:p>
                      <a:endParaRPr lang="zh-CN"/>
                    </a:p>
                  </a:txBody>
                  <a:tcPr marL="0" marR="0" marT="0" marB="0"/>
                </a:tc>
                <a:tc rowSpan="2">
                  <a:txBody>
                    <a:bodyPr/>
                    <a:lstStyle/>
                    <a:p>
                      <a:pPr>
                        <a:lnSpc>
                          <a:spcPct val="100000"/>
                        </a:lnSpc>
                      </a:pPr>
                      <a:endParaRPr sz="2150">
                        <a:latin typeface="Times New Roman" panose="02020603050405020304"/>
                        <a:cs typeface="Times New Roman" panose="02020603050405020304"/>
                      </a:endParaRPr>
                    </a:p>
                    <a:p>
                      <a:pPr marL="621030">
                        <a:lnSpc>
                          <a:spcPct val="100000"/>
                        </a:lnSpc>
                      </a:pPr>
                      <a:r>
                        <a:rPr sz="2000" dirty="0">
                          <a:solidFill>
                            <a:srgbClr val="0033CC"/>
                          </a:solidFill>
                          <a:latin typeface="微软雅黑" panose="020B0503020204020204" pitchFamily="34" charset="-122"/>
                          <a:cs typeface="微软雅黑" panose="020B0503020204020204" pitchFamily="34" charset="-122"/>
                        </a:rPr>
                        <a:t>期望输出</a:t>
                      </a:r>
                      <a:endParaRPr sz="2000">
                        <a:latin typeface="微软雅黑" panose="020B0503020204020204" pitchFamily="34" charset="-122"/>
                        <a:cs typeface="微软雅黑" panose="020B0503020204020204" pitchFamily="34" charset="-122"/>
                      </a:endParaRPr>
                    </a:p>
                  </a:txBody>
                  <a:tcPr marL="0" marR="0" marT="0" marB="0">
                    <a:lnL w="12700">
                      <a:solidFill>
                        <a:srgbClr val="000000"/>
                      </a:solidFill>
                      <a:prstDash val="solid"/>
                    </a:lnL>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r h="466470">
                <a:tc vMerge="1">
                  <a:txBody>
                    <a:bodyPr/>
                    <a:lstStyle/>
                    <a:p>
                      <a:endParaRPr lang="zh-CN"/>
                    </a:p>
                  </a:txBody>
                  <a:tcPr marL="0" marR="0" marT="0" marB="0">
                    <a:lnR w="12700">
                      <a:solidFill>
                        <a:srgbClr val="000000"/>
                      </a:solidFill>
                      <a:prstDash val="solid"/>
                    </a:lnR>
                    <a:lnT w="28575">
                      <a:solidFill>
                        <a:srgbClr val="000000"/>
                      </a:solidFill>
                      <a:prstDash val="solid"/>
                    </a:lnT>
                    <a:lnB w="28575">
                      <a:solidFill>
                        <a:srgbClr val="000000"/>
                      </a:solidFill>
                      <a:prstDash val="solid"/>
                    </a:lnB>
                  </a:tcPr>
                </a:tc>
                <a:tc vMerge="1">
                  <a:txBody>
                    <a:bodyPr/>
                    <a:lstStyle/>
                    <a:p>
                      <a:endParaRPr lang="zh-CN"/>
                    </a:p>
                  </a:txBody>
                  <a:tcPr marL="0" marR="0" marT="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algn="ctr">
                        <a:lnSpc>
                          <a:spcPct val="100000"/>
                        </a:lnSpc>
                        <a:spcBef>
                          <a:spcPts val="635"/>
                        </a:spcBef>
                      </a:pPr>
                      <a:r>
                        <a:rPr sz="2000" dirty="0">
                          <a:solidFill>
                            <a:srgbClr val="0033CC"/>
                          </a:solidFill>
                          <a:latin typeface="Arial" panose="020B0604020202020204"/>
                          <a:cs typeface="Arial" panose="020B0604020202020204"/>
                        </a:rPr>
                        <a:t>a</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gn="ctr">
                        <a:lnSpc>
                          <a:spcPct val="100000"/>
                        </a:lnSpc>
                        <a:spcBef>
                          <a:spcPts val="635"/>
                        </a:spcBef>
                      </a:pPr>
                      <a:r>
                        <a:rPr sz="2000" dirty="0">
                          <a:solidFill>
                            <a:srgbClr val="0033CC"/>
                          </a:solidFill>
                          <a:latin typeface="Arial" panose="020B0604020202020204"/>
                          <a:cs typeface="Arial" panose="020B0604020202020204"/>
                        </a:rPr>
                        <a:t>b</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gn="ctr">
                        <a:lnSpc>
                          <a:spcPct val="100000"/>
                        </a:lnSpc>
                        <a:spcBef>
                          <a:spcPts val="635"/>
                        </a:spcBef>
                      </a:pPr>
                      <a:r>
                        <a:rPr sz="2000" dirty="0">
                          <a:solidFill>
                            <a:srgbClr val="0033CC"/>
                          </a:solidFill>
                          <a:latin typeface="Arial" panose="020B0604020202020204"/>
                          <a:cs typeface="Arial" panose="020B0604020202020204"/>
                        </a:rPr>
                        <a:t>c</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vMerge="1">
                  <a:txBody>
                    <a:bodyPr/>
                    <a:lstStyle/>
                    <a:p>
                      <a:endParaRPr lang="zh-CN"/>
                    </a:p>
                  </a:txBody>
                  <a:tcPr marL="0" marR="0" marT="0" marB="0">
                    <a:lnL w="12700">
                      <a:solidFill>
                        <a:srgbClr val="000000"/>
                      </a:solidFill>
                      <a:prstDash val="solid"/>
                    </a:lnL>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1"/>
                  </a:ext>
                </a:extLst>
              </a:tr>
              <a:tr h="466470">
                <a:tc>
                  <a:txBody>
                    <a:bodyPr/>
                    <a:lstStyle/>
                    <a:p>
                      <a:pPr algn="ctr">
                        <a:lnSpc>
                          <a:spcPct val="100000"/>
                        </a:lnSpc>
                        <a:spcBef>
                          <a:spcPts val="635"/>
                        </a:spcBef>
                      </a:pPr>
                      <a:r>
                        <a:rPr sz="2000" dirty="0">
                          <a:latin typeface="Arial" panose="020B0604020202020204"/>
                          <a:cs typeface="Arial" panose="020B0604020202020204"/>
                        </a:rPr>
                        <a:t>1-4</a:t>
                      </a:r>
                      <a:endParaRPr sz="2000">
                        <a:latin typeface="Arial" panose="020B0604020202020204"/>
                        <a:cs typeface="Arial" panose="020B0604020202020204"/>
                      </a:endParaRPr>
                    </a:p>
                  </a:txBody>
                  <a:tcPr marL="0" marR="0" marT="80645" marB="0">
                    <a:lnR w="12700">
                      <a:solidFill>
                        <a:srgbClr val="000000"/>
                      </a:solidFill>
                      <a:prstDash val="solid"/>
                    </a:lnR>
                    <a:lnT w="2857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微软雅黑" panose="020B0503020204020204" pitchFamily="34" charset="-122"/>
                          <a:cs typeface="微软雅黑" panose="020B0503020204020204" pitchFamily="34" charset="-122"/>
                        </a:rPr>
                        <a:t>有效等价类同前面（略）</a:t>
                      </a:r>
                      <a:endParaRPr sz="2000">
                        <a:latin typeface="微软雅黑" panose="020B0503020204020204" pitchFamily="34" charset="-122"/>
                        <a:cs typeface="微软雅黑" panose="020B0503020204020204" pitchFamily="34" charset="-122"/>
                      </a:endParaRPr>
                    </a:p>
                  </a:txBody>
                  <a:tcPr marL="0" marR="0" marT="80645"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a:lnSpc>
                          <a:spcPct val="100000"/>
                        </a:lnSpc>
                      </a:pPr>
                      <a:endParaRPr sz="20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a:lnSpc>
                          <a:spcPct val="100000"/>
                        </a:lnSpc>
                      </a:pPr>
                      <a:endParaRPr sz="20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a:lnSpc>
                          <a:spcPct val="100000"/>
                        </a:lnSpc>
                      </a:pPr>
                      <a:endParaRPr sz="2000">
                        <a:latin typeface="Times New Roman" panose="02020603050405020304"/>
                        <a:cs typeface="Times New Roman" panose="02020603050405020304"/>
                      </a:endParaRPr>
                    </a:p>
                  </a:txBody>
                  <a:tcPr marL="0" marR="0" marT="0"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a:lnSpc>
                          <a:spcPct val="100000"/>
                        </a:lnSpc>
                      </a:pPr>
                      <a:endParaRPr sz="2000">
                        <a:latin typeface="Times New Roman" panose="02020603050405020304"/>
                        <a:cs typeface="Times New Roman" panose="02020603050405020304"/>
                      </a:endParaRPr>
                    </a:p>
                  </a:txBody>
                  <a:tcPr marL="0" marR="0" marT="0" marB="0">
                    <a:lnL w="12700">
                      <a:solidFill>
                        <a:srgbClr val="000000"/>
                      </a:solidFill>
                      <a:prstDash val="solid"/>
                    </a:lnL>
                    <a:lnT w="28575">
                      <a:solidFill>
                        <a:srgbClr val="000000"/>
                      </a:solidFill>
                      <a:prstDash val="solid"/>
                    </a:lnT>
                    <a:lnB w="9525">
                      <a:solidFill>
                        <a:srgbClr val="000000"/>
                      </a:solidFill>
                      <a:prstDash val="solid"/>
                    </a:lnB>
                  </a:tcPr>
                </a:tc>
                <a:extLst>
                  <a:ext uri="{0D108BD9-81ED-4DB2-BD59-A6C34878D82A}">
                    <a16:rowId xmlns:a16="http://schemas.microsoft.com/office/drawing/2014/main" val="10002"/>
                  </a:ext>
                </a:extLst>
              </a:tr>
              <a:tr h="466470">
                <a:tc>
                  <a:txBody>
                    <a:bodyPr/>
                    <a:lstStyle/>
                    <a:p>
                      <a:pPr algn="ctr">
                        <a:lnSpc>
                          <a:spcPct val="100000"/>
                        </a:lnSpc>
                        <a:spcBef>
                          <a:spcPts val="635"/>
                        </a:spcBef>
                      </a:pPr>
                      <a:r>
                        <a:rPr sz="2000" dirty="0">
                          <a:latin typeface="Arial" panose="020B0604020202020204"/>
                          <a:cs typeface="Arial" panose="020B0604020202020204"/>
                        </a:rPr>
                        <a:t>5</a:t>
                      </a:r>
                      <a:endParaRPr sz="2000">
                        <a:latin typeface="Arial" panose="020B0604020202020204"/>
                        <a:cs typeface="Arial" panose="020B0604020202020204"/>
                      </a:endParaRPr>
                    </a:p>
                  </a:txBody>
                  <a:tcPr marL="0" marR="0" marT="80645" marB="0">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spc="-5" dirty="0">
                          <a:solidFill>
                            <a:srgbClr val="FF0000"/>
                          </a:solidFill>
                          <a:latin typeface="Arial" panose="020B0604020202020204"/>
                          <a:cs typeface="Arial" panose="020B0604020202020204"/>
                        </a:rPr>
                        <a:t>a&lt;0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c&gt;0</a:t>
                      </a:r>
                      <a:endParaRPr sz="2000" dirty="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-1</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5</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5</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a</a:t>
                      </a:r>
                      <a:r>
                        <a:rPr sz="2000" spc="-10" dirty="0">
                          <a:latin typeface="Arial" panose="020B0604020202020204"/>
                          <a:cs typeface="Arial" panose="020B0604020202020204"/>
                        </a:rPr>
                        <a:t> </a:t>
                      </a:r>
                      <a:r>
                        <a:rPr sz="2000" dirty="0">
                          <a:latin typeface="微软雅黑" panose="020B0503020204020204" pitchFamily="34" charset="-122"/>
                          <a:cs typeface="微软雅黑" panose="020B0503020204020204" pitchFamily="34" charset="-122"/>
                        </a:rPr>
                        <a:t>值越界</a:t>
                      </a:r>
                      <a:endParaRPr sz="2000">
                        <a:latin typeface="微软雅黑" panose="020B0503020204020204" pitchFamily="34" charset="-122"/>
                        <a:cs typeface="微软雅黑" panose="020B0503020204020204" pitchFamily="34" charset="-122"/>
                      </a:endParaRPr>
                    </a:p>
                  </a:txBody>
                  <a:tcPr marL="0" marR="0" marT="80645" marB="0">
                    <a:lnL w="12700">
                      <a:solidFill>
                        <a:srgbClr val="000000"/>
                      </a:solidFill>
                      <a:prstDash val="solid"/>
                    </a:lnL>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3"/>
                  </a:ext>
                </a:extLst>
              </a:tr>
              <a:tr h="466470">
                <a:tc>
                  <a:txBody>
                    <a:bodyPr/>
                    <a:lstStyle/>
                    <a:p>
                      <a:pPr algn="ctr">
                        <a:lnSpc>
                          <a:spcPct val="100000"/>
                        </a:lnSpc>
                        <a:spcBef>
                          <a:spcPts val="635"/>
                        </a:spcBef>
                      </a:pPr>
                      <a:r>
                        <a:rPr sz="2000" dirty="0">
                          <a:latin typeface="Arial" panose="020B0604020202020204"/>
                          <a:cs typeface="Arial" panose="020B0604020202020204"/>
                        </a:rPr>
                        <a:t>6</a:t>
                      </a:r>
                      <a:endParaRPr sz="2000">
                        <a:latin typeface="Arial" panose="020B0604020202020204"/>
                        <a:cs typeface="Arial" panose="020B0604020202020204"/>
                      </a:endParaRPr>
                    </a:p>
                  </a:txBody>
                  <a:tcPr marL="0" marR="0" marT="80645" marB="0">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spc="-5" dirty="0">
                          <a:latin typeface="Arial" panose="020B0604020202020204"/>
                          <a:cs typeface="Arial" panose="020B0604020202020204"/>
                        </a:rPr>
                        <a:t>a&gt;0</a:t>
                      </a:r>
                      <a:r>
                        <a:rPr sz="2000" spc="-5" dirty="0">
                          <a:latin typeface="微软雅黑" panose="020B0503020204020204" pitchFamily="34" charset="-122"/>
                          <a:cs typeface="微软雅黑" panose="020B0503020204020204" pitchFamily="34" charset="-122"/>
                        </a:rPr>
                        <a:t>，</a:t>
                      </a:r>
                      <a:r>
                        <a:rPr sz="2000" spc="-5" dirty="0">
                          <a:solidFill>
                            <a:srgbClr val="FF0000"/>
                          </a:solidFill>
                          <a:latin typeface="Arial" panose="020B0604020202020204"/>
                          <a:cs typeface="Arial" panose="020B0604020202020204"/>
                        </a:rPr>
                        <a:t>b&lt;0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c&gt;0</a:t>
                      </a:r>
                      <a:endParaRPr sz="2000" dirty="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5</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-1</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5</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b</a:t>
                      </a:r>
                      <a:r>
                        <a:rPr sz="2000" spc="-10" dirty="0">
                          <a:latin typeface="Arial" panose="020B0604020202020204"/>
                          <a:cs typeface="Arial" panose="020B0604020202020204"/>
                        </a:rPr>
                        <a:t> </a:t>
                      </a:r>
                      <a:r>
                        <a:rPr sz="2000" dirty="0">
                          <a:latin typeface="微软雅黑" panose="020B0503020204020204" pitchFamily="34" charset="-122"/>
                          <a:cs typeface="微软雅黑" panose="020B0503020204020204" pitchFamily="34" charset="-122"/>
                        </a:rPr>
                        <a:t>值越界</a:t>
                      </a:r>
                      <a:endParaRPr sz="2000">
                        <a:latin typeface="微软雅黑" panose="020B0503020204020204" pitchFamily="34" charset="-122"/>
                        <a:cs typeface="微软雅黑" panose="020B0503020204020204" pitchFamily="34" charset="-122"/>
                      </a:endParaRPr>
                    </a:p>
                  </a:txBody>
                  <a:tcPr marL="0" marR="0" marT="80645" marB="0">
                    <a:lnL w="12700">
                      <a:solidFill>
                        <a:srgbClr val="000000"/>
                      </a:solidFill>
                      <a:prstDash val="solid"/>
                    </a:lnL>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4"/>
                  </a:ext>
                </a:extLst>
              </a:tr>
              <a:tr h="466470">
                <a:tc>
                  <a:txBody>
                    <a:bodyPr/>
                    <a:lstStyle/>
                    <a:p>
                      <a:pPr algn="ctr">
                        <a:lnSpc>
                          <a:spcPct val="100000"/>
                        </a:lnSpc>
                        <a:spcBef>
                          <a:spcPts val="635"/>
                        </a:spcBef>
                      </a:pPr>
                      <a:r>
                        <a:rPr sz="2000" dirty="0">
                          <a:latin typeface="Arial" panose="020B0604020202020204"/>
                          <a:cs typeface="Arial" panose="020B0604020202020204"/>
                        </a:rPr>
                        <a:t>7</a:t>
                      </a:r>
                      <a:endParaRPr sz="2000">
                        <a:latin typeface="Arial" panose="020B0604020202020204"/>
                        <a:cs typeface="Arial" panose="020B0604020202020204"/>
                      </a:endParaRPr>
                    </a:p>
                  </a:txBody>
                  <a:tcPr marL="0" marR="0" marT="80645" marB="0">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spc="-5" dirty="0">
                          <a:latin typeface="Arial" panose="020B0604020202020204"/>
                          <a:cs typeface="Arial" panose="020B0604020202020204"/>
                        </a:rPr>
                        <a:t>a&gt;0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b&gt;0</a:t>
                      </a:r>
                      <a:r>
                        <a:rPr sz="2000" spc="-5" dirty="0">
                          <a:latin typeface="微软雅黑" panose="020B0503020204020204" pitchFamily="34" charset="-122"/>
                          <a:cs typeface="微软雅黑" panose="020B0503020204020204" pitchFamily="34" charset="-122"/>
                        </a:rPr>
                        <a:t>，</a:t>
                      </a:r>
                      <a:r>
                        <a:rPr sz="2000" spc="-5" dirty="0">
                          <a:solidFill>
                            <a:srgbClr val="FF0000"/>
                          </a:solidFill>
                          <a:latin typeface="Arial" panose="020B0604020202020204"/>
                          <a:cs typeface="Arial" panose="020B0604020202020204"/>
                        </a:rPr>
                        <a:t>c&lt;0</a:t>
                      </a:r>
                      <a:endParaRPr sz="2000" dirty="0">
                        <a:solidFill>
                          <a:srgbClr val="FF0000"/>
                        </a:solidFill>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5</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5</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-1</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c</a:t>
                      </a:r>
                      <a:r>
                        <a:rPr sz="2000" spc="-10" dirty="0">
                          <a:latin typeface="Arial" panose="020B0604020202020204"/>
                          <a:cs typeface="Arial" panose="020B0604020202020204"/>
                        </a:rPr>
                        <a:t> </a:t>
                      </a:r>
                      <a:r>
                        <a:rPr sz="2000" dirty="0">
                          <a:latin typeface="微软雅黑" panose="020B0503020204020204" pitchFamily="34" charset="-122"/>
                          <a:cs typeface="微软雅黑" panose="020B0503020204020204" pitchFamily="34" charset="-122"/>
                        </a:rPr>
                        <a:t>值越界</a:t>
                      </a:r>
                      <a:endParaRPr sz="2000">
                        <a:latin typeface="微软雅黑" panose="020B0503020204020204" pitchFamily="34" charset="-122"/>
                        <a:cs typeface="微软雅黑" panose="020B0503020204020204" pitchFamily="34" charset="-122"/>
                      </a:endParaRPr>
                    </a:p>
                  </a:txBody>
                  <a:tcPr marL="0" marR="0" marT="80645" marB="0">
                    <a:lnL w="12700">
                      <a:solidFill>
                        <a:srgbClr val="000000"/>
                      </a:solidFill>
                      <a:prstDash val="solid"/>
                    </a:lnL>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5"/>
                  </a:ext>
                </a:extLst>
              </a:tr>
              <a:tr h="466470">
                <a:tc>
                  <a:txBody>
                    <a:bodyPr/>
                    <a:lstStyle/>
                    <a:p>
                      <a:pPr algn="ctr">
                        <a:lnSpc>
                          <a:spcPct val="100000"/>
                        </a:lnSpc>
                        <a:spcBef>
                          <a:spcPts val="635"/>
                        </a:spcBef>
                      </a:pPr>
                      <a:r>
                        <a:rPr sz="2000" dirty="0">
                          <a:latin typeface="Arial" panose="020B0604020202020204"/>
                          <a:cs typeface="Arial" panose="020B0604020202020204"/>
                        </a:rPr>
                        <a:t>8</a:t>
                      </a:r>
                      <a:endParaRPr sz="2000">
                        <a:latin typeface="Arial" panose="020B0604020202020204"/>
                        <a:cs typeface="Arial" panose="020B0604020202020204"/>
                      </a:endParaRPr>
                    </a:p>
                  </a:txBody>
                  <a:tcPr marL="0" marR="0" marT="80645" marB="0">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spc="-5" dirty="0">
                          <a:solidFill>
                            <a:srgbClr val="FF0000"/>
                          </a:solidFill>
                          <a:latin typeface="Arial" panose="020B0604020202020204"/>
                          <a:cs typeface="Arial" panose="020B0604020202020204"/>
                        </a:rPr>
                        <a:t>a&gt;</a:t>
                      </a:r>
                      <a:r>
                        <a:rPr lang="en-US" altLang="zh-CN" sz="2000" spc="-5" dirty="0">
                          <a:solidFill>
                            <a:srgbClr val="FF0000"/>
                          </a:solidFill>
                          <a:latin typeface="Arial" panose="020B0604020202020204"/>
                          <a:cs typeface="Arial" panose="020B0604020202020204"/>
                        </a:rPr>
                        <a:t>2</a:t>
                      </a:r>
                      <a:r>
                        <a:rPr sz="2000" spc="-5" dirty="0">
                          <a:solidFill>
                            <a:srgbClr val="FF0000"/>
                          </a:solidFill>
                          <a:latin typeface="Arial" panose="020B0604020202020204"/>
                          <a:cs typeface="Arial" panose="020B0604020202020204"/>
                        </a:rPr>
                        <a:t>00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c&gt;0</a:t>
                      </a:r>
                      <a:endParaRPr sz="2000" dirty="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lang="en-US" altLang="zh-CN" sz="2000" dirty="0">
                          <a:latin typeface="Arial" panose="020B0604020202020204"/>
                          <a:cs typeface="Arial" panose="020B0604020202020204"/>
                        </a:rPr>
                        <a:t>2</a:t>
                      </a:r>
                      <a:r>
                        <a:rPr sz="2000" dirty="0">
                          <a:latin typeface="Arial" panose="020B0604020202020204"/>
                          <a:cs typeface="Arial" panose="020B0604020202020204"/>
                        </a:rPr>
                        <a:t>01</a:t>
                      </a: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5</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5</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a</a:t>
                      </a:r>
                      <a:r>
                        <a:rPr sz="2000" spc="-10" dirty="0">
                          <a:latin typeface="Arial" panose="020B0604020202020204"/>
                          <a:cs typeface="Arial" panose="020B0604020202020204"/>
                        </a:rPr>
                        <a:t> </a:t>
                      </a:r>
                      <a:r>
                        <a:rPr sz="2000" dirty="0">
                          <a:latin typeface="微软雅黑" panose="020B0503020204020204" pitchFamily="34" charset="-122"/>
                          <a:cs typeface="微软雅黑" panose="020B0503020204020204" pitchFamily="34" charset="-122"/>
                        </a:rPr>
                        <a:t>值越界</a:t>
                      </a:r>
                      <a:endParaRPr sz="2000">
                        <a:latin typeface="微软雅黑" panose="020B0503020204020204" pitchFamily="34" charset="-122"/>
                        <a:cs typeface="微软雅黑" panose="020B0503020204020204" pitchFamily="34" charset="-122"/>
                      </a:endParaRPr>
                    </a:p>
                  </a:txBody>
                  <a:tcPr marL="0" marR="0" marT="80645" marB="0">
                    <a:lnL w="12700">
                      <a:solidFill>
                        <a:srgbClr val="000000"/>
                      </a:solidFill>
                      <a:prstDash val="solid"/>
                    </a:lnL>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6"/>
                  </a:ext>
                </a:extLst>
              </a:tr>
              <a:tr h="466470">
                <a:tc>
                  <a:txBody>
                    <a:bodyPr/>
                    <a:lstStyle/>
                    <a:p>
                      <a:pPr algn="ctr">
                        <a:lnSpc>
                          <a:spcPct val="100000"/>
                        </a:lnSpc>
                        <a:spcBef>
                          <a:spcPts val="635"/>
                        </a:spcBef>
                      </a:pPr>
                      <a:r>
                        <a:rPr sz="2000" dirty="0">
                          <a:latin typeface="Arial" panose="020B0604020202020204"/>
                          <a:cs typeface="Arial" panose="020B0604020202020204"/>
                        </a:rPr>
                        <a:t>9</a:t>
                      </a:r>
                      <a:endParaRPr sz="2000">
                        <a:latin typeface="Arial" panose="020B0604020202020204"/>
                        <a:cs typeface="Arial" panose="020B0604020202020204"/>
                      </a:endParaRPr>
                    </a:p>
                  </a:txBody>
                  <a:tcPr marL="0" marR="0" marT="80645" marB="0">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spc="-5" dirty="0">
                          <a:latin typeface="Arial" panose="020B0604020202020204"/>
                          <a:cs typeface="Arial" panose="020B0604020202020204"/>
                        </a:rPr>
                        <a:t>a&gt;0</a:t>
                      </a:r>
                      <a:r>
                        <a:rPr sz="2000" spc="-5" dirty="0">
                          <a:latin typeface="微软雅黑" panose="020B0503020204020204" pitchFamily="34" charset="-122"/>
                          <a:cs typeface="微软雅黑" panose="020B0503020204020204" pitchFamily="34" charset="-122"/>
                        </a:rPr>
                        <a:t>，</a:t>
                      </a:r>
                      <a:r>
                        <a:rPr sz="2000" spc="-5" dirty="0">
                          <a:solidFill>
                            <a:srgbClr val="FF0000"/>
                          </a:solidFill>
                          <a:latin typeface="Arial" panose="020B0604020202020204"/>
                          <a:cs typeface="Arial" panose="020B0604020202020204"/>
                        </a:rPr>
                        <a:t>b&gt;</a:t>
                      </a:r>
                      <a:r>
                        <a:rPr lang="en-US" altLang="zh-CN" sz="2000" spc="-5" dirty="0">
                          <a:solidFill>
                            <a:srgbClr val="FF0000"/>
                          </a:solidFill>
                          <a:latin typeface="Arial" panose="020B0604020202020204"/>
                          <a:cs typeface="Arial" panose="020B0604020202020204"/>
                        </a:rPr>
                        <a:t>2</a:t>
                      </a:r>
                      <a:r>
                        <a:rPr sz="2000" spc="-5" dirty="0">
                          <a:solidFill>
                            <a:srgbClr val="FF0000"/>
                          </a:solidFill>
                          <a:latin typeface="Arial" panose="020B0604020202020204"/>
                          <a:cs typeface="Arial" panose="020B0604020202020204"/>
                        </a:rPr>
                        <a:t>00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c&gt;0</a:t>
                      </a:r>
                      <a:endParaRPr sz="2000" dirty="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5</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lang="en-US" altLang="zh-CN" sz="2000" dirty="0">
                          <a:latin typeface="Arial" panose="020B0604020202020204"/>
                          <a:cs typeface="Arial" panose="020B0604020202020204"/>
                        </a:rPr>
                        <a:t>2</a:t>
                      </a:r>
                      <a:r>
                        <a:rPr sz="2000" dirty="0">
                          <a:latin typeface="Arial" panose="020B0604020202020204"/>
                          <a:cs typeface="Arial" panose="020B0604020202020204"/>
                        </a:rPr>
                        <a:t>01</a:t>
                      </a: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5</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b</a:t>
                      </a:r>
                      <a:r>
                        <a:rPr sz="2000" spc="-10" dirty="0">
                          <a:latin typeface="Arial" panose="020B0604020202020204"/>
                          <a:cs typeface="Arial" panose="020B0604020202020204"/>
                        </a:rPr>
                        <a:t> </a:t>
                      </a:r>
                      <a:r>
                        <a:rPr sz="2000" dirty="0">
                          <a:latin typeface="微软雅黑" panose="020B0503020204020204" pitchFamily="34" charset="-122"/>
                          <a:cs typeface="微软雅黑" panose="020B0503020204020204" pitchFamily="34" charset="-122"/>
                        </a:rPr>
                        <a:t>值越界</a:t>
                      </a:r>
                      <a:endParaRPr sz="2000">
                        <a:latin typeface="微软雅黑" panose="020B0503020204020204" pitchFamily="34" charset="-122"/>
                        <a:cs typeface="微软雅黑" panose="020B0503020204020204" pitchFamily="34" charset="-122"/>
                      </a:endParaRPr>
                    </a:p>
                  </a:txBody>
                  <a:tcPr marL="0" marR="0" marT="80645" marB="0">
                    <a:lnL w="12700">
                      <a:solidFill>
                        <a:srgbClr val="000000"/>
                      </a:solidFill>
                      <a:prstDash val="solid"/>
                    </a:lnL>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7"/>
                  </a:ext>
                </a:extLst>
              </a:tr>
              <a:tr h="466470">
                <a:tc>
                  <a:txBody>
                    <a:bodyPr/>
                    <a:lstStyle/>
                    <a:p>
                      <a:pPr algn="ctr">
                        <a:lnSpc>
                          <a:spcPct val="100000"/>
                        </a:lnSpc>
                        <a:spcBef>
                          <a:spcPts val="635"/>
                        </a:spcBef>
                      </a:pPr>
                      <a:r>
                        <a:rPr sz="2000" dirty="0">
                          <a:latin typeface="Arial" panose="020B0604020202020204"/>
                          <a:cs typeface="Arial" panose="020B0604020202020204"/>
                        </a:rPr>
                        <a:t>10</a:t>
                      </a:r>
                      <a:endParaRPr sz="2000">
                        <a:latin typeface="Arial" panose="020B0604020202020204"/>
                        <a:cs typeface="Arial" panose="020B0604020202020204"/>
                      </a:endParaRPr>
                    </a:p>
                  </a:txBody>
                  <a:tcPr marL="0" marR="0" marT="80645" marB="0">
                    <a:lnR w="12700">
                      <a:solidFill>
                        <a:srgbClr val="000000"/>
                      </a:solidFill>
                      <a:prstDash val="solid"/>
                    </a:lnR>
                    <a:lnT w="9525">
                      <a:solidFill>
                        <a:srgbClr val="000000"/>
                      </a:solidFill>
                      <a:prstDash val="solid"/>
                    </a:lnT>
                    <a:lnB w="28575">
                      <a:solidFill>
                        <a:srgbClr val="000000"/>
                      </a:solidFill>
                      <a:prstDash val="solid"/>
                    </a:lnB>
                  </a:tcPr>
                </a:tc>
                <a:tc>
                  <a:txBody>
                    <a:bodyPr/>
                    <a:lstStyle/>
                    <a:p>
                      <a:pPr algn="ctr">
                        <a:lnSpc>
                          <a:spcPct val="100000"/>
                        </a:lnSpc>
                        <a:spcBef>
                          <a:spcPts val="635"/>
                        </a:spcBef>
                      </a:pPr>
                      <a:r>
                        <a:rPr sz="2000" spc="-5" dirty="0">
                          <a:latin typeface="Arial" panose="020B0604020202020204"/>
                          <a:cs typeface="Arial" panose="020B0604020202020204"/>
                        </a:rPr>
                        <a:t>a&gt;0</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b&gt;0</a:t>
                      </a:r>
                      <a:r>
                        <a:rPr sz="2000" spc="-5" dirty="0">
                          <a:latin typeface="微软雅黑" panose="020B0503020204020204" pitchFamily="34" charset="-122"/>
                          <a:cs typeface="微软雅黑" panose="020B0503020204020204" pitchFamily="34" charset="-122"/>
                        </a:rPr>
                        <a:t>，</a:t>
                      </a:r>
                      <a:r>
                        <a:rPr sz="2000" spc="-5" dirty="0">
                          <a:solidFill>
                            <a:srgbClr val="FF0000"/>
                          </a:solidFill>
                          <a:latin typeface="Arial" panose="020B0604020202020204"/>
                          <a:cs typeface="Arial" panose="020B0604020202020204"/>
                        </a:rPr>
                        <a:t>c&gt;</a:t>
                      </a:r>
                      <a:r>
                        <a:rPr lang="en-US" altLang="zh-CN" sz="2000" spc="-5" dirty="0">
                          <a:solidFill>
                            <a:srgbClr val="FF0000"/>
                          </a:solidFill>
                          <a:latin typeface="Arial" panose="020B0604020202020204"/>
                          <a:cs typeface="Arial" panose="020B0604020202020204"/>
                        </a:rPr>
                        <a:t>2</a:t>
                      </a:r>
                      <a:r>
                        <a:rPr sz="2000" spc="-5" dirty="0">
                          <a:solidFill>
                            <a:srgbClr val="FF0000"/>
                          </a:solidFill>
                          <a:latin typeface="Arial" panose="020B0604020202020204"/>
                          <a:cs typeface="Arial" panose="020B0604020202020204"/>
                        </a:rPr>
                        <a:t>00</a:t>
                      </a:r>
                      <a:endParaRPr sz="2000" dirty="0">
                        <a:solidFill>
                          <a:srgbClr val="FF0000"/>
                        </a:solidFill>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2857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5</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2857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5</a:t>
                      </a:r>
                      <a:endParaRPr sz="2000">
                        <a:latin typeface="Arial" panose="020B0604020202020204"/>
                        <a:cs typeface="Arial" panose="020B0604020202020204"/>
                      </a:endParaRP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28575">
                      <a:solidFill>
                        <a:srgbClr val="000000"/>
                      </a:solidFill>
                      <a:prstDash val="solid"/>
                    </a:lnB>
                  </a:tcPr>
                </a:tc>
                <a:tc>
                  <a:txBody>
                    <a:bodyPr/>
                    <a:lstStyle/>
                    <a:p>
                      <a:pPr algn="ctr">
                        <a:lnSpc>
                          <a:spcPct val="100000"/>
                        </a:lnSpc>
                        <a:spcBef>
                          <a:spcPts val="635"/>
                        </a:spcBef>
                      </a:pPr>
                      <a:r>
                        <a:rPr lang="en-US" altLang="zh-CN" sz="2000" dirty="0">
                          <a:latin typeface="Arial" panose="020B0604020202020204"/>
                          <a:cs typeface="Arial" panose="020B0604020202020204"/>
                        </a:rPr>
                        <a:t>2</a:t>
                      </a:r>
                      <a:r>
                        <a:rPr sz="2000" dirty="0">
                          <a:latin typeface="Arial" panose="020B0604020202020204"/>
                          <a:cs typeface="Arial" panose="020B0604020202020204"/>
                        </a:rPr>
                        <a:t>01</a:t>
                      </a:r>
                    </a:p>
                  </a:txBody>
                  <a:tcPr marL="0" marR="0" marT="80645" marB="0">
                    <a:lnL w="12700">
                      <a:solidFill>
                        <a:srgbClr val="000000"/>
                      </a:solidFill>
                      <a:prstDash val="solid"/>
                    </a:lnL>
                    <a:lnR w="12700">
                      <a:solidFill>
                        <a:srgbClr val="000000"/>
                      </a:solidFill>
                      <a:prstDash val="solid"/>
                    </a:lnR>
                    <a:lnT w="9525">
                      <a:solidFill>
                        <a:srgbClr val="000000"/>
                      </a:solidFill>
                      <a:prstDash val="solid"/>
                    </a:lnT>
                    <a:lnB w="28575">
                      <a:solidFill>
                        <a:srgbClr val="000000"/>
                      </a:solidFill>
                      <a:prstDash val="solid"/>
                    </a:lnB>
                  </a:tcPr>
                </a:tc>
                <a:tc>
                  <a:txBody>
                    <a:bodyPr/>
                    <a:lstStyle/>
                    <a:p>
                      <a:pPr algn="ctr">
                        <a:lnSpc>
                          <a:spcPct val="100000"/>
                        </a:lnSpc>
                        <a:spcBef>
                          <a:spcPts val="635"/>
                        </a:spcBef>
                      </a:pPr>
                      <a:r>
                        <a:rPr sz="2000" dirty="0">
                          <a:latin typeface="Arial" panose="020B0604020202020204"/>
                          <a:cs typeface="Arial" panose="020B0604020202020204"/>
                        </a:rPr>
                        <a:t>c</a:t>
                      </a:r>
                      <a:r>
                        <a:rPr sz="2000" spc="-10" dirty="0">
                          <a:latin typeface="Arial" panose="020B0604020202020204"/>
                          <a:cs typeface="Arial" panose="020B0604020202020204"/>
                        </a:rPr>
                        <a:t> </a:t>
                      </a:r>
                      <a:r>
                        <a:rPr sz="2000" dirty="0">
                          <a:latin typeface="微软雅黑" panose="020B0503020204020204" pitchFamily="34" charset="-122"/>
                          <a:cs typeface="微软雅黑" panose="020B0503020204020204" pitchFamily="34" charset="-122"/>
                        </a:rPr>
                        <a:t>值越界</a:t>
                      </a:r>
                    </a:p>
                  </a:txBody>
                  <a:tcPr marL="0" marR="0" marT="80645" marB="0">
                    <a:lnL w="12700">
                      <a:solidFill>
                        <a:srgbClr val="000000"/>
                      </a:solidFill>
                      <a:prstDash val="solid"/>
                    </a:lnL>
                    <a:lnT w="9525">
                      <a:solidFill>
                        <a:srgbClr val="000000"/>
                      </a:solidFill>
                      <a:prstDash val="solid"/>
                    </a:lnT>
                    <a:lnB w="28575">
                      <a:solidFill>
                        <a:srgbClr val="000000"/>
                      </a:solidFill>
                      <a:prstDash val="solid"/>
                    </a:lnB>
                  </a:tcPr>
                </a:tc>
                <a:extLst>
                  <a:ext uri="{0D108BD9-81ED-4DB2-BD59-A6C34878D82A}">
                    <a16:rowId xmlns:a16="http://schemas.microsoft.com/office/drawing/2014/main" val="10008"/>
                  </a:ext>
                </a:extLst>
              </a:tr>
            </a:tbl>
          </a:graphicData>
        </a:graphic>
      </p:graphicFrame>
      <p:sp>
        <p:nvSpPr>
          <p:cNvPr id="5" name="object 5"/>
          <p:cNvSpPr/>
          <p:nvPr/>
        </p:nvSpPr>
        <p:spPr>
          <a:xfrm>
            <a:off x="6095998" y="3493612"/>
            <a:ext cx="508000" cy="474345"/>
          </a:xfrm>
          <a:custGeom>
            <a:avLst/>
            <a:gdLst/>
            <a:ahLst/>
            <a:cxnLst/>
            <a:rect l="l" t="t" r="r" b="b"/>
            <a:pathLst>
              <a:path w="508000" h="474345">
                <a:moveTo>
                  <a:pt x="0" y="237066"/>
                </a:moveTo>
                <a:lnTo>
                  <a:pt x="5160" y="189289"/>
                </a:lnTo>
                <a:lnTo>
                  <a:pt x="19960" y="144789"/>
                </a:lnTo>
                <a:lnTo>
                  <a:pt x="43379" y="104520"/>
                </a:lnTo>
                <a:lnTo>
                  <a:pt x="74394" y="69435"/>
                </a:lnTo>
                <a:lnTo>
                  <a:pt x="111986" y="40487"/>
                </a:lnTo>
                <a:lnTo>
                  <a:pt x="155131" y="18629"/>
                </a:lnTo>
                <a:lnTo>
                  <a:pt x="202810" y="4816"/>
                </a:lnTo>
                <a:lnTo>
                  <a:pt x="253999" y="0"/>
                </a:lnTo>
                <a:lnTo>
                  <a:pt x="305189" y="4816"/>
                </a:lnTo>
                <a:lnTo>
                  <a:pt x="352868" y="18629"/>
                </a:lnTo>
                <a:lnTo>
                  <a:pt x="396013" y="40487"/>
                </a:lnTo>
                <a:lnTo>
                  <a:pt x="433604" y="69435"/>
                </a:lnTo>
                <a:lnTo>
                  <a:pt x="464620" y="104520"/>
                </a:lnTo>
                <a:lnTo>
                  <a:pt x="488039" y="144789"/>
                </a:lnTo>
                <a:lnTo>
                  <a:pt x="502839" y="189289"/>
                </a:lnTo>
                <a:lnTo>
                  <a:pt x="507999" y="237066"/>
                </a:lnTo>
                <a:lnTo>
                  <a:pt x="502839" y="284844"/>
                </a:lnTo>
                <a:lnTo>
                  <a:pt x="488039" y="329344"/>
                </a:lnTo>
                <a:lnTo>
                  <a:pt x="464620" y="369613"/>
                </a:lnTo>
                <a:lnTo>
                  <a:pt x="433604" y="404698"/>
                </a:lnTo>
                <a:lnTo>
                  <a:pt x="396013" y="433646"/>
                </a:lnTo>
                <a:lnTo>
                  <a:pt x="352868" y="455503"/>
                </a:lnTo>
                <a:lnTo>
                  <a:pt x="305189" y="469317"/>
                </a:lnTo>
                <a:lnTo>
                  <a:pt x="253999" y="474133"/>
                </a:lnTo>
                <a:lnTo>
                  <a:pt x="202810" y="469317"/>
                </a:lnTo>
                <a:lnTo>
                  <a:pt x="155131" y="455503"/>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6" name="object 6"/>
          <p:cNvSpPr/>
          <p:nvPr/>
        </p:nvSpPr>
        <p:spPr>
          <a:xfrm>
            <a:off x="7027331" y="3933879"/>
            <a:ext cx="508000" cy="474345"/>
          </a:xfrm>
          <a:custGeom>
            <a:avLst/>
            <a:gdLst/>
            <a:ahLst/>
            <a:cxnLst/>
            <a:rect l="l" t="t" r="r" b="b"/>
            <a:pathLst>
              <a:path w="508000" h="474345">
                <a:moveTo>
                  <a:pt x="0" y="237066"/>
                </a:moveTo>
                <a:lnTo>
                  <a:pt x="5160" y="189289"/>
                </a:lnTo>
                <a:lnTo>
                  <a:pt x="19960" y="144789"/>
                </a:lnTo>
                <a:lnTo>
                  <a:pt x="43379" y="104520"/>
                </a:lnTo>
                <a:lnTo>
                  <a:pt x="74394" y="69435"/>
                </a:lnTo>
                <a:lnTo>
                  <a:pt x="111986" y="40487"/>
                </a:lnTo>
                <a:lnTo>
                  <a:pt x="155131" y="18629"/>
                </a:lnTo>
                <a:lnTo>
                  <a:pt x="202810" y="4816"/>
                </a:lnTo>
                <a:lnTo>
                  <a:pt x="253999" y="0"/>
                </a:lnTo>
                <a:lnTo>
                  <a:pt x="305189" y="4816"/>
                </a:lnTo>
                <a:lnTo>
                  <a:pt x="352868" y="18629"/>
                </a:lnTo>
                <a:lnTo>
                  <a:pt x="396013" y="40487"/>
                </a:lnTo>
                <a:lnTo>
                  <a:pt x="433605" y="69435"/>
                </a:lnTo>
                <a:lnTo>
                  <a:pt x="464620" y="104520"/>
                </a:lnTo>
                <a:lnTo>
                  <a:pt x="488039" y="144789"/>
                </a:lnTo>
                <a:lnTo>
                  <a:pt x="502839" y="189289"/>
                </a:lnTo>
                <a:lnTo>
                  <a:pt x="507999" y="237066"/>
                </a:lnTo>
                <a:lnTo>
                  <a:pt x="502839" y="284844"/>
                </a:lnTo>
                <a:lnTo>
                  <a:pt x="488039" y="329344"/>
                </a:lnTo>
                <a:lnTo>
                  <a:pt x="464620" y="369613"/>
                </a:lnTo>
                <a:lnTo>
                  <a:pt x="433605" y="404698"/>
                </a:lnTo>
                <a:lnTo>
                  <a:pt x="396013" y="433646"/>
                </a:lnTo>
                <a:lnTo>
                  <a:pt x="352868" y="455503"/>
                </a:lnTo>
                <a:lnTo>
                  <a:pt x="305189" y="469317"/>
                </a:lnTo>
                <a:lnTo>
                  <a:pt x="253999" y="474133"/>
                </a:lnTo>
                <a:lnTo>
                  <a:pt x="202810" y="469317"/>
                </a:lnTo>
                <a:lnTo>
                  <a:pt x="155131" y="455503"/>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7" name="object 7"/>
          <p:cNvSpPr/>
          <p:nvPr/>
        </p:nvSpPr>
        <p:spPr>
          <a:xfrm>
            <a:off x="8009464" y="4391077"/>
            <a:ext cx="508000" cy="474345"/>
          </a:xfrm>
          <a:custGeom>
            <a:avLst/>
            <a:gdLst/>
            <a:ahLst/>
            <a:cxnLst/>
            <a:rect l="l" t="t" r="r" b="b"/>
            <a:pathLst>
              <a:path w="508000" h="474345">
                <a:moveTo>
                  <a:pt x="0" y="237066"/>
                </a:moveTo>
                <a:lnTo>
                  <a:pt x="5160" y="189289"/>
                </a:lnTo>
                <a:lnTo>
                  <a:pt x="19960" y="144789"/>
                </a:lnTo>
                <a:lnTo>
                  <a:pt x="43379" y="104520"/>
                </a:lnTo>
                <a:lnTo>
                  <a:pt x="74394" y="69435"/>
                </a:lnTo>
                <a:lnTo>
                  <a:pt x="111986" y="40487"/>
                </a:lnTo>
                <a:lnTo>
                  <a:pt x="155131" y="18629"/>
                </a:lnTo>
                <a:lnTo>
                  <a:pt x="202810" y="4816"/>
                </a:lnTo>
                <a:lnTo>
                  <a:pt x="254000" y="0"/>
                </a:lnTo>
                <a:lnTo>
                  <a:pt x="305189" y="4816"/>
                </a:lnTo>
                <a:lnTo>
                  <a:pt x="352868" y="18629"/>
                </a:lnTo>
                <a:lnTo>
                  <a:pt x="396013" y="40487"/>
                </a:lnTo>
                <a:lnTo>
                  <a:pt x="433605" y="69435"/>
                </a:lnTo>
                <a:lnTo>
                  <a:pt x="464620" y="104520"/>
                </a:lnTo>
                <a:lnTo>
                  <a:pt x="488039" y="144789"/>
                </a:lnTo>
                <a:lnTo>
                  <a:pt x="502839" y="189289"/>
                </a:lnTo>
                <a:lnTo>
                  <a:pt x="507999" y="237066"/>
                </a:lnTo>
                <a:lnTo>
                  <a:pt x="502839" y="284844"/>
                </a:lnTo>
                <a:lnTo>
                  <a:pt x="488039" y="329344"/>
                </a:lnTo>
                <a:lnTo>
                  <a:pt x="464620" y="369613"/>
                </a:lnTo>
                <a:lnTo>
                  <a:pt x="433605" y="404698"/>
                </a:lnTo>
                <a:lnTo>
                  <a:pt x="396013" y="433646"/>
                </a:lnTo>
                <a:lnTo>
                  <a:pt x="352868" y="455503"/>
                </a:lnTo>
                <a:lnTo>
                  <a:pt x="305189" y="469317"/>
                </a:lnTo>
                <a:lnTo>
                  <a:pt x="254000" y="474133"/>
                </a:lnTo>
                <a:lnTo>
                  <a:pt x="202810" y="469317"/>
                </a:lnTo>
                <a:lnTo>
                  <a:pt x="155131" y="455503"/>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8" name="object 8"/>
          <p:cNvSpPr/>
          <p:nvPr/>
        </p:nvSpPr>
        <p:spPr>
          <a:xfrm>
            <a:off x="6112931" y="4865211"/>
            <a:ext cx="508000" cy="474345"/>
          </a:xfrm>
          <a:custGeom>
            <a:avLst/>
            <a:gdLst/>
            <a:ahLst/>
            <a:cxnLst/>
            <a:rect l="l" t="t" r="r" b="b"/>
            <a:pathLst>
              <a:path w="508000" h="474345">
                <a:moveTo>
                  <a:pt x="0" y="237066"/>
                </a:moveTo>
                <a:lnTo>
                  <a:pt x="5160" y="189289"/>
                </a:lnTo>
                <a:lnTo>
                  <a:pt x="19960" y="144789"/>
                </a:lnTo>
                <a:lnTo>
                  <a:pt x="43379" y="104520"/>
                </a:lnTo>
                <a:lnTo>
                  <a:pt x="74394" y="69435"/>
                </a:lnTo>
                <a:lnTo>
                  <a:pt x="111986" y="40487"/>
                </a:lnTo>
                <a:lnTo>
                  <a:pt x="155131" y="18629"/>
                </a:lnTo>
                <a:lnTo>
                  <a:pt x="202810" y="4816"/>
                </a:lnTo>
                <a:lnTo>
                  <a:pt x="253999" y="0"/>
                </a:lnTo>
                <a:lnTo>
                  <a:pt x="305189" y="4816"/>
                </a:lnTo>
                <a:lnTo>
                  <a:pt x="352868" y="18629"/>
                </a:lnTo>
                <a:lnTo>
                  <a:pt x="396013" y="40487"/>
                </a:lnTo>
                <a:lnTo>
                  <a:pt x="433604" y="69435"/>
                </a:lnTo>
                <a:lnTo>
                  <a:pt x="464620" y="104520"/>
                </a:lnTo>
                <a:lnTo>
                  <a:pt x="488038" y="144789"/>
                </a:lnTo>
                <a:lnTo>
                  <a:pt x="502839" y="189289"/>
                </a:lnTo>
                <a:lnTo>
                  <a:pt x="507999" y="237066"/>
                </a:lnTo>
                <a:lnTo>
                  <a:pt x="502839" y="284844"/>
                </a:lnTo>
                <a:lnTo>
                  <a:pt x="488038" y="329344"/>
                </a:lnTo>
                <a:lnTo>
                  <a:pt x="464620" y="369613"/>
                </a:lnTo>
                <a:lnTo>
                  <a:pt x="433604" y="404698"/>
                </a:lnTo>
                <a:lnTo>
                  <a:pt x="396013" y="433646"/>
                </a:lnTo>
                <a:lnTo>
                  <a:pt x="352868" y="455503"/>
                </a:lnTo>
                <a:lnTo>
                  <a:pt x="305189" y="469317"/>
                </a:lnTo>
                <a:lnTo>
                  <a:pt x="253999" y="474133"/>
                </a:lnTo>
                <a:lnTo>
                  <a:pt x="202810" y="469317"/>
                </a:lnTo>
                <a:lnTo>
                  <a:pt x="155131" y="455503"/>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9" name="object 9"/>
          <p:cNvSpPr/>
          <p:nvPr/>
        </p:nvSpPr>
        <p:spPr>
          <a:xfrm>
            <a:off x="7027332" y="5339344"/>
            <a:ext cx="508000" cy="474345"/>
          </a:xfrm>
          <a:custGeom>
            <a:avLst/>
            <a:gdLst/>
            <a:ahLst/>
            <a:cxnLst/>
            <a:rect l="l" t="t" r="r" b="b"/>
            <a:pathLst>
              <a:path w="508000" h="474345">
                <a:moveTo>
                  <a:pt x="0" y="237066"/>
                </a:moveTo>
                <a:lnTo>
                  <a:pt x="5160" y="189289"/>
                </a:lnTo>
                <a:lnTo>
                  <a:pt x="19960" y="144789"/>
                </a:lnTo>
                <a:lnTo>
                  <a:pt x="43379" y="104520"/>
                </a:lnTo>
                <a:lnTo>
                  <a:pt x="74394" y="69435"/>
                </a:lnTo>
                <a:lnTo>
                  <a:pt x="111986" y="40487"/>
                </a:lnTo>
                <a:lnTo>
                  <a:pt x="155131" y="18629"/>
                </a:lnTo>
                <a:lnTo>
                  <a:pt x="202810" y="4816"/>
                </a:lnTo>
                <a:lnTo>
                  <a:pt x="253999" y="0"/>
                </a:lnTo>
                <a:lnTo>
                  <a:pt x="305189" y="4816"/>
                </a:lnTo>
                <a:lnTo>
                  <a:pt x="352868" y="18629"/>
                </a:lnTo>
                <a:lnTo>
                  <a:pt x="396013" y="40487"/>
                </a:lnTo>
                <a:lnTo>
                  <a:pt x="433605" y="69435"/>
                </a:lnTo>
                <a:lnTo>
                  <a:pt x="464620" y="104520"/>
                </a:lnTo>
                <a:lnTo>
                  <a:pt x="488039" y="144789"/>
                </a:lnTo>
                <a:lnTo>
                  <a:pt x="502839" y="189289"/>
                </a:lnTo>
                <a:lnTo>
                  <a:pt x="507999" y="237066"/>
                </a:lnTo>
                <a:lnTo>
                  <a:pt x="502839" y="284844"/>
                </a:lnTo>
                <a:lnTo>
                  <a:pt x="488039" y="329344"/>
                </a:lnTo>
                <a:lnTo>
                  <a:pt x="464620" y="369613"/>
                </a:lnTo>
                <a:lnTo>
                  <a:pt x="433605" y="404698"/>
                </a:lnTo>
                <a:lnTo>
                  <a:pt x="396013" y="433646"/>
                </a:lnTo>
                <a:lnTo>
                  <a:pt x="352868" y="455503"/>
                </a:lnTo>
                <a:lnTo>
                  <a:pt x="305189" y="469317"/>
                </a:lnTo>
                <a:lnTo>
                  <a:pt x="253999" y="474133"/>
                </a:lnTo>
                <a:lnTo>
                  <a:pt x="202810" y="469317"/>
                </a:lnTo>
                <a:lnTo>
                  <a:pt x="155131" y="455503"/>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10" name="object 10"/>
          <p:cNvSpPr/>
          <p:nvPr/>
        </p:nvSpPr>
        <p:spPr>
          <a:xfrm>
            <a:off x="8009464" y="5796544"/>
            <a:ext cx="508000" cy="474345"/>
          </a:xfrm>
          <a:custGeom>
            <a:avLst/>
            <a:gdLst/>
            <a:ahLst/>
            <a:cxnLst/>
            <a:rect l="l" t="t" r="r" b="b"/>
            <a:pathLst>
              <a:path w="508000" h="474345">
                <a:moveTo>
                  <a:pt x="0" y="237066"/>
                </a:moveTo>
                <a:lnTo>
                  <a:pt x="5160" y="189289"/>
                </a:lnTo>
                <a:lnTo>
                  <a:pt x="19960" y="144789"/>
                </a:lnTo>
                <a:lnTo>
                  <a:pt x="43379" y="104520"/>
                </a:lnTo>
                <a:lnTo>
                  <a:pt x="74394" y="69435"/>
                </a:lnTo>
                <a:lnTo>
                  <a:pt x="111986" y="40487"/>
                </a:lnTo>
                <a:lnTo>
                  <a:pt x="155131" y="18629"/>
                </a:lnTo>
                <a:lnTo>
                  <a:pt x="202810" y="4816"/>
                </a:lnTo>
                <a:lnTo>
                  <a:pt x="254000" y="0"/>
                </a:lnTo>
                <a:lnTo>
                  <a:pt x="305189" y="4816"/>
                </a:lnTo>
                <a:lnTo>
                  <a:pt x="352868" y="18629"/>
                </a:lnTo>
                <a:lnTo>
                  <a:pt x="396013" y="40487"/>
                </a:lnTo>
                <a:lnTo>
                  <a:pt x="433605" y="69435"/>
                </a:lnTo>
                <a:lnTo>
                  <a:pt x="464620" y="104520"/>
                </a:lnTo>
                <a:lnTo>
                  <a:pt x="488039" y="144789"/>
                </a:lnTo>
                <a:lnTo>
                  <a:pt x="502839" y="189289"/>
                </a:lnTo>
                <a:lnTo>
                  <a:pt x="507999" y="237066"/>
                </a:lnTo>
                <a:lnTo>
                  <a:pt x="502839" y="284844"/>
                </a:lnTo>
                <a:lnTo>
                  <a:pt x="488039" y="329344"/>
                </a:lnTo>
                <a:lnTo>
                  <a:pt x="464620" y="369613"/>
                </a:lnTo>
                <a:lnTo>
                  <a:pt x="433605" y="404698"/>
                </a:lnTo>
                <a:lnTo>
                  <a:pt x="396013" y="433646"/>
                </a:lnTo>
                <a:lnTo>
                  <a:pt x="352868" y="455503"/>
                </a:lnTo>
                <a:lnTo>
                  <a:pt x="305189" y="469317"/>
                </a:lnTo>
                <a:lnTo>
                  <a:pt x="254000" y="474133"/>
                </a:lnTo>
                <a:lnTo>
                  <a:pt x="202810" y="469317"/>
                </a:lnTo>
                <a:lnTo>
                  <a:pt x="155131" y="455503"/>
                </a:lnTo>
                <a:lnTo>
                  <a:pt x="111986" y="433646"/>
                </a:lnTo>
                <a:lnTo>
                  <a:pt x="74394" y="404698"/>
                </a:lnTo>
                <a:lnTo>
                  <a:pt x="43379" y="369613"/>
                </a:lnTo>
                <a:lnTo>
                  <a:pt x="19960" y="329344"/>
                </a:lnTo>
                <a:lnTo>
                  <a:pt x="5160" y="284844"/>
                </a:lnTo>
                <a:lnTo>
                  <a:pt x="0" y="237066"/>
                </a:lnTo>
                <a:close/>
              </a:path>
            </a:pathLst>
          </a:custGeom>
          <a:ln w="19049">
            <a:solidFill>
              <a:srgbClr val="D81E00"/>
            </a:solidFill>
          </a:ln>
        </p:spPr>
        <p:txBody>
          <a:bodyPr wrap="square" lIns="0" tIns="0" rIns="0" bIns="0" rtlCol="0"/>
          <a:lstStyle/>
          <a:p>
            <a:endParaRPr/>
          </a:p>
        </p:txBody>
      </p:sp>
      <p:sp>
        <p:nvSpPr>
          <p:cNvPr id="11" name="灯片编号占位符 10"/>
          <p:cNvSpPr>
            <a:spLocks noGrp="1"/>
          </p:cNvSpPr>
          <p:nvPr>
            <p:ph type="sldNum" sz="quarter" idx="12"/>
          </p:nvPr>
        </p:nvSpPr>
        <p:spPr/>
        <p:txBody>
          <a:bodyPr/>
          <a:lstStyle/>
          <a:p>
            <a:fld id="{74D2AB8B-5816-41F2-8B4B-CA5C3E4E6A65}" type="slidenum">
              <a:rPr lang="zh-CN" altLang="en-US" smtClean="0"/>
              <a:t>15</a:t>
            </a:fld>
            <a:endParaRPr lang="zh-CN" altLang="en-US"/>
          </a:p>
        </p:txBody>
      </p:sp>
      <p:sp>
        <p:nvSpPr>
          <p:cNvPr id="13" name="标题 12"/>
          <p:cNvSpPr>
            <a:spLocks noGrp="1"/>
          </p:cNvSpPr>
          <p:nvPr>
            <p:ph type="title"/>
          </p:nvPr>
        </p:nvSpPr>
        <p:spPr/>
        <p:txBody>
          <a:bodyPr/>
          <a:lstStyle/>
          <a:p>
            <a:r>
              <a:rPr lang="zh-CN" altLang="en-US" dirty="0"/>
              <a:t>举例：判断三角形类型</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8298439" y="3198206"/>
            <a:ext cx="2715831" cy="1939880"/>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1091468" y="1707895"/>
            <a:ext cx="10088880" cy="3636645"/>
          </a:xfrm>
          <a:prstGeom prst="rect">
            <a:avLst/>
          </a:prstGeom>
        </p:spPr>
        <p:txBody>
          <a:bodyPr vert="horz" wrap="square" lIns="0" tIns="12700" rIns="0" bIns="0" rtlCol="0">
            <a:spAutoFit/>
          </a:bodyPr>
          <a:lstStyle/>
          <a:p>
            <a:pPr marL="12700" marR="5080">
              <a:lnSpc>
                <a:spcPct val="129000"/>
              </a:lnSpc>
              <a:spcBef>
                <a:spcPts val="100"/>
              </a:spcBef>
            </a:pPr>
            <a:r>
              <a:rPr sz="2200" spc="60" dirty="0">
                <a:solidFill>
                  <a:srgbClr val="0033CC"/>
                </a:solidFill>
                <a:latin typeface="微软雅黑" panose="020B0503020204020204" pitchFamily="34" charset="-122"/>
                <a:cs typeface="微软雅黑" panose="020B0503020204020204" pitchFamily="34" charset="-122"/>
              </a:rPr>
              <a:t>错误推测法</a:t>
            </a:r>
            <a:r>
              <a:rPr sz="2200" spc="60" dirty="0">
                <a:latin typeface="微软雅黑" panose="020B0503020204020204" pitchFamily="34" charset="-122"/>
                <a:cs typeface="微软雅黑" panose="020B0503020204020204" pitchFamily="34" charset="-122"/>
              </a:rPr>
              <a:t>是人们根据经验或直觉推测程序中可能存在的各种错误，从而有针对 </a:t>
            </a:r>
            <a:r>
              <a:rPr sz="2200" dirty="0">
                <a:latin typeface="微软雅黑" panose="020B0503020204020204" pitchFamily="34" charset="-122"/>
                <a:cs typeface="微软雅黑" panose="020B0503020204020204" pitchFamily="34" charset="-122"/>
              </a:rPr>
              <a:t>性地编写检查这些错误的测试用例的方法。</a:t>
            </a:r>
          </a:p>
          <a:p>
            <a:pPr>
              <a:lnSpc>
                <a:spcPct val="100000"/>
              </a:lnSpc>
              <a:spcBef>
                <a:spcPts val="30"/>
              </a:spcBef>
            </a:pPr>
            <a:endParaRPr sz="2350" dirty="0">
              <a:latin typeface="Times New Roman" panose="02020603050405020304"/>
              <a:cs typeface="Times New Roman" panose="02020603050405020304"/>
            </a:endParaRPr>
          </a:p>
          <a:p>
            <a:pPr marL="500380" marR="3154045" indent="-431800" algn="just">
              <a:lnSpc>
                <a:spcPct val="129000"/>
              </a:lnSpc>
              <a:buFont typeface="Arial" panose="020B0604020202020204"/>
              <a:buChar char="•"/>
              <a:tabLst>
                <a:tab pos="514350" algn="l"/>
              </a:tabLst>
            </a:pPr>
            <a:r>
              <a:rPr sz="2200" spc="35" dirty="0">
                <a:latin typeface="微软雅黑" panose="020B0503020204020204" pitchFamily="34" charset="-122"/>
                <a:cs typeface="微软雅黑" panose="020B0503020204020204" pitchFamily="34" charset="-122"/>
              </a:rPr>
              <a:t>软件缺陷具有空间聚集性，</a:t>
            </a:r>
            <a:r>
              <a:rPr sz="2200" spc="35" dirty="0">
                <a:latin typeface="Arial" panose="020B0604020202020204"/>
                <a:cs typeface="Arial" panose="020B0604020202020204"/>
              </a:rPr>
              <a:t>80%</a:t>
            </a:r>
            <a:r>
              <a:rPr sz="2200" spc="35" dirty="0">
                <a:latin typeface="微软雅黑" panose="020B0503020204020204" pitchFamily="34" charset="-122"/>
                <a:cs typeface="微软雅黑" panose="020B0503020204020204" pitchFamily="34" charset="-122"/>
              </a:rPr>
              <a:t>的缺陷常常存在于 </a:t>
            </a:r>
            <a:r>
              <a:rPr sz="2200" spc="35" dirty="0">
                <a:latin typeface="Arial" panose="020B0604020202020204"/>
                <a:cs typeface="Arial" panose="020B0604020202020204"/>
              </a:rPr>
              <a:t>20%</a:t>
            </a:r>
            <a:r>
              <a:rPr sz="2200" spc="35" dirty="0">
                <a:latin typeface="微软雅黑" panose="020B0503020204020204" pitchFamily="34" charset="-122"/>
                <a:cs typeface="微软雅黑" panose="020B0503020204020204" pitchFamily="34" charset="-122"/>
              </a:rPr>
              <a:t>的代码中。因此，应当记住常常光临代码的高 </a:t>
            </a:r>
            <a:r>
              <a:rPr sz="2200" dirty="0">
                <a:latin typeface="微软雅黑" panose="020B0503020204020204" pitchFamily="34" charset="-122"/>
                <a:cs typeface="微软雅黑" panose="020B0503020204020204" pitchFamily="34" charset="-122"/>
              </a:rPr>
              <a:t>危多发“地段”，这样发现缺陷的可能性会大得多。</a:t>
            </a:r>
          </a:p>
          <a:p>
            <a:pPr marL="500380" marR="3307715" indent="-431800" algn="just">
              <a:lnSpc>
                <a:spcPct val="133000"/>
              </a:lnSpc>
              <a:spcBef>
                <a:spcPts val="1700"/>
              </a:spcBef>
              <a:buFont typeface="Arial" panose="020B0604020202020204"/>
              <a:buChar char="•"/>
              <a:tabLst>
                <a:tab pos="514350" algn="l"/>
              </a:tabLst>
            </a:pPr>
            <a:r>
              <a:rPr sz="2200" spc="40" dirty="0">
                <a:latin typeface="微软雅黑" panose="020B0503020204020204" pitchFamily="34" charset="-122"/>
                <a:cs typeface="微软雅黑" panose="020B0503020204020204" pitchFamily="34" charset="-122"/>
              </a:rPr>
              <a:t>列举程序中所有可能的错误和容易发生错误的特殊 </a:t>
            </a:r>
            <a:r>
              <a:rPr sz="2200" dirty="0">
                <a:latin typeface="微软雅黑" panose="020B0503020204020204" pitchFamily="34" charset="-122"/>
                <a:cs typeface="微软雅黑" panose="020B0503020204020204" pitchFamily="34" charset="-122"/>
              </a:rPr>
              <a:t>情况，根据可能出现的错误情况选择测试用例。</a:t>
            </a:r>
          </a:p>
        </p:txBody>
      </p:sp>
      <p:sp>
        <p:nvSpPr>
          <p:cNvPr id="5" name="灯片编号占位符 4"/>
          <p:cNvSpPr>
            <a:spLocks noGrp="1"/>
          </p:cNvSpPr>
          <p:nvPr>
            <p:ph type="sldNum" sz="quarter" idx="12"/>
          </p:nvPr>
        </p:nvSpPr>
        <p:spPr/>
        <p:txBody>
          <a:bodyPr/>
          <a:lstStyle/>
          <a:p>
            <a:fld id="{74D2AB8B-5816-41F2-8B4B-CA5C3E4E6A65}" type="slidenum">
              <a:rPr lang="zh-CN" altLang="en-US" smtClean="0"/>
              <a:t>16</a:t>
            </a:fld>
            <a:endParaRPr lang="zh-CN" altLang="en-US"/>
          </a:p>
        </p:txBody>
      </p:sp>
      <p:sp>
        <p:nvSpPr>
          <p:cNvPr id="7" name="标题 6"/>
          <p:cNvSpPr>
            <a:spLocks noGrp="1"/>
          </p:cNvSpPr>
          <p:nvPr>
            <p:ph type="title"/>
          </p:nvPr>
        </p:nvSpPr>
        <p:spPr/>
        <p:txBody>
          <a:bodyPr/>
          <a:lstStyle/>
          <a:p>
            <a:r>
              <a:rPr lang="zh-CN" altLang="en-US" dirty="0"/>
              <a:t>错误推测法</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311564" y="5715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关于等价类划分，下面的（ ）说法是正确的。</a:t>
            </a:r>
          </a:p>
        </p:txBody>
      </p:sp>
      <p:sp>
        <p:nvSpPr>
          <p:cNvPr id="5" name="文本框 4"/>
          <p:cNvSpPr txBox="1"/>
          <p:nvPr>
            <p:custDataLst>
              <p:tags r:id="rId3"/>
            </p:custDataLst>
          </p:nvPr>
        </p:nvSpPr>
        <p:spPr>
          <a:xfrm>
            <a:off x="2438400" y="223522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将输入域的子域越少越好</a:t>
            </a:r>
          </a:p>
        </p:txBody>
      </p:sp>
      <p:sp>
        <p:nvSpPr>
          <p:cNvPr id="6" name="文本框 5"/>
          <p:cNvSpPr txBox="1"/>
          <p:nvPr>
            <p:custDataLst>
              <p:tags r:id="rId4"/>
            </p:custDataLst>
          </p:nvPr>
        </p:nvSpPr>
        <p:spPr>
          <a:xfrm>
            <a:off x="2438400" y="309247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同一输入域的等价类划分是唯一的</a:t>
            </a:r>
          </a:p>
        </p:txBody>
      </p:sp>
      <p:sp>
        <p:nvSpPr>
          <p:cNvPr id="7" name="文本框 6"/>
          <p:cNvSpPr txBox="1"/>
          <p:nvPr>
            <p:custDataLst>
              <p:tags r:id="rId5"/>
            </p:custDataLst>
          </p:nvPr>
        </p:nvSpPr>
        <p:spPr>
          <a:xfrm>
            <a:off x="2438400" y="394972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用同一等价类中的任意输入对软件进行测试，软件都输出相同的结果</a:t>
            </a:r>
          </a:p>
        </p:txBody>
      </p:sp>
      <p:sp>
        <p:nvSpPr>
          <p:cNvPr id="8" name="文本框 7"/>
          <p:cNvSpPr txBox="1"/>
          <p:nvPr>
            <p:custDataLst>
              <p:tags r:id="rId6"/>
            </p:custDataLst>
          </p:nvPr>
        </p:nvSpPr>
        <p:spPr>
          <a:xfrm>
            <a:off x="2438400" y="480697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对于相同的等价类划分，不同测试人员选取的测试用例集是一样的</a:t>
            </a:r>
          </a:p>
        </p:txBody>
      </p:sp>
      <p:sp>
        <p:nvSpPr>
          <p:cNvPr id="13" name="矩形: 圆角 12"/>
          <p:cNvSpPr/>
          <p:nvPr>
            <p:custDataLst>
              <p:tags r:id="rId7"/>
            </p:custDataLst>
          </p:nvPr>
        </p:nvSpPr>
        <p:spPr>
          <a:xfrm>
            <a:off x="8816248" y="150939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4828DB15-B461-5423-198C-53ECB2497DFA}"/>
              </a:ext>
            </a:extLst>
          </p:cNvPr>
          <p:cNvSpPr txBox="1"/>
          <p:nvPr/>
        </p:nvSpPr>
        <p:spPr>
          <a:xfrm>
            <a:off x="1672042" y="2341365"/>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p>
        </p:txBody>
      </p:sp>
    </p:spTree>
    <p:custDataLst>
      <p:tags r:id="rId1"/>
    </p:custDataLst>
    <p:extLst>
      <p:ext uri="{BB962C8B-B14F-4D97-AF65-F5344CB8AC3E}">
        <p14:creationId xmlns:p14="http://schemas.microsoft.com/office/powerpoint/2010/main" val="32424052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77345" y="1690688"/>
            <a:ext cx="9728200" cy="4319905"/>
          </a:xfrm>
          <a:prstGeom prst="rect">
            <a:avLst/>
          </a:prstGeom>
        </p:spPr>
        <p:txBody>
          <a:bodyPr vert="horz" wrap="square" lIns="0" tIns="12700" rIns="0" bIns="0" rtlCol="0">
            <a:spAutoFit/>
          </a:bodyPr>
          <a:lstStyle/>
          <a:p>
            <a:pPr marL="457200" marR="5080" indent="-444500" algn="just">
              <a:lnSpc>
                <a:spcPct val="117000"/>
              </a:lnSpc>
              <a:spcBef>
                <a:spcPts val="100"/>
              </a:spcBef>
              <a:buClr>
                <a:srgbClr val="0033CC"/>
              </a:buClr>
              <a:buFont typeface="Arial" panose="020B0604020202020204"/>
              <a:buChar char="•"/>
              <a:tabLst>
                <a:tab pos="460375" algn="l"/>
              </a:tabLst>
            </a:pPr>
            <a:r>
              <a:rPr sz="2200" spc="5" dirty="0">
                <a:solidFill>
                  <a:srgbClr val="004DD6"/>
                </a:solidFill>
                <a:latin typeface="微软雅黑" panose="020B0503020204020204" pitchFamily="34" charset="-122"/>
                <a:cs typeface="微软雅黑" panose="020B0503020204020204" pitchFamily="34" charset="-122"/>
              </a:rPr>
              <a:t>测试需求</a:t>
            </a:r>
            <a:r>
              <a:rPr sz="2200" spc="5" dirty="0">
                <a:latin typeface="微软雅黑" panose="020B0503020204020204" pitchFamily="34" charset="-122"/>
                <a:cs typeface="微软雅黑" panose="020B0503020204020204" pitchFamily="34" charset="-122"/>
              </a:rPr>
              <a:t>：测试需求是软件制品的一个特定元素，测试用例必须满足或覆盖 </a:t>
            </a:r>
            <a:r>
              <a:rPr sz="2200" dirty="0">
                <a:latin typeface="微软雅黑" panose="020B0503020204020204" pitchFamily="34" charset="-122"/>
                <a:cs typeface="微软雅黑" panose="020B0503020204020204" pitchFamily="34" charset="-122"/>
              </a:rPr>
              <a:t>这个特定元素。</a:t>
            </a:r>
          </a:p>
          <a:p>
            <a:pPr marL="457200" marR="5080" indent="-444500" algn="just">
              <a:lnSpc>
                <a:spcPct val="121000"/>
              </a:lnSpc>
              <a:spcBef>
                <a:spcPts val="1800"/>
              </a:spcBef>
              <a:buClr>
                <a:srgbClr val="0033CC"/>
              </a:buClr>
              <a:buFont typeface="Arial" panose="020B0604020202020204"/>
              <a:buChar char="•"/>
              <a:tabLst>
                <a:tab pos="460375" algn="l"/>
              </a:tabLst>
            </a:pPr>
            <a:r>
              <a:rPr sz="2200" spc="5" dirty="0">
                <a:solidFill>
                  <a:srgbClr val="004DD6"/>
                </a:solidFill>
                <a:latin typeface="微软雅黑" panose="020B0503020204020204" pitchFamily="34" charset="-122"/>
                <a:cs typeface="微软雅黑" panose="020B0503020204020204" pitchFamily="34" charset="-122"/>
              </a:rPr>
              <a:t>覆盖标准</a:t>
            </a:r>
            <a:r>
              <a:rPr sz="2200" spc="5" dirty="0">
                <a:latin typeface="微软雅黑" panose="020B0503020204020204" pitchFamily="34" charset="-122"/>
                <a:cs typeface="微软雅黑" panose="020B0503020204020204" pitchFamily="34" charset="-122"/>
              </a:rPr>
              <a:t>：一个覆盖标准是一条规则，或者是将测试需求施加在一个测试集 </a:t>
            </a:r>
            <a:r>
              <a:rPr sz="2200" dirty="0">
                <a:latin typeface="微软雅黑" panose="020B0503020204020204" pitchFamily="34" charset="-122"/>
                <a:cs typeface="微软雅黑" panose="020B0503020204020204" pitchFamily="34" charset="-122"/>
              </a:rPr>
              <a:t>上的一组规则。</a:t>
            </a:r>
          </a:p>
          <a:p>
            <a:pPr marL="457200" marR="5715" indent="-444500" algn="just">
              <a:lnSpc>
                <a:spcPct val="119000"/>
              </a:lnSpc>
              <a:spcBef>
                <a:spcPts val="1710"/>
              </a:spcBef>
              <a:buClr>
                <a:srgbClr val="0033CC"/>
              </a:buClr>
              <a:buFont typeface="Arial" panose="020B0604020202020204"/>
              <a:buChar char="•"/>
              <a:tabLst>
                <a:tab pos="460375" algn="l"/>
              </a:tabLst>
            </a:pPr>
            <a:r>
              <a:rPr sz="2200" dirty="0">
                <a:solidFill>
                  <a:srgbClr val="004DD6"/>
                </a:solidFill>
                <a:latin typeface="微软雅黑" panose="020B0503020204020204" pitchFamily="34" charset="-122"/>
                <a:cs typeface="微软雅黑" panose="020B0503020204020204" pitchFamily="34" charset="-122"/>
              </a:rPr>
              <a:t>测试覆盖</a:t>
            </a:r>
            <a:r>
              <a:rPr sz="2200" dirty="0">
                <a:latin typeface="微软雅黑" panose="020B0503020204020204" pitchFamily="34" charset="-122"/>
                <a:cs typeface="微软雅黑" panose="020B0503020204020204" pitchFamily="34" charset="-122"/>
              </a:rPr>
              <a:t>：给定一个覆盖标准</a:t>
            </a:r>
            <a:r>
              <a:rPr sz="2200" spc="215" dirty="0">
                <a:latin typeface="微软雅黑" panose="020B0503020204020204" pitchFamily="34" charset="-122"/>
                <a:cs typeface="微软雅黑" panose="020B0503020204020204" pitchFamily="34" charset="-122"/>
              </a:rPr>
              <a:t> </a:t>
            </a:r>
            <a:r>
              <a:rPr sz="2250" i="1" spc="-35" dirty="0">
                <a:latin typeface="微软雅黑" panose="020B0503020204020204" pitchFamily="34" charset="-122"/>
                <a:cs typeface="微软雅黑" panose="020B0503020204020204" pitchFamily="34" charset="-122"/>
              </a:rPr>
              <a:t>C</a:t>
            </a:r>
            <a:r>
              <a:rPr sz="2250" i="1" spc="200" dirty="0">
                <a:latin typeface="微软雅黑" panose="020B0503020204020204" pitchFamily="34" charset="-122"/>
                <a:cs typeface="微软雅黑" panose="020B0503020204020204" pitchFamily="34" charset="-122"/>
              </a:rPr>
              <a:t> </a:t>
            </a:r>
            <a:r>
              <a:rPr sz="2200" dirty="0">
                <a:latin typeface="微软雅黑" panose="020B0503020204020204" pitchFamily="34" charset="-122"/>
                <a:cs typeface="微软雅黑" panose="020B0503020204020204" pitchFamily="34" charset="-122"/>
              </a:rPr>
              <a:t>和相关的测试需求集合</a:t>
            </a:r>
            <a:r>
              <a:rPr sz="2200" spc="215" dirty="0">
                <a:latin typeface="微软雅黑" panose="020B0503020204020204" pitchFamily="34" charset="-122"/>
                <a:cs typeface="微软雅黑" panose="020B0503020204020204" pitchFamily="34" charset="-122"/>
              </a:rPr>
              <a:t> </a:t>
            </a:r>
            <a:r>
              <a:rPr sz="2250" i="1" spc="-25" dirty="0">
                <a:latin typeface="微软雅黑" panose="020B0503020204020204" pitchFamily="34" charset="-122"/>
                <a:cs typeface="微软雅黑" panose="020B0503020204020204" pitchFamily="34" charset="-122"/>
              </a:rPr>
              <a:t>TR</a:t>
            </a:r>
            <a:r>
              <a:rPr sz="2200" spc="-25" dirty="0">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欲使一个测试 集合</a:t>
            </a:r>
            <a:r>
              <a:rPr sz="2200" spc="365" dirty="0">
                <a:latin typeface="微软雅黑" panose="020B0503020204020204" pitchFamily="34" charset="-122"/>
                <a:cs typeface="微软雅黑" panose="020B0503020204020204" pitchFamily="34" charset="-122"/>
              </a:rPr>
              <a:t> </a:t>
            </a:r>
            <a:r>
              <a:rPr sz="2250" i="1" spc="-30" dirty="0">
                <a:latin typeface="微软雅黑" panose="020B0503020204020204" pitchFamily="34" charset="-122"/>
                <a:cs typeface="微软雅黑" panose="020B0503020204020204" pitchFamily="34" charset="-122"/>
              </a:rPr>
              <a:t>T</a:t>
            </a:r>
            <a:r>
              <a:rPr sz="2250" i="1" spc="355" dirty="0">
                <a:latin typeface="微软雅黑" panose="020B0503020204020204" pitchFamily="34" charset="-122"/>
                <a:cs typeface="微软雅黑" panose="020B0503020204020204" pitchFamily="34" charset="-122"/>
              </a:rPr>
              <a:t> </a:t>
            </a:r>
            <a:r>
              <a:rPr sz="2200" dirty="0">
                <a:latin typeface="微软雅黑" panose="020B0503020204020204" pitchFamily="34" charset="-122"/>
                <a:cs typeface="微软雅黑" panose="020B0503020204020204" pitchFamily="34" charset="-122"/>
              </a:rPr>
              <a:t>满足</a:t>
            </a:r>
            <a:r>
              <a:rPr sz="2250" i="1" spc="-20" dirty="0">
                <a:latin typeface="微软雅黑" panose="020B0503020204020204" pitchFamily="34" charset="-122"/>
                <a:cs typeface="微软雅黑" panose="020B0503020204020204" pitchFamily="34" charset="-122"/>
              </a:rPr>
              <a:t>C</a:t>
            </a:r>
            <a:r>
              <a:rPr sz="2200" spc="-20" dirty="0">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当且仅当对于测试需求集合</a:t>
            </a:r>
            <a:r>
              <a:rPr sz="2200" spc="370" dirty="0">
                <a:latin typeface="微软雅黑" panose="020B0503020204020204" pitchFamily="34" charset="-122"/>
                <a:cs typeface="微软雅黑" panose="020B0503020204020204" pitchFamily="34" charset="-122"/>
              </a:rPr>
              <a:t> </a:t>
            </a:r>
            <a:r>
              <a:rPr sz="2250" i="1" spc="-35" dirty="0">
                <a:latin typeface="微软雅黑" panose="020B0503020204020204" pitchFamily="34" charset="-122"/>
                <a:cs typeface="微软雅黑" panose="020B0503020204020204" pitchFamily="34" charset="-122"/>
              </a:rPr>
              <a:t>TR</a:t>
            </a:r>
            <a:r>
              <a:rPr sz="2250" i="1" spc="355" dirty="0">
                <a:latin typeface="微软雅黑" panose="020B0503020204020204" pitchFamily="34" charset="-122"/>
                <a:cs typeface="微软雅黑" panose="020B0503020204020204" pitchFamily="34" charset="-122"/>
              </a:rPr>
              <a:t> </a:t>
            </a:r>
            <a:r>
              <a:rPr sz="2200" dirty="0">
                <a:latin typeface="微软雅黑" panose="020B0503020204020204" pitchFamily="34" charset="-122"/>
                <a:cs typeface="微软雅黑" panose="020B0503020204020204" pitchFamily="34" charset="-122"/>
              </a:rPr>
              <a:t>中的每一条测试需求</a:t>
            </a:r>
            <a:r>
              <a:rPr sz="2250" i="1" spc="-15" dirty="0">
                <a:latin typeface="微软雅黑" panose="020B0503020204020204" pitchFamily="34" charset="-122"/>
                <a:cs typeface="微软雅黑" panose="020B0503020204020204" pitchFamily="34" charset="-122"/>
              </a:rPr>
              <a:t>tr</a:t>
            </a:r>
            <a:r>
              <a:rPr sz="2200" spc="-15" dirty="0">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在 </a:t>
            </a:r>
            <a:r>
              <a:rPr sz="2250" i="1" spc="-30" dirty="0">
                <a:latin typeface="微软雅黑" panose="020B0503020204020204" pitchFamily="34" charset="-122"/>
                <a:cs typeface="微软雅黑" panose="020B0503020204020204" pitchFamily="34" charset="-122"/>
              </a:rPr>
              <a:t>T</a:t>
            </a:r>
            <a:r>
              <a:rPr sz="2250" i="1" spc="-20" dirty="0">
                <a:latin typeface="微软雅黑" panose="020B0503020204020204" pitchFamily="34" charset="-122"/>
                <a:cs typeface="微软雅黑" panose="020B0503020204020204" pitchFamily="34" charset="-122"/>
              </a:rPr>
              <a:t> </a:t>
            </a:r>
            <a:r>
              <a:rPr sz="2200" dirty="0">
                <a:latin typeface="微软雅黑" panose="020B0503020204020204" pitchFamily="34" charset="-122"/>
                <a:cs typeface="微软雅黑" panose="020B0503020204020204" pitchFamily="34" charset="-122"/>
              </a:rPr>
              <a:t>中至少存在一个测试 </a:t>
            </a:r>
            <a:r>
              <a:rPr sz="2250" i="1" spc="-20" dirty="0">
                <a:latin typeface="微软雅黑" panose="020B0503020204020204" pitchFamily="34" charset="-122"/>
                <a:cs typeface="微软雅黑" panose="020B0503020204020204" pitchFamily="34" charset="-122"/>
              </a:rPr>
              <a:t>t</a:t>
            </a:r>
            <a:r>
              <a:rPr sz="2250" i="1" spc="-15" dirty="0">
                <a:latin typeface="微软雅黑" panose="020B0503020204020204" pitchFamily="34" charset="-122"/>
                <a:cs typeface="微软雅黑" panose="020B0503020204020204" pitchFamily="34" charset="-122"/>
              </a:rPr>
              <a:t> </a:t>
            </a:r>
            <a:r>
              <a:rPr sz="2200" dirty="0">
                <a:latin typeface="微软雅黑" panose="020B0503020204020204" pitchFamily="34" charset="-122"/>
                <a:cs typeface="微软雅黑" panose="020B0503020204020204" pitchFamily="34" charset="-122"/>
              </a:rPr>
              <a:t>可以满足</a:t>
            </a:r>
            <a:r>
              <a:rPr sz="2200" spc="-5" dirty="0">
                <a:latin typeface="微软雅黑" panose="020B0503020204020204" pitchFamily="34" charset="-122"/>
                <a:cs typeface="微软雅黑" panose="020B0503020204020204" pitchFamily="34" charset="-122"/>
              </a:rPr>
              <a:t> </a:t>
            </a:r>
            <a:r>
              <a:rPr sz="2250" i="1" spc="-25" dirty="0">
                <a:latin typeface="微软雅黑" panose="020B0503020204020204" pitchFamily="34" charset="-122"/>
                <a:cs typeface="微软雅黑" panose="020B0503020204020204" pitchFamily="34" charset="-122"/>
              </a:rPr>
              <a:t>tr</a:t>
            </a:r>
            <a:r>
              <a:rPr sz="2200" dirty="0">
                <a:latin typeface="微软雅黑" panose="020B0503020204020204" pitchFamily="34" charset="-122"/>
                <a:cs typeface="微软雅黑" panose="020B0503020204020204" pitchFamily="34" charset="-122"/>
              </a:rPr>
              <a:t>。</a:t>
            </a:r>
          </a:p>
          <a:p>
            <a:pPr marL="460375" indent="-447675">
              <a:lnSpc>
                <a:spcPct val="100000"/>
              </a:lnSpc>
              <a:spcBef>
                <a:spcPts val="2200"/>
              </a:spcBef>
              <a:buClr>
                <a:srgbClr val="0033CC"/>
              </a:buClr>
              <a:buFont typeface="Arial" panose="020B0604020202020204"/>
              <a:buChar char="•"/>
              <a:tabLst>
                <a:tab pos="459740" algn="l"/>
                <a:tab pos="460375" algn="l"/>
              </a:tabLst>
            </a:pPr>
            <a:r>
              <a:rPr sz="2200" dirty="0">
                <a:solidFill>
                  <a:srgbClr val="004DD6"/>
                </a:solidFill>
                <a:latin typeface="微软雅黑" panose="020B0503020204020204" pitchFamily="34" charset="-122"/>
                <a:cs typeface="微软雅黑" panose="020B0503020204020204" pitchFamily="34" charset="-122"/>
              </a:rPr>
              <a:t>覆盖程度</a:t>
            </a:r>
            <a:r>
              <a:rPr sz="2200" dirty="0">
                <a:latin typeface="微软雅黑" panose="020B0503020204020204" pitchFamily="34" charset="-122"/>
                <a:cs typeface="微软雅黑" panose="020B0503020204020204" pitchFamily="34" charset="-122"/>
              </a:rPr>
              <a:t>：给定一个测试需求集合</a:t>
            </a:r>
            <a:r>
              <a:rPr sz="2200" spc="280" dirty="0">
                <a:latin typeface="微软雅黑" panose="020B0503020204020204" pitchFamily="34" charset="-122"/>
                <a:cs typeface="微软雅黑" panose="020B0503020204020204" pitchFamily="34" charset="-122"/>
              </a:rPr>
              <a:t> </a:t>
            </a:r>
            <a:r>
              <a:rPr sz="2250" i="1" spc="-35" dirty="0">
                <a:latin typeface="微软雅黑" panose="020B0503020204020204" pitchFamily="34" charset="-122"/>
                <a:cs typeface="微软雅黑" panose="020B0503020204020204" pitchFamily="34" charset="-122"/>
              </a:rPr>
              <a:t>TR</a:t>
            </a:r>
            <a:r>
              <a:rPr sz="2250" i="1" spc="270" dirty="0">
                <a:latin typeface="微软雅黑" panose="020B0503020204020204" pitchFamily="34" charset="-122"/>
                <a:cs typeface="微软雅黑" panose="020B0503020204020204" pitchFamily="34" charset="-122"/>
              </a:rPr>
              <a:t> </a:t>
            </a:r>
            <a:r>
              <a:rPr sz="2200" dirty="0">
                <a:latin typeface="微软雅黑" panose="020B0503020204020204" pitchFamily="34" charset="-122"/>
                <a:cs typeface="微软雅黑" panose="020B0503020204020204" pitchFamily="34" charset="-122"/>
              </a:rPr>
              <a:t>和一个测试集合</a:t>
            </a:r>
            <a:r>
              <a:rPr sz="2200" spc="285" dirty="0">
                <a:latin typeface="微软雅黑" panose="020B0503020204020204" pitchFamily="34" charset="-122"/>
                <a:cs typeface="微软雅黑" panose="020B0503020204020204" pitchFamily="34" charset="-122"/>
              </a:rPr>
              <a:t> </a:t>
            </a:r>
            <a:r>
              <a:rPr sz="2250" i="1" spc="-15" dirty="0">
                <a:latin typeface="微软雅黑" panose="020B0503020204020204" pitchFamily="34" charset="-122"/>
                <a:cs typeface="微软雅黑" panose="020B0503020204020204" pitchFamily="34" charset="-122"/>
              </a:rPr>
              <a:t>T</a:t>
            </a:r>
            <a:r>
              <a:rPr sz="2200" spc="-15" dirty="0">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覆盖程度就是</a:t>
            </a:r>
            <a:r>
              <a:rPr sz="2200" spc="280" dirty="0">
                <a:latin typeface="微软雅黑" panose="020B0503020204020204" pitchFamily="34" charset="-122"/>
                <a:cs typeface="微软雅黑" panose="020B0503020204020204" pitchFamily="34" charset="-122"/>
              </a:rPr>
              <a:t> </a:t>
            </a:r>
            <a:r>
              <a:rPr sz="2250" i="1" spc="-30" dirty="0">
                <a:latin typeface="微软雅黑" panose="020B0503020204020204" pitchFamily="34" charset="-122"/>
                <a:cs typeface="微软雅黑" panose="020B0503020204020204" pitchFamily="34" charset="-122"/>
              </a:rPr>
              <a:t>T</a:t>
            </a:r>
            <a:endParaRPr sz="2250" dirty="0">
              <a:latin typeface="微软雅黑" panose="020B0503020204020204" pitchFamily="34" charset="-122"/>
              <a:cs typeface="微软雅黑" panose="020B0503020204020204" pitchFamily="34" charset="-122"/>
            </a:endParaRPr>
          </a:p>
          <a:p>
            <a:pPr marL="457200">
              <a:lnSpc>
                <a:spcPct val="100000"/>
              </a:lnSpc>
              <a:spcBef>
                <a:spcPts val="500"/>
              </a:spcBef>
            </a:pPr>
            <a:r>
              <a:rPr sz="2200" dirty="0">
                <a:latin typeface="微软雅黑" panose="020B0503020204020204" pitchFamily="34" charset="-122"/>
                <a:cs typeface="微软雅黑" panose="020B0503020204020204" pitchFamily="34" charset="-122"/>
              </a:rPr>
              <a:t>满足的测试需求数占</a:t>
            </a:r>
            <a:r>
              <a:rPr sz="2200" spc="-5" dirty="0">
                <a:latin typeface="微软雅黑" panose="020B0503020204020204" pitchFamily="34" charset="-122"/>
                <a:cs typeface="微软雅黑" panose="020B0503020204020204" pitchFamily="34" charset="-122"/>
              </a:rPr>
              <a:t> </a:t>
            </a:r>
            <a:r>
              <a:rPr sz="2250" i="1" spc="-35" dirty="0">
                <a:latin typeface="微软雅黑" panose="020B0503020204020204" pitchFamily="34" charset="-122"/>
                <a:cs typeface="微软雅黑" panose="020B0503020204020204" pitchFamily="34" charset="-122"/>
              </a:rPr>
              <a:t>TR</a:t>
            </a:r>
            <a:r>
              <a:rPr sz="2250" i="1" spc="-15" dirty="0">
                <a:latin typeface="微软雅黑" panose="020B0503020204020204" pitchFamily="34" charset="-122"/>
                <a:cs typeface="微软雅黑" panose="020B0503020204020204" pitchFamily="34" charset="-122"/>
              </a:rPr>
              <a:t> </a:t>
            </a:r>
            <a:r>
              <a:rPr sz="2200" dirty="0">
                <a:latin typeface="微软雅黑" panose="020B0503020204020204" pitchFamily="34" charset="-122"/>
                <a:cs typeface="微软雅黑" panose="020B0503020204020204" pitchFamily="34" charset="-122"/>
              </a:rPr>
              <a:t>总数的比例。</a:t>
            </a:r>
          </a:p>
        </p:txBody>
      </p:sp>
      <p:sp>
        <p:nvSpPr>
          <p:cNvPr id="4" name="灯片编号占位符 3"/>
          <p:cNvSpPr>
            <a:spLocks noGrp="1"/>
          </p:cNvSpPr>
          <p:nvPr>
            <p:ph type="sldNum" sz="quarter" idx="12"/>
          </p:nvPr>
        </p:nvSpPr>
        <p:spPr/>
        <p:txBody>
          <a:bodyPr/>
          <a:lstStyle/>
          <a:p>
            <a:fld id="{74D2AB8B-5816-41F2-8B4B-CA5C3E4E6A65}" type="slidenum">
              <a:rPr lang="zh-CN" altLang="en-US" smtClean="0"/>
              <a:t>18</a:t>
            </a:fld>
            <a:endParaRPr lang="zh-CN" altLang="en-US"/>
          </a:p>
        </p:txBody>
      </p:sp>
      <p:sp>
        <p:nvSpPr>
          <p:cNvPr id="6" name="标题 5"/>
          <p:cNvSpPr>
            <a:spLocks noGrp="1"/>
          </p:cNvSpPr>
          <p:nvPr>
            <p:ph type="title"/>
          </p:nvPr>
        </p:nvSpPr>
        <p:spPr/>
        <p:txBody>
          <a:bodyPr/>
          <a:lstStyle/>
          <a:p>
            <a:r>
              <a:rPr lang="zh-CN" altLang="en-US" dirty="0"/>
              <a:t>测试覆盖标准</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504603" y="1550323"/>
            <a:ext cx="1795548" cy="1795548"/>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1597209" y="1617216"/>
            <a:ext cx="9112250" cy="3632789"/>
          </a:xfrm>
          <a:prstGeom prst="rect">
            <a:avLst/>
          </a:prstGeom>
        </p:spPr>
        <p:txBody>
          <a:bodyPr vert="horz" wrap="square" lIns="0" tIns="198120" rIns="0" bIns="0" rtlCol="0">
            <a:spAutoFit/>
          </a:bodyPr>
          <a:lstStyle/>
          <a:p>
            <a:pPr marL="2393315">
              <a:lnSpc>
                <a:spcPct val="100000"/>
              </a:lnSpc>
              <a:spcBef>
                <a:spcPts val="1560"/>
              </a:spcBef>
            </a:pPr>
            <a:r>
              <a:rPr sz="2200" dirty="0">
                <a:solidFill>
                  <a:srgbClr val="0033CC"/>
                </a:solidFill>
                <a:latin typeface="微软雅黑" panose="020B0503020204020204" pitchFamily="34" charset="-122"/>
                <a:cs typeface="微软雅黑" panose="020B0503020204020204" pitchFamily="34" charset="-122"/>
              </a:rPr>
              <a:t>软心糖豆：</a:t>
            </a:r>
            <a:r>
              <a:rPr sz="2200" dirty="0">
                <a:solidFill>
                  <a:srgbClr val="0033CC"/>
                </a:solidFill>
                <a:latin typeface="Arial" panose="020B0604020202020204"/>
                <a:cs typeface="Arial" panose="020B0604020202020204"/>
              </a:rPr>
              <a:t>6</a:t>
            </a:r>
            <a:r>
              <a:rPr sz="2200" spc="-5" dirty="0">
                <a:solidFill>
                  <a:srgbClr val="0033CC"/>
                </a:solidFill>
                <a:latin typeface="Arial" panose="020B0604020202020204"/>
                <a:cs typeface="Arial" panose="020B0604020202020204"/>
              </a:rPr>
              <a:t> </a:t>
            </a:r>
            <a:r>
              <a:rPr sz="2200" dirty="0">
                <a:solidFill>
                  <a:srgbClr val="0033CC"/>
                </a:solidFill>
                <a:latin typeface="微软雅黑" panose="020B0503020204020204" pitchFamily="34" charset="-122"/>
                <a:cs typeface="微软雅黑" panose="020B0503020204020204" pitchFamily="34" charset="-122"/>
              </a:rPr>
              <a:t>种口味和</a:t>
            </a:r>
            <a:r>
              <a:rPr sz="2200" spc="-5" dirty="0">
                <a:solidFill>
                  <a:srgbClr val="0033CC"/>
                </a:solidFill>
                <a:latin typeface="微软雅黑" panose="020B0503020204020204" pitchFamily="34" charset="-122"/>
                <a:cs typeface="微软雅黑" panose="020B0503020204020204" pitchFamily="34" charset="-122"/>
              </a:rPr>
              <a:t> </a:t>
            </a:r>
            <a:r>
              <a:rPr sz="2200" dirty="0">
                <a:solidFill>
                  <a:srgbClr val="0033CC"/>
                </a:solidFill>
                <a:latin typeface="Arial" panose="020B0604020202020204"/>
                <a:cs typeface="Arial" panose="020B0604020202020204"/>
              </a:rPr>
              <a:t>4 </a:t>
            </a:r>
            <a:r>
              <a:rPr sz="2200" dirty="0">
                <a:solidFill>
                  <a:srgbClr val="0033CC"/>
                </a:solidFill>
                <a:latin typeface="微软雅黑" panose="020B0503020204020204" pitchFamily="34" charset="-122"/>
                <a:cs typeface="微软雅黑" panose="020B0503020204020204" pitchFamily="34" charset="-122"/>
              </a:rPr>
              <a:t>种颜色</a:t>
            </a:r>
            <a:endParaRPr sz="2200" dirty="0">
              <a:latin typeface="微软雅黑" panose="020B0503020204020204" pitchFamily="34" charset="-122"/>
              <a:cs typeface="微软雅黑" panose="020B0503020204020204" pitchFamily="34" charset="-122"/>
            </a:endParaRPr>
          </a:p>
          <a:p>
            <a:pPr marL="2393315" marR="5080">
              <a:lnSpc>
                <a:spcPct val="110000"/>
              </a:lnSpc>
              <a:spcBef>
                <a:spcPts val="1200"/>
              </a:spcBef>
            </a:pPr>
            <a:r>
              <a:rPr sz="2200" dirty="0">
                <a:latin typeface="微软雅黑" panose="020B0503020204020204" pitchFamily="34" charset="-122"/>
                <a:cs typeface="微软雅黑" panose="020B0503020204020204" pitchFamily="34" charset="-122"/>
              </a:rPr>
              <a:t>柠檬味（黄色）、开心果味（绿色）、梨子味（白色） 哈密瓜味（橙色）、橘子味（橙色）、杏味（黄色）</a:t>
            </a:r>
          </a:p>
          <a:p>
            <a:pPr>
              <a:lnSpc>
                <a:spcPct val="100000"/>
              </a:lnSpc>
            </a:pPr>
            <a:endParaRPr sz="2900" dirty="0">
              <a:latin typeface="Times New Roman" panose="02020603050405020304"/>
              <a:cs typeface="Times New Roman" panose="02020603050405020304"/>
            </a:endParaRPr>
          </a:p>
          <a:p>
            <a:pPr>
              <a:lnSpc>
                <a:spcPct val="100000"/>
              </a:lnSpc>
              <a:spcBef>
                <a:spcPts val="40"/>
              </a:spcBef>
            </a:pPr>
            <a:endParaRPr sz="3000" dirty="0">
              <a:latin typeface="Times New Roman" panose="02020603050405020304"/>
              <a:cs typeface="Times New Roman" panose="02020603050405020304"/>
            </a:endParaRPr>
          </a:p>
          <a:p>
            <a:pPr marL="558800" indent="-546100">
              <a:lnSpc>
                <a:spcPct val="100000"/>
              </a:lnSpc>
              <a:buClr>
                <a:srgbClr val="262626"/>
              </a:buClr>
              <a:buFont typeface="Wingdings" panose="05000000000000000000"/>
              <a:buChar char=""/>
              <a:tabLst>
                <a:tab pos="558165" algn="l"/>
                <a:tab pos="558800" algn="l"/>
              </a:tabLst>
            </a:pPr>
            <a:r>
              <a:rPr sz="2400" b="1" spc="-5" dirty="0" err="1">
                <a:solidFill>
                  <a:srgbClr val="323232"/>
                </a:solidFill>
                <a:latin typeface="华文楷体" panose="02010600040101010101" pitchFamily="2" charset="-122"/>
                <a:ea typeface="华文楷体" panose="02010600040101010101" pitchFamily="2" charset="-122"/>
                <a:cs typeface="华文楷体" panose="02010600040101010101" charset="-122"/>
              </a:rPr>
              <a:t>可以用什么覆盖标准来选择糖</a:t>
            </a:r>
            <a:r>
              <a:rPr lang="zh-CN" altLang="en-US" sz="2400" b="1" spc="-5" dirty="0">
                <a:solidFill>
                  <a:srgbClr val="323232"/>
                </a:solidFill>
                <a:latin typeface="华文楷体" panose="02010600040101010101" pitchFamily="2" charset="-122"/>
                <a:ea typeface="华文楷体" panose="02010600040101010101" pitchFamily="2" charset="-122"/>
                <a:cs typeface="华文楷体" panose="02010600040101010101" charset="-122"/>
              </a:rPr>
              <a:t>豆</a:t>
            </a:r>
            <a:r>
              <a:rPr sz="2400" b="1" spc="-5" dirty="0" err="1">
                <a:solidFill>
                  <a:srgbClr val="323232"/>
                </a:solidFill>
                <a:latin typeface="华文楷体" panose="02010600040101010101" pitchFamily="2" charset="-122"/>
                <a:ea typeface="华文楷体" panose="02010600040101010101" pitchFamily="2" charset="-122"/>
              </a:rPr>
              <a:t>测试</a:t>
            </a:r>
            <a:r>
              <a:rPr sz="2400" b="1" spc="-5" dirty="0">
                <a:solidFill>
                  <a:srgbClr val="323232"/>
                </a:solidFill>
                <a:latin typeface="华文楷体" panose="02010600040101010101" charset="-122"/>
                <a:cs typeface="华文楷体" panose="02010600040101010101" charset="-122"/>
              </a:rPr>
              <a:t>？</a:t>
            </a:r>
            <a:endParaRPr sz="2400" dirty="0">
              <a:latin typeface="华文楷体" panose="02010600040101010101" charset="-122"/>
              <a:cs typeface="华文楷体" panose="02010600040101010101" charset="-122"/>
            </a:endParaRPr>
          </a:p>
          <a:p>
            <a:pPr marL="558800" indent="-546100">
              <a:lnSpc>
                <a:spcPct val="100000"/>
              </a:lnSpc>
              <a:spcBef>
                <a:spcPts val="720"/>
              </a:spcBef>
              <a:buClr>
                <a:srgbClr val="262626"/>
              </a:buClr>
              <a:buFont typeface="Wingdings" panose="05000000000000000000"/>
              <a:buChar char=""/>
              <a:tabLst>
                <a:tab pos="558165" algn="l"/>
                <a:tab pos="558800" algn="l"/>
              </a:tabLst>
            </a:pPr>
            <a:r>
              <a:rPr sz="2400" b="1" spc="-5" dirty="0">
                <a:solidFill>
                  <a:srgbClr val="323232"/>
                </a:solidFill>
                <a:latin typeface="华文楷体" panose="02010600040101010101" charset="-122"/>
                <a:cs typeface="华文楷体" panose="02010600040101010101" charset="-122"/>
              </a:rPr>
              <a:t>哪⼀种覆盖标准更好？为什么？</a:t>
            </a:r>
            <a:endParaRPr sz="2400" dirty="0">
              <a:latin typeface="华文楷体" panose="02010600040101010101" charset="-122"/>
              <a:cs typeface="华文楷体" panose="02010600040101010101" charset="-122"/>
            </a:endParaRPr>
          </a:p>
          <a:p>
            <a:pPr marL="558800" indent="-546100">
              <a:lnSpc>
                <a:spcPct val="100000"/>
              </a:lnSpc>
              <a:spcBef>
                <a:spcPts val="720"/>
              </a:spcBef>
              <a:buClr>
                <a:srgbClr val="262626"/>
              </a:buClr>
              <a:buFont typeface="Wingdings" panose="05000000000000000000"/>
              <a:buChar char=""/>
              <a:tabLst>
                <a:tab pos="558165" algn="l"/>
                <a:tab pos="558800" algn="l"/>
              </a:tabLst>
            </a:pPr>
            <a:r>
              <a:rPr sz="2400" b="1" spc="-5" dirty="0">
                <a:solidFill>
                  <a:srgbClr val="323232"/>
                </a:solidFill>
                <a:latin typeface="华文楷体" panose="02010600040101010101" charset="-122"/>
                <a:cs typeface="华文楷体" panose="02010600040101010101" charset="-122"/>
              </a:rPr>
              <a:t>应该考虑哪些因素来选择覆盖标准？</a:t>
            </a:r>
            <a:endParaRPr sz="2400" dirty="0">
              <a:latin typeface="华文楷体" panose="02010600040101010101" charset="-122"/>
              <a:cs typeface="华文楷体" panose="02010600040101010101" charset="-122"/>
            </a:endParaRPr>
          </a:p>
        </p:txBody>
      </p:sp>
      <p:sp>
        <p:nvSpPr>
          <p:cNvPr id="5" name="object 5"/>
          <p:cNvSpPr/>
          <p:nvPr/>
        </p:nvSpPr>
        <p:spPr>
          <a:xfrm>
            <a:off x="8897577" y="3898040"/>
            <a:ext cx="1821400" cy="1342851"/>
          </a:xfrm>
          <a:prstGeom prst="rect">
            <a:avLst/>
          </a:prstGeom>
          <a:blipFill>
            <a:blip r:embed="rId4" cstate="print"/>
            <a:stretch>
              <a:fillRect/>
            </a:stretch>
          </a:blipFill>
        </p:spPr>
        <p:txBody>
          <a:bodyPr wrap="square" lIns="0" tIns="0" rIns="0" bIns="0" rtlCol="0"/>
          <a:lstStyle/>
          <a:p>
            <a:endParaRPr/>
          </a:p>
        </p:txBody>
      </p:sp>
      <p:sp>
        <p:nvSpPr>
          <p:cNvPr id="6" name="灯片编号占位符 5"/>
          <p:cNvSpPr>
            <a:spLocks noGrp="1"/>
          </p:cNvSpPr>
          <p:nvPr>
            <p:ph type="sldNum" sz="quarter" idx="12"/>
          </p:nvPr>
        </p:nvSpPr>
        <p:spPr/>
        <p:txBody>
          <a:bodyPr/>
          <a:lstStyle/>
          <a:p>
            <a:fld id="{74D2AB8B-5816-41F2-8B4B-CA5C3E4E6A65}" type="slidenum">
              <a:rPr lang="zh-CN" altLang="en-US" smtClean="0"/>
              <a:t>19</a:t>
            </a:fld>
            <a:endParaRPr lang="zh-CN" altLang="en-US"/>
          </a:p>
        </p:txBody>
      </p:sp>
      <p:sp>
        <p:nvSpPr>
          <p:cNvPr id="8" name="标题 7"/>
          <p:cNvSpPr>
            <a:spLocks noGrp="1"/>
          </p:cNvSpPr>
          <p:nvPr>
            <p:ph type="title"/>
          </p:nvPr>
        </p:nvSpPr>
        <p:spPr/>
        <p:txBody>
          <a:bodyPr/>
          <a:lstStyle/>
          <a:p>
            <a:r>
              <a:rPr lang="zh-CN" altLang="en-US" dirty="0"/>
              <a:t>测试覆盖标准</a:t>
            </a:r>
          </a:p>
        </p:txBody>
      </p:sp>
      <p:sp>
        <p:nvSpPr>
          <p:cNvPr id="2" name="矩形 1">
            <a:extLst>
              <a:ext uri="{FF2B5EF4-FFF2-40B4-BE49-F238E27FC236}">
                <a16:creationId xmlns:a16="http://schemas.microsoft.com/office/drawing/2014/main" id="{6E628321-A9FA-4250-A2C6-6E76D028A4BE}"/>
              </a:ext>
            </a:extLst>
          </p:cNvPr>
          <p:cNvSpPr/>
          <p:nvPr/>
        </p:nvSpPr>
        <p:spPr>
          <a:xfrm>
            <a:off x="1008338" y="5627268"/>
            <a:ext cx="10289991" cy="369332"/>
          </a:xfrm>
          <a:prstGeom prst="rect">
            <a:avLst/>
          </a:prstGeom>
        </p:spPr>
        <p:txBody>
          <a:bodyPr wrap="square">
            <a:spAutoFit/>
          </a:bodyPr>
          <a:lstStyle/>
          <a:p>
            <a:r>
              <a:rPr lang="zh-CN" altLang="en-US" dirty="0">
                <a:solidFill>
                  <a:srgbClr val="FF0000"/>
                </a:solidFill>
                <a:latin typeface="华文楷体" panose="02010600040101010101" pitchFamily="2" charset="-122"/>
                <a:ea typeface="华文楷体" panose="02010600040101010101" pitchFamily="2" charset="-122"/>
              </a:rPr>
              <a:t>第一处理测试需求的满意程度。第二是生成测试用例的难易程度。第三是用测试发现缺陷的能力</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lstStyle/>
          <a:p>
            <a:pPr algn="ctr"/>
            <a:r>
              <a:rPr lang="zh-CN" altLang="en-US" dirty="0"/>
              <a:t>白盒测试方法</a:t>
            </a:r>
          </a:p>
        </p:txBody>
      </p:sp>
      <p:sp>
        <p:nvSpPr>
          <p:cNvPr id="3" name="文本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74D2AB8B-5816-41F2-8B4B-CA5C3E4E6A65}" type="slidenum">
              <a:rPr lang="zh-CN" altLang="en-US" smtClean="0"/>
              <a:t>20</a:t>
            </a:fld>
            <a:endParaRPr lang="zh-CN" altLang="en-US"/>
          </a:p>
        </p:txBody>
      </p:sp>
    </p:spTree>
    <p:extLst>
      <p:ext uri="{BB962C8B-B14F-4D97-AF65-F5344CB8AC3E}">
        <p14:creationId xmlns:p14="http://schemas.microsoft.com/office/powerpoint/2010/main" val="13351373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白盒测试技术</a:t>
            </a:r>
          </a:p>
        </p:txBody>
      </p:sp>
      <p:sp>
        <p:nvSpPr>
          <p:cNvPr id="3" name="内容占位符 2"/>
          <p:cNvSpPr>
            <a:spLocks noGrp="1"/>
          </p:cNvSpPr>
          <p:nvPr>
            <p:ph idx="1"/>
          </p:nvPr>
        </p:nvSpPr>
        <p:spPr/>
        <p:txBody>
          <a:bodyPr>
            <a:normAutofit/>
          </a:bodyPr>
          <a:lstStyle/>
          <a:p>
            <a:pPr marL="0" indent="0" algn="just">
              <a:buNone/>
            </a:pPr>
            <a:r>
              <a:rPr lang="zh-CN" altLang="en-US" sz="2400" dirty="0">
                <a:solidFill>
                  <a:srgbClr val="0033CC"/>
                </a:solidFill>
                <a:latin typeface="微软雅黑" panose="020B0503020204020204" pitchFamily="34" charset="-122"/>
                <a:cs typeface="微软雅黑" panose="020B0503020204020204" pitchFamily="34" charset="-122"/>
              </a:rPr>
              <a:t>白盒测试</a:t>
            </a:r>
            <a:r>
              <a:rPr lang="zh-CN" altLang="en-US" sz="2400" dirty="0">
                <a:latin typeface="微软雅黑" panose="020B0503020204020204" pitchFamily="34" charset="-122"/>
                <a:cs typeface="微软雅黑" panose="020B0503020204020204" pitchFamily="34" charset="-122"/>
              </a:rPr>
              <a:t>是将测试对象看做一个透明的盒子，允许测试人员利用程序内部的逻辑 结构及有关信息，设计或选择测试用例，对程序所有逻辑路径进行测试。</a:t>
            </a:r>
          </a:p>
          <a:p>
            <a:pPr algn="just"/>
            <a:endParaRPr lang="zh-CN" altLang="en-US" sz="2400" dirty="0"/>
          </a:p>
        </p:txBody>
      </p:sp>
      <p:sp>
        <p:nvSpPr>
          <p:cNvPr id="4" name="灯片编号占位符 3"/>
          <p:cNvSpPr>
            <a:spLocks noGrp="1"/>
          </p:cNvSpPr>
          <p:nvPr>
            <p:ph type="sldNum" sz="quarter" idx="12"/>
          </p:nvPr>
        </p:nvSpPr>
        <p:spPr/>
        <p:txBody>
          <a:bodyPr/>
          <a:lstStyle/>
          <a:p>
            <a:fld id="{74D2AB8B-5816-41F2-8B4B-CA5C3E4E6A65}" type="slidenum">
              <a:rPr lang="zh-CN" altLang="en-US" smtClean="0"/>
              <a:t>21</a:t>
            </a:fld>
            <a:endParaRPr lang="zh-CN" altLang="en-US"/>
          </a:p>
        </p:txBody>
      </p:sp>
      <p:pic>
        <p:nvPicPr>
          <p:cNvPr id="6" name="图片 5"/>
          <p:cNvPicPr>
            <a:picLocks noChangeAspect="1"/>
          </p:cNvPicPr>
          <p:nvPr/>
        </p:nvPicPr>
        <p:blipFill>
          <a:blip r:embed="rId3"/>
          <a:stretch>
            <a:fillRect/>
          </a:stretch>
        </p:blipFill>
        <p:spPr>
          <a:xfrm>
            <a:off x="3829300" y="2622371"/>
            <a:ext cx="4886325" cy="36576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63209" y="1467519"/>
            <a:ext cx="8982710" cy="1823720"/>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0033CC"/>
                </a:solidFill>
                <a:latin typeface="微软雅黑" panose="020B0503020204020204" pitchFamily="34" charset="-122"/>
                <a:cs typeface="微软雅黑" panose="020B0503020204020204" pitchFamily="34" charset="-122"/>
              </a:rPr>
              <a:t>控制流图</a:t>
            </a:r>
            <a:r>
              <a:rPr sz="2200" spc="-5" dirty="0">
                <a:latin typeface="微软雅黑" panose="020B0503020204020204" pitchFamily="34" charset="-122"/>
                <a:cs typeface="微软雅黑" panose="020B0503020204020204" pitchFamily="34" charset="-122"/>
              </a:rPr>
              <a:t>（</a:t>
            </a:r>
            <a:r>
              <a:rPr sz="2200" spc="-5" dirty="0">
                <a:latin typeface="Arial" panose="020B0604020202020204"/>
                <a:cs typeface="Arial" panose="020B0604020202020204"/>
              </a:rPr>
              <a:t>CFG</a:t>
            </a:r>
            <a:r>
              <a:rPr sz="2200" spc="-5" dirty="0">
                <a:latin typeface="微软雅黑" panose="020B0503020204020204" pitchFamily="34" charset="-122"/>
                <a:cs typeface="微软雅黑" panose="020B0503020204020204" pitchFamily="34" charset="-122"/>
              </a:rPr>
              <a:t>，</a:t>
            </a:r>
            <a:r>
              <a:rPr sz="2200" spc="-45" dirty="0">
                <a:latin typeface="微软雅黑" panose="020B0503020204020204" pitchFamily="34" charset="-122"/>
                <a:cs typeface="微软雅黑" panose="020B0503020204020204" pitchFamily="34" charset="-122"/>
              </a:rPr>
              <a:t> </a:t>
            </a:r>
            <a:r>
              <a:rPr sz="2200" spc="-5" dirty="0">
                <a:latin typeface="Arial" panose="020B0604020202020204"/>
                <a:cs typeface="Arial" panose="020B0604020202020204"/>
              </a:rPr>
              <a:t>Control Flow Graph</a:t>
            </a:r>
            <a:r>
              <a:rPr sz="2200" spc="-5" dirty="0">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是一个过程或程序的抽象表示。</a:t>
            </a:r>
          </a:p>
          <a:p>
            <a:pPr marL="12700">
              <a:lnSpc>
                <a:spcPct val="100000"/>
              </a:lnSpc>
              <a:spcBef>
                <a:spcPts val="2060"/>
              </a:spcBef>
            </a:pPr>
            <a:r>
              <a:rPr sz="2200" dirty="0">
                <a:latin typeface="微软雅黑" panose="020B0503020204020204" pitchFamily="34" charset="-122"/>
                <a:cs typeface="微软雅黑" panose="020B0503020204020204" pitchFamily="34" charset="-122"/>
              </a:rPr>
              <a:t>控制流图的基本符号：</a:t>
            </a:r>
          </a:p>
          <a:p>
            <a:pPr marL="365125" indent="-263525">
              <a:lnSpc>
                <a:spcPct val="100000"/>
              </a:lnSpc>
              <a:spcBef>
                <a:spcPts val="1080"/>
              </a:spcBef>
              <a:buFont typeface="Arial" panose="020B0604020202020204"/>
              <a:buChar char="•"/>
              <a:tabLst>
                <a:tab pos="364490" algn="l"/>
                <a:tab pos="365125" algn="l"/>
              </a:tabLst>
            </a:pPr>
            <a:r>
              <a:rPr sz="2200" dirty="0">
                <a:latin typeface="微软雅黑" panose="020B0503020204020204" pitchFamily="34" charset="-122"/>
                <a:cs typeface="微软雅黑" panose="020B0503020204020204" pitchFamily="34" charset="-122"/>
              </a:rPr>
              <a:t>矩形代表了连续的顺序计算，也称基本块</a:t>
            </a:r>
          </a:p>
          <a:p>
            <a:pPr marL="365125" indent="-263525">
              <a:lnSpc>
                <a:spcPct val="100000"/>
              </a:lnSpc>
              <a:spcBef>
                <a:spcPts val="460"/>
              </a:spcBef>
              <a:buFont typeface="Arial" panose="020B0604020202020204"/>
              <a:buChar char="•"/>
              <a:tabLst>
                <a:tab pos="364490" algn="l"/>
                <a:tab pos="365125" algn="l"/>
              </a:tabLst>
            </a:pPr>
            <a:r>
              <a:rPr sz="2200" dirty="0">
                <a:latin typeface="微软雅黑" panose="020B0503020204020204" pitchFamily="34" charset="-122"/>
                <a:cs typeface="微软雅黑" panose="020B0503020204020204" pitchFamily="34" charset="-122"/>
              </a:rPr>
              <a:t>节点是语句或语句的一部分，边表示语句的控制流</a:t>
            </a:r>
          </a:p>
        </p:txBody>
      </p:sp>
      <p:sp>
        <p:nvSpPr>
          <p:cNvPr id="4" name="object 4"/>
          <p:cNvSpPr txBox="1"/>
          <p:nvPr/>
        </p:nvSpPr>
        <p:spPr>
          <a:xfrm>
            <a:off x="2751757" y="4183462"/>
            <a:ext cx="1472565" cy="548640"/>
          </a:xfrm>
          <a:prstGeom prst="rect">
            <a:avLst/>
          </a:prstGeom>
          <a:ln w="9524">
            <a:solidFill>
              <a:srgbClr val="000000"/>
            </a:solidFill>
          </a:ln>
        </p:spPr>
        <p:txBody>
          <a:bodyPr vert="horz" wrap="square" lIns="0" tIns="121920" rIns="0" bIns="0" rtlCol="0">
            <a:spAutoFit/>
          </a:bodyPr>
          <a:lstStyle/>
          <a:p>
            <a:pPr marL="484505">
              <a:lnSpc>
                <a:spcPct val="100000"/>
              </a:lnSpc>
              <a:spcBef>
                <a:spcPts val="960"/>
              </a:spcBef>
            </a:pPr>
            <a:r>
              <a:rPr sz="2000" dirty="0">
                <a:latin typeface="微软雅黑" panose="020B0503020204020204" pitchFamily="34" charset="-122"/>
                <a:cs typeface="微软雅黑" panose="020B0503020204020204" pitchFamily="34" charset="-122"/>
              </a:rPr>
              <a:t>计算</a:t>
            </a:r>
            <a:endParaRPr sz="2000">
              <a:latin typeface="微软雅黑" panose="020B0503020204020204" pitchFamily="34" charset="-122"/>
              <a:cs typeface="微软雅黑" panose="020B0503020204020204" pitchFamily="34" charset="-122"/>
            </a:endParaRPr>
          </a:p>
        </p:txBody>
      </p:sp>
      <p:sp>
        <p:nvSpPr>
          <p:cNvPr id="5" name="object 5"/>
          <p:cNvSpPr/>
          <p:nvPr/>
        </p:nvSpPr>
        <p:spPr>
          <a:xfrm>
            <a:off x="3449180" y="3606802"/>
            <a:ext cx="0" cy="535305"/>
          </a:xfrm>
          <a:custGeom>
            <a:avLst/>
            <a:gdLst/>
            <a:ahLst/>
            <a:cxnLst/>
            <a:rect l="l" t="t" r="r" b="b"/>
            <a:pathLst>
              <a:path h="535304">
                <a:moveTo>
                  <a:pt x="0" y="0"/>
                </a:moveTo>
                <a:lnTo>
                  <a:pt x="0" y="534722"/>
                </a:lnTo>
              </a:path>
            </a:pathLst>
          </a:custGeom>
          <a:ln w="9524">
            <a:solidFill>
              <a:srgbClr val="000000"/>
            </a:solidFill>
          </a:ln>
        </p:spPr>
        <p:txBody>
          <a:bodyPr wrap="square" lIns="0" tIns="0" rIns="0" bIns="0" rtlCol="0"/>
          <a:lstStyle/>
          <a:p>
            <a:endParaRPr/>
          </a:p>
        </p:txBody>
      </p:sp>
      <p:sp>
        <p:nvSpPr>
          <p:cNvPr id="6" name="object 6"/>
          <p:cNvSpPr/>
          <p:nvPr/>
        </p:nvSpPr>
        <p:spPr>
          <a:xfrm>
            <a:off x="3411080" y="4056858"/>
            <a:ext cx="76200" cy="127000"/>
          </a:xfrm>
          <a:custGeom>
            <a:avLst/>
            <a:gdLst/>
            <a:ahLst/>
            <a:cxnLst/>
            <a:rect l="l" t="t" r="r" b="b"/>
            <a:pathLst>
              <a:path w="76200" h="127000">
                <a:moveTo>
                  <a:pt x="76200" y="0"/>
                </a:moveTo>
                <a:lnTo>
                  <a:pt x="0" y="0"/>
                </a:lnTo>
                <a:lnTo>
                  <a:pt x="38100" y="127000"/>
                </a:lnTo>
                <a:lnTo>
                  <a:pt x="76200" y="0"/>
                </a:lnTo>
                <a:close/>
              </a:path>
            </a:pathLst>
          </a:custGeom>
          <a:solidFill>
            <a:srgbClr val="000000"/>
          </a:solidFill>
        </p:spPr>
        <p:txBody>
          <a:bodyPr wrap="square" lIns="0" tIns="0" rIns="0" bIns="0" rtlCol="0"/>
          <a:lstStyle/>
          <a:p>
            <a:endParaRPr/>
          </a:p>
        </p:txBody>
      </p:sp>
      <p:sp>
        <p:nvSpPr>
          <p:cNvPr id="7" name="object 7"/>
          <p:cNvSpPr/>
          <p:nvPr/>
        </p:nvSpPr>
        <p:spPr>
          <a:xfrm>
            <a:off x="3449180" y="4731992"/>
            <a:ext cx="0" cy="535305"/>
          </a:xfrm>
          <a:custGeom>
            <a:avLst/>
            <a:gdLst/>
            <a:ahLst/>
            <a:cxnLst/>
            <a:rect l="l" t="t" r="r" b="b"/>
            <a:pathLst>
              <a:path h="535304">
                <a:moveTo>
                  <a:pt x="0" y="0"/>
                </a:moveTo>
                <a:lnTo>
                  <a:pt x="0" y="534722"/>
                </a:lnTo>
              </a:path>
            </a:pathLst>
          </a:custGeom>
          <a:ln w="9524">
            <a:solidFill>
              <a:srgbClr val="000000"/>
            </a:solidFill>
          </a:ln>
        </p:spPr>
        <p:txBody>
          <a:bodyPr wrap="square" lIns="0" tIns="0" rIns="0" bIns="0" rtlCol="0"/>
          <a:lstStyle/>
          <a:p>
            <a:endParaRPr/>
          </a:p>
        </p:txBody>
      </p:sp>
      <p:sp>
        <p:nvSpPr>
          <p:cNvPr id="8" name="object 8"/>
          <p:cNvSpPr/>
          <p:nvPr/>
        </p:nvSpPr>
        <p:spPr>
          <a:xfrm>
            <a:off x="3411080" y="5182048"/>
            <a:ext cx="76200" cy="127000"/>
          </a:xfrm>
          <a:custGeom>
            <a:avLst/>
            <a:gdLst/>
            <a:ahLst/>
            <a:cxnLst/>
            <a:rect l="l" t="t" r="r" b="b"/>
            <a:pathLst>
              <a:path w="76200" h="127000">
                <a:moveTo>
                  <a:pt x="76200" y="0"/>
                </a:moveTo>
                <a:lnTo>
                  <a:pt x="0" y="0"/>
                </a:lnTo>
                <a:lnTo>
                  <a:pt x="38100" y="127000"/>
                </a:lnTo>
                <a:lnTo>
                  <a:pt x="76200" y="0"/>
                </a:lnTo>
                <a:close/>
              </a:path>
            </a:pathLst>
          </a:custGeom>
          <a:solidFill>
            <a:srgbClr val="000000"/>
          </a:solidFill>
        </p:spPr>
        <p:txBody>
          <a:bodyPr wrap="square" lIns="0" tIns="0" rIns="0" bIns="0" rtlCol="0"/>
          <a:lstStyle/>
          <a:p>
            <a:endParaRPr/>
          </a:p>
        </p:txBody>
      </p:sp>
      <p:sp>
        <p:nvSpPr>
          <p:cNvPr id="9" name="object 9"/>
          <p:cNvSpPr txBox="1"/>
          <p:nvPr/>
        </p:nvSpPr>
        <p:spPr>
          <a:xfrm>
            <a:off x="2936565" y="5394205"/>
            <a:ext cx="1041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顺序计算</a:t>
            </a:r>
            <a:endParaRPr sz="2000">
              <a:latin typeface="微软雅黑" panose="020B0503020204020204" pitchFamily="34" charset="-122"/>
              <a:cs typeface="微软雅黑" panose="020B0503020204020204" pitchFamily="34" charset="-122"/>
            </a:endParaRPr>
          </a:p>
        </p:txBody>
      </p:sp>
      <p:sp>
        <p:nvSpPr>
          <p:cNvPr id="10" name="object 10"/>
          <p:cNvSpPr/>
          <p:nvPr/>
        </p:nvSpPr>
        <p:spPr>
          <a:xfrm>
            <a:off x="5370959" y="4183462"/>
            <a:ext cx="1550035" cy="548640"/>
          </a:xfrm>
          <a:custGeom>
            <a:avLst/>
            <a:gdLst/>
            <a:ahLst/>
            <a:cxnLst/>
            <a:rect l="l" t="t" r="r" b="b"/>
            <a:pathLst>
              <a:path w="1550034" h="548639">
                <a:moveTo>
                  <a:pt x="0" y="274265"/>
                </a:moveTo>
                <a:lnTo>
                  <a:pt x="774913" y="0"/>
                </a:lnTo>
                <a:lnTo>
                  <a:pt x="1549826" y="274265"/>
                </a:lnTo>
                <a:lnTo>
                  <a:pt x="774913" y="548529"/>
                </a:lnTo>
                <a:lnTo>
                  <a:pt x="0" y="274265"/>
                </a:lnTo>
                <a:close/>
              </a:path>
            </a:pathLst>
          </a:custGeom>
          <a:ln w="9524">
            <a:solidFill>
              <a:srgbClr val="000000"/>
            </a:solidFill>
          </a:ln>
        </p:spPr>
        <p:txBody>
          <a:bodyPr wrap="square" lIns="0" tIns="0" rIns="0" bIns="0" rtlCol="0"/>
          <a:lstStyle/>
          <a:p>
            <a:endParaRPr/>
          </a:p>
        </p:txBody>
      </p:sp>
      <p:sp>
        <p:nvSpPr>
          <p:cNvPr id="11" name="object 11"/>
          <p:cNvSpPr txBox="1"/>
          <p:nvPr/>
        </p:nvSpPr>
        <p:spPr>
          <a:xfrm>
            <a:off x="5881607" y="4292627"/>
            <a:ext cx="533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微软雅黑" panose="020B0503020204020204" pitchFamily="34" charset="-122"/>
                <a:cs typeface="微软雅黑" panose="020B0503020204020204" pitchFamily="34" charset="-122"/>
              </a:rPr>
              <a:t>决策</a:t>
            </a:r>
            <a:endParaRPr sz="2000">
              <a:latin typeface="微软雅黑" panose="020B0503020204020204" pitchFamily="34" charset="-122"/>
              <a:cs typeface="微软雅黑" panose="020B0503020204020204" pitchFamily="34" charset="-122"/>
            </a:endParaRPr>
          </a:p>
        </p:txBody>
      </p:sp>
      <p:sp>
        <p:nvSpPr>
          <p:cNvPr id="12" name="object 12"/>
          <p:cNvSpPr/>
          <p:nvPr/>
        </p:nvSpPr>
        <p:spPr>
          <a:xfrm>
            <a:off x="6145874" y="3606802"/>
            <a:ext cx="0" cy="535305"/>
          </a:xfrm>
          <a:custGeom>
            <a:avLst/>
            <a:gdLst/>
            <a:ahLst/>
            <a:cxnLst/>
            <a:rect l="l" t="t" r="r" b="b"/>
            <a:pathLst>
              <a:path h="535304">
                <a:moveTo>
                  <a:pt x="0" y="0"/>
                </a:moveTo>
                <a:lnTo>
                  <a:pt x="0" y="534722"/>
                </a:lnTo>
              </a:path>
            </a:pathLst>
          </a:custGeom>
          <a:ln w="9524">
            <a:solidFill>
              <a:srgbClr val="000000"/>
            </a:solidFill>
          </a:ln>
        </p:spPr>
        <p:txBody>
          <a:bodyPr wrap="square" lIns="0" tIns="0" rIns="0" bIns="0" rtlCol="0"/>
          <a:lstStyle/>
          <a:p>
            <a:endParaRPr/>
          </a:p>
        </p:txBody>
      </p:sp>
      <p:sp>
        <p:nvSpPr>
          <p:cNvPr id="13" name="object 13"/>
          <p:cNvSpPr/>
          <p:nvPr/>
        </p:nvSpPr>
        <p:spPr>
          <a:xfrm>
            <a:off x="6107774" y="4056858"/>
            <a:ext cx="76200" cy="127000"/>
          </a:xfrm>
          <a:custGeom>
            <a:avLst/>
            <a:gdLst/>
            <a:ahLst/>
            <a:cxnLst/>
            <a:rect l="l" t="t" r="r" b="b"/>
            <a:pathLst>
              <a:path w="76200" h="127000">
                <a:moveTo>
                  <a:pt x="76200" y="0"/>
                </a:moveTo>
                <a:lnTo>
                  <a:pt x="0" y="0"/>
                </a:lnTo>
                <a:lnTo>
                  <a:pt x="38100" y="127000"/>
                </a:lnTo>
                <a:lnTo>
                  <a:pt x="76200" y="0"/>
                </a:lnTo>
                <a:close/>
              </a:path>
            </a:pathLst>
          </a:custGeom>
          <a:solidFill>
            <a:srgbClr val="000000"/>
          </a:solidFill>
        </p:spPr>
        <p:txBody>
          <a:bodyPr wrap="square" lIns="0" tIns="0" rIns="0" bIns="0" rtlCol="0"/>
          <a:lstStyle/>
          <a:p>
            <a:endParaRPr/>
          </a:p>
        </p:txBody>
      </p:sp>
      <p:sp>
        <p:nvSpPr>
          <p:cNvPr id="14" name="object 14"/>
          <p:cNvSpPr/>
          <p:nvPr/>
        </p:nvSpPr>
        <p:spPr>
          <a:xfrm>
            <a:off x="4921507" y="4457725"/>
            <a:ext cx="449580" cy="527685"/>
          </a:xfrm>
          <a:custGeom>
            <a:avLst/>
            <a:gdLst/>
            <a:ahLst/>
            <a:cxnLst/>
            <a:rect l="l" t="t" r="r" b="b"/>
            <a:pathLst>
              <a:path w="449579" h="527685">
                <a:moveTo>
                  <a:pt x="449451" y="0"/>
                </a:moveTo>
                <a:lnTo>
                  <a:pt x="0" y="0"/>
                </a:lnTo>
                <a:lnTo>
                  <a:pt x="0" y="527289"/>
                </a:lnTo>
              </a:path>
            </a:pathLst>
          </a:custGeom>
          <a:ln w="9524">
            <a:solidFill>
              <a:srgbClr val="000000"/>
            </a:solidFill>
          </a:ln>
        </p:spPr>
        <p:txBody>
          <a:bodyPr wrap="square" lIns="0" tIns="0" rIns="0" bIns="0" rtlCol="0"/>
          <a:lstStyle/>
          <a:p>
            <a:endParaRPr/>
          </a:p>
        </p:txBody>
      </p:sp>
      <p:sp>
        <p:nvSpPr>
          <p:cNvPr id="15" name="object 15"/>
          <p:cNvSpPr/>
          <p:nvPr/>
        </p:nvSpPr>
        <p:spPr>
          <a:xfrm>
            <a:off x="4883407" y="4900348"/>
            <a:ext cx="76200" cy="127000"/>
          </a:xfrm>
          <a:custGeom>
            <a:avLst/>
            <a:gdLst/>
            <a:ahLst/>
            <a:cxnLst/>
            <a:rect l="l" t="t" r="r" b="b"/>
            <a:pathLst>
              <a:path w="76200" h="127000">
                <a:moveTo>
                  <a:pt x="76200" y="0"/>
                </a:moveTo>
                <a:lnTo>
                  <a:pt x="0" y="0"/>
                </a:lnTo>
                <a:lnTo>
                  <a:pt x="38100" y="127000"/>
                </a:lnTo>
                <a:lnTo>
                  <a:pt x="76200" y="0"/>
                </a:lnTo>
                <a:close/>
              </a:path>
            </a:pathLst>
          </a:custGeom>
          <a:solidFill>
            <a:srgbClr val="000000"/>
          </a:solidFill>
        </p:spPr>
        <p:txBody>
          <a:bodyPr wrap="square" lIns="0" tIns="0" rIns="0" bIns="0" rtlCol="0"/>
          <a:lstStyle/>
          <a:p>
            <a:endParaRPr/>
          </a:p>
        </p:txBody>
      </p:sp>
      <p:sp>
        <p:nvSpPr>
          <p:cNvPr id="16" name="object 16"/>
          <p:cNvSpPr/>
          <p:nvPr/>
        </p:nvSpPr>
        <p:spPr>
          <a:xfrm>
            <a:off x="6920786" y="4457726"/>
            <a:ext cx="480695" cy="527685"/>
          </a:xfrm>
          <a:custGeom>
            <a:avLst/>
            <a:gdLst/>
            <a:ahLst/>
            <a:cxnLst/>
            <a:rect l="l" t="t" r="r" b="b"/>
            <a:pathLst>
              <a:path w="480695" h="527685">
                <a:moveTo>
                  <a:pt x="0" y="0"/>
                </a:moveTo>
                <a:lnTo>
                  <a:pt x="480218" y="0"/>
                </a:lnTo>
                <a:lnTo>
                  <a:pt x="480218" y="527579"/>
                </a:lnTo>
              </a:path>
            </a:pathLst>
          </a:custGeom>
          <a:ln w="9524">
            <a:solidFill>
              <a:srgbClr val="000000"/>
            </a:solidFill>
          </a:ln>
        </p:spPr>
        <p:txBody>
          <a:bodyPr wrap="square" lIns="0" tIns="0" rIns="0" bIns="0" rtlCol="0"/>
          <a:lstStyle/>
          <a:p>
            <a:endParaRPr/>
          </a:p>
        </p:txBody>
      </p:sp>
      <p:sp>
        <p:nvSpPr>
          <p:cNvPr id="17" name="object 17"/>
          <p:cNvSpPr/>
          <p:nvPr/>
        </p:nvSpPr>
        <p:spPr>
          <a:xfrm>
            <a:off x="7362904" y="4900639"/>
            <a:ext cx="76200" cy="127000"/>
          </a:xfrm>
          <a:custGeom>
            <a:avLst/>
            <a:gdLst/>
            <a:ahLst/>
            <a:cxnLst/>
            <a:rect l="l" t="t" r="r" b="b"/>
            <a:pathLst>
              <a:path w="76200" h="127000">
                <a:moveTo>
                  <a:pt x="76200" y="0"/>
                </a:moveTo>
                <a:lnTo>
                  <a:pt x="0" y="0"/>
                </a:lnTo>
                <a:lnTo>
                  <a:pt x="38100" y="126999"/>
                </a:lnTo>
                <a:lnTo>
                  <a:pt x="76200" y="0"/>
                </a:lnTo>
                <a:close/>
              </a:path>
            </a:pathLst>
          </a:custGeom>
          <a:solidFill>
            <a:srgbClr val="000000"/>
          </a:solidFill>
        </p:spPr>
        <p:txBody>
          <a:bodyPr wrap="square" lIns="0" tIns="0" rIns="0" bIns="0" rtlCol="0"/>
          <a:lstStyle/>
          <a:p>
            <a:endParaRPr/>
          </a:p>
        </p:txBody>
      </p:sp>
      <p:sp>
        <p:nvSpPr>
          <p:cNvPr id="18" name="object 18"/>
          <p:cNvSpPr txBox="1"/>
          <p:nvPr/>
        </p:nvSpPr>
        <p:spPr>
          <a:xfrm>
            <a:off x="5071473" y="4091089"/>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微软雅黑" panose="020B0503020204020204" pitchFamily="34" charset="-122"/>
                <a:cs typeface="微软雅黑" panose="020B0503020204020204" pitchFamily="34" charset="-122"/>
              </a:rPr>
              <a:t>真</a:t>
            </a:r>
            <a:endParaRPr sz="2000">
              <a:latin typeface="微软雅黑" panose="020B0503020204020204" pitchFamily="34" charset="-122"/>
              <a:cs typeface="微软雅黑" panose="020B0503020204020204" pitchFamily="34" charset="-122"/>
            </a:endParaRPr>
          </a:p>
        </p:txBody>
      </p:sp>
      <p:sp>
        <p:nvSpPr>
          <p:cNvPr id="19" name="object 19"/>
          <p:cNvSpPr txBox="1"/>
          <p:nvPr/>
        </p:nvSpPr>
        <p:spPr>
          <a:xfrm>
            <a:off x="6999527" y="4091089"/>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微软雅黑" panose="020B0503020204020204" pitchFamily="34" charset="-122"/>
                <a:cs typeface="微软雅黑" panose="020B0503020204020204" pitchFamily="34" charset="-122"/>
              </a:rPr>
              <a:t>假</a:t>
            </a:r>
            <a:endParaRPr sz="2000">
              <a:latin typeface="微软雅黑" panose="020B0503020204020204" pitchFamily="34" charset="-122"/>
              <a:cs typeface="微软雅黑" panose="020B0503020204020204" pitchFamily="34" charset="-122"/>
            </a:endParaRPr>
          </a:p>
        </p:txBody>
      </p:sp>
      <p:sp>
        <p:nvSpPr>
          <p:cNvPr id="20" name="object 20"/>
          <p:cNvSpPr txBox="1"/>
          <p:nvPr/>
        </p:nvSpPr>
        <p:spPr>
          <a:xfrm>
            <a:off x="5633260" y="5407116"/>
            <a:ext cx="1041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判断节点</a:t>
            </a:r>
            <a:endParaRPr sz="2000">
              <a:latin typeface="微软雅黑" panose="020B0503020204020204" pitchFamily="34" charset="-122"/>
              <a:cs typeface="微软雅黑" panose="020B0503020204020204" pitchFamily="34" charset="-122"/>
            </a:endParaRPr>
          </a:p>
        </p:txBody>
      </p:sp>
      <p:sp>
        <p:nvSpPr>
          <p:cNvPr id="21" name="object 21"/>
          <p:cNvSpPr/>
          <p:nvPr/>
        </p:nvSpPr>
        <p:spPr>
          <a:xfrm>
            <a:off x="8532613" y="4267850"/>
            <a:ext cx="465455" cy="422275"/>
          </a:xfrm>
          <a:custGeom>
            <a:avLst/>
            <a:gdLst/>
            <a:ahLst/>
            <a:cxnLst/>
            <a:rect l="l" t="t" r="r" b="b"/>
            <a:pathLst>
              <a:path w="465454" h="422275">
                <a:moveTo>
                  <a:pt x="0" y="210972"/>
                </a:moveTo>
                <a:lnTo>
                  <a:pt x="4723" y="168454"/>
                </a:lnTo>
                <a:lnTo>
                  <a:pt x="18269" y="128852"/>
                </a:lnTo>
                <a:lnTo>
                  <a:pt x="39703" y="93015"/>
                </a:lnTo>
                <a:lnTo>
                  <a:pt x="68090" y="61792"/>
                </a:lnTo>
                <a:lnTo>
                  <a:pt x="102496" y="36030"/>
                </a:lnTo>
                <a:lnTo>
                  <a:pt x="141985" y="16579"/>
                </a:lnTo>
                <a:lnTo>
                  <a:pt x="185623" y="4286"/>
                </a:lnTo>
                <a:lnTo>
                  <a:pt x="232474" y="0"/>
                </a:lnTo>
                <a:lnTo>
                  <a:pt x="279326" y="4286"/>
                </a:lnTo>
                <a:lnTo>
                  <a:pt x="322964" y="16579"/>
                </a:lnTo>
                <a:lnTo>
                  <a:pt x="362453" y="36030"/>
                </a:lnTo>
                <a:lnTo>
                  <a:pt x="396859" y="61792"/>
                </a:lnTo>
                <a:lnTo>
                  <a:pt x="425246" y="93015"/>
                </a:lnTo>
                <a:lnTo>
                  <a:pt x="446680" y="128852"/>
                </a:lnTo>
                <a:lnTo>
                  <a:pt x="460226" y="168454"/>
                </a:lnTo>
                <a:lnTo>
                  <a:pt x="464949" y="210972"/>
                </a:lnTo>
                <a:lnTo>
                  <a:pt x="460226" y="253491"/>
                </a:lnTo>
                <a:lnTo>
                  <a:pt x="446680" y="293093"/>
                </a:lnTo>
                <a:lnTo>
                  <a:pt x="425246" y="328929"/>
                </a:lnTo>
                <a:lnTo>
                  <a:pt x="396859" y="360153"/>
                </a:lnTo>
                <a:lnTo>
                  <a:pt x="362453" y="385915"/>
                </a:lnTo>
                <a:lnTo>
                  <a:pt x="322964" y="405366"/>
                </a:lnTo>
                <a:lnTo>
                  <a:pt x="279326" y="417659"/>
                </a:lnTo>
                <a:lnTo>
                  <a:pt x="232474" y="421945"/>
                </a:lnTo>
                <a:lnTo>
                  <a:pt x="185623" y="417659"/>
                </a:lnTo>
                <a:lnTo>
                  <a:pt x="141985" y="405366"/>
                </a:lnTo>
                <a:lnTo>
                  <a:pt x="102496" y="385915"/>
                </a:lnTo>
                <a:lnTo>
                  <a:pt x="68090" y="360153"/>
                </a:lnTo>
                <a:lnTo>
                  <a:pt x="39703" y="328929"/>
                </a:lnTo>
                <a:lnTo>
                  <a:pt x="18269" y="293093"/>
                </a:lnTo>
                <a:lnTo>
                  <a:pt x="4723" y="253491"/>
                </a:lnTo>
                <a:lnTo>
                  <a:pt x="0" y="210972"/>
                </a:lnTo>
                <a:close/>
              </a:path>
            </a:pathLst>
          </a:custGeom>
          <a:ln w="9524">
            <a:solidFill>
              <a:srgbClr val="000000"/>
            </a:solidFill>
          </a:ln>
        </p:spPr>
        <p:txBody>
          <a:bodyPr wrap="square" lIns="0" tIns="0" rIns="0" bIns="0" rtlCol="0"/>
          <a:lstStyle/>
          <a:p>
            <a:endParaRPr/>
          </a:p>
        </p:txBody>
      </p:sp>
      <p:sp>
        <p:nvSpPr>
          <p:cNvPr id="22" name="object 22"/>
          <p:cNvSpPr/>
          <p:nvPr/>
        </p:nvSpPr>
        <p:spPr>
          <a:xfrm>
            <a:off x="8083158" y="3691190"/>
            <a:ext cx="407670" cy="788035"/>
          </a:xfrm>
          <a:custGeom>
            <a:avLst/>
            <a:gdLst/>
            <a:ahLst/>
            <a:cxnLst/>
            <a:rect l="l" t="t" r="r" b="b"/>
            <a:pathLst>
              <a:path w="407670" h="788035">
                <a:moveTo>
                  <a:pt x="0" y="0"/>
                </a:moveTo>
                <a:lnTo>
                  <a:pt x="0" y="787632"/>
                </a:lnTo>
                <a:lnTo>
                  <a:pt x="407120" y="787632"/>
                </a:lnTo>
              </a:path>
            </a:pathLst>
          </a:custGeom>
          <a:ln w="9524">
            <a:solidFill>
              <a:srgbClr val="000000"/>
            </a:solidFill>
          </a:ln>
        </p:spPr>
        <p:txBody>
          <a:bodyPr wrap="square" lIns="0" tIns="0" rIns="0" bIns="0" rtlCol="0"/>
          <a:lstStyle/>
          <a:p>
            <a:endParaRPr/>
          </a:p>
        </p:txBody>
      </p:sp>
      <p:sp>
        <p:nvSpPr>
          <p:cNvPr id="23" name="object 23"/>
          <p:cNvSpPr/>
          <p:nvPr/>
        </p:nvSpPr>
        <p:spPr>
          <a:xfrm>
            <a:off x="8405613" y="4440722"/>
            <a:ext cx="127000" cy="76200"/>
          </a:xfrm>
          <a:custGeom>
            <a:avLst/>
            <a:gdLst/>
            <a:ahLst/>
            <a:cxnLst/>
            <a:rect l="l" t="t" r="r" b="b"/>
            <a:pathLst>
              <a:path w="127000" h="76200">
                <a:moveTo>
                  <a:pt x="0" y="0"/>
                </a:moveTo>
                <a:lnTo>
                  <a:pt x="0" y="76200"/>
                </a:lnTo>
                <a:lnTo>
                  <a:pt x="127000" y="38100"/>
                </a:lnTo>
                <a:lnTo>
                  <a:pt x="0" y="0"/>
                </a:lnTo>
                <a:close/>
              </a:path>
            </a:pathLst>
          </a:custGeom>
          <a:solidFill>
            <a:srgbClr val="000000"/>
          </a:solidFill>
        </p:spPr>
        <p:txBody>
          <a:bodyPr wrap="square" lIns="0" tIns="0" rIns="0" bIns="0" rtlCol="0"/>
          <a:lstStyle/>
          <a:p>
            <a:endParaRPr/>
          </a:p>
        </p:txBody>
      </p:sp>
      <p:sp>
        <p:nvSpPr>
          <p:cNvPr id="24" name="object 24"/>
          <p:cNvSpPr/>
          <p:nvPr/>
        </p:nvSpPr>
        <p:spPr>
          <a:xfrm>
            <a:off x="9039894" y="3691192"/>
            <a:ext cx="380365" cy="788035"/>
          </a:xfrm>
          <a:custGeom>
            <a:avLst/>
            <a:gdLst/>
            <a:ahLst/>
            <a:cxnLst/>
            <a:rect l="l" t="t" r="r" b="b"/>
            <a:pathLst>
              <a:path w="380365" h="788035">
                <a:moveTo>
                  <a:pt x="379995" y="0"/>
                </a:moveTo>
                <a:lnTo>
                  <a:pt x="379995" y="787630"/>
                </a:lnTo>
                <a:lnTo>
                  <a:pt x="0" y="787630"/>
                </a:lnTo>
              </a:path>
            </a:pathLst>
          </a:custGeom>
          <a:ln w="9524">
            <a:solidFill>
              <a:srgbClr val="000000"/>
            </a:solidFill>
          </a:ln>
        </p:spPr>
        <p:txBody>
          <a:bodyPr wrap="square" lIns="0" tIns="0" rIns="0" bIns="0" rtlCol="0"/>
          <a:lstStyle/>
          <a:p>
            <a:endParaRPr/>
          </a:p>
        </p:txBody>
      </p:sp>
      <p:sp>
        <p:nvSpPr>
          <p:cNvPr id="25" name="object 25"/>
          <p:cNvSpPr/>
          <p:nvPr/>
        </p:nvSpPr>
        <p:spPr>
          <a:xfrm>
            <a:off x="8997562" y="4440722"/>
            <a:ext cx="127000" cy="76200"/>
          </a:xfrm>
          <a:custGeom>
            <a:avLst/>
            <a:gdLst/>
            <a:ahLst/>
            <a:cxnLst/>
            <a:rect l="l" t="t" r="r" b="b"/>
            <a:pathLst>
              <a:path w="127000" h="76200">
                <a:moveTo>
                  <a:pt x="127000" y="0"/>
                </a:moveTo>
                <a:lnTo>
                  <a:pt x="0" y="38100"/>
                </a:lnTo>
                <a:lnTo>
                  <a:pt x="127000" y="76200"/>
                </a:lnTo>
                <a:lnTo>
                  <a:pt x="127000" y="0"/>
                </a:lnTo>
                <a:close/>
              </a:path>
            </a:pathLst>
          </a:custGeom>
          <a:solidFill>
            <a:srgbClr val="000000"/>
          </a:solidFill>
        </p:spPr>
        <p:txBody>
          <a:bodyPr wrap="square" lIns="0" tIns="0" rIns="0" bIns="0" rtlCol="0"/>
          <a:lstStyle/>
          <a:p>
            <a:endParaRPr/>
          </a:p>
        </p:txBody>
      </p:sp>
      <p:sp>
        <p:nvSpPr>
          <p:cNvPr id="26" name="object 26"/>
          <p:cNvSpPr/>
          <p:nvPr/>
        </p:nvSpPr>
        <p:spPr>
          <a:xfrm>
            <a:off x="8765087" y="4689795"/>
            <a:ext cx="0" cy="535305"/>
          </a:xfrm>
          <a:custGeom>
            <a:avLst/>
            <a:gdLst/>
            <a:ahLst/>
            <a:cxnLst/>
            <a:rect l="l" t="t" r="r" b="b"/>
            <a:pathLst>
              <a:path h="535304">
                <a:moveTo>
                  <a:pt x="0" y="0"/>
                </a:moveTo>
                <a:lnTo>
                  <a:pt x="0" y="534722"/>
                </a:lnTo>
              </a:path>
            </a:pathLst>
          </a:custGeom>
          <a:ln w="9524">
            <a:solidFill>
              <a:srgbClr val="000000"/>
            </a:solidFill>
          </a:ln>
        </p:spPr>
        <p:txBody>
          <a:bodyPr wrap="square" lIns="0" tIns="0" rIns="0" bIns="0" rtlCol="0"/>
          <a:lstStyle/>
          <a:p>
            <a:endParaRPr/>
          </a:p>
        </p:txBody>
      </p:sp>
      <p:sp>
        <p:nvSpPr>
          <p:cNvPr id="27" name="object 27"/>
          <p:cNvSpPr/>
          <p:nvPr/>
        </p:nvSpPr>
        <p:spPr>
          <a:xfrm>
            <a:off x="8726988" y="5139851"/>
            <a:ext cx="76200" cy="127000"/>
          </a:xfrm>
          <a:custGeom>
            <a:avLst/>
            <a:gdLst/>
            <a:ahLst/>
            <a:cxnLst/>
            <a:rect l="l" t="t" r="r" b="b"/>
            <a:pathLst>
              <a:path w="76200" h="127000">
                <a:moveTo>
                  <a:pt x="76200" y="0"/>
                </a:moveTo>
                <a:lnTo>
                  <a:pt x="0" y="0"/>
                </a:lnTo>
                <a:lnTo>
                  <a:pt x="38100" y="126999"/>
                </a:lnTo>
                <a:lnTo>
                  <a:pt x="76200" y="0"/>
                </a:lnTo>
                <a:close/>
              </a:path>
            </a:pathLst>
          </a:custGeom>
          <a:solidFill>
            <a:srgbClr val="000000"/>
          </a:solidFill>
        </p:spPr>
        <p:txBody>
          <a:bodyPr wrap="square" lIns="0" tIns="0" rIns="0" bIns="0" rtlCol="0"/>
          <a:lstStyle/>
          <a:p>
            <a:endParaRPr/>
          </a:p>
        </p:txBody>
      </p:sp>
      <p:sp>
        <p:nvSpPr>
          <p:cNvPr id="28" name="object 28"/>
          <p:cNvSpPr txBox="1"/>
          <p:nvPr/>
        </p:nvSpPr>
        <p:spPr>
          <a:xfrm>
            <a:off x="8252473" y="5405964"/>
            <a:ext cx="1041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合并节点</a:t>
            </a:r>
            <a:endParaRPr sz="2000">
              <a:latin typeface="微软雅黑" panose="020B0503020204020204" pitchFamily="34" charset="-122"/>
              <a:cs typeface="微软雅黑" panose="020B0503020204020204" pitchFamily="34" charset="-122"/>
            </a:endParaRPr>
          </a:p>
        </p:txBody>
      </p:sp>
      <p:sp>
        <p:nvSpPr>
          <p:cNvPr id="29" name="灯片编号占位符 28"/>
          <p:cNvSpPr>
            <a:spLocks noGrp="1"/>
          </p:cNvSpPr>
          <p:nvPr>
            <p:ph type="sldNum" sz="quarter" idx="12"/>
          </p:nvPr>
        </p:nvSpPr>
        <p:spPr/>
        <p:txBody>
          <a:bodyPr/>
          <a:lstStyle/>
          <a:p>
            <a:fld id="{74D2AB8B-5816-41F2-8B4B-CA5C3E4E6A65}" type="slidenum">
              <a:rPr lang="zh-CN" altLang="en-US" smtClean="0"/>
              <a:t>22</a:t>
            </a:fld>
            <a:endParaRPr lang="zh-CN" altLang="en-US"/>
          </a:p>
        </p:txBody>
      </p:sp>
      <p:sp>
        <p:nvSpPr>
          <p:cNvPr id="31" name="标题 30"/>
          <p:cNvSpPr>
            <a:spLocks noGrp="1"/>
          </p:cNvSpPr>
          <p:nvPr>
            <p:ph type="title"/>
          </p:nvPr>
        </p:nvSpPr>
        <p:spPr/>
        <p:txBody>
          <a:bodyPr/>
          <a:lstStyle/>
          <a:p>
            <a:r>
              <a:rPr lang="zh-CN" altLang="en-US" dirty="0"/>
              <a:t>控制流图</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70739" y="583620"/>
            <a:ext cx="9322435" cy="5537200"/>
          </a:xfrm>
          <a:prstGeom prst="rect">
            <a:avLst/>
          </a:prstGeom>
        </p:spPr>
        <p:txBody>
          <a:bodyPr vert="horz" wrap="square" lIns="0" tIns="12700" rIns="0" bIns="0" rtlCol="0">
            <a:spAutoFit/>
          </a:bodyPr>
          <a:lstStyle/>
          <a:p>
            <a:pPr marL="12700">
              <a:lnSpc>
                <a:spcPts val="2250"/>
              </a:lnSpc>
              <a:spcBef>
                <a:spcPts val="100"/>
              </a:spcBef>
            </a:pPr>
            <a:r>
              <a:rPr sz="2000" b="1" spc="-5" dirty="0">
                <a:latin typeface="Courier New" panose="02070309020205020404"/>
                <a:cs typeface="Courier New" panose="02070309020205020404"/>
              </a:rPr>
              <a:t>FindMean(float *mean, FILE</a:t>
            </a:r>
            <a:r>
              <a:rPr sz="2000" b="1" spc="-10" dirty="0">
                <a:latin typeface="Courier New" panose="02070309020205020404"/>
                <a:cs typeface="Courier New" panose="02070309020205020404"/>
              </a:rPr>
              <a:t> </a:t>
            </a:r>
            <a:r>
              <a:rPr sz="2000" b="1" dirty="0">
                <a:latin typeface="Courier New" panose="02070309020205020404"/>
                <a:cs typeface="Courier New" panose="02070309020205020404"/>
              </a:rPr>
              <a:t>*fp)</a:t>
            </a:r>
            <a:endParaRPr sz="2000" dirty="0">
              <a:latin typeface="Courier New" panose="02070309020205020404"/>
              <a:cs typeface="Courier New" panose="02070309020205020404"/>
            </a:endParaRPr>
          </a:p>
          <a:p>
            <a:pPr marL="12700">
              <a:lnSpc>
                <a:spcPts val="2150"/>
              </a:lnSpc>
            </a:pPr>
            <a:r>
              <a:rPr sz="2000" b="1" dirty="0">
                <a:latin typeface="Courier New" panose="02070309020205020404"/>
                <a:cs typeface="Courier New" panose="02070309020205020404"/>
              </a:rPr>
              <a:t>{</a:t>
            </a:r>
            <a:endParaRPr sz="2000" dirty="0">
              <a:latin typeface="Courier New" panose="02070309020205020404"/>
              <a:cs typeface="Courier New" panose="02070309020205020404"/>
            </a:endParaRPr>
          </a:p>
          <a:p>
            <a:pPr marL="622300" marR="4272280">
              <a:lnSpc>
                <a:spcPts val="2100"/>
              </a:lnSpc>
              <a:spcBef>
                <a:spcPts val="220"/>
              </a:spcBef>
              <a:tabLst>
                <a:tab pos="1231900" algn="l"/>
              </a:tabLst>
            </a:pPr>
            <a:r>
              <a:rPr sz="2000" b="1" spc="-5" dirty="0">
                <a:latin typeface="Courier New" panose="02070309020205020404"/>
                <a:cs typeface="Courier New" panose="02070309020205020404"/>
              </a:rPr>
              <a:t>float sum </a:t>
            </a:r>
            <a:r>
              <a:rPr sz="2000" b="1" dirty="0">
                <a:latin typeface="Courier New" panose="02070309020205020404"/>
                <a:cs typeface="Courier New" panose="02070309020205020404"/>
              </a:rPr>
              <a:t>= </a:t>
            </a:r>
            <a:r>
              <a:rPr sz="2000" b="1" spc="-5" dirty="0">
                <a:latin typeface="Courier New" panose="02070309020205020404"/>
                <a:cs typeface="Courier New" panose="02070309020205020404"/>
              </a:rPr>
              <a:t>0.0, score </a:t>
            </a:r>
            <a:r>
              <a:rPr sz="2000" b="1" dirty="0">
                <a:latin typeface="Courier New" panose="02070309020205020404"/>
                <a:cs typeface="Courier New" panose="02070309020205020404"/>
              </a:rPr>
              <a:t>= </a:t>
            </a:r>
            <a:r>
              <a:rPr sz="2000" b="1" spc="-5" dirty="0">
                <a:latin typeface="Courier New" panose="02070309020205020404"/>
                <a:cs typeface="Courier New" panose="02070309020205020404"/>
              </a:rPr>
              <a:t>0.0;  </a:t>
            </a:r>
            <a:r>
              <a:rPr sz="2000" b="1" dirty="0">
                <a:latin typeface="Courier New" panose="02070309020205020404"/>
                <a:cs typeface="Courier New" panose="02070309020205020404"/>
              </a:rPr>
              <a:t>int	</a:t>
            </a:r>
            <a:r>
              <a:rPr sz="2000" b="1" spc="-5" dirty="0">
                <a:latin typeface="Courier New" panose="02070309020205020404"/>
                <a:cs typeface="Courier New" panose="02070309020205020404"/>
              </a:rPr>
              <a:t>num </a:t>
            </a:r>
            <a:r>
              <a:rPr sz="2000" b="1" dirty="0">
                <a:latin typeface="Courier New" panose="02070309020205020404"/>
                <a:cs typeface="Courier New" panose="02070309020205020404"/>
              </a:rPr>
              <a:t>=</a:t>
            </a:r>
            <a:r>
              <a:rPr sz="2000" b="1" spc="-15" dirty="0">
                <a:latin typeface="Courier New" panose="02070309020205020404"/>
                <a:cs typeface="Courier New" panose="02070309020205020404"/>
              </a:rPr>
              <a:t> </a:t>
            </a:r>
            <a:r>
              <a:rPr sz="2000" b="1" spc="-5" dirty="0">
                <a:latin typeface="Courier New" panose="02070309020205020404"/>
                <a:cs typeface="Courier New" panose="02070309020205020404"/>
              </a:rPr>
              <a:t>0;</a:t>
            </a:r>
            <a:endParaRPr sz="2000" dirty="0">
              <a:latin typeface="Courier New" panose="02070309020205020404"/>
              <a:cs typeface="Courier New" panose="02070309020205020404"/>
            </a:endParaRPr>
          </a:p>
          <a:p>
            <a:pPr>
              <a:lnSpc>
                <a:spcPct val="100000"/>
              </a:lnSpc>
              <a:spcBef>
                <a:spcPts val="50"/>
              </a:spcBef>
            </a:pPr>
            <a:endParaRPr sz="1800" dirty="0">
              <a:latin typeface="Times New Roman" panose="02020603050405020304"/>
              <a:cs typeface="Times New Roman" panose="02020603050405020304"/>
            </a:endParaRPr>
          </a:p>
          <a:p>
            <a:pPr marL="622300" marR="5080">
              <a:lnSpc>
                <a:spcPts val="2200"/>
              </a:lnSpc>
            </a:pPr>
            <a:r>
              <a:rPr sz="2000" b="1" dirty="0">
                <a:latin typeface="Courier New" panose="02070309020205020404"/>
                <a:cs typeface="Courier New" panose="02070309020205020404"/>
              </a:rPr>
              <a:t>fscanf(fp, </a:t>
            </a:r>
            <a:r>
              <a:rPr sz="2000" b="1" spc="-5" dirty="0">
                <a:latin typeface="Courier New" panose="02070309020205020404"/>
                <a:cs typeface="Courier New" panose="02070309020205020404"/>
              </a:rPr>
              <a:t>"%f", &amp;score); /* Read and parse into score */  while (!EOF(fp))</a:t>
            </a:r>
            <a:r>
              <a:rPr sz="2000" b="1" spc="-10" dirty="0">
                <a:latin typeface="Courier New" panose="02070309020205020404"/>
                <a:cs typeface="Courier New" panose="02070309020205020404"/>
              </a:rPr>
              <a:t> </a:t>
            </a:r>
            <a:r>
              <a:rPr sz="2000" b="1" dirty="0">
                <a:latin typeface="Courier New" panose="02070309020205020404"/>
                <a:cs typeface="Courier New" panose="02070309020205020404"/>
              </a:rPr>
              <a:t>{</a:t>
            </a:r>
            <a:endParaRPr sz="2000" dirty="0">
              <a:latin typeface="Courier New" panose="02070309020205020404"/>
              <a:cs typeface="Courier New" panose="02070309020205020404"/>
            </a:endParaRPr>
          </a:p>
          <a:p>
            <a:pPr marL="1841500" marR="5339080" indent="-610235">
              <a:lnSpc>
                <a:spcPct val="90000"/>
              </a:lnSpc>
              <a:spcBef>
                <a:spcPts val="10"/>
              </a:spcBef>
            </a:pPr>
            <a:r>
              <a:rPr sz="2000" b="1" spc="-5" dirty="0">
                <a:latin typeface="Courier New" panose="02070309020205020404"/>
                <a:cs typeface="Courier New" panose="02070309020205020404"/>
              </a:rPr>
              <a:t>if (score </a:t>
            </a:r>
            <a:r>
              <a:rPr sz="2000" b="1" dirty="0">
                <a:latin typeface="Courier New" panose="02070309020205020404"/>
                <a:cs typeface="Courier New" panose="02070309020205020404"/>
              </a:rPr>
              <a:t>&gt; </a:t>
            </a:r>
            <a:r>
              <a:rPr sz="2000" b="1" spc="-5" dirty="0">
                <a:latin typeface="Courier New" panose="02070309020205020404"/>
                <a:cs typeface="Courier New" panose="02070309020205020404"/>
              </a:rPr>
              <a:t>0.0)</a:t>
            </a:r>
            <a:r>
              <a:rPr sz="2000" b="1" spc="-95" dirty="0">
                <a:latin typeface="Courier New" panose="02070309020205020404"/>
                <a:cs typeface="Courier New" panose="02070309020205020404"/>
              </a:rPr>
              <a:t> </a:t>
            </a:r>
            <a:r>
              <a:rPr sz="2000" b="1" dirty="0">
                <a:latin typeface="Courier New" panose="02070309020205020404"/>
                <a:cs typeface="Courier New" panose="02070309020205020404"/>
              </a:rPr>
              <a:t>{  </a:t>
            </a:r>
            <a:r>
              <a:rPr sz="2000" b="1" spc="-5" dirty="0">
                <a:latin typeface="Courier New" panose="02070309020205020404"/>
                <a:cs typeface="Courier New" panose="02070309020205020404"/>
              </a:rPr>
              <a:t>sum += score;  num++;</a:t>
            </a:r>
            <a:endParaRPr sz="2000" dirty="0">
              <a:latin typeface="Courier New" panose="02070309020205020404"/>
              <a:cs typeface="Courier New" panose="02070309020205020404"/>
            </a:endParaRPr>
          </a:p>
          <a:p>
            <a:pPr marL="1231900">
              <a:lnSpc>
                <a:spcPts val="2050"/>
              </a:lnSpc>
            </a:pPr>
            <a:r>
              <a:rPr sz="2000" b="1" dirty="0">
                <a:latin typeface="Courier New" panose="02070309020205020404"/>
                <a:cs typeface="Courier New" panose="02070309020205020404"/>
              </a:rPr>
              <a:t>}</a:t>
            </a:r>
            <a:endParaRPr sz="2000" dirty="0">
              <a:latin typeface="Courier New" panose="02070309020205020404"/>
              <a:cs typeface="Courier New" panose="02070309020205020404"/>
            </a:endParaRPr>
          </a:p>
          <a:p>
            <a:pPr marL="1231900">
              <a:lnSpc>
                <a:spcPts val="2150"/>
              </a:lnSpc>
            </a:pPr>
            <a:r>
              <a:rPr sz="2000" b="1" dirty="0">
                <a:latin typeface="Courier New" panose="02070309020205020404"/>
                <a:cs typeface="Courier New" panose="02070309020205020404"/>
              </a:rPr>
              <a:t>fscanf(fp, </a:t>
            </a:r>
            <a:r>
              <a:rPr sz="2000" b="1" spc="-5" dirty="0">
                <a:latin typeface="Courier New" panose="02070309020205020404"/>
                <a:cs typeface="Courier New" panose="02070309020205020404"/>
              </a:rPr>
              <a:t>"%f",</a:t>
            </a:r>
            <a:r>
              <a:rPr sz="2000" b="1" spc="-20" dirty="0">
                <a:latin typeface="Courier New" panose="02070309020205020404"/>
                <a:cs typeface="Courier New" panose="02070309020205020404"/>
              </a:rPr>
              <a:t> </a:t>
            </a:r>
            <a:r>
              <a:rPr sz="2000" b="1" spc="-5" dirty="0">
                <a:latin typeface="Courier New" panose="02070309020205020404"/>
                <a:cs typeface="Courier New" panose="02070309020205020404"/>
              </a:rPr>
              <a:t>&amp;score);</a:t>
            </a:r>
            <a:endParaRPr sz="2000" dirty="0">
              <a:latin typeface="Courier New" panose="02070309020205020404"/>
              <a:cs typeface="Courier New" panose="02070309020205020404"/>
            </a:endParaRPr>
          </a:p>
          <a:p>
            <a:pPr marL="622300">
              <a:lnSpc>
                <a:spcPts val="2150"/>
              </a:lnSpc>
            </a:pPr>
            <a:r>
              <a:rPr sz="2000" b="1" dirty="0">
                <a:latin typeface="Courier New" panose="02070309020205020404"/>
                <a:cs typeface="Courier New" panose="02070309020205020404"/>
              </a:rPr>
              <a:t>}</a:t>
            </a:r>
            <a:endParaRPr sz="2000" dirty="0">
              <a:latin typeface="Courier New" panose="02070309020205020404"/>
              <a:cs typeface="Courier New" panose="02070309020205020404"/>
            </a:endParaRPr>
          </a:p>
          <a:p>
            <a:pPr marL="622300" marR="2138680">
              <a:lnSpc>
                <a:spcPts val="2200"/>
              </a:lnSpc>
              <a:spcBef>
                <a:spcPts val="90"/>
              </a:spcBef>
            </a:pPr>
            <a:r>
              <a:rPr sz="2000" b="1" spc="-5" dirty="0">
                <a:latin typeface="Courier New" panose="02070309020205020404"/>
                <a:cs typeface="Courier New" panose="02070309020205020404"/>
              </a:rPr>
              <a:t>/* Compute the mean and print the result */  if (num </a:t>
            </a:r>
            <a:r>
              <a:rPr sz="2000" b="1" dirty="0">
                <a:latin typeface="Courier New" panose="02070309020205020404"/>
                <a:cs typeface="Courier New" panose="02070309020205020404"/>
              </a:rPr>
              <a:t>&gt; </a:t>
            </a:r>
            <a:r>
              <a:rPr sz="2000" b="1" spc="-5" dirty="0">
                <a:latin typeface="Courier New" panose="02070309020205020404"/>
                <a:cs typeface="Courier New" panose="02070309020205020404"/>
              </a:rPr>
              <a:t>0)</a:t>
            </a:r>
            <a:r>
              <a:rPr sz="2000" b="1" spc="-25" dirty="0">
                <a:latin typeface="Courier New" panose="02070309020205020404"/>
                <a:cs typeface="Courier New" panose="02070309020205020404"/>
              </a:rPr>
              <a:t> </a:t>
            </a:r>
            <a:r>
              <a:rPr sz="2000" b="1" dirty="0">
                <a:latin typeface="Courier New" panose="02070309020205020404"/>
                <a:cs typeface="Courier New" panose="02070309020205020404"/>
              </a:rPr>
              <a:t>{</a:t>
            </a:r>
            <a:endParaRPr sz="2000" dirty="0">
              <a:latin typeface="Courier New" panose="02070309020205020404"/>
              <a:cs typeface="Courier New" panose="02070309020205020404"/>
            </a:endParaRPr>
          </a:p>
          <a:p>
            <a:pPr marL="1231900">
              <a:lnSpc>
                <a:spcPts val="2010"/>
              </a:lnSpc>
            </a:pPr>
            <a:r>
              <a:rPr sz="2000" b="1" spc="-5" dirty="0">
                <a:latin typeface="Courier New" panose="02070309020205020404"/>
                <a:cs typeface="Courier New" panose="02070309020205020404"/>
              </a:rPr>
              <a:t>*mean </a:t>
            </a:r>
            <a:r>
              <a:rPr sz="2000" b="1" dirty="0">
                <a:latin typeface="Courier New" panose="02070309020205020404"/>
                <a:cs typeface="Courier New" panose="02070309020205020404"/>
              </a:rPr>
              <a:t>=</a:t>
            </a:r>
            <a:r>
              <a:rPr sz="2000" b="1" spc="-10" dirty="0">
                <a:latin typeface="Courier New" panose="02070309020205020404"/>
                <a:cs typeface="Courier New" panose="02070309020205020404"/>
              </a:rPr>
              <a:t> </a:t>
            </a:r>
            <a:r>
              <a:rPr sz="2000" b="1" spc="-5" dirty="0">
                <a:latin typeface="Courier New" panose="02070309020205020404"/>
                <a:cs typeface="Courier New" panose="02070309020205020404"/>
              </a:rPr>
              <a:t>sum/num;</a:t>
            </a:r>
            <a:endParaRPr sz="2000" dirty="0">
              <a:latin typeface="Courier New" panose="02070309020205020404"/>
              <a:cs typeface="Courier New" panose="02070309020205020404"/>
            </a:endParaRPr>
          </a:p>
          <a:p>
            <a:pPr marL="1231900">
              <a:lnSpc>
                <a:spcPts val="2150"/>
              </a:lnSpc>
            </a:pPr>
            <a:r>
              <a:rPr sz="2000" b="1" spc="-5" dirty="0">
                <a:latin typeface="Courier New" panose="02070309020205020404"/>
                <a:cs typeface="Courier New" panose="02070309020205020404"/>
              </a:rPr>
              <a:t>printf(“The mean score is %f \n”,</a:t>
            </a:r>
            <a:r>
              <a:rPr sz="2000" b="1" spc="-20" dirty="0">
                <a:latin typeface="Courier New" panose="02070309020205020404"/>
                <a:cs typeface="Courier New" panose="02070309020205020404"/>
              </a:rPr>
              <a:t> </a:t>
            </a:r>
            <a:r>
              <a:rPr sz="2000" b="1" spc="-5" dirty="0">
                <a:latin typeface="Courier New" panose="02070309020205020404"/>
                <a:cs typeface="Courier New" panose="02070309020205020404"/>
              </a:rPr>
              <a:t>mean);</a:t>
            </a:r>
            <a:endParaRPr sz="2000" dirty="0">
              <a:latin typeface="Courier New" panose="02070309020205020404"/>
              <a:cs typeface="Courier New" panose="02070309020205020404"/>
            </a:endParaRPr>
          </a:p>
          <a:p>
            <a:pPr marL="622300">
              <a:lnSpc>
                <a:spcPts val="2150"/>
              </a:lnSpc>
            </a:pPr>
            <a:r>
              <a:rPr sz="2000" b="1" dirty="0">
                <a:latin typeface="Courier New" panose="02070309020205020404"/>
                <a:cs typeface="Courier New" panose="02070309020205020404"/>
              </a:rPr>
              <a:t>}</a:t>
            </a:r>
            <a:r>
              <a:rPr sz="2000" b="1" spc="-10" dirty="0">
                <a:latin typeface="Courier New" panose="02070309020205020404"/>
                <a:cs typeface="Courier New" panose="02070309020205020404"/>
              </a:rPr>
              <a:t> </a:t>
            </a:r>
            <a:r>
              <a:rPr sz="2000" b="1" spc="-5" dirty="0">
                <a:latin typeface="Courier New" panose="02070309020205020404"/>
                <a:cs typeface="Courier New" panose="02070309020205020404"/>
              </a:rPr>
              <a:t>else</a:t>
            </a:r>
            <a:endParaRPr sz="2000" dirty="0">
              <a:latin typeface="Courier New" panose="02070309020205020404"/>
              <a:cs typeface="Courier New" panose="02070309020205020404"/>
            </a:endParaRPr>
          </a:p>
          <a:p>
            <a:pPr marL="1231900">
              <a:lnSpc>
                <a:spcPts val="2150"/>
              </a:lnSpc>
            </a:pPr>
            <a:r>
              <a:rPr sz="2000" b="1" spc="-5" dirty="0">
                <a:latin typeface="Courier New" panose="02070309020205020404"/>
                <a:cs typeface="Courier New" panose="02070309020205020404"/>
              </a:rPr>
              <a:t>printf(”No scores found in</a:t>
            </a:r>
            <a:r>
              <a:rPr sz="2000" b="1" spc="-15" dirty="0">
                <a:latin typeface="Courier New" panose="02070309020205020404"/>
                <a:cs typeface="Courier New" panose="02070309020205020404"/>
              </a:rPr>
              <a:t> </a:t>
            </a:r>
            <a:r>
              <a:rPr sz="2000" b="1" spc="-5" dirty="0">
                <a:latin typeface="Courier New" panose="02070309020205020404"/>
                <a:cs typeface="Courier New" panose="02070309020205020404"/>
              </a:rPr>
              <a:t>file\n”);</a:t>
            </a:r>
            <a:endParaRPr sz="2000" dirty="0">
              <a:latin typeface="Courier New" panose="02070309020205020404"/>
              <a:cs typeface="Courier New" panose="02070309020205020404"/>
            </a:endParaRPr>
          </a:p>
          <a:p>
            <a:pPr marL="12700">
              <a:lnSpc>
                <a:spcPts val="2300"/>
              </a:lnSpc>
            </a:pPr>
            <a:r>
              <a:rPr sz="2000" b="1" dirty="0">
                <a:latin typeface="Courier New" panose="02070309020205020404"/>
                <a:cs typeface="Courier New" panose="02070309020205020404"/>
              </a:rPr>
              <a:t>}</a:t>
            </a:r>
            <a:endParaRPr sz="2000" dirty="0">
              <a:latin typeface="Courier New" panose="02070309020205020404"/>
              <a:cs typeface="Courier New" panose="02070309020205020404"/>
            </a:endParaRPr>
          </a:p>
        </p:txBody>
      </p:sp>
      <p:sp>
        <p:nvSpPr>
          <p:cNvPr id="3" name="灯片编号占位符 2"/>
          <p:cNvSpPr>
            <a:spLocks noGrp="1"/>
          </p:cNvSpPr>
          <p:nvPr>
            <p:ph type="sldNum" sz="quarter" idx="7"/>
          </p:nvPr>
        </p:nvSpPr>
        <p:spPr/>
        <p:txBody>
          <a:bodyPr/>
          <a:lstStyle/>
          <a:p>
            <a:fld id="{B6F15528-21DE-4FAA-801E-634DDDAF4B2B}" type="slidenum">
              <a:rPr lang="en-US" altLang="zh-CN" smtClean="0"/>
              <a:t>23</a:t>
            </a:fld>
            <a:endParaRPr lang="en-US" altLang="zh-C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p:cNvGrpSpPr/>
          <p:nvPr/>
        </p:nvGrpSpPr>
        <p:grpSpPr>
          <a:xfrm>
            <a:off x="624479" y="1647202"/>
            <a:ext cx="10515600" cy="4455105"/>
            <a:chOff x="869729" y="1129720"/>
            <a:chExt cx="9612624" cy="4991100"/>
          </a:xfrm>
        </p:grpSpPr>
        <p:sp>
          <p:nvSpPr>
            <p:cNvPr id="4" name="object 4"/>
            <p:cNvSpPr txBox="1"/>
            <p:nvPr/>
          </p:nvSpPr>
          <p:spPr>
            <a:xfrm>
              <a:off x="1480438" y="1129720"/>
              <a:ext cx="4445635" cy="596900"/>
            </a:xfrm>
            <a:prstGeom prst="rect">
              <a:avLst/>
            </a:prstGeom>
          </p:spPr>
          <p:txBody>
            <a:bodyPr vert="horz" wrap="square" lIns="0" tIns="53340" rIns="0" bIns="0" rtlCol="0">
              <a:spAutoFit/>
            </a:bodyPr>
            <a:lstStyle/>
            <a:p>
              <a:pPr marL="12700" marR="5080">
                <a:lnSpc>
                  <a:spcPts val="2100"/>
                </a:lnSpc>
                <a:spcBef>
                  <a:spcPts val="420"/>
                </a:spcBef>
                <a:tabLst>
                  <a:tab pos="622300" algn="l"/>
                </a:tabLst>
              </a:pPr>
              <a:r>
                <a:rPr sz="2000" b="1" spc="-5" dirty="0">
                  <a:latin typeface="Courier New" panose="02070309020205020404"/>
                  <a:cs typeface="Courier New" panose="02070309020205020404"/>
                </a:rPr>
                <a:t>float sum </a:t>
              </a:r>
              <a:r>
                <a:rPr sz="2000" b="1" dirty="0">
                  <a:latin typeface="Courier New" panose="02070309020205020404"/>
                  <a:cs typeface="Courier New" panose="02070309020205020404"/>
                </a:rPr>
                <a:t>= </a:t>
              </a:r>
              <a:r>
                <a:rPr sz="2000" b="1" spc="-5" dirty="0">
                  <a:latin typeface="Courier New" panose="02070309020205020404"/>
                  <a:cs typeface="Courier New" panose="02070309020205020404"/>
                </a:rPr>
                <a:t>0.0, score </a:t>
              </a:r>
              <a:r>
                <a:rPr sz="2000" b="1" dirty="0">
                  <a:latin typeface="Courier New" panose="02070309020205020404"/>
                  <a:cs typeface="Courier New" panose="02070309020205020404"/>
                </a:rPr>
                <a:t>= </a:t>
              </a:r>
              <a:r>
                <a:rPr sz="2000" b="1" spc="-5" dirty="0">
                  <a:latin typeface="Courier New" panose="02070309020205020404"/>
                  <a:cs typeface="Courier New" panose="02070309020205020404"/>
                </a:rPr>
                <a:t>0.0;  </a:t>
              </a:r>
              <a:r>
                <a:rPr sz="2000" b="1" dirty="0">
                  <a:latin typeface="Courier New" panose="02070309020205020404"/>
                  <a:cs typeface="Courier New" panose="02070309020205020404"/>
                </a:rPr>
                <a:t>int	</a:t>
              </a:r>
              <a:r>
                <a:rPr sz="2000" b="1" spc="-5" dirty="0">
                  <a:latin typeface="Courier New" panose="02070309020205020404"/>
                  <a:cs typeface="Courier New" panose="02070309020205020404"/>
                </a:rPr>
                <a:t>num </a:t>
              </a:r>
              <a:r>
                <a:rPr sz="2000" b="1" dirty="0">
                  <a:latin typeface="Courier New" panose="02070309020205020404"/>
                  <a:cs typeface="Courier New" panose="02070309020205020404"/>
                </a:rPr>
                <a:t>=</a:t>
              </a:r>
              <a:r>
                <a:rPr sz="2000" b="1" spc="-15" dirty="0">
                  <a:latin typeface="Courier New" panose="02070309020205020404"/>
                  <a:cs typeface="Courier New" panose="02070309020205020404"/>
                </a:rPr>
                <a:t> </a:t>
              </a:r>
              <a:r>
                <a:rPr sz="2000" b="1" spc="-5" dirty="0">
                  <a:latin typeface="Courier New" panose="02070309020205020404"/>
                  <a:cs typeface="Courier New" panose="02070309020205020404"/>
                </a:rPr>
                <a:t>0;</a:t>
              </a:r>
              <a:endParaRPr sz="2000">
                <a:latin typeface="Courier New" panose="02070309020205020404"/>
                <a:cs typeface="Courier New" panose="02070309020205020404"/>
              </a:endParaRPr>
            </a:p>
          </p:txBody>
        </p:sp>
        <p:sp>
          <p:nvSpPr>
            <p:cNvPr id="5" name="object 5"/>
            <p:cNvSpPr txBox="1"/>
            <p:nvPr/>
          </p:nvSpPr>
          <p:spPr>
            <a:xfrm>
              <a:off x="1480438" y="1942520"/>
              <a:ext cx="8712835"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Courier New" panose="02070309020205020404"/>
                  <a:cs typeface="Courier New" panose="02070309020205020404"/>
                </a:rPr>
                <a:t>fscanf(fp, </a:t>
              </a:r>
              <a:r>
                <a:rPr sz="2000" b="1" spc="-5" dirty="0">
                  <a:latin typeface="Courier New" panose="02070309020205020404"/>
                  <a:cs typeface="Courier New" panose="02070309020205020404"/>
                </a:rPr>
                <a:t>"%f", &amp;score); /* Read and parse into score</a:t>
              </a:r>
              <a:r>
                <a:rPr sz="2000" b="1" spc="-70" dirty="0">
                  <a:latin typeface="Courier New" panose="02070309020205020404"/>
                  <a:cs typeface="Courier New" panose="02070309020205020404"/>
                </a:rPr>
                <a:t> </a:t>
              </a:r>
              <a:r>
                <a:rPr sz="2000" b="1" spc="-5" dirty="0">
                  <a:latin typeface="Courier New" panose="02070309020205020404"/>
                  <a:cs typeface="Courier New" panose="02070309020205020404"/>
                </a:rPr>
                <a:t>*/</a:t>
              </a:r>
              <a:endParaRPr sz="2000">
                <a:latin typeface="Courier New" panose="02070309020205020404"/>
                <a:cs typeface="Courier New" panose="02070309020205020404"/>
              </a:endParaRPr>
            </a:p>
          </p:txBody>
        </p:sp>
        <p:sp>
          <p:nvSpPr>
            <p:cNvPr id="6" name="object 6"/>
            <p:cNvSpPr txBox="1"/>
            <p:nvPr/>
          </p:nvSpPr>
          <p:spPr>
            <a:xfrm>
              <a:off x="1480441" y="2221920"/>
              <a:ext cx="2769235" cy="330200"/>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Courier New" panose="02070309020205020404"/>
                  <a:cs typeface="Courier New" panose="02070309020205020404"/>
                </a:rPr>
                <a:t>while (!EOF(fp))</a:t>
              </a:r>
              <a:r>
                <a:rPr sz="2000" b="1" spc="-55" dirty="0">
                  <a:latin typeface="Courier New" panose="02070309020205020404"/>
                  <a:cs typeface="Courier New" panose="02070309020205020404"/>
                </a:rPr>
                <a:t> </a:t>
              </a:r>
              <a:r>
                <a:rPr sz="2000" b="1" dirty="0">
                  <a:latin typeface="Courier New" panose="02070309020205020404"/>
                  <a:cs typeface="Courier New" panose="02070309020205020404"/>
                </a:rPr>
                <a:t>{</a:t>
              </a:r>
              <a:endParaRPr sz="2000">
                <a:latin typeface="Courier New" panose="02070309020205020404"/>
                <a:cs typeface="Courier New" panose="02070309020205020404"/>
              </a:endParaRPr>
            </a:p>
          </p:txBody>
        </p:sp>
        <p:sp>
          <p:nvSpPr>
            <p:cNvPr id="7" name="object 7"/>
            <p:cNvSpPr txBox="1"/>
            <p:nvPr/>
          </p:nvSpPr>
          <p:spPr>
            <a:xfrm>
              <a:off x="2090143" y="2501320"/>
              <a:ext cx="2769235" cy="330200"/>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Courier New" panose="02070309020205020404"/>
                  <a:cs typeface="Courier New" panose="02070309020205020404"/>
                </a:rPr>
                <a:t>if (score </a:t>
              </a:r>
              <a:r>
                <a:rPr sz="2000" b="1" dirty="0">
                  <a:latin typeface="Courier New" panose="02070309020205020404"/>
                  <a:cs typeface="Courier New" panose="02070309020205020404"/>
                </a:rPr>
                <a:t>&gt; </a:t>
              </a:r>
              <a:r>
                <a:rPr sz="2000" b="1" spc="-5" dirty="0">
                  <a:latin typeface="Courier New" panose="02070309020205020404"/>
                  <a:cs typeface="Courier New" panose="02070309020205020404"/>
                </a:rPr>
                <a:t>0.0)</a:t>
              </a:r>
              <a:r>
                <a:rPr sz="2000" b="1" spc="-95" dirty="0">
                  <a:latin typeface="Courier New" panose="02070309020205020404"/>
                  <a:cs typeface="Courier New" panose="02070309020205020404"/>
                </a:rPr>
                <a:t> </a:t>
              </a:r>
              <a:r>
                <a:rPr sz="2000" b="1" dirty="0">
                  <a:latin typeface="Courier New" panose="02070309020205020404"/>
                  <a:cs typeface="Courier New" panose="02070309020205020404"/>
                </a:rPr>
                <a:t>{</a:t>
              </a:r>
              <a:endParaRPr sz="2000">
                <a:latin typeface="Courier New" panose="02070309020205020404"/>
                <a:cs typeface="Courier New" panose="02070309020205020404"/>
              </a:endParaRPr>
            </a:p>
          </p:txBody>
        </p:sp>
        <p:sp>
          <p:nvSpPr>
            <p:cNvPr id="8" name="object 8"/>
            <p:cNvSpPr txBox="1"/>
            <p:nvPr/>
          </p:nvSpPr>
          <p:spPr>
            <a:xfrm>
              <a:off x="2699844" y="2768020"/>
              <a:ext cx="2007235" cy="609600"/>
            </a:xfrm>
            <a:prstGeom prst="rect">
              <a:avLst/>
            </a:prstGeom>
          </p:spPr>
          <p:txBody>
            <a:bodyPr vert="horz" wrap="square" lIns="0" tIns="43180" rIns="0" bIns="0" rtlCol="0">
              <a:spAutoFit/>
            </a:bodyPr>
            <a:lstStyle/>
            <a:p>
              <a:pPr marL="12700" marR="5080">
                <a:lnSpc>
                  <a:spcPts val="2200"/>
                </a:lnSpc>
                <a:spcBef>
                  <a:spcPts val="340"/>
                </a:spcBef>
              </a:pPr>
              <a:r>
                <a:rPr sz="2000" b="1" spc="-5" dirty="0">
                  <a:latin typeface="Courier New" panose="02070309020205020404"/>
                  <a:cs typeface="Courier New" panose="02070309020205020404"/>
                </a:rPr>
                <a:t>sum +=</a:t>
              </a:r>
              <a:r>
                <a:rPr sz="2000" b="1" spc="-95" dirty="0">
                  <a:latin typeface="Courier New" panose="02070309020205020404"/>
                  <a:cs typeface="Courier New" panose="02070309020205020404"/>
                </a:rPr>
                <a:t> </a:t>
              </a:r>
              <a:r>
                <a:rPr sz="2000" b="1" spc="-5" dirty="0">
                  <a:latin typeface="Courier New" panose="02070309020205020404"/>
                  <a:cs typeface="Courier New" panose="02070309020205020404"/>
                </a:rPr>
                <a:t>score;  num++;</a:t>
              </a:r>
              <a:endParaRPr sz="2000">
                <a:latin typeface="Courier New" panose="02070309020205020404"/>
                <a:cs typeface="Courier New" panose="02070309020205020404"/>
              </a:endParaRPr>
            </a:p>
          </p:txBody>
        </p:sp>
        <p:sp>
          <p:nvSpPr>
            <p:cNvPr id="9" name="object 9"/>
            <p:cNvSpPr txBox="1"/>
            <p:nvPr/>
          </p:nvSpPr>
          <p:spPr>
            <a:xfrm>
              <a:off x="2090143" y="3326820"/>
              <a:ext cx="178435"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Courier New" panose="02070309020205020404"/>
                  <a:cs typeface="Courier New" panose="02070309020205020404"/>
                </a:rPr>
                <a:t>}</a:t>
              </a:r>
              <a:endParaRPr sz="2000">
                <a:latin typeface="Courier New" panose="02070309020205020404"/>
                <a:cs typeface="Courier New" panose="02070309020205020404"/>
              </a:endParaRPr>
            </a:p>
          </p:txBody>
        </p:sp>
        <p:sp>
          <p:nvSpPr>
            <p:cNvPr id="10" name="object 10"/>
            <p:cNvSpPr txBox="1"/>
            <p:nvPr/>
          </p:nvSpPr>
          <p:spPr>
            <a:xfrm>
              <a:off x="2090138" y="3593520"/>
              <a:ext cx="3836035"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Courier New" panose="02070309020205020404"/>
                  <a:cs typeface="Courier New" panose="02070309020205020404"/>
                </a:rPr>
                <a:t>fscanf(fp, </a:t>
              </a:r>
              <a:r>
                <a:rPr sz="2000" b="1" spc="-5" dirty="0">
                  <a:latin typeface="Courier New" panose="02070309020205020404"/>
                  <a:cs typeface="Courier New" panose="02070309020205020404"/>
                </a:rPr>
                <a:t>"%f",</a:t>
              </a:r>
              <a:r>
                <a:rPr sz="2000" b="1" spc="-100" dirty="0">
                  <a:latin typeface="Courier New" panose="02070309020205020404"/>
                  <a:cs typeface="Courier New" panose="02070309020205020404"/>
                </a:rPr>
                <a:t> </a:t>
              </a:r>
              <a:r>
                <a:rPr sz="2000" b="1" spc="-5" dirty="0">
                  <a:latin typeface="Courier New" panose="02070309020205020404"/>
                  <a:cs typeface="Courier New" panose="02070309020205020404"/>
                </a:rPr>
                <a:t>&amp;score);</a:t>
              </a:r>
              <a:endParaRPr sz="2000">
                <a:latin typeface="Courier New" panose="02070309020205020404"/>
                <a:cs typeface="Courier New" panose="02070309020205020404"/>
              </a:endParaRPr>
            </a:p>
          </p:txBody>
        </p:sp>
        <p:sp>
          <p:nvSpPr>
            <p:cNvPr id="11" name="object 11"/>
            <p:cNvSpPr txBox="1"/>
            <p:nvPr/>
          </p:nvSpPr>
          <p:spPr>
            <a:xfrm>
              <a:off x="1480441" y="3872919"/>
              <a:ext cx="178435"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Courier New" panose="02070309020205020404"/>
                  <a:cs typeface="Courier New" panose="02070309020205020404"/>
                </a:rPr>
                <a:t>}</a:t>
              </a:r>
              <a:endParaRPr sz="2000">
                <a:latin typeface="Courier New" panose="02070309020205020404"/>
                <a:cs typeface="Courier New" panose="02070309020205020404"/>
              </a:endParaRPr>
            </a:p>
          </p:txBody>
        </p:sp>
        <p:sp>
          <p:nvSpPr>
            <p:cNvPr id="12" name="object 12"/>
            <p:cNvSpPr txBox="1"/>
            <p:nvPr/>
          </p:nvSpPr>
          <p:spPr>
            <a:xfrm>
              <a:off x="1480441" y="4139618"/>
              <a:ext cx="6579234" cy="731275"/>
            </a:xfrm>
            <a:prstGeom prst="rect">
              <a:avLst/>
            </a:prstGeom>
          </p:spPr>
          <p:txBody>
            <a:bodyPr vert="horz" wrap="square" lIns="0" tIns="43180" rIns="0" bIns="0" rtlCol="0">
              <a:spAutoFit/>
            </a:bodyPr>
            <a:lstStyle/>
            <a:p>
              <a:pPr marL="12700" marR="5080">
                <a:lnSpc>
                  <a:spcPts val="2200"/>
                </a:lnSpc>
                <a:spcBef>
                  <a:spcPts val="340"/>
                </a:spcBef>
              </a:pPr>
              <a:r>
                <a:rPr sz="2000" b="1" spc="-5" dirty="0">
                  <a:latin typeface="Courier New" panose="02070309020205020404"/>
                  <a:cs typeface="Courier New" panose="02070309020205020404"/>
                </a:rPr>
                <a:t>/* Compute the mean and print the result */  </a:t>
              </a:r>
              <a:endParaRPr lang="en-US" altLang="zh-CN" sz="2000" b="1" spc="-5" dirty="0">
                <a:latin typeface="Courier New" panose="02070309020205020404"/>
                <a:cs typeface="Courier New" panose="02070309020205020404"/>
              </a:endParaRPr>
            </a:p>
            <a:p>
              <a:pPr marL="12700" marR="5080">
                <a:lnSpc>
                  <a:spcPts val="2200"/>
                </a:lnSpc>
                <a:spcBef>
                  <a:spcPts val="340"/>
                </a:spcBef>
              </a:pPr>
              <a:r>
                <a:rPr sz="2000" b="1" spc="-5" dirty="0">
                  <a:latin typeface="Courier New" panose="02070309020205020404"/>
                  <a:cs typeface="Courier New" panose="02070309020205020404"/>
                </a:rPr>
                <a:t>if (num </a:t>
              </a:r>
              <a:r>
                <a:rPr sz="2000" b="1" dirty="0">
                  <a:latin typeface="Courier New" panose="02070309020205020404"/>
                  <a:cs typeface="Courier New" panose="02070309020205020404"/>
                </a:rPr>
                <a:t>&gt; </a:t>
              </a:r>
              <a:r>
                <a:rPr sz="2000" b="1" spc="-5" dirty="0">
                  <a:latin typeface="Courier New" panose="02070309020205020404"/>
                  <a:cs typeface="Courier New" panose="02070309020205020404"/>
                </a:rPr>
                <a:t>0)</a:t>
              </a:r>
              <a:r>
                <a:rPr sz="2000" b="1" spc="-25" dirty="0">
                  <a:latin typeface="Courier New" panose="02070309020205020404"/>
                  <a:cs typeface="Courier New" panose="02070309020205020404"/>
                </a:rPr>
                <a:t> </a:t>
              </a:r>
              <a:r>
                <a:rPr sz="2000" b="1" dirty="0">
                  <a:latin typeface="Courier New" panose="02070309020205020404"/>
                  <a:cs typeface="Courier New" panose="02070309020205020404"/>
                </a:rPr>
                <a:t>{</a:t>
              </a:r>
              <a:endParaRPr sz="2000" dirty="0">
                <a:latin typeface="Courier New" panose="02070309020205020404"/>
                <a:cs typeface="Courier New" panose="02070309020205020404"/>
              </a:endParaRPr>
            </a:p>
          </p:txBody>
        </p:sp>
        <p:sp>
          <p:nvSpPr>
            <p:cNvPr id="13" name="object 13"/>
            <p:cNvSpPr txBox="1"/>
            <p:nvPr/>
          </p:nvSpPr>
          <p:spPr>
            <a:xfrm>
              <a:off x="2090143" y="4698419"/>
              <a:ext cx="2464435" cy="330200"/>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Courier New" panose="02070309020205020404"/>
                  <a:cs typeface="Courier New" panose="02070309020205020404"/>
                </a:rPr>
                <a:t>*mean </a:t>
              </a:r>
              <a:r>
                <a:rPr sz="2000" b="1" dirty="0">
                  <a:latin typeface="Courier New" panose="02070309020205020404"/>
                  <a:cs typeface="Courier New" panose="02070309020205020404"/>
                </a:rPr>
                <a:t>=</a:t>
              </a:r>
              <a:r>
                <a:rPr sz="2000" b="1" spc="-95" dirty="0">
                  <a:latin typeface="Courier New" panose="02070309020205020404"/>
                  <a:cs typeface="Courier New" panose="02070309020205020404"/>
                </a:rPr>
                <a:t> </a:t>
              </a:r>
              <a:r>
                <a:rPr sz="2000" b="1" spc="-5" dirty="0">
                  <a:latin typeface="Courier New" panose="02070309020205020404"/>
                  <a:cs typeface="Courier New" panose="02070309020205020404"/>
                </a:rPr>
                <a:t>sum/num;</a:t>
              </a:r>
              <a:endParaRPr sz="2000">
                <a:latin typeface="Courier New" panose="02070309020205020404"/>
                <a:cs typeface="Courier New" panose="02070309020205020404"/>
              </a:endParaRPr>
            </a:p>
          </p:txBody>
        </p:sp>
        <p:sp>
          <p:nvSpPr>
            <p:cNvPr id="14" name="object 14"/>
            <p:cNvSpPr txBox="1"/>
            <p:nvPr/>
          </p:nvSpPr>
          <p:spPr>
            <a:xfrm>
              <a:off x="2090138" y="4965120"/>
              <a:ext cx="6122035" cy="330200"/>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Courier New" panose="02070309020205020404"/>
                  <a:cs typeface="Courier New" panose="02070309020205020404"/>
                </a:rPr>
                <a:t>printf(“The mean score is %f \n”,</a:t>
              </a:r>
              <a:r>
                <a:rPr sz="2000" b="1" spc="-45" dirty="0">
                  <a:latin typeface="Courier New" panose="02070309020205020404"/>
                  <a:cs typeface="Courier New" panose="02070309020205020404"/>
                </a:rPr>
                <a:t> </a:t>
              </a:r>
              <a:r>
                <a:rPr sz="2000" b="1" spc="-5" dirty="0">
                  <a:latin typeface="Courier New" panose="02070309020205020404"/>
                  <a:cs typeface="Courier New" panose="02070309020205020404"/>
                </a:rPr>
                <a:t>mean);</a:t>
              </a:r>
              <a:endParaRPr sz="2000">
                <a:latin typeface="Courier New" panose="02070309020205020404"/>
                <a:cs typeface="Courier New" panose="02070309020205020404"/>
              </a:endParaRPr>
            </a:p>
          </p:txBody>
        </p:sp>
        <p:sp>
          <p:nvSpPr>
            <p:cNvPr id="15" name="object 15"/>
            <p:cNvSpPr txBox="1"/>
            <p:nvPr/>
          </p:nvSpPr>
          <p:spPr>
            <a:xfrm>
              <a:off x="1480441" y="5244519"/>
              <a:ext cx="940435"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Courier New" panose="02070309020205020404"/>
                  <a:cs typeface="Courier New" panose="02070309020205020404"/>
                </a:rPr>
                <a:t>}</a:t>
              </a:r>
              <a:r>
                <a:rPr sz="2000" b="1" spc="-100" dirty="0">
                  <a:latin typeface="Courier New" panose="02070309020205020404"/>
                  <a:cs typeface="Courier New" panose="02070309020205020404"/>
                </a:rPr>
                <a:t> </a:t>
              </a:r>
              <a:r>
                <a:rPr sz="2000" b="1" spc="-5" dirty="0">
                  <a:latin typeface="Courier New" panose="02070309020205020404"/>
                  <a:cs typeface="Courier New" panose="02070309020205020404"/>
                </a:rPr>
                <a:t>else</a:t>
              </a:r>
              <a:endParaRPr sz="2000">
                <a:latin typeface="Courier New" panose="02070309020205020404"/>
                <a:cs typeface="Courier New" panose="02070309020205020404"/>
              </a:endParaRPr>
            </a:p>
          </p:txBody>
        </p:sp>
        <p:sp>
          <p:nvSpPr>
            <p:cNvPr id="16" name="object 16"/>
            <p:cNvSpPr txBox="1"/>
            <p:nvPr/>
          </p:nvSpPr>
          <p:spPr>
            <a:xfrm>
              <a:off x="2090138" y="5511220"/>
              <a:ext cx="5512435" cy="330200"/>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Courier New" panose="02070309020205020404"/>
                  <a:cs typeface="Courier New" panose="02070309020205020404"/>
                </a:rPr>
                <a:t>printf(”No scores found in</a:t>
              </a:r>
              <a:r>
                <a:rPr sz="2000" b="1" spc="-55" dirty="0">
                  <a:latin typeface="Courier New" panose="02070309020205020404"/>
                  <a:cs typeface="Courier New" panose="02070309020205020404"/>
                </a:rPr>
                <a:t> </a:t>
              </a:r>
              <a:r>
                <a:rPr sz="2000" b="1" spc="-5" dirty="0">
                  <a:latin typeface="Courier New" panose="02070309020205020404"/>
                  <a:cs typeface="Courier New" panose="02070309020205020404"/>
                </a:rPr>
                <a:t>file\n”);</a:t>
              </a:r>
              <a:endParaRPr sz="2000">
                <a:latin typeface="Courier New" panose="02070309020205020404"/>
                <a:cs typeface="Courier New" panose="02070309020205020404"/>
              </a:endParaRPr>
            </a:p>
          </p:txBody>
        </p:sp>
        <p:sp>
          <p:nvSpPr>
            <p:cNvPr id="17" name="object 17"/>
            <p:cNvSpPr txBox="1"/>
            <p:nvPr/>
          </p:nvSpPr>
          <p:spPr>
            <a:xfrm>
              <a:off x="870739" y="5790620"/>
              <a:ext cx="178435"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Courier New" panose="02070309020205020404"/>
                  <a:cs typeface="Courier New" panose="02070309020205020404"/>
                </a:rPr>
                <a:t>}</a:t>
              </a:r>
              <a:endParaRPr sz="2000">
                <a:latin typeface="Courier New" panose="02070309020205020404"/>
                <a:cs typeface="Courier New" panose="02070309020205020404"/>
              </a:endParaRPr>
            </a:p>
          </p:txBody>
        </p:sp>
        <p:sp>
          <p:nvSpPr>
            <p:cNvPr id="18" name="object 18"/>
            <p:cNvSpPr/>
            <p:nvPr/>
          </p:nvSpPr>
          <p:spPr>
            <a:xfrm>
              <a:off x="1331368" y="1152083"/>
              <a:ext cx="9150985" cy="1117600"/>
            </a:xfrm>
            <a:custGeom>
              <a:avLst/>
              <a:gdLst/>
              <a:ahLst/>
              <a:cxnLst/>
              <a:rect l="l" t="t" r="r" b="b"/>
              <a:pathLst>
                <a:path w="9150985" h="1117600">
                  <a:moveTo>
                    <a:pt x="0" y="0"/>
                  </a:moveTo>
                  <a:lnTo>
                    <a:pt x="9150360" y="0"/>
                  </a:lnTo>
                  <a:lnTo>
                    <a:pt x="9150360" y="1116983"/>
                  </a:lnTo>
                  <a:lnTo>
                    <a:pt x="0" y="1116983"/>
                  </a:lnTo>
                  <a:lnTo>
                    <a:pt x="0" y="0"/>
                  </a:lnTo>
                  <a:close/>
                </a:path>
              </a:pathLst>
            </a:custGeom>
            <a:ln w="19049">
              <a:solidFill>
                <a:srgbClr val="004DD6"/>
              </a:solidFill>
            </a:ln>
          </p:spPr>
          <p:txBody>
            <a:bodyPr wrap="square" lIns="0" tIns="0" rIns="0" bIns="0" rtlCol="0"/>
            <a:lstStyle/>
            <a:p>
              <a:endParaRPr/>
            </a:p>
          </p:txBody>
        </p:sp>
        <p:sp>
          <p:nvSpPr>
            <p:cNvPr id="19" name="object 19"/>
            <p:cNvSpPr txBox="1"/>
            <p:nvPr/>
          </p:nvSpPr>
          <p:spPr>
            <a:xfrm>
              <a:off x="869729" y="1453401"/>
              <a:ext cx="330200" cy="106934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CC0000"/>
                  </a:solidFill>
                  <a:latin typeface="微软雅黑" panose="020B0503020204020204" pitchFamily="34" charset="-122"/>
                  <a:cs typeface="微软雅黑" panose="020B0503020204020204" pitchFamily="34" charset="-122"/>
                </a:rPr>
                <a:t>①</a:t>
              </a:r>
              <a:endParaRPr sz="2400">
                <a:latin typeface="微软雅黑" panose="020B0503020204020204" pitchFamily="34" charset="-122"/>
                <a:cs typeface="微软雅黑" panose="020B0503020204020204" pitchFamily="34" charset="-122"/>
              </a:endParaRPr>
            </a:p>
            <a:p>
              <a:pPr marL="12700">
                <a:lnSpc>
                  <a:spcPct val="100000"/>
                </a:lnSpc>
                <a:spcBef>
                  <a:spcPts val="2455"/>
                </a:spcBef>
              </a:pPr>
              <a:r>
                <a:rPr sz="2400" dirty="0">
                  <a:solidFill>
                    <a:srgbClr val="CC0000"/>
                  </a:solidFill>
                  <a:latin typeface="微软雅黑" panose="020B0503020204020204" pitchFamily="34" charset="-122"/>
                  <a:cs typeface="微软雅黑" panose="020B0503020204020204" pitchFamily="34" charset="-122"/>
                </a:rPr>
                <a:t>②</a:t>
              </a:r>
              <a:endParaRPr sz="2400">
                <a:latin typeface="微软雅黑" panose="020B0503020204020204" pitchFamily="34" charset="-122"/>
                <a:cs typeface="微软雅黑" panose="020B0503020204020204" pitchFamily="34" charset="-122"/>
              </a:endParaRPr>
            </a:p>
          </p:txBody>
        </p:sp>
        <p:sp>
          <p:nvSpPr>
            <p:cNvPr id="20" name="object 20"/>
            <p:cNvSpPr txBox="1"/>
            <p:nvPr/>
          </p:nvSpPr>
          <p:spPr>
            <a:xfrm>
              <a:off x="1564872" y="2437956"/>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CC0000"/>
                  </a:solidFill>
                  <a:latin typeface="微软雅黑" panose="020B0503020204020204" pitchFamily="34" charset="-122"/>
                  <a:cs typeface="微软雅黑" panose="020B0503020204020204" pitchFamily="34" charset="-122"/>
                </a:rPr>
                <a:t>③</a:t>
              </a:r>
              <a:endParaRPr sz="2400">
                <a:latin typeface="微软雅黑" panose="020B0503020204020204" pitchFamily="34" charset="-122"/>
                <a:cs typeface="微软雅黑" panose="020B0503020204020204" pitchFamily="34" charset="-122"/>
              </a:endParaRPr>
            </a:p>
          </p:txBody>
        </p:sp>
        <p:sp>
          <p:nvSpPr>
            <p:cNvPr id="21" name="object 21"/>
            <p:cNvSpPr/>
            <p:nvPr/>
          </p:nvSpPr>
          <p:spPr>
            <a:xfrm>
              <a:off x="2538688" y="2849800"/>
              <a:ext cx="4408805" cy="525780"/>
            </a:xfrm>
            <a:custGeom>
              <a:avLst/>
              <a:gdLst/>
              <a:ahLst/>
              <a:cxnLst/>
              <a:rect l="l" t="t" r="r" b="b"/>
              <a:pathLst>
                <a:path w="4408805" h="525779">
                  <a:moveTo>
                    <a:pt x="0" y="0"/>
                  </a:moveTo>
                  <a:lnTo>
                    <a:pt x="4408486" y="0"/>
                  </a:lnTo>
                  <a:lnTo>
                    <a:pt x="4408486" y="525461"/>
                  </a:lnTo>
                  <a:lnTo>
                    <a:pt x="0" y="525461"/>
                  </a:lnTo>
                  <a:lnTo>
                    <a:pt x="0" y="0"/>
                  </a:lnTo>
                  <a:close/>
                </a:path>
              </a:pathLst>
            </a:custGeom>
            <a:ln w="19049">
              <a:solidFill>
                <a:srgbClr val="004DD6"/>
              </a:solidFill>
            </a:ln>
          </p:spPr>
          <p:txBody>
            <a:bodyPr wrap="square" lIns="0" tIns="0" rIns="0" bIns="0" rtlCol="0"/>
            <a:lstStyle/>
            <a:p>
              <a:endParaRPr/>
            </a:p>
          </p:txBody>
        </p:sp>
        <p:sp>
          <p:nvSpPr>
            <p:cNvPr id="22" name="object 22"/>
            <p:cNvSpPr txBox="1"/>
            <p:nvPr/>
          </p:nvSpPr>
          <p:spPr>
            <a:xfrm>
              <a:off x="2169972" y="2886160"/>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CC0000"/>
                  </a:solidFill>
                  <a:latin typeface="微软雅黑" panose="020B0503020204020204" pitchFamily="34" charset="-122"/>
                  <a:cs typeface="微软雅黑" panose="020B0503020204020204" pitchFamily="34" charset="-122"/>
                </a:rPr>
                <a:t>④</a:t>
              </a:r>
              <a:endParaRPr sz="2400">
                <a:latin typeface="微软雅黑" panose="020B0503020204020204" pitchFamily="34" charset="-122"/>
                <a:cs typeface="微软雅黑" panose="020B0503020204020204" pitchFamily="34" charset="-122"/>
              </a:endParaRPr>
            </a:p>
          </p:txBody>
        </p:sp>
        <p:sp>
          <p:nvSpPr>
            <p:cNvPr id="23" name="object 23"/>
            <p:cNvSpPr txBox="1"/>
            <p:nvPr/>
          </p:nvSpPr>
          <p:spPr>
            <a:xfrm>
              <a:off x="1567235" y="3556984"/>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CC0000"/>
                  </a:solidFill>
                  <a:latin typeface="微软雅黑" panose="020B0503020204020204" pitchFamily="34" charset="-122"/>
                  <a:cs typeface="微软雅黑" panose="020B0503020204020204" pitchFamily="34" charset="-122"/>
                </a:rPr>
                <a:t>⑤</a:t>
              </a:r>
              <a:endParaRPr sz="2400">
                <a:latin typeface="微软雅黑" panose="020B0503020204020204" pitchFamily="34" charset="-122"/>
                <a:cs typeface="微软雅黑" panose="020B0503020204020204" pitchFamily="34" charset="-122"/>
              </a:endParaRPr>
            </a:p>
          </p:txBody>
        </p:sp>
        <p:sp>
          <p:nvSpPr>
            <p:cNvPr id="24" name="object 24"/>
            <p:cNvSpPr txBox="1"/>
            <p:nvPr/>
          </p:nvSpPr>
          <p:spPr>
            <a:xfrm>
              <a:off x="879084" y="4396051"/>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CC0000"/>
                  </a:solidFill>
                  <a:latin typeface="微软雅黑" panose="020B0503020204020204" pitchFamily="34" charset="-122"/>
                  <a:cs typeface="微软雅黑" panose="020B0503020204020204" pitchFamily="34" charset="-122"/>
                </a:rPr>
                <a:t>⑥</a:t>
              </a:r>
              <a:endParaRPr sz="2400">
                <a:latin typeface="微软雅黑" panose="020B0503020204020204" pitchFamily="34" charset="-122"/>
                <a:cs typeface="微软雅黑" panose="020B0503020204020204" pitchFamily="34" charset="-122"/>
              </a:endParaRPr>
            </a:p>
          </p:txBody>
        </p:sp>
        <p:sp>
          <p:nvSpPr>
            <p:cNvPr id="25" name="object 25"/>
            <p:cNvSpPr/>
            <p:nvPr/>
          </p:nvSpPr>
          <p:spPr>
            <a:xfrm>
              <a:off x="1983027" y="4783914"/>
              <a:ext cx="6247130" cy="527050"/>
            </a:xfrm>
            <a:custGeom>
              <a:avLst/>
              <a:gdLst/>
              <a:ahLst/>
              <a:cxnLst/>
              <a:rect l="l" t="t" r="r" b="b"/>
              <a:pathLst>
                <a:path w="6247130" h="527050">
                  <a:moveTo>
                    <a:pt x="0" y="0"/>
                  </a:moveTo>
                  <a:lnTo>
                    <a:pt x="6246569" y="0"/>
                  </a:lnTo>
                  <a:lnTo>
                    <a:pt x="6246569" y="527049"/>
                  </a:lnTo>
                  <a:lnTo>
                    <a:pt x="0" y="527049"/>
                  </a:lnTo>
                  <a:lnTo>
                    <a:pt x="0" y="0"/>
                  </a:lnTo>
                  <a:close/>
                </a:path>
              </a:pathLst>
            </a:custGeom>
            <a:ln w="19049">
              <a:solidFill>
                <a:srgbClr val="004DD6"/>
              </a:solidFill>
            </a:ln>
          </p:spPr>
          <p:txBody>
            <a:bodyPr wrap="square" lIns="0" tIns="0" rIns="0" bIns="0" rtlCol="0"/>
            <a:lstStyle/>
            <a:p>
              <a:endParaRPr/>
            </a:p>
          </p:txBody>
        </p:sp>
        <p:sp>
          <p:nvSpPr>
            <p:cNvPr id="26" name="object 26"/>
            <p:cNvSpPr txBox="1"/>
            <p:nvPr/>
          </p:nvSpPr>
          <p:spPr>
            <a:xfrm>
              <a:off x="1573984" y="4796311"/>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CC0000"/>
                  </a:solidFill>
                  <a:latin typeface="微软雅黑" panose="020B0503020204020204" pitchFamily="34" charset="-122"/>
                  <a:cs typeface="微软雅黑" panose="020B0503020204020204" pitchFamily="34" charset="-122"/>
                </a:rPr>
                <a:t>⑦</a:t>
              </a:r>
              <a:endParaRPr sz="2400">
                <a:latin typeface="微软雅黑" panose="020B0503020204020204" pitchFamily="34" charset="-122"/>
                <a:cs typeface="微软雅黑" panose="020B0503020204020204" pitchFamily="34" charset="-122"/>
              </a:endParaRPr>
            </a:p>
          </p:txBody>
        </p:sp>
        <p:sp>
          <p:nvSpPr>
            <p:cNvPr id="27" name="object 27"/>
            <p:cNvSpPr/>
            <p:nvPr/>
          </p:nvSpPr>
          <p:spPr>
            <a:xfrm>
              <a:off x="1981198" y="5550453"/>
              <a:ext cx="5876290" cy="308610"/>
            </a:xfrm>
            <a:custGeom>
              <a:avLst/>
              <a:gdLst/>
              <a:ahLst/>
              <a:cxnLst/>
              <a:rect l="l" t="t" r="r" b="b"/>
              <a:pathLst>
                <a:path w="5876290" h="308610">
                  <a:moveTo>
                    <a:pt x="0" y="0"/>
                  </a:moveTo>
                  <a:lnTo>
                    <a:pt x="5875865" y="0"/>
                  </a:lnTo>
                  <a:lnTo>
                    <a:pt x="5875865" y="308479"/>
                  </a:lnTo>
                  <a:lnTo>
                    <a:pt x="0" y="308479"/>
                  </a:lnTo>
                  <a:lnTo>
                    <a:pt x="0" y="0"/>
                  </a:lnTo>
                  <a:close/>
                </a:path>
              </a:pathLst>
            </a:custGeom>
            <a:ln w="19049">
              <a:solidFill>
                <a:srgbClr val="004DD6"/>
              </a:solidFill>
            </a:ln>
          </p:spPr>
          <p:txBody>
            <a:bodyPr wrap="square" lIns="0" tIns="0" rIns="0" bIns="0" rtlCol="0"/>
            <a:lstStyle/>
            <a:p>
              <a:endParaRPr/>
            </a:p>
          </p:txBody>
        </p:sp>
        <p:sp>
          <p:nvSpPr>
            <p:cNvPr id="28" name="object 28"/>
            <p:cNvSpPr txBox="1"/>
            <p:nvPr/>
          </p:nvSpPr>
          <p:spPr>
            <a:xfrm>
              <a:off x="1561270" y="5491784"/>
              <a:ext cx="33020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CC0000"/>
                  </a:solidFill>
                  <a:latin typeface="微软雅黑" panose="020B0503020204020204" pitchFamily="34" charset="-122"/>
                  <a:cs typeface="微软雅黑" panose="020B0503020204020204" pitchFamily="34" charset="-122"/>
                </a:rPr>
                <a:t>⑧</a:t>
              </a:r>
              <a:endParaRPr sz="2400">
                <a:latin typeface="微软雅黑" panose="020B0503020204020204" pitchFamily="34" charset="-122"/>
                <a:cs typeface="微软雅黑" panose="020B0503020204020204" pitchFamily="34" charset="-122"/>
              </a:endParaRPr>
            </a:p>
          </p:txBody>
        </p:sp>
        <p:sp>
          <p:nvSpPr>
            <p:cNvPr id="29" name="object 29"/>
            <p:cNvSpPr txBox="1"/>
            <p:nvPr/>
          </p:nvSpPr>
          <p:spPr>
            <a:xfrm>
              <a:off x="9282925" y="3977363"/>
              <a:ext cx="787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C00000"/>
                  </a:solidFill>
                  <a:latin typeface="微软雅黑" panose="020B0503020204020204" pitchFamily="34" charset="-122"/>
                  <a:cs typeface="微软雅黑" panose="020B0503020204020204" pitchFamily="34" charset="-122"/>
                </a:rPr>
                <a:t>基本块</a:t>
              </a:r>
              <a:endParaRPr sz="2000">
                <a:latin typeface="微软雅黑" panose="020B0503020204020204" pitchFamily="34" charset="-122"/>
                <a:cs typeface="微软雅黑" panose="020B0503020204020204" pitchFamily="34" charset="-122"/>
              </a:endParaRPr>
            </a:p>
          </p:txBody>
        </p:sp>
        <p:sp>
          <p:nvSpPr>
            <p:cNvPr id="30" name="object 30"/>
            <p:cNvSpPr/>
            <p:nvPr/>
          </p:nvSpPr>
          <p:spPr>
            <a:xfrm>
              <a:off x="8978166" y="2748119"/>
              <a:ext cx="703580" cy="1196340"/>
            </a:xfrm>
            <a:custGeom>
              <a:avLst/>
              <a:gdLst/>
              <a:ahLst/>
              <a:cxnLst/>
              <a:rect l="l" t="t" r="r" b="b"/>
              <a:pathLst>
                <a:path w="703579" h="1196339">
                  <a:moveTo>
                    <a:pt x="0" y="0"/>
                  </a:moveTo>
                  <a:lnTo>
                    <a:pt x="703186" y="1195885"/>
                  </a:lnTo>
                </a:path>
              </a:pathLst>
            </a:custGeom>
            <a:ln w="9524">
              <a:solidFill>
                <a:srgbClr val="000000"/>
              </a:solidFill>
            </a:ln>
          </p:spPr>
          <p:txBody>
            <a:bodyPr wrap="square" lIns="0" tIns="0" rIns="0" bIns="0" rtlCol="0"/>
            <a:lstStyle/>
            <a:p>
              <a:endParaRPr/>
            </a:p>
          </p:txBody>
        </p:sp>
        <p:sp>
          <p:nvSpPr>
            <p:cNvPr id="31" name="object 31"/>
            <p:cNvSpPr/>
            <p:nvPr/>
          </p:nvSpPr>
          <p:spPr>
            <a:xfrm>
              <a:off x="8965390" y="2726392"/>
              <a:ext cx="104225" cy="122668"/>
            </a:xfrm>
            <a:prstGeom prst="rect">
              <a:avLst/>
            </a:prstGeom>
            <a:blipFill>
              <a:blip r:embed="rId3" cstate="print"/>
              <a:stretch>
                <a:fillRect/>
              </a:stretch>
            </a:blipFill>
          </p:spPr>
          <p:txBody>
            <a:bodyPr wrap="square" lIns="0" tIns="0" rIns="0" bIns="0" rtlCol="0"/>
            <a:lstStyle/>
            <a:p>
              <a:endParaRPr/>
            </a:p>
          </p:txBody>
        </p:sp>
        <p:sp>
          <p:nvSpPr>
            <p:cNvPr id="32" name="object 32"/>
            <p:cNvSpPr/>
            <p:nvPr/>
          </p:nvSpPr>
          <p:spPr>
            <a:xfrm>
              <a:off x="7401720" y="3369159"/>
              <a:ext cx="1755775" cy="575945"/>
            </a:xfrm>
            <a:custGeom>
              <a:avLst/>
              <a:gdLst/>
              <a:ahLst/>
              <a:cxnLst/>
              <a:rect l="l" t="t" r="r" b="b"/>
              <a:pathLst>
                <a:path w="1755775" h="575945">
                  <a:moveTo>
                    <a:pt x="0" y="0"/>
                  </a:moveTo>
                  <a:lnTo>
                    <a:pt x="1755637" y="575554"/>
                  </a:lnTo>
                </a:path>
              </a:pathLst>
            </a:custGeom>
            <a:ln w="9524">
              <a:solidFill>
                <a:srgbClr val="000000"/>
              </a:solidFill>
            </a:ln>
          </p:spPr>
          <p:txBody>
            <a:bodyPr wrap="square" lIns="0" tIns="0" rIns="0" bIns="0" rtlCol="0"/>
            <a:lstStyle/>
            <a:p>
              <a:endParaRPr/>
            </a:p>
          </p:txBody>
        </p:sp>
        <p:sp>
          <p:nvSpPr>
            <p:cNvPr id="33" name="object 33"/>
            <p:cNvSpPr/>
            <p:nvPr/>
          </p:nvSpPr>
          <p:spPr>
            <a:xfrm>
              <a:off x="7377770" y="3336769"/>
              <a:ext cx="124094" cy="112519"/>
            </a:xfrm>
            <a:prstGeom prst="rect">
              <a:avLst/>
            </a:prstGeom>
            <a:blipFill>
              <a:blip r:embed="rId4" cstate="print"/>
              <a:stretch>
                <a:fillRect/>
              </a:stretch>
            </a:blipFill>
          </p:spPr>
          <p:txBody>
            <a:bodyPr wrap="square" lIns="0" tIns="0" rIns="0" bIns="0" rtlCol="0"/>
            <a:lstStyle/>
            <a:p>
              <a:endParaRPr/>
            </a:p>
          </p:txBody>
        </p:sp>
        <p:sp>
          <p:nvSpPr>
            <p:cNvPr id="34" name="object 34"/>
            <p:cNvSpPr/>
            <p:nvPr/>
          </p:nvSpPr>
          <p:spPr>
            <a:xfrm>
              <a:off x="6188873" y="3978926"/>
              <a:ext cx="3016250" cy="165735"/>
            </a:xfrm>
            <a:custGeom>
              <a:avLst/>
              <a:gdLst/>
              <a:ahLst/>
              <a:cxnLst/>
              <a:rect l="l" t="t" r="r" b="b"/>
              <a:pathLst>
                <a:path w="3016250" h="165735">
                  <a:moveTo>
                    <a:pt x="0" y="0"/>
                  </a:moveTo>
                  <a:lnTo>
                    <a:pt x="3015688" y="165307"/>
                  </a:lnTo>
                </a:path>
              </a:pathLst>
            </a:custGeom>
            <a:ln w="9524">
              <a:solidFill>
                <a:srgbClr val="000000"/>
              </a:solidFill>
            </a:ln>
          </p:spPr>
          <p:txBody>
            <a:bodyPr wrap="square" lIns="0" tIns="0" rIns="0" bIns="0" rtlCol="0"/>
            <a:lstStyle/>
            <a:p>
              <a:endParaRPr/>
            </a:p>
          </p:txBody>
        </p:sp>
        <p:sp>
          <p:nvSpPr>
            <p:cNvPr id="35" name="object 35"/>
            <p:cNvSpPr/>
            <p:nvPr/>
          </p:nvSpPr>
          <p:spPr>
            <a:xfrm>
              <a:off x="6163706" y="3924212"/>
              <a:ext cx="118187" cy="117732"/>
            </a:xfrm>
            <a:prstGeom prst="rect">
              <a:avLst/>
            </a:prstGeom>
            <a:blipFill>
              <a:blip r:embed="rId5" cstate="print"/>
              <a:stretch>
                <a:fillRect/>
              </a:stretch>
            </a:blipFill>
          </p:spPr>
          <p:txBody>
            <a:bodyPr wrap="square" lIns="0" tIns="0" rIns="0" bIns="0" rtlCol="0"/>
            <a:lstStyle/>
            <a:p>
              <a:endParaRPr/>
            </a:p>
          </p:txBody>
        </p:sp>
        <p:sp>
          <p:nvSpPr>
            <p:cNvPr id="36" name="object 36"/>
            <p:cNvSpPr/>
            <p:nvPr/>
          </p:nvSpPr>
          <p:spPr>
            <a:xfrm>
              <a:off x="8317115" y="4313658"/>
              <a:ext cx="1022350" cy="697865"/>
            </a:xfrm>
            <a:custGeom>
              <a:avLst/>
              <a:gdLst/>
              <a:ahLst/>
              <a:cxnLst/>
              <a:rect l="l" t="t" r="r" b="b"/>
              <a:pathLst>
                <a:path w="1022350" h="697864">
                  <a:moveTo>
                    <a:pt x="0" y="697783"/>
                  </a:moveTo>
                  <a:lnTo>
                    <a:pt x="1022170" y="0"/>
                  </a:lnTo>
                </a:path>
              </a:pathLst>
            </a:custGeom>
            <a:ln w="9524">
              <a:solidFill>
                <a:srgbClr val="000000"/>
              </a:solidFill>
            </a:ln>
          </p:spPr>
          <p:txBody>
            <a:bodyPr wrap="square" lIns="0" tIns="0" rIns="0" bIns="0" rtlCol="0"/>
            <a:lstStyle/>
            <a:p>
              <a:endParaRPr/>
            </a:p>
          </p:txBody>
        </p:sp>
        <p:sp>
          <p:nvSpPr>
            <p:cNvPr id="37" name="object 37"/>
            <p:cNvSpPr/>
            <p:nvPr/>
          </p:nvSpPr>
          <p:spPr>
            <a:xfrm>
              <a:off x="8296299" y="4917286"/>
              <a:ext cx="121977" cy="108365"/>
            </a:xfrm>
            <a:prstGeom prst="rect">
              <a:avLst/>
            </a:prstGeom>
            <a:blipFill>
              <a:blip r:embed="rId6" cstate="print"/>
              <a:stretch>
                <a:fillRect/>
              </a:stretch>
            </a:blipFill>
          </p:spPr>
          <p:txBody>
            <a:bodyPr wrap="square" lIns="0" tIns="0" rIns="0" bIns="0" rtlCol="0"/>
            <a:lstStyle/>
            <a:p>
              <a:endParaRPr/>
            </a:p>
          </p:txBody>
        </p:sp>
        <p:sp>
          <p:nvSpPr>
            <p:cNvPr id="38" name="object 38"/>
            <p:cNvSpPr/>
            <p:nvPr/>
          </p:nvSpPr>
          <p:spPr>
            <a:xfrm>
              <a:off x="7864823" y="4344627"/>
              <a:ext cx="1816735" cy="1373505"/>
            </a:xfrm>
            <a:custGeom>
              <a:avLst/>
              <a:gdLst/>
              <a:ahLst/>
              <a:cxnLst/>
              <a:rect l="l" t="t" r="r" b="b"/>
              <a:pathLst>
                <a:path w="1816734" h="1373504">
                  <a:moveTo>
                    <a:pt x="0" y="1373070"/>
                  </a:moveTo>
                  <a:lnTo>
                    <a:pt x="1816630" y="0"/>
                  </a:lnTo>
                </a:path>
              </a:pathLst>
            </a:custGeom>
            <a:ln w="9524">
              <a:solidFill>
                <a:srgbClr val="000000"/>
              </a:solidFill>
            </a:ln>
          </p:spPr>
          <p:txBody>
            <a:bodyPr wrap="square" lIns="0" tIns="0" rIns="0" bIns="0" rtlCol="0"/>
            <a:lstStyle/>
            <a:p>
              <a:endParaRPr/>
            </a:p>
          </p:txBody>
        </p:sp>
        <p:sp>
          <p:nvSpPr>
            <p:cNvPr id="39" name="object 39"/>
            <p:cNvSpPr/>
            <p:nvPr/>
          </p:nvSpPr>
          <p:spPr>
            <a:xfrm>
              <a:off x="7844716" y="5621868"/>
              <a:ext cx="121142" cy="111026"/>
            </a:xfrm>
            <a:prstGeom prst="rect">
              <a:avLst/>
            </a:prstGeom>
            <a:blipFill>
              <a:blip r:embed="rId7" cstate="print"/>
              <a:stretch>
                <a:fillRect/>
              </a:stretch>
            </a:blipFill>
          </p:spPr>
          <p:txBody>
            <a:bodyPr wrap="square" lIns="0" tIns="0" rIns="0" bIns="0" rtlCol="0"/>
            <a:lstStyle/>
            <a:p>
              <a:endParaRPr/>
            </a:p>
          </p:txBody>
        </p:sp>
      </p:grpSp>
      <p:sp>
        <p:nvSpPr>
          <p:cNvPr id="40" name="灯片编号占位符 39"/>
          <p:cNvSpPr>
            <a:spLocks noGrp="1"/>
          </p:cNvSpPr>
          <p:nvPr>
            <p:ph type="sldNum" sz="quarter" idx="12"/>
          </p:nvPr>
        </p:nvSpPr>
        <p:spPr/>
        <p:txBody>
          <a:bodyPr/>
          <a:lstStyle/>
          <a:p>
            <a:fld id="{74D2AB8B-5816-41F2-8B4B-CA5C3E4E6A65}" type="slidenum">
              <a:rPr lang="zh-CN" altLang="en-US" smtClean="0"/>
              <a:t>24</a:t>
            </a:fld>
            <a:endParaRPr lang="zh-CN" altLang="en-US"/>
          </a:p>
        </p:txBody>
      </p:sp>
      <p:sp>
        <p:nvSpPr>
          <p:cNvPr id="42" name="标题 41"/>
          <p:cNvSpPr>
            <a:spLocks noGrp="1"/>
          </p:cNvSpPr>
          <p:nvPr>
            <p:ph type="title"/>
          </p:nvPr>
        </p:nvSpPr>
        <p:spPr>
          <a:xfrm>
            <a:off x="620319" y="428036"/>
            <a:ext cx="10515600" cy="1325563"/>
          </a:xfrm>
        </p:spPr>
        <p:txBody>
          <a:bodyPr/>
          <a:lstStyle/>
          <a:p>
            <a:r>
              <a:rPr lang="en-US" altLang="zh-CN" b="1" spc="-5" dirty="0" err="1">
                <a:latin typeface="Courier New" panose="02070309020205020404"/>
                <a:cs typeface="Courier New" panose="02070309020205020404"/>
              </a:rPr>
              <a:t>FindMean</a:t>
            </a:r>
            <a:r>
              <a:rPr lang="en-US" altLang="zh-CN" b="1" spc="-5" dirty="0">
                <a:latin typeface="Courier New" panose="02070309020205020404"/>
                <a:cs typeface="Courier New" panose="02070309020205020404"/>
              </a:rPr>
              <a:t>(float *mean, FILE</a:t>
            </a:r>
            <a:r>
              <a:rPr lang="en-US" altLang="zh-CN" b="1" spc="-50" dirty="0">
                <a:latin typeface="Courier New" panose="02070309020205020404"/>
                <a:cs typeface="Courier New" panose="02070309020205020404"/>
              </a:rPr>
              <a:t> </a:t>
            </a:r>
            <a:r>
              <a:rPr lang="en-US" altLang="zh-CN" b="1" dirty="0">
                <a:latin typeface="Courier New" panose="02070309020205020404"/>
                <a:cs typeface="Courier New" panose="02070309020205020404"/>
              </a:rPr>
              <a:t>*</a:t>
            </a:r>
            <a:r>
              <a:rPr lang="en-US" altLang="zh-CN" b="1" dirty="0" err="1">
                <a:latin typeface="Courier New" panose="02070309020205020404"/>
                <a:cs typeface="Courier New" panose="02070309020205020404"/>
              </a:rPr>
              <a:t>fp</a:t>
            </a:r>
            <a:r>
              <a:rPr lang="en-US" altLang="zh-CN" b="1" dirty="0">
                <a:latin typeface="Courier New" panose="02070309020205020404"/>
                <a:cs typeface="Courier New" panose="02070309020205020404"/>
              </a:rPr>
              <a:t>)</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4D2AB8B-5816-41F2-8B4B-CA5C3E4E6A65}" type="slidenum">
              <a:rPr lang="zh-CN" altLang="en-US" smtClean="0"/>
              <a:t>25</a:t>
            </a:fld>
            <a:endParaRPr lang="zh-CN" altLang="en-US"/>
          </a:p>
        </p:txBody>
      </p:sp>
      <p:grpSp>
        <p:nvGrpSpPr>
          <p:cNvPr id="63" name="组合 62"/>
          <p:cNvGrpSpPr/>
          <p:nvPr/>
        </p:nvGrpSpPr>
        <p:grpSpPr>
          <a:xfrm>
            <a:off x="1813342" y="573448"/>
            <a:ext cx="8565315" cy="5711104"/>
            <a:chOff x="1737253" y="520905"/>
            <a:chExt cx="8565315" cy="5711104"/>
          </a:xfrm>
        </p:grpSpPr>
        <p:sp>
          <p:nvSpPr>
            <p:cNvPr id="3" name="object 2"/>
            <p:cNvSpPr/>
            <p:nvPr/>
          </p:nvSpPr>
          <p:spPr>
            <a:xfrm>
              <a:off x="5926994" y="520905"/>
              <a:ext cx="479425" cy="479425"/>
            </a:xfrm>
            <a:custGeom>
              <a:avLst/>
              <a:gdLst/>
              <a:ahLst/>
              <a:cxnLst/>
              <a:rect l="l" t="t" r="r" b="b"/>
              <a:pathLst>
                <a:path w="479425" h="479425">
                  <a:moveTo>
                    <a:pt x="239522" y="0"/>
                  </a:moveTo>
                  <a:lnTo>
                    <a:pt x="191249" y="4865"/>
                  </a:lnTo>
                  <a:lnTo>
                    <a:pt x="146289" y="18820"/>
                  </a:lnTo>
                  <a:lnTo>
                    <a:pt x="105602" y="40900"/>
                  </a:lnTo>
                  <a:lnTo>
                    <a:pt x="70154" y="70144"/>
                  </a:lnTo>
                  <a:lnTo>
                    <a:pt x="40906" y="105587"/>
                  </a:lnTo>
                  <a:lnTo>
                    <a:pt x="18822" y="146268"/>
                  </a:lnTo>
                  <a:lnTo>
                    <a:pt x="4866" y="191222"/>
                  </a:lnTo>
                  <a:lnTo>
                    <a:pt x="0" y="239487"/>
                  </a:lnTo>
                  <a:lnTo>
                    <a:pt x="4866" y="287752"/>
                  </a:lnTo>
                  <a:lnTo>
                    <a:pt x="18822" y="332707"/>
                  </a:lnTo>
                  <a:lnTo>
                    <a:pt x="40906" y="373387"/>
                  </a:lnTo>
                  <a:lnTo>
                    <a:pt x="70154" y="408831"/>
                  </a:lnTo>
                  <a:lnTo>
                    <a:pt x="105602" y="438074"/>
                  </a:lnTo>
                  <a:lnTo>
                    <a:pt x="146289" y="460155"/>
                  </a:lnTo>
                  <a:lnTo>
                    <a:pt x="191249" y="474109"/>
                  </a:lnTo>
                  <a:lnTo>
                    <a:pt x="239522" y="478975"/>
                  </a:lnTo>
                  <a:lnTo>
                    <a:pt x="287793" y="474109"/>
                  </a:lnTo>
                  <a:lnTo>
                    <a:pt x="332754" y="460155"/>
                  </a:lnTo>
                  <a:lnTo>
                    <a:pt x="373440" y="438074"/>
                  </a:lnTo>
                  <a:lnTo>
                    <a:pt x="408888" y="408831"/>
                  </a:lnTo>
                  <a:lnTo>
                    <a:pt x="438136" y="373387"/>
                  </a:lnTo>
                  <a:lnTo>
                    <a:pt x="460219" y="332707"/>
                  </a:lnTo>
                  <a:lnTo>
                    <a:pt x="474176" y="287752"/>
                  </a:lnTo>
                  <a:lnTo>
                    <a:pt x="479042" y="239487"/>
                  </a:lnTo>
                  <a:lnTo>
                    <a:pt x="474176" y="191222"/>
                  </a:lnTo>
                  <a:lnTo>
                    <a:pt x="460219" y="146268"/>
                  </a:lnTo>
                  <a:lnTo>
                    <a:pt x="438136" y="105587"/>
                  </a:lnTo>
                  <a:lnTo>
                    <a:pt x="408888" y="70144"/>
                  </a:lnTo>
                  <a:lnTo>
                    <a:pt x="373440" y="40900"/>
                  </a:lnTo>
                  <a:lnTo>
                    <a:pt x="332754" y="18820"/>
                  </a:lnTo>
                  <a:lnTo>
                    <a:pt x="287793" y="4865"/>
                  </a:lnTo>
                  <a:lnTo>
                    <a:pt x="239522" y="0"/>
                  </a:lnTo>
                  <a:close/>
                </a:path>
              </a:pathLst>
            </a:custGeom>
            <a:solidFill>
              <a:srgbClr val="A8D5D6"/>
            </a:solidFill>
          </p:spPr>
          <p:txBody>
            <a:bodyPr wrap="square" lIns="0" tIns="0" rIns="0" bIns="0" rtlCol="0"/>
            <a:lstStyle/>
            <a:p>
              <a:endParaRPr/>
            </a:p>
          </p:txBody>
        </p:sp>
        <p:sp>
          <p:nvSpPr>
            <p:cNvPr id="4" name="object 3"/>
            <p:cNvSpPr/>
            <p:nvPr/>
          </p:nvSpPr>
          <p:spPr>
            <a:xfrm>
              <a:off x="5926994" y="520906"/>
              <a:ext cx="479425" cy="479425"/>
            </a:xfrm>
            <a:custGeom>
              <a:avLst/>
              <a:gdLst/>
              <a:ahLst/>
              <a:cxnLst/>
              <a:rect l="l" t="t" r="r" b="b"/>
              <a:pathLst>
                <a:path w="479425" h="479425">
                  <a:moveTo>
                    <a:pt x="0" y="239488"/>
                  </a:moveTo>
                  <a:lnTo>
                    <a:pt x="4866" y="191222"/>
                  </a:lnTo>
                  <a:lnTo>
                    <a:pt x="18822" y="146268"/>
                  </a:lnTo>
                  <a:lnTo>
                    <a:pt x="40906" y="105588"/>
                  </a:lnTo>
                  <a:lnTo>
                    <a:pt x="70154" y="70144"/>
                  </a:lnTo>
                  <a:lnTo>
                    <a:pt x="105602" y="40900"/>
                  </a:lnTo>
                  <a:lnTo>
                    <a:pt x="146288" y="18820"/>
                  </a:lnTo>
                  <a:lnTo>
                    <a:pt x="191249" y="4865"/>
                  </a:lnTo>
                  <a:lnTo>
                    <a:pt x="239521" y="0"/>
                  </a:lnTo>
                  <a:lnTo>
                    <a:pt x="287792" y="4865"/>
                  </a:lnTo>
                  <a:lnTo>
                    <a:pt x="332753" y="18820"/>
                  </a:lnTo>
                  <a:lnTo>
                    <a:pt x="373439" y="40900"/>
                  </a:lnTo>
                  <a:lnTo>
                    <a:pt x="408887" y="70144"/>
                  </a:lnTo>
                  <a:lnTo>
                    <a:pt x="438135" y="105588"/>
                  </a:lnTo>
                  <a:lnTo>
                    <a:pt x="460219" y="146268"/>
                  </a:lnTo>
                  <a:lnTo>
                    <a:pt x="474175" y="191222"/>
                  </a:lnTo>
                  <a:lnTo>
                    <a:pt x="479041" y="239488"/>
                  </a:lnTo>
                  <a:lnTo>
                    <a:pt x="474175" y="287753"/>
                  </a:lnTo>
                  <a:lnTo>
                    <a:pt x="460219" y="332707"/>
                  </a:lnTo>
                  <a:lnTo>
                    <a:pt x="438135" y="373388"/>
                  </a:lnTo>
                  <a:lnTo>
                    <a:pt x="408887" y="408831"/>
                  </a:lnTo>
                  <a:lnTo>
                    <a:pt x="373439" y="438075"/>
                  </a:lnTo>
                  <a:lnTo>
                    <a:pt x="332753" y="460155"/>
                  </a:lnTo>
                  <a:lnTo>
                    <a:pt x="287792" y="474110"/>
                  </a:lnTo>
                  <a:lnTo>
                    <a:pt x="239521" y="478975"/>
                  </a:lnTo>
                  <a:lnTo>
                    <a:pt x="191249" y="474110"/>
                  </a:lnTo>
                  <a:lnTo>
                    <a:pt x="146288" y="460155"/>
                  </a:lnTo>
                  <a:lnTo>
                    <a:pt x="105602" y="438075"/>
                  </a:lnTo>
                  <a:lnTo>
                    <a:pt x="70154" y="408831"/>
                  </a:lnTo>
                  <a:lnTo>
                    <a:pt x="40906" y="373388"/>
                  </a:lnTo>
                  <a:lnTo>
                    <a:pt x="18822" y="332707"/>
                  </a:lnTo>
                  <a:lnTo>
                    <a:pt x="4866" y="287753"/>
                  </a:lnTo>
                  <a:lnTo>
                    <a:pt x="0" y="239488"/>
                  </a:lnTo>
                  <a:close/>
                </a:path>
              </a:pathLst>
            </a:custGeom>
            <a:ln w="9524">
              <a:solidFill>
                <a:srgbClr val="000000"/>
              </a:solidFill>
            </a:ln>
          </p:spPr>
          <p:txBody>
            <a:bodyPr wrap="square" lIns="0" tIns="0" rIns="0" bIns="0" rtlCol="0"/>
            <a:lstStyle/>
            <a:p>
              <a:endParaRPr/>
            </a:p>
          </p:txBody>
        </p:sp>
        <p:sp>
          <p:nvSpPr>
            <p:cNvPr id="5" name="object 4"/>
            <p:cNvSpPr txBox="1"/>
            <p:nvPr/>
          </p:nvSpPr>
          <p:spPr>
            <a:xfrm>
              <a:off x="6099702" y="610533"/>
              <a:ext cx="1397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panose="02020603050405020304"/>
                  <a:cs typeface="Times New Roman" panose="02020603050405020304"/>
                </a:rPr>
                <a:t>1</a:t>
              </a:r>
              <a:endParaRPr sz="1800">
                <a:latin typeface="Times New Roman" panose="02020603050405020304"/>
                <a:cs typeface="Times New Roman" panose="02020603050405020304"/>
              </a:endParaRPr>
            </a:p>
          </p:txBody>
        </p:sp>
        <p:sp>
          <p:nvSpPr>
            <p:cNvPr id="6" name="object 5"/>
            <p:cNvSpPr/>
            <p:nvPr/>
          </p:nvSpPr>
          <p:spPr>
            <a:xfrm>
              <a:off x="5682757" y="1445966"/>
              <a:ext cx="965200" cy="507365"/>
            </a:xfrm>
            <a:custGeom>
              <a:avLst/>
              <a:gdLst/>
              <a:ahLst/>
              <a:cxnLst/>
              <a:rect l="l" t="t" r="r" b="b"/>
              <a:pathLst>
                <a:path w="965200" h="507364">
                  <a:moveTo>
                    <a:pt x="482479" y="0"/>
                  </a:moveTo>
                  <a:lnTo>
                    <a:pt x="0" y="253467"/>
                  </a:lnTo>
                  <a:lnTo>
                    <a:pt x="482479" y="506937"/>
                  </a:lnTo>
                  <a:lnTo>
                    <a:pt x="964959" y="253467"/>
                  </a:lnTo>
                  <a:lnTo>
                    <a:pt x="482479" y="0"/>
                  </a:lnTo>
                  <a:close/>
                </a:path>
              </a:pathLst>
            </a:custGeom>
            <a:solidFill>
              <a:srgbClr val="FFACA9"/>
            </a:solidFill>
          </p:spPr>
          <p:txBody>
            <a:bodyPr wrap="square" lIns="0" tIns="0" rIns="0" bIns="0" rtlCol="0"/>
            <a:lstStyle/>
            <a:p>
              <a:endParaRPr/>
            </a:p>
          </p:txBody>
        </p:sp>
        <p:sp>
          <p:nvSpPr>
            <p:cNvPr id="7" name="object 6"/>
            <p:cNvSpPr/>
            <p:nvPr/>
          </p:nvSpPr>
          <p:spPr>
            <a:xfrm>
              <a:off x="5682757" y="1445966"/>
              <a:ext cx="965200" cy="507365"/>
            </a:xfrm>
            <a:custGeom>
              <a:avLst/>
              <a:gdLst/>
              <a:ahLst/>
              <a:cxnLst/>
              <a:rect l="l" t="t" r="r" b="b"/>
              <a:pathLst>
                <a:path w="965200" h="507364">
                  <a:moveTo>
                    <a:pt x="0" y="253468"/>
                  </a:moveTo>
                  <a:lnTo>
                    <a:pt x="482479" y="0"/>
                  </a:lnTo>
                  <a:lnTo>
                    <a:pt x="964959" y="253468"/>
                  </a:lnTo>
                  <a:lnTo>
                    <a:pt x="482479" y="506936"/>
                  </a:lnTo>
                  <a:lnTo>
                    <a:pt x="0" y="253468"/>
                  </a:lnTo>
                  <a:close/>
                </a:path>
              </a:pathLst>
            </a:custGeom>
            <a:ln w="9524">
              <a:solidFill>
                <a:srgbClr val="000000"/>
              </a:solidFill>
            </a:ln>
          </p:spPr>
          <p:txBody>
            <a:bodyPr wrap="square" lIns="0" tIns="0" rIns="0" bIns="0" rtlCol="0"/>
            <a:lstStyle/>
            <a:p>
              <a:endParaRPr/>
            </a:p>
          </p:txBody>
        </p:sp>
        <p:sp>
          <p:nvSpPr>
            <p:cNvPr id="8" name="object 7"/>
            <p:cNvSpPr txBox="1"/>
            <p:nvPr/>
          </p:nvSpPr>
          <p:spPr>
            <a:xfrm>
              <a:off x="6097986" y="1549574"/>
              <a:ext cx="1397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panose="02020603050405020304"/>
                  <a:cs typeface="Times New Roman" panose="02020603050405020304"/>
                </a:rPr>
                <a:t>2</a:t>
              </a:r>
              <a:endParaRPr sz="1800">
                <a:latin typeface="Times New Roman" panose="02020603050405020304"/>
                <a:cs typeface="Times New Roman" panose="02020603050405020304"/>
              </a:endParaRPr>
            </a:p>
          </p:txBody>
        </p:sp>
        <p:sp>
          <p:nvSpPr>
            <p:cNvPr id="9" name="object 8"/>
            <p:cNvSpPr/>
            <p:nvPr/>
          </p:nvSpPr>
          <p:spPr>
            <a:xfrm>
              <a:off x="5688209" y="2390089"/>
              <a:ext cx="965200" cy="507365"/>
            </a:xfrm>
            <a:custGeom>
              <a:avLst/>
              <a:gdLst/>
              <a:ahLst/>
              <a:cxnLst/>
              <a:rect l="l" t="t" r="r" b="b"/>
              <a:pathLst>
                <a:path w="965200" h="507364">
                  <a:moveTo>
                    <a:pt x="482479" y="0"/>
                  </a:moveTo>
                  <a:lnTo>
                    <a:pt x="0" y="253469"/>
                  </a:lnTo>
                  <a:lnTo>
                    <a:pt x="482479" y="506937"/>
                  </a:lnTo>
                  <a:lnTo>
                    <a:pt x="964959" y="253469"/>
                  </a:lnTo>
                  <a:lnTo>
                    <a:pt x="482479" y="0"/>
                  </a:lnTo>
                  <a:close/>
                </a:path>
              </a:pathLst>
            </a:custGeom>
            <a:solidFill>
              <a:srgbClr val="FFACA9"/>
            </a:solidFill>
          </p:spPr>
          <p:txBody>
            <a:bodyPr wrap="square" lIns="0" tIns="0" rIns="0" bIns="0" rtlCol="0"/>
            <a:lstStyle/>
            <a:p>
              <a:endParaRPr/>
            </a:p>
          </p:txBody>
        </p:sp>
        <p:sp>
          <p:nvSpPr>
            <p:cNvPr id="10" name="object 9"/>
            <p:cNvSpPr/>
            <p:nvPr/>
          </p:nvSpPr>
          <p:spPr>
            <a:xfrm>
              <a:off x="5688209" y="2390089"/>
              <a:ext cx="965200" cy="507365"/>
            </a:xfrm>
            <a:custGeom>
              <a:avLst/>
              <a:gdLst/>
              <a:ahLst/>
              <a:cxnLst/>
              <a:rect l="l" t="t" r="r" b="b"/>
              <a:pathLst>
                <a:path w="965200" h="507364">
                  <a:moveTo>
                    <a:pt x="0" y="253468"/>
                  </a:moveTo>
                  <a:lnTo>
                    <a:pt x="482479" y="0"/>
                  </a:lnTo>
                  <a:lnTo>
                    <a:pt x="964959" y="253468"/>
                  </a:lnTo>
                  <a:lnTo>
                    <a:pt x="482479" y="506936"/>
                  </a:lnTo>
                  <a:lnTo>
                    <a:pt x="0" y="253468"/>
                  </a:lnTo>
                  <a:close/>
                </a:path>
              </a:pathLst>
            </a:custGeom>
            <a:ln w="9524">
              <a:solidFill>
                <a:srgbClr val="000000"/>
              </a:solidFill>
            </a:ln>
          </p:spPr>
          <p:txBody>
            <a:bodyPr wrap="square" lIns="0" tIns="0" rIns="0" bIns="0" rtlCol="0"/>
            <a:lstStyle/>
            <a:p>
              <a:endParaRPr/>
            </a:p>
          </p:txBody>
        </p:sp>
        <p:sp>
          <p:nvSpPr>
            <p:cNvPr id="11" name="object 10"/>
            <p:cNvSpPr txBox="1"/>
            <p:nvPr/>
          </p:nvSpPr>
          <p:spPr>
            <a:xfrm>
              <a:off x="6103439" y="2493698"/>
              <a:ext cx="1397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panose="02020603050405020304"/>
                  <a:cs typeface="Times New Roman" panose="02020603050405020304"/>
                </a:rPr>
                <a:t>3</a:t>
              </a:r>
              <a:endParaRPr sz="1800">
                <a:latin typeface="Times New Roman" panose="02020603050405020304"/>
                <a:cs typeface="Times New Roman" panose="02020603050405020304"/>
              </a:endParaRPr>
            </a:p>
          </p:txBody>
        </p:sp>
        <p:sp>
          <p:nvSpPr>
            <p:cNvPr id="12" name="object 11"/>
            <p:cNvSpPr/>
            <p:nvPr/>
          </p:nvSpPr>
          <p:spPr>
            <a:xfrm>
              <a:off x="4844425" y="2959023"/>
              <a:ext cx="479425" cy="479425"/>
            </a:xfrm>
            <a:custGeom>
              <a:avLst/>
              <a:gdLst/>
              <a:ahLst/>
              <a:cxnLst/>
              <a:rect l="l" t="t" r="r" b="b"/>
              <a:pathLst>
                <a:path w="479425" h="479425">
                  <a:moveTo>
                    <a:pt x="239520" y="0"/>
                  </a:moveTo>
                  <a:lnTo>
                    <a:pt x="191249" y="4865"/>
                  </a:lnTo>
                  <a:lnTo>
                    <a:pt x="146288" y="18820"/>
                  </a:lnTo>
                  <a:lnTo>
                    <a:pt x="105602" y="40900"/>
                  </a:lnTo>
                  <a:lnTo>
                    <a:pt x="70154" y="70144"/>
                  </a:lnTo>
                  <a:lnTo>
                    <a:pt x="40906" y="105587"/>
                  </a:lnTo>
                  <a:lnTo>
                    <a:pt x="18822" y="146268"/>
                  </a:lnTo>
                  <a:lnTo>
                    <a:pt x="4866" y="191222"/>
                  </a:lnTo>
                  <a:lnTo>
                    <a:pt x="0" y="239487"/>
                  </a:lnTo>
                  <a:lnTo>
                    <a:pt x="4866" y="287752"/>
                  </a:lnTo>
                  <a:lnTo>
                    <a:pt x="18822" y="332707"/>
                  </a:lnTo>
                  <a:lnTo>
                    <a:pt x="40906" y="373387"/>
                  </a:lnTo>
                  <a:lnTo>
                    <a:pt x="70154" y="408831"/>
                  </a:lnTo>
                  <a:lnTo>
                    <a:pt x="105602" y="438074"/>
                  </a:lnTo>
                  <a:lnTo>
                    <a:pt x="146288" y="460155"/>
                  </a:lnTo>
                  <a:lnTo>
                    <a:pt x="191249" y="474109"/>
                  </a:lnTo>
                  <a:lnTo>
                    <a:pt x="239520" y="478975"/>
                  </a:lnTo>
                  <a:lnTo>
                    <a:pt x="287792" y="474109"/>
                  </a:lnTo>
                  <a:lnTo>
                    <a:pt x="332753" y="460155"/>
                  </a:lnTo>
                  <a:lnTo>
                    <a:pt x="373439" y="438074"/>
                  </a:lnTo>
                  <a:lnTo>
                    <a:pt x="408888" y="408831"/>
                  </a:lnTo>
                  <a:lnTo>
                    <a:pt x="438136" y="373387"/>
                  </a:lnTo>
                  <a:lnTo>
                    <a:pt x="460219" y="332707"/>
                  </a:lnTo>
                  <a:lnTo>
                    <a:pt x="474176" y="287752"/>
                  </a:lnTo>
                  <a:lnTo>
                    <a:pt x="479042" y="239487"/>
                  </a:lnTo>
                  <a:lnTo>
                    <a:pt x="474176" y="191222"/>
                  </a:lnTo>
                  <a:lnTo>
                    <a:pt x="460219" y="146268"/>
                  </a:lnTo>
                  <a:lnTo>
                    <a:pt x="438136" y="105587"/>
                  </a:lnTo>
                  <a:lnTo>
                    <a:pt x="408888" y="70144"/>
                  </a:lnTo>
                  <a:lnTo>
                    <a:pt x="373439" y="40900"/>
                  </a:lnTo>
                  <a:lnTo>
                    <a:pt x="332753" y="18820"/>
                  </a:lnTo>
                  <a:lnTo>
                    <a:pt x="287792" y="4865"/>
                  </a:lnTo>
                  <a:lnTo>
                    <a:pt x="239520" y="0"/>
                  </a:lnTo>
                  <a:close/>
                </a:path>
              </a:pathLst>
            </a:custGeom>
            <a:solidFill>
              <a:srgbClr val="A8D5D6"/>
            </a:solidFill>
          </p:spPr>
          <p:txBody>
            <a:bodyPr wrap="square" lIns="0" tIns="0" rIns="0" bIns="0" rtlCol="0"/>
            <a:lstStyle/>
            <a:p>
              <a:endParaRPr/>
            </a:p>
          </p:txBody>
        </p:sp>
        <p:sp>
          <p:nvSpPr>
            <p:cNvPr id="13" name="object 12"/>
            <p:cNvSpPr/>
            <p:nvPr/>
          </p:nvSpPr>
          <p:spPr>
            <a:xfrm>
              <a:off x="4844425" y="2959024"/>
              <a:ext cx="479425" cy="479425"/>
            </a:xfrm>
            <a:custGeom>
              <a:avLst/>
              <a:gdLst/>
              <a:ahLst/>
              <a:cxnLst/>
              <a:rect l="l" t="t" r="r" b="b"/>
              <a:pathLst>
                <a:path w="479425" h="479425">
                  <a:moveTo>
                    <a:pt x="0" y="239488"/>
                  </a:moveTo>
                  <a:lnTo>
                    <a:pt x="4866" y="191222"/>
                  </a:lnTo>
                  <a:lnTo>
                    <a:pt x="18822" y="146268"/>
                  </a:lnTo>
                  <a:lnTo>
                    <a:pt x="40906" y="105588"/>
                  </a:lnTo>
                  <a:lnTo>
                    <a:pt x="70154" y="70144"/>
                  </a:lnTo>
                  <a:lnTo>
                    <a:pt x="105602" y="40900"/>
                  </a:lnTo>
                  <a:lnTo>
                    <a:pt x="146288" y="18820"/>
                  </a:lnTo>
                  <a:lnTo>
                    <a:pt x="191249" y="4865"/>
                  </a:lnTo>
                  <a:lnTo>
                    <a:pt x="239520" y="0"/>
                  </a:lnTo>
                  <a:lnTo>
                    <a:pt x="287792" y="4865"/>
                  </a:lnTo>
                  <a:lnTo>
                    <a:pt x="332753" y="18820"/>
                  </a:lnTo>
                  <a:lnTo>
                    <a:pt x="373439" y="40900"/>
                  </a:lnTo>
                  <a:lnTo>
                    <a:pt x="408887" y="70144"/>
                  </a:lnTo>
                  <a:lnTo>
                    <a:pt x="438135" y="105588"/>
                  </a:lnTo>
                  <a:lnTo>
                    <a:pt x="460219" y="146268"/>
                  </a:lnTo>
                  <a:lnTo>
                    <a:pt x="474175" y="191222"/>
                  </a:lnTo>
                  <a:lnTo>
                    <a:pt x="479041" y="239488"/>
                  </a:lnTo>
                  <a:lnTo>
                    <a:pt x="474175" y="287753"/>
                  </a:lnTo>
                  <a:lnTo>
                    <a:pt x="460219" y="332707"/>
                  </a:lnTo>
                  <a:lnTo>
                    <a:pt x="438135" y="373387"/>
                  </a:lnTo>
                  <a:lnTo>
                    <a:pt x="408887" y="408831"/>
                  </a:lnTo>
                  <a:lnTo>
                    <a:pt x="373439" y="438075"/>
                  </a:lnTo>
                  <a:lnTo>
                    <a:pt x="332753" y="460155"/>
                  </a:lnTo>
                  <a:lnTo>
                    <a:pt x="287792" y="474110"/>
                  </a:lnTo>
                  <a:lnTo>
                    <a:pt x="239520" y="478975"/>
                  </a:lnTo>
                  <a:lnTo>
                    <a:pt x="191249" y="474110"/>
                  </a:lnTo>
                  <a:lnTo>
                    <a:pt x="146288" y="460155"/>
                  </a:lnTo>
                  <a:lnTo>
                    <a:pt x="105602" y="438075"/>
                  </a:lnTo>
                  <a:lnTo>
                    <a:pt x="70154" y="408831"/>
                  </a:lnTo>
                  <a:lnTo>
                    <a:pt x="40906" y="373387"/>
                  </a:lnTo>
                  <a:lnTo>
                    <a:pt x="18822" y="332707"/>
                  </a:lnTo>
                  <a:lnTo>
                    <a:pt x="4866" y="287753"/>
                  </a:lnTo>
                  <a:lnTo>
                    <a:pt x="0" y="239488"/>
                  </a:lnTo>
                  <a:close/>
                </a:path>
              </a:pathLst>
            </a:custGeom>
            <a:ln w="9524">
              <a:solidFill>
                <a:srgbClr val="000000"/>
              </a:solidFill>
            </a:ln>
          </p:spPr>
          <p:txBody>
            <a:bodyPr wrap="square" lIns="0" tIns="0" rIns="0" bIns="0" rtlCol="0"/>
            <a:lstStyle/>
            <a:p>
              <a:endParaRPr/>
            </a:p>
          </p:txBody>
        </p:sp>
        <p:sp>
          <p:nvSpPr>
            <p:cNvPr id="14" name="object 13"/>
            <p:cNvSpPr/>
            <p:nvPr/>
          </p:nvSpPr>
          <p:spPr>
            <a:xfrm>
              <a:off x="5966247" y="3453026"/>
              <a:ext cx="479425" cy="479425"/>
            </a:xfrm>
            <a:custGeom>
              <a:avLst/>
              <a:gdLst/>
              <a:ahLst/>
              <a:cxnLst/>
              <a:rect l="l" t="t" r="r" b="b"/>
              <a:pathLst>
                <a:path w="479425" h="479425">
                  <a:moveTo>
                    <a:pt x="239520" y="0"/>
                  </a:moveTo>
                  <a:lnTo>
                    <a:pt x="191249" y="4866"/>
                  </a:lnTo>
                  <a:lnTo>
                    <a:pt x="146288" y="18822"/>
                  </a:lnTo>
                  <a:lnTo>
                    <a:pt x="105602" y="40906"/>
                  </a:lnTo>
                  <a:lnTo>
                    <a:pt x="70154" y="70154"/>
                  </a:lnTo>
                  <a:lnTo>
                    <a:pt x="40906" y="105602"/>
                  </a:lnTo>
                  <a:lnTo>
                    <a:pt x="18822" y="146288"/>
                  </a:lnTo>
                  <a:lnTo>
                    <a:pt x="4866" y="191249"/>
                  </a:lnTo>
                  <a:lnTo>
                    <a:pt x="0" y="239520"/>
                  </a:lnTo>
                  <a:lnTo>
                    <a:pt x="4866" y="287792"/>
                  </a:lnTo>
                  <a:lnTo>
                    <a:pt x="18822" y="332753"/>
                  </a:lnTo>
                  <a:lnTo>
                    <a:pt x="40906" y="373439"/>
                  </a:lnTo>
                  <a:lnTo>
                    <a:pt x="70154" y="408887"/>
                  </a:lnTo>
                  <a:lnTo>
                    <a:pt x="105602" y="438135"/>
                  </a:lnTo>
                  <a:lnTo>
                    <a:pt x="146288" y="460218"/>
                  </a:lnTo>
                  <a:lnTo>
                    <a:pt x="191249" y="474175"/>
                  </a:lnTo>
                  <a:lnTo>
                    <a:pt x="239520" y="479041"/>
                  </a:lnTo>
                  <a:lnTo>
                    <a:pt x="287792" y="474175"/>
                  </a:lnTo>
                  <a:lnTo>
                    <a:pt x="332753" y="460218"/>
                  </a:lnTo>
                  <a:lnTo>
                    <a:pt x="373439" y="438135"/>
                  </a:lnTo>
                  <a:lnTo>
                    <a:pt x="408888" y="408887"/>
                  </a:lnTo>
                  <a:lnTo>
                    <a:pt x="438136" y="373439"/>
                  </a:lnTo>
                  <a:lnTo>
                    <a:pt x="460219" y="332753"/>
                  </a:lnTo>
                  <a:lnTo>
                    <a:pt x="474176" y="287792"/>
                  </a:lnTo>
                  <a:lnTo>
                    <a:pt x="479042" y="239520"/>
                  </a:lnTo>
                  <a:lnTo>
                    <a:pt x="474176" y="191249"/>
                  </a:lnTo>
                  <a:lnTo>
                    <a:pt x="460219" y="146288"/>
                  </a:lnTo>
                  <a:lnTo>
                    <a:pt x="438136" y="105602"/>
                  </a:lnTo>
                  <a:lnTo>
                    <a:pt x="408888" y="70154"/>
                  </a:lnTo>
                  <a:lnTo>
                    <a:pt x="373439" y="40906"/>
                  </a:lnTo>
                  <a:lnTo>
                    <a:pt x="332753" y="18822"/>
                  </a:lnTo>
                  <a:lnTo>
                    <a:pt x="287792" y="4866"/>
                  </a:lnTo>
                  <a:lnTo>
                    <a:pt x="239520" y="0"/>
                  </a:lnTo>
                  <a:close/>
                </a:path>
              </a:pathLst>
            </a:custGeom>
            <a:solidFill>
              <a:srgbClr val="A8D5D6"/>
            </a:solidFill>
          </p:spPr>
          <p:txBody>
            <a:bodyPr wrap="square" lIns="0" tIns="0" rIns="0" bIns="0" rtlCol="0"/>
            <a:lstStyle/>
            <a:p>
              <a:endParaRPr/>
            </a:p>
          </p:txBody>
        </p:sp>
        <p:sp>
          <p:nvSpPr>
            <p:cNvPr id="15" name="object 14"/>
            <p:cNvSpPr/>
            <p:nvPr/>
          </p:nvSpPr>
          <p:spPr>
            <a:xfrm>
              <a:off x="5966248" y="3453026"/>
              <a:ext cx="479425" cy="479425"/>
            </a:xfrm>
            <a:custGeom>
              <a:avLst/>
              <a:gdLst/>
              <a:ahLst/>
              <a:cxnLst/>
              <a:rect l="l" t="t" r="r" b="b"/>
              <a:pathLst>
                <a:path w="479425" h="479425">
                  <a:moveTo>
                    <a:pt x="0" y="239521"/>
                  </a:moveTo>
                  <a:lnTo>
                    <a:pt x="4866" y="191249"/>
                  </a:lnTo>
                  <a:lnTo>
                    <a:pt x="18822" y="146288"/>
                  </a:lnTo>
                  <a:lnTo>
                    <a:pt x="40906" y="105602"/>
                  </a:lnTo>
                  <a:lnTo>
                    <a:pt x="70154" y="70154"/>
                  </a:lnTo>
                  <a:lnTo>
                    <a:pt x="105602" y="40906"/>
                  </a:lnTo>
                  <a:lnTo>
                    <a:pt x="146288" y="18822"/>
                  </a:lnTo>
                  <a:lnTo>
                    <a:pt x="191249" y="4866"/>
                  </a:lnTo>
                  <a:lnTo>
                    <a:pt x="239520" y="0"/>
                  </a:lnTo>
                  <a:lnTo>
                    <a:pt x="287792" y="4866"/>
                  </a:lnTo>
                  <a:lnTo>
                    <a:pt x="332753" y="18822"/>
                  </a:lnTo>
                  <a:lnTo>
                    <a:pt x="373439" y="40906"/>
                  </a:lnTo>
                  <a:lnTo>
                    <a:pt x="408887" y="70154"/>
                  </a:lnTo>
                  <a:lnTo>
                    <a:pt x="438135" y="105602"/>
                  </a:lnTo>
                  <a:lnTo>
                    <a:pt x="460219" y="146288"/>
                  </a:lnTo>
                  <a:lnTo>
                    <a:pt x="474175" y="191249"/>
                  </a:lnTo>
                  <a:lnTo>
                    <a:pt x="479042" y="239521"/>
                  </a:lnTo>
                  <a:lnTo>
                    <a:pt x="474175" y="287792"/>
                  </a:lnTo>
                  <a:lnTo>
                    <a:pt x="460219" y="332753"/>
                  </a:lnTo>
                  <a:lnTo>
                    <a:pt x="438135" y="373439"/>
                  </a:lnTo>
                  <a:lnTo>
                    <a:pt x="408887" y="408887"/>
                  </a:lnTo>
                  <a:lnTo>
                    <a:pt x="373439" y="438135"/>
                  </a:lnTo>
                  <a:lnTo>
                    <a:pt x="332753" y="460219"/>
                  </a:lnTo>
                  <a:lnTo>
                    <a:pt x="287792" y="474175"/>
                  </a:lnTo>
                  <a:lnTo>
                    <a:pt x="239520" y="479041"/>
                  </a:lnTo>
                  <a:lnTo>
                    <a:pt x="191249" y="474175"/>
                  </a:lnTo>
                  <a:lnTo>
                    <a:pt x="146288" y="460219"/>
                  </a:lnTo>
                  <a:lnTo>
                    <a:pt x="105602" y="438135"/>
                  </a:lnTo>
                  <a:lnTo>
                    <a:pt x="70154" y="408887"/>
                  </a:lnTo>
                  <a:lnTo>
                    <a:pt x="40906" y="373439"/>
                  </a:lnTo>
                  <a:lnTo>
                    <a:pt x="18822" y="332753"/>
                  </a:lnTo>
                  <a:lnTo>
                    <a:pt x="4866" y="287792"/>
                  </a:lnTo>
                  <a:lnTo>
                    <a:pt x="0" y="239521"/>
                  </a:lnTo>
                  <a:close/>
                </a:path>
              </a:pathLst>
            </a:custGeom>
            <a:ln w="9524">
              <a:solidFill>
                <a:srgbClr val="000000"/>
              </a:solidFill>
            </a:ln>
          </p:spPr>
          <p:txBody>
            <a:bodyPr wrap="square" lIns="0" tIns="0" rIns="0" bIns="0" rtlCol="0"/>
            <a:lstStyle/>
            <a:p>
              <a:endParaRPr/>
            </a:p>
          </p:txBody>
        </p:sp>
        <p:sp>
          <p:nvSpPr>
            <p:cNvPr id="16" name="object 15"/>
            <p:cNvSpPr txBox="1"/>
            <p:nvPr/>
          </p:nvSpPr>
          <p:spPr>
            <a:xfrm>
              <a:off x="5010781" y="3033411"/>
              <a:ext cx="1274445" cy="824230"/>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panose="02020603050405020304"/>
                  <a:cs typeface="Times New Roman" panose="02020603050405020304"/>
                </a:rPr>
                <a:t>4</a:t>
              </a:r>
              <a:endParaRPr sz="2000">
                <a:latin typeface="Times New Roman" panose="02020603050405020304"/>
                <a:cs typeface="Times New Roman" panose="02020603050405020304"/>
              </a:endParaRPr>
            </a:p>
            <a:p>
              <a:pPr marR="5080" algn="r">
                <a:lnSpc>
                  <a:spcPct val="100000"/>
                </a:lnSpc>
                <a:spcBef>
                  <a:spcPts val="1490"/>
                </a:spcBef>
              </a:pPr>
              <a:r>
                <a:rPr sz="2000" b="1" dirty="0">
                  <a:latin typeface="Times New Roman" panose="02020603050405020304"/>
                  <a:cs typeface="Times New Roman" panose="02020603050405020304"/>
                </a:rPr>
                <a:t>5</a:t>
              </a:r>
              <a:endParaRPr sz="2000">
                <a:latin typeface="Times New Roman" panose="02020603050405020304"/>
                <a:cs typeface="Times New Roman" panose="02020603050405020304"/>
              </a:endParaRPr>
            </a:p>
          </p:txBody>
        </p:sp>
        <p:sp>
          <p:nvSpPr>
            <p:cNvPr id="17" name="object 16"/>
            <p:cNvSpPr/>
            <p:nvPr/>
          </p:nvSpPr>
          <p:spPr>
            <a:xfrm>
              <a:off x="6165308" y="999881"/>
              <a:ext cx="1270" cy="421005"/>
            </a:xfrm>
            <a:custGeom>
              <a:avLst/>
              <a:gdLst/>
              <a:ahLst/>
              <a:cxnLst/>
              <a:rect l="l" t="t" r="r" b="b"/>
              <a:pathLst>
                <a:path w="1270" h="421005">
                  <a:moveTo>
                    <a:pt x="1207" y="0"/>
                  </a:moveTo>
                  <a:lnTo>
                    <a:pt x="0" y="420880"/>
                  </a:lnTo>
                </a:path>
              </a:pathLst>
            </a:custGeom>
            <a:ln w="9524">
              <a:solidFill>
                <a:srgbClr val="000000"/>
              </a:solidFill>
            </a:ln>
          </p:spPr>
          <p:txBody>
            <a:bodyPr wrap="square" lIns="0" tIns="0" rIns="0" bIns="0" rtlCol="0"/>
            <a:lstStyle/>
            <a:p>
              <a:endParaRPr/>
            </a:p>
          </p:txBody>
        </p:sp>
        <p:sp>
          <p:nvSpPr>
            <p:cNvPr id="18" name="object 17"/>
            <p:cNvSpPr/>
            <p:nvPr/>
          </p:nvSpPr>
          <p:spPr>
            <a:xfrm>
              <a:off x="6106572" y="1329928"/>
              <a:ext cx="117906" cy="116037"/>
            </a:xfrm>
            <a:prstGeom prst="rect">
              <a:avLst/>
            </a:prstGeom>
            <a:blipFill>
              <a:blip r:embed="rId3" cstate="print"/>
              <a:stretch>
                <a:fillRect/>
              </a:stretch>
            </a:blipFill>
          </p:spPr>
          <p:txBody>
            <a:bodyPr wrap="square" lIns="0" tIns="0" rIns="0" bIns="0" rtlCol="0"/>
            <a:lstStyle/>
            <a:p>
              <a:endParaRPr/>
            </a:p>
          </p:txBody>
        </p:sp>
        <p:sp>
          <p:nvSpPr>
            <p:cNvPr id="19" name="object 18"/>
            <p:cNvSpPr/>
            <p:nvPr/>
          </p:nvSpPr>
          <p:spPr>
            <a:xfrm>
              <a:off x="6165236" y="1952903"/>
              <a:ext cx="5715" cy="412750"/>
            </a:xfrm>
            <a:custGeom>
              <a:avLst/>
              <a:gdLst/>
              <a:ahLst/>
              <a:cxnLst/>
              <a:rect l="l" t="t" r="r" b="b"/>
              <a:pathLst>
                <a:path w="5714" h="412750">
                  <a:moveTo>
                    <a:pt x="0" y="0"/>
                  </a:moveTo>
                  <a:lnTo>
                    <a:pt x="5236" y="412153"/>
                  </a:lnTo>
                </a:path>
              </a:pathLst>
            </a:custGeom>
            <a:ln w="9524">
              <a:solidFill>
                <a:srgbClr val="000000"/>
              </a:solidFill>
            </a:ln>
          </p:spPr>
          <p:txBody>
            <a:bodyPr wrap="square" lIns="0" tIns="0" rIns="0" bIns="0" rtlCol="0"/>
            <a:lstStyle/>
            <a:p>
              <a:endParaRPr/>
            </a:p>
          </p:txBody>
        </p:sp>
        <p:sp>
          <p:nvSpPr>
            <p:cNvPr id="20" name="object 19"/>
            <p:cNvSpPr/>
            <p:nvPr/>
          </p:nvSpPr>
          <p:spPr>
            <a:xfrm>
              <a:off x="6110559" y="2273791"/>
              <a:ext cx="117897" cy="116467"/>
            </a:xfrm>
            <a:prstGeom prst="rect">
              <a:avLst/>
            </a:prstGeom>
            <a:blipFill>
              <a:blip r:embed="rId4" cstate="print"/>
              <a:stretch>
                <a:fillRect/>
              </a:stretch>
            </a:blipFill>
          </p:spPr>
          <p:txBody>
            <a:bodyPr wrap="square" lIns="0" tIns="0" rIns="0" bIns="0" rtlCol="0"/>
            <a:lstStyle/>
            <a:p>
              <a:endParaRPr/>
            </a:p>
          </p:txBody>
        </p:sp>
        <p:sp>
          <p:nvSpPr>
            <p:cNvPr id="21" name="object 20"/>
            <p:cNvSpPr/>
            <p:nvPr/>
          </p:nvSpPr>
          <p:spPr>
            <a:xfrm>
              <a:off x="5083946" y="2643556"/>
              <a:ext cx="604520" cy="290830"/>
            </a:xfrm>
            <a:custGeom>
              <a:avLst/>
              <a:gdLst/>
              <a:ahLst/>
              <a:cxnLst/>
              <a:rect l="l" t="t" r="r" b="b"/>
              <a:pathLst>
                <a:path w="604520" h="290830">
                  <a:moveTo>
                    <a:pt x="604262" y="0"/>
                  </a:moveTo>
                  <a:lnTo>
                    <a:pt x="0" y="0"/>
                  </a:lnTo>
                  <a:lnTo>
                    <a:pt x="0" y="290260"/>
                  </a:lnTo>
                </a:path>
              </a:pathLst>
            </a:custGeom>
            <a:ln w="9524">
              <a:solidFill>
                <a:srgbClr val="000000"/>
              </a:solidFill>
            </a:ln>
          </p:spPr>
          <p:txBody>
            <a:bodyPr wrap="square" lIns="0" tIns="0" rIns="0" bIns="0" rtlCol="0"/>
            <a:lstStyle/>
            <a:p>
              <a:endParaRPr/>
            </a:p>
          </p:txBody>
        </p:sp>
        <p:sp>
          <p:nvSpPr>
            <p:cNvPr id="22" name="object 21"/>
            <p:cNvSpPr/>
            <p:nvPr/>
          </p:nvSpPr>
          <p:spPr>
            <a:xfrm>
              <a:off x="5024992" y="2843113"/>
              <a:ext cx="117908" cy="115909"/>
            </a:xfrm>
            <a:prstGeom prst="rect">
              <a:avLst/>
            </a:prstGeom>
            <a:blipFill>
              <a:blip r:embed="rId5" cstate="print"/>
              <a:stretch>
                <a:fillRect/>
              </a:stretch>
            </a:blipFill>
          </p:spPr>
          <p:txBody>
            <a:bodyPr wrap="square" lIns="0" tIns="0" rIns="0" bIns="0" rtlCol="0"/>
            <a:lstStyle/>
            <a:p>
              <a:endParaRPr/>
            </a:p>
          </p:txBody>
        </p:sp>
        <p:sp>
          <p:nvSpPr>
            <p:cNvPr id="23" name="object 22"/>
            <p:cNvSpPr/>
            <p:nvPr/>
          </p:nvSpPr>
          <p:spPr>
            <a:xfrm>
              <a:off x="6470494" y="2643557"/>
              <a:ext cx="774700" cy="1049020"/>
            </a:xfrm>
            <a:custGeom>
              <a:avLst/>
              <a:gdLst/>
              <a:ahLst/>
              <a:cxnLst/>
              <a:rect l="l" t="t" r="r" b="b"/>
              <a:pathLst>
                <a:path w="774700" h="1049020">
                  <a:moveTo>
                    <a:pt x="182675" y="0"/>
                  </a:moveTo>
                  <a:lnTo>
                    <a:pt x="774159" y="0"/>
                  </a:lnTo>
                  <a:lnTo>
                    <a:pt x="774159" y="1048989"/>
                  </a:lnTo>
                  <a:lnTo>
                    <a:pt x="0" y="1048989"/>
                  </a:lnTo>
                </a:path>
              </a:pathLst>
            </a:custGeom>
            <a:ln w="9524">
              <a:solidFill>
                <a:srgbClr val="000000"/>
              </a:solidFill>
            </a:ln>
          </p:spPr>
          <p:txBody>
            <a:bodyPr wrap="square" lIns="0" tIns="0" rIns="0" bIns="0" rtlCol="0"/>
            <a:lstStyle/>
            <a:p>
              <a:endParaRPr/>
            </a:p>
          </p:txBody>
        </p:sp>
        <p:sp>
          <p:nvSpPr>
            <p:cNvPr id="24" name="object 23"/>
            <p:cNvSpPr/>
            <p:nvPr/>
          </p:nvSpPr>
          <p:spPr>
            <a:xfrm>
              <a:off x="6445290" y="3633593"/>
              <a:ext cx="115909" cy="117908"/>
            </a:xfrm>
            <a:prstGeom prst="rect">
              <a:avLst/>
            </a:prstGeom>
            <a:blipFill>
              <a:blip r:embed="rId6" cstate="print"/>
              <a:stretch>
                <a:fillRect/>
              </a:stretch>
            </a:blipFill>
          </p:spPr>
          <p:txBody>
            <a:bodyPr wrap="square" lIns="0" tIns="0" rIns="0" bIns="0" rtlCol="0"/>
            <a:lstStyle/>
            <a:p>
              <a:endParaRPr/>
            </a:p>
          </p:txBody>
        </p:sp>
        <p:sp>
          <p:nvSpPr>
            <p:cNvPr id="25" name="object 24"/>
            <p:cNvSpPr/>
            <p:nvPr/>
          </p:nvSpPr>
          <p:spPr>
            <a:xfrm>
              <a:off x="5083945" y="3437997"/>
              <a:ext cx="857250" cy="254635"/>
            </a:xfrm>
            <a:custGeom>
              <a:avLst/>
              <a:gdLst/>
              <a:ahLst/>
              <a:cxnLst/>
              <a:rect l="l" t="t" r="r" b="b"/>
              <a:pathLst>
                <a:path w="857250" h="254635">
                  <a:moveTo>
                    <a:pt x="0" y="0"/>
                  </a:moveTo>
                  <a:lnTo>
                    <a:pt x="0" y="254548"/>
                  </a:lnTo>
                  <a:lnTo>
                    <a:pt x="857096" y="254548"/>
                  </a:lnTo>
                </a:path>
              </a:pathLst>
            </a:custGeom>
            <a:ln w="9524">
              <a:solidFill>
                <a:srgbClr val="000000"/>
              </a:solidFill>
            </a:ln>
          </p:spPr>
          <p:txBody>
            <a:bodyPr wrap="square" lIns="0" tIns="0" rIns="0" bIns="0" rtlCol="0"/>
            <a:lstStyle/>
            <a:p>
              <a:endParaRPr/>
            </a:p>
          </p:txBody>
        </p:sp>
        <p:sp>
          <p:nvSpPr>
            <p:cNvPr id="26" name="object 25"/>
            <p:cNvSpPr/>
            <p:nvPr/>
          </p:nvSpPr>
          <p:spPr>
            <a:xfrm>
              <a:off x="5850338" y="3633593"/>
              <a:ext cx="115909" cy="117908"/>
            </a:xfrm>
            <a:prstGeom prst="rect">
              <a:avLst/>
            </a:prstGeom>
            <a:blipFill>
              <a:blip r:embed="rId7" cstate="print"/>
              <a:stretch>
                <a:fillRect/>
              </a:stretch>
            </a:blipFill>
          </p:spPr>
          <p:txBody>
            <a:bodyPr wrap="square" lIns="0" tIns="0" rIns="0" bIns="0" rtlCol="0"/>
            <a:lstStyle/>
            <a:p>
              <a:endParaRPr/>
            </a:p>
          </p:txBody>
        </p:sp>
        <p:sp>
          <p:nvSpPr>
            <p:cNvPr id="27" name="object 26"/>
            <p:cNvSpPr/>
            <p:nvPr/>
          </p:nvSpPr>
          <p:spPr>
            <a:xfrm>
              <a:off x="3885966" y="4214520"/>
              <a:ext cx="965200" cy="507365"/>
            </a:xfrm>
            <a:custGeom>
              <a:avLst/>
              <a:gdLst/>
              <a:ahLst/>
              <a:cxnLst/>
              <a:rect l="l" t="t" r="r" b="b"/>
              <a:pathLst>
                <a:path w="965200" h="507364">
                  <a:moveTo>
                    <a:pt x="482480" y="0"/>
                  </a:moveTo>
                  <a:lnTo>
                    <a:pt x="0" y="253467"/>
                  </a:lnTo>
                  <a:lnTo>
                    <a:pt x="482480" y="506937"/>
                  </a:lnTo>
                  <a:lnTo>
                    <a:pt x="964959" y="253467"/>
                  </a:lnTo>
                  <a:lnTo>
                    <a:pt x="482480" y="0"/>
                  </a:lnTo>
                  <a:close/>
                </a:path>
              </a:pathLst>
            </a:custGeom>
            <a:solidFill>
              <a:srgbClr val="FFACA9"/>
            </a:solidFill>
          </p:spPr>
          <p:txBody>
            <a:bodyPr wrap="square" lIns="0" tIns="0" rIns="0" bIns="0" rtlCol="0"/>
            <a:lstStyle/>
            <a:p>
              <a:endParaRPr/>
            </a:p>
          </p:txBody>
        </p:sp>
        <p:sp>
          <p:nvSpPr>
            <p:cNvPr id="28" name="object 27"/>
            <p:cNvSpPr/>
            <p:nvPr/>
          </p:nvSpPr>
          <p:spPr>
            <a:xfrm>
              <a:off x="3885966" y="4214520"/>
              <a:ext cx="965200" cy="507365"/>
            </a:xfrm>
            <a:custGeom>
              <a:avLst/>
              <a:gdLst/>
              <a:ahLst/>
              <a:cxnLst/>
              <a:rect l="l" t="t" r="r" b="b"/>
              <a:pathLst>
                <a:path w="965200" h="507364">
                  <a:moveTo>
                    <a:pt x="0" y="253468"/>
                  </a:moveTo>
                  <a:lnTo>
                    <a:pt x="482479" y="0"/>
                  </a:lnTo>
                  <a:lnTo>
                    <a:pt x="964959" y="253468"/>
                  </a:lnTo>
                  <a:lnTo>
                    <a:pt x="482479" y="506936"/>
                  </a:lnTo>
                  <a:lnTo>
                    <a:pt x="0" y="253468"/>
                  </a:lnTo>
                  <a:close/>
                </a:path>
              </a:pathLst>
            </a:custGeom>
            <a:ln w="9524">
              <a:solidFill>
                <a:srgbClr val="000000"/>
              </a:solidFill>
            </a:ln>
          </p:spPr>
          <p:txBody>
            <a:bodyPr wrap="square" lIns="0" tIns="0" rIns="0" bIns="0" rtlCol="0"/>
            <a:lstStyle/>
            <a:p>
              <a:endParaRPr/>
            </a:p>
          </p:txBody>
        </p:sp>
        <p:sp>
          <p:nvSpPr>
            <p:cNvPr id="29" name="object 28"/>
            <p:cNvSpPr txBox="1"/>
            <p:nvPr/>
          </p:nvSpPr>
          <p:spPr>
            <a:xfrm>
              <a:off x="4301196" y="4318128"/>
              <a:ext cx="1397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panose="02020603050405020304"/>
                  <a:cs typeface="Times New Roman" panose="02020603050405020304"/>
                </a:rPr>
                <a:t>6</a:t>
              </a:r>
              <a:endParaRPr sz="1800">
                <a:latin typeface="Times New Roman" panose="02020603050405020304"/>
                <a:cs typeface="Times New Roman" panose="02020603050405020304"/>
              </a:endParaRPr>
            </a:p>
          </p:txBody>
        </p:sp>
        <p:sp>
          <p:nvSpPr>
            <p:cNvPr id="30" name="object 29"/>
            <p:cNvSpPr/>
            <p:nvPr/>
          </p:nvSpPr>
          <p:spPr>
            <a:xfrm>
              <a:off x="3341477" y="4718048"/>
              <a:ext cx="479425" cy="479425"/>
            </a:xfrm>
            <a:custGeom>
              <a:avLst/>
              <a:gdLst/>
              <a:ahLst/>
              <a:cxnLst/>
              <a:rect l="l" t="t" r="r" b="b"/>
              <a:pathLst>
                <a:path w="479425" h="479425">
                  <a:moveTo>
                    <a:pt x="239520" y="0"/>
                  </a:moveTo>
                  <a:lnTo>
                    <a:pt x="191248" y="4866"/>
                  </a:lnTo>
                  <a:lnTo>
                    <a:pt x="146288" y="18822"/>
                  </a:lnTo>
                  <a:lnTo>
                    <a:pt x="105602" y="40906"/>
                  </a:lnTo>
                  <a:lnTo>
                    <a:pt x="70153" y="70154"/>
                  </a:lnTo>
                  <a:lnTo>
                    <a:pt x="40906" y="105602"/>
                  </a:lnTo>
                  <a:lnTo>
                    <a:pt x="18822" y="146289"/>
                  </a:lnTo>
                  <a:lnTo>
                    <a:pt x="4866" y="191249"/>
                  </a:lnTo>
                  <a:lnTo>
                    <a:pt x="0" y="239521"/>
                  </a:lnTo>
                  <a:lnTo>
                    <a:pt x="4866" y="287793"/>
                  </a:lnTo>
                  <a:lnTo>
                    <a:pt x="18822" y="332754"/>
                  </a:lnTo>
                  <a:lnTo>
                    <a:pt x="40906" y="373440"/>
                  </a:lnTo>
                  <a:lnTo>
                    <a:pt x="70153" y="408888"/>
                  </a:lnTo>
                  <a:lnTo>
                    <a:pt x="105602" y="438136"/>
                  </a:lnTo>
                  <a:lnTo>
                    <a:pt x="146288" y="460219"/>
                  </a:lnTo>
                  <a:lnTo>
                    <a:pt x="191248" y="474176"/>
                  </a:lnTo>
                  <a:lnTo>
                    <a:pt x="239520" y="479042"/>
                  </a:lnTo>
                  <a:lnTo>
                    <a:pt x="287792" y="474176"/>
                  </a:lnTo>
                  <a:lnTo>
                    <a:pt x="332752" y="460219"/>
                  </a:lnTo>
                  <a:lnTo>
                    <a:pt x="373438" y="438136"/>
                  </a:lnTo>
                  <a:lnTo>
                    <a:pt x="408887" y="408888"/>
                  </a:lnTo>
                  <a:lnTo>
                    <a:pt x="438134" y="373440"/>
                  </a:lnTo>
                  <a:lnTo>
                    <a:pt x="460218" y="332754"/>
                  </a:lnTo>
                  <a:lnTo>
                    <a:pt x="474175" y="287793"/>
                  </a:lnTo>
                  <a:lnTo>
                    <a:pt x="479041" y="239521"/>
                  </a:lnTo>
                  <a:lnTo>
                    <a:pt x="474175" y="191249"/>
                  </a:lnTo>
                  <a:lnTo>
                    <a:pt x="460218" y="146289"/>
                  </a:lnTo>
                  <a:lnTo>
                    <a:pt x="438134" y="105602"/>
                  </a:lnTo>
                  <a:lnTo>
                    <a:pt x="408887" y="70154"/>
                  </a:lnTo>
                  <a:lnTo>
                    <a:pt x="373438" y="40906"/>
                  </a:lnTo>
                  <a:lnTo>
                    <a:pt x="332752" y="18822"/>
                  </a:lnTo>
                  <a:lnTo>
                    <a:pt x="287792" y="4866"/>
                  </a:lnTo>
                  <a:lnTo>
                    <a:pt x="239520" y="0"/>
                  </a:lnTo>
                  <a:close/>
                </a:path>
              </a:pathLst>
            </a:custGeom>
            <a:solidFill>
              <a:srgbClr val="A8D5D6"/>
            </a:solidFill>
          </p:spPr>
          <p:txBody>
            <a:bodyPr wrap="square" lIns="0" tIns="0" rIns="0" bIns="0" rtlCol="0"/>
            <a:lstStyle/>
            <a:p>
              <a:endParaRPr/>
            </a:p>
          </p:txBody>
        </p:sp>
        <p:sp>
          <p:nvSpPr>
            <p:cNvPr id="31" name="object 30"/>
            <p:cNvSpPr/>
            <p:nvPr/>
          </p:nvSpPr>
          <p:spPr>
            <a:xfrm>
              <a:off x="3341477" y="4718048"/>
              <a:ext cx="479425" cy="479425"/>
            </a:xfrm>
            <a:custGeom>
              <a:avLst/>
              <a:gdLst/>
              <a:ahLst/>
              <a:cxnLst/>
              <a:rect l="l" t="t" r="r" b="b"/>
              <a:pathLst>
                <a:path w="479425" h="479425">
                  <a:moveTo>
                    <a:pt x="0" y="239520"/>
                  </a:moveTo>
                  <a:lnTo>
                    <a:pt x="4866" y="191249"/>
                  </a:lnTo>
                  <a:lnTo>
                    <a:pt x="18822" y="146288"/>
                  </a:lnTo>
                  <a:lnTo>
                    <a:pt x="40906" y="105602"/>
                  </a:lnTo>
                  <a:lnTo>
                    <a:pt x="70154" y="70154"/>
                  </a:lnTo>
                  <a:lnTo>
                    <a:pt x="105602" y="40906"/>
                  </a:lnTo>
                  <a:lnTo>
                    <a:pt x="146288" y="18822"/>
                  </a:lnTo>
                  <a:lnTo>
                    <a:pt x="191249" y="4866"/>
                  </a:lnTo>
                  <a:lnTo>
                    <a:pt x="239520" y="0"/>
                  </a:lnTo>
                  <a:lnTo>
                    <a:pt x="287792" y="4866"/>
                  </a:lnTo>
                  <a:lnTo>
                    <a:pt x="332753" y="18822"/>
                  </a:lnTo>
                  <a:lnTo>
                    <a:pt x="373439" y="40906"/>
                  </a:lnTo>
                  <a:lnTo>
                    <a:pt x="408887" y="70154"/>
                  </a:lnTo>
                  <a:lnTo>
                    <a:pt x="438135" y="105602"/>
                  </a:lnTo>
                  <a:lnTo>
                    <a:pt x="460219" y="146288"/>
                  </a:lnTo>
                  <a:lnTo>
                    <a:pt x="474175" y="191249"/>
                  </a:lnTo>
                  <a:lnTo>
                    <a:pt x="479042" y="239520"/>
                  </a:lnTo>
                  <a:lnTo>
                    <a:pt x="474175" y="287792"/>
                  </a:lnTo>
                  <a:lnTo>
                    <a:pt x="460219" y="332753"/>
                  </a:lnTo>
                  <a:lnTo>
                    <a:pt x="438135" y="373439"/>
                  </a:lnTo>
                  <a:lnTo>
                    <a:pt x="408887" y="408887"/>
                  </a:lnTo>
                  <a:lnTo>
                    <a:pt x="373439" y="438135"/>
                  </a:lnTo>
                  <a:lnTo>
                    <a:pt x="332753" y="460219"/>
                  </a:lnTo>
                  <a:lnTo>
                    <a:pt x="287792" y="474175"/>
                  </a:lnTo>
                  <a:lnTo>
                    <a:pt x="239520" y="479041"/>
                  </a:lnTo>
                  <a:lnTo>
                    <a:pt x="191249" y="474175"/>
                  </a:lnTo>
                  <a:lnTo>
                    <a:pt x="146288" y="460219"/>
                  </a:lnTo>
                  <a:lnTo>
                    <a:pt x="105602" y="438135"/>
                  </a:lnTo>
                  <a:lnTo>
                    <a:pt x="70154" y="408887"/>
                  </a:lnTo>
                  <a:lnTo>
                    <a:pt x="40906" y="373439"/>
                  </a:lnTo>
                  <a:lnTo>
                    <a:pt x="18822" y="332753"/>
                  </a:lnTo>
                  <a:lnTo>
                    <a:pt x="4866" y="287792"/>
                  </a:lnTo>
                  <a:lnTo>
                    <a:pt x="0" y="239520"/>
                  </a:lnTo>
                  <a:close/>
                </a:path>
              </a:pathLst>
            </a:custGeom>
            <a:ln w="9524">
              <a:solidFill>
                <a:srgbClr val="000000"/>
              </a:solidFill>
            </a:ln>
          </p:spPr>
          <p:txBody>
            <a:bodyPr wrap="square" lIns="0" tIns="0" rIns="0" bIns="0" rtlCol="0"/>
            <a:lstStyle/>
            <a:p>
              <a:endParaRPr/>
            </a:p>
          </p:txBody>
        </p:sp>
        <p:sp>
          <p:nvSpPr>
            <p:cNvPr id="32" name="object 31"/>
            <p:cNvSpPr txBox="1"/>
            <p:nvPr/>
          </p:nvSpPr>
          <p:spPr>
            <a:xfrm>
              <a:off x="3507833" y="4792469"/>
              <a:ext cx="152400"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panose="02020603050405020304"/>
                  <a:cs typeface="Times New Roman" panose="02020603050405020304"/>
                </a:rPr>
                <a:t>7</a:t>
              </a:r>
              <a:endParaRPr sz="2000">
                <a:latin typeface="Times New Roman" panose="02020603050405020304"/>
                <a:cs typeface="Times New Roman" panose="02020603050405020304"/>
              </a:endParaRPr>
            </a:p>
          </p:txBody>
        </p:sp>
        <p:sp>
          <p:nvSpPr>
            <p:cNvPr id="33" name="object 32"/>
            <p:cNvSpPr/>
            <p:nvPr/>
          </p:nvSpPr>
          <p:spPr>
            <a:xfrm>
              <a:off x="4998809" y="4707148"/>
              <a:ext cx="479425" cy="479425"/>
            </a:xfrm>
            <a:custGeom>
              <a:avLst/>
              <a:gdLst/>
              <a:ahLst/>
              <a:cxnLst/>
              <a:rect l="l" t="t" r="r" b="b"/>
              <a:pathLst>
                <a:path w="479425" h="479425">
                  <a:moveTo>
                    <a:pt x="239520" y="0"/>
                  </a:moveTo>
                  <a:lnTo>
                    <a:pt x="191248" y="4866"/>
                  </a:lnTo>
                  <a:lnTo>
                    <a:pt x="146288" y="18822"/>
                  </a:lnTo>
                  <a:lnTo>
                    <a:pt x="105602" y="40906"/>
                  </a:lnTo>
                  <a:lnTo>
                    <a:pt x="70153" y="70153"/>
                  </a:lnTo>
                  <a:lnTo>
                    <a:pt x="40906" y="105602"/>
                  </a:lnTo>
                  <a:lnTo>
                    <a:pt x="18822" y="146288"/>
                  </a:lnTo>
                  <a:lnTo>
                    <a:pt x="4866" y="191248"/>
                  </a:lnTo>
                  <a:lnTo>
                    <a:pt x="0" y="239520"/>
                  </a:lnTo>
                  <a:lnTo>
                    <a:pt x="4866" y="287792"/>
                  </a:lnTo>
                  <a:lnTo>
                    <a:pt x="18822" y="332752"/>
                  </a:lnTo>
                  <a:lnTo>
                    <a:pt x="40906" y="373438"/>
                  </a:lnTo>
                  <a:lnTo>
                    <a:pt x="70153" y="408887"/>
                  </a:lnTo>
                  <a:lnTo>
                    <a:pt x="105602" y="438134"/>
                  </a:lnTo>
                  <a:lnTo>
                    <a:pt x="146288" y="460218"/>
                  </a:lnTo>
                  <a:lnTo>
                    <a:pt x="191248" y="474175"/>
                  </a:lnTo>
                  <a:lnTo>
                    <a:pt x="239520" y="479041"/>
                  </a:lnTo>
                  <a:lnTo>
                    <a:pt x="287792" y="474175"/>
                  </a:lnTo>
                  <a:lnTo>
                    <a:pt x="332752" y="460218"/>
                  </a:lnTo>
                  <a:lnTo>
                    <a:pt x="373438" y="438134"/>
                  </a:lnTo>
                  <a:lnTo>
                    <a:pt x="408887" y="408887"/>
                  </a:lnTo>
                  <a:lnTo>
                    <a:pt x="438134" y="373438"/>
                  </a:lnTo>
                  <a:lnTo>
                    <a:pt x="460218" y="332752"/>
                  </a:lnTo>
                  <a:lnTo>
                    <a:pt x="474175" y="287792"/>
                  </a:lnTo>
                  <a:lnTo>
                    <a:pt x="479041" y="239520"/>
                  </a:lnTo>
                  <a:lnTo>
                    <a:pt x="474175" y="191248"/>
                  </a:lnTo>
                  <a:lnTo>
                    <a:pt x="460218" y="146288"/>
                  </a:lnTo>
                  <a:lnTo>
                    <a:pt x="438134" y="105602"/>
                  </a:lnTo>
                  <a:lnTo>
                    <a:pt x="408887" y="70153"/>
                  </a:lnTo>
                  <a:lnTo>
                    <a:pt x="373438" y="40906"/>
                  </a:lnTo>
                  <a:lnTo>
                    <a:pt x="332752" y="18822"/>
                  </a:lnTo>
                  <a:lnTo>
                    <a:pt x="287792" y="4866"/>
                  </a:lnTo>
                  <a:lnTo>
                    <a:pt x="239520" y="0"/>
                  </a:lnTo>
                  <a:close/>
                </a:path>
              </a:pathLst>
            </a:custGeom>
            <a:solidFill>
              <a:srgbClr val="A8D5D6"/>
            </a:solidFill>
          </p:spPr>
          <p:txBody>
            <a:bodyPr wrap="square" lIns="0" tIns="0" rIns="0" bIns="0" rtlCol="0"/>
            <a:lstStyle/>
            <a:p>
              <a:endParaRPr/>
            </a:p>
          </p:txBody>
        </p:sp>
        <p:sp>
          <p:nvSpPr>
            <p:cNvPr id="34" name="object 33"/>
            <p:cNvSpPr/>
            <p:nvPr/>
          </p:nvSpPr>
          <p:spPr>
            <a:xfrm>
              <a:off x="4998809" y="4707148"/>
              <a:ext cx="479425" cy="479425"/>
            </a:xfrm>
            <a:custGeom>
              <a:avLst/>
              <a:gdLst/>
              <a:ahLst/>
              <a:cxnLst/>
              <a:rect l="l" t="t" r="r" b="b"/>
              <a:pathLst>
                <a:path w="479425" h="479425">
                  <a:moveTo>
                    <a:pt x="0" y="239521"/>
                  </a:moveTo>
                  <a:lnTo>
                    <a:pt x="4866" y="191249"/>
                  </a:lnTo>
                  <a:lnTo>
                    <a:pt x="18822" y="146288"/>
                  </a:lnTo>
                  <a:lnTo>
                    <a:pt x="40906" y="105602"/>
                  </a:lnTo>
                  <a:lnTo>
                    <a:pt x="70154" y="70154"/>
                  </a:lnTo>
                  <a:lnTo>
                    <a:pt x="105602" y="40906"/>
                  </a:lnTo>
                  <a:lnTo>
                    <a:pt x="146288" y="18822"/>
                  </a:lnTo>
                  <a:lnTo>
                    <a:pt x="191249" y="4866"/>
                  </a:lnTo>
                  <a:lnTo>
                    <a:pt x="239521" y="0"/>
                  </a:lnTo>
                  <a:lnTo>
                    <a:pt x="287792" y="4866"/>
                  </a:lnTo>
                  <a:lnTo>
                    <a:pt x="332753" y="18822"/>
                  </a:lnTo>
                  <a:lnTo>
                    <a:pt x="373439" y="40906"/>
                  </a:lnTo>
                  <a:lnTo>
                    <a:pt x="408887" y="70154"/>
                  </a:lnTo>
                  <a:lnTo>
                    <a:pt x="438135" y="105602"/>
                  </a:lnTo>
                  <a:lnTo>
                    <a:pt x="460219" y="146288"/>
                  </a:lnTo>
                  <a:lnTo>
                    <a:pt x="474175" y="191249"/>
                  </a:lnTo>
                  <a:lnTo>
                    <a:pt x="479041" y="239521"/>
                  </a:lnTo>
                  <a:lnTo>
                    <a:pt x="474175" y="287792"/>
                  </a:lnTo>
                  <a:lnTo>
                    <a:pt x="460219" y="332753"/>
                  </a:lnTo>
                  <a:lnTo>
                    <a:pt x="438135" y="373439"/>
                  </a:lnTo>
                  <a:lnTo>
                    <a:pt x="408887" y="408887"/>
                  </a:lnTo>
                  <a:lnTo>
                    <a:pt x="373439" y="438135"/>
                  </a:lnTo>
                  <a:lnTo>
                    <a:pt x="332753" y="460219"/>
                  </a:lnTo>
                  <a:lnTo>
                    <a:pt x="287792" y="474175"/>
                  </a:lnTo>
                  <a:lnTo>
                    <a:pt x="239521" y="479041"/>
                  </a:lnTo>
                  <a:lnTo>
                    <a:pt x="191249" y="474175"/>
                  </a:lnTo>
                  <a:lnTo>
                    <a:pt x="146288" y="460219"/>
                  </a:lnTo>
                  <a:lnTo>
                    <a:pt x="105602" y="438135"/>
                  </a:lnTo>
                  <a:lnTo>
                    <a:pt x="70154" y="408887"/>
                  </a:lnTo>
                  <a:lnTo>
                    <a:pt x="40906" y="373439"/>
                  </a:lnTo>
                  <a:lnTo>
                    <a:pt x="18822" y="332753"/>
                  </a:lnTo>
                  <a:lnTo>
                    <a:pt x="4866" y="287792"/>
                  </a:lnTo>
                  <a:lnTo>
                    <a:pt x="0" y="239521"/>
                  </a:lnTo>
                  <a:close/>
                </a:path>
              </a:pathLst>
            </a:custGeom>
            <a:ln w="9524">
              <a:solidFill>
                <a:srgbClr val="000000"/>
              </a:solidFill>
            </a:ln>
          </p:spPr>
          <p:txBody>
            <a:bodyPr wrap="square" lIns="0" tIns="0" rIns="0" bIns="0" rtlCol="0"/>
            <a:lstStyle/>
            <a:p>
              <a:endParaRPr/>
            </a:p>
          </p:txBody>
        </p:sp>
        <p:sp>
          <p:nvSpPr>
            <p:cNvPr id="35" name="object 34"/>
            <p:cNvSpPr txBox="1"/>
            <p:nvPr/>
          </p:nvSpPr>
          <p:spPr>
            <a:xfrm>
              <a:off x="5165166" y="4781568"/>
              <a:ext cx="152400"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panose="02020603050405020304"/>
                  <a:cs typeface="Times New Roman" panose="02020603050405020304"/>
                </a:rPr>
                <a:t>8</a:t>
              </a:r>
              <a:endParaRPr sz="2000">
                <a:latin typeface="Times New Roman" panose="02020603050405020304"/>
                <a:cs typeface="Times New Roman" panose="02020603050405020304"/>
              </a:endParaRPr>
            </a:p>
          </p:txBody>
        </p:sp>
        <p:sp>
          <p:nvSpPr>
            <p:cNvPr id="36" name="object 35"/>
            <p:cNvSpPr/>
            <p:nvPr/>
          </p:nvSpPr>
          <p:spPr>
            <a:xfrm>
              <a:off x="4368448" y="1699435"/>
              <a:ext cx="1314450" cy="2490470"/>
            </a:xfrm>
            <a:custGeom>
              <a:avLst/>
              <a:gdLst/>
              <a:ahLst/>
              <a:cxnLst/>
              <a:rect l="l" t="t" r="r" b="b"/>
              <a:pathLst>
                <a:path w="1314450" h="2490470">
                  <a:moveTo>
                    <a:pt x="1314308" y="0"/>
                  </a:moveTo>
                  <a:lnTo>
                    <a:pt x="0" y="0"/>
                  </a:lnTo>
                  <a:lnTo>
                    <a:pt x="0" y="2489880"/>
                  </a:lnTo>
                </a:path>
              </a:pathLst>
            </a:custGeom>
            <a:ln w="9524">
              <a:solidFill>
                <a:srgbClr val="000000"/>
              </a:solidFill>
            </a:ln>
          </p:spPr>
          <p:txBody>
            <a:bodyPr wrap="square" lIns="0" tIns="0" rIns="0" bIns="0" rtlCol="0"/>
            <a:lstStyle/>
            <a:p>
              <a:endParaRPr/>
            </a:p>
          </p:txBody>
        </p:sp>
        <p:sp>
          <p:nvSpPr>
            <p:cNvPr id="37" name="object 36"/>
            <p:cNvSpPr/>
            <p:nvPr/>
          </p:nvSpPr>
          <p:spPr>
            <a:xfrm>
              <a:off x="4309494" y="4098611"/>
              <a:ext cx="117908" cy="115909"/>
            </a:xfrm>
            <a:prstGeom prst="rect">
              <a:avLst/>
            </a:prstGeom>
            <a:blipFill>
              <a:blip r:embed="rId5" cstate="print"/>
              <a:stretch>
                <a:fillRect/>
              </a:stretch>
            </a:blipFill>
          </p:spPr>
          <p:txBody>
            <a:bodyPr wrap="square" lIns="0" tIns="0" rIns="0" bIns="0" rtlCol="0"/>
            <a:lstStyle/>
            <a:p>
              <a:endParaRPr/>
            </a:p>
          </p:txBody>
        </p:sp>
        <p:sp>
          <p:nvSpPr>
            <p:cNvPr id="38" name="object 37"/>
            <p:cNvSpPr/>
            <p:nvPr/>
          </p:nvSpPr>
          <p:spPr>
            <a:xfrm>
              <a:off x="6205768" y="1699434"/>
              <a:ext cx="2875915" cy="2520315"/>
            </a:xfrm>
            <a:custGeom>
              <a:avLst/>
              <a:gdLst/>
              <a:ahLst/>
              <a:cxnLst/>
              <a:rect l="l" t="t" r="r" b="b"/>
              <a:pathLst>
                <a:path w="2875915" h="2520315">
                  <a:moveTo>
                    <a:pt x="0" y="2232634"/>
                  </a:moveTo>
                  <a:lnTo>
                    <a:pt x="0" y="2519907"/>
                  </a:lnTo>
                  <a:lnTo>
                    <a:pt x="2875479" y="2519907"/>
                  </a:lnTo>
                  <a:lnTo>
                    <a:pt x="2875479" y="0"/>
                  </a:lnTo>
                  <a:lnTo>
                    <a:pt x="467151" y="0"/>
                  </a:lnTo>
                </a:path>
              </a:pathLst>
            </a:custGeom>
            <a:ln w="9524">
              <a:solidFill>
                <a:srgbClr val="000000"/>
              </a:solidFill>
            </a:ln>
          </p:spPr>
          <p:txBody>
            <a:bodyPr wrap="square" lIns="0" tIns="0" rIns="0" bIns="0" rtlCol="0"/>
            <a:lstStyle/>
            <a:p>
              <a:endParaRPr/>
            </a:p>
          </p:txBody>
        </p:sp>
        <p:sp>
          <p:nvSpPr>
            <p:cNvPr id="39" name="object 38"/>
            <p:cNvSpPr/>
            <p:nvPr/>
          </p:nvSpPr>
          <p:spPr>
            <a:xfrm>
              <a:off x="6647714" y="1640480"/>
              <a:ext cx="115909" cy="117908"/>
            </a:xfrm>
            <a:prstGeom prst="rect">
              <a:avLst/>
            </a:prstGeom>
            <a:blipFill>
              <a:blip r:embed="rId8" cstate="print"/>
              <a:stretch>
                <a:fillRect/>
              </a:stretch>
            </a:blipFill>
          </p:spPr>
          <p:txBody>
            <a:bodyPr wrap="square" lIns="0" tIns="0" rIns="0" bIns="0" rtlCol="0"/>
            <a:lstStyle/>
            <a:p>
              <a:endParaRPr/>
            </a:p>
          </p:txBody>
        </p:sp>
        <p:sp>
          <p:nvSpPr>
            <p:cNvPr id="40" name="object 39"/>
            <p:cNvSpPr/>
            <p:nvPr/>
          </p:nvSpPr>
          <p:spPr>
            <a:xfrm>
              <a:off x="3580998" y="4467989"/>
              <a:ext cx="305435" cy="225425"/>
            </a:xfrm>
            <a:custGeom>
              <a:avLst/>
              <a:gdLst/>
              <a:ahLst/>
              <a:cxnLst/>
              <a:rect l="l" t="t" r="r" b="b"/>
              <a:pathLst>
                <a:path w="305435" h="225425">
                  <a:moveTo>
                    <a:pt x="304967" y="0"/>
                  </a:moveTo>
                  <a:lnTo>
                    <a:pt x="0" y="0"/>
                  </a:lnTo>
                  <a:lnTo>
                    <a:pt x="0" y="224855"/>
                  </a:lnTo>
                </a:path>
              </a:pathLst>
            </a:custGeom>
            <a:ln w="9524">
              <a:solidFill>
                <a:srgbClr val="000000"/>
              </a:solidFill>
            </a:ln>
          </p:spPr>
          <p:txBody>
            <a:bodyPr wrap="square" lIns="0" tIns="0" rIns="0" bIns="0" rtlCol="0"/>
            <a:lstStyle/>
            <a:p>
              <a:endParaRPr/>
            </a:p>
          </p:txBody>
        </p:sp>
        <p:sp>
          <p:nvSpPr>
            <p:cNvPr id="41" name="object 40"/>
            <p:cNvSpPr/>
            <p:nvPr/>
          </p:nvSpPr>
          <p:spPr>
            <a:xfrm>
              <a:off x="3522045" y="4602139"/>
              <a:ext cx="117908" cy="115909"/>
            </a:xfrm>
            <a:prstGeom prst="rect">
              <a:avLst/>
            </a:prstGeom>
            <a:blipFill>
              <a:blip r:embed="rId9" cstate="print"/>
              <a:stretch>
                <a:fillRect/>
              </a:stretch>
            </a:blipFill>
          </p:spPr>
          <p:txBody>
            <a:bodyPr wrap="square" lIns="0" tIns="0" rIns="0" bIns="0" rtlCol="0"/>
            <a:lstStyle/>
            <a:p>
              <a:endParaRPr/>
            </a:p>
          </p:txBody>
        </p:sp>
        <p:sp>
          <p:nvSpPr>
            <p:cNvPr id="42" name="object 41"/>
            <p:cNvSpPr/>
            <p:nvPr/>
          </p:nvSpPr>
          <p:spPr>
            <a:xfrm>
              <a:off x="4850927" y="4467989"/>
              <a:ext cx="387350" cy="213995"/>
            </a:xfrm>
            <a:custGeom>
              <a:avLst/>
              <a:gdLst/>
              <a:ahLst/>
              <a:cxnLst/>
              <a:rect l="l" t="t" r="r" b="b"/>
              <a:pathLst>
                <a:path w="387350" h="213995">
                  <a:moveTo>
                    <a:pt x="0" y="0"/>
                  </a:moveTo>
                  <a:lnTo>
                    <a:pt x="387349" y="0"/>
                  </a:lnTo>
                  <a:lnTo>
                    <a:pt x="387349" y="213713"/>
                  </a:lnTo>
                </a:path>
              </a:pathLst>
            </a:custGeom>
            <a:ln w="9524">
              <a:solidFill>
                <a:srgbClr val="000000"/>
              </a:solidFill>
            </a:ln>
          </p:spPr>
          <p:txBody>
            <a:bodyPr wrap="square" lIns="0" tIns="0" rIns="0" bIns="0" rtlCol="0"/>
            <a:lstStyle/>
            <a:p>
              <a:endParaRPr/>
            </a:p>
          </p:txBody>
        </p:sp>
        <p:sp>
          <p:nvSpPr>
            <p:cNvPr id="43" name="object 42"/>
            <p:cNvSpPr/>
            <p:nvPr/>
          </p:nvSpPr>
          <p:spPr>
            <a:xfrm>
              <a:off x="5179323" y="4590999"/>
              <a:ext cx="117908" cy="115909"/>
            </a:xfrm>
            <a:prstGeom prst="rect">
              <a:avLst/>
            </a:prstGeom>
            <a:blipFill>
              <a:blip r:embed="rId10" cstate="print"/>
              <a:stretch>
                <a:fillRect/>
              </a:stretch>
            </a:blipFill>
          </p:spPr>
          <p:txBody>
            <a:bodyPr wrap="square" lIns="0" tIns="0" rIns="0" bIns="0" rtlCol="0"/>
            <a:lstStyle/>
            <a:p>
              <a:endParaRPr/>
            </a:p>
          </p:txBody>
        </p:sp>
        <p:sp>
          <p:nvSpPr>
            <p:cNvPr id="44" name="object 43"/>
            <p:cNvSpPr txBox="1"/>
            <p:nvPr/>
          </p:nvSpPr>
          <p:spPr>
            <a:xfrm>
              <a:off x="5906636" y="2016486"/>
              <a:ext cx="16129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T</a:t>
              </a:r>
              <a:endParaRPr sz="1600">
                <a:latin typeface="Times New Roman" panose="02020603050405020304"/>
                <a:cs typeface="Times New Roman" panose="02020603050405020304"/>
              </a:endParaRPr>
            </a:p>
          </p:txBody>
        </p:sp>
        <p:sp>
          <p:nvSpPr>
            <p:cNvPr id="45" name="object 44"/>
            <p:cNvSpPr txBox="1"/>
            <p:nvPr/>
          </p:nvSpPr>
          <p:spPr>
            <a:xfrm>
              <a:off x="5485765" y="1379804"/>
              <a:ext cx="14986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F</a:t>
              </a:r>
              <a:endParaRPr sz="1600">
                <a:latin typeface="Times New Roman" panose="02020603050405020304"/>
                <a:cs typeface="Times New Roman" panose="02020603050405020304"/>
              </a:endParaRPr>
            </a:p>
          </p:txBody>
        </p:sp>
        <p:sp>
          <p:nvSpPr>
            <p:cNvPr id="46" name="object 45"/>
            <p:cNvSpPr txBox="1"/>
            <p:nvPr/>
          </p:nvSpPr>
          <p:spPr>
            <a:xfrm>
              <a:off x="5420885" y="2697324"/>
              <a:ext cx="16129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T</a:t>
              </a:r>
              <a:endParaRPr sz="1600">
                <a:latin typeface="Times New Roman" panose="02020603050405020304"/>
                <a:cs typeface="Times New Roman" panose="02020603050405020304"/>
              </a:endParaRPr>
            </a:p>
          </p:txBody>
        </p:sp>
        <p:sp>
          <p:nvSpPr>
            <p:cNvPr id="47" name="object 46"/>
            <p:cNvSpPr txBox="1"/>
            <p:nvPr/>
          </p:nvSpPr>
          <p:spPr>
            <a:xfrm>
              <a:off x="6697684" y="2696777"/>
              <a:ext cx="14986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F</a:t>
              </a:r>
              <a:endParaRPr sz="1600">
                <a:latin typeface="Times New Roman" panose="02020603050405020304"/>
                <a:cs typeface="Times New Roman" panose="02020603050405020304"/>
              </a:endParaRPr>
            </a:p>
          </p:txBody>
        </p:sp>
        <p:sp>
          <p:nvSpPr>
            <p:cNvPr id="48" name="object 47"/>
            <p:cNvSpPr txBox="1"/>
            <p:nvPr/>
          </p:nvSpPr>
          <p:spPr>
            <a:xfrm>
              <a:off x="3728210" y="4220320"/>
              <a:ext cx="16129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T</a:t>
              </a:r>
              <a:endParaRPr sz="1600">
                <a:latin typeface="Times New Roman" panose="02020603050405020304"/>
                <a:cs typeface="Times New Roman" panose="02020603050405020304"/>
              </a:endParaRPr>
            </a:p>
          </p:txBody>
        </p:sp>
        <p:sp>
          <p:nvSpPr>
            <p:cNvPr id="49" name="object 48"/>
            <p:cNvSpPr txBox="1"/>
            <p:nvPr/>
          </p:nvSpPr>
          <p:spPr>
            <a:xfrm>
              <a:off x="4840368" y="4220320"/>
              <a:ext cx="14986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F</a:t>
              </a:r>
              <a:endParaRPr sz="1600">
                <a:latin typeface="Times New Roman" panose="02020603050405020304"/>
                <a:cs typeface="Times New Roman" panose="02020603050405020304"/>
              </a:endParaRPr>
            </a:p>
          </p:txBody>
        </p:sp>
        <p:sp>
          <p:nvSpPr>
            <p:cNvPr id="50" name="object 49"/>
            <p:cNvSpPr txBox="1"/>
            <p:nvPr/>
          </p:nvSpPr>
          <p:spPr>
            <a:xfrm>
              <a:off x="6231577" y="1094248"/>
              <a:ext cx="2120265" cy="259045"/>
            </a:xfrm>
            <a:prstGeom prst="rect">
              <a:avLst/>
            </a:prstGeom>
          </p:spPr>
          <p:txBody>
            <a:bodyPr vert="horz" wrap="square" lIns="0" tIns="12700"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100"/>
                </a:spcBef>
              </a:pPr>
              <a:r>
                <a:rPr lang="en-US" sz="1600" spc="-5"/>
                <a:t>Covered </a:t>
              </a:r>
              <a:r>
                <a:rPr lang="en-US" sz="1600"/>
                <a:t>by </a:t>
              </a:r>
              <a:r>
                <a:rPr lang="en-US" sz="1600" spc="-5"/>
                <a:t>any</a:t>
              </a:r>
              <a:r>
                <a:rPr lang="en-US" sz="1600" spc="-50"/>
                <a:t> </a:t>
              </a:r>
              <a:r>
                <a:rPr lang="en-US" sz="1600" spc="-5"/>
                <a:t>data</a:t>
              </a:r>
              <a:endParaRPr lang="en-US" sz="1600" spc="-5" dirty="0"/>
            </a:p>
          </p:txBody>
        </p:sp>
        <p:sp>
          <p:nvSpPr>
            <p:cNvPr id="51" name="object 50"/>
            <p:cNvSpPr txBox="1"/>
            <p:nvPr/>
          </p:nvSpPr>
          <p:spPr>
            <a:xfrm>
              <a:off x="1779275" y="1731185"/>
              <a:ext cx="2409825"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panose="02020603050405020304"/>
                  <a:cs typeface="Times New Roman" panose="02020603050405020304"/>
                </a:rPr>
                <a:t>Data set must </a:t>
              </a:r>
              <a:r>
                <a:rPr sz="2000" dirty="0">
                  <a:latin typeface="Times New Roman" panose="02020603050405020304"/>
                  <a:cs typeface="Times New Roman" panose="02020603050405020304"/>
                </a:rPr>
                <a:t>be</a:t>
              </a:r>
              <a:r>
                <a:rPr sz="2000" spc="-55"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empty</a:t>
              </a:r>
              <a:endParaRPr sz="2000">
                <a:latin typeface="Times New Roman" panose="02020603050405020304"/>
                <a:cs typeface="Times New Roman" panose="02020603050405020304"/>
              </a:endParaRPr>
            </a:p>
          </p:txBody>
        </p:sp>
        <p:sp>
          <p:nvSpPr>
            <p:cNvPr id="52" name="object 51"/>
            <p:cNvSpPr txBox="1"/>
            <p:nvPr/>
          </p:nvSpPr>
          <p:spPr>
            <a:xfrm>
              <a:off x="6263968" y="1984272"/>
              <a:ext cx="4038600"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panose="02020603050405020304"/>
                  <a:cs typeface="Times New Roman" panose="02020603050405020304"/>
                </a:rPr>
                <a:t>Data set must contain at least </a:t>
              </a:r>
              <a:r>
                <a:rPr sz="2000" dirty="0">
                  <a:latin typeface="Times New Roman" panose="02020603050405020304"/>
                  <a:cs typeface="Times New Roman" panose="02020603050405020304"/>
                </a:rPr>
                <a:t>one</a:t>
              </a:r>
              <a:r>
                <a:rPr sz="2000" spc="-20"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value</a:t>
              </a:r>
              <a:endParaRPr sz="2000">
                <a:latin typeface="Times New Roman" panose="02020603050405020304"/>
                <a:cs typeface="Times New Roman" panose="02020603050405020304"/>
              </a:endParaRPr>
            </a:p>
          </p:txBody>
        </p:sp>
        <p:sp>
          <p:nvSpPr>
            <p:cNvPr id="53" name="object 52"/>
            <p:cNvSpPr txBox="1"/>
            <p:nvPr/>
          </p:nvSpPr>
          <p:spPr>
            <a:xfrm>
              <a:off x="3570604" y="2607796"/>
              <a:ext cx="1443355"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panose="02020603050405020304"/>
                  <a:cs typeface="Times New Roman" panose="02020603050405020304"/>
                </a:rPr>
                <a:t>Positive</a:t>
              </a:r>
              <a:r>
                <a:rPr sz="2000" spc="-50"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score</a:t>
              </a:r>
              <a:endParaRPr sz="2000">
                <a:latin typeface="Times New Roman" panose="02020603050405020304"/>
                <a:cs typeface="Times New Roman" panose="02020603050405020304"/>
              </a:endParaRPr>
            </a:p>
          </p:txBody>
        </p:sp>
        <p:sp>
          <p:nvSpPr>
            <p:cNvPr id="54" name="object 53"/>
            <p:cNvSpPr txBox="1"/>
            <p:nvPr/>
          </p:nvSpPr>
          <p:spPr>
            <a:xfrm>
              <a:off x="7310330" y="2623638"/>
              <a:ext cx="1541780"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panose="02020603050405020304"/>
                  <a:cs typeface="Times New Roman" panose="02020603050405020304"/>
                </a:rPr>
                <a:t>Negative</a:t>
              </a:r>
              <a:r>
                <a:rPr sz="2000" spc="-55"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score</a:t>
              </a:r>
              <a:endParaRPr sz="2000">
                <a:latin typeface="Times New Roman" panose="02020603050405020304"/>
                <a:cs typeface="Times New Roman" panose="02020603050405020304"/>
              </a:endParaRPr>
            </a:p>
          </p:txBody>
        </p:sp>
        <p:sp>
          <p:nvSpPr>
            <p:cNvPr id="55" name="object 54"/>
            <p:cNvSpPr txBox="1"/>
            <p:nvPr/>
          </p:nvSpPr>
          <p:spPr>
            <a:xfrm>
              <a:off x="1737253" y="4416046"/>
              <a:ext cx="1731010" cy="330200"/>
            </a:xfrm>
            <a:prstGeom prst="rect">
              <a:avLst/>
            </a:prstGeom>
          </p:spPr>
          <p:txBody>
            <a:bodyPr vert="horz" wrap="square" lIns="0" tIns="12700" rIns="0" bIns="0" rtlCol="0">
              <a:spAutoFit/>
            </a:bodyPr>
            <a:lstStyle/>
            <a:p>
              <a:pPr marL="12700">
                <a:lnSpc>
                  <a:spcPct val="100000"/>
                </a:lnSpc>
                <a:spcBef>
                  <a:spcPts val="100"/>
                </a:spcBef>
              </a:pPr>
              <a:r>
                <a:rPr sz="2000" spc="-30" dirty="0">
                  <a:latin typeface="Times New Roman" panose="02020603050405020304"/>
                  <a:cs typeface="Times New Roman" panose="02020603050405020304"/>
                </a:rPr>
                <a:t>Total </a:t>
              </a:r>
              <a:r>
                <a:rPr sz="2000" spc="-5" dirty="0">
                  <a:latin typeface="Times New Roman" panose="02020603050405020304"/>
                  <a:cs typeface="Times New Roman" panose="02020603050405020304"/>
                </a:rPr>
                <a:t>score </a:t>
              </a:r>
              <a:r>
                <a:rPr sz="2000" dirty="0">
                  <a:latin typeface="Times New Roman" panose="02020603050405020304"/>
                  <a:cs typeface="Times New Roman" panose="02020603050405020304"/>
                </a:rPr>
                <a:t>&gt;</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0.0</a:t>
              </a:r>
              <a:endParaRPr sz="2000">
                <a:latin typeface="Times New Roman" panose="02020603050405020304"/>
                <a:cs typeface="Times New Roman" panose="02020603050405020304"/>
              </a:endParaRPr>
            </a:p>
          </p:txBody>
        </p:sp>
        <p:sp>
          <p:nvSpPr>
            <p:cNvPr id="56" name="object 55"/>
            <p:cNvSpPr txBox="1"/>
            <p:nvPr/>
          </p:nvSpPr>
          <p:spPr>
            <a:xfrm>
              <a:off x="5325244" y="4403371"/>
              <a:ext cx="1874520" cy="330200"/>
            </a:xfrm>
            <a:prstGeom prst="rect">
              <a:avLst/>
            </a:prstGeom>
          </p:spPr>
          <p:txBody>
            <a:bodyPr vert="horz" wrap="square" lIns="0" tIns="12700" rIns="0" bIns="0" rtlCol="0">
              <a:spAutoFit/>
            </a:bodyPr>
            <a:lstStyle/>
            <a:p>
              <a:pPr marL="12700">
                <a:lnSpc>
                  <a:spcPct val="100000"/>
                </a:lnSpc>
                <a:spcBef>
                  <a:spcPts val="100"/>
                </a:spcBef>
              </a:pPr>
              <a:r>
                <a:rPr sz="2000" spc="-30" dirty="0">
                  <a:latin typeface="Times New Roman" panose="02020603050405020304"/>
                  <a:cs typeface="Times New Roman" panose="02020603050405020304"/>
                </a:rPr>
                <a:t>Total </a:t>
              </a:r>
              <a:r>
                <a:rPr sz="2000" spc="-5" dirty="0">
                  <a:latin typeface="Times New Roman" panose="02020603050405020304"/>
                  <a:cs typeface="Times New Roman" panose="02020603050405020304"/>
                </a:rPr>
                <a:t>score </a:t>
              </a:r>
              <a:r>
                <a:rPr sz="2000" dirty="0">
                  <a:latin typeface="Times New Roman" panose="02020603050405020304"/>
                  <a:cs typeface="Times New Roman" panose="02020603050405020304"/>
                </a:rPr>
                <a:t>&lt;=</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0.0</a:t>
              </a:r>
              <a:endParaRPr sz="2000">
                <a:latin typeface="Times New Roman" panose="02020603050405020304"/>
                <a:cs typeface="Times New Roman" panose="02020603050405020304"/>
              </a:endParaRPr>
            </a:p>
          </p:txBody>
        </p:sp>
        <p:sp>
          <p:nvSpPr>
            <p:cNvPr id="57" name="object 56"/>
            <p:cNvSpPr/>
            <p:nvPr/>
          </p:nvSpPr>
          <p:spPr>
            <a:xfrm>
              <a:off x="4103071" y="5752584"/>
              <a:ext cx="479425" cy="479425"/>
            </a:xfrm>
            <a:custGeom>
              <a:avLst/>
              <a:gdLst/>
              <a:ahLst/>
              <a:cxnLst/>
              <a:rect l="l" t="t" r="r" b="b"/>
              <a:pathLst>
                <a:path w="479425" h="479425">
                  <a:moveTo>
                    <a:pt x="239520" y="0"/>
                  </a:moveTo>
                  <a:lnTo>
                    <a:pt x="191249" y="4866"/>
                  </a:lnTo>
                  <a:lnTo>
                    <a:pt x="146288" y="18822"/>
                  </a:lnTo>
                  <a:lnTo>
                    <a:pt x="105602" y="40906"/>
                  </a:lnTo>
                  <a:lnTo>
                    <a:pt x="70154" y="70154"/>
                  </a:lnTo>
                  <a:lnTo>
                    <a:pt x="40906" y="105602"/>
                  </a:lnTo>
                  <a:lnTo>
                    <a:pt x="18822" y="146288"/>
                  </a:lnTo>
                  <a:lnTo>
                    <a:pt x="4866" y="191249"/>
                  </a:lnTo>
                  <a:lnTo>
                    <a:pt x="0" y="239520"/>
                  </a:lnTo>
                  <a:lnTo>
                    <a:pt x="4866" y="287792"/>
                  </a:lnTo>
                  <a:lnTo>
                    <a:pt x="18822" y="332753"/>
                  </a:lnTo>
                  <a:lnTo>
                    <a:pt x="40906" y="373439"/>
                  </a:lnTo>
                  <a:lnTo>
                    <a:pt x="70154" y="408887"/>
                  </a:lnTo>
                  <a:lnTo>
                    <a:pt x="105602" y="438135"/>
                  </a:lnTo>
                  <a:lnTo>
                    <a:pt x="146288" y="460219"/>
                  </a:lnTo>
                  <a:lnTo>
                    <a:pt x="191249" y="474175"/>
                  </a:lnTo>
                  <a:lnTo>
                    <a:pt x="239520" y="479041"/>
                  </a:lnTo>
                  <a:lnTo>
                    <a:pt x="287792" y="474175"/>
                  </a:lnTo>
                  <a:lnTo>
                    <a:pt x="332752" y="460219"/>
                  </a:lnTo>
                  <a:lnTo>
                    <a:pt x="373438" y="438135"/>
                  </a:lnTo>
                  <a:lnTo>
                    <a:pt x="408887" y="408887"/>
                  </a:lnTo>
                  <a:lnTo>
                    <a:pt x="438134" y="373439"/>
                  </a:lnTo>
                  <a:lnTo>
                    <a:pt x="460218" y="332753"/>
                  </a:lnTo>
                  <a:lnTo>
                    <a:pt x="474175" y="287792"/>
                  </a:lnTo>
                  <a:lnTo>
                    <a:pt x="479041" y="239520"/>
                  </a:lnTo>
                  <a:lnTo>
                    <a:pt x="474175" y="191249"/>
                  </a:lnTo>
                  <a:lnTo>
                    <a:pt x="460218" y="146288"/>
                  </a:lnTo>
                  <a:lnTo>
                    <a:pt x="438134" y="105602"/>
                  </a:lnTo>
                  <a:lnTo>
                    <a:pt x="408887" y="70154"/>
                  </a:lnTo>
                  <a:lnTo>
                    <a:pt x="373438" y="40906"/>
                  </a:lnTo>
                  <a:lnTo>
                    <a:pt x="332752" y="18822"/>
                  </a:lnTo>
                  <a:lnTo>
                    <a:pt x="287792" y="4866"/>
                  </a:lnTo>
                  <a:lnTo>
                    <a:pt x="239520" y="0"/>
                  </a:lnTo>
                  <a:close/>
                </a:path>
              </a:pathLst>
            </a:custGeom>
            <a:solidFill>
              <a:srgbClr val="A8D5D6"/>
            </a:solidFill>
          </p:spPr>
          <p:txBody>
            <a:bodyPr wrap="square" lIns="0" tIns="0" rIns="0" bIns="0" rtlCol="0"/>
            <a:lstStyle/>
            <a:p>
              <a:endParaRPr/>
            </a:p>
          </p:txBody>
        </p:sp>
        <p:sp>
          <p:nvSpPr>
            <p:cNvPr id="58" name="object 57"/>
            <p:cNvSpPr/>
            <p:nvPr/>
          </p:nvSpPr>
          <p:spPr>
            <a:xfrm>
              <a:off x="4103071" y="5752584"/>
              <a:ext cx="479425" cy="479425"/>
            </a:xfrm>
            <a:custGeom>
              <a:avLst/>
              <a:gdLst/>
              <a:ahLst/>
              <a:cxnLst/>
              <a:rect l="l" t="t" r="r" b="b"/>
              <a:pathLst>
                <a:path w="479425" h="479425">
                  <a:moveTo>
                    <a:pt x="0" y="239520"/>
                  </a:moveTo>
                  <a:lnTo>
                    <a:pt x="4866" y="191249"/>
                  </a:lnTo>
                  <a:lnTo>
                    <a:pt x="18822" y="146288"/>
                  </a:lnTo>
                  <a:lnTo>
                    <a:pt x="40906" y="105602"/>
                  </a:lnTo>
                  <a:lnTo>
                    <a:pt x="70154" y="70154"/>
                  </a:lnTo>
                  <a:lnTo>
                    <a:pt x="105602" y="40906"/>
                  </a:lnTo>
                  <a:lnTo>
                    <a:pt x="146288" y="18822"/>
                  </a:lnTo>
                  <a:lnTo>
                    <a:pt x="191249" y="4866"/>
                  </a:lnTo>
                  <a:lnTo>
                    <a:pt x="239521" y="0"/>
                  </a:lnTo>
                  <a:lnTo>
                    <a:pt x="287792" y="4866"/>
                  </a:lnTo>
                  <a:lnTo>
                    <a:pt x="332753" y="18822"/>
                  </a:lnTo>
                  <a:lnTo>
                    <a:pt x="373439" y="40906"/>
                  </a:lnTo>
                  <a:lnTo>
                    <a:pt x="408887" y="70154"/>
                  </a:lnTo>
                  <a:lnTo>
                    <a:pt x="438135" y="105602"/>
                  </a:lnTo>
                  <a:lnTo>
                    <a:pt x="460219" y="146288"/>
                  </a:lnTo>
                  <a:lnTo>
                    <a:pt x="474175" y="191249"/>
                  </a:lnTo>
                  <a:lnTo>
                    <a:pt x="479041" y="239520"/>
                  </a:lnTo>
                  <a:lnTo>
                    <a:pt x="474175" y="287792"/>
                  </a:lnTo>
                  <a:lnTo>
                    <a:pt x="460219" y="332753"/>
                  </a:lnTo>
                  <a:lnTo>
                    <a:pt x="438135" y="373439"/>
                  </a:lnTo>
                  <a:lnTo>
                    <a:pt x="408887" y="408887"/>
                  </a:lnTo>
                  <a:lnTo>
                    <a:pt x="373439" y="438135"/>
                  </a:lnTo>
                  <a:lnTo>
                    <a:pt x="332753" y="460219"/>
                  </a:lnTo>
                  <a:lnTo>
                    <a:pt x="287792" y="474175"/>
                  </a:lnTo>
                  <a:lnTo>
                    <a:pt x="239521" y="479041"/>
                  </a:lnTo>
                  <a:lnTo>
                    <a:pt x="191249" y="474175"/>
                  </a:lnTo>
                  <a:lnTo>
                    <a:pt x="146288" y="460219"/>
                  </a:lnTo>
                  <a:lnTo>
                    <a:pt x="105602" y="438135"/>
                  </a:lnTo>
                  <a:lnTo>
                    <a:pt x="70154" y="408887"/>
                  </a:lnTo>
                  <a:lnTo>
                    <a:pt x="40906" y="373439"/>
                  </a:lnTo>
                  <a:lnTo>
                    <a:pt x="18822" y="332753"/>
                  </a:lnTo>
                  <a:lnTo>
                    <a:pt x="4866" y="287792"/>
                  </a:lnTo>
                  <a:lnTo>
                    <a:pt x="0" y="239520"/>
                  </a:lnTo>
                  <a:close/>
                </a:path>
              </a:pathLst>
            </a:custGeom>
            <a:ln w="9524">
              <a:solidFill>
                <a:srgbClr val="000000"/>
              </a:solidFill>
            </a:ln>
          </p:spPr>
          <p:txBody>
            <a:bodyPr wrap="square" lIns="0" tIns="0" rIns="0" bIns="0" rtlCol="0"/>
            <a:lstStyle/>
            <a:p>
              <a:endParaRPr/>
            </a:p>
          </p:txBody>
        </p:sp>
        <p:sp>
          <p:nvSpPr>
            <p:cNvPr id="59" name="object 58"/>
            <p:cNvSpPr txBox="1"/>
            <p:nvPr/>
          </p:nvSpPr>
          <p:spPr>
            <a:xfrm>
              <a:off x="4269268" y="5827006"/>
              <a:ext cx="152400"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panose="02020603050405020304"/>
                  <a:cs typeface="Times New Roman" panose="02020603050405020304"/>
                </a:rPr>
                <a:t>9</a:t>
              </a:r>
              <a:endParaRPr sz="2000">
                <a:latin typeface="Times New Roman" panose="02020603050405020304"/>
                <a:cs typeface="Times New Roman" panose="02020603050405020304"/>
              </a:endParaRPr>
            </a:p>
          </p:txBody>
        </p:sp>
        <p:sp>
          <p:nvSpPr>
            <p:cNvPr id="60" name="object 59"/>
            <p:cNvSpPr/>
            <p:nvPr/>
          </p:nvSpPr>
          <p:spPr>
            <a:xfrm>
              <a:off x="3580997" y="5186189"/>
              <a:ext cx="1657350" cy="213995"/>
            </a:xfrm>
            <a:custGeom>
              <a:avLst/>
              <a:gdLst/>
              <a:ahLst/>
              <a:cxnLst/>
              <a:rect l="l" t="t" r="r" b="b"/>
              <a:pathLst>
                <a:path w="1657350" h="213995">
                  <a:moveTo>
                    <a:pt x="0" y="10902"/>
                  </a:moveTo>
                  <a:lnTo>
                    <a:pt x="0" y="213704"/>
                  </a:lnTo>
                  <a:lnTo>
                    <a:pt x="1657331" y="213704"/>
                  </a:lnTo>
                  <a:lnTo>
                    <a:pt x="1657331" y="0"/>
                  </a:lnTo>
                </a:path>
              </a:pathLst>
            </a:custGeom>
            <a:ln w="9524">
              <a:solidFill>
                <a:srgbClr val="000000"/>
              </a:solidFill>
            </a:ln>
          </p:spPr>
          <p:txBody>
            <a:bodyPr wrap="square" lIns="0" tIns="0" rIns="0" bIns="0" rtlCol="0"/>
            <a:lstStyle/>
            <a:p>
              <a:endParaRPr/>
            </a:p>
          </p:txBody>
        </p:sp>
        <p:sp>
          <p:nvSpPr>
            <p:cNvPr id="61" name="object 60"/>
            <p:cNvSpPr/>
            <p:nvPr/>
          </p:nvSpPr>
          <p:spPr>
            <a:xfrm>
              <a:off x="4330421" y="5394346"/>
              <a:ext cx="0" cy="333375"/>
            </a:xfrm>
            <a:custGeom>
              <a:avLst/>
              <a:gdLst/>
              <a:ahLst/>
              <a:cxnLst/>
              <a:rect l="l" t="t" r="r" b="b"/>
              <a:pathLst>
                <a:path h="333375">
                  <a:moveTo>
                    <a:pt x="0" y="0"/>
                  </a:moveTo>
                  <a:lnTo>
                    <a:pt x="0" y="332776"/>
                  </a:lnTo>
                </a:path>
              </a:pathLst>
            </a:custGeom>
            <a:ln w="9524">
              <a:solidFill>
                <a:srgbClr val="000000"/>
              </a:solidFill>
            </a:ln>
          </p:spPr>
          <p:txBody>
            <a:bodyPr wrap="square" lIns="0" tIns="0" rIns="0" bIns="0" rtlCol="0"/>
            <a:lstStyle/>
            <a:p>
              <a:endParaRPr/>
            </a:p>
          </p:txBody>
        </p:sp>
        <p:sp>
          <p:nvSpPr>
            <p:cNvPr id="62" name="object 61"/>
            <p:cNvSpPr/>
            <p:nvPr/>
          </p:nvSpPr>
          <p:spPr>
            <a:xfrm>
              <a:off x="4271467" y="5636418"/>
              <a:ext cx="117908" cy="115908"/>
            </a:xfrm>
            <a:prstGeom prst="rect">
              <a:avLst/>
            </a:prstGeom>
            <a:blipFill>
              <a:blip r:embed="rId11" cstate="print"/>
              <a:stretch>
                <a:fillRect/>
              </a:stretch>
            </a:blipFill>
          </p:spPr>
          <p:txBody>
            <a:bodyPr wrap="square" lIns="0" tIns="0" rIns="0" bIns="0" rtlCol="0"/>
            <a:lstStyle/>
            <a:p>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 name="组合 44"/>
          <p:cNvGrpSpPr/>
          <p:nvPr/>
        </p:nvGrpSpPr>
        <p:grpSpPr>
          <a:xfrm>
            <a:off x="970778" y="1541881"/>
            <a:ext cx="9934767" cy="4841097"/>
            <a:chOff x="1103964" y="1270861"/>
            <a:chExt cx="9934767" cy="4841097"/>
          </a:xfrm>
        </p:grpSpPr>
        <p:sp>
          <p:nvSpPr>
            <p:cNvPr id="3" name="object 3"/>
            <p:cNvSpPr/>
            <p:nvPr/>
          </p:nvSpPr>
          <p:spPr>
            <a:xfrm>
              <a:off x="1103964" y="2045787"/>
              <a:ext cx="1473200" cy="648335"/>
            </a:xfrm>
            <a:custGeom>
              <a:avLst/>
              <a:gdLst/>
              <a:ahLst/>
              <a:cxnLst/>
              <a:rect l="l" t="t" r="r" b="b"/>
              <a:pathLst>
                <a:path w="1473200" h="648335">
                  <a:moveTo>
                    <a:pt x="0" y="0"/>
                  </a:moveTo>
                  <a:lnTo>
                    <a:pt x="1472668" y="0"/>
                  </a:lnTo>
                  <a:lnTo>
                    <a:pt x="1472668" y="647999"/>
                  </a:lnTo>
                  <a:lnTo>
                    <a:pt x="0" y="647999"/>
                  </a:lnTo>
                  <a:lnTo>
                    <a:pt x="0" y="0"/>
                  </a:lnTo>
                  <a:close/>
                </a:path>
              </a:pathLst>
            </a:custGeom>
            <a:ln w="9524">
              <a:solidFill>
                <a:srgbClr val="000000"/>
              </a:solidFill>
            </a:ln>
          </p:spPr>
          <p:txBody>
            <a:bodyPr wrap="square" lIns="0" tIns="0" rIns="0" bIns="0" rtlCol="0"/>
            <a:lstStyle/>
            <a:p>
              <a:endParaRPr/>
            </a:p>
          </p:txBody>
        </p:sp>
        <p:sp>
          <p:nvSpPr>
            <p:cNvPr id="4" name="object 4"/>
            <p:cNvSpPr txBox="1"/>
            <p:nvPr/>
          </p:nvSpPr>
          <p:spPr>
            <a:xfrm>
              <a:off x="1373204" y="2219928"/>
              <a:ext cx="9398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程序单元</a:t>
              </a:r>
              <a:endParaRPr sz="1800">
                <a:latin typeface="微软雅黑" panose="020B0503020204020204" pitchFamily="34" charset="-122"/>
                <a:cs typeface="微软雅黑" panose="020B0503020204020204" pitchFamily="34" charset="-122"/>
              </a:endParaRPr>
            </a:p>
          </p:txBody>
        </p:sp>
        <p:sp>
          <p:nvSpPr>
            <p:cNvPr id="5" name="object 5"/>
            <p:cNvSpPr/>
            <p:nvPr/>
          </p:nvSpPr>
          <p:spPr>
            <a:xfrm>
              <a:off x="1103964" y="1270861"/>
              <a:ext cx="1473200" cy="648335"/>
            </a:xfrm>
            <a:custGeom>
              <a:avLst/>
              <a:gdLst/>
              <a:ahLst/>
              <a:cxnLst/>
              <a:rect l="l" t="t" r="r" b="b"/>
              <a:pathLst>
                <a:path w="1473200" h="648335">
                  <a:moveTo>
                    <a:pt x="0" y="0"/>
                  </a:moveTo>
                  <a:lnTo>
                    <a:pt x="1472668" y="0"/>
                  </a:lnTo>
                  <a:lnTo>
                    <a:pt x="1472668" y="647999"/>
                  </a:lnTo>
                  <a:lnTo>
                    <a:pt x="0" y="647999"/>
                  </a:lnTo>
                  <a:lnTo>
                    <a:pt x="0" y="0"/>
                  </a:lnTo>
                  <a:close/>
                </a:path>
              </a:pathLst>
            </a:custGeom>
            <a:ln w="9524">
              <a:solidFill>
                <a:srgbClr val="000000"/>
              </a:solidFill>
            </a:ln>
          </p:spPr>
          <p:txBody>
            <a:bodyPr wrap="square" lIns="0" tIns="0" rIns="0" bIns="0" rtlCol="0"/>
            <a:lstStyle/>
            <a:p>
              <a:endParaRPr/>
            </a:p>
          </p:txBody>
        </p:sp>
        <p:sp>
          <p:nvSpPr>
            <p:cNvPr id="6" name="object 6"/>
            <p:cNvSpPr txBox="1"/>
            <p:nvPr/>
          </p:nvSpPr>
          <p:spPr>
            <a:xfrm>
              <a:off x="1373204" y="1307841"/>
              <a:ext cx="939800" cy="566420"/>
            </a:xfrm>
            <a:prstGeom prst="rect">
              <a:avLst/>
            </a:prstGeom>
          </p:spPr>
          <p:txBody>
            <a:bodyPr vert="horz" wrap="square" lIns="0" tIns="27939" rIns="0" bIns="0" rtlCol="0">
              <a:spAutoFit/>
            </a:bodyPr>
            <a:lstStyle/>
            <a:p>
              <a:pPr marL="241300" marR="5080" indent="-228600">
                <a:lnSpc>
                  <a:spcPts val="2100"/>
                </a:lnSpc>
                <a:spcBef>
                  <a:spcPts val="220"/>
                </a:spcBef>
              </a:pPr>
              <a:r>
                <a:rPr sz="1800" dirty="0">
                  <a:latin typeface="微软雅黑" panose="020B0503020204020204" pitchFamily="34" charset="-122"/>
                  <a:cs typeface="微软雅黑" panose="020B0503020204020204" pitchFamily="34" charset="-122"/>
                </a:rPr>
                <a:t>路径选择 标准</a:t>
              </a:r>
              <a:endParaRPr sz="1800">
                <a:latin typeface="微软雅黑" panose="020B0503020204020204" pitchFamily="34" charset="-122"/>
                <a:cs typeface="微软雅黑" panose="020B0503020204020204" pitchFamily="34" charset="-122"/>
              </a:endParaRPr>
            </a:p>
          </p:txBody>
        </p:sp>
        <p:sp>
          <p:nvSpPr>
            <p:cNvPr id="7" name="object 7"/>
            <p:cNvSpPr/>
            <p:nvPr/>
          </p:nvSpPr>
          <p:spPr>
            <a:xfrm>
              <a:off x="3101496" y="1793048"/>
              <a:ext cx="1457325" cy="1152525"/>
            </a:xfrm>
            <a:custGeom>
              <a:avLst/>
              <a:gdLst/>
              <a:ahLst/>
              <a:cxnLst/>
              <a:rect l="l" t="t" r="r" b="b"/>
              <a:pathLst>
                <a:path w="1457325" h="1152525">
                  <a:moveTo>
                    <a:pt x="0" y="575999"/>
                  </a:moveTo>
                  <a:lnTo>
                    <a:pt x="1998" y="533012"/>
                  </a:lnTo>
                  <a:lnTo>
                    <a:pt x="7899" y="490882"/>
                  </a:lnTo>
                  <a:lnTo>
                    <a:pt x="17562" y="449722"/>
                  </a:lnTo>
                  <a:lnTo>
                    <a:pt x="30847" y="409643"/>
                  </a:lnTo>
                  <a:lnTo>
                    <a:pt x="47611" y="370756"/>
                  </a:lnTo>
                  <a:lnTo>
                    <a:pt x="67715" y="333172"/>
                  </a:lnTo>
                  <a:lnTo>
                    <a:pt x="91018" y="297004"/>
                  </a:lnTo>
                  <a:lnTo>
                    <a:pt x="117378" y="262361"/>
                  </a:lnTo>
                  <a:lnTo>
                    <a:pt x="146655" y="229357"/>
                  </a:lnTo>
                  <a:lnTo>
                    <a:pt x="178707" y="198101"/>
                  </a:lnTo>
                  <a:lnTo>
                    <a:pt x="213395" y="168706"/>
                  </a:lnTo>
                  <a:lnTo>
                    <a:pt x="250576" y="141283"/>
                  </a:lnTo>
                  <a:lnTo>
                    <a:pt x="290111" y="115942"/>
                  </a:lnTo>
                  <a:lnTo>
                    <a:pt x="331859" y="92797"/>
                  </a:lnTo>
                  <a:lnTo>
                    <a:pt x="375677" y="71957"/>
                  </a:lnTo>
                  <a:lnTo>
                    <a:pt x="421427" y="53534"/>
                  </a:lnTo>
                  <a:lnTo>
                    <a:pt x="468966" y="37641"/>
                  </a:lnTo>
                  <a:lnTo>
                    <a:pt x="518154" y="24387"/>
                  </a:lnTo>
                  <a:lnTo>
                    <a:pt x="568850" y="13884"/>
                  </a:lnTo>
                  <a:lnTo>
                    <a:pt x="620913" y="6245"/>
                  </a:lnTo>
                  <a:lnTo>
                    <a:pt x="674202" y="1579"/>
                  </a:lnTo>
                  <a:lnTo>
                    <a:pt x="728576" y="0"/>
                  </a:lnTo>
                  <a:lnTo>
                    <a:pt x="782951" y="1579"/>
                  </a:lnTo>
                  <a:lnTo>
                    <a:pt x="836240" y="6245"/>
                  </a:lnTo>
                  <a:lnTo>
                    <a:pt x="888303" y="13884"/>
                  </a:lnTo>
                  <a:lnTo>
                    <a:pt x="938999" y="24387"/>
                  </a:lnTo>
                  <a:lnTo>
                    <a:pt x="988187" y="37641"/>
                  </a:lnTo>
                  <a:lnTo>
                    <a:pt x="1035726" y="53534"/>
                  </a:lnTo>
                  <a:lnTo>
                    <a:pt x="1081475" y="71957"/>
                  </a:lnTo>
                  <a:lnTo>
                    <a:pt x="1125294" y="92797"/>
                  </a:lnTo>
                  <a:lnTo>
                    <a:pt x="1167041" y="115942"/>
                  </a:lnTo>
                  <a:lnTo>
                    <a:pt x="1206576" y="141283"/>
                  </a:lnTo>
                  <a:lnTo>
                    <a:pt x="1243758" y="168706"/>
                  </a:lnTo>
                  <a:lnTo>
                    <a:pt x="1278446" y="198101"/>
                  </a:lnTo>
                  <a:lnTo>
                    <a:pt x="1310498" y="229357"/>
                  </a:lnTo>
                  <a:lnTo>
                    <a:pt x="1339775" y="262361"/>
                  </a:lnTo>
                  <a:lnTo>
                    <a:pt x="1366135" y="297004"/>
                  </a:lnTo>
                  <a:lnTo>
                    <a:pt x="1389437" y="333172"/>
                  </a:lnTo>
                  <a:lnTo>
                    <a:pt x="1409541" y="370756"/>
                  </a:lnTo>
                  <a:lnTo>
                    <a:pt x="1426306" y="409643"/>
                  </a:lnTo>
                  <a:lnTo>
                    <a:pt x="1439590" y="449722"/>
                  </a:lnTo>
                  <a:lnTo>
                    <a:pt x="1449253" y="490882"/>
                  </a:lnTo>
                  <a:lnTo>
                    <a:pt x="1455155" y="533012"/>
                  </a:lnTo>
                  <a:lnTo>
                    <a:pt x="1457153" y="575999"/>
                  </a:lnTo>
                  <a:lnTo>
                    <a:pt x="1455155" y="618987"/>
                  </a:lnTo>
                  <a:lnTo>
                    <a:pt x="1449253" y="661116"/>
                  </a:lnTo>
                  <a:lnTo>
                    <a:pt x="1439590" y="702276"/>
                  </a:lnTo>
                  <a:lnTo>
                    <a:pt x="1426306" y="742356"/>
                  </a:lnTo>
                  <a:lnTo>
                    <a:pt x="1409541" y="781243"/>
                  </a:lnTo>
                  <a:lnTo>
                    <a:pt x="1389437" y="818826"/>
                  </a:lnTo>
                  <a:lnTo>
                    <a:pt x="1366135" y="854995"/>
                  </a:lnTo>
                  <a:lnTo>
                    <a:pt x="1339775" y="889637"/>
                  </a:lnTo>
                  <a:lnTo>
                    <a:pt x="1310498" y="922642"/>
                  </a:lnTo>
                  <a:lnTo>
                    <a:pt x="1278446" y="953898"/>
                  </a:lnTo>
                  <a:lnTo>
                    <a:pt x="1243758" y="983293"/>
                  </a:lnTo>
                  <a:lnTo>
                    <a:pt x="1206576" y="1010716"/>
                  </a:lnTo>
                  <a:lnTo>
                    <a:pt x="1167041" y="1036056"/>
                  </a:lnTo>
                  <a:lnTo>
                    <a:pt x="1125294" y="1059202"/>
                  </a:lnTo>
                  <a:lnTo>
                    <a:pt x="1081475" y="1080042"/>
                  </a:lnTo>
                  <a:lnTo>
                    <a:pt x="1035726" y="1098464"/>
                  </a:lnTo>
                  <a:lnTo>
                    <a:pt x="988187" y="1114358"/>
                  </a:lnTo>
                  <a:lnTo>
                    <a:pt x="938999" y="1127612"/>
                  </a:lnTo>
                  <a:lnTo>
                    <a:pt x="888303" y="1138114"/>
                  </a:lnTo>
                  <a:lnTo>
                    <a:pt x="836240" y="1145754"/>
                  </a:lnTo>
                  <a:lnTo>
                    <a:pt x="782951" y="1150419"/>
                  </a:lnTo>
                  <a:lnTo>
                    <a:pt x="728576" y="1151999"/>
                  </a:lnTo>
                  <a:lnTo>
                    <a:pt x="674202" y="1150419"/>
                  </a:lnTo>
                  <a:lnTo>
                    <a:pt x="620913" y="1145754"/>
                  </a:lnTo>
                  <a:lnTo>
                    <a:pt x="568850" y="1138114"/>
                  </a:lnTo>
                  <a:lnTo>
                    <a:pt x="518154" y="1127612"/>
                  </a:lnTo>
                  <a:lnTo>
                    <a:pt x="468966" y="1114358"/>
                  </a:lnTo>
                  <a:lnTo>
                    <a:pt x="421427" y="1098464"/>
                  </a:lnTo>
                  <a:lnTo>
                    <a:pt x="375677" y="1080042"/>
                  </a:lnTo>
                  <a:lnTo>
                    <a:pt x="331859" y="1059202"/>
                  </a:lnTo>
                  <a:lnTo>
                    <a:pt x="290111" y="1036056"/>
                  </a:lnTo>
                  <a:lnTo>
                    <a:pt x="250576" y="1010716"/>
                  </a:lnTo>
                  <a:lnTo>
                    <a:pt x="213395" y="983293"/>
                  </a:lnTo>
                  <a:lnTo>
                    <a:pt x="178707" y="953898"/>
                  </a:lnTo>
                  <a:lnTo>
                    <a:pt x="146655" y="922642"/>
                  </a:lnTo>
                  <a:lnTo>
                    <a:pt x="117378" y="889637"/>
                  </a:lnTo>
                  <a:lnTo>
                    <a:pt x="91018" y="854995"/>
                  </a:lnTo>
                  <a:lnTo>
                    <a:pt x="67715" y="818826"/>
                  </a:lnTo>
                  <a:lnTo>
                    <a:pt x="47611" y="781243"/>
                  </a:lnTo>
                  <a:lnTo>
                    <a:pt x="30847" y="742356"/>
                  </a:lnTo>
                  <a:lnTo>
                    <a:pt x="17562" y="702276"/>
                  </a:lnTo>
                  <a:lnTo>
                    <a:pt x="7899" y="661116"/>
                  </a:lnTo>
                  <a:lnTo>
                    <a:pt x="1998" y="618987"/>
                  </a:lnTo>
                  <a:lnTo>
                    <a:pt x="0" y="575999"/>
                  </a:lnTo>
                  <a:close/>
                </a:path>
              </a:pathLst>
            </a:custGeom>
            <a:ln w="9524">
              <a:solidFill>
                <a:srgbClr val="000000"/>
              </a:solidFill>
            </a:ln>
          </p:spPr>
          <p:txBody>
            <a:bodyPr wrap="square" lIns="0" tIns="0" rIns="0" bIns="0" rtlCol="0"/>
            <a:lstStyle/>
            <a:p>
              <a:endParaRPr/>
            </a:p>
          </p:txBody>
        </p:sp>
        <p:sp>
          <p:nvSpPr>
            <p:cNvPr id="8" name="object 8"/>
            <p:cNvSpPr txBox="1"/>
            <p:nvPr/>
          </p:nvSpPr>
          <p:spPr>
            <a:xfrm>
              <a:off x="3363309" y="2219187"/>
              <a:ext cx="9398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画流程图</a:t>
              </a:r>
              <a:endParaRPr sz="1800">
                <a:latin typeface="微软雅黑" panose="020B0503020204020204" pitchFamily="34" charset="-122"/>
                <a:cs typeface="微软雅黑" panose="020B0503020204020204" pitchFamily="34" charset="-122"/>
              </a:endParaRPr>
            </a:p>
          </p:txBody>
        </p:sp>
        <p:sp>
          <p:nvSpPr>
            <p:cNvPr id="9" name="object 9"/>
            <p:cNvSpPr/>
            <p:nvPr/>
          </p:nvSpPr>
          <p:spPr>
            <a:xfrm>
              <a:off x="7053671" y="1793048"/>
              <a:ext cx="1457325" cy="1152525"/>
            </a:xfrm>
            <a:custGeom>
              <a:avLst/>
              <a:gdLst/>
              <a:ahLst/>
              <a:cxnLst/>
              <a:rect l="l" t="t" r="r" b="b"/>
              <a:pathLst>
                <a:path w="1457325" h="1152525">
                  <a:moveTo>
                    <a:pt x="0" y="575999"/>
                  </a:moveTo>
                  <a:lnTo>
                    <a:pt x="1998" y="533012"/>
                  </a:lnTo>
                  <a:lnTo>
                    <a:pt x="7899" y="490882"/>
                  </a:lnTo>
                  <a:lnTo>
                    <a:pt x="17562" y="449722"/>
                  </a:lnTo>
                  <a:lnTo>
                    <a:pt x="30847" y="409643"/>
                  </a:lnTo>
                  <a:lnTo>
                    <a:pt x="47611" y="370756"/>
                  </a:lnTo>
                  <a:lnTo>
                    <a:pt x="67715" y="333172"/>
                  </a:lnTo>
                  <a:lnTo>
                    <a:pt x="91018" y="297004"/>
                  </a:lnTo>
                  <a:lnTo>
                    <a:pt x="117378" y="262361"/>
                  </a:lnTo>
                  <a:lnTo>
                    <a:pt x="146654" y="229357"/>
                  </a:lnTo>
                  <a:lnTo>
                    <a:pt x="178707" y="198101"/>
                  </a:lnTo>
                  <a:lnTo>
                    <a:pt x="213395" y="168706"/>
                  </a:lnTo>
                  <a:lnTo>
                    <a:pt x="250576" y="141283"/>
                  </a:lnTo>
                  <a:lnTo>
                    <a:pt x="290111" y="115942"/>
                  </a:lnTo>
                  <a:lnTo>
                    <a:pt x="331859" y="92797"/>
                  </a:lnTo>
                  <a:lnTo>
                    <a:pt x="375677" y="71957"/>
                  </a:lnTo>
                  <a:lnTo>
                    <a:pt x="421427" y="53534"/>
                  </a:lnTo>
                  <a:lnTo>
                    <a:pt x="468966" y="37641"/>
                  </a:lnTo>
                  <a:lnTo>
                    <a:pt x="518154" y="24387"/>
                  </a:lnTo>
                  <a:lnTo>
                    <a:pt x="568850" y="13884"/>
                  </a:lnTo>
                  <a:lnTo>
                    <a:pt x="620913" y="6245"/>
                  </a:lnTo>
                  <a:lnTo>
                    <a:pt x="674202" y="1579"/>
                  </a:lnTo>
                  <a:lnTo>
                    <a:pt x="728577" y="0"/>
                  </a:lnTo>
                  <a:lnTo>
                    <a:pt x="782951" y="1579"/>
                  </a:lnTo>
                  <a:lnTo>
                    <a:pt x="836240" y="6245"/>
                  </a:lnTo>
                  <a:lnTo>
                    <a:pt x="888303" y="13884"/>
                  </a:lnTo>
                  <a:lnTo>
                    <a:pt x="938999" y="24387"/>
                  </a:lnTo>
                  <a:lnTo>
                    <a:pt x="988187" y="37641"/>
                  </a:lnTo>
                  <a:lnTo>
                    <a:pt x="1035726" y="53534"/>
                  </a:lnTo>
                  <a:lnTo>
                    <a:pt x="1081475" y="71957"/>
                  </a:lnTo>
                  <a:lnTo>
                    <a:pt x="1125294" y="92797"/>
                  </a:lnTo>
                  <a:lnTo>
                    <a:pt x="1167041" y="115942"/>
                  </a:lnTo>
                  <a:lnTo>
                    <a:pt x="1206576" y="141283"/>
                  </a:lnTo>
                  <a:lnTo>
                    <a:pt x="1243758" y="168706"/>
                  </a:lnTo>
                  <a:lnTo>
                    <a:pt x="1278445" y="198101"/>
                  </a:lnTo>
                  <a:lnTo>
                    <a:pt x="1310498" y="229357"/>
                  </a:lnTo>
                  <a:lnTo>
                    <a:pt x="1339775" y="262361"/>
                  </a:lnTo>
                  <a:lnTo>
                    <a:pt x="1366135" y="297004"/>
                  </a:lnTo>
                  <a:lnTo>
                    <a:pt x="1389437" y="333172"/>
                  </a:lnTo>
                  <a:lnTo>
                    <a:pt x="1409541" y="370756"/>
                  </a:lnTo>
                  <a:lnTo>
                    <a:pt x="1426306" y="409643"/>
                  </a:lnTo>
                  <a:lnTo>
                    <a:pt x="1439590" y="449722"/>
                  </a:lnTo>
                  <a:lnTo>
                    <a:pt x="1449253" y="490882"/>
                  </a:lnTo>
                  <a:lnTo>
                    <a:pt x="1455155" y="533012"/>
                  </a:lnTo>
                  <a:lnTo>
                    <a:pt x="1457153" y="575999"/>
                  </a:lnTo>
                  <a:lnTo>
                    <a:pt x="1455155" y="618987"/>
                  </a:lnTo>
                  <a:lnTo>
                    <a:pt x="1449253" y="661116"/>
                  </a:lnTo>
                  <a:lnTo>
                    <a:pt x="1439590" y="702276"/>
                  </a:lnTo>
                  <a:lnTo>
                    <a:pt x="1426306" y="742356"/>
                  </a:lnTo>
                  <a:lnTo>
                    <a:pt x="1409541" y="781243"/>
                  </a:lnTo>
                  <a:lnTo>
                    <a:pt x="1389437" y="818826"/>
                  </a:lnTo>
                  <a:lnTo>
                    <a:pt x="1366135" y="854995"/>
                  </a:lnTo>
                  <a:lnTo>
                    <a:pt x="1339775" y="889637"/>
                  </a:lnTo>
                  <a:lnTo>
                    <a:pt x="1310498" y="922642"/>
                  </a:lnTo>
                  <a:lnTo>
                    <a:pt x="1278445" y="953898"/>
                  </a:lnTo>
                  <a:lnTo>
                    <a:pt x="1243758" y="983293"/>
                  </a:lnTo>
                  <a:lnTo>
                    <a:pt x="1206576" y="1010716"/>
                  </a:lnTo>
                  <a:lnTo>
                    <a:pt x="1167041" y="1036056"/>
                  </a:lnTo>
                  <a:lnTo>
                    <a:pt x="1125294" y="1059202"/>
                  </a:lnTo>
                  <a:lnTo>
                    <a:pt x="1081475" y="1080042"/>
                  </a:lnTo>
                  <a:lnTo>
                    <a:pt x="1035726" y="1098464"/>
                  </a:lnTo>
                  <a:lnTo>
                    <a:pt x="988187" y="1114358"/>
                  </a:lnTo>
                  <a:lnTo>
                    <a:pt x="938999" y="1127612"/>
                  </a:lnTo>
                  <a:lnTo>
                    <a:pt x="888303" y="1138114"/>
                  </a:lnTo>
                  <a:lnTo>
                    <a:pt x="836240" y="1145754"/>
                  </a:lnTo>
                  <a:lnTo>
                    <a:pt x="782951" y="1150419"/>
                  </a:lnTo>
                  <a:lnTo>
                    <a:pt x="728577" y="1151999"/>
                  </a:lnTo>
                  <a:lnTo>
                    <a:pt x="674202" y="1150419"/>
                  </a:lnTo>
                  <a:lnTo>
                    <a:pt x="620913" y="1145754"/>
                  </a:lnTo>
                  <a:lnTo>
                    <a:pt x="568850" y="1138114"/>
                  </a:lnTo>
                  <a:lnTo>
                    <a:pt x="518154" y="1127612"/>
                  </a:lnTo>
                  <a:lnTo>
                    <a:pt x="468966" y="1114358"/>
                  </a:lnTo>
                  <a:lnTo>
                    <a:pt x="421427" y="1098464"/>
                  </a:lnTo>
                  <a:lnTo>
                    <a:pt x="375677" y="1080042"/>
                  </a:lnTo>
                  <a:lnTo>
                    <a:pt x="331859" y="1059202"/>
                  </a:lnTo>
                  <a:lnTo>
                    <a:pt x="290111" y="1036056"/>
                  </a:lnTo>
                  <a:lnTo>
                    <a:pt x="250576" y="1010716"/>
                  </a:lnTo>
                  <a:lnTo>
                    <a:pt x="213395" y="983293"/>
                  </a:lnTo>
                  <a:lnTo>
                    <a:pt x="178707" y="953898"/>
                  </a:lnTo>
                  <a:lnTo>
                    <a:pt x="146654" y="922642"/>
                  </a:lnTo>
                  <a:lnTo>
                    <a:pt x="117378" y="889637"/>
                  </a:lnTo>
                  <a:lnTo>
                    <a:pt x="91018" y="854995"/>
                  </a:lnTo>
                  <a:lnTo>
                    <a:pt x="67715" y="818826"/>
                  </a:lnTo>
                  <a:lnTo>
                    <a:pt x="47611" y="781243"/>
                  </a:lnTo>
                  <a:lnTo>
                    <a:pt x="30847" y="742356"/>
                  </a:lnTo>
                  <a:lnTo>
                    <a:pt x="17562" y="702276"/>
                  </a:lnTo>
                  <a:lnTo>
                    <a:pt x="7899" y="661116"/>
                  </a:lnTo>
                  <a:lnTo>
                    <a:pt x="1998" y="618987"/>
                  </a:lnTo>
                  <a:lnTo>
                    <a:pt x="0" y="575999"/>
                  </a:lnTo>
                  <a:close/>
                </a:path>
              </a:pathLst>
            </a:custGeom>
            <a:ln w="9524">
              <a:solidFill>
                <a:srgbClr val="000000"/>
              </a:solidFill>
            </a:ln>
          </p:spPr>
          <p:txBody>
            <a:bodyPr wrap="square" lIns="0" tIns="0" rIns="0" bIns="0" rtlCol="0"/>
            <a:lstStyle/>
            <a:p>
              <a:endParaRPr/>
            </a:p>
          </p:txBody>
        </p:sp>
        <p:sp>
          <p:nvSpPr>
            <p:cNvPr id="10" name="object 10"/>
            <p:cNvSpPr txBox="1"/>
            <p:nvPr/>
          </p:nvSpPr>
          <p:spPr>
            <a:xfrm>
              <a:off x="7315484" y="2219187"/>
              <a:ext cx="9398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选择路径</a:t>
              </a:r>
              <a:endParaRPr sz="1800">
                <a:latin typeface="微软雅黑" panose="020B0503020204020204" pitchFamily="34" charset="-122"/>
                <a:cs typeface="微软雅黑" panose="020B0503020204020204" pitchFamily="34" charset="-122"/>
              </a:endParaRPr>
            </a:p>
          </p:txBody>
        </p:sp>
        <p:sp>
          <p:nvSpPr>
            <p:cNvPr id="11" name="object 11"/>
            <p:cNvSpPr txBox="1"/>
            <p:nvPr/>
          </p:nvSpPr>
          <p:spPr>
            <a:xfrm>
              <a:off x="5054608" y="2045787"/>
              <a:ext cx="1473200" cy="648335"/>
            </a:xfrm>
            <a:prstGeom prst="rect">
              <a:avLst/>
            </a:prstGeom>
            <a:ln w="9524">
              <a:solidFill>
                <a:srgbClr val="000000"/>
              </a:solidFill>
            </a:ln>
          </p:spPr>
          <p:txBody>
            <a:bodyPr vert="horz" wrap="square" lIns="0" tIns="186690" rIns="0" bIns="0" rtlCol="0">
              <a:spAutoFit/>
            </a:bodyPr>
            <a:lstStyle/>
            <a:p>
              <a:pPr marL="281305">
                <a:lnSpc>
                  <a:spcPct val="100000"/>
                </a:lnSpc>
                <a:spcBef>
                  <a:spcPts val="1470"/>
                </a:spcBef>
              </a:pPr>
              <a:r>
                <a:rPr sz="1800" dirty="0">
                  <a:latin typeface="微软雅黑" panose="020B0503020204020204" pitchFamily="34" charset="-122"/>
                  <a:cs typeface="微软雅黑" panose="020B0503020204020204" pitchFamily="34" charset="-122"/>
                </a:rPr>
                <a:t>控制流图</a:t>
              </a:r>
            </a:p>
          </p:txBody>
        </p:sp>
        <p:sp>
          <p:nvSpPr>
            <p:cNvPr id="12" name="object 12"/>
            <p:cNvSpPr txBox="1"/>
            <p:nvPr/>
          </p:nvSpPr>
          <p:spPr>
            <a:xfrm>
              <a:off x="9017304" y="2045787"/>
              <a:ext cx="1473200" cy="648335"/>
            </a:xfrm>
            <a:prstGeom prst="rect">
              <a:avLst/>
            </a:prstGeom>
            <a:ln w="9524">
              <a:solidFill>
                <a:srgbClr val="000000"/>
              </a:solidFill>
            </a:ln>
          </p:spPr>
          <p:txBody>
            <a:bodyPr vert="horz" wrap="square" lIns="0" tIns="64769" rIns="0" bIns="0" rtlCol="0">
              <a:spAutoFit/>
            </a:bodyPr>
            <a:lstStyle/>
            <a:p>
              <a:pPr marL="509905" marR="268605" indent="-228600">
                <a:lnSpc>
                  <a:spcPts val="2100"/>
                </a:lnSpc>
                <a:spcBef>
                  <a:spcPts val="510"/>
                </a:spcBef>
              </a:pPr>
              <a:r>
                <a:rPr sz="1800" dirty="0">
                  <a:latin typeface="微软雅黑" panose="020B0503020204020204" pitchFamily="34" charset="-122"/>
                  <a:cs typeface="微软雅黑" panose="020B0503020204020204" pitchFamily="34" charset="-122"/>
                </a:rPr>
                <a:t>所选择的 路径</a:t>
              </a:r>
              <a:endParaRPr sz="1800">
                <a:latin typeface="微软雅黑" panose="020B0503020204020204" pitchFamily="34" charset="-122"/>
                <a:cs typeface="微软雅黑" panose="020B0503020204020204" pitchFamily="34" charset="-122"/>
              </a:endParaRPr>
            </a:p>
          </p:txBody>
        </p:sp>
        <p:sp>
          <p:nvSpPr>
            <p:cNvPr id="13" name="object 13"/>
            <p:cNvSpPr/>
            <p:nvPr/>
          </p:nvSpPr>
          <p:spPr>
            <a:xfrm>
              <a:off x="9026796" y="2854243"/>
              <a:ext cx="1457325" cy="1152525"/>
            </a:xfrm>
            <a:custGeom>
              <a:avLst/>
              <a:gdLst/>
              <a:ahLst/>
              <a:cxnLst/>
              <a:rect l="l" t="t" r="r" b="b"/>
              <a:pathLst>
                <a:path w="1457325" h="1152525">
                  <a:moveTo>
                    <a:pt x="0" y="575999"/>
                  </a:moveTo>
                  <a:lnTo>
                    <a:pt x="1998" y="533012"/>
                  </a:lnTo>
                  <a:lnTo>
                    <a:pt x="7899" y="490882"/>
                  </a:lnTo>
                  <a:lnTo>
                    <a:pt x="17562" y="449722"/>
                  </a:lnTo>
                  <a:lnTo>
                    <a:pt x="30847" y="409643"/>
                  </a:lnTo>
                  <a:lnTo>
                    <a:pt x="47611" y="370756"/>
                  </a:lnTo>
                  <a:lnTo>
                    <a:pt x="67715" y="333172"/>
                  </a:lnTo>
                  <a:lnTo>
                    <a:pt x="91018" y="297004"/>
                  </a:lnTo>
                  <a:lnTo>
                    <a:pt x="117378" y="262361"/>
                  </a:lnTo>
                  <a:lnTo>
                    <a:pt x="146654" y="229357"/>
                  </a:lnTo>
                  <a:lnTo>
                    <a:pt x="178707" y="198101"/>
                  </a:lnTo>
                  <a:lnTo>
                    <a:pt x="213395" y="168706"/>
                  </a:lnTo>
                  <a:lnTo>
                    <a:pt x="250576" y="141283"/>
                  </a:lnTo>
                  <a:lnTo>
                    <a:pt x="290111" y="115942"/>
                  </a:lnTo>
                  <a:lnTo>
                    <a:pt x="331859" y="92797"/>
                  </a:lnTo>
                  <a:lnTo>
                    <a:pt x="375677" y="71957"/>
                  </a:lnTo>
                  <a:lnTo>
                    <a:pt x="421427" y="53534"/>
                  </a:lnTo>
                  <a:lnTo>
                    <a:pt x="468966" y="37641"/>
                  </a:lnTo>
                  <a:lnTo>
                    <a:pt x="518154" y="24387"/>
                  </a:lnTo>
                  <a:lnTo>
                    <a:pt x="568850" y="13884"/>
                  </a:lnTo>
                  <a:lnTo>
                    <a:pt x="620913" y="6245"/>
                  </a:lnTo>
                  <a:lnTo>
                    <a:pt x="674202" y="1579"/>
                  </a:lnTo>
                  <a:lnTo>
                    <a:pt x="728577" y="0"/>
                  </a:lnTo>
                  <a:lnTo>
                    <a:pt x="782951" y="1579"/>
                  </a:lnTo>
                  <a:lnTo>
                    <a:pt x="836240" y="6245"/>
                  </a:lnTo>
                  <a:lnTo>
                    <a:pt x="888303" y="13884"/>
                  </a:lnTo>
                  <a:lnTo>
                    <a:pt x="938999" y="24387"/>
                  </a:lnTo>
                  <a:lnTo>
                    <a:pt x="988187" y="37641"/>
                  </a:lnTo>
                  <a:lnTo>
                    <a:pt x="1035726" y="53534"/>
                  </a:lnTo>
                  <a:lnTo>
                    <a:pt x="1081476" y="71957"/>
                  </a:lnTo>
                  <a:lnTo>
                    <a:pt x="1125294" y="92797"/>
                  </a:lnTo>
                  <a:lnTo>
                    <a:pt x="1167042" y="115942"/>
                  </a:lnTo>
                  <a:lnTo>
                    <a:pt x="1206577" y="141283"/>
                  </a:lnTo>
                  <a:lnTo>
                    <a:pt x="1243758" y="168706"/>
                  </a:lnTo>
                  <a:lnTo>
                    <a:pt x="1278446" y="198101"/>
                  </a:lnTo>
                  <a:lnTo>
                    <a:pt x="1310498" y="229357"/>
                  </a:lnTo>
                  <a:lnTo>
                    <a:pt x="1339775" y="262361"/>
                  </a:lnTo>
                  <a:lnTo>
                    <a:pt x="1366135" y="297004"/>
                  </a:lnTo>
                  <a:lnTo>
                    <a:pt x="1389438" y="333172"/>
                  </a:lnTo>
                  <a:lnTo>
                    <a:pt x="1409542" y="370756"/>
                  </a:lnTo>
                  <a:lnTo>
                    <a:pt x="1426306" y="409643"/>
                  </a:lnTo>
                  <a:lnTo>
                    <a:pt x="1439591" y="449722"/>
                  </a:lnTo>
                  <a:lnTo>
                    <a:pt x="1449254" y="490882"/>
                  </a:lnTo>
                  <a:lnTo>
                    <a:pt x="1455155" y="533012"/>
                  </a:lnTo>
                  <a:lnTo>
                    <a:pt x="1457153" y="575999"/>
                  </a:lnTo>
                  <a:lnTo>
                    <a:pt x="1455155" y="618987"/>
                  </a:lnTo>
                  <a:lnTo>
                    <a:pt x="1449254" y="661116"/>
                  </a:lnTo>
                  <a:lnTo>
                    <a:pt x="1439591" y="702276"/>
                  </a:lnTo>
                  <a:lnTo>
                    <a:pt x="1426306" y="742356"/>
                  </a:lnTo>
                  <a:lnTo>
                    <a:pt x="1409542" y="781243"/>
                  </a:lnTo>
                  <a:lnTo>
                    <a:pt x="1389438" y="818826"/>
                  </a:lnTo>
                  <a:lnTo>
                    <a:pt x="1366135" y="854995"/>
                  </a:lnTo>
                  <a:lnTo>
                    <a:pt x="1339775" y="889637"/>
                  </a:lnTo>
                  <a:lnTo>
                    <a:pt x="1310498" y="922642"/>
                  </a:lnTo>
                  <a:lnTo>
                    <a:pt x="1278446" y="953897"/>
                  </a:lnTo>
                  <a:lnTo>
                    <a:pt x="1243758" y="983293"/>
                  </a:lnTo>
                  <a:lnTo>
                    <a:pt x="1206577" y="1010716"/>
                  </a:lnTo>
                  <a:lnTo>
                    <a:pt x="1167042" y="1036056"/>
                  </a:lnTo>
                  <a:lnTo>
                    <a:pt x="1125294" y="1059202"/>
                  </a:lnTo>
                  <a:lnTo>
                    <a:pt x="1081476" y="1080042"/>
                  </a:lnTo>
                  <a:lnTo>
                    <a:pt x="1035726" y="1098464"/>
                  </a:lnTo>
                  <a:lnTo>
                    <a:pt x="988187" y="1114358"/>
                  </a:lnTo>
                  <a:lnTo>
                    <a:pt x="938999" y="1127612"/>
                  </a:lnTo>
                  <a:lnTo>
                    <a:pt x="888303" y="1138114"/>
                  </a:lnTo>
                  <a:lnTo>
                    <a:pt x="836240" y="1145754"/>
                  </a:lnTo>
                  <a:lnTo>
                    <a:pt x="782951" y="1150419"/>
                  </a:lnTo>
                  <a:lnTo>
                    <a:pt x="728577" y="1151999"/>
                  </a:lnTo>
                  <a:lnTo>
                    <a:pt x="674202" y="1150419"/>
                  </a:lnTo>
                  <a:lnTo>
                    <a:pt x="620913" y="1145754"/>
                  </a:lnTo>
                  <a:lnTo>
                    <a:pt x="568850" y="1138114"/>
                  </a:lnTo>
                  <a:lnTo>
                    <a:pt x="518154" y="1127612"/>
                  </a:lnTo>
                  <a:lnTo>
                    <a:pt x="468966" y="1114358"/>
                  </a:lnTo>
                  <a:lnTo>
                    <a:pt x="421427" y="1098464"/>
                  </a:lnTo>
                  <a:lnTo>
                    <a:pt x="375677" y="1080042"/>
                  </a:lnTo>
                  <a:lnTo>
                    <a:pt x="331859" y="1059202"/>
                  </a:lnTo>
                  <a:lnTo>
                    <a:pt x="290111" y="1036056"/>
                  </a:lnTo>
                  <a:lnTo>
                    <a:pt x="250576" y="1010716"/>
                  </a:lnTo>
                  <a:lnTo>
                    <a:pt x="213395" y="983293"/>
                  </a:lnTo>
                  <a:lnTo>
                    <a:pt x="178707" y="953897"/>
                  </a:lnTo>
                  <a:lnTo>
                    <a:pt x="146654" y="922642"/>
                  </a:lnTo>
                  <a:lnTo>
                    <a:pt x="117378" y="889637"/>
                  </a:lnTo>
                  <a:lnTo>
                    <a:pt x="91018" y="854995"/>
                  </a:lnTo>
                  <a:lnTo>
                    <a:pt x="67715" y="818826"/>
                  </a:lnTo>
                  <a:lnTo>
                    <a:pt x="47611" y="781243"/>
                  </a:lnTo>
                  <a:lnTo>
                    <a:pt x="30847" y="742356"/>
                  </a:lnTo>
                  <a:lnTo>
                    <a:pt x="17562" y="702276"/>
                  </a:lnTo>
                  <a:lnTo>
                    <a:pt x="7899" y="661116"/>
                  </a:lnTo>
                  <a:lnTo>
                    <a:pt x="1998" y="618987"/>
                  </a:lnTo>
                  <a:lnTo>
                    <a:pt x="0" y="575999"/>
                  </a:lnTo>
                  <a:close/>
                </a:path>
              </a:pathLst>
            </a:custGeom>
            <a:ln w="9524">
              <a:solidFill>
                <a:srgbClr val="000000"/>
              </a:solidFill>
            </a:ln>
          </p:spPr>
          <p:txBody>
            <a:bodyPr wrap="square" lIns="0" tIns="0" rIns="0" bIns="0" rtlCol="0"/>
            <a:lstStyle/>
            <a:p>
              <a:endParaRPr/>
            </a:p>
          </p:txBody>
        </p:sp>
        <p:sp>
          <p:nvSpPr>
            <p:cNvPr id="14" name="object 14"/>
            <p:cNvSpPr txBox="1"/>
            <p:nvPr/>
          </p:nvSpPr>
          <p:spPr>
            <a:xfrm>
              <a:off x="9288610" y="3143223"/>
              <a:ext cx="939800" cy="566420"/>
            </a:xfrm>
            <a:prstGeom prst="rect">
              <a:avLst/>
            </a:prstGeom>
          </p:spPr>
          <p:txBody>
            <a:bodyPr vert="horz" wrap="square" lIns="0" tIns="27939" rIns="0" bIns="0" rtlCol="0">
              <a:spAutoFit/>
            </a:bodyPr>
            <a:lstStyle/>
            <a:p>
              <a:pPr marL="12700" marR="5080">
                <a:lnSpc>
                  <a:spcPts val="2100"/>
                </a:lnSpc>
                <a:spcBef>
                  <a:spcPts val="220"/>
                </a:spcBef>
              </a:pPr>
              <a:r>
                <a:rPr sz="1800" dirty="0">
                  <a:latin typeface="微软雅黑" panose="020B0503020204020204" pitchFamily="34" charset="-122"/>
                  <a:cs typeface="微软雅黑" panose="020B0503020204020204" pitchFamily="34" charset="-122"/>
                </a:rPr>
                <a:t>生成测试 输入数据</a:t>
              </a:r>
              <a:endParaRPr sz="1800">
                <a:latin typeface="微软雅黑" panose="020B0503020204020204" pitchFamily="34" charset="-122"/>
                <a:cs typeface="微软雅黑" panose="020B0503020204020204" pitchFamily="34" charset="-122"/>
              </a:endParaRPr>
            </a:p>
          </p:txBody>
        </p:sp>
        <p:sp>
          <p:nvSpPr>
            <p:cNvPr id="15" name="object 15"/>
            <p:cNvSpPr/>
            <p:nvPr/>
          </p:nvSpPr>
          <p:spPr>
            <a:xfrm>
              <a:off x="8639054" y="4153556"/>
              <a:ext cx="2232025" cy="1069975"/>
            </a:xfrm>
            <a:custGeom>
              <a:avLst/>
              <a:gdLst/>
              <a:ahLst/>
              <a:cxnLst/>
              <a:rect l="l" t="t" r="r" b="b"/>
              <a:pathLst>
                <a:path w="2232025" h="1069975">
                  <a:moveTo>
                    <a:pt x="0" y="534690"/>
                  </a:moveTo>
                  <a:lnTo>
                    <a:pt x="1115798" y="0"/>
                  </a:lnTo>
                  <a:lnTo>
                    <a:pt x="2231596" y="534690"/>
                  </a:lnTo>
                  <a:lnTo>
                    <a:pt x="1115798" y="1069381"/>
                  </a:lnTo>
                  <a:lnTo>
                    <a:pt x="0" y="534690"/>
                  </a:lnTo>
                  <a:close/>
                </a:path>
              </a:pathLst>
            </a:custGeom>
            <a:ln w="9524">
              <a:solidFill>
                <a:srgbClr val="000000"/>
              </a:solidFill>
            </a:ln>
          </p:spPr>
          <p:txBody>
            <a:bodyPr wrap="square" lIns="0" tIns="0" rIns="0" bIns="0" rtlCol="0"/>
            <a:lstStyle/>
            <a:p>
              <a:endParaRPr/>
            </a:p>
          </p:txBody>
        </p:sp>
        <p:sp>
          <p:nvSpPr>
            <p:cNvPr id="16" name="object 16"/>
            <p:cNvSpPr/>
            <p:nvPr/>
          </p:nvSpPr>
          <p:spPr>
            <a:xfrm>
              <a:off x="9021893" y="5463623"/>
              <a:ext cx="1473200" cy="648335"/>
            </a:xfrm>
            <a:custGeom>
              <a:avLst/>
              <a:gdLst/>
              <a:ahLst/>
              <a:cxnLst/>
              <a:rect l="l" t="t" r="r" b="b"/>
              <a:pathLst>
                <a:path w="1473200" h="648335">
                  <a:moveTo>
                    <a:pt x="0" y="0"/>
                  </a:moveTo>
                  <a:lnTo>
                    <a:pt x="1472668" y="0"/>
                  </a:lnTo>
                  <a:lnTo>
                    <a:pt x="1472668" y="647999"/>
                  </a:lnTo>
                  <a:lnTo>
                    <a:pt x="0" y="647999"/>
                  </a:lnTo>
                  <a:lnTo>
                    <a:pt x="0" y="0"/>
                  </a:lnTo>
                  <a:close/>
                </a:path>
              </a:pathLst>
            </a:custGeom>
            <a:ln w="9524">
              <a:solidFill>
                <a:srgbClr val="000000"/>
              </a:solidFill>
            </a:ln>
          </p:spPr>
          <p:txBody>
            <a:bodyPr wrap="square" lIns="0" tIns="0" rIns="0" bIns="0" rtlCol="0"/>
            <a:lstStyle/>
            <a:p>
              <a:endParaRPr/>
            </a:p>
          </p:txBody>
        </p:sp>
        <p:sp>
          <p:nvSpPr>
            <p:cNvPr id="17" name="object 17"/>
            <p:cNvSpPr txBox="1"/>
            <p:nvPr/>
          </p:nvSpPr>
          <p:spPr>
            <a:xfrm>
              <a:off x="9291132" y="5500603"/>
              <a:ext cx="939800" cy="566420"/>
            </a:xfrm>
            <a:prstGeom prst="rect">
              <a:avLst/>
            </a:prstGeom>
          </p:spPr>
          <p:txBody>
            <a:bodyPr vert="horz" wrap="square" lIns="0" tIns="27940" rIns="0" bIns="0" rtlCol="0">
              <a:spAutoFit/>
            </a:bodyPr>
            <a:lstStyle/>
            <a:p>
              <a:pPr marL="12700" marR="5080" indent="228600">
                <a:lnSpc>
                  <a:spcPts val="2100"/>
                </a:lnSpc>
                <a:spcBef>
                  <a:spcPts val="220"/>
                </a:spcBef>
              </a:pPr>
              <a:r>
                <a:rPr sz="1800" dirty="0">
                  <a:latin typeface="微软雅黑" panose="020B0503020204020204" pitchFamily="34" charset="-122"/>
                  <a:cs typeface="微软雅黑" panose="020B0503020204020204" pitchFamily="34" charset="-122"/>
                </a:rPr>
                <a:t>测试 输入数据</a:t>
              </a:r>
              <a:endParaRPr sz="1800">
                <a:latin typeface="微软雅黑" panose="020B0503020204020204" pitchFamily="34" charset="-122"/>
                <a:cs typeface="微软雅黑" panose="020B0503020204020204" pitchFamily="34" charset="-122"/>
              </a:endParaRPr>
            </a:p>
          </p:txBody>
        </p:sp>
        <p:sp>
          <p:nvSpPr>
            <p:cNvPr id="18" name="object 18"/>
            <p:cNvSpPr/>
            <p:nvPr/>
          </p:nvSpPr>
          <p:spPr>
            <a:xfrm>
              <a:off x="2576633" y="2369031"/>
              <a:ext cx="499745" cy="1270"/>
            </a:xfrm>
            <a:custGeom>
              <a:avLst/>
              <a:gdLst/>
              <a:ahLst/>
              <a:cxnLst/>
              <a:rect l="l" t="t" r="r" b="b"/>
              <a:pathLst>
                <a:path w="499744" h="1269">
                  <a:moveTo>
                    <a:pt x="0" y="755"/>
                  </a:moveTo>
                  <a:lnTo>
                    <a:pt x="499268" y="0"/>
                  </a:lnTo>
                </a:path>
              </a:pathLst>
            </a:custGeom>
            <a:ln w="9524">
              <a:solidFill>
                <a:srgbClr val="000000"/>
              </a:solidFill>
            </a:ln>
          </p:spPr>
          <p:txBody>
            <a:bodyPr wrap="square" lIns="0" tIns="0" rIns="0" bIns="0" rtlCol="0"/>
            <a:lstStyle/>
            <a:p>
              <a:endParaRPr/>
            </a:p>
          </p:txBody>
        </p:sp>
        <p:sp>
          <p:nvSpPr>
            <p:cNvPr id="19" name="object 19"/>
            <p:cNvSpPr/>
            <p:nvPr/>
          </p:nvSpPr>
          <p:spPr>
            <a:xfrm>
              <a:off x="3025044" y="2331008"/>
              <a:ext cx="76835" cy="76200"/>
            </a:xfrm>
            <a:custGeom>
              <a:avLst/>
              <a:gdLst/>
              <a:ahLst/>
              <a:cxnLst/>
              <a:rect l="l" t="t" r="r" b="b"/>
              <a:pathLst>
                <a:path w="76835" h="76200">
                  <a:moveTo>
                    <a:pt x="0" y="0"/>
                  </a:moveTo>
                  <a:lnTo>
                    <a:pt x="115" y="76200"/>
                  </a:lnTo>
                  <a:lnTo>
                    <a:pt x="76257" y="37984"/>
                  </a:lnTo>
                  <a:lnTo>
                    <a:pt x="0" y="0"/>
                  </a:lnTo>
                  <a:close/>
                </a:path>
              </a:pathLst>
            </a:custGeom>
            <a:solidFill>
              <a:srgbClr val="000000"/>
            </a:solidFill>
          </p:spPr>
          <p:txBody>
            <a:bodyPr wrap="square" lIns="0" tIns="0" rIns="0" bIns="0" rtlCol="0"/>
            <a:lstStyle/>
            <a:p>
              <a:endParaRPr/>
            </a:p>
          </p:txBody>
        </p:sp>
        <p:sp>
          <p:nvSpPr>
            <p:cNvPr id="20" name="object 20"/>
            <p:cNvSpPr/>
            <p:nvPr/>
          </p:nvSpPr>
          <p:spPr>
            <a:xfrm>
              <a:off x="4558648" y="2369048"/>
              <a:ext cx="471170" cy="1270"/>
            </a:xfrm>
            <a:custGeom>
              <a:avLst/>
              <a:gdLst/>
              <a:ahLst/>
              <a:cxnLst/>
              <a:rect l="l" t="t" r="r" b="b"/>
              <a:pathLst>
                <a:path w="471170" h="1269">
                  <a:moveTo>
                    <a:pt x="0" y="0"/>
                  </a:moveTo>
                  <a:lnTo>
                    <a:pt x="470693" y="753"/>
                  </a:lnTo>
                </a:path>
              </a:pathLst>
            </a:custGeom>
            <a:ln w="9524">
              <a:solidFill>
                <a:srgbClr val="000000"/>
              </a:solidFill>
            </a:ln>
          </p:spPr>
          <p:txBody>
            <a:bodyPr wrap="square" lIns="0" tIns="0" rIns="0" bIns="0" rtlCol="0"/>
            <a:lstStyle/>
            <a:p>
              <a:endParaRPr/>
            </a:p>
          </p:txBody>
        </p:sp>
        <p:sp>
          <p:nvSpPr>
            <p:cNvPr id="21" name="object 21"/>
            <p:cNvSpPr/>
            <p:nvPr/>
          </p:nvSpPr>
          <p:spPr>
            <a:xfrm>
              <a:off x="4978481" y="2331619"/>
              <a:ext cx="76835" cy="76200"/>
            </a:xfrm>
            <a:custGeom>
              <a:avLst/>
              <a:gdLst/>
              <a:ahLst/>
              <a:cxnLst/>
              <a:rect l="l" t="t" r="r" b="b"/>
              <a:pathLst>
                <a:path w="76835" h="76200">
                  <a:moveTo>
                    <a:pt x="121" y="0"/>
                  </a:moveTo>
                  <a:lnTo>
                    <a:pt x="0" y="76200"/>
                  </a:lnTo>
                  <a:lnTo>
                    <a:pt x="76260" y="38221"/>
                  </a:lnTo>
                  <a:lnTo>
                    <a:pt x="121" y="0"/>
                  </a:lnTo>
                  <a:close/>
                </a:path>
              </a:pathLst>
            </a:custGeom>
            <a:solidFill>
              <a:srgbClr val="000000"/>
            </a:solidFill>
          </p:spPr>
          <p:txBody>
            <a:bodyPr wrap="square" lIns="0" tIns="0" rIns="0" bIns="0" rtlCol="0"/>
            <a:lstStyle/>
            <a:p>
              <a:endParaRPr/>
            </a:p>
          </p:txBody>
        </p:sp>
        <p:sp>
          <p:nvSpPr>
            <p:cNvPr id="22" name="object 22"/>
            <p:cNvSpPr/>
            <p:nvPr/>
          </p:nvSpPr>
          <p:spPr>
            <a:xfrm>
              <a:off x="6527277" y="2369031"/>
              <a:ext cx="501015" cy="1270"/>
            </a:xfrm>
            <a:custGeom>
              <a:avLst/>
              <a:gdLst/>
              <a:ahLst/>
              <a:cxnLst/>
              <a:rect l="l" t="t" r="r" b="b"/>
              <a:pathLst>
                <a:path w="501015" h="1269">
                  <a:moveTo>
                    <a:pt x="0" y="755"/>
                  </a:moveTo>
                  <a:lnTo>
                    <a:pt x="500856" y="0"/>
                  </a:lnTo>
                </a:path>
              </a:pathLst>
            </a:custGeom>
            <a:ln w="9524">
              <a:solidFill>
                <a:srgbClr val="000000"/>
              </a:solidFill>
            </a:ln>
          </p:spPr>
          <p:txBody>
            <a:bodyPr wrap="square" lIns="0" tIns="0" rIns="0" bIns="0" rtlCol="0"/>
            <a:lstStyle/>
            <a:p>
              <a:endParaRPr/>
            </a:p>
          </p:txBody>
        </p:sp>
        <p:sp>
          <p:nvSpPr>
            <p:cNvPr id="23" name="object 23"/>
            <p:cNvSpPr/>
            <p:nvPr/>
          </p:nvSpPr>
          <p:spPr>
            <a:xfrm>
              <a:off x="6977277" y="2331008"/>
              <a:ext cx="76835" cy="76200"/>
            </a:xfrm>
            <a:custGeom>
              <a:avLst/>
              <a:gdLst/>
              <a:ahLst/>
              <a:cxnLst/>
              <a:rect l="l" t="t" r="r" b="b"/>
              <a:pathLst>
                <a:path w="76834" h="76200">
                  <a:moveTo>
                    <a:pt x="0" y="0"/>
                  </a:moveTo>
                  <a:lnTo>
                    <a:pt x="114" y="76200"/>
                  </a:lnTo>
                  <a:lnTo>
                    <a:pt x="76257" y="37984"/>
                  </a:lnTo>
                  <a:lnTo>
                    <a:pt x="0" y="0"/>
                  </a:lnTo>
                  <a:close/>
                </a:path>
              </a:pathLst>
            </a:custGeom>
            <a:solidFill>
              <a:srgbClr val="000000"/>
            </a:solidFill>
          </p:spPr>
          <p:txBody>
            <a:bodyPr wrap="square" lIns="0" tIns="0" rIns="0" bIns="0" rtlCol="0"/>
            <a:lstStyle/>
            <a:p>
              <a:endParaRPr/>
            </a:p>
          </p:txBody>
        </p:sp>
        <p:sp>
          <p:nvSpPr>
            <p:cNvPr id="24" name="object 24"/>
            <p:cNvSpPr/>
            <p:nvPr/>
          </p:nvSpPr>
          <p:spPr>
            <a:xfrm>
              <a:off x="8510822" y="2369048"/>
              <a:ext cx="481330" cy="1270"/>
            </a:xfrm>
            <a:custGeom>
              <a:avLst/>
              <a:gdLst/>
              <a:ahLst/>
              <a:cxnLst/>
              <a:rect l="l" t="t" r="r" b="b"/>
              <a:pathLst>
                <a:path w="481329" h="1269">
                  <a:moveTo>
                    <a:pt x="0" y="0"/>
                  </a:moveTo>
                  <a:lnTo>
                    <a:pt x="481012" y="753"/>
                  </a:lnTo>
                </a:path>
              </a:pathLst>
            </a:custGeom>
            <a:ln w="9524">
              <a:solidFill>
                <a:srgbClr val="000000"/>
              </a:solidFill>
            </a:ln>
          </p:spPr>
          <p:txBody>
            <a:bodyPr wrap="square" lIns="0" tIns="0" rIns="0" bIns="0" rtlCol="0"/>
            <a:lstStyle/>
            <a:p>
              <a:endParaRPr/>
            </a:p>
          </p:txBody>
        </p:sp>
        <p:sp>
          <p:nvSpPr>
            <p:cNvPr id="25" name="object 25"/>
            <p:cNvSpPr/>
            <p:nvPr/>
          </p:nvSpPr>
          <p:spPr>
            <a:xfrm>
              <a:off x="8940975" y="2331622"/>
              <a:ext cx="76835" cy="76200"/>
            </a:xfrm>
            <a:custGeom>
              <a:avLst/>
              <a:gdLst/>
              <a:ahLst/>
              <a:cxnLst/>
              <a:rect l="l" t="t" r="r" b="b"/>
              <a:pathLst>
                <a:path w="76834" h="76200">
                  <a:moveTo>
                    <a:pt x="119" y="0"/>
                  </a:moveTo>
                  <a:lnTo>
                    <a:pt x="0" y="76200"/>
                  </a:lnTo>
                  <a:lnTo>
                    <a:pt x="76259" y="38219"/>
                  </a:lnTo>
                  <a:lnTo>
                    <a:pt x="119" y="0"/>
                  </a:lnTo>
                  <a:close/>
                </a:path>
              </a:pathLst>
            </a:custGeom>
            <a:solidFill>
              <a:srgbClr val="000000"/>
            </a:solidFill>
          </p:spPr>
          <p:txBody>
            <a:bodyPr wrap="square" lIns="0" tIns="0" rIns="0" bIns="0" rtlCol="0"/>
            <a:lstStyle/>
            <a:p>
              <a:endParaRPr/>
            </a:p>
          </p:txBody>
        </p:sp>
        <p:sp>
          <p:nvSpPr>
            <p:cNvPr id="26" name="object 26"/>
            <p:cNvSpPr/>
            <p:nvPr/>
          </p:nvSpPr>
          <p:spPr>
            <a:xfrm>
              <a:off x="9753640" y="2693788"/>
              <a:ext cx="1905" cy="135255"/>
            </a:xfrm>
            <a:custGeom>
              <a:avLst/>
              <a:gdLst/>
              <a:ahLst/>
              <a:cxnLst/>
              <a:rect l="l" t="t" r="r" b="b"/>
              <a:pathLst>
                <a:path w="1904" h="135255">
                  <a:moveTo>
                    <a:pt x="0" y="0"/>
                  </a:moveTo>
                  <a:lnTo>
                    <a:pt x="1336" y="134938"/>
                  </a:lnTo>
                </a:path>
              </a:pathLst>
            </a:custGeom>
            <a:ln w="9524">
              <a:solidFill>
                <a:srgbClr val="000000"/>
              </a:solidFill>
            </a:ln>
          </p:spPr>
          <p:txBody>
            <a:bodyPr wrap="square" lIns="0" tIns="0" rIns="0" bIns="0" rtlCol="0"/>
            <a:lstStyle/>
            <a:p>
              <a:endParaRPr/>
            </a:p>
          </p:txBody>
        </p:sp>
        <p:sp>
          <p:nvSpPr>
            <p:cNvPr id="27" name="object 27"/>
            <p:cNvSpPr/>
            <p:nvPr/>
          </p:nvSpPr>
          <p:spPr>
            <a:xfrm>
              <a:off x="9716375" y="2777551"/>
              <a:ext cx="76200" cy="76835"/>
            </a:xfrm>
            <a:custGeom>
              <a:avLst/>
              <a:gdLst/>
              <a:ahLst/>
              <a:cxnLst/>
              <a:rect l="l" t="t" r="r" b="b"/>
              <a:pathLst>
                <a:path w="76200" h="76835">
                  <a:moveTo>
                    <a:pt x="76196" y="0"/>
                  </a:moveTo>
                  <a:lnTo>
                    <a:pt x="0" y="755"/>
                  </a:lnTo>
                  <a:lnTo>
                    <a:pt x="38851" y="76574"/>
                  </a:lnTo>
                  <a:lnTo>
                    <a:pt x="76196" y="0"/>
                  </a:lnTo>
                  <a:close/>
                </a:path>
              </a:pathLst>
            </a:custGeom>
            <a:solidFill>
              <a:srgbClr val="000000"/>
            </a:solidFill>
          </p:spPr>
          <p:txBody>
            <a:bodyPr wrap="square" lIns="0" tIns="0" rIns="0" bIns="0" rtlCol="0"/>
            <a:lstStyle/>
            <a:p>
              <a:endParaRPr/>
            </a:p>
          </p:txBody>
        </p:sp>
        <p:sp>
          <p:nvSpPr>
            <p:cNvPr id="28" name="object 28"/>
            <p:cNvSpPr/>
            <p:nvPr/>
          </p:nvSpPr>
          <p:spPr>
            <a:xfrm>
              <a:off x="9754942" y="4006243"/>
              <a:ext cx="635" cy="121920"/>
            </a:xfrm>
            <a:custGeom>
              <a:avLst/>
              <a:gdLst/>
              <a:ahLst/>
              <a:cxnLst/>
              <a:rect l="l" t="t" r="r" b="b"/>
              <a:pathLst>
                <a:path w="634" h="121920">
                  <a:moveTo>
                    <a:pt x="430" y="0"/>
                  </a:moveTo>
                  <a:lnTo>
                    <a:pt x="0" y="121914"/>
                  </a:lnTo>
                </a:path>
              </a:pathLst>
            </a:custGeom>
            <a:ln w="9524">
              <a:solidFill>
                <a:srgbClr val="000000"/>
              </a:solidFill>
            </a:ln>
          </p:spPr>
          <p:txBody>
            <a:bodyPr wrap="square" lIns="0" tIns="0" rIns="0" bIns="0" rtlCol="0"/>
            <a:lstStyle/>
            <a:p>
              <a:endParaRPr/>
            </a:p>
          </p:txBody>
        </p:sp>
        <p:sp>
          <p:nvSpPr>
            <p:cNvPr id="29" name="object 29"/>
            <p:cNvSpPr/>
            <p:nvPr/>
          </p:nvSpPr>
          <p:spPr>
            <a:xfrm>
              <a:off x="9717022" y="4077223"/>
              <a:ext cx="76200" cy="76835"/>
            </a:xfrm>
            <a:custGeom>
              <a:avLst/>
              <a:gdLst/>
              <a:ahLst/>
              <a:cxnLst/>
              <a:rect l="l" t="t" r="r" b="b"/>
              <a:pathLst>
                <a:path w="76200" h="76835">
                  <a:moveTo>
                    <a:pt x="0" y="0"/>
                  </a:moveTo>
                  <a:lnTo>
                    <a:pt x="37830" y="76333"/>
                  </a:lnTo>
                  <a:lnTo>
                    <a:pt x="76200" y="269"/>
                  </a:lnTo>
                  <a:lnTo>
                    <a:pt x="0" y="0"/>
                  </a:lnTo>
                  <a:close/>
                </a:path>
              </a:pathLst>
            </a:custGeom>
            <a:solidFill>
              <a:srgbClr val="000000"/>
            </a:solidFill>
          </p:spPr>
          <p:txBody>
            <a:bodyPr wrap="square" lIns="0" tIns="0" rIns="0" bIns="0" rtlCol="0"/>
            <a:lstStyle/>
            <a:p>
              <a:endParaRPr/>
            </a:p>
          </p:txBody>
        </p:sp>
        <p:sp>
          <p:nvSpPr>
            <p:cNvPr id="30" name="object 30"/>
            <p:cNvSpPr/>
            <p:nvPr/>
          </p:nvSpPr>
          <p:spPr>
            <a:xfrm>
              <a:off x="9754853" y="5222939"/>
              <a:ext cx="3175" cy="215265"/>
            </a:xfrm>
            <a:custGeom>
              <a:avLst/>
              <a:gdLst/>
              <a:ahLst/>
              <a:cxnLst/>
              <a:rect l="l" t="t" r="r" b="b"/>
              <a:pathLst>
                <a:path w="3175" h="215264">
                  <a:moveTo>
                    <a:pt x="0" y="0"/>
                  </a:moveTo>
                  <a:lnTo>
                    <a:pt x="2839" y="215108"/>
                  </a:lnTo>
                </a:path>
              </a:pathLst>
            </a:custGeom>
            <a:ln w="9524">
              <a:solidFill>
                <a:srgbClr val="000000"/>
              </a:solidFill>
            </a:ln>
          </p:spPr>
          <p:txBody>
            <a:bodyPr wrap="square" lIns="0" tIns="0" rIns="0" bIns="0" rtlCol="0"/>
            <a:lstStyle/>
            <a:p>
              <a:endParaRPr/>
            </a:p>
          </p:txBody>
        </p:sp>
        <p:sp>
          <p:nvSpPr>
            <p:cNvPr id="31" name="object 31"/>
            <p:cNvSpPr/>
            <p:nvPr/>
          </p:nvSpPr>
          <p:spPr>
            <a:xfrm>
              <a:off x="9718925" y="5386749"/>
              <a:ext cx="76200" cy="76835"/>
            </a:xfrm>
            <a:custGeom>
              <a:avLst/>
              <a:gdLst/>
              <a:ahLst/>
              <a:cxnLst/>
              <a:rect l="l" t="t" r="r" b="b"/>
              <a:pathLst>
                <a:path w="76200" h="76835">
                  <a:moveTo>
                    <a:pt x="76193" y="0"/>
                  </a:moveTo>
                  <a:lnTo>
                    <a:pt x="0" y="1005"/>
                  </a:lnTo>
                  <a:lnTo>
                    <a:pt x="39103" y="76696"/>
                  </a:lnTo>
                  <a:lnTo>
                    <a:pt x="76193" y="0"/>
                  </a:lnTo>
                  <a:close/>
                </a:path>
              </a:pathLst>
            </a:custGeom>
            <a:solidFill>
              <a:srgbClr val="000000"/>
            </a:solidFill>
          </p:spPr>
          <p:txBody>
            <a:bodyPr wrap="square" lIns="0" tIns="0" rIns="0" bIns="0" rtlCol="0"/>
            <a:lstStyle/>
            <a:p>
              <a:endParaRPr/>
            </a:p>
          </p:txBody>
        </p:sp>
        <p:sp>
          <p:nvSpPr>
            <p:cNvPr id="32" name="object 32"/>
            <p:cNvSpPr/>
            <p:nvPr/>
          </p:nvSpPr>
          <p:spPr>
            <a:xfrm>
              <a:off x="7782245" y="2970448"/>
              <a:ext cx="857250" cy="1718310"/>
            </a:xfrm>
            <a:custGeom>
              <a:avLst/>
              <a:gdLst/>
              <a:ahLst/>
              <a:cxnLst/>
              <a:rect l="l" t="t" r="r" b="b"/>
              <a:pathLst>
                <a:path w="857250" h="1718310">
                  <a:moveTo>
                    <a:pt x="856808" y="1717799"/>
                  </a:moveTo>
                  <a:lnTo>
                    <a:pt x="0" y="1717799"/>
                  </a:lnTo>
                  <a:lnTo>
                    <a:pt x="0" y="0"/>
                  </a:lnTo>
                </a:path>
              </a:pathLst>
            </a:custGeom>
            <a:ln w="9524">
              <a:solidFill>
                <a:srgbClr val="000000"/>
              </a:solidFill>
            </a:ln>
          </p:spPr>
          <p:txBody>
            <a:bodyPr wrap="square" lIns="0" tIns="0" rIns="0" bIns="0" rtlCol="0"/>
            <a:lstStyle/>
            <a:p>
              <a:endParaRPr/>
            </a:p>
          </p:txBody>
        </p:sp>
        <p:sp>
          <p:nvSpPr>
            <p:cNvPr id="33" name="object 33"/>
            <p:cNvSpPr/>
            <p:nvPr/>
          </p:nvSpPr>
          <p:spPr>
            <a:xfrm>
              <a:off x="7744146" y="2945048"/>
              <a:ext cx="76200" cy="76200"/>
            </a:xfrm>
            <a:custGeom>
              <a:avLst/>
              <a:gdLst/>
              <a:ahLst/>
              <a:cxnLst/>
              <a:rect l="l" t="t" r="r" b="b"/>
              <a:pathLst>
                <a:path w="76200" h="76200">
                  <a:moveTo>
                    <a:pt x="38100" y="0"/>
                  </a:moveTo>
                  <a:lnTo>
                    <a:pt x="0" y="76200"/>
                  </a:lnTo>
                  <a:lnTo>
                    <a:pt x="76200" y="76200"/>
                  </a:lnTo>
                  <a:lnTo>
                    <a:pt x="38100" y="0"/>
                  </a:lnTo>
                  <a:close/>
                </a:path>
              </a:pathLst>
            </a:custGeom>
            <a:solidFill>
              <a:srgbClr val="000000"/>
            </a:solidFill>
          </p:spPr>
          <p:txBody>
            <a:bodyPr wrap="square" lIns="0" tIns="0" rIns="0" bIns="0" rtlCol="0"/>
            <a:lstStyle/>
            <a:p>
              <a:endParaRPr/>
            </a:p>
          </p:txBody>
        </p:sp>
        <p:sp>
          <p:nvSpPr>
            <p:cNvPr id="34" name="object 34"/>
            <p:cNvSpPr/>
            <p:nvPr/>
          </p:nvSpPr>
          <p:spPr>
            <a:xfrm>
              <a:off x="2842151" y="1270861"/>
              <a:ext cx="8196580" cy="4032250"/>
            </a:xfrm>
            <a:custGeom>
              <a:avLst/>
              <a:gdLst/>
              <a:ahLst/>
              <a:cxnLst/>
              <a:rect l="l" t="t" r="r" b="b"/>
              <a:pathLst>
                <a:path w="8196580" h="4032250">
                  <a:moveTo>
                    <a:pt x="0" y="0"/>
                  </a:moveTo>
                  <a:lnTo>
                    <a:pt x="8196481" y="0"/>
                  </a:lnTo>
                  <a:lnTo>
                    <a:pt x="8196481" y="4031998"/>
                  </a:lnTo>
                  <a:lnTo>
                    <a:pt x="0" y="4031998"/>
                  </a:lnTo>
                  <a:lnTo>
                    <a:pt x="0" y="0"/>
                  </a:lnTo>
                  <a:close/>
                </a:path>
              </a:pathLst>
            </a:custGeom>
            <a:ln w="19049">
              <a:solidFill>
                <a:srgbClr val="004DD6"/>
              </a:solidFill>
            </a:ln>
          </p:spPr>
          <p:txBody>
            <a:bodyPr wrap="square" lIns="0" tIns="0" rIns="0" bIns="0" rtlCol="0"/>
            <a:lstStyle/>
            <a:p>
              <a:endParaRPr/>
            </a:p>
          </p:txBody>
        </p:sp>
        <p:sp>
          <p:nvSpPr>
            <p:cNvPr id="35" name="object 35"/>
            <p:cNvSpPr/>
            <p:nvPr/>
          </p:nvSpPr>
          <p:spPr>
            <a:xfrm>
              <a:off x="2576633" y="1594862"/>
              <a:ext cx="5205730" cy="173355"/>
            </a:xfrm>
            <a:custGeom>
              <a:avLst/>
              <a:gdLst/>
              <a:ahLst/>
              <a:cxnLst/>
              <a:rect l="l" t="t" r="r" b="b"/>
              <a:pathLst>
                <a:path w="5205730" h="173355">
                  <a:moveTo>
                    <a:pt x="0" y="0"/>
                  </a:moveTo>
                  <a:lnTo>
                    <a:pt x="5205411" y="0"/>
                  </a:lnTo>
                  <a:lnTo>
                    <a:pt x="5205411" y="173037"/>
                  </a:lnTo>
                </a:path>
              </a:pathLst>
            </a:custGeom>
            <a:ln w="9524">
              <a:solidFill>
                <a:srgbClr val="000000"/>
              </a:solidFill>
            </a:ln>
          </p:spPr>
          <p:txBody>
            <a:bodyPr wrap="square" lIns="0" tIns="0" rIns="0" bIns="0" rtlCol="0"/>
            <a:lstStyle/>
            <a:p>
              <a:endParaRPr/>
            </a:p>
          </p:txBody>
        </p:sp>
        <p:sp>
          <p:nvSpPr>
            <p:cNvPr id="36" name="object 36"/>
            <p:cNvSpPr/>
            <p:nvPr/>
          </p:nvSpPr>
          <p:spPr>
            <a:xfrm>
              <a:off x="7743945" y="1717099"/>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37" name="object 37"/>
            <p:cNvSpPr txBox="1"/>
            <p:nvPr/>
          </p:nvSpPr>
          <p:spPr>
            <a:xfrm>
              <a:off x="1488644" y="2856268"/>
              <a:ext cx="4826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输入</a:t>
              </a:r>
              <a:endParaRPr sz="1800">
                <a:latin typeface="微软雅黑" panose="020B0503020204020204" pitchFamily="34" charset="-122"/>
                <a:cs typeface="微软雅黑" panose="020B0503020204020204" pitchFamily="34" charset="-122"/>
              </a:endParaRPr>
            </a:p>
          </p:txBody>
        </p:sp>
        <p:sp>
          <p:nvSpPr>
            <p:cNvPr id="38" name="object 38"/>
            <p:cNvSpPr txBox="1"/>
            <p:nvPr/>
          </p:nvSpPr>
          <p:spPr>
            <a:xfrm>
              <a:off x="8252441" y="5651624"/>
              <a:ext cx="4826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输出</a:t>
              </a:r>
              <a:endParaRPr sz="1800">
                <a:latin typeface="微软雅黑" panose="020B0503020204020204" pitchFamily="34" charset="-122"/>
                <a:cs typeface="微软雅黑" panose="020B0503020204020204" pitchFamily="34" charset="-122"/>
              </a:endParaRPr>
            </a:p>
          </p:txBody>
        </p:sp>
        <p:sp>
          <p:nvSpPr>
            <p:cNvPr id="39" name="object 39"/>
            <p:cNvSpPr txBox="1"/>
            <p:nvPr/>
          </p:nvSpPr>
          <p:spPr>
            <a:xfrm>
              <a:off x="8198652" y="4382713"/>
              <a:ext cx="2540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panose="020B0503020204020204" pitchFamily="34" charset="-122"/>
                  <a:cs typeface="微软雅黑" panose="020B0503020204020204" pitchFamily="34" charset="-122"/>
                </a:rPr>
                <a:t>否</a:t>
              </a:r>
              <a:endParaRPr sz="1800">
                <a:latin typeface="微软雅黑" panose="020B0503020204020204" pitchFamily="34" charset="-122"/>
                <a:cs typeface="微软雅黑" panose="020B0503020204020204" pitchFamily="34" charset="-122"/>
              </a:endParaRPr>
            </a:p>
          </p:txBody>
        </p:sp>
        <p:sp>
          <p:nvSpPr>
            <p:cNvPr id="40" name="object 40"/>
            <p:cNvSpPr txBox="1"/>
            <p:nvPr/>
          </p:nvSpPr>
          <p:spPr>
            <a:xfrm>
              <a:off x="9287441" y="4401228"/>
              <a:ext cx="1054100" cy="1065530"/>
            </a:xfrm>
            <a:prstGeom prst="rect">
              <a:avLst/>
            </a:prstGeom>
          </p:spPr>
          <p:txBody>
            <a:bodyPr vert="horz" wrap="square" lIns="0" tIns="27939" rIns="0" bIns="0" rtlCol="0">
              <a:spAutoFit/>
            </a:bodyPr>
            <a:lstStyle/>
            <a:p>
              <a:pPr marL="127000" marR="5080" indent="-114300">
                <a:lnSpc>
                  <a:spcPts val="2100"/>
                </a:lnSpc>
                <a:spcBef>
                  <a:spcPts val="220"/>
                </a:spcBef>
              </a:pPr>
              <a:r>
                <a:rPr sz="1800" dirty="0">
                  <a:latin typeface="微软雅黑" panose="020B0503020204020204" pitchFamily="34" charset="-122"/>
                  <a:cs typeface="微软雅黑" panose="020B0503020204020204" pitchFamily="34" charset="-122"/>
                </a:rPr>
                <a:t>选择路径 可行吗？</a:t>
              </a:r>
              <a:endParaRPr sz="1800">
                <a:latin typeface="微软雅黑" panose="020B0503020204020204" pitchFamily="34" charset="-122"/>
                <a:cs typeface="微软雅黑" panose="020B0503020204020204" pitchFamily="34" charset="-122"/>
              </a:endParaRPr>
            </a:p>
            <a:p>
              <a:pPr marL="24765">
                <a:lnSpc>
                  <a:spcPct val="100000"/>
                </a:lnSpc>
                <a:spcBef>
                  <a:spcPts val="1705"/>
                </a:spcBef>
              </a:pPr>
              <a:r>
                <a:rPr sz="1800" dirty="0">
                  <a:latin typeface="微软雅黑" panose="020B0503020204020204" pitchFamily="34" charset="-122"/>
                  <a:cs typeface="微软雅黑" panose="020B0503020204020204" pitchFamily="34" charset="-122"/>
                </a:rPr>
                <a:t>是</a:t>
              </a:r>
              <a:endParaRPr sz="1800">
                <a:latin typeface="微软雅黑" panose="020B0503020204020204" pitchFamily="34" charset="-122"/>
                <a:cs typeface="微软雅黑" panose="020B0503020204020204" pitchFamily="34" charset="-122"/>
              </a:endParaRPr>
            </a:p>
          </p:txBody>
        </p:sp>
        <p:sp>
          <p:nvSpPr>
            <p:cNvPr id="41" name="object 41"/>
            <p:cNvSpPr txBox="1"/>
            <p:nvPr/>
          </p:nvSpPr>
          <p:spPr>
            <a:xfrm>
              <a:off x="2901567" y="5403476"/>
              <a:ext cx="281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生成测试输入数据的过程</a:t>
              </a:r>
              <a:endParaRPr sz="2000">
                <a:latin typeface="微软雅黑" panose="020B0503020204020204" pitchFamily="34" charset="-122"/>
                <a:cs typeface="微软雅黑" panose="020B0503020204020204" pitchFamily="34" charset="-122"/>
              </a:endParaRPr>
            </a:p>
          </p:txBody>
        </p:sp>
      </p:grpSp>
      <p:sp>
        <p:nvSpPr>
          <p:cNvPr id="42" name="灯片编号占位符 41"/>
          <p:cNvSpPr>
            <a:spLocks noGrp="1"/>
          </p:cNvSpPr>
          <p:nvPr>
            <p:ph type="sldNum" sz="quarter" idx="12"/>
          </p:nvPr>
        </p:nvSpPr>
        <p:spPr/>
        <p:txBody>
          <a:bodyPr/>
          <a:lstStyle/>
          <a:p>
            <a:fld id="{74D2AB8B-5816-41F2-8B4B-CA5C3E4E6A65}" type="slidenum">
              <a:rPr lang="zh-CN" altLang="en-US" smtClean="0"/>
              <a:t>26</a:t>
            </a:fld>
            <a:endParaRPr lang="zh-CN" altLang="en-US"/>
          </a:p>
        </p:txBody>
      </p:sp>
      <p:sp>
        <p:nvSpPr>
          <p:cNvPr id="44" name="标题 43"/>
          <p:cNvSpPr>
            <a:spLocks noGrp="1"/>
          </p:cNvSpPr>
          <p:nvPr>
            <p:ph type="title"/>
          </p:nvPr>
        </p:nvSpPr>
        <p:spPr>
          <a:xfrm>
            <a:off x="838200" y="268872"/>
            <a:ext cx="10515600" cy="1325563"/>
          </a:xfrm>
        </p:spPr>
        <p:txBody>
          <a:bodyPr/>
          <a:lstStyle/>
          <a:p>
            <a:r>
              <a:rPr lang="zh-CN" altLang="en-US" dirty="0"/>
              <a:t>基于控制流的测试</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28621" y="1581484"/>
            <a:ext cx="9710420" cy="889000"/>
          </a:xfrm>
          <a:prstGeom prst="rect">
            <a:avLst/>
          </a:prstGeom>
        </p:spPr>
        <p:txBody>
          <a:bodyPr vert="horz" wrap="square" lIns="0" tIns="12700" rIns="0" bIns="0" rtlCol="0">
            <a:spAutoFit/>
          </a:bodyPr>
          <a:lstStyle/>
          <a:p>
            <a:pPr marL="12700" marR="5080">
              <a:lnSpc>
                <a:spcPct val="129000"/>
              </a:lnSpc>
              <a:spcBef>
                <a:spcPts val="100"/>
              </a:spcBef>
            </a:pPr>
            <a:r>
              <a:rPr sz="2200" spc="40" dirty="0">
                <a:solidFill>
                  <a:srgbClr val="0033CC"/>
                </a:solidFill>
                <a:latin typeface="微软雅黑" panose="020B0503020204020204" pitchFamily="34" charset="-122"/>
                <a:cs typeface="微软雅黑" panose="020B0503020204020204" pitchFamily="34" charset="-122"/>
              </a:rPr>
              <a:t>代码覆盖率</a:t>
            </a:r>
            <a:r>
              <a:rPr sz="2200" spc="40" dirty="0">
                <a:latin typeface="微软雅黑" panose="020B0503020204020204" pitchFamily="34" charset="-122"/>
                <a:cs typeface="微软雅黑" panose="020B0503020204020204" pitchFamily="34" charset="-122"/>
              </a:rPr>
              <a:t>描述的是代码被测试的比例和程度，通过代码覆盖率可以得知哪些 </a:t>
            </a:r>
            <a:r>
              <a:rPr sz="2200" dirty="0">
                <a:latin typeface="微软雅黑" panose="020B0503020204020204" pitchFamily="34" charset="-122"/>
                <a:cs typeface="微软雅黑" panose="020B0503020204020204" pitchFamily="34" charset="-122"/>
              </a:rPr>
              <a:t>代码没有被覆盖，从而进一步补足测试用例。</a:t>
            </a:r>
            <a:endParaRPr sz="2200">
              <a:latin typeface="微软雅黑" panose="020B0503020204020204" pitchFamily="34" charset="-122"/>
              <a:cs typeface="微软雅黑" panose="020B0503020204020204" pitchFamily="34" charset="-122"/>
            </a:endParaRPr>
          </a:p>
        </p:txBody>
      </p:sp>
      <p:sp>
        <p:nvSpPr>
          <p:cNvPr id="4" name="object 4"/>
          <p:cNvSpPr/>
          <p:nvPr/>
        </p:nvSpPr>
        <p:spPr>
          <a:xfrm>
            <a:off x="1710255" y="3803478"/>
            <a:ext cx="2093595" cy="815340"/>
          </a:xfrm>
          <a:custGeom>
            <a:avLst/>
            <a:gdLst/>
            <a:ahLst/>
            <a:cxnLst/>
            <a:rect l="l" t="t" r="r" b="b"/>
            <a:pathLst>
              <a:path w="2093595" h="815339">
                <a:moveTo>
                  <a:pt x="1957344" y="0"/>
                </a:moveTo>
                <a:lnTo>
                  <a:pt x="135836" y="0"/>
                </a:lnTo>
                <a:lnTo>
                  <a:pt x="92901" y="6925"/>
                </a:lnTo>
                <a:lnTo>
                  <a:pt x="55613" y="26208"/>
                </a:lnTo>
                <a:lnTo>
                  <a:pt x="26208" y="55613"/>
                </a:lnTo>
                <a:lnTo>
                  <a:pt x="6925" y="92902"/>
                </a:lnTo>
                <a:lnTo>
                  <a:pt x="0" y="135837"/>
                </a:lnTo>
                <a:lnTo>
                  <a:pt x="0" y="679171"/>
                </a:lnTo>
                <a:lnTo>
                  <a:pt x="6925" y="722106"/>
                </a:lnTo>
                <a:lnTo>
                  <a:pt x="26208" y="759395"/>
                </a:lnTo>
                <a:lnTo>
                  <a:pt x="55613" y="788799"/>
                </a:lnTo>
                <a:lnTo>
                  <a:pt x="92901" y="808083"/>
                </a:lnTo>
                <a:lnTo>
                  <a:pt x="135836" y="815008"/>
                </a:lnTo>
                <a:lnTo>
                  <a:pt x="1957344" y="815008"/>
                </a:lnTo>
                <a:lnTo>
                  <a:pt x="2000279" y="808083"/>
                </a:lnTo>
                <a:lnTo>
                  <a:pt x="2037568" y="788799"/>
                </a:lnTo>
                <a:lnTo>
                  <a:pt x="2066972" y="759395"/>
                </a:lnTo>
                <a:lnTo>
                  <a:pt x="2086256" y="722106"/>
                </a:lnTo>
                <a:lnTo>
                  <a:pt x="2093180" y="679171"/>
                </a:lnTo>
                <a:lnTo>
                  <a:pt x="2093180" y="135837"/>
                </a:lnTo>
                <a:lnTo>
                  <a:pt x="2086256" y="92902"/>
                </a:lnTo>
                <a:lnTo>
                  <a:pt x="2066972" y="55613"/>
                </a:lnTo>
                <a:lnTo>
                  <a:pt x="2037568" y="26208"/>
                </a:lnTo>
                <a:lnTo>
                  <a:pt x="2000279" y="6925"/>
                </a:lnTo>
                <a:lnTo>
                  <a:pt x="1957344" y="0"/>
                </a:lnTo>
                <a:close/>
              </a:path>
            </a:pathLst>
          </a:custGeom>
          <a:solidFill>
            <a:srgbClr val="007879"/>
          </a:solidFill>
        </p:spPr>
        <p:txBody>
          <a:bodyPr wrap="square" lIns="0" tIns="0" rIns="0" bIns="0" rtlCol="0"/>
          <a:lstStyle/>
          <a:p>
            <a:endParaRPr/>
          </a:p>
        </p:txBody>
      </p:sp>
      <p:sp>
        <p:nvSpPr>
          <p:cNvPr id="5" name="object 5"/>
          <p:cNvSpPr/>
          <p:nvPr/>
        </p:nvSpPr>
        <p:spPr>
          <a:xfrm>
            <a:off x="1710255" y="3803478"/>
            <a:ext cx="2093595" cy="815340"/>
          </a:xfrm>
          <a:custGeom>
            <a:avLst/>
            <a:gdLst/>
            <a:ahLst/>
            <a:cxnLst/>
            <a:rect l="l" t="t" r="r" b="b"/>
            <a:pathLst>
              <a:path w="2093595" h="815339">
                <a:moveTo>
                  <a:pt x="0" y="135837"/>
                </a:moveTo>
                <a:lnTo>
                  <a:pt x="6925" y="92902"/>
                </a:lnTo>
                <a:lnTo>
                  <a:pt x="26208" y="55613"/>
                </a:lnTo>
                <a:lnTo>
                  <a:pt x="55613" y="26208"/>
                </a:lnTo>
                <a:lnTo>
                  <a:pt x="92901" y="6925"/>
                </a:lnTo>
                <a:lnTo>
                  <a:pt x="135837" y="0"/>
                </a:lnTo>
                <a:lnTo>
                  <a:pt x="1957344" y="0"/>
                </a:lnTo>
                <a:lnTo>
                  <a:pt x="2000279" y="6925"/>
                </a:lnTo>
                <a:lnTo>
                  <a:pt x="2037568" y="26208"/>
                </a:lnTo>
                <a:lnTo>
                  <a:pt x="2066972" y="55613"/>
                </a:lnTo>
                <a:lnTo>
                  <a:pt x="2086256" y="92902"/>
                </a:lnTo>
                <a:lnTo>
                  <a:pt x="2093181" y="135837"/>
                </a:lnTo>
                <a:lnTo>
                  <a:pt x="2093181" y="679170"/>
                </a:lnTo>
                <a:lnTo>
                  <a:pt x="2086256" y="722105"/>
                </a:lnTo>
                <a:lnTo>
                  <a:pt x="2066972" y="759394"/>
                </a:lnTo>
                <a:lnTo>
                  <a:pt x="2037568" y="788799"/>
                </a:lnTo>
                <a:lnTo>
                  <a:pt x="2000279" y="808082"/>
                </a:lnTo>
                <a:lnTo>
                  <a:pt x="1957344" y="815007"/>
                </a:lnTo>
                <a:lnTo>
                  <a:pt x="135837" y="815007"/>
                </a:lnTo>
                <a:lnTo>
                  <a:pt x="92901" y="808082"/>
                </a:lnTo>
                <a:lnTo>
                  <a:pt x="55613" y="788799"/>
                </a:lnTo>
                <a:lnTo>
                  <a:pt x="26208" y="759394"/>
                </a:lnTo>
                <a:lnTo>
                  <a:pt x="6925" y="722105"/>
                </a:lnTo>
                <a:lnTo>
                  <a:pt x="0" y="679170"/>
                </a:lnTo>
                <a:lnTo>
                  <a:pt x="0" y="135837"/>
                </a:lnTo>
                <a:close/>
              </a:path>
            </a:pathLst>
          </a:custGeom>
          <a:ln w="38099">
            <a:solidFill>
              <a:srgbClr val="FFFFFF"/>
            </a:solidFill>
          </a:ln>
        </p:spPr>
        <p:txBody>
          <a:bodyPr wrap="square" lIns="0" tIns="0" rIns="0" bIns="0" rtlCol="0"/>
          <a:lstStyle/>
          <a:p>
            <a:endParaRPr/>
          </a:p>
        </p:txBody>
      </p:sp>
      <p:sp>
        <p:nvSpPr>
          <p:cNvPr id="6" name="object 6"/>
          <p:cNvSpPr txBox="1"/>
          <p:nvPr/>
        </p:nvSpPr>
        <p:spPr>
          <a:xfrm>
            <a:off x="2184381" y="4030643"/>
            <a:ext cx="1143000" cy="360680"/>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FFFFFF"/>
                </a:solidFill>
                <a:latin typeface="微软雅黑" panose="020B0503020204020204" pitchFamily="34" charset="-122"/>
                <a:cs typeface="微软雅黑" panose="020B0503020204020204" pitchFamily="34" charset="-122"/>
              </a:rPr>
              <a:t>判定覆盖</a:t>
            </a:r>
            <a:endParaRPr sz="2200">
              <a:latin typeface="微软雅黑" panose="020B0503020204020204" pitchFamily="34" charset="-122"/>
              <a:cs typeface="微软雅黑" panose="020B0503020204020204" pitchFamily="34" charset="-122"/>
            </a:endParaRPr>
          </a:p>
        </p:txBody>
      </p:sp>
      <p:sp>
        <p:nvSpPr>
          <p:cNvPr id="7" name="object 7"/>
          <p:cNvSpPr/>
          <p:nvPr/>
        </p:nvSpPr>
        <p:spPr>
          <a:xfrm>
            <a:off x="3991724" y="3702879"/>
            <a:ext cx="544827" cy="925372"/>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7817541" y="3686917"/>
            <a:ext cx="544827" cy="925374"/>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4687982" y="3611529"/>
            <a:ext cx="2976880" cy="1099185"/>
          </a:xfrm>
          <a:custGeom>
            <a:avLst/>
            <a:gdLst/>
            <a:ahLst/>
            <a:cxnLst/>
            <a:rect l="l" t="t" r="r" b="b"/>
            <a:pathLst>
              <a:path w="2976879" h="1099185">
                <a:moveTo>
                  <a:pt x="2793475" y="0"/>
                </a:moveTo>
                <a:lnTo>
                  <a:pt x="183098" y="0"/>
                </a:lnTo>
                <a:lnTo>
                  <a:pt x="134423" y="6540"/>
                </a:lnTo>
                <a:lnTo>
                  <a:pt x="90684" y="24998"/>
                </a:lnTo>
                <a:lnTo>
                  <a:pt x="53627" y="53628"/>
                </a:lnTo>
                <a:lnTo>
                  <a:pt x="24998" y="90684"/>
                </a:lnTo>
                <a:lnTo>
                  <a:pt x="6540" y="134422"/>
                </a:lnTo>
                <a:lnTo>
                  <a:pt x="0" y="183097"/>
                </a:lnTo>
                <a:lnTo>
                  <a:pt x="0" y="915465"/>
                </a:lnTo>
                <a:lnTo>
                  <a:pt x="6540" y="964140"/>
                </a:lnTo>
                <a:lnTo>
                  <a:pt x="24998" y="1007878"/>
                </a:lnTo>
                <a:lnTo>
                  <a:pt x="53627" y="1044935"/>
                </a:lnTo>
                <a:lnTo>
                  <a:pt x="90684" y="1073565"/>
                </a:lnTo>
                <a:lnTo>
                  <a:pt x="134423" y="1092023"/>
                </a:lnTo>
                <a:lnTo>
                  <a:pt x="183098" y="1098563"/>
                </a:lnTo>
                <a:lnTo>
                  <a:pt x="2793475" y="1098563"/>
                </a:lnTo>
                <a:lnTo>
                  <a:pt x="2842150" y="1092023"/>
                </a:lnTo>
                <a:lnTo>
                  <a:pt x="2885888" y="1073565"/>
                </a:lnTo>
                <a:lnTo>
                  <a:pt x="2922945" y="1044935"/>
                </a:lnTo>
                <a:lnTo>
                  <a:pt x="2951575" y="1007878"/>
                </a:lnTo>
                <a:lnTo>
                  <a:pt x="2970033" y="964140"/>
                </a:lnTo>
                <a:lnTo>
                  <a:pt x="2976573" y="915465"/>
                </a:lnTo>
                <a:lnTo>
                  <a:pt x="2976573" y="183097"/>
                </a:lnTo>
                <a:lnTo>
                  <a:pt x="2970033" y="134422"/>
                </a:lnTo>
                <a:lnTo>
                  <a:pt x="2951575" y="90684"/>
                </a:lnTo>
                <a:lnTo>
                  <a:pt x="2922945" y="53628"/>
                </a:lnTo>
                <a:lnTo>
                  <a:pt x="2885888" y="24998"/>
                </a:lnTo>
                <a:lnTo>
                  <a:pt x="2842150" y="6540"/>
                </a:lnTo>
                <a:lnTo>
                  <a:pt x="2793475" y="0"/>
                </a:lnTo>
                <a:close/>
              </a:path>
            </a:pathLst>
          </a:custGeom>
          <a:solidFill>
            <a:srgbClr val="E4E4E4"/>
          </a:solidFill>
        </p:spPr>
        <p:txBody>
          <a:bodyPr wrap="square" lIns="0" tIns="0" rIns="0" bIns="0" rtlCol="0"/>
          <a:lstStyle/>
          <a:p>
            <a:endParaRPr/>
          </a:p>
        </p:txBody>
      </p:sp>
      <p:sp>
        <p:nvSpPr>
          <p:cNvPr id="10" name="object 10"/>
          <p:cNvSpPr/>
          <p:nvPr/>
        </p:nvSpPr>
        <p:spPr>
          <a:xfrm>
            <a:off x="4687982" y="3611529"/>
            <a:ext cx="2976880" cy="1099185"/>
          </a:xfrm>
          <a:custGeom>
            <a:avLst/>
            <a:gdLst/>
            <a:ahLst/>
            <a:cxnLst/>
            <a:rect l="l" t="t" r="r" b="b"/>
            <a:pathLst>
              <a:path w="2976879" h="1099185">
                <a:moveTo>
                  <a:pt x="0" y="183097"/>
                </a:moveTo>
                <a:lnTo>
                  <a:pt x="6540" y="134423"/>
                </a:lnTo>
                <a:lnTo>
                  <a:pt x="24998" y="90684"/>
                </a:lnTo>
                <a:lnTo>
                  <a:pt x="53628" y="53628"/>
                </a:lnTo>
                <a:lnTo>
                  <a:pt x="90684" y="24998"/>
                </a:lnTo>
                <a:lnTo>
                  <a:pt x="134423" y="6540"/>
                </a:lnTo>
                <a:lnTo>
                  <a:pt x="183098" y="0"/>
                </a:lnTo>
                <a:lnTo>
                  <a:pt x="2793475" y="0"/>
                </a:lnTo>
                <a:lnTo>
                  <a:pt x="2842150" y="6540"/>
                </a:lnTo>
                <a:lnTo>
                  <a:pt x="2885889" y="24998"/>
                </a:lnTo>
                <a:lnTo>
                  <a:pt x="2922946" y="53628"/>
                </a:lnTo>
                <a:lnTo>
                  <a:pt x="2951576" y="90684"/>
                </a:lnTo>
                <a:lnTo>
                  <a:pt x="2970034" y="134423"/>
                </a:lnTo>
                <a:lnTo>
                  <a:pt x="2976574" y="183097"/>
                </a:lnTo>
                <a:lnTo>
                  <a:pt x="2976574" y="915465"/>
                </a:lnTo>
                <a:lnTo>
                  <a:pt x="2970034" y="964140"/>
                </a:lnTo>
                <a:lnTo>
                  <a:pt x="2951576" y="1007878"/>
                </a:lnTo>
                <a:lnTo>
                  <a:pt x="2922946" y="1044935"/>
                </a:lnTo>
                <a:lnTo>
                  <a:pt x="2885889" y="1073565"/>
                </a:lnTo>
                <a:lnTo>
                  <a:pt x="2842150" y="1092023"/>
                </a:lnTo>
                <a:lnTo>
                  <a:pt x="2793475" y="1098563"/>
                </a:lnTo>
                <a:lnTo>
                  <a:pt x="183098" y="1098563"/>
                </a:lnTo>
                <a:lnTo>
                  <a:pt x="134423" y="1092023"/>
                </a:lnTo>
                <a:lnTo>
                  <a:pt x="90684" y="1073565"/>
                </a:lnTo>
                <a:lnTo>
                  <a:pt x="53628" y="1044935"/>
                </a:lnTo>
                <a:lnTo>
                  <a:pt x="24998" y="1007878"/>
                </a:lnTo>
                <a:lnTo>
                  <a:pt x="6540" y="964140"/>
                </a:lnTo>
                <a:lnTo>
                  <a:pt x="0" y="915465"/>
                </a:lnTo>
                <a:lnTo>
                  <a:pt x="0" y="183097"/>
                </a:lnTo>
                <a:close/>
              </a:path>
            </a:pathLst>
          </a:custGeom>
          <a:ln w="12699">
            <a:solidFill>
              <a:srgbClr val="929292"/>
            </a:solidFill>
          </a:ln>
        </p:spPr>
        <p:txBody>
          <a:bodyPr wrap="square" lIns="0" tIns="0" rIns="0" bIns="0" rtlCol="0"/>
          <a:lstStyle/>
          <a:p>
            <a:endParaRPr/>
          </a:p>
        </p:txBody>
      </p:sp>
      <p:sp>
        <p:nvSpPr>
          <p:cNvPr id="11" name="object 11"/>
          <p:cNvSpPr/>
          <p:nvPr/>
        </p:nvSpPr>
        <p:spPr>
          <a:xfrm>
            <a:off x="4699167" y="3631530"/>
            <a:ext cx="2941622" cy="446195"/>
          </a:xfrm>
          <a:prstGeom prst="rect">
            <a:avLst/>
          </a:prstGeom>
          <a:blipFill>
            <a:blip r:embed="rId5" cstate="print"/>
            <a:stretch>
              <a:fillRect/>
            </a:stretch>
          </a:blipFill>
        </p:spPr>
        <p:txBody>
          <a:bodyPr wrap="square" lIns="0" tIns="0" rIns="0" bIns="0" rtlCol="0"/>
          <a:lstStyle/>
          <a:p>
            <a:endParaRPr/>
          </a:p>
        </p:txBody>
      </p:sp>
      <p:sp>
        <p:nvSpPr>
          <p:cNvPr id="12" name="object 12"/>
          <p:cNvSpPr txBox="1"/>
          <p:nvPr/>
        </p:nvSpPr>
        <p:spPr>
          <a:xfrm>
            <a:off x="5465888" y="3994447"/>
            <a:ext cx="1422400" cy="360680"/>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0033CC"/>
                </a:solidFill>
                <a:latin typeface="微软雅黑" panose="020B0503020204020204" pitchFamily="34" charset="-122"/>
                <a:cs typeface="微软雅黑" panose="020B0503020204020204" pitchFamily="34" charset="-122"/>
              </a:rPr>
              <a:t>代码覆盖率</a:t>
            </a:r>
            <a:endParaRPr sz="2200">
              <a:latin typeface="微软雅黑" panose="020B0503020204020204" pitchFamily="34" charset="-122"/>
              <a:cs typeface="微软雅黑" panose="020B0503020204020204" pitchFamily="34" charset="-122"/>
            </a:endParaRPr>
          </a:p>
        </p:txBody>
      </p:sp>
      <p:sp>
        <p:nvSpPr>
          <p:cNvPr id="13" name="object 13"/>
          <p:cNvSpPr/>
          <p:nvPr/>
        </p:nvSpPr>
        <p:spPr>
          <a:xfrm>
            <a:off x="1710255" y="2867917"/>
            <a:ext cx="2093595" cy="815340"/>
          </a:xfrm>
          <a:custGeom>
            <a:avLst/>
            <a:gdLst/>
            <a:ahLst/>
            <a:cxnLst/>
            <a:rect l="l" t="t" r="r" b="b"/>
            <a:pathLst>
              <a:path w="2093595" h="815339">
                <a:moveTo>
                  <a:pt x="1957344" y="0"/>
                </a:moveTo>
                <a:lnTo>
                  <a:pt x="135836" y="0"/>
                </a:lnTo>
                <a:lnTo>
                  <a:pt x="92901" y="6925"/>
                </a:lnTo>
                <a:lnTo>
                  <a:pt x="55613" y="26208"/>
                </a:lnTo>
                <a:lnTo>
                  <a:pt x="26208" y="55613"/>
                </a:lnTo>
                <a:lnTo>
                  <a:pt x="6925" y="92902"/>
                </a:lnTo>
                <a:lnTo>
                  <a:pt x="0" y="135837"/>
                </a:lnTo>
                <a:lnTo>
                  <a:pt x="0" y="679171"/>
                </a:lnTo>
                <a:lnTo>
                  <a:pt x="6925" y="722106"/>
                </a:lnTo>
                <a:lnTo>
                  <a:pt x="26208" y="759395"/>
                </a:lnTo>
                <a:lnTo>
                  <a:pt x="55613" y="788799"/>
                </a:lnTo>
                <a:lnTo>
                  <a:pt x="92901" y="808083"/>
                </a:lnTo>
                <a:lnTo>
                  <a:pt x="135836" y="815008"/>
                </a:lnTo>
                <a:lnTo>
                  <a:pt x="1957344" y="815008"/>
                </a:lnTo>
                <a:lnTo>
                  <a:pt x="2000279" y="808083"/>
                </a:lnTo>
                <a:lnTo>
                  <a:pt x="2037568" y="788799"/>
                </a:lnTo>
                <a:lnTo>
                  <a:pt x="2066972" y="759395"/>
                </a:lnTo>
                <a:lnTo>
                  <a:pt x="2086256" y="722106"/>
                </a:lnTo>
                <a:lnTo>
                  <a:pt x="2093180" y="679171"/>
                </a:lnTo>
                <a:lnTo>
                  <a:pt x="2093180" y="135837"/>
                </a:lnTo>
                <a:lnTo>
                  <a:pt x="2086256" y="92902"/>
                </a:lnTo>
                <a:lnTo>
                  <a:pt x="2066972" y="55613"/>
                </a:lnTo>
                <a:lnTo>
                  <a:pt x="2037568" y="26208"/>
                </a:lnTo>
                <a:lnTo>
                  <a:pt x="2000279" y="6925"/>
                </a:lnTo>
                <a:lnTo>
                  <a:pt x="1957344" y="0"/>
                </a:lnTo>
                <a:close/>
              </a:path>
            </a:pathLst>
          </a:custGeom>
          <a:solidFill>
            <a:srgbClr val="007879"/>
          </a:solidFill>
        </p:spPr>
        <p:txBody>
          <a:bodyPr wrap="square" lIns="0" tIns="0" rIns="0" bIns="0" rtlCol="0"/>
          <a:lstStyle/>
          <a:p>
            <a:endParaRPr/>
          </a:p>
        </p:txBody>
      </p:sp>
      <p:sp>
        <p:nvSpPr>
          <p:cNvPr id="14" name="object 14"/>
          <p:cNvSpPr/>
          <p:nvPr/>
        </p:nvSpPr>
        <p:spPr>
          <a:xfrm>
            <a:off x="1710255" y="2867917"/>
            <a:ext cx="2093595" cy="815340"/>
          </a:xfrm>
          <a:custGeom>
            <a:avLst/>
            <a:gdLst/>
            <a:ahLst/>
            <a:cxnLst/>
            <a:rect l="l" t="t" r="r" b="b"/>
            <a:pathLst>
              <a:path w="2093595" h="815339">
                <a:moveTo>
                  <a:pt x="0" y="135837"/>
                </a:moveTo>
                <a:lnTo>
                  <a:pt x="6925" y="92902"/>
                </a:lnTo>
                <a:lnTo>
                  <a:pt x="26208" y="55613"/>
                </a:lnTo>
                <a:lnTo>
                  <a:pt x="55613" y="26208"/>
                </a:lnTo>
                <a:lnTo>
                  <a:pt x="92901" y="6925"/>
                </a:lnTo>
                <a:lnTo>
                  <a:pt x="135837" y="0"/>
                </a:lnTo>
                <a:lnTo>
                  <a:pt x="1957344" y="0"/>
                </a:lnTo>
                <a:lnTo>
                  <a:pt x="2000279" y="6925"/>
                </a:lnTo>
                <a:lnTo>
                  <a:pt x="2037568" y="26208"/>
                </a:lnTo>
                <a:lnTo>
                  <a:pt x="2066972" y="55613"/>
                </a:lnTo>
                <a:lnTo>
                  <a:pt x="2086256" y="92902"/>
                </a:lnTo>
                <a:lnTo>
                  <a:pt x="2093181" y="135837"/>
                </a:lnTo>
                <a:lnTo>
                  <a:pt x="2093181" y="679170"/>
                </a:lnTo>
                <a:lnTo>
                  <a:pt x="2086256" y="722105"/>
                </a:lnTo>
                <a:lnTo>
                  <a:pt x="2066972" y="759394"/>
                </a:lnTo>
                <a:lnTo>
                  <a:pt x="2037568" y="788799"/>
                </a:lnTo>
                <a:lnTo>
                  <a:pt x="2000279" y="808082"/>
                </a:lnTo>
                <a:lnTo>
                  <a:pt x="1957344" y="815007"/>
                </a:lnTo>
                <a:lnTo>
                  <a:pt x="135837" y="815007"/>
                </a:lnTo>
                <a:lnTo>
                  <a:pt x="92901" y="808082"/>
                </a:lnTo>
                <a:lnTo>
                  <a:pt x="55613" y="788799"/>
                </a:lnTo>
                <a:lnTo>
                  <a:pt x="26208" y="759394"/>
                </a:lnTo>
                <a:lnTo>
                  <a:pt x="6925" y="722105"/>
                </a:lnTo>
                <a:lnTo>
                  <a:pt x="0" y="679170"/>
                </a:lnTo>
                <a:lnTo>
                  <a:pt x="0" y="135837"/>
                </a:lnTo>
                <a:close/>
              </a:path>
            </a:pathLst>
          </a:custGeom>
          <a:ln w="38099">
            <a:solidFill>
              <a:srgbClr val="FFFFFF"/>
            </a:solidFill>
          </a:ln>
        </p:spPr>
        <p:txBody>
          <a:bodyPr wrap="square" lIns="0" tIns="0" rIns="0" bIns="0" rtlCol="0"/>
          <a:lstStyle/>
          <a:p>
            <a:endParaRPr/>
          </a:p>
        </p:txBody>
      </p:sp>
      <p:sp>
        <p:nvSpPr>
          <p:cNvPr id="15" name="object 15"/>
          <p:cNvSpPr txBox="1"/>
          <p:nvPr/>
        </p:nvSpPr>
        <p:spPr>
          <a:xfrm>
            <a:off x="2184381" y="3095082"/>
            <a:ext cx="1143000" cy="360680"/>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FFFFFF"/>
                </a:solidFill>
                <a:latin typeface="微软雅黑" panose="020B0503020204020204" pitchFamily="34" charset="-122"/>
                <a:cs typeface="微软雅黑" panose="020B0503020204020204" pitchFamily="34" charset="-122"/>
              </a:rPr>
              <a:t>语句覆盖</a:t>
            </a:r>
            <a:endParaRPr sz="2200">
              <a:latin typeface="微软雅黑" panose="020B0503020204020204" pitchFamily="34" charset="-122"/>
              <a:cs typeface="微软雅黑" panose="020B0503020204020204" pitchFamily="34" charset="-122"/>
            </a:endParaRPr>
          </a:p>
        </p:txBody>
      </p:sp>
      <p:sp>
        <p:nvSpPr>
          <p:cNvPr id="16" name="object 16"/>
          <p:cNvSpPr/>
          <p:nvPr/>
        </p:nvSpPr>
        <p:spPr>
          <a:xfrm>
            <a:off x="8511797" y="3803817"/>
            <a:ext cx="2093595" cy="815340"/>
          </a:xfrm>
          <a:custGeom>
            <a:avLst/>
            <a:gdLst/>
            <a:ahLst/>
            <a:cxnLst/>
            <a:rect l="l" t="t" r="r" b="b"/>
            <a:pathLst>
              <a:path w="2093595" h="815339">
                <a:moveTo>
                  <a:pt x="1957344" y="0"/>
                </a:moveTo>
                <a:lnTo>
                  <a:pt x="135836" y="0"/>
                </a:lnTo>
                <a:lnTo>
                  <a:pt x="92901" y="6924"/>
                </a:lnTo>
                <a:lnTo>
                  <a:pt x="55613" y="26208"/>
                </a:lnTo>
                <a:lnTo>
                  <a:pt x="26208" y="55612"/>
                </a:lnTo>
                <a:lnTo>
                  <a:pt x="6925" y="92901"/>
                </a:lnTo>
                <a:lnTo>
                  <a:pt x="0" y="135836"/>
                </a:lnTo>
                <a:lnTo>
                  <a:pt x="0" y="679170"/>
                </a:lnTo>
                <a:lnTo>
                  <a:pt x="6925" y="722105"/>
                </a:lnTo>
                <a:lnTo>
                  <a:pt x="26208" y="759393"/>
                </a:lnTo>
                <a:lnTo>
                  <a:pt x="55613" y="788798"/>
                </a:lnTo>
                <a:lnTo>
                  <a:pt x="92901" y="808082"/>
                </a:lnTo>
                <a:lnTo>
                  <a:pt x="135836" y="815007"/>
                </a:lnTo>
                <a:lnTo>
                  <a:pt x="1957344" y="815007"/>
                </a:lnTo>
                <a:lnTo>
                  <a:pt x="2000279" y="808082"/>
                </a:lnTo>
                <a:lnTo>
                  <a:pt x="2037567" y="788798"/>
                </a:lnTo>
                <a:lnTo>
                  <a:pt x="2066972" y="759393"/>
                </a:lnTo>
                <a:lnTo>
                  <a:pt x="2086255" y="722105"/>
                </a:lnTo>
                <a:lnTo>
                  <a:pt x="2093180" y="679170"/>
                </a:lnTo>
                <a:lnTo>
                  <a:pt x="2093180" y="135836"/>
                </a:lnTo>
                <a:lnTo>
                  <a:pt x="2086255" y="92901"/>
                </a:lnTo>
                <a:lnTo>
                  <a:pt x="2066972" y="55612"/>
                </a:lnTo>
                <a:lnTo>
                  <a:pt x="2037567" y="26208"/>
                </a:lnTo>
                <a:lnTo>
                  <a:pt x="2000279" y="6924"/>
                </a:lnTo>
                <a:lnTo>
                  <a:pt x="1957344" y="0"/>
                </a:lnTo>
                <a:close/>
              </a:path>
            </a:pathLst>
          </a:custGeom>
          <a:solidFill>
            <a:srgbClr val="004479"/>
          </a:solidFill>
        </p:spPr>
        <p:txBody>
          <a:bodyPr wrap="square" lIns="0" tIns="0" rIns="0" bIns="0" rtlCol="0"/>
          <a:lstStyle/>
          <a:p>
            <a:endParaRPr/>
          </a:p>
        </p:txBody>
      </p:sp>
      <p:sp>
        <p:nvSpPr>
          <p:cNvPr id="17" name="object 17"/>
          <p:cNvSpPr/>
          <p:nvPr/>
        </p:nvSpPr>
        <p:spPr>
          <a:xfrm>
            <a:off x="8511797" y="3803817"/>
            <a:ext cx="2093595" cy="815340"/>
          </a:xfrm>
          <a:custGeom>
            <a:avLst/>
            <a:gdLst/>
            <a:ahLst/>
            <a:cxnLst/>
            <a:rect l="l" t="t" r="r" b="b"/>
            <a:pathLst>
              <a:path w="2093595" h="815339">
                <a:moveTo>
                  <a:pt x="0" y="135837"/>
                </a:moveTo>
                <a:lnTo>
                  <a:pt x="6925" y="92902"/>
                </a:lnTo>
                <a:lnTo>
                  <a:pt x="26208" y="55613"/>
                </a:lnTo>
                <a:lnTo>
                  <a:pt x="55613" y="26208"/>
                </a:lnTo>
                <a:lnTo>
                  <a:pt x="92901" y="6925"/>
                </a:lnTo>
                <a:lnTo>
                  <a:pt x="135836" y="0"/>
                </a:lnTo>
                <a:lnTo>
                  <a:pt x="1957344" y="0"/>
                </a:lnTo>
                <a:lnTo>
                  <a:pt x="2000279" y="6925"/>
                </a:lnTo>
                <a:lnTo>
                  <a:pt x="2037567" y="26208"/>
                </a:lnTo>
                <a:lnTo>
                  <a:pt x="2066972" y="55613"/>
                </a:lnTo>
                <a:lnTo>
                  <a:pt x="2086256" y="92902"/>
                </a:lnTo>
                <a:lnTo>
                  <a:pt x="2093181" y="135837"/>
                </a:lnTo>
                <a:lnTo>
                  <a:pt x="2093181" y="679170"/>
                </a:lnTo>
                <a:lnTo>
                  <a:pt x="2086256" y="722105"/>
                </a:lnTo>
                <a:lnTo>
                  <a:pt x="2066972" y="759394"/>
                </a:lnTo>
                <a:lnTo>
                  <a:pt x="2037567" y="788799"/>
                </a:lnTo>
                <a:lnTo>
                  <a:pt x="2000279" y="808082"/>
                </a:lnTo>
                <a:lnTo>
                  <a:pt x="1957344" y="815007"/>
                </a:lnTo>
                <a:lnTo>
                  <a:pt x="135836" y="815007"/>
                </a:lnTo>
                <a:lnTo>
                  <a:pt x="92901" y="808082"/>
                </a:lnTo>
                <a:lnTo>
                  <a:pt x="55613" y="788799"/>
                </a:lnTo>
                <a:lnTo>
                  <a:pt x="26208" y="759394"/>
                </a:lnTo>
                <a:lnTo>
                  <a:pt x="6925" y="722105"/>
                </a:lnTo>
                <a:lnTo>
                  <a:pt x="0" y="679170"/>
                </a:lnTo>
                <a:lnTo>
                  <a:pt x="0" y="135837"/>
                </a:lnTo>
                <a:close/>
              </a:path>
            </a:pathLst>
          </a:custGeom>
          <a:ln w="38099">
            <a:solidFill>
              <a:srgbClr val="FFFFFF"/>
            </a:solidFill>
          </a:ln>
        </p:spPr>
        <p:txBody>
          <a:bodyPr wrap="square" lIns="0" tIns="0" rIns="0" bIns="0" rtlCol="0"/>
          <a:lstStyle/>
          <a:p>
            <a:endParaRPr/>
          </a:p>
        </p:txBody>
      </p:sp>
      <p:sp>
        <p:nvSpPr>
          <p:cNvPr id="18" name="object 18"/>
          <p:cNvSpPr txBox="1"/>
          <p:nvPr/>
        </p:nvSpPr>
        <p:spPr>
          <a:xfrm>
            <a:off x="8706522" y="4030981"/>
            <a:ext cx="1701800" cy="360680"/>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FFFFFF"/>
                </a:solidFill>
                <a:latin typeface="微软雅黑" panose="020B0503020204020204" pitchFamily="34" charset="-122"/>
                <a:cs typeface="微软雅黑" panose="020B0503020204020204" pitchFamily="34" charset="-122"/>
              </a:rPr>
              <a:t>条件组合覆盖</a:t>
            </a:r>
            <a:endParaRPr sz="2200">
              <a:latin typeface="微软雅黑" panose="020B0503020204020204" pitchFamily="34" charset="-122"/>
              <a:cs typeface="微软雅黑" panose="020B0503020204020204" pitchFamily="34" charset="-122"/>
            </a:endParaRPr>
          </a:p>
        </p:txBody>
      </p:sp>
      <p:sp>
        <p:nvSpPr>
          <p:cNvPr id="19" name="object 19"/>
          <p:cNvSpPr/>
          <p:nvPr/>
        </p:nvSpPr>
        <p:spPr>
          <a:xfrm>
            <a:off x="8517806" y="2871313"/>
            <a:ext cx="2093595" cy="815340"/>
          </a:xfrm>
          <a:custGeom>
            <a:avLst/>
            <a:gdLst/>
            <a:ahLst/>
            <a:cxnLst/>
            <a:rect l="l" t="t" r="r" b="b"/>
            <a:pathLst>
              <a:path w="2093595" h="815339">
                <a:moveTo>
                  <a:pt x="1957345" y="0"/>
                </a:moveTo>
                <a:lnTo>
                  <a:pt x="135836" y="0"/>
                </a:lnTo>
                <a:lnTo>
                  <a:pt x="92901" y="6925"/>
                </a:lnTo>
                <a:lnTo>
                  <a:pt x="55613" y="26208"/>
                </a:lnTo>
                <a:lnTo>
                  <a:pt x="26208" y="55613"/>
                </a:lnTo>
                <a:lnTo>
                  <a:pt x="6925" y="92901"/>
                </a:lnTo>
                <a:lnTo>
                  <a:pt x="0" y="135836"/>
                </a:lnTo>
                <a:lnTo>
                  <a:pt x="0" y="679170"/>
                </a:lnTo>
                <a:lnTo>
                  <a:pt x="6925" y="722105"/>
                </a:lnTo>
                <a:lnTo>
                  <a:pt x="26208" y="759393"/>
                </a:lnTo>
                <a:lnTo>
                  <a:pt x="55613" y="788798"/>
                </a:lnTo>
                <a:lnTo>
                  <a:pt x="92901" y="808082"/>
                </a:lnTo>
                <a:lnTo>
                  <a:pt x="135836" y="815007"/>
                </a:lnTo>
                <a:lnTo>
                  <a:pt x="1957345" y="815007"/>
                </a:lnTo>
                <a:lnTo>
                  <a:pt x="2000280" y="808082"/>
                </a:lnTo>
                <a:lnTo>
                  <a:pt x="2037569" y="788798"/>
                </a:lnTo>
                <a:lnTo>
                  <a:pt x="2066974" y="759393"/>
                </a:lnTo>
                <a:lnTo>
                  <a:pt x="2086258" y="722105"/>
                </a:lnTo>
                <a:lnTo>
                  <a:pt x="2093183" y="679170"/>
                </a:lnTo>
                <a:lnTo>
                  <a:pt x="2093183" y="135836"/>
                </a:lnTo>
                <a:lnTo>
                  <a:pt x="2086258" y="92901"/>
                </a:lnTo>
                <a:lnTo>
                  <a:pt x="2066974" y="55613"/>
                </a:lnTo>
                <a:lnTo>
                  <a:pt x="2037569" y="26208"/>
                </a:lnTo>
                <a:lnTo>
                  <a:pt x="2000280" y="6925"/>
                </a:lnTo>
                <a:lnTo>
                  <a:pt x="1957345" y="0"/>
                </a:lnTo>
                <a:close/>
              </a:path>
            </a:pathLst>
          </a:custGeom>
          <a:solidFill>
            <a:srgbClr val="004479"/>
          </a:solidFill>
        </p:spPr>
        <p:txBody>
          <a:bodyPr wrap="square" lIns="0" tIns="0" rIns="0" bIns="0" rtlCol="0"/>
          <a:lstStyle/>
          <a:p>
            <a:endParaRPr/>
          </a:p>
        </p:txBody>
      </p:sp>
      <p:sp>
        <p:nvSpPr>
          <p:cNvPr id="20" name="object 20"/>
          <p:cNvSpPr/>
          <p:nvPr/>
        </p:nvSpPr>
        <p:spPr>
          <a:xfrm>
            <a:off x="8517806" y="2871313"/>
            <a:ext cx="2093595" cy="815340"/>
          </a:xfrm>
          <a:custGeom>
            <a:avLst/>
            <a:gdLst/>
            <a:ahLst/>
            <a:cxnLst/>
            <a:rect l="l" t="t" r="r" b="b"/>
            <a:pathLst>
              <a:path w="2093595" h="815339">
                <a:moveTo>
                  <a:pt x="0" y="135837"/>
                </a:moveTo>
                <a:lnTo>
                  <a:pt x="6925" y="92902"/>
                </a:lnTo>
                <a:lnTo>
                  <a:pt x="26208" y="55613"/>
                </a:lnTo>
                <a:lnTo>
                  <a:pt x="55613" y="26208"/>
                </a:lnTo>
                <a:lnTo>
                  <a:pt x="92901" y="6925"/>
                </a:lnTo>
                <a:lnTo>
                  <a:pt x="135836" y="0"/>
                </a:lnTo>
                <a:lnTo>
                  <a:pt x="1957346" y="0"/>
                </a:lnTo>
                <a:lnTo>
                  <a:pt x="2000281" y="6925"/>
                </a:lnTo>
                <a:lnTo>
                  <a:pt x="2037570" y="26208"/>
                </a:lnTo>
                <a:lnTo>
                  <a:pt x="2066974" y="55613"/>
                </a:lnTo>
                <a:lnTo>
                  <a:pt x="2086258" y="92902"/>
                </a:lnTo>
                <a:lnTo>
                  <a:pt x="2093183" y="135837"/>
                </a:lnTo>
                <a:lnTo>
                  <a:pt x="2093183" y="679170"/>
                </a:lnTo>
                <a:lnTo>
                  <a:pt x="2086258" y="722105"/>
                </a:lnTo>
                <a:lnTo>
                  <a:pt x="2066974" y="759394"/>
                </a:lnTo>
                <a:lnTo>
                  <a:pt x="2037570" y="788799"/>
                </a:lnTo>
                <a:lnTo>
                  <a:pt x="2000281" y="808082"/>
                </a:lnTo>
                <a:lnTo>
                  <a:pt x="1957346" y="815007"/>
                </a:lnTo>
                <a:lnTo>
                  <a:pt x="135836" y="815007"/>
                </a:lnTo>
                <a:lnTo>
                  <a:pt x="92901" y="808082"/>
                </a:lnTo>
                <a:lnTo>
                  <a:pt x="55613" y="788799"/>
                </a:lnTo>
                <a:lnTo>
                  <a:pt x="26208" y="759394"/>
                </a:lnTo>
                <a:lnTo>
                  <a:pt x="6925" y="722105"/>
                </a:lnTo>
                <a:lnTo>
                  <a:pt x="0" y="679170"/>
                </a:lnTo>
                <a:lnTo>
                  <a:pt x="0" y="135837"/>
                </a:lnTo>
                <a:close/>
              </a:path>
            </a:pathLst>
          </a:custGeom>
          <a:ln w="38099">
            <a:solidFill>
              <a:srgbClr val="FFFFFF"/>
            </a:solidFill>
          </a:ln>
        </p:spPr>
        <p:txBody>
          <a:bodyPr wrap="square" lIns="0" tIns="0" rIns="0" bIns="0" rtlCol="0"/>
          <a:lstStyle/>
          <a:p>
            <a:endParaRPr/>
          </a:p>
        </p:txBody>
      </p:sp>
      <p:sp>
        <p:nvSpPr>
          <p:cNvPr id="21" name="object 21"/>
          <p:cNvSpPr txBox="1"/>
          <p:nvPr/>
        </p:nvSpPr>
        <p:spPr>
          <a:xfrm>
            <a:off x="8712531" y="3098477"/>
            <a:ext cx="1701800" cy="360680"/>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FFFFFF"/>
                </a:solidFill>
                <a:latin typeface="微软雅黑" panose="020B0503020204020204" pitchFamily="34" charset="-122"/>
                <a:cs typeface="微软雅黑" panose="020B0503020204020204" pitchFamily="34" charset="-122"/>
              </a:rPr>
              <a:t>判定条件覆盖</a:t>
            </a:r>
            <a:endParaRPr sz="2200">
              <a:latin typeface="微软雅黑" panose="020B0503020204020204" pitchFamily="34" charset="-122"/>
              <a:cs typeface="微软雅黑" panose="020B0503020204020204" pitchFamily="34" charset="-122"/>
            </a:endParaRPr>
          </a:p>
        </p:txBody>
      </p:sp>
      <p:sp>
        <p:nvSpPr>
          <p:cNvPr id="22" name="object 22"/>
          <p:cNvSpPr/>
          <p:nvPr/>
        </p:nvSpPr>
        <p:spPr>
          <a:xfrm>
            <a:off x="1710255" y="4737003"/>
            <a:ext cx="2093595" cy="815340"/>
          </a:xfrm>
          <a:custGeom>
            <a:avLst/>
            <a:gdLst/>
            <a:ahLst/>
            <a:cxnLst/>
            <a:rect l="l" t="t" r="r" b="b"/>
            <a:pathLst>
              <a:path w="2093595" h="815339">
                <a:moveTo>
                  <a:pt x="1957344" y="0"/>
                </a:moveTo>
                <a:lnTo>
                  <a:pt x="135836" y="0"/>
                </a:lnTo>
                <a:lnTo>
                  <a:pt x="92901" y="6925"/>
                </a:lnTo>
                <a:lnTo>
                  <a:pt x="55613" y="26208"/>
                </a:lnTo>
                <a:lnTo>
                  <a:pt x="26208" y="55613"/>
                </a:lnTo>
                <a:lnTo>
                  <a:pt x="6925" y="92902"/>
                </a:lnTo>
                <a:lnTo>
                  <a:pt x="0" y="135837"/>
                </a:lnTo>
                <a:lnTo>
                  <a:pt x="0" y="679171"/>
                </a:lnTo>
                <a:lnTo>
                  <a:pt x="6925" y="722106"/>
                </a:lnTo>
                <a:lnTo>
                  <a:pt x="26208" y="759395"/>
                </a:lnTo>
                <a:lnTo>
                  <a:pt x="55613" y="788799"/>
                </a:lnTo>
                <a:lnTo>
                  <a:pt x="92901" y="808083"/>
                </a:lnTo>
                <a:lnTo>
                  <a:pt x="135836" y="815008"/>
                </a:lnTo>
                <a:lnTo>
                  <a:pt x="1957344" y="815008"/>
                </a:lnTo>
                <a:lnTo>
                  <a:pt x="2000279" y="808083"/>
                </a:lnTo>
                <a:lnTo>
                  <a:pt x="2037568" y="788799"/>
                </a:lnTo>
                <a:lnTo>
                  <a:pt x="2066972" y="759395"/>
                </a:lnTo>
                <a:lnTo>
                  <a:pt x="2086256" y="722106"/>
                </a:lnTo>
                <a:lnTo>
                  <a:pt x="2093180" y="679171"/>
                </a:lnTo>
                <a:lnTo>
                  <a:pt x="2093180" y="135837"/>
                </a:lnTo>
                <a:lnTo>
                  <a:pt x="2086256" y="92902"/>
                </a:lnTo>
                <a:lnTo>
                  <a:pt x="2066972" y="55613"/>
                </a:lnTo>
                <a:lnTo>
                  <a:pt x="2037568" y="26208"/>
                </a:lnTo>
                <a:lnTo>
                  <a:pt x="2000279" y="6925"/>
                </a:lnTo>
                <a:lnTo>
                  <a:pt x="1957344" y="0"/>
                </a:lnTo>
                <a:close/>
              </a:path>
            </a:pathLst>
          </a:custGeom>
          <a:solidFill>
            <a:srgbClr val="007879"/>
          </a:solidFill>
        </p:spPr>
        <p:txBody>
          <a:bodyPr wrap="square" lIns="0" tIns="0" rIns="0" bIns="0" rtlCol="0"/>
          <a:lstStyle/>
          <a:p>
            <a:endParaRPr/>
          </a:p>
        </p:txBody>
      </p:sp>
      <p:sp>
        <p:nvSpPr>
          <p:cNvPr id="23" name="object 23"/>
          <p:cNvSpPr/>
          <p:nvPr/>
        </p:nvSpPr>
        <p:spPr>
          <a:xfrm>
            <a:off x="1710255" y="4737003"/>
            <a:ext cx="2093595" cy="815340"/>
          </a:xfrm>
          <a:custGeom>
            <a:avLst/>
            <a:gdLst/>
            <a:ahLst/>
            <a:cxnLst/>
            <a:rect l="l" t="t" r="r" b="b"/>
            <a:pathLst>
              <a:path w="2093595" h="815339">
                <a:moveTo>
                  <a:pt x="0" y="135837"/>
                </a:moveTo>
                <a:lnTo>
                  <a:pt x="6925" y="92902"/>
                </a:lnTo>
                <a:lnTo>
                  <a:pt x="26208" y="55613"/>
                </a:lnTo>
                <a:lnTo>
                  <a:pt x="55613" y="26208"/>
                </a:lnTo>
                <a:lnTo>
                  <a:pt x="92901" y="6925"/>
                </a:lnTo>
                <a:lnTo>
                  <a:pt x="135837" y="0"/>
                </a:lnTo>
                <a:lnTo>
                  <a:pt x="1957344" y="0"/>
                </a:lnTo>
                <a:lnTo>
                  <a:pt x="2000279" y="6925"/>
                </a:lnTo>
                <a:lnTo>
                  <a:pt x="2037568" y="26208"/>
                </a:lnTo>
                <a:lnTo>
                  <a:pt x="2066972" y="55613"/>
                </a:lnTo>
                <a:lnTo>
                  <a:pt x="2086256" y="92902"/>
                </a:lnTo>
                <a:lnTo>
                  <a:pt x="2093181" y="135837"/>
                </a:lnTo>
                <a:lnTo>
                  <a:pt x="2093181" y="679170"/>
                </a:lnTo>
                <a:lnTo>
                  <a:pt x="2086256" y="722105"/>
                </a:lnTo>
                <a:lnTo>
                  <a:pt x="2066972" y="759394"/>
                </a:lnTo>
                <a:lnTo>
                  <a:pt x="2037568" y="788799"/>
                </a:lnTo>
                <a:lnTo>
                  <a:pt x="2000279" y="808082"/>
                </a:lnTo>
                <a:lnTo>
                  <a:pt x="1957344" y="815007"/>
                </a:lnTo>
                <a:lnTo>
                  <a:pt x="135837" y="815007"/>
                </a:lnTo>
                <a:lnTo>
                  <a:pt x="92901" y="808082"/>
                </a:lnTo>
                <a:lnTo>
                  <a:pt x="55613" y="788799"/>
                </a:lnTo>
                <a:lnTo>
                  <a:pt x="26208" y="759394"/>
                </a:lnTo>
                <a:lnTo>
                  <a:pt x="6925" y="722105"/>
                </a:lnTo>
                <a:lnTo>
                  <a:pt x="0" y="679170"/>
                </a:lnTo>
                <a:lnTo>
                  <a:pt x="0" y="135837"/>
                </a:lnTo>
                <a:close/>
              </a:path>
            </a:pathLst>
          </a:custGeom>
          <a:ln w="38099">
            <a:solidFill>
              <a:srgbClr val="FFFFFF"/>
            </a:solidFill>
          </a:ln>
        </p:spPr>
        <p:txBody>
          <a:bodyPr wrap="square" lIns="0" tIns="0" rIns="0" bIns="0" rtlCol="0"/>
          <a:lstStyle/>
          <a:p>
            <a:endParaRPr/>
          </a:p>
        </p:txBody>
      </p:sp>
      <p:sp>
        <p:nvSpPr>
          <p:cNvPr id="24" name="object 24"/>
          <p:cNvSpPr txBox="1"/>
          <p:nvPr/>
        </p:nvSpPr>
        <p:spPr>
          <a:xfrm>
            <a:off x="2184381" y="4964168"/>
            <a:ext cx="1143000" cy="360680"/>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FFFFFF"/>
                </a:solidFill>
                <a:latin typeface="微软雅黑" panose="020B0503020204020204" pitchFamily="34" charset="-122"/>
                <a:cs typeface="微软雅黑" panose="020B0503020204020204" pitchFamily="34" charset="-122"/>
              </a:rPr>
              <a:t>条件覆盖</a:t>
            </a:r>
            <a:endParaRPr sz="2200">
              <a:latin typeface="微软雅黑" panose="020B0503020204020204" pitchFamily="34" charset="-122"/>
              <a:cs typeface="微软雅黑" panose="020B0503020204020204" pitchFamily="34" charset="-122"/>
            </a:endParaRPr>
          </a:p>
        </p:txBody>
      </p:sp>
      <p:sp>
        <p:nvSpPr>
          <p:cNvPr id="25" name="object 25"/>
          <p:cNvSpPr/>
          <p:nvPr/>
        </p:nvSpPr>
        <p:spPr>
          <a:xfrm>
            <a:off x="8517807" y="4737003"/>
            <a:ext cx="2093595" cy="815340"/>
          </a:xfrm>
          <a:custGeom>
            <a:avLst/>
            <a:gdLst/>
            <a:ahLst/>
            <a:cxnLst/>
            <a:rect l="l" t="t" r="r" b="b"/>
            <a:pathLst>
              <a:path w="2093595" h="815339">
                <a:moveTo>
                  <a:pt x="1957344" y="0"/>
                </a:moveTo>
                <a:lnTo>
                  <a:pt x="135836" y="0"/>
                </a:lnTo>
                <a:lnTo>
                  <a:pt x="92901" y="6925"/>
                </a:lnTo>
                <a:lnTo>
                  <a:pt x="55613" y="26208"/>
                </a:lnTo>
                <a:lnTo>
                  <a:pt x="26208" y="55613"/>
                </a:lnTo>
                <a:lnTo>
                  <a:pt x="6925" y="92902"/>
                </a:lnTo>
                <a:lnTo>
                  <a:pt x="0" y="135837"/>
                </a:lnTo>
                <a:lnTo>
                  <a:pt x="0" y="679171"/>
                </a:lnTo>
                <a:lnTo>
                  <a:pt x="6925" y="722106"/>
                </a:lnTo>
                <a:lnTo>
                  <a:pt x="26208" y="759395"/>
                </a:lnTo>
                <a:lnTo>
                  <a:pt x="55613" y="788799"/>
                </a:lnTo>
                <a:lnTo>
                  <a:pt x="92901" y="808083"/>
                </a:lnTo>
                <a:lnTo>
                  <a:pt x="135836" y="815008"/>
                </a:lnTo>
                <a:lnTo>
                  <a:pt x="1957344" y="815008"/>
                </a:lnTo>
                <a:lnTo>
                  <a:pt x="2000279" y="808083"/>
                </a:lnTo>
                <a:lnTo>
                  <a:pt x="2037567" y="788799"/>
                </a:lnTo>
                <a:lnTo>
                  <a:pt x="2066972" y="759395"/>
                </a:lnTo>
                <a:lnTo>
                  <a:pt x="2086255" y="722106"/>
                </a:lnTo>
                <a:lnTo>
                  <a:pt x="2093180" y="679171"/>
                </a:lnTo>
                <a:lnTo>
                  <a:pt x="2093180" y="135837"/>
                </a:lnTo>
                <a:lnTo>
                  <a:pt x="2086255" y="92902"/>
                </a:lnTo>
                <a:lnTo>
                  <a:pt x="2066972" y="55613"/>
                </a:lnTo>
                <a:lnTo>
                  <a:pt x="2037567" y="26208"/>
                </a:lnTo>
                <a:lnTo>
                  <a:pt x="2000279" y="6925"/>
                </a:lnTo>
                <a:lnTo>
                  <a:pt x="1957344" y="0"/>
                </a:lnTo>
                <a:close/>
              </a:path>
            </a:pathLst>
          </a:custGeom>
          <a:solidFill>
            <a:srgbClr val="004479"/>
          </a:solidFill>
        </p:spPr>
        <p:txBody>
          <a:bodyPr wrap="square" lIns="0" tIns="0" rIns="0" bIns="0" rtlCol="0"/>
          <a:lstStyle/>
          <a:p>
            <a:endParaRPr/>
          </a:p>
        </p:txBody>
      </p:sp>
      <p:sp>
        <p:nvSpPr>
          <p:cNvPr id="26" name="object 26"/>
          <p:cNvSpPr/>
          <p:nvPr/>
        </p:nvSpPr>
        <p:spPr>
          <a:xfrm>
            <a:off x="8517807" y="4737003"/>
            <a:ext cx="2093595" cy="815340"/>
          </a:xfrm>
          <a:custGeom>
            <a:avLst/>
            <a:gdLst/>
            <a:ahLst/>
            <a:cxnLst/>
            <a:rect l="l" t="t" r="r" b="b"/>
            <a:pathLst>
              <a:path w="2093595" h="815339">
                <a:moveTo>
                  <a:pt x="0" y="135837"/>
                </a:moveTo>
                <a:lnTo>
                  <a:pt x="6925" y="92902"/>
                </a:lnTo>
                <a:lnTo>
                  <a:pt x="26208" y="55613"/>
                </a:lnTo>
                <a:lnTo>
                  <a:pt x="55613" y="26208"/>
                </a:lnTo>
                <a:lnTo>
                  <a:pt x="92901" y="6925"/>
                </a:lnTo>
                <a:lnTo>
                  <a:pt x="135836" y="0"/>
                </a:lnTo>
                <a:lnTo>
                  <a:pt x="1957344" y="0"/>
                </a:lnTo>
                <a:lnTo>
                  <a:pt x="2000279" y="6925"/>
                </a:lnTo>
                <a:lnTo>
                  <a:pt x="2037567" y="26208"/>
                </a:lnTo>
                <a:lnTo>
                  <a:pt x="2066972" y="55613"/>
                </a:lnTo>
                <a:lnTo>
                  <a:pt x="2086255" y="92902"/>
                </a:lnTo>
                <a:lnTo>
                  <a:pt x="2093180" y="135837"/>
                </a:lnTo>
                <a:lnTo>
                  <a:pt x="2093180" y="679170"/>
                </a:lnTo>
                <a:lnTo>
                  <a:pt x="2086255" y="722105"/>
                </a:lnTo>
                <a:lnTo>
                  <a:pt x="2066972" y="759394"/>
                </a:lnTo>
                <a:lnTo>
                  <a:pt x="2037567" y="788799"/>
                </a:lnTo>
                <a:lnTo>
                  <a:pt x="2000279" y="808082"/>
                </a:lnTo>
                <a:lnTo>
                  <a:pt x="1957344" y="815007"/>
                </a:lnTo>
                <a:lnTo>
                  <a:pt x="135836" y="815007"/>
                </a:lnTo>
                <a:lnTo>
                  <a:pt x="92901" y="808082"/>
                </a:lnTo>
                <a:lnTo>
                  <a:pt x="55613" y="788799"/>
                </a:lnTo>
                <a:lnTo>
                  <a:pt x="26208" y="759394"/>
                </a:lnTo>
                <a:lnTo>
                  <a:pt x="6925" y="722105"/>
                </a:lnTo>
                <a:lnTo>
                  <a:pt x="0" y="679170"/>
                </a:lnTo>
                <a:lnTo>
                  <a:pt x="0" y="135837"/>
                </a:lnTo>
                <a:close/>
              </a:path>
            </a:pathLst>
          </a:custGeom>
          <a:ln w="38099">
            <a:solidFill>
              <a:srgbClr val="FFFFFF"/>
            </a:solidFill>
          </a:ln>
        </p:spPr>
        <p:txBody>
          <a:bodyPr wrap="square" lIns="0" tIns="0" rIns="0" bIns="0" rtlCol="0"/>
          <a:lstStyle/>
          <a:p>
            <a:endParaRPr/>
          </a:p>
        </p:txBody>
      </p:sp>
      <p:sp>
        <p:nvSpPr>
          <p:cNvPr id="27" name="object 27"/>
          <p:cNvSpPr txBox="1"/>
          <p:nvPr/>
        </p:nvSpPr>
        <p:spPr>
          <a:xfrm>
            <a:off x="8991932" y="4964168"/>
            <a:ext cx="1143000" cy="360680"/>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FFFFFF"/>
                </a:solidFill>
                <a:latin typeface="微软雅黑" panose="020B0503020204020204" pitchFamily="34" charset="-122"/>
                <a:cs typeface="微软雅黑" panose="020B0503020204020204" pitchFamily="34" charset="-122"/>
              </a:rPr>
              <a:t>路径覆盖</a:t>
            </a:r>
            <a:endParaRPr sz="2200">
              <a:latin typeface="微软雅黑" panose="020B0503020204020204" pitchFamily="34" charset="-122"/>
              <a:cs typeface="微软雅黑" panose="020B0503020204020204" pitchFamily="34" charset="-122"/>
            </a:endParaRPr>
          </a:p>
        </p:txBody>
      </p:sp>
      <p:sp>
        <p:nvSpPr>
          <p:cNvPr id="28" name="灯片编号占位符 27"/>
          <p:cNvSpPr>
            <a:spLocks noGrp="1"/>
          </p:cNvSpPr>
          <p:nvPr>
            <p:ph type="sldNum" sz="quarter" idx="12"/>
          </p:nvPr>
        </p:nvSpPr>
        <p:spPr/>
        <p:txBody>
          <a:bodyPr/>
          <a:lstStyle/>
          <a:p>
            <a:fld id="{74D2AB8B-5816-41F2-8B4B-CA5C3E4E6A65}" type="slidenum">
              <a:rPr lang="zh-CN" altLang="en-US" smtClean="0"/>
              <a:t>27</a:t>
            </a:fld>
            <a:endParaRPr lang="zh-CN" altLang="en-US"/>
          </a:p>
        </p:txBody>
      </p:sp>
      <p:sp>
        <p:nvSpPr>
          <p:cNvPr id="30" name="标题 29"/>
          <p:cNvSpPr>
            <a:spLocks noGrp="1"/>
          </p:cNvSpPr>
          <p:nvPr>
            <p:ph type="title"/>
          </p:nvPr>
        </p:nvSpPr>
        <p:spPr/>
        <p:txBody>
          <a:bodyPr/>
          <a:lstStyle/>
          <a:p>
            <a:r>
              <a:rPr lang="zh-CN" altLang="en-US" dirty="0"/>
              <a:t>代码覆盖标准</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318463" y="1544981"/>
            <a:ext cx="4689475" cy="1435100"/>
          </a:xfrm>
          <a:prstGeom prst="rect">
            <a:avLst/>
          </a:prstGeom>
        </p:spPr>
        <p:txBody>
          <a:bodyPr vert="horz" wrap="square" lIns="0" tIns="33020" rIns="0" bIns="0" rtlCol="0">
            <a:spAutoFit/>
          </a:bodyPr>
          <a:lstStyle/>
          <a:p>
            <a:pPr marL="12700">
              <a:lnSpc>
                <a:spcPct val="100000"/>
              </a:lnSpc>
              <a:spcBef>
                <a:spcPts val="260"/>
              </a:spcBef>
              <a:tabLst>
                <a:tab pos="2214880" algn="l"/>
                <a:tab pos="3121660" algn="l"/>
              </a:tabLst>
            </a:pPr>
            <a:r>
              <a:rPr sz="1700" b="1" spc="-5" dirty="0">
                <a:latin typeface="Courier New" panose="02070309020205020404"/>
                <a:cs typeface="Courier New" panose="02070309020205020404"/>
              </a:rPr>
              <a:t>double </a:t>
            </a:r>
            <a:r>
              <a:rPr sz="1700" b="1" dirty="0">
                <a:latin typeface="Courier New" panose="02070309020205020404"/>
                <a:cs typeface="Courier New" panose="02070309020205020404"/>
              </a:rPr>
              <a:t>func1(int	</a:t>
            </a:r>
            <a:r>
              <a:rPr sz="1700" b="1" spc="-5" dirty="0">
                <a:latin typeface="Courier New" panose="02070309020205020404"/>
                <a:cs typeface="Courier New" panose="02070309020205020404"/>
              </a:rPr>
              <a:t>a,</a:t>
            </a:r>
            <a:r>
              <a:rPr sz="1700" b="1" spc="5" dirty="0">
                <a:latin typeface="Courier New" panose="02070309020205020404"/>
                <a:cs typeface="Courier New" panose="02070309020205020404"/>
              </a:rPr>
              <a:t> </a:t>
            </a:r>
            <a:r>
              <a:rPr sz="1700" b="1" dirty="0">
                <a:latin typeface="Courier New" panose="02070309020205020404"/>
                <a:cs typeface="Courier New" panose="02070309020205020404"/>
              </a:rPr>
              <a:t>int	</a:t>
            </a:r>
            <a:r>
              <a:rPr sz="1700" b="1" spc="-5" dirty="0">
                <a:latin typeface="Courier New" panose="02070309020205020404"/>
                <a:cs typeface="Courier New" panose="02070309020205020404"/>
              </a:rPr>
              <a:t>b, double</a:t>
            </a:r>
            <a:r>
              <a:rPr sz="1700" b="1" spc="-90" dirty="0">
                <a:latin typeface="Courier New" panose="02070309020205020404"/>
                <a:cs typeface="Courier New" panose="02070309020205020404"/>
              </a:rPr>
              <a:t> </a:t>
            </a:r>
            <a:r>
              <a:rPr sz="1700" b="1" spc="-5" dirty="0">
                <a:latin typeface="Courier New" panose="02070309020205020404"/>
                <a:cs typeface="Courier New" panose="02070309020205020404"/>
              </a:rPr>
              <a:t>c)</a:t>
            </a:r>
            <a:endParaRPr sz="1700">
              <a:latin typeface="Courier New" panose="02070309020205020404"/>
              <a:cs typeface="Courier New" panose="02070309020205020404"/>
            </a:endParaRPr>
          </a:p>
          <a:p>
            <a:pPr marL="12700">
              <a:lnSpc>
                <a:spcPct val="100000"/>
              </a:lnSpc>
              <a:spcBef>
                <a:spcPts val="160"/>
              </a:spcBef>
            </a:pPr>
            <a:r>
              <a:rPr sz="1700" b="1" dirty="0">
                <a:latin typeface="Courier New" panose="02070309020205020404"/>
                <a:cs typeface="Courier New" panose="02070309020205020404"/>
              </a:rPr>
              <a:t>{</a:t>
            </a:r>
            <a:endParaRPr sz="1700">
              <a:latin typeface="Courier New" panose="02070309020205020404"/>
              <a:cs typeface="Courier New" panose="02070309020205020404"/>
            </a:endParaRPr>
          </a:p>
          <a:p>
            <a:pPr marL="1049020" marR="1948180" indent="-518795">
              <a:lnSpc>
                <a:spcPts val="2300"/>
              </a:lnSpc>
              <a:spcBef>
                <a:spcPts val="20"/>
              </a:spcBef>
            </a:pPr>
            <a:r>
              <a:rPr sz="1700" b="1" spc="-5" dirty="0">
                <a:latin typeface="Courier New" panose="02070309020205020404"/>
                <a:cs typeface="Courier New" panose="02070309020205020404"/>
              </a:rPr>
              <a:t>if (a&gt;0 &amp;&amp; b&gt;0)</a:t>
            </a:r>
            <a:r>
              <a:rPr sz="1700" b="1" spc="-85" dirty="0">
                <a:latin typeface="Courier New" panose="02070309020205020404"/>
                <a:cs typeface="Courier New" panose="02070309020205020404"/>
              </a:rPr>
              <a:t> </a:t>
            </a:r>
            <a:r>
              <a:rPr sz="1700" b="1" dirty="0">
                <a:latin typeface="Courier New" panose="02070309020205020404"/>
                <a:cs typeface="Courier New" panose="02070309020205020404"/>
              </a:rPr>
              <a:t>{  c =</a:t>
            </a:r>
            <a:r>
              <a:rPr sz="1700" b="1" spc="-40" dirty="0">
                <a:latin typeface="Courier New" panose="02070309020205020404"/>
                <a:cs typeface="Courier New" panose="02070309020205020404"/>
              </a:rPr>
              <a:t> </a:t>
            </a:r>
            <a:r>
              <a:rPr sz="1700" b="1" spc="-5" dirty="0">
                <a:latin typeface="Courier New" panose="02070309020205020404"/>
                <a:cs typeface="Courier New" panose="02070309020205020404"/>
              </a:rPr>
              <a:t>c/a;</a:t>
            </a:r>
            <a:endParaRPr sz="1700">
              <a:latin typeface="Courier New" panose="02070309020205020404"/>
              <a:cs typeface="Courier New" panose="02070309020205020404"/>
            </a:endParaRPr>
          </a:p>
          <a:p>
            <a:pPr marL="530860">
              <a:lnSpc>
                <a:spcPct val="100000"/>
              </a:lnSpc>
              <a:spcBef>
                <a:spcPts val="40"/>
              </a:spcBef>
            </a:pPr>
            <a:r>
              <a:rPr sz="1700" b="1" dirty="0">
                <a:latin typeface="Courier New" panose="02070309020205020404"/>
                <a:cs typeface="Courier New" panose="02070309020205020404"/>
              </a:rPr>
              <a:t>}</a:t>
            </a:r>
            <a:endParaRPr sz="1700">
              <a:latin typeface="Courier New" panose="02070309020205020404"/>
              <a:cs typeface="Courier New" panose="02070309020205020404"/>
            </a:endParaRPr>
          </a:p>
        </p:txBody>
      </p:sp>
      <p:sp>
        <p:nvSpPr>
          <p:cNvPr id="4" name="object 4"/>
          <p:cNvSpPr txBox="1"/>
          <p:nvPr/>
        </p:nvSpPr>
        <p:spPr>
          <a:xfrm>
            <a:off x="1836709" y="3234081"/>
            <a:ext cx="2228215" cy="889000"/>
          </a:xfrm>
          <a:prstGeom prst="rect">
            <a:avLst/>
          </a:prstGeom>
        </p:spPr>
        <p:txBody>
          <a:bodyPr vert="horz" wrap="square" lIns="0" tIns="12700" rIns="0" bIns="0" rtlCol="0">
            <a:spAutoFit/>
          </a:bodyPr>
          <a:lstStyle/>
          <a:p>
            <a:pPr marL="530860" marR="5080" indent="-518795">
              <a:lnSpc>
                <a:spcPct val="113000"/>
              </a:lnSpc>
              <a:spcBef>
                <a:spcPts val="100"/>
              </a:spcBef>
            </a:pPr>
            <a:r>
              <a:rPr sz="1700" b="1" spc="-5" dirty="0">
                <a:latin typeface="Courier New" panose="02070309020205020404"/>
                <a:cs typeface="Courier New" panose="02070309020205020404"/>
              </a:rPr>
              <a:t>if (a&gt;1 || c&gt;1)</a:t>
            </a:r>
            <a:r>
              <a:rPr sz="1700" b="1" spc="-85" dirty="0">
                <a:latin typeface="Courier New" panose="02070309020205020404"/>
                <a:cs typeface="Courier New" panose="02070309020205020404"/>
              </a:rPr>
              <a:t> </a:t>
            </a:r>
            <a:r>
              <a:rPr sz="1700" b="1" dirty="0">
                <a:latin typeface="Courier New" panose="02070309020205020404"/>
                <a:cs typeface="Courier New" panose="02070309020205020404"/>
              </a:rPr>
              <a:t>{  c =</a:t>
            </a:r>
            <a:r>
              <a:rPr sz="1700" b="1" spc="-40" dirty="0">
                <a:latin typeface="Courier New" panose="02070309020205020404"/>
                <a:cs typeface="Courier New" panose="02070309020205020404"/>
              </a:rPr>
              <a:t> </a:t>
            </a:r>
            <a:r>
              <a:rPr sz="1700" b="1" spc="-5" dirty="0">
                <a:latin typeface="Courier New" panose="02070309020205020404"/>
                <a:cs typeface="Courier New" panose="02070309020205020404"/>
              </a:rPr>
              <a:t>c+1;</a:t>
            </a:r>
            <a:endParaRPr sz="1700">
              <a:latin typeface="Courier New" panose="02070309020205020404"/>
              <a:cs typeface="Courier New" panose="02070309020205020404"/>
            </a:endParaRPr>
          </a:p>
          <a:p>
            <a:pPr marL="12700">
              <a:lnSpc>
                <a:spcPct val="100000"/>
              </a:lnSpc>
              <a:spcBef>
                <a:spcPts val="160"/>
              </a:spcBef>
            </a:pPr>
            <a:r>
              <a:rPr sz="1700" b="1" dirty="0">
                <a:latin typeface="Courier New" panose="02070309020205020404"/>
                <a:cs typeface="Courier New" panose="02070309020205020404"/>
              </a:rPr>
              <a:t>}</a:t>
            </a:r>
            <a:endParaRPr sz="1700">
              <a:latin typeface="Courier New" panose="02070309020205020404"/>
              <a:cs typeface="Courier New" panose="02070309020205020404"/>
            </a:endParaRPr>
          </a:p>
        </p:txBody>
      </p:sp>
      <p:sp>
        <p:nvSpPr>
          <p:cNvPr id="5" name="object 5"/>
          <p:cNvSpPr txBox="1"/>
          <p:nvPr/>
        </p:nvSpPr>
        <p:spPr>
          <a:xfrm>
            <a:off x="1836709" y="4410101"/>
            <a:ext cx="1062355" cy="284480"/>
          </a:xfrm>
          <a:prstGeom prst="rect">
            <a:avLst/>
          </a:prstGeom>
        </p:spPr>
        <p:txBody>
          <a:bodyPr vert="horz" wrap="square" lIns="0" tIns="12700" rIns="0" bIns="0" rtlCol="0">
            <a:spAutoFit/>
          </a:bodyPr>
          <a:lstStyle/>
          <a:p>
            <a:pPr marL="12700">
              <a:lnSpc>
                <a:spcPct val="100000"/>
              </a:lnSpc>
              <a:spcBef>
                <a:spcPts val="100"/>
              </a:spcBef>
            </a:pPr>
            <a:r>
              <a:rPr sz="1700" b="1" dirty="0">
                <a:latin typeface="Courier New" panose="02070309020205020404"/>
                <a:cs typeface="Courier New" panose="02070309020205020404"/>
              </a:rPr>
              <a:t>c =</a:t>
            </a:r>
            <a:r>
              <a:rPr sz="1700" b="1" spc="-100" dirty="0">
                <a:latin typeface="Courier New" panose="02070309020205020404"/>
                <a:cs typeface="Courier New" panose="02070309020205020404"/>
              </a:rPr>
              <a:t> </a:t>
            </a:r>
            <a:r>
              <a:rPr sz="1700" b="1" dirty="0">
                <a:latin typeface="Courier New" panose="02070309020205020404"/>
                <a:cs typeface="Courier New" panose="02070309020205020404"/>
              </a:rPr>
              <a:t>b+c;</a:t>
            </a:r>
            <a:endParaRPr sz="1700">
              <a:latin typeface="Courier New" panose="02070309020205020404"/>
              <a:cs typeface="Courier New" panose="02070309020205020404"/>
            </a:endParaRPr>
          </a:p>
        </p:txBody>
      </p:sp>
      <p:sp>
        <p:nvSpPr>
          <p:cNvPr id="6" name="object 6"/>
          <p:cNvSpPr txBox="1"/>
          <p:nvPr/>
        </p:nvSpPr>
        <p:spPr>
          <a:xfrm>
            <a:off x="1318463" y="4961283"/>
            <a:ext cx="1710055" cy="584200"/>
          </a:xfrm>
          <a:prstGeom prst="rect">
            <a:avLst/>
          </a:prstGeom>
        </p:spPr>
        <p:txBody>
          <a:bodyPr vert="horz" wrap="square" lIns="0" tIns="33019" rIns="0" bIns="0" rtlCol="0">
            <a:spAutoFit/>
          </a:bodyPr>
          <a:lstStyle/>
          <a:p>
            <a:pPr marL="530860">
              <a:lnSpc>
                <a:spcPct val="100000"/>
              </a:lnSpc>
              <a:spcBef>
                <a:spcPts val="260"/>
              </a:spcBef>
            </a:pPr>
            <a:r>
              <a:rPr sz="1700" b="1" spc="-5" dirty="0">
                <a:latin typeface="Courier New" panose="02070309020205020404"/>
                <a:cs typeface="Courier New" panose="02070309020205020404"/>
              </a:rPr>
              <a:t>return</a:t>
            </a:r>
            <a:r>
              <a:rPr sz="1700" b="1" spc="-90" dirty="0">
                <a:latin typeface="Courier New" panose="02070309020205020404"/>
                <a:cs typeface="Courier New" panose="02070309020205020404"/>
              </a:rPr>
              <a:t> </a:t>
            </a:r>
            <a:r>
              <a:rPr sz="1700" b="1" spc="-5" dirty="0">
                <a:latin typeface="Courier New" panose="02070309020205020404"/>
                <a:cs typeface="Courier New" panose="02070309020205020404"/>
              </a:rPr>
              <a:t>c;</a:t>
            </a:r>
            <a:endParaRPr sz="1700">
              <a:latin typeface="Courier New" panose="02070309020205020404"/>
              <a:cs typeface="Courier New" panose="02070309020205020404"/>
            </a:endParaRPr>
          </a:p>
          <a:p>
            <a:pPr marL="12700">
              <a:lnSpc>
                <a:spcPct val="100000"/>
              </a:lnSpc>
              <a:spcBef>
                <a:spcPts val="160"/>
              </a:spcBef>
            </a:pPr>
            <a:r>
              <a:rPr sz="1700" b="1" dirty="0">
                <a:latin typeface="Courier New" panose="02070309020205020404"/>
                <a:cs typeface="Courier New" panose="02070309020205020404"/>
              </a:rPr>
              <a:t>}</a:t>
            </a:r>
            <a:endParaRPr sz="1700">
              <a:latin typeface="Courier New" panose="02070309020205020404"/>
              <a:cs typeface="Courier New" panose="02070309020205020404"/>
            </a:endParaRPr>
          </a:p>
        </p:txBody>
      </p:sp>
      <p:sp>
        <p:nvSpPr>
          <p:cNvPr id="7" name="object 7"/>
          <p:cNvSpPr/>
          <p:nvPr/>
        </p:nvSpPr>
        <p:spPr>
          <a:xfrm>
            <a:off x="8172785" y="4598060"/>
            <a:ext cx="635" cy="834390"/>
          </a:xfrm>
          <a:custGeom>
            <a:avLst/>
            <a:gdLst/>
            <a:ahLst/>
            <a:cxnLst/>
            <a:rect l="l" t="t" r="r" b="b"/>
            <a:pathLst>
              <a:path w="634" h="834389">
                <a:moveTo>
                  <a:pt x="613" y="0"/>
                </a:moveTo>
                <a:lnTo>
                  <a:pt x="0" y="834389"/>
                </a:lnTo>
              </a:path>
            </a:pathLst>
          </a:custGeom>
          <a:ln w="19049">
            <a:solidFill>
              <a:srgbClr val="000000"/>
            </a:solidFill>
          </a:ln>
        </p:spPr>
        <p:txBody>
          <a:bodyPr wrap="square" lIns="0" tIns="0" rIns="0" bIns="0" rtlCol="0"/>
          <a:lstStyle/>
          <a:p>
            <a:endParaRPr/>
          </a:p>
        </p:txBody>
      </p:sp>
      <p:sp>
        <p:nvSpPr>
          <p:cNvPr id="8" name="object 8"/>
          <p:cNvSpPr/>
          <p:nvPr/>
        </p:nvSpPr>
        <p:spPr>
          <a:xfrm>
            <a:off x="8134723" y="5381622"/>
            <a:ext cx="76200" cy="76835"/>
          </a:xfrm>
          <a:custGeom>
            <a:avLst/>
            <a:gdLst/>
            <a:ahLst/>
            <a:cxnLst/>
            <a:rect l="l" t="t" r="r" b="b"/>
            <a:pathLst>
              <a:path w="76200" h="76835">
                <a:moveTo>
                  <a:pt x="0" y="0"/>
                </a:moveTo>
                <a:lnTo>
                  <a:pt x="38044" y="76227"/>
                </a:lnTo>
                <a:lnTo>
                  <a:pt x="76200" y="55"/>
                </a:lnTo>
                <a:lnTo>
                  <a:pt x="0" y="0"/>
                </a:lnTo>
                <a:close/>
              </a:path>
            </a:pathLst>
          </a:custGeom>
          <a:solidFill>
            <a:srgbClr val="000000"/>
          </a:solidFill>
        </p:spPr>
        <p:txBody>
          <a:bodyPr wrap="square" lIns="0" tIns="0" rIns="0" bIns="0" rtlCol="0"/>
          <a:lstStyle/>
          <a:p>
            <a:endParaRPr/>
          </a:p>
        </p:txBody>
      </p:sp>
      <p:sp>
        <p:nvSpPr>
          <p:cNvPr id="9" name="object 9"/>
          <p:cNvSpPr/>
          <p:nvPr/>
        </p:nvSpPr>
        <p:spPr>
          <a:xfrm>
            <a:off x="7106687" y="1775089"/>
            <a:ext cx="2133600" cy="902969"/>
          </a:xfrm>
          <a:custGeom>
            <a:avLst/>
            <a:gdLst/>
            <a:ahLst/>
            <a:cxnLst/>
            <a:rect l="l" t="t" r="r" b="b"/>
            <a:pathLst>
              <a:path w="2133600" h="902969">
                <a:moveTo>
                  <a:pt x="0" y="451365"/>
                </a:moveTo>
                <a:lnTo>
                  <a:pt x="1066711" y="0"/>
                </a:lnTo>
                <a:lnTo>
                  <a:pt x="2133424" y="451365"/>
                </a:lnTo>
                <a:lnTo>
                  <a:pt x="1066711" y="902731"/>
                </a:lnTo>
                <a:lnTo>
                  <a:pt x="0" y="451365"/>
                </a:lnTo>
                <a:close/>
              </a:path>
            </a:pathLst>
          </a:custGeom>
          <a:ln w="19049">
            <a:solidFill>
              <a:srgbClr val="000000"/>
            </a:solidFill>
          </a:ln>
        </p:spPr>
        <p:txBody>
          <a:bodyPr wrap="square" lIns="0" tIns="0" rIns="0" bIns="0" rtlCol="0"/>
          <a:lstStyle/>
          <a:p>
            <a:endParaRPr/>
          </a:p>
        </p:txBody>
      </p:sp>
      <p:sp>
        <p:nvSpPr>
          <p:cNvPr id="10" name="object 10"/>
          <p:cNvSpPr txBox="1"/>
          <p:nvPr/>
        </p:nvSpPr>
        <p:spPr>
          <a:xfrm>
            <a:off x="7401283" y="2076594"/>
            <a:ext cx="153479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ourier New" panose="02070309020205020404"/>
                <a:cs typeface="Courier New" panose="02070309020205020404"/>
              </a:rPr>
              <a:t>a&gt;0 and</a:t>
            </a:r>
            <a:r>
              <a:rPr sz="1800" b="1" spc="-90" dirty="0">
                <a:latin typeface="Courier New" panose="02070309020205020404"/>
                <a:cs typeface="Courier New" panose="02070309020205020404"/>
              </a:rPr>
              <a:t> </a:t>
            </a:r>
            <a:r>
              <a:rPr sz="1800" b="1" spc="-5" dirty="0">
                <a:latin typeface="Courier New" panose="02070309020205020404"/>
                <a:cs typeface="Courier New" panose="02070309020205020404"/>
              </a:rPr>
              <a:t>b&gt;0</a:t>
            </a:r>
            <a:endParaRPr sz="1800">
              <a:latin typeface="Courier New" panose="02070309020205020404"/>
              <a:cs typeface="Courier New" panose="02070309020205020404"/>
            </a:endParaRPr>
          </a:p>
        </p:txBody>
      </p:sp>
      <p:sp>
        <p:nvSpPr>
          <p:cNvPr id="11" name="object 11"/>
          <p:cNvSpPr/>
          <p:nvPr/>
        </p:nvSpPr>
        <p:spPr>
          <a:xfrm>
            <a:off x="9481628" y="2449220"/>
            <a:ext cx="1149985" cy="369570"/>
          </a:xfrm>
          <a:custGeom>
            <a:avLst/>
            <a:gdLst/>
            <a:ahLst/>
            <a:cxnLst/>
            <a:rect l="l" t="t" r="r" b="b"/>
            <a:pathLst>
              <a:path w="1149984" h="369569">
                <a:moveTo>
                  <a:pt x="0" y="0"/>
                </a:moveTo>
                <a:lnTo>
                  <a:pt x="1149674" y="0"/>
                </a:lnTo>
                <a:lnTo>
                  <a:pt x="1149674" y="369332"/>
                </a:lnTo>
                <a:lnTo>
                  <a:pt x="0" y="369332"/>
                </a:lnTo>
                <a:lnTo>
                  <a:pt x="0" y="0"/>
                </a:lnTo>
                <a:close/>
              </a:path>
            </a:pathLst>
          </a:custGeom>
          <a:ln w="19049">
            <a:solidFill>
              <a:srgbClr val="000000"/>
            </a:solidFill>
          </a:ln>
        </p:spPr>
        <p:txBody>
          <a:bodyPr wrap="square" lIns="0" tIns="0" rIns="0" bIns="0" rtlCol="0"/>
          <a:lstStyle/>
          <a:p>
            <a:endParaRPr/>
          </a:p>
        </p:txBody>
      </p:sp>
      <p:sp>
        <p:nvSpPr>
          <p:cNvPr id="12" name="object 12"/>
          <p:cNvSpPr txBox="1"/>
          <p:nvPr/>
        </p:nvSpPr>
        <p:spPr>
          <a:xfrm>
            <a:off x="9560368" y="2484025"/>
            <a:ext cx="98615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ourier New" panose="02070309020205020404"/>
                <a:cs typeface="Courier New" panose="02070309020205020404"/>
              </a:rPr>
              <a:t>c =</a:t>
            </a:r>
            <a:r>
              <a:rPr sz="1800" b="1" spc="-105" dirty="0">
                <a:latin typeface="Courier New" panose="02070309020205020404"/>
                <a:cs typeface="Courier New" panose="02070309020205020404"/>
              </a:rPr>
              <a:t> </a:t>
            </a:r>
            <a:r>
              <a:rPr sz="1800" b="1" spc="-5" dirty="0">
                <a:latin typeface="Courier New" panose="02070309020205020404"/>
                <a:cs typeface="Courier New" panose="02070309020205020404"/>
              </a:rPr>
              <a:t>c/a</a:t>
            </a:r>
            <a:endParaRPr sz="1800">
              <a:latin typeface="Courier New" panose="02070309020205020404"/>
              <a:cs typeface="Courier New" panose="02070309020205020404"/>
            </a:endParaRPr>
          </a:p>
        </p:txBody>
      </p:sp>
      <p:sp>
        <p:nvSpPr>
          <p:cNvPr id="13" name="object 13"/>
          <p:cNvSpPr/>
          <p:nvPr/>
        </p:nvSpPr>
        <p:spPr>
          <a:xfrm>
            <a:off x="7106687" y="3649370"/>
            <a:ext cx="2133600" cy="948690"/>
          </a:xfrm>
          <a:custGeom>
            <a:avLst/>
            <a:gdLst/>
            <a:ahLst/>
            <a:cxnLst/>
            <a:rect l="l" t="t" r="r" b="b"/>
            <a:pathLst>
              <a:path w="2133600" h="948689">
                <a:moveTo>
                  <a:pt x="0" y="474344"/>
                </a:moveTo>
                <a:lnTo>
                  <a:pt x="1066711" y="0"/>
                </a:lnTo>
                <a:lnTo>
                  <a:pt x="2133424" y="474344"/>
                </a:lnTo>
                <a:lnTo>
                  <a:pt x="1066711" y="948689"/>
                </a:lnTo>
                <a:lnTo>
                  <a:pt x="0" y="474344"/>
                </a:lnTo>
                <a:close/>
              </a:path>
            </a:pathLst>
          </a:custGeom>
          <a:ln w="19049">
            <a:solidFill>
              <a:srgbClr val="000000"/>
            </a:solidFill>
          </a:ln>
        </p:spPr>
        <p:txBody>
          <a:bodyPr wrap="square" lIns="0" tIns="0" rIns="0" bIns="0" rtlCol="0"/>
          <a:lstStyle/>
          <a:p>
            <a:endParaRPr/>
          </a:p>
        </p:txBody>
      </p:sp>
      <p:sp>
        <p:nvSpPr>
          <p:cNvPr id="14" name="object 14"/>
          <p:cNvSpPr txBox="1"/>
          <p:nvPr/>
        </p:nvSpPr>
        <p:spPr>
          <a:xfrm>
            <a:off x="7477483" y="3973855"/>
            <a:ext cx="13976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ourier New" panose="02070309020205020404"/>
                <a:cs typeface="Courier New" panose="02070309020205020404"/>
              </a:rPr>
              <a:t>a&gt;1 or</a:t>
            </a:r>
            <a:r>
              <a:rPr sz="1800" b="1" spc="-90" dirty="0">
                <a:latin typeface="Courier New" panose="02070309020205020404"/>
                <a:cs typeface="Courier New" panose="02070309020205020404"/>
              </a:rPr>
              <a:t> </a:t>
            </a:r>
            <a:r>
              <a:rPr sz="1800" b="1" spc="-5" dirty="0">
                <a:latin typeface="Courier New" panose="02070309020205020404"/>
                <a:cs typeface="Courier New" panose="02070309020205020404"/>
              </a:rPr>
              <a:t>c&gt;1</a:t>
            </a:r>
            <a:endParaRPr sz="1800">
              <a:latin typeface="Courier New" panose="02070309020205020404"/>
              <a:cs typeface="Courier New" panose="02070309020205020404"/>
            </a:endParaRPr>
          </a:p>
        </p:txBody>
      </p:sp>
      <p:sp>
        <p:nvSpPr>
          <p:cNvPr id="15" name="object 15"/>
          <p:cNvSpPr txBox="1"/>
          <p:nvPr/>
        </p:nvSpPr>
        <p:spPr>
          <a:xfrm>
            <a:off x="9474206" y="4399940"/>
            <a:ext cx="1149985" cy="369570"/>
          </a:xfrm>
          <a:prstGeom prst="rect">
            <a:avLst/>
          </a:prstGeom>
          <a:ln w="19049">
            <a:solidFill>
              <a:srgbClr val="000000"/>
            </a:solidFill>
          </a:ln>
        </p:spPr>
        <p:txBody>
          <a:bodyPr vert="horz" wrap="square" lIns="0" tIns="47625" rIns="0" bIns="0" rtlCol="0">
            <a:spAutoFit/>
          </a:bodyPr>
          <a:lstStyle/>
          <a:p>
            <a:pPr marL="91440">
              <a:lnSpc>
                <a:spcPct val="100000"/>
              </a:lnSpc>
              <a:spcBef>
                <a:spcPts val="375"/>
              </a:spcBef>
            </a:pPr>
            <a:r>
              <a:rPr sz="1800" b="1" dirty="0">
                <a:latin typeface="Courier New" panose="02070309020205020404"/>
                <a:cs typeface="Courier New" panose="02070309020205020404"/>
              </a:rPr>
              <a:t>c =</a:t>
            </a:r>
            <a:r>
              <a:rPr sz="1800" b="1" spc="-85" dirty="0">
                <a:latin typeface="Courier New" panose="02070309020205020404"/>
                <a:cs typeface="Courier New" panose="02070309020205020404"/>
              </a:rPr>
              <a:t> </a:t>
            </a:r>
            <a:r>
              <a:rPr sz="1800" b="1" spc="-5" dirty="0">
                <a:latin typeface="Courier New" panose="02070309020205020404"/>
                <a:cs typeface="Courier New" panose="02070309020205020404"/>
              </a:rPr>
              <a:t>c+1</a:t>
            </a:r>
            <a:endParaRPr sz="1800">
              <a:latin typeface="Courier New" panose="02070309020205020404"/>
              <a:cs typeface="Courier New" panose="02070309020205020404"/>
            </a:endParaRPr>
          </a:p>
        </p:txBody>
      </p:sp>
      <p:sp>
        <p:nvSpPr>
          <p:cNvPr id="16" name="object 16"/>
          <p:cNvSpPr/>
          <p:nvPr/>
        </p:nvSpPr>
        <p:spPr>
          <a:xfrm>
            <a:off x="9240111" y="2226454"/>
            <a:ext cx="815975" cy="198120"/>
          </a:xfrm>
          <a:custGeom>
            <a:avLst/>
            <a:gdLst/>
            <a:ahLst/>
            <a:cxnLst/>
            <a:rect l="l" t="t" r="r" b="b"/>
            <a:pathLst>
              <a:path w="815975" h="198119">
                <a:moveTo>
                  <a:pt x="0" y="0"/>
                </a:moveTo>
                <a:lnTo>
                  <a:pt x="815974" y="0"/>
                </a:lnTo>
                <a:lnTo>
                  <a:pt x="815974" y="197643"/>
                </a:lnTo>
              </a:path>
            </a:pathLst>
          </a:custGeom>
          <a:ln w="19049">
            <a:solidFill>
              <a:srgbClr val="000000"/>
            </a:solidFill>
          </a:ln>
        </p:spPr>
        <p:txBody>
          <a:bodyPr wrap="square" lIns="0" tIns="0" rIns="0" bIns="0" rtlCol="0"/>
          <a:lstStyle/>
          <a:p>
            <a:endParaRPr/>
          </a:p>
        </p:txBody>
      </p:sp>
      <p:sp>
        <p:nvSpPr>
          <p:cNvPr id="17" name="object 17"/>
          <p:cNvSpPr/>
          <p:nvPr/>
        </p:nvSpPr>
        <p:spPr>
          <a:xfrm>
            <a:off x="10017986" y="2373298"/>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18" name="object 18"/>
          <p:cNvSpPr/>
          <p:nvPr/>
        </p:nvSpPr>
        <p:spPr>
          <a:xfrm>
            <a:off x="8173399" y="2677820"/>
            <a:ext cx="0" cy="946150"/>
          </a:xfrm>
          <a:custGeom>
            <a:avLst/>
            <a:gdLst/>
            <a:ahLst/>
            <a:cxnLst/>
            <a:rect l="l" t="t" r="r" b="b"/>
            <a:pathLst>
              <a:path h="946150">
                <a:moveTo>
                  <a:pt x="0" y="0"/>
                </a:moveTo>
                <a:lnTo>
                  <a:pt x="0" y="946149"/>
                </a:lnTo>
              </a:path>
            </a:pathLst>
          </a:custGeom>
          <a:ln w="19049">
            <a:solidFill>
              <a:srgbClr val="000000"/>
            </a:solidFill>
          </a:ln>
        </p:spPr>
        <p:txBody>
          <a:bodyPr wrap="square" lIns="0" tIns="0" rIns="0" bIns="0" rtlCol="0"/>
          <a:lstStyle/>
          <a:p>
            <a:endParaRPr/>
          </a:p>
        </p:txBody>
      </p:sp>
      <p:sp>
        <p:nvSpPr>
          <p:cNvPr id="19" name="object 19"/>
          <p:cNvSpPr/>
          <p:nvPr/>
        </p:nvSpPr>
        <p:spPr>
          <a:xfrm>
            <a:off x="8135300" y="3573170"/>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20" name="object 20"/>
          <p:cNvSpPr txBox="1"/>
          <p:nvPr/>
        </p:nvSpPr>
        <p:spPr>
          <a:xfrm>
            <a:off x="8266746" y="2710840"/>
            <a:ext cx="1631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ourier New" panose="02070309020205020404"/>
                <a:cs typeface="Courier New" panose="02070309020205020404"/>
              </a:rPr>
              <a:t>F</a:t>
            </a:r>
            <a:endParaRPr sz="1800">
              <a:latin typeface="Courier New" panose="02070309020205020404"/>
              <a:cs typeface="Courier New" panose="02070309020205020404"/>
            </a:endParaRPr>
          </a:p>
        </p:txBody>
      </p:sp>
      <p:sp>
        <p:nvSpPr>
          <p:cNvPr id="21" name="object 21"/>
          <p:cNvSpPr/>
          <p:nvPr/>
        </p:nvSpPr>
        <p:spPr>
          <a:xfrm>
            <a:off x="8266595" y="2818552"/>
            <a:ext cx="1790064" cy="312420"/>
          </a:xfrm>
          <a:custGeom>
            <a:avLst/>
            <a:gdLst/>
            <a:ahLst/>
            <a:cxnLst/>
            <a:rect l="l" t="t" r="r" b="b"/>
            <a:pathLst>
              <a:path w="1790065" h="312419">
                <a:moveTo>
                  <a:pt x="1789870" y="0"/>
                </a:moveTo>
                <a:lnTo>
                  <a:pt x="1789870" y="312267"/>
                </a:lnTo>
                <a:lnTo>
                  <a:pt x="0" y="312267"/>
                </a:lnTo>
              </a:path>
            </a:pathLst>
          </a:custGeom>
          <a:ln w="19049">
            <a:solidFill>
              <a:srgbClr val="000000"/>
            </a:solidFill>
          </a:ln>
        </p:spPr>
        <p:txBody>
          <a:bodyPr wrap="square" lIns="0" tIns="0" rIns="0" bIns="0" rtlCol="0"/>
          <a:lstStyle/>
          <a:p>
            <a:endParaRPr/>
          </a:p>
        </p:txBody>
      </p:sp>
      <p:sp>
        <p:nvSpPr>
          <p:cNvPr id="22" name="object 22"/>
          <p:cNvSpPr/>
          <p:nvPr/>
        </p:nvSpPr>
        <p:spPr>
          <a:xfrm>
            <a:off x="8092443" y="3054058"/>
            <a:ext cx="224951" cy="153525"/>
          </a:xfrm>
          <a:prstGeom prst="rect">
            <a:avLst/>
          </a:prstGeom>
          <a:blipFill>
            <a:blip r:embed="rId3" cstate="print"/>
            <a:stretch>
              <a:fillRect/>
            </a:stretch>
          </a:blipFill>
        </p:spPr>
        <p:txBody>
          <a:bodyPr wrap="square" lIns="0" tIns="0" rIns="0" bIns="0" rtlCol="0"/>
          <a:lstStyle/>
          <a:p>
            <a:endParaRPr/>
          </a:p>
        </p:txBody>
      </p:sp>
      <p:sp>
        <p:nvSpPr>
          <p:cNvPr id="23" name="object 23"/>
          <p:cNvSpPr/>
          <p:nvPr/>
        </p:nvSpPr>
        <p:spPr>
          <a:xfrm>
            <a:off x="9240111" y="4123715"/>
            <a:ext cx="808990" cy="250825"/>
          </a:xfrm>
          <a:custGeom>
            <a:avLst/>
            <a:gdLst/>
            <a:ahLst/>
            <a:cxnLst/>
            <a:rect l="l" t="t" r="r" b="b"/>
            <a:pathLst>
              <a:path w="808990" h="250825">
                <a:moveTo>
                  <a:pt x="0" y="0"/>
                </a:moveTo>
                <a:lnTo>
                  <a:pt x="808831" y="0"/>
                </a:lnTo>
                <a:lnTo>
                  <a:pt x="808831" y="250824"/>
                </a:lnTo>
              </a:path>
            </a:pathLst>
          </a:custGeom>
          <a:ln w="19049">
            <a:solidFill>
              <a:srgbClr val="000000"/>
            </a:solidFill>
          </a:ln>
        </p:spPr>
        <p:txBody>
          <a:bodyPr wrap="square" lIns="0" tIns="0" rIns="0" bIns="0" rtlCol="0"/>
          <a:lstStyle/>
          <a:p>
            <a:endParaRPr/>
          </a:p>
        </p:txBody>
      </p:sp>
      <p:sp>
        <p:nvSpPr>
          <p:cNvPr id="24" name="object 24"/>
          <p:cNvSpPr/>
          <p:nvPr/>
        </p:nvSpPr>
        <p:spPr>
          <a:xfrm>
            <a:off x="10010843" y="4323740"/>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25" name="object 25"/>
          <p:cNvSpPr/>
          <p:nvPr/>
        </p:nvSpPr>
        <p:spPr>
          <a:xfrm>
            <a:off x="8266594" y="4769271"/>
            <a:ext cx="1782445" cy="327660"/>
          </a:xfrm>
          <a:custGeom>
            <a:avLst/>
            <a:gdLst/>
            <a:ahLst/>
            <a:cxnLst/>
            <a:rect l="l" t="t" r="r" b="b"/>
            <a:pathLst>
              <a:path w="1782445" h="327660">
                <a:moveTo>
                  <a:pt x="1782449" y="0"/>
                </a:moveTo>
                <a:lnTo>
                  <a:pt x="1782449" y="327507"/>
                </a:lnTo>
                <a:lnTo>
                  <a:pt x="0" y="327507"/>
                </a:lnTo>
              </a:path>
            </a:pathLst>
          </a:custGeom>
          <a:ln w="19049">
            <a:solidFill>
              <a:srgbClr val="000000"/>
            </a:solidFill>
          </a:ln>
        </p:spPr>
        <p:txBody>
          <a:bodyPr wrap="square" lIns="0" tIns="0" rIns="0" bIns="0" rtlCol="0"/>
          <a:lstStyle/>
          <a:p>
            <a:endParaRPr/>
          </a:p>
        </p:txBody>
      </p:sp>
      <p:sp>
        <p:nvSpPr>
          <p:cNvPr id="26" name="object 26"/>
          <p:cNvSpPr/>
          <p:nvPr/>
        </p:nvSpPr>
        <p:spPr>
          <a:xfrm>
            <a:off x="8092443" y="5020018"/>
            <a:ext cx="224951" cy="153524"/>
          </a:xfrm>
          <a:prstGeom prst="rect">
            <a:avLst/>
          </a:prstGeom>
          <a:blipFill>
            <a:blip r:embed="rId4" cstate="print"/>
            <a:stretch>
              <a:fillRect/>
            </a:stretch>
          </a:blipFill>
        </p:spPr>
        <p:txBody>
          <a:bodyPr wrap="square" lIns="0" tIns="0" rIns="0" bIns="0" rtlCol="0"/>
          <a:lstStyle/>
          <a:p>
            <a:endParaRPr/>
          </a:p>
        </p:txBody>
      </p:sp>
      <p:sp>
        <p:nvSpPr>
          <p:cNvPr id="27" name="object 27"/>
          <p:cNvSpPr/>
          <p:nvPr/>
        </p:nvSpPr>
        <p:spPr>
          <a:xfrm>
            <a:off x="8173399" y="1312570"/>
            <a:ext cx="0" cy="437515"/>
          </a:xfrm>
          <a:custGeom>
            <a:avLst/>
            <a:gdLst/>
            <a:ahLst/>
            <a:cxnLst/>
            <a:rect l="l" t="t" r="r" b="b"/>
            <a:pathLst>
              <a:path h="437514">
                <a:moveTo>
                  <a:pt x="0" y="0"/>
                </a:moveTo>
                <a:lnTo>
                  <a:pt x="0" y="437356"/>
                </a:lnTo>
              </a:path>
            </a:pathLst>
          </a:custGeom>
          <a:ln w="19049">
            <a:solidFill>
              <a:srgbClr val="000000"/>
            </a:solidFill>
          </a:ln>
        </p:spPr>
        <p:txBody>
          <a:bodyPr wrap="square" lIns="0" tIns="0" rIns="0" bIns="0" rtlCol="0"/>
          <a:lstStyle/>
          <a:p>
            <a:endParaRPr/>
          </a:p>
        </p:txBody>
      </p:sp>
      <p:sp>
        <p:nvSpPr>
          <p:cNvPr id="28" name="object 28"/>
          <p:cNvSpPr/>
          <p:nvPr/>
        </p:nvSpPr>
        <p:spPr>
          <a:xfrm>
            <a:off x="8135300" y="1699126"/>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29" name="object 29"/>
          <p:cNvSpPr txBox="1"/>
          <p:nvPr/>
        </p:nvSpPr>
        <p:spPr>
          <a:xfrm>
            <a:off x="9265248" y="1960509"/>
            <a:ext cx="1631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ourier New" panose="02070309020205020404"/>
                <a:cs typeface="Courier New" panose="02070309020205020404"/>
              </a:rPr>
              <a:t>T</a:t>
            </a:r>
            <a:endParaRPr sz="1800">
              <a:latin typeface="Courier New" panose="02070309020205020404"/>
              <a:cs typeface="Courier New" panose="02070309020205020404"/>
            </a:endParaRPr>
          </a:p>
        </p:txBody>
      </p:sp>
      <p:sp>
        <p:nvSpPr>
          <p:cNvPr id="30" name="object 30"/>
          <p:cNvSpPr txBox="1"/>
          <p:nvPr/>
        </p:nvSpPr>
        <p:spPr>
          <a:xfrm>
            <a:off x="8260368" y="4646320"/>
            <a:ext cx="1631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ourier New" panose="02070309020205020404"/>
                <a:cs typeface="Courier New" panose="02070309020205020404"/>
              </a:rPr>
              <a:t>F</a:t>
            </a:r>
            <a:endParaRPr sz="1800">
              <a:latin typeface="Courier New" panose="02070309020205020404"/>
              <a:cs typeface="Courier New" panose="02070309020205020404"/>
            </a:endParaRPr>
          </a:p>
        </p:txBody>
      </p:sp>
      <p:sp>
        <p:nvSpPr>
          <p:cNvPr id="31" name="object 31"/>
          <p:cNvSpPr txBox="1"/>
          <p:nvPr/>
        </p:nvSpPr>
        <p:spPr>
          <a:xfrm>
            <a:off x="9218550" y="3848362"/>
            <a:ext cx="1631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ourier New" panose="02070309020205020404"/>
                <a:cs typeface="Courier New" panose="02070309020205020404"/>
              </a:rPr>
              <a:t>T</a:t>
            </a:r>
            <a:endParaRPr sz="1800">
              <a:latin typeface="Courier New" panose="02070309020205020404"/>
              <a:cs typeface="Courier New" panose="02070309020205020404"/>
            </a:endParaRPr>
          </a:p>
        </p:txBody>
      </p:sp>
      <p:sp>
        <p:nvSpPr>
          <p:cNvPr id="32" name="object 32"/>
          <p:cNvSpPr txBox="1"/>
          <p:nvPr/>
        </p:nvSpPr>
        <p:spPr>
          <a:xfrm>
            <a:off x="7597929" y="5457850"/>
            <a:ext cx="1149985" cy="369570"/>
          </a:xfrm>
          <a:prstGeom prst="rect">
            <a:avLst/>
          </a:prstGeom>
          <a:ln w="19049">
            <a:solidFill>
              <a:srgbClr val="000000"/>
            </a:solidFill>
          </a:ln>
        </p:spPr>
        <p:txBody>
          <a:bodyPr vert="horz" wrap="square" lIns="0" tIns="47625" rIns="0" bIns="0" rtlCol="0">
            <a:spAutoFit/>
          </a:bodyPr>
          <a:lstStyle/>
          <a:p>
            <a:pPr marL="91440">
              <a:lnSpc>
                <a:spcPct val="100000"/>
              </a:lnSpc>
              <a:spcBef>
                <a:spcPts val="375"/>
              </a:spcBef>
            </a:pPr>
            <a:r>
              <a:rPr sz="1800" b="1" dirty="0">
                <a:latin typeface="Courier New" panose="02070309020205020404"/>
                <a:cs typeface="Courier New" panose="02070309020205020404"/>
              </a:rPr>
              <a:t>c =</a:t>
            </a:r>
            <a:r>
              <a:rPr sz="1800" b="1" spc="-80" dirty="0">
                <a:latin typeface="Courier New" panose="02070309020205020404"/>
                <a:cs typeface="Courier New" panose="02070309020205020404"/>
              </a:rPr>
              <a:t> </a:t>
            </a:r>
            <a:r>
              <a:rPr sz="1800" b="1" dirty="0">
                <a:latin typeface="Courier New" panose="02070309020205020404"/>
                <a:cs typeface="Courier New" panose="02070309020205020404"/>
              </a:rPr>
              <a:t>b+c</a:t>
            </a:r>
            <a:endParaRPr sz="1800">
              <a:latin typeface="Courier New" panose="02070309020205020404"/>
              <a:cs typeface="Courier New" panose="02070309020205020404"/>
            </a:endParaRPr>
          </a:p>
        </p:txBody>
      </p:sp>
      <p:sp>
        <p:nvSpPr>
          <p:cNvPr id="33" name="object 33"/>
          <p:cNvSpPr/>
          <p:nvPr/>
        </p:nvSpPr>
        <p:spPr>
          <a:xfrm>
            <a:off x="8801341" y="1319395"/>
            <a:ext cx="1908810" cy="737235"/>
          </a:xfrm>
          <a:custGeom>
            <a:avLst/>
            <a:gdLst/>
            <a:ahLst/>
            <a:cxnLst/>
            <a:rect l="l" t="t" r="r" b="b"/>
            <a:pathLst>
              <a:path w="1908809" h="737235">
                <a:moveTo>
                  <a:pt x="828359" y="66000"/>
                </a:moveTo>
                <a:lnTo>
                  <a:pt x="833546" y="40310"/>
                </a:lnTo>
                <a:lnTo>
                  <a:pt x="847690" y="19331"/>
                </a:lnTo>
                <a:lnTo>
                  <a:pt x="868669" y="5186"/>
                </a:lnTo>
                <a:lnTo>
                  <a:pt x="894360" y="0"/>
                </a:lnTo>
                <a:lnTo>
                  <a:pt x="1008359" y="0"/>
                </a:lnTo>
                <a:lnTo>
                  <a:pt x="1278359" y="0"/>
                </a:lnTo>
                <a:lnTo>
                  <a:pt x="1842358" y="0"/>
                </a:lnTo>
                <a:lnTo>
                  <a:pt x="1868048" y="5186"/>
                </a:lnTo>
                <a:lnTo>
                  <a:pt x="1889027" y="19331"/>
                </a:lnTo>
                <a:lnTo>
                  <a:pt x="1903172" y="40310"/>
                </a:lnTo>
                <a:lnTo>
                  <a:pt x="1908359" y="66000"/>
                </a:lnTo>
                <a:lnTo>
                  <a:pt x="1908359" y="230999"/>
                </a:lnTo>
                <a:lnTo>
                  <a:pt x="1908359" y="330000"/>
                </a:lnTo>
                <a:lnTo>
                  <a:pt x="1903172" y="355689"/>
                </a:lnTo>
                <a:lnTo>
                  <a:pt x="1889027" y="376668"/>
                </a:lnTo>
                <a:lnTo>
                  <a:pt x="1868048" y="390813"/>
                </a:lnTo>
                <a:lnTo>
                  <a:pt x="1842358" y="395999"/>
                </a:lnTo>
                <a:lnTo>
                  <a:pt x="1278359" y="395999"/>
                </a:lnTo>
                <a:lnTo>
                  <a:pt x="0" y="736674"/>
                </a:lnTo>
                <a:lnTo>
                  <a:pt x="1008359" y="395999"/>
                </a:lnTo>
                <a:lnTo>
                  <a:pt x="894360" y="395999"/>
                </a:lnTo>
                <a:lnTo>
                  <a:pt x="868669" y="390813"/>
                </a:lnTo>
                <a:lnTo>
                  <a:pt x="847690" y="376668"/>
                </a:lnTo>
                <a:lnTo>
                  <a:pt x="833546" y="355689"/>
                </a:lnTo>
                <a:lnTo>
                  <a:pt x="828359" y="329998"/>
                </a:lnTo>
                <a:lnTo>
                  <a:pt x="828359" y="230999"/>
                </a:lnTo>
                <a:lnTo>
                  <a:pt x="828359" y="66000"/>
                </a:lnTo>
                <a:close/>
              </a:path>
            </a:pathLst>
          </a:custGeom>
          <a:ln w="4156">
            <a:solidFill>
              <a:srgbClr val="000000"/>
            </a:solidFill>
          </a:ln>
        </p:spPr>
        <p:txBody>
          <a:bodyPr wrap="square" lIns="0" tIns="0" rIns="0" bIns="0" rtlCol="0"/>
          <a:lstStyle/>
          <a:p>
            <a:endParaRPr/>
          </a:p>
        </p:txBody>
      </p:sp>
      <p:sp>
        <p:nvSpPr>
          <p:cNvPr id="34" name="object 34"/>
          <p:cNvSpPr txBox="1"/>
          <p:nvPr/>
        </p:nvSpPr>
        <p:spPr>
          <a:xfrm>
            <a:off x="9867403" y="1371746"/>
            <a:ext cx="61023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CC0000"/>
                </a:solidFill>
                <a:latin typeface="微软雅黑" panose="020B0503020204020204" pitchFamily="34" charset="-122"/>
                <a:cs typeface="微软雅黑" panose="020B0503020204020204" pitchFamily="34" charset="-122"/>
              </a:rPr>
              <a:t>判断</a:t>
            </a:r>
            <a:r>
              <a:rPr sz="1800" dirty="0">
                <a:solidFill>
                  <a:srgbClr val="CC0000"/>
                </a:solidFill>
                <a:latin typeface="Arial" panose="020B0604020202020204"/>
                <a:cs typeface="Arial" panose="020B0604020202020204"/>
              </a:rPr>
              <a:t>1</a:t>
            </a:r>
            <a:endParaRPr sz="1800">
              <a:latin typeface="Arial" panose="020B0604020202020204"/>
              <a:cs typeface="Arial" panose="020B0604020202020204"/>
            </a:endParaRPr>
          </a:p>
        </p:txBody>
      </p:sp>
      <p:sp>
        <p:nvSpPr>
          <p:cNvPr id="35" name="object 35"/>
          <p:cNvSpPr/>
          <p:nvPr/>
        </p:nvSpPr>
        <p:spPr>
          <a:xfrm>
            <a:off x="8819256" y="3202820"/>
            <a:ext cx="1908810" cy="737235"/>
          </a:xfrm>
          <a:custGeom>
            <a:avLst/>
            <a:gdLst/>
            <a:ahLst/>
            <a:cxnLst/>
            <a:rect l="l" t="t" r="r" b="b"/>
            <a:pathLst>
              <a:path w="1908809" h="737235">
                <a:moveTo>
                  <a:pt x="828359" y="66000"/>
                </a:moveTo>
                <a:lnTo>
                  <a:pt x="833546" y="40310"/>
                </a:lnTo>
                <a:lnTo>
                  <a:pt x="847690" y="19331"/>
                </a:lnTo>
                <a:lnTo>
                  <a:pt x="868669" y="5186"/>
                </a:lnTo>
                <a:lnTo>
                  <a:pt x="894360" y="0"/>
                </a:lnTo>
                <a:lnTo>
                  <a:pt x="1008359" y="0"/>
                </a:lnTo>
                <a:lnTo>
                  <a:pt x="1278359" y="0"/>
                </a:lnTo>
                <a:lnTo>
                  <a:pt x="1842358" y="0"/>
                </a:lnTo>
                <a:lnTo>
                  <a:pt x="1868048" y="5186"/>
                </a:lnTo>
                <a:lnTo>
                  <a:pt x="1889027" y="19331"/>
                </a:lnTo>
                <a:lnTo>
                  <a:pt x="1903172" y="40310"/>
                </a:lnTo>
                <a:lnTo>
                  <a:pt x="1908359" y="66000"/>
                </a:lnTo>
                <a:lnTo>
                  <a:pt x="1908359" y="230999"/>
                </a:lnTo>
                <a:lnTo>
                  <a:pt x="1908359" y="330000"/>
                </a:lnTo>
                <a:lnTo>
                  <a:pt x="1903172" y="355689"/>
                </a:lnTo>
                <a:lnTo>
                  <a:pt x="1889027" y="376668"/>
                </a:lnTo>
                <a:lnTo>
                  <a:pt x="1868048" y="390813"/>
                </a:lnTo>
                <a:lnTo>
                  <a:pt x="1842358" y="395999"/>
                </a:lnTo>
                <a:lnTo>
                  <a:pt x="1278359" y="395999"/>
                </a:lnTo>
                <a:lnTo>
                  <a:pt x="0" y="736674"/>
                </a:lnTo>
                <a:lnTo>
                  <a:pt x="1008359" y="395999"/>
                </a:lnTo>
                <a:lnTo>
                  <a:pt x="894360" y="395999"/>
                </a:lnTo>
                <a:lnTo>
                  <a:pt x="868669" y="390813"/>
                </a:lnTo>
                <a:lnTo>
                  <a:pt x="847690" y="376668"/>
                </a:lnTo>
                <a:lnTo>
                  <a:pt x="833546" y="355689"/>
                </a:lnTo>
                <a:lnTo>
                  <a:pt x="828359" y="329998"/>
                </a:lnTo>
                <a:lnTo>
                  <a:pt x="828359" y="230999"/>
                </a:lnTo>
                <a:lnTo>
                  <a:pt x="828359" y="66000"/>
                </a:lnTo>
                <a:close/>
              </a:path>
            </a:pathLst>
          </a:custGeom>
          <a:ln w="4156">
            <a:solidFill>
              <a:srgbClr val="000000"/>
            </a:solidFill>
          </a:ln>
        </p:spPr>
        <p:txBody>
          <a:bodyPr wrap="square" lIns="0" tIns="0" rIns="0" bIns="0" rtlCol="0"/>
          <a:lstStyle/>
          <a:p>
            <a:endParaRPr/>
          </a:p>
        </p:txBody>
      </p:sp>
      <p:sp>
        <p:nvSpPr>
          <p:cNvPr id="36" name="object 36"/>
          <p:cNvSpPr txBox="1"/>
          <p:nvPr/>
        </p:nvSpPr>
        <p:spPr>
          <a:xfrm>
            <a:off x="9885319" y="3255171"/>
            <a:ext cx="61023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CC0000"/>
                </a:solidFill>
                <a:latin typeface="微软雅黑" panose="020B0503020204020204" pitchFamily="34" charset="-122"/>
                <a:cs typeface="微软雅黑" panose="020B0503020204020204" pitchFamily="34" charset="-122"/>
              </a:rPr>
              <a:t>判断</a:t>
            </a:r>
            <a:r>
              <a:rPr sz="1800" dirty="0">
                <a:solidFill>
                  <a:srgbClr val="CC0000"/>
                </a:solidFill>
                <a:latin typeface="Arial" panose="020B0604020202020204"/>
                <a:cs typeface="Arial" panose="020B0604020202020204"/>
              </a:rPr>
              <a:t>2</a:t>
            </a:r>
            <a:endParaRPr sz="1800">
              <a:latin typeface="Arial" panose="020B0604020202020204"/>
              <a:cs typeface="Arial" panose="020B0604020202020204"/>
            </a:endParaRPr>
          </a:p>
        </p:txBody>
      </p:sp>
      <p:sp>
        <p:nvSpPr>
          <p:cNvPr id="37" name="object 37"/>
          <p:cNvSpPr txBox="1"/>
          <p:nvPr/>
        </p:nvSpPr>
        <p:spPr>
          <a:xfrm>
            <a:off x="7806694" y="1440125"/>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①</a:t>
            </a:r>
            <a:endParaRPr sz="2000">
              <a:latin typeface="微软雅黑" panose="020B0503020204020204" pitchFamily="34" charset="-122"/>
              <a:cs typeface="微软雅黑" panose="020B0503020204020204" pitchFamily="34" charset="-122"/>
            </a:endParaRPr>
          </a:p>
        </p:txBody>
      </p:sp>
      <p:sp>
        <p:nvSpPr>
          <p:cNvPr id="38" name="object 38"/>
          <p:cNvSpPr txBox="1"/>
          <p:nvPr/>
        </p:nvSpPr>
        <p:spPr>
          <a:xfrm>
            <a:off x="9133748" y="2510714"/>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②</a:t>
            </a:r>
            <a:endParaRPr sz="2000">
              <a:latin typeface="微软雅黑" panose="020B0503020204020204" pitchFamily="34" charset="-122"/>
              <a:cs typeface="微软雅黑" panose="020B0503020204020204" pitchFamily="34" charset="-122"/>
            </a:endParaRPr>
          </a:p>
        </p:txBody>
      </p:sp>
      <p:sp>
        <p:nvSpPr>
          <p:cNvPr id="39" name="object 39"/>
          <p:cNvSpPr txBox="1"/>
          <p:nvPr/>
        </p:nvSpPr>
        <p:spPr>
          <a:xfrm>
            <a:off x="7873190" y="3351417"/>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③</a:t>
            </a:r>
            <a:endParaRPr sz="2000">
              <a:latin typeface="微软雅黑" panose="020B0503020204020204" pitchFamily="34" charset="-122"/>
              <a:cs typeface="微软雅黑" panose="020B0503020204020204" pitchFamily="34" charset="-122"/>
            </a:endParaRPr>
          </a:p>
        </p:txBody>
      </p:sp>
      <p:sp>
        <p:nvSpPr>
          <p:cNvPr id="40" name="object 40"/>
          <p:cNvSpPr txBox="1"/>
          <p:nvPr/>
        </p:nvSpPr>
        <p:spPr>
          <a:xfrm>
            <a:off x="9171820" y="4464311"/>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④</a:t>
            </a:r>
            <a:endParaRPr sz="2000">
              <a:latin typeface="微软雅黑" panose="020B0503020204020204" pitchFamily="34" charset="-122"/>
              <a:cs typeface="微软雅黑" panose="020B0503020204020204" pitchFamily="34" charset="-122"/>
            </a:endParaRPr>
          </a:p>
        </p:txBody>
      </p:sp>
      <p:sp>
        <p:nvSpPr>
          <p:cNvPr id="41" name="object 41"/>
          <p:cNvSpPr txBox="1"/>
          <p:nvPr/>
        </p:nvSpPr>
        <p:spPr>
          <a:xfrm>
            <a:off x="7184473" y="5489600"/>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⑤</a:t>
            </a:r>
            <a:endParaRPr sz="2000">
              <a:latin typeface="微软雅黑" panose="020B0503020204020204" pitchFamily="34" charset="-122"/>
              <a:cs typeface="微软雅黑" panose="020B0503020204020204" pitchFamily="34" charset="-122"/>
            </a:endParaRPr>
          </a:p>
        </p:txBody>
      </p:sp>
      <p:sp>
        <p:nvSpPr>
          <p:cNvPr id="42" name="灯片编号占位符 41"/>
          <p:cNvSpPr>
            <a:spLocks noGrp="1"/>
          </p:cNvSpPr>
          <p:nvPr>
            <p:ph type="sldNum" sz="quarter" idx="12"/>
          </p:nvPr>
        </p:nvSpPr>
        <p:spPr/>
        <p:txBody>
          <a:bodyPr/>
          <a:lstStyle/>
          <a:p>
            <a:fld id="{74D2AB8B-5816-41F2-8B4B-CA5C3E4E6A65}" type="slidenum">
              <a:rPr lang="zh-CN" altLang="en-US" smtClean="0"/>
              <a:t>28</a:t>
            </a:fld>
            <a:endParaRPr lang="zh-CN" altLang="en-US"/>
          </a:p>
        </p:txBody>
      </p:sp>
      <p:sp>
        <p:nvSpPr>
          <p:cNvPr id="44" name="标题 43"/>
          <p:cNvSpPr>
            <a:spLocks noGrp="1"/>
          </p:cNvSpPr>
          <p:nvPr>
            <p:ph type="title"/>
          </p:nvPr>
        </p:nvSpPr>
        <p:spPr/>
        <p:txBody>
          <a:bodyPr/>
          <a:lstStyle/>
          <a:p>
            <a:r>
              <a:rPr lang="zh-CN" altLang="en-US" dirty="0"/>
              <a:t>示例描述</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24340" y="1548000"/>
            <a:ext cx="9714865" cy="688975"/>
          </a:xfrm>
          <a:prstGeom prst="rect">
            <a:avLst/>
          </a:prstGeom>
          <a:solidFill>
            <a:srgbClr val="797BA9"/>
          </a:solidFill>
        </p:spPr>
        <p:txBody>
          <a:bodyPr vert="horz" wrap="square" lIns="0" tIns="191770" rIns="0" bIns="0" rtlCol="0">
            <a:spAutoFit/>
          </a:bodyPr>
          <a:lstStyle/>
          <a:p>
            <a:pPr marL="285115" algn="ctr">
              <a:lnSpc>
                <a:spcPct val="100000"/>
              </a:lnSpc>
              <a:spcBef>
                <a:spcPts val="1510"/>
              </a:spcBef>
            </a:pPr>
            <a:r>
              <a:rPr sz="2200" dirty="0">
                <a:solidFill>
                  <a:srgbClr val="FFFFFF"/>
                </a:solidFill>
                <a:latin typeface="微软雅黑" panose="020B0503020204020204" pitchFamily="34" charset="-122"/>
                <a:cs typeface="微软雅黑" panose="020B0503020204020204" pitchFamily="34" charset="-122"/>
              </a:rPr>
              <a:t>程序中的每个可执行语句至少被执行一次。</a:t>
            </a:r>
            <a:endParaRPr sz="2200">
              <a:latin typeface="微软雅黑" panose="020B0503020204020204" pitchFamily="34" charset="-122"/>
              <a:cs typeface="微软雅黑" panose="020B0503020204020204" pitchFamily="34" charset="-122"/>
            </a:endParaRPr>
          </a:p>
        </p:txBody>
      </p:sp>
      <p:sp>
        <p:nvSpPr>
          <p:cNvPr id="4" name="object 4"/>
          <p:cNvSpPr txBox="1"/>
          <p:nvPr/>
        </p:nvSpPr>
        <p:spPr>
          <a:xfrm>
            <a:off x="7104418" y="3937219"/>
            <a:ext cx="2931795" cy="360680"/>
          </a:xfrm>
          <a:prstGeom prst="rect">
            <a:avLst/>
          </a:prstGeom>
        </p:spPr>
        <p:txBody>
          <a:bodyPr vert="horz" wrap="square" lIns="0" tIns="12700" rIns="0" bIns="0" rtlCol="0">
            <a:spAutoFit/>
          </a:bodyPr>
          <a:lstStyle/>
          <a:p>
            <a:pPr marL="12700">
              <a:lnSpc>
                <a:spcPct val="100000"/>
              </a:lnSpc>
              <a:spcBef>
                <a:spcPts val="100"/>
              </a:spcBef>
            </a:pPr>
            <a:r>
              <a:rPr sz="2200" dirty="0">
                <a:latin typeface="微软雅黑" panose="020B0503020204020204" pitchFamily="34" charset="-122"/>
                <a:cs typeface="微软雅黑" panose="020B0503020204020204" pitchFamily="34" charset="-122"/>
              </a:rPr>
              <a:t>输入</a:t>
            </a:r>
            <a:r>
              <a:rPr sz="2200" spc="-5" dirty="0">
                <a:latin typeface="微软雅黑" panose="020B0503020204020204" pitchFamily="34" charset="-122"/>
                <a:cs typeface="微软雅黑" panose="020B0503020204020204" pitchFamily="34" charset="-122"/>
              </a:rPr>
              <a:t>：</a:t>
            </a:r>
            <a:r>
              <a:rPr sz="2200" b="1" spc="-5" dirty="0">
                <a:latin typeface="Courier New" panose="02070309020205020404"/>
                <a:cs typeface="Courier New" panose="02070309020205020404"/>
              </a:rPr>
              <a:t>a=2</a:t>
            </a:r>
            <a:r>
              <a:rPr sz="2200" b="1" spc="-5" dirty="0">
                <a:latin typeface="微软雅黑" panose="020B0503020204020204" pitchFamily="34" charset="-122"/>
                <a:cs typeface="微软雅黑" panose="020B0503020204020204" pitchFamily="34" charset="-122"/>
              </a:rPr>
              <a:t>，</a:t>
            </a:r>
            <a:r>
              <a:rPr sz="2200" b="1" spc="-5" dirty="0">
                <a:latin typeface="Courier New" panose="02070309020205020404"/>
                <a:cs typeface="Courier New" panose="02070309020205020404"/>
              </a:rPr>
              <a:t>b=1</a:t>
            </a:r>
            <a:r>
              <a:rPr sz="2200" b="1" spc="-5" dirty="0">
                <a:latin typeface="微软雅黑" panose="020B0503020204020204" pitchFamily="34" charset="-122"/>
                <a:cs typeface="微软雅黑" panose="020B0503020204020204" pitchFamily="34" charset="-122"/>
              </a:rPr>
              <a:t>，</a:t>
            </a:r>
            <a:r>
              <a:rPr sz="2200" b="1" spc="-5" dirty="0">
                <a:latin typeface="Courier New" panose="02070309020205020404"/>
                <a:cs typeface="Courier New" panose="02070309020205020404"/>
              </a:rPr>
              <a:t>c=6</a:t>
            </a:r>
            <a:endParaRPr sz="2200">
              <a:latin typeface="Courier New" panose="02070309020205020404"/>
              <a:cs typeface="Courier New" panose="02070309020205020404"/>
            </a:endParaRPr>
          </a:p>
        </p:txBody>
      </p:sp>
      <p:sp>
        <p:nvSpPr>
          <p:cNvPr id="5" name="object 5"/>
          <p:cNvSpPr/>
          <p:nvPr/>
        </p:nvSpPr>
        <p:spPr>
          <a:xfrm>
            <a:off x="3116705" y="4907994"/>
            <a:ext cx="1270" cy="578485"/>
          </a:xfrm>
          <a:custGeom>
            <a:avLst/>
            <a:gdLst/>
            <a:ahLst/>
            <a:cxnLst/>
            <a:rect l="l" t="t" r="r" b="b"/>
            <a:pathLst>
              <a:path w="1269" h="578485">
                <a:moveTo>
                  <a:pt x="655" y="0"/>
                </a:moveTo>
                <a:lnTo>
                  <a:pt x="0" y="578408"/>
                </a:lnTo>
              </a:path>
            </a:pathLst>
          </a:custGeom>
          <a:ln w="19049">
            <a:solidFill>
              <a:srgbClr val="000000"/>
            </a:solidFill>
          </a:ln>
        </p:spPr>
        <p:txBody>
          <a:bodyPr wrap="square" lIns="0" tIns="0" rIns="0" bIns="0" rtlCol="0"/>
          <a:lstStyle/>
          <a:p>
            <a:endParaRPr/>
          </a:p>
        </p:txBody>
      </p:sp>
      <p:sp>
        <p:nvSpPr>
          <p:cNvPr id="6" name="object 6"/>
          <p:cNvSpPr/>
          <p:nvPr/>
        </p:nvSpPr>
        <p:spPr>
          <a:xfrm>
            <a:off x="3078664" y="5435560"/>
            <a:ext cx="76200" cy="76835"/>
          </a:xfrm>
          <a:custGeom>
            <a:avLst/>
            <a:gdLst/>
            <a:ahLst/>
            <a:cxnLst/>
            <a:rect l="l" t="t" r="r" b="b"/>
            <a:pathLst>
              <a:path w="76200" h="76835">
                <a:moveTo>
                  <a:pt x="0" y="0"/>
                </a:moveTo>
                <a:lnTo>
                  <a:pt x="38013" y="76243"/>
                </a:lnTo>
                <a:lnTo>
                  <a:pt x="76200" y="86"/>
                </a:lnTo>
                <a:lnTo>
                  <a:pt x="0" y="0"/>
                </a:lnTo>
                <a:close/>
              </a:path>
            </a:pathLst>
          </a:custGeom>
          <a:solidFill>
            <a:srgbClr val="000000"/>
          </a:solidFill>
        </p:spPr>
        <p:txBody>
          <a:bodyPr wrap="square" lIns="0" tIns="0" rIns="0" bIns="0" rtlCol="0"/>
          <a:lstStyle/>
          <a:p>
            <a:endParaRPr/>
          </a:p>
        </p:txBody>
      </p:sp>
      <p:sp>
        <p:nvSpPr>
          <p:cNvPr id="7" name="object 7"/>
          <p:cNvSpPr/>
          <p:nvPr/>
        </p:nvSpPr>
        <p:spPr>
          <a:xfrm>
            <a:off x="1964278" y="2808086"/>
            <a:ext cx="2306320" cy="671830"/>
          </a:xfrm>
          <a:custGeom>
            <a:avLst/>
            <a:gdLst/>
            <a:ahLst/>
            <a:cxnLst/>
            <a:rect l="l" t="t" r="r" b="b"/>
            <a:pathLst>
              <a:path w="2306320" h="671829">
                <a:moveTo>
                  <a:pt x="0" y="335755"/>
                </a:moveTo>
                <a:lnTo>
                  <a:pt x="1153082" y="0"/>
                </a:lnTo>
                <a:lnTo>
                  <a:pt x="2306165" y="335755"/>
                </a:lnTo>
                <a:lnTo>
                  <a:pt x="1153082" y="671509"/>
                </a:lnTo>
                <a:lnTo>
                  <a:pt x="0" y="335755"/>
                </a:lnTo>
                <a:close/>
              </a:path>
            </a:pathLst>
          </a:custGeom>
          <a:ln w="19049">
            <a:solidFill>
              <a:srgbClr val="000000"/>
            </a:solidFill>
          </a:ln>
        </p:spPr>
        <p:txBody>
          <a:bodyPr wrap="square" lIns="0" tIns="0" rIns="0" bIns="0" rtlCol="0"/>
          <a:lstStyle/>
          <a:p>
            <a:endParaRPr/>
          </a:p>
        </p:txBody>
      </p:sp>
      <p:sp>
        <p:nvSpPr>
          <p:cNvPr id="8" name="object 8"/>
          <p:cNvSpPr txBox="1"/>
          <p:nvPr/>
        </p:nvSpPr>
        <p:spPr>
          <a:xfrm>
            <a:off x="2352860" y="2982551"/>
            <a:ext cx="153479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ourier New" panose="02070309020205020404"/>
                <a:cs typeface="Courier New" panose="02070309020205020404"/>
              </a:rPr>
              <a:t>a&gt;0 and</a:t>
            </a:r>
            <a:r>
              <a:rPr sz="1800" b="1" spc="-90" dirty="0">
                <a:latin typeface="Courier New" panose="02070309020205020404"/>
                <a:cs typeface="Courier New" panose="02070309020205020404"/>
              </a:rPr>
              <a:t> </a:t>
            </a:r>
            <a:r>
              <a:rPr sz="1800" b="1" spc="-5" dirty="0">
                <a:latin typeface="Courier New" panose="02070309020205020404"/>
                <a:cs typeface="Courier New" panose="02070309020205020404"/>
              </a:rPr>
              <a:t>b&gt;0</a:t>
            </a:r>
            <a:endParaRPr sz="1800">
              <a:latin typeface="Courier New" panose="02070309020205020404"/>
              <a:cs typeface="Courier New" panose="02070309020205020404"/>
            </a:endParaRPr>
          </a:p>
        </p:txBody>
      </p:sp>
      <p:sp>
        <p:nvSpPr>
          <p:cNvPr id="9" name="object 9"/>
          <p:cNvSpPr txBox="1"/>
          <p:nvPr/>
        </p:nvSpPr>
        <p:spPr>
          <a:xfrm>
            <a:off x="4575736" y="3273792"/>
            <a:ext cx="1154430" cy="346710"/>
          </a:xfrm>
          <a:prstGeom prst="rect">
            <a:avLst/>
          </a:prstGeom>
          <a:ln w="19049">
            <a:solidFill>
              <a:srgbClr val="000000"/>
            </a:solidFill>
          </a:ln>
        </p:spPr>
        <p:txBody>
          <a:bodyPr vert="horz" wrap="square" lIns="0" tIns="24130" rIns="0" bIns="0" rtlCol="0">
            <a:spAutoFit/>
          </a:bodyPr>
          <a:lstStyle/>
          <a:p>
            <a:pPr marL="91440">
              <a:lnSpc>
                <a:spcPct val="100000"/>
              </a:lnSpc>
              <a:spcBef>
                <a:spcPts val="190"/>
              </a:spcBef>
            </a:pPr>
            <a:r>
              <a:rPr sz="1800" b="1" dirty="0">
                <a:latin typeface="Courier New" panose="02070309020205020404"/>
                <a:cs typeface="Courier New" panose="02070309020205020404"/>
              </a:rPr>
              <a:t>c =</a:t>
            </a:r>
            <a:r>
              <a:rPr sz="1800" b="1" spc="-85" dirty="0">
                <a:latin typeface="Courier New" panose="02070309020205020404"/>
                <a:cs typeface="Courier New" panose="02070309020205020404"/>
              </a:rPr>
              <a:t> </a:t>
            </a:r>
            <a:r>
              <a:rPr sz="1800" b="1" spc="-5" dirty="0">
                <a:latin typeface="Courier New" panose="02070309020205020404"/>
                <a:cs typeface="Courier New" panose="02070309020205020404"/>
              </a:rPr>
              <a:t>c/a</a:t>
            </a:r>
            <a:endParaRPr sz="1800">
              <a:latin typeface="Courier New" panose="02070309020205020404"/>
              <a:cs typeface="Courier New" panose="02070309020205020404"/>
            </a:endParaRPr>
          </a:p>
        </p:txBody>
      </p:sp>
      <p:sp>
        <p:nvSpPr>
          <p:cNvPr id="10" name="object 10"/>
          <p:cNvSpPr/>
          <p:nvPr/>
        </p:nvSpPr>
        <p:spPr>
          <a:xfrm>
            <a:off x="1964278" y="4202297"/>
            <a:ext cx="2306320" cy="706120"/>
          </a:xfrm>
          <a:custGeom>
            <a:avLst/>
            <a:gdLst/>
            <a:ahLst/>
            <a:cxnLst/>
            <a:rect l="l" t="t" r="r" b="b"/>
            <a:pathLst>
              <a:path w="2306320" h="706120">
                <a:moveTo>
                  <a:pt x="0" y="352848"/>
                </a:moveTo>
                <a:lnTo>
                  <a:pt x="1153082" y="0"/>
                </a:lnTo>
                <a:lnTo>
                  <a:pt x="2306165" y="352848"/>
                </a:lnTo>
                <a:lnTo>
                  <a:pt x="1153082" y="705696"/>
                </a:lnTo>
                <a:lnTo>
                  <a:pt x="0" y="352848"/>
                </a:lnTo>
                <a:close/>
              </a:path>
            </a:pathLst>
          </a:custGeom>
          <a:ln w="19049">
            <a:solidFill>
              <a:srgbClr val="000000"/>
            </a:solidFill>
          </a:ln>
        </p:spPr>
        <p:txBody>
          <a:bodyPr wrap="square" lIns="0" tIns="0" rIns="0" bIns="0" rtlCol="0"/>
          <a:lstStyle/>
          <a:p>
            <a:endParaRPr/>
          </a:p>
        </p:txBody>
      </p:sp>
      <p:sp>
        <p:nvSpPr>
          <p:cNvPr id="11" name="object 11"/>
          <p:cNvSpPr txBox="1"/>
          <p:nvPr/>
        </p:nvSpPr>
        <p:spPr>
          <a:xfrm>
            <a:off x="2416360" y="4393857"/>
            <a:ext cx="13976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ourier New" panose="02070309020205020404"/>
                <a:cs typeface="Courier New" panose="02070309020205020404"/>
              </a:rPr>
              <a:t>a&gt;1 or</a:t>
            </a:r>
            <a:r>
              <a:rPr sz="1800" b="1" spc="-90" dirty="0">
                <a:latin typeface="Courier New" panose="02070309020205020404"/>
                <a:cs typeface="Courier New" panose="02070309020205020404"/>
              </a:rPr>
              <a:t> </a:t>
            </a:r>
            <a:r>
              <a:rPr sz="1800" b="1" spc="-5" dirty="0">
                <a:latin typeface="Courier New" panose="02070309020205020404"/>
                <a:cs typeface="Courier New" panose="02070309020205020404"/>
              </a:rPr>
              <a:t>c&gt;1</a:t>
            </a:r>
            <a:endParaRPr sz="1800">
              <a:latin typeface="Courier New" panose="02070309020205020404"/>
              <a:cs typeface="Courier New" panose="02070309020205020404"/>
            </a:endParaRPr>
          </a:p>
        </p:txBody>
      </p:sp>
      <p:sp>
        <p:nvSpPr>
          <p:cNvPr id="12" name="object 12"/>
          <p:cNvSpPr txBox="1"/>
          <p:nvPr/>
        </p:nvSpPr>
        <p:spPr>
          <a:xfrm>
            <a:off x="4567713" y="4724862"/>
            <a:ext cx="1154430" cy="346710"/>
          </a:xfrm>
          <a:prstGeom prst="rect">
            <a:avLst/>
          </a:prstGeom>
          <a:ln w="19049">
            <a:solidFill>
              <a:srgbClr val="000000"/>
            </a:solidFill>
          </a:ln>
        </p:spPr>
        <p:txBody>
          <a:bodyPr vert="horz" wrap="square" lIns="0" tIns="24130" rIns="0" bIns="0" rtlCol="0">
            <a:spAutoFit/>
          </a:bodyPr>
          <a:lstStyle/>
          <a:p>
            <a:pPr marL="91440">
              <a:lnSpc>
                <a:spcPct val="100000"/>
              </a:lnSpc>
              <a:spcBef>
                <a:spcPts val="190"/>
              </a:spcBef>
            </a:pPr>
            <a:r>
              <a:rPr sz="1800" b="1" dirty="0">
                <a:latin typeface="Courier New" panose="02070309020205020404"/>
                <a:cs typeface="Courier New" panose="02070309020205020404"/>
              </a:rPr>
              <a:t>c =</a:t>
            </a:r>
            <a:r>
              <a:rPr sz="1800" b="1" spc="-85" dirty="0">
                <a:latin typeface="Courier New" panose="02070309020205020404"/>
                <a:cs typeface="Courier New" panose="02070309020205020404"/>
              </a:rPr>
              <a:t> </a:t>
            </a:r>
            <a:r>
              <a:rPr sz="1800" b="1" spc="-5" dirty="0">
                <a:latin typeface="Courier New" panose="02070309020205020404"/>
                <a:cs typeface="Courier New" panose="02070309020205020404"/>
              </a:rPr>
              <a:t>c+1</a:t>
            </a:r>
            <a:endParaRPr sz="1800">
              <a:latin typeface="Courier New" panose="02070309020205020404"/>
              <a:cs typeface="Courier New" panose="02070309020205020404"/>
            </a:endParaRPr>
          </a:p>
        </p:txBody>
      </p:sp>
      <p:sp>
        <p:nvSpPr>
          <p:cNvPr id="13" name="object 13"/>
          <p:cNvSpPr/>
          <p:nvPr/>
        </p:nvSpPr>
        <p:spPr>
          <a:xfrm>
            <a:off x="4270444" y="3143842"/>
            <a:ext cx="882650" cy="104775"/>
          </a:xfrm>
          <a:custGeom>
            <a:avLst/>
            <a:gdLst/>
            <a:ahLst/>
            <a:cxnLst/>
            <a:rect l="l" t="t" r="r" b="b"/>
            <a:pathLst>
              <a:path w="882650" h="104775">
                <a:moveTo>
                  <a:pt x="0" y="0"/>
                </a:moveTo>
                <a:lnTo>
                  <a:pt x="882649" y="0"/>
                </a:lnTo>
                <a:lnTo>
                  <a:pt x="882649" y="104774"/>
                </a:lnTo>
              </a:path>
            </a:pathLst>
          </a:custGeom>
          <a:ln w="19049">
            <a:solidFill>
              <a:srgbClr val="000000"/>
            </a:solidFill>
          </a:ln>
        </p:spPr>
        <p:txBody>
          <a:bodyPr wrap="square" lIns="0" tIns="0" rIns="0" bIns="0" rtlCol="0"/>
          <a:lstStyle/>
          <a:p>
            <a:endParaRPr/>
          </a:p>
        </p:txBody>
      </p:sp>
      <p:sp>
        <p:nvSpPr>
          <p:cNvPr id="14" name="object 14"/>
          <p:cNvSpPr/>
          <p:nvPr/>
        </p:nvSpPr>
        <p:spPr>
          <a:xfrm>
            <a:off x="5114994" y="3197816"/>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15" name="object 15"/>
          <p:cNvSpPr/>
          <p:nvPr/>
        </p:nvSpPr>
        <p:spPr>
          <a:xfrm>
            <a:off x="3117362" y="3479596"/>
            <a:ext cx="0" cy="697230"/>
          </a:xfrm>
          <a:custGeom>
            <a:avLst/>
            <a:gdLst/>
            <a:ahLst/>
            <a:cxnLst/>
            <a:rect l="l" t="t" r="r" b="b"/>
            <a:pathLst>
              <a:path h="697229">
                <a:moveTo>
                  <a:pt x="0" y="0"/>
                </a:moveTo>
                <a:lnTo>
                  <a:pt x="0" y="696912"/>
                </a:lnTo>
              </a:path>
            </a:pathLst>
          </a:custGeom>
          <a:ln w="19049">
            <a:solidFill>
              <a:srgbClr val="000000"/>
            </a:solidFill>
          </a:ln>
        </p:spPr>
        <p:txBody>
          <a:bodyPr wrap="square" lIns="0" tIns="0" rIns="0" bIns="0" rtlCol="0"/>
          <a:lstStyle/>
          <a:p>
            <a:endParaRPr/>
          </a:p>
        </p:txBody>
      </p:sp>
      <p:sp>
        <p:nvSpPr>
          <p:cNvPr id="16" name="object 16"/>
          <p:cNvSpPr/>
          <p:nvPr/>
        </p:nvSpPr>
        <p:spPr>
          <a:xfrm>
            <a:off x="3079262" y="4125709"/>
            <a:ext cx="76200" cy="76200"/>
          </a:xfrm>
          <a:custGeom>
            <a:avLst/>
            <a:gdLst/>
            <a:ahLst/>
            <a:cxnLst/>
            <a:rect l="l" t="t" r="r" b="b"/>
            <a:pathLst>
              <a:path w="76200" h="76200">
                <a:moveTo>
                  <a:pt x="76200" y="0"/>
                </a:moveTo>
                <a:lnTo>
                  <a:pt x="0" y="0"/>
                </a:lnTo>
                <a:lnTo>
                  <a:pt x="38100" y="76199"/>
                </a:lnTo>
                <a:lnTo>
                  <a:pt x="76200" y="0"/>
                </a:lnTo>
                <a:close/>
              </a:path>
            </a:pathLst>
          </a:custGeom>
          <a:solidFill>
            <a:srgbClr val="000000"/>
          </a:solidFill>
        </p:spPr>
        <p:txBody>
          <a:bodyPr wrap="square" lIns="0" tIns="0" rIns="0" bIns="0" rtlCol="0"/>
          <a:lstStyle/>
          <a:p>
            <a:endParaRPr/>
          </a:p>
        </p:txBody>
      </p:sp>
      <p:sp>
        <p:nvSpPr>
          <p:cNvPr id="17" name="object 17"/>
          <p:cNvSpPr txBox="1"/>
          <p:nvPr/>
        </p:nvSpPr>
        <p:spPr>
          <a:xfrm>
            <a:off x="3211892" y="3489756"/>
            <a:ext cx="1631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ourier New" panose="02070309020205020404"/>
                <a:cs typeface="Courier New" panose="02070309020205020404"/>
              </a:rPr>
              <a:t>F</a:t>
            </a:r>
            <a:endParaRPr sz="1800">
              <a:latin typeface="Courier New" panose="02070309020205020404"/>
              <a:cs typeface="Courier New" panose="02070309020205020404"/>
            </a:endParaRPr>
          </a:p>
        </p:txBody>
      </p:sp>
      <p:sp>
        <p:nvSpPr>
          <p:cNvPr id="18" name="object 18"/>
          <p:cNvSpPr/>
          <p:nvPr/>
        </p:nvSpPr>
        <p:spPr>
          <a:xfrm>
            <a:off x="3216045" y="3620039"/>
            <a:ext cx="1937385" cy="196850"/>
          </a:xfrm>
          <a:custGeom>
            <a:avLst/>
            <a:gdLst/>
            <a:ahLst/>
            <a:cxnLst/>
            <a:rect l="l" t="t" r="r" b="b"/>
            <a:pathLst>
              <a:path w="1937385" h="196850">
                <a:moveTo>
                  <a:pt x="1936849" y="0"/>
                </a:moveTo>
                <a:lnTo>
                  <a:pt x="1936849" y="196527"/>
                </a:lnTo>
                <a:lnTo>
                  <a:pt x="0" y="196527"/>
                </a:lnTo>
              </a:path>
            </a:pathLst>
          </a:custGeom>
          <a:ln w="19049">
            <a:solidFill>
              <a:srgbClr val="000000"/>
            </a:solidFill>
          </a:ln>
        </p:spPr>
        <p:txBody>
          <a:bodyPr wrap="square" lIns="0" tIns="0" rIns="0" bIns="0" rtlCol="0"/>
          <a:lstStyle/>
          <a:p>
            <a:endParaRPr/>
          </a:p>
        </p:txBody>
      </p:sp>
      <p:sp>
        <p:nvSpPr>
          <p:cNvPr id="19" name="object 19"/>
          <p:cNvSpPr/>
          <p:nvPr/>
        </p:nvSpPr>
        <p:spPr>
          <a:xfrm>
            <a:off x="3030236" y="3758247"/>
            <a:ext cx="236608" cy="116643"/>
          </a:xfrm>
          <a:prstGeom prst="rect">
            <a:avLst/>
          </a:prstGeom>
          <a:blipFill>
            <a:blip r:embed="rId3" cstate="print"/>
            <a:stretch>
              <a:fillRect/>
            </a:stretch>
          </a:blipFill>
        </p:spPr>
        <p:txBody>
          <a:bodyPr wrap="square" lIns="0" tIns="0" rIns="0" bIns="0" rtlCol="0"/>
          <a:lstStyle/>
          <a:p>
            <a:endParaRPr/>
          </a:p>
        </p:txBody>
      </p:sp>
      <p:sp>
        <p:nvSpPr>
          <p:cNvPr id="20" name="object 20"/>
          <p:cNvSpPr/>
          <p:nvPr/>
        </p:nvSpPr>
        <p:spPr>
          <a:xfrm>
            <a:off x="4270444" y="4555147"/>
            <a:ext cx="875030" cy="144780"/>
          </a:xfrm>
          <a:custGeom>
            <a:avLst/>
            <a:gdLst/>
            <a:ahLst/>
            <a:cxnLst/>
            <a:rect l="l" t="t" r="r" b="b"/>
            <a:pathLst>
              <a:path w="875029" h="144779">
                <a:moveTo>
                  <a:pt x="0" y="0"/>
                </a:moveTo>
                <a:lnTo>
                  <a:pt x="874712" y="0"/>
                </a:lnTo>
                <a:lnTo>
                  <a:pt x="874712" y="144462"/>
                </a:lnTo>
              </a:path>
            </a:pathLst>
          </a:custGeom>
          <a:ln w="19049">
            <a:solidFill>
              <a:srgbClr val="000000"/>
            </a:solidFill>
          </a:ln>
        </p:spPr>
        <p:txBody>
          <a:bodyPr wrap="square" lIns="0" tIns="0" rIns="0" bIns="0" rtlCol="0"/>
          <a:lstStyle/>
          <a:p>
            <a:endParaRPr/>
          </a:p>
        </p:txBody>
      </p:sp>
      <p:sp>
        <p:nvSpPr>
          <p:cNvPr id="21" name="object 21"/>
          <p:cNvSpPr/>
          <p:nvPr/>
        </p:nvSpPr>
        <p:spPr>
          <a:xfrm>
            <a:off x="5107057" y="4648809"/>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22" name="object 22"/>
          <p:cNvSpPr/>
          <p:nvPr/>
        </p:nvSpPr>
        <p:spPr>
          <a:xfrm>
            <a:off x="3216046" y="5071111"/>
            <a:ext cx="1929130" cy="208279"/>
          </a:xfrm>
          <a:custGeom>
            <a:avLst/>
            <a:gdLst/>
            <a:ahLst/>
            <a:cxnLst/>
            <a:rect l="l" t="t" r="r" b="b"/>
            <a:pathLst>
              <a:path w="1929129" h="208279">
                <a:moveTo>
                  <a:pt x="1928828" y="0"/>
                </a:moveTo>
                <a:lnTo>
                  <a:pt x="1928828" y="207864"/>
                </a:lnTo>
                <a:lnTo>
                  <a:pt x="0" y="207864"/>
                </a:lnTo>
              </a:path>
            </a:pathLst>
          </a:custGeom>
          <a:ln w="19049">
            <a:solidFill>
              <a:srgbClr val="000000"/>
            </a:solidFill>
          </a:ln>
        </p:spPr>
        <p:txBody>
          <a:bodyPr wrap="square" lIns="0" tIns="0" rIns="0" bIns="0" rtlCol="0"/>
          <a:lstStyle/>
          <a:p>
            <a:endParaRPr/>
          </a:p>
        </p:txBody>
      </p:sp>
      <p:sp>
        <p:nvSpPr>
          <p:cNvPr id="23" name="object 23"/>
          <p:cNvSpPr/>
          <p:nvPr/>
        </p:nvSpPr>
        <p:spPr>
          <a:xfrm>
            <a:off x="3030236" y="5220654"/>
            <a:ext cx="236610" cy="116642"/>
          </a:xfrm>
          <a:prstGeom prst="rect">
            <a:avLst/>
          </a:prstGeom>
          <a:blipFill>
            <a:blip r:embed="rId3" cstate="print"/>
            <a:stretch>
              <a:fillRect/>
            </a:stretch>
          </a:blipFill>
        </p:spPr>
        <p:txBody>
          <a:bodyPr wrap="square" lIns="0" tIns="0" rIns="0" bIns="0" rtlCol="0"/>
          <a:lstStyle/>
          <a:p>
            <a:endParaRPr/>
          </a:p>
        </p:txBody>
      </p:sp>
      <p:sp>
        <p:nvSpPr>
          <p:cNvPr id="24" name="object 24"/>
          <p:cNvSpPr/>
          <p:nvPr/>
        </p:nvSpPr>
        <p:spPr>
          <a:xfrm>
            <a:off x="3117362" y="2464035"/>
            <a:ext cx="0" cy="318770"/>
          </a:xfrm>
          <a:custGeom>
            <a:avLst/>
            <a:gdLst/>
            <a:ahLst/>
            <a:cxnLst/>
            <a:rect l="l" t="t" r="r" b="b"/>
            <a:pathLst>
              <a:path h="318769">
                <a:moveTo>
                  <a:pt x="0" y="0"/>
                </a:moveTo>
                <a:lnTo>
                  <a:pt x="0" y="318293"/>
                </a:lnTo>
              </a:path>
            </a:pathLst>
          </a:custGeom>
          <a:ln w="19049">
            <a:solidFill>
              <a:srgbClr val="000000"/>
            </a:solidFill>
          </a:ln>
        </p:spPr>
        <p:txBody>
          <a:bodyPr wrap="square" lIns="0" tIns="0" rIns="0" bIns="0" rtlCol="0"/>
          <a:lstStyle/>
          <a:p>
            <a:endParaRPr/>
          </a:p>
        </p:txBody>
      </p:sp>
      <p:sp>
        <p:nvSpPr>
          <p:cNvPr id="25" name="object 25"/>
          <p:cNvSpPr/>
          <p:nvPr/>
        </p:nvSpPr>
        <p:spPr>
          <a:xfrm>
            <a:off x="3079262" y="2731528"/>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26" name="object 26"/>
          <p:cNvSpPr txBox="1"/>
          <p:nvPr/>
        </p:nvSpPr>
        <p:spPr>
          <a:xfrm>
            <a:off x="4291240" y="2863879"/>
            <a:ext cx="1631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ourier New" panose="02070309020205020404"/>
                <a:cs typeface="Courier New" panose="02070309020205020404"/>
              </a:rPr>
              <a:t>T</a:t>
            </a:r>
            <a:endParaRPr sz="1800">
              <a:latin typeface="Courier New" panose="02070309020205020404"/>
              <a:cs typeface="Courier New" panose="02070309020205020404"/>
            </a:endParaRPr>
          </a:p>
        </p:txBody>
      </p:sp>
      <p:sp>
        <p:nvSpPr>
          <p:cNvPr id="27" name="object 27"/>
          <p:cNvSpPr txBox="1"/>
          <p:nvPr/>
        </p:nvSpPr>
        <p:spPr>
          <a:xfrm>
            <a:off x="3204997" y="4929490"/>
            <a:ext cx="1631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ourier New" panose="02070309020205020404"/>
                <a:cs typeface="Courier New" panose="02070309020205020404"/>
              </a:rPr>
              <a:t>F</a:t>
            </a:r>
            <a:endParaRPr sz="1800">
              <a:latin typeface="Courier New" panose="02070309020205020404"/>
              <a:cs typeface="Courier New" panose="02070309020205020404"/>
            </a:endParaRPr>
          </a:p>
        </p:txBody>
      </p:sp>
      <p:sp>
        <p:nvSpPr>
          <p:cNvPr id="28" name="object 28"/>
          <p:cNvSpPr txBox="1"/>
          <p:nvPr/>
        </p:nvSpPr>
        <p:spPr>
          <a:xfrm>
            <a:off x="4240761" y="4268186"/>
            <a:ext cx="1631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ourier New" panose="02070309020205020404"/>
                <a:cs typeface="Courier New" panose="02070309020205020404"/>
              </a:rPr>
              <a:t>T</a:t>
            </a:r>
            <a:endParaRPr sz="1800">
              <a:latin typeface="Courier New" panose="02070309020205020404"/>
              <a:cs typeface="Courier New" panose="02070309020205020404"/>
            </a:endParaRPr>
          </a:p>
        </p:txBody>
      </p:sp>
      <p:sp>
        <p:nvSpPr>
          <p:cNvPr id="29" name="object 29"/>
          <p:cNvSpPr txBox="1"/>
          <p:nvPr/>
        </p:nvSpPr>
        <p:spPr>
          <a:xfrm>
            <a:off x="2539517" y="5511803"/>
            <a:ext cx="1154430" cy="346710"/>
          </a:xfrm>
          <a:prstGeom prst="rect">
            <a:avLst/>
          </a:prstGeom>
          <a:ln w="19049">
            <a:solidFill>
              <a:srgbClr val="000000"/>
            </a:solidFill>
          </a:ln>
        </p:spPr>
        <p:txBody>
          <a:bodyPr vert="horz" wrap="square" lIns="0" tIns="24130" rIns="0" bIns="0" rtlCol="0">
            <a:spAutoFit/>
          </a:bodyPr>
          <a:lstStyle/>
          <a:p>
            <a:pPr marL="91440">
              <a:lnSpc>
                <a:spcPct val="100000"/>
              </a:lnSpc>
              <a:spcBef>
                <a:spcPts val="190"/>
              </a:spcBef>
            </a:pPr>
            <a:r>
              <a:rPr sz="1800" b="1" dirty="0">
                <a:latin typeface="Courier New" panose="02070309020205020404"/>
                <a:cs typeface="Courier New" panose="02070309020205020404"/>
              </a:rPr>
              <a:t>c =</a:t>
            </a:r>
            <a:r>
              <a:rPr sz="1800" b="1" spc="-80" dirty="0">
                <a:latin typeface="Courier New" panose="02070309020205020404"/>
                <a:cs typeface="Courier New" panose="02070309020205020404"/>
              </a:rPr>
              <a:t> </a:t>
            </a:r>
            <a:r>
              <a:rPr sz="1800" b="1" dirty="0">
                <a:latin typeface="Courier New" panose="02070309020205020404"/>
                <a:cs typeface="Courier New" panose="02070309020205020404"/>
              </a:rPr>
              <a:t>b+c</a:t>
            </a:r>
            <a:endParaRPr sz="1800">
              <a:latin typeface="Courier New" panose="02070309020205020404"/>
              <a:cs typeface="Courier New" panose="02070309020205020404"/>
            </a:endParaRPr>
          </a:p>
        </p:txBody>
      </p:sp>
      <p:sp>
        <p:nvSpPr>
          <p:cNvPr id="30" name="object 30"/>
          <p:cNvSpPr txBox="1"/>
          <p:nvPr/>
        </p:nvSpPr>
        <p:spPr>
          <a:xfrm>
            <a:off x="2625093" y="2489992"/>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①</a:t>
            </a:r>
            <a:endParaRPr sz="2000">
              <a:latin typeface="微软雅黑" panose="020B0503020204020204" pitchFamily="34" charset="-122"/>
              <a:cs typeface="微软雅黑" panose="020B0503020204020204" pitchFamily="34" charset="-122"/>
            </a:endParaRPr>
          </a:p>
        </p:txBody>
      </p:sp>
      <p:sp>
        <p:nvSpPr>
          <p:cNvPr id="31" name="object 31"/>
          <p:cNvSpPr txBox="1"/>
          <p:nvPr/>
        </p:nvSpPr>
        <p:spPr>
          <a:xfrm>
            <a:off x="4240016" y="3238849"/>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②</a:t>
            </a:r>
            <a:endParaRPr sz="2000">
              <a:latin typeface="微软雅黑" panose="020B0503020204020204" pitchFamily="34" charset="-122"/>
              <a:cs typeface="微软雅黑" panose="020B0503020204020204" pitchFamily="34" charset="-122"/>
            </a:endParaRPr>
          </a:p>
        </p:txBody>
      </p:sp>
      <p:sp>
        <p:nvSpPr>
          <p:cNvPr id="32" name="object 32"/>
          <p:cNvSpPr txBox="1"/>
          <p:nvPr/>
        </p:nvSpPr>
        <p:spPr>
          <a:xfrm>
            <a:off x="2623858" y="3927148"/>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③</a:t>
            </a:r>
            <a:endParaRPr sz="2000">
              <a:latin typeface="微软雅黑" panose="020B0503020204020204" pitchFamily="34" charset="-122"/>
              <a:cs typeface="微软雅黑" panose="020B0503020204020204" pitchFamily="34" charset="-122"/>
            </a:endParaRPr>
          </a:p>
        </p:txBody>
      </p:sp>
      <p:sp>
        <p:nvSpPr>
          <p:cNvPr id="33" name="object 33"/>
          <p:cNvSpPr txBox="1"/>
          <p:nvPr/>
        </p:nvSpPr>
        <p:spPr>
          <a:xfrm>
            <a:off x="4244221" y="4701379"/>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④</a:t>
            </a:r>
            <a:endParaRPr sz="2000">
              <a:latin typeface="微软雅黑" panose="020B0503020204020204" pitchFamily="34" charset="-122"/>
              <a:cs typeface="微软雅黑" panose="020B0503020204020204" pitchFamily="34" charset="-122"/>
            </a:endParaRPr>
          </a:p>
        </p:txBody>
      </p:sp>
      <p:sp>
        <p:nvSpPr>
          <p:cNvPr id="34" name="object 34"/>
          <p:cNvSpPr txBox="1"/>
          <p:nvPr/>
        </p:nvSpPr>
        <p:spPr>
          <a:xfrm>
            <a:off x="2155275" y="5506533"/>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⑤</a:t>
            </a:r>
            <a:endParaRPr sz="2000">
              <a:latin typeface="微软雅黑" panose="020B0503020204020204" pitchFamily="34" charset="-122"/>
              <a:cs typeface="微软雅黑" panose="020B0503020204020204" pitchFamily="34" charset="-122"/>
            </a:endParaRPr>
          </a:p>
        </p:txBody>
      </p:sp>
      <p:sp>
        <p:nvSpPr>
          <p:cNvPr id="35" name="灯片编号占位符 34"/>
          <p:cNvSpPr>
            <a:spLocks noGrp="1"/>
          </p:cNvSpPr>
          <p:nvPr>
            <p:ph type="sldNum" sz="quarter" idx="12"/>
          </p:nvPr>
        </p:nvSpPr>
        <p:spPr/>
        <p:txBody>
          <a:bodyPr/>
          <a:lstStyle/>
          <a:p>
            <a:fld id="{74D2AB8B-5816-41F2-8B4B-CA5C3E4E6A65}" type="slidenum">
              <a:rPr lang="zh-CN" altLang="en-US" smtClean="0"/>
              <a:t>29</a:t>
            </a:fld>
            <a:endParaRPr lang="zh-CN" altLang="en-US"/>
          </a:p>
        </p:txBody>
      </p:sp>
      <p:sp>
        <p:nvSpPr>
          <p:cNvPr id="37" name="标题 36"/>
          <p:cNvSpPr>
            <a:spLocks noGrp="1"/>
          </p:cNvSpPr>
          <p:nvPr>
            <p:ph type="title"/>
          </p:nvPr>
        </p:nvSpPr>
        <p:spPr/>
        <p:txBody>
          <a:bodyPr/>
          <a:lstStyle/>
          <a:p>
            <a:r>
              <a:rPr lang="zh-CN" altLang="en-US" dirty="0"/>
              <a:t>语句覆盖</a:t>
            </a:r>
          </a:p>
        </p:txBody>
      </p:sp>
      <p:sp>
        <p:nvSpPr>
          <p:cNvPr id="36" name="矩形 35">
            <a:extLst>
              <a:ext uri="{FF2B5EF4-FFF2-40B4-BE49-F238E27FC236}">
                <a16:creationId xmlns:a16="http://schemas.microsoft.com/office/drawing/2014/main" id="{13E1F31B-C4A3-477D-BF45-A25AC1F73041}"/>
              </a:ext>
            </a:extLst>
          </p:cNvPr>
          <p:cNvSpPr/>
          <p:nvPr/>
        </p:nvSpPr>
        <p:spPr>
          <a:xfrm>
            <a:off x="4180611" y="5692446"/>
            <a:ext cx="7913807" cy="369332"/>
          </a:xfrm>
          <a:prstGeom prst="rect">
            <a:avLst/>
          </a:prstGeom>
        </p:spPr>
        <p:txBody>
          <a:bodyPr wrap="square">
            <a:spAutoFit/>
          </a:bodyPr>
          <a:lstStyle/>
          <a:p>
            <a:r>
              <a:rPr lang="zh-CN" altLang="en-US" dirty="0">
                <a:latin typeface="华文楷体" panose="02010600040101010101" pitchFamily="2" charset="-122"/>
                <a:ea typeface="华文楷体" panose="02010600040101010101" pitchFamily="2" charset="-122"/>
              </a:rPr>
              <a:t>第一个条件判断中与被错误地写成或，显然这个测试用例是无法检查出来的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body" idx="1"/>
          </p:nvPr>
        </p:nvSpPr>
        <p:spPr>
          <a:prstGeom prst="rect">
            <a:avLst/>
          </a:prstGeom>
        </p:spPr>
        <p:txBody>
          <a:bodyPr vert="horz" wrap="square" lIns="0" tIns="198120" rIns="0" bIns="0" rtlCol="0">
            <a:spAutoFit/>
          </a:bodyPr>
          <a:lstStyle/>
          <a:p>
            <a:pPr marL="39370">
              <a:lnSpc>
                <a:spcPct val="100000"/>
              </a:lnSpc>
              <a:spcBef>
                <a:spcPts val="1560"/>
              </a:spcBef>
            </a:pPr>
            <a:r>
              <a:rPr dirty="0"/>
              <a:t>测试用例</a:t>
            </a:r>
            <a:r>
              <a:rPr dirty="0">
                <a:solidFill>
                  <a:srgbClr val="004DD6"/>
                </a:solidFill>
              </a:rPr>
              <a:t>：</a:t>
            </a:r>
          </a:p>
          <a:p>
            <a:pPr marL="39370">
              <a:lnSpc>
                <a:spcPct val="100000"/>
              </a:lnSpc>
              <a:spcBef>
                <a:spcPts val="1460"/>
              </a:spcBef>
            </a:pPr>
            <a:r>
              <a:rPr dirty="0">
                <a:solidFill>
                  <a:srgbClr val="000000"/>
                </a:solidFill>
              </a:rPr>
              <a:t>输入</a:t>
            </a:r>
            <a:r>
              <a:rPr spc="-5" dirty="0">
                <a:solidFill>
                  <a:srgbClr val="000000"/>
                </a:solidFill>
              </a:rPr>
              <a:t>：</a:t>
            </a:r>
            <a:r>
              <a:rPr b="1" spc="-5" dirty="0">
                <a:solidFill>
                  <a:srgbClr val="000000"/>
                </a:solidFill>
                <a:latin typeface="Courier New" panose="02070309020205020404"/>
                <a:cs typeface="Courier New" panose="02070309020205020404"/>
              </a:rPr>
              <a:t>a=2</a:t>
            </a:r>
            <a:r>
              <a:rPr b="1" spc="-5" dirty="0">
                <a:solidFill>
                  <a:srgbClr val="000000"/>
                </a:solidFill>
                <a:latin typeface="微软雅黑" panose="020B0503020204020204" pitchFamily="34" charset="-122"/>
                <a:cs typeface="微软雅黑" panose="020B0503020204020204" pitchFamily="34" charset="-122"/>
              </a:rPr>
              <a:t>，</a:t>
            </a:r>
            <a:r>
              <a:rPr b="1" spc="-5" dirty="0">
                <a:solidFill>
                  <a:srgbClr val="000000"/>
                </a:solidFill>
                <a:latin typeface="Courier New" panose="02070309020205020404"/>
                <a:cs typeface="Courier New" panose="02070309020205020404"/>
              </a:rPr>
              <a:t>b=1</a:t>
            </a:r>
            <a:r>
              <a:rPr b="1" spc="-5" dirty="0">
                <a:solidFill>
                  <a:srgbClr val="000000"/>
                </a:solidFill>
                <a:latin typeface="微软雅黑" panose="020B0503020204020204" pitchFamily="34" charset="-122"/>
                <a:cs typeface="微软雅黑" panose="020B0503020204020204" pitchFamily="34" charset="-122"/>
              </a:rPr>
              <a:t>，</a:t>
            </a:r>
            <a:r>
              <a:rPr b="1" spc="-5" dirty="0">
                <a:solidFill>
                  <a:srgbClr val="000000"/>
                </a:solidFill>
                <a:latin typeface="Courier New" panose="02070309020205020404"/>
                <a:cs typeface="Courier New" panose="02070309020205020404"/>
              </a:rPr>
              <a:t>c=6</a:t>
            </a:r>
          </a:p>
          <a:p>
            <a:pPr marL="39370">
              <a:lnSpc>
                <a:spcPct val="100000"/>
              </a:lnSpc>
              <a:spcBef>
                <a:spcPts val="860"/>
              </a:spcBef>
            </a:pPr>
            <a:r>
              <a:rPr dirty="0">
                <a:solidFill>
                  <a:srgbClr val="000000"/>
                </a:solidFill>
              </a:rPr>
              <a:t>程序中三个可执行语句均被执行一次，满足语句覆盖标准。</a:t>
            </a:r>
          </a:p>
          <a:p>
            <a:pPr marL="26670">
              <a:lnSpc>
                <a:spcPct val="100000"/>
              </a:lnSpc>
              <a:spcBef>
                <a:spcPts val="15"/>
              </a:spcBef>
            </a:pPr>
            <a:endParaRPr sz="2300" dirty="0">
              <a:latin typeface="Times New Roman" panose="02020603050405020304"/>
              <a:cs typeface="Times New Roman" panose="02020603050405020304"/>
            </a:endParaRPr>
          </a:p>
          <a:p>
            <a:pPr marL="39370">
              <a:lnSpc>
                <a:spcPct val="100000"/>
              </a:lnSpc>
            </a:pPr>
            <a:r>
              <a:rPr dirty="0"/>
              <a:t>问题分析</a:t>
            </a:r>
            <a:r>
              <a:rPr dirty="0">
                <a:solidFill>
                  <a:srgbClr val="004DD6"/>
                </a:solidFill>
              </a:rPr>
              <a:t>：</a:t>
            </a:r>
          </a:p>
          <a:p>
            <a:pPr marL="39370" marR="5080">
              <a:lnSpc>
                <a:spcPct val="110000"/>
              </a:lnSpc>
              <a:spcBef>
                <a:spcPts val="1200"/>
              </a:spcBef>
            </a:pPr>
            <a:r>
              <a:rPr spc="50" dirty="0">
                <a:solidFill>
                  <a:srgbClr val="000000"/>
                </a:solidFill>
              </a:rPr>
              <a:t>测试用例虽然覆盖可执行语句，但无法检查判断逻辑是否存在问题，例如 </a:t>
            </a:r>
            <a:r>
              <a:rPr dirty="0">
                <a:solidFill>
                  <a:srgbClr val="000000"/>
                </a:solidFill>
              </a:rPr>
              <a:t>第一个条件判断中“</a:t>
            </a:r>
            <a:r>
              <a:rPr b="1" dirty="0">
                <a:solidFill>
                  <a:srgbClr val="000000"/>
                </a:solidFill>
                <a:latin typeface="Courier New" panose="02070309020205020404"/>
                <a:cs typeface="Courier New" panose="02070309020205020404"/>
              </a:rPr>
              <a:t>&amp;&amp;</a:t>
            </a:r>
            <a:r>
              <a:rPr dirty="0">
                <a:solidFill>
                  <a:srgbClr val="000000"/>
                </a:solidFill>
              </a:rPr>
              <a:t>”被错误地写成“</a:t>
            </a:r>
            <a:r>
              <a:rPr b="1" dirty="0">
                <a:solidFill>
                  <a:srgbClr val="000000"/>
                </a:solidFill>
                <a:latin typeface="Courier New" panose="02070309020205020404"/>
                <a:cs typeface="Courier New" panose="02070309020205020404"/>
              </a:rPr>
              <a:t>||</a:t>
            </a:r>
            <a:r>
              <a:rPr dirty="0">
                <a:solidFill>
                  <a:srgbClr val="000000"/>
                </a:solidFill>
              </a:rPr>
              <a:t>”。</a:t>
            </a:r>
          </a:p>
          <a:p>
            <a:pPr marL="39370">
              <a:lnSpc>
                <a:spcPct val="100000"/>
              </a:lnSpc>
              <a:spcBef>
                <a:spcPts val="860"/>
              </a:spcBef>
            </a:pPr>
            <a:r>
              <a:rPr dirty="0">
                <a:solidFill>
                  <a:srgbClr val="C00000"/>
                </a:solidFill>
              </a:rPr>
              <a:t>语句覆盖是最弱的逻辑覆盖准则</a:t>
            </a:r>
            <a:r>
              <a:rPr dirty="0">
                <a:solidFill>
                  <a:srgbClr val="CE1C00"/>
                </a:solidFill>
              </a:rPr>
              <a:t>。</a:t>
            </a:r>
          </a:p>
        </p:txBody>
      </p:sp>
      <p:sp>
        <p:nvSpPr>
          <p:cNvPr id="5" name="灯片编号占位符 4"/>
          <p:cNvSpPr>
            <a:spLocks noGrp="1"/>
          </p:cNvSpPr>
          <p:nvPr>
            <p:ph type="sldNum" sz="quarter" idx="12"/>
          </p:nvPr>
        </p:nvSpPr>
        <p:spPr/>
        <p:txBody>
          <a:bodyPr/>
          <a:lstStyle/>
          <a:p>
            <a:fld id="{74D2AB8B-5816-41F2-8B4B-CA5C3E4E6A65}" type="slidenum">
              <a:rPr lang="zh-CN" altLang="en-US" smtClean="0"/>
              <a:t>30</a:t>
            </a:fld>
            <a:endParaRPr lang="zh-CN" altLang="en-US"/>
          </a:p>
        </p:txBody>
      </p:sp>
      <p:sp>
        <p:nvSpPr>
          <p:cNvPr id="7" name="标题 6"/>
          <p:cNvSpPr>
            <a:spLocks noGrp="1"/>
          </p:cNvSpPr>
          <p:nvPr>
            <p:ph type="title"/>
          </p:nvPr>
        </p:nvSpPr>
        <p:spPr/>
        <p:txBody>
          <a:bodyPr/>
          <a:lstStyle/>
          <a:p>
            <a:r>
              <a:rPr lang="zh-CN" altLang="en-US" dirty="0"/>
              <a:t>语句覆盖</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23999" y="1548000"/>
            <a:ext cx="9720580" cy="688975"/>
          </a:xfrm>
          <a:prstGeom prst="rect">
            <a:avLst/>
          </a:prstGeom>
          <a:solidFill>
            <a:srgbClr val="797BA9"/>
          </a:solidFill>
        </p:spPr>
        <p:txBody>
          <a:bodyPr vert="horz" wrap="square" lIns="0" tIns="191770" rIns="0" bIns="0" rtlCol="0">
            <a:spAutoFit/>
          </a:bodyPr>
          <a:lstStyle/>
          <a:p>
            <a:pPr marL="391795">
              <a:lnSpc>
                <a:spcPct val="100000"/>
              </a:lnSpc>
              <a:spcBef>
                <a:spcPts val="1510"/>
              </a:spcBef>
            </a:pPr>
            <a:r>
              <a:rPr sz="2200" dirty="0">
                <a:solidFill>
                  <a:srgbClr val="FFFFFF"/>
                </a:solidFill>
                <a:latin typeface="微软雅黑" panose="020B0503020204020204" pitchFamily="34" charset="-122"/>
                <a:cs typeface="微软雅黑" panose="020B0503020204020204" pitchFamily="34" charset="-122"/>
              </a:rPr>
              <a:t>程序中每个判断的取真和取假分支至少经历一次，即判断真假值均被满足。</a:t>
            </a:r>
            <a:endParaRPr sz="2200">
              <a:latin typeface="微软雅黑" panose="020B0503020204020204" pitchFamily="34" charset="-122"/>
              <a:cs typeface="微软雅黑" panose="020B0503020204020204" pitchFamily="34" charset="-122"/>
            </a:endParaRPr>
          </a:p>
        </p:txBody>
      </p:sp>
      <p:sp>
        <p:nvSpPr>
          <p:cNvPr id="4" name="object 4"/>
          <p:cNvSpPr/>
          <p:nvPr/>
        </p:nvSpPr>
        <p:spPr>
          <a:xfrm>
            <a:off x="3116705" y="4907994"/>
            <a:ext cx="1270" cy="578485"/>
          </a:xfrm>
          <a:custGeom>
            <a:avLst/>
            <a:gdLst/>
            <a:ahLst/>
            <a:cxnLst/>
            <a:rect l="l" t="t" r="r" b="b"/>
            <a:pathLst>
              <a:path w="1269" h="578485">
                <a:moveTo>
                  <a:pt x="655" y="0"/>
                </a:moveTo>
                <a:lnTo>
                  <a:pt x="0" y="578408"/>
                </a:lnTo>
              </a:path>
            </a:pathLst>
          </a:custGeom>
          <a:ln w="19049">
            <a:solidFill>
              <a:srgbClr val="000000"/>
            </a:solidFill>
          </a:ln>
        </p:spPr>
        <p:txBody>
          <a:bodyPr wrap="square" lIns="0" tIns="0" rIns="0" bIns="0" rtlCol="0"/>
          <a:lstStyle/>
          <a:p>
            <a:endParaRPr/>
          </a:p>
        </p:txBody>
      </p:sp>
      <p:sp>
        <p:nvSpPr>
          <p:cNvPr id="5" name="object 5"/>
          <p:cNvSpPr/>
          <p:nvPr/>
        </p:nvSpPr>
        <p:spPr>
          <a:xfrm>
            <a:off x="3078664" y="5435560"/>
            <a:ext cx="76200" cy="76835"/>
          </a:xfrm>
          <a:custGeom>
            <a:avLst/>
            <a:gdLst/>
            <a:ahLst/>
            <a:cxnLst/>
            <a:rect l="l" t="t" r="r" b="b"/>
            <a:pathLst>
              <a:path w="76200" h="76835">
                <a:moveTo>
                  <a:pt x="0" y="0"/>
                </a:moveTo>
                <a:lnTo>
                  <a:pt x="38013" y="76243"/>
                </a:lnTo>
                <a:lnTo>
                  <a:pt x="76200" y="86"/>
                </a:lnTo>
                <a:lnTo>
                  <a:pt x="0" y="0"/>
                </a:lnTo>
                <a:close/>
              </a:path>
            </a:pathLst>
          </a:custGeom>
          <a:solidFill>
            <a:srgbClr val="000000"/>
          </a:solidFill>
        </p:spPr>
        <p:txBody>
          <a:bodyPr wrap="square" lIns="0" tIns="0" rIns="0" bIns="0" rtlCol="0"/>
          <a:lstStyle/>
          <a:p>
            <a:endParaRPr/>
          </a:p>
        </p:txBody>
      </p:sp>
      <p:sp>
        <p:nvSpPr>
          <p:cNvPr id="6" name="object 6"/>
          <p:cNvSpPr/>
          <p:nvPr/>
        </p:nvSpPr>
        <p:spPr>
          <a:xfrm>
            <a:off x="1964278" y="2808086"/>
            <a:ext cx="2306320" cy="671830"/>
          </a:xfrm>
          <a:custGeom>
            <a:avLst/>
            <a:gdLst/>
            <a:ahLst/>
            <a:cxnLst/>
            <a:rect l="l" t="t" r="r" b="b"/>
            <a:pathLst>
              <a:path w="2306320" h="671829">
                <a:moveTo>
                  <a:pt x="0" y="335755"/>
                </a:moveTo>
                <a:lnTo>
                  <a:pt x="1153082" y="0"/>
                </a:lnTo>
                <a:lnTo>
                  <a:pt x="2306165" y="335755"/>
                </a:lnTo>
                <a:lnTo>
                  <a:pt x="1153082" y="671509"/>
                </a:lnTo>
                <a:lnTo>
                  <a:pt x="0" y="335755"/>
                </a:lnTo>
                <a:close/>
              </a:path>
            </a:pathLst>
          </a:custGeom>
          <a:ln w="19049">
            <a:solidFill>
              <a:srgbClr val="000000"/>
            </a:solidFill>
          </a:ln>
        </p:spPr>
        <p:txBody>
          <a:bodyPr wrap="square" lIns="0" tIns="0" rIns="0" bIns="0" rtlCol="0"/>
          <a:lstStyle/>
          <a:p>
            <a:endParaRPr/>
          </a:p>
        </p:txBody>
      </p:sp>
      <p:sp>
        <p:nvSpPr>
          <p:cNvPr id="7" name="object 7"/>
          <p:cNvSpPr txBox="1"/>
          <p:nvPr/>
        </p:nvSpPr>
        <p:spPr>
          <a:xfrm>
            <a:off x="2352860" y="2982551"/>
            <a:ext cx="153479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ourier New" panose="02070309020205020404"/>
                <a:cs typeface="Courier New" panose="02070309020205020404"/>
              </a:rPr>
              <a:t>a&gt;0 and</a:t>
            </a:r>
            <a:r>
              <a:rPr sz="1800" b="1" spc="-90" dirty="0">
                <a:latin typeface="Courier New" panose="02070309020205020404"/>
                <a:cs typeface="Courier New" panose="02070309020205020404"/>
              </a:rPr>
              <a:t> </a:t>
            </a:r>
            <a:r>
              <a:rPr sz="1800" b="1" spc="-5" dirty="0">
                <a:latin typeface="Courier New" panose="02070309020205020404"/>
                <a:cs typeface="Courier New" panose="02070309020205020404"/>
              </a:rPr>
              <a:t>b&gt;0</a:t>
            </a:r>
            <a:endParaRPr sz="1800">
              <a:latin typeface="Courier New" panose="02070309020205020404"/>
              <a:cs typeface="Courier New" panose="02070309020205020404"/>
            </a:endParaRPr>
          </a:p>
        </p:txBody>
      </p:sp>
      <p:sp>
        <p:nvSpPr>
          <p:cNvPr id="8" name="object 8"/>
          <p:cNvSpPr txBox="1"/>
          <p:nvPr/>
        </p:nvSpPr>
        <p:spPr>
          <a:xfrm>
            <a:off x="4575736" y="3273792"/>
            <a:ext cx="1154430" cy="346710"/>
          </a:xfrm>
          <a:prstGeom prst="rect">
            <a:avLst/>
          </a:prstGeom>
          <a:ln w="19049">
            <a:solidFill>
              <a:srgbClr val="000000"/>
            </a:solidFill>
          </a:ln>
        </p:spPr>
        <p:txBody>
          <a:bodyPr vert="horz" wrap="square" lIns="0" tIns="24130" rIns="0" bIns="0" rtlCol="0">
            <a:spAutoFit/>
          </a:bodyPr>
          <a:lstStyle/>
          <a:p>
            <a:pPr marL="91440">
              <a:lnSpc>
                <a:spcPct val="100000"/>
              </a:lnSpc>
              <a:spcBef>
                <a:spcPts val="190"/>
              </a:spcBef>
            </a:pPr>
            <a:r>
              <a:rPr sz="1800" b="1" dirty="0">
                <a:latin typeface="Courier New" panose="02070309020205020404"/>
                <a:cs typeface="Courier New" panose="02070309020205020404"/>
              </a:rPr>
              <a:t>c =</a:t>
            </a:r>
            <a:r>
              <a:rPr sz="1800" b="1" spc="-85" dirty="0">
                <a:latin typeface="Courier New" panose="02070309020205020404"/>
                <a:cs typeface="Courier New" panose="02070309020205020404"/>
              </a:rPr>
              <a:t> </a:t>
            </a:r>
            <a:r>
              <a:rPr sz="1800" b="1" spc="-5" dirty="0">
                <a:latin typeface="Courier New" panose="02070309020205020404"/>
                <a:cs typeface="Courier New" panose="02070309020205020404"/>
              </a:rPr>
              <a:t>c/a</a:t>
            </a:r>
            <a:endParaRPr sz="1800">
              <a:latin typeface="Courier New" panose="02070309020205020404"/>
              <a:cs typeface="Courier New" panose="02070309020205020404"/>
            </a:endParaRPr>
          </a:p>
        </p:txBody>
      </p:sp>
      <p:sp>
        <p:nvSpPr>
          <p:cNvPr id="9" name="object 9"/>
          <p:cNvSpPr/>
          <p:nvPr/>
        </p:nvSpPr>
        <p:spPr>
          <a:xfrm>
            <a:off x="1964278" y="4202297"/>
            <a:ext cx="2306320" cy="706120"/>
          </a:xfrm>
          <a:custGeom>
            <a:avLst/>
            <a:gdLst/>
            <a:ahLst/>
            <a:cxnLst/>
            <a:rect l="l" t="t" r="r" b="b"/>
            <a:pathLst>
              <a:path w="2306320" h="706120">
                <a:moveTo>
                  <a:pt x="0" y="352848"/>
                </a:moveTo>
                <a:lnTo>
                  <a:pt x="1153082" y="0"/>
                </a:lnTo>
                <a:lnTo>
                  <a:pt x="2306165" y="352848"/>
                </a:lnTo>
                <a:lnTo>
                  <a:pt x="1153082" y="705696"/>
                </a:lnTo>
                <a:lnTo>
                  <a:pt x="0" y="352848"/>
                </a:lnTo>
                <a:close/>
              </a:path>
            </a:pathLst>
          </a:custGeom>
          <a:ln w="19049">
            <a:solidFill>
              <a:srgbClr val="000000"/>
            </a:solidFill>
          </a:ln>
        </p:spPr>
        <p:txBody>
          <a:bodyPr wrap="square" lIns="0" tIns="0" rIns="0" bIns="0" rtlCol="0"/>
          <a:lstStyle/>
          <a:p>
            <a:endParaRPr/>
          </a:p>
        </p:txBody>
      </p:sp>
      <p:sp>
        <p:nvSpPr>
          <p:cNvPr id="10" name="object 10"/>
          <p:cNvSpPr txBox="1"/>
          <p:nvPr/>
        </p:nvSpPr>
        <p:spPr>
          <a:xfrm>
            <a:off x="2416360" y="4393857"/>
            <a:ext cx="13976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ourier New" panose="02070309020205020404"/>
                <a:cs typeface="Courier New" panose="02070309020205020404"/>
              </a:rPr>
              <a:t>a&gt;1 or</a:t>
            </a:r>
            <a:r>
              <a:rPr sz="1800" b="1" spc="-90" dirty="0">
                <a:latin typeface="Courier New" panose="02070309020205020404"/>
                <a:cs typeface="Courier New" panose="02070309020205020404"/>
              </a:rPr>
              <a:t> </a:t>
            </a:r>
            <a:r>
              <a:rPr sz="1800" b="1" spc="-5" dirty="0">
                <a:latin typeface="Courier New" panose="02070309020205020404"/>
                <a:cs typeface="Courier New" panose="02070309020205020404"/>
              </a:rPr>
              <a:t>c&gt;1</a:t>
            </a:r>
            <a:endParaRPr sz="1800">
              <a:latin typeface="Courier New" panose="02070309020205020404"/>
              <a:cs typeface="Courier New" panose="02070309020205020404"/>
            </a:endParaRPr>
          </a:p>
        </p:txBody>
      </p:sp>
      <p:sp>
        <p:nvSpPr>
          <p:cNvPr id="11" name="object 11"/>
          <p:cNvSpPr txBox="1"/>
          <p:nvPr/>
        </p:nvSpPr>
        <p:spPr>
          <a:xfrm>
            <a:off x="4567713" y="4724862"/>
            <a:ext cx="1154430" cy="346710"/>
          </a:xfrm>
          <a:prstGeom prst="rect">
            <a:avLst/>
          </a:prstGeom>
          <a:ln w="19049">
            <a:solidFill>
              <a:srgbClr val="000000"/>
            </a:solidFill>
          </a:ln>
        </p:spPr>
        <p:txBody>
          <a:bodyPr vert="horz" wrap="square" lIns="0" tIns="24130" rIns="0" bIns="0" rtlCol="0">
            <a:spAutoFit/>
          </a:bodyPr>
          <a:lstStyle/>
          <a:p>
            <a:pPr marL="91440">
              <a:lnSpc>
                <a:spcPct val="100000"/>
              </a:lnSpc>
              <a:spcBef>
                <a:spcPts val="190"/>
              </a:spcBef>
            </a:pPr>
            <a:r>
              <a:rPr sz="1800" b="1" dirty="0">
                <a:latin typeface="Courier New" panose="02070309020205020404"/>
                <a:cs typeface="Courier New" panose="02070309020205020404"/>
              </a:rPr>
              <a:t>c =</a:t>
            </a:r>
            <a:r>
              <a:rPr sz="1800" b="1" spc="-85" dirty="0">
                <a:latin typeface="Courier New" panose="02070309020205020404"/>
                <a:cs typeface="Courier New" panose="02070309020205020404"/>
              </a:rPr>
              <a:t> </a:t>
            </a:r>
            <a:r>
              <a:rPr sz="1800" b="1" spc="-5" dirty="0">
                <a:latin typeface="Courier New" panose="02070309020205020404"/>
                <a:cs typeface="Courier New" panose="02070309020205020404"/>
              </a:rPr>
              <a:t>c+1</a:t>
            </a:r>
            <a:endParaRPr sz="1800">
              <a:latin typeface="Courier New" panose="02070309020205020404"/>
              <a:cs typeface="Courier New" panose="02070309020205020404"/>
            </a:endParaRPr>
          </a:p>
        </p:txBody>
      </p:sp>
      <p:sp>
        <p:nvSpPr>
          <p:cNvPr id="12" name="object 12"/>
          <p:cNvSpPr/>
          <p:nvPr/>
        </p:nvSpPr>
        <p:spPr>
          <a:xfrm>
            <a:off x="4270444" y="3143842"/>
            <a:ext cx="882650" cy="104775"/>
          </a:xfrm>
          <a:custGeom>
            <a:avLst/>
            <a:gdLst/>
            <a:ahLst/>
            <a:cxnLst/>
            <a:rect l="l" t="t" r="r" b="b"/>
            <a:pathLst>
              <a:path w="882650" h="104775">
                <a:moveTo>
                  <a:pt x="0" y="0"/>
                </a:moveTo>
                <a:lnTo>
                  <a:pt x="882649" y="0"/>
                </a:lnTo>
                <a:lnTo>
                  <a:pt x="882649" y="104774"/>
                </a:lnTo>
              </a:path>
            </a:pathLst>
          </a:custGeom>
          <a:ln w="19049">
            <a:solidFill>
              <a:srgbClr val="000000"/>
            </a:solidFill>
          </a:ln>
        </p:spPr>
        <p:txBody>
          <a:bodyPr wrap="square" lIns="0" tIns="0" rIns="0" bIns="0" rtlCol="0"/>
          <a:lstStyle/>
          <a:p>
            <a:endParaRPr/>
          </a:p>
        </p:txBody>
      </p:sp>
      <p:sp>
        <p:nvSpPr>
          <p:cNvPr id="13" name="object 13"/>
          <p:cNvSpPr/>
          <p:nvPr/>
        </p:nvSpPr>
        <p:spPr>
          <a:xfrm>
            <a:off x="5114994" y="3197816"/>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14" name="object 14"/>
          <p:cNvSpPr/>
          <p:nvPr/>
        </p:nvSpPr>
        <p:spPr>
          <a:xfrm>
            <a:off x="3117362" y="3479596"/>
            <a:ext cx="0" cy="697230"/>
          </a:xfrm>
          <a:custGeom>
            <a:avLst/>
            <a:gdLst/>
            <a:ahLst/>
            <a:cxnLst/>
            <a:rect l="l" t="t" r="r" b="b"/>
            <a:pathLst>
              <a:path h="697229">
                <a:moveTo>
                  <a:pt x="0" y="0"/>
                </a:moveTo>
                <a:lnTo>
                  <a:pt x="0" y="696912"/>
                </a:lnTo>
              </a:path>
            </a:pathLst>
          </a:custGeom>
          <a:ln w="19049">
            <a:solidFill>
              <a:srgbClr val="000000"/>
            </a:solidFill>
          </a:ln>
        </p:spPr>
        <p:txBody>
          <a:bodyPr wrap="square" lIns="0" tIns="0" rIns="0" bIns="0" rtlCol="0"/>
          <a:lstStyle/>
          <a:p>
            <a:endParaRPr/>
          </a:p>
        </p:txBody>
      </p:sp>
      <p:sp>
        <p:nvSpPr>
          <p:cNvPr id="15" name="object 15"/>
          <p:cNvSpPr/>
          <p:nvPr/>
        </p:nvSpPr>
        <p:spPr>
          <a:xfrm>
            <a:off x="3079262" y="4125709"/>
            <a:ext cx="76200" cy="76200"/>
          </a:xfrm>
          <a:custGeom>
            <a:avLst/>
            <a:gdLst/>
            <a:ahLst/>
            <a:cxnLst/>
            <a:rect l="l" t="t" r="r" b="b"/>
            <a:pathLst>
              <a:path w="76200" h="76200">
                <a:moveTo>
                  <a:pt x="76200" y="0"/>
                </a:moveTo>
                <a:lnTo>
                  <a:pt x="0" y="0"/>
                </a:lnTo>
                <a:lnTo>
                  <a:pt x="38100" y="76199"/>
                </a:lnTo>
                <a:lnTo>
                  <a:pt x="76200" y="0"/>
                </a:lnTo>
                <a:close/>
              </a:path>
            </a:pathLst>
          </a:custGeom>
          <a:solidFill>
            <a:srgbClr val="000000"/>
          </a:solidFill>
        </p:spPr>
        <p:txBody>
          <a:bodyPr wrap="square" lIns="0" tIns="0" rIns="0" bIns="0" rtlCol="0"/>
          <a:lstStyle/>
          <a:p>
            <a:endParaRPr/>
          </a:p>
        </p:txBody>
      </p:sp>
      <p:sp>
        <p:nvSpPr>
          <p:cNvPr id="16" name="object 16"/>
          <p:cNvSpPr txBox="1"/>
          <p:nvPr/>
        </p:nvSpPr>
        <p:spPr>
          <a:xfrm>
            <a:off x="3211892" y="3489756"/>
            <a:ext cx="1631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ourier New" panose="02070309020205020404"/>
                <a:cs typeface="Courier New" panose="02070309020205020404"/>
              </a:rPr>
              <a:t>F</a:t>
            </a:r>
            <a:endParaRPr sz="1800">
              <a:latin typeface="Courier New" panose="02070309020205020404"/>
              <a:cs typeface="Courier New" panose="02070309020205020404"/>
            </a:endParaRPr>
          </a:p>
        </p:txBody>
      </p:sp>
      <p:sp>
        <p:nvSpPr>
          <p:cNvPr id="17" name="object 17"/>
          <p:cNvSpPr/>
          <p:nvPr/>
        </p:nvSpPr>
        <p:spPr>
          <a:xfrm>
            <a:off x="3216045" y="3620039"/>
            <a:ext cx="1937385" cy="196850"/>
          </a:xfrm>
          <a:custGeom>
            <a:avLst/>
            <a:gdLst/>
            <a:ahLst/>
            <a:cxnLst/>
            <a:rect l="l" t="t" r="r" b="b"/>
            <a:pathLst>
              <a:path w="1937385" h="196850">
                <a:moveTo>
                  <a:pt x="1936849" y="0"/>
                </a:moveTo>
                <a:lnTo>
                  <a:pt x="1936849" y="196527"/>
                </a:lnTo>
                <a:lnTo>
                  <a:pt x="0" y="196527"/>
                </a:lnTo>
              </a:path>
            </a:pathLst>
          </a:custGeom>
          <a:ln w="19049">
            <a:solidFill>
              <a:srgbClr val="000000"/>
            </a:solidFill>
          </a:ln>
        </p:spPr>
        <p:txBody>
          <a:bodyPr wrap="square" lIns="0" tIns="0" rIns="0" bIns="0" rtlCol="0"/>
          <a:lstStyle/>
          <a:p>
            <a:endParaRPr/>
          </a:p>
        </p:txBody>
      </p:sp>
      <p:sp>
        <p:nvSpPr>
          <p:cNvPr id="18" name="object 18"/>
          <p:cNvSpPr/>
          <p:nvPr/>
        </p:nvSpPr>
        <p:spPr>
          <a:xfrm>
            <a:off x="3030236" y="3758247"/>
            <a:ext cx="236608" cy="116643"/>
          </a:xfrm>
          <a:prstGeom prst="rect">
            <a:avLst/>
          </a:prstGeom>
          <a:blipFill>
            <a:blip r:embed="rId3" cstate="print"/>
            <a:stretch>
              <a:fillRect/>
            </a:stretch>
          </a:blipFill>
        </p:spPr>
        <p:txBody>
          <a:bodyPr wrap="square" lIns="0" tIns="0" rIns="0" bIns="0" rtlCol="0"/>
          <a:lstStyle/>
          <a:p>
            <a:endParaRPr/>
          </a:p>
        </p:txBody>
      </p:sp>
      <p:sp>
        <p:nvSpPr>
          <p:cNvPr id="19" name="object 19"/>
          <p:cNvSpPr/>
          <p:nvPr/>
        </p:nvSpPr>
        <p:spPr>
          <a:xfrm>
            <a:off x="4270444" y="4555147"/>
            <a:ext cx="875030" cy="144780"/>
          </a:xfrm>
          <a:custGeom>
            <a:avLst/>
            <a:gdLst/>
            <a:ahLst/>
            <a:cxnLst/>
            <a:rect l="l" t="t" r="r" b="b"/>
            <a:pathLst>
              <a:path w="875029" h="144779">
                <a:moveTo>
                  <a:pt x="0" y="0"/>
                </a:moveTo>
                <a:lnTo>
                  <a:pt x="874712" y="0"/>
                </a:lnTo>
                <a:lnTo>
                  <a:pt x="874712" y="144462"/>
                </a:lnTo>
              </a:path>
            </a:pathLst>
          </a:custGeom>
          <a:ln w="19049">
            <a:solidFill>
              <a:srgbClr val="000000"/>
            </a:solidFill>
          </a:ln>
        </p:spPr>
        <p:txBody>
          <a:bodyPr wrap="square" lIns="0" tIns="0" rIns="0" bIns="0" rtlCol="0"/>
          <a:lstStyle/>
          <a:p>
            <a:endParaRPr/>
          </a:p>
        </p:txBody>
      </p:sp>
      <p:sp>
        <p:nvSpPr>
          <p:cNvPr id="20" name="object 20"/>
          <p:cNvSpPr/>
          <p:nvPr/>
        </p:nvSpPr>
        <p:spPr>
          <a:xfrm>
            <a:off x="5107057" y="4648809"/>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21" name="object 21"/>
          <p:cNvSpPr/>
          <p:nvPr/>
        </p:nvSpPr>
        <p:spPr>
          <a:xfrm>
            <a:off x="3216046" y="5071111"/>
            <a:ext cx="1929130" cy="208279"/>
          </a:xfrm>
          <a:custGeom>
            <a:avLst/>
            <a:gdLst/>
            <a:ahLst/>
            <a:cxnLst/>
            <a:rect l="l" t="t" r="r" b="b"/>
            <a:pathLst>
              <a:path w="1929129" h="208279">
                <a:moveTo>
                  <a:pt x="1928828" y="0"/>
                </a:moveTo>
                <a:lnTo>
                  <a:pt x="1928828" y="207864"/>
                </a:lnTo>
                <a:lnTo>
                  <a:pt x="0" y="207864"/>
                </a:lnTo>
              </a:path>
            </a:pathLst>
          </a:custGeom>
          <a:ln w="19049">
            <a:solidFill>
              <a:srgbClr val="000000"/>
            </a:solidFill>
          </a:ln>
        </p:spPr>
        <p:txBody>
          <a:bodyPr wrap="square" lIns="0" tIns="0" rIns="0" bIns="0" rtlCol="0"/>
          <a:lstStyle/>
          <a:p>
            <a:endParaRPr/>
          </a:p>
        </p:txBody>
      </p:sp>
      <p:sp>
        <p:nvSpPr>
          <p:cNvPr id="22" name="object 22"/>
          <p:cNvSpPr/>
          <p:nvPr/>
        </p:nvSpPr>
        <p:spPr>
          <a:xfrm>
            <a:off x="3030236" y="5220654"/>
            <a:ext cx="236610" cy="116642"/>
          </a:xfrm>
          <a:prstGeom prst="rect">
            <a:avLst/>
          </a:prstGeom>
          <a:blipFill>
            <a:blip r:embed="rId3" cstate="print"/>
            <a:stretch>
              <a:fillRect/>
            </a:stretch>
          </a:blipFill>
        </p:spPr>
        <p:txBody>
          <a:bodyPr wrap="square" lIns="0" tIns="0" rIns="0" bIns="0" rtlCol="0"/>
          <a:lstStyle/>
          <a:p>
            <a:endParaRPr/>
          </a:p>
        </p:txBody>
      </p:sp>
      <p:sp>
        <p:nvSpPr>
          <p:cNvPr id="23" name="object 23"/>
          <p:cNvSpPr/>
          <p:nvPr/>
        </p:nvSpPr>
        <p:spPr>
          <a:xfrm>
            <a:off x="3117362" y="2464035"/>
            <a:ext cx="0" cy="318770"/>
          </a:xfrm>
          <a:custGeom>
            <a:avLst/>
            <a:gdLst/>
            <a:ahLst/>
            <a:cxnLst/>
            <a:rect l="l" t="t" r="r" b="b"/>
            <a:pathLst>
              <a:path h="318769">
                <a:moveTo>
                  <a:pt x="0" y="0"/>
                </a:moveTo>
                <a:lnTo>
                  <a:pt x="0" y="318293"/>
                </a:lnTo>
              </a:path>
            </a:pathLst>
          </a:custGeom>
          <a:ln w="19049">
            <a:solidFill>
              <a:srgbClr val="000000"/>
            </a:solidFill>
          </a:ln>
        </p:spPr>
        <p:txBody>
          <a:bodyPr wrap="square" lIns="0" tIns="0" rIns="0" bIns="0" rtlCol="0"/>
          <a:lstStyle/>
          <a:p>
            <a:endParaRPr/>
          </a:p>
        </p:txBody>
      </p:sp>
      <p:sp>
        <p:nvSpPr>
          <p:cNvPr id="24" name="object 24"/>
          <p:cNvSpPr/>
          <p:nvPr/>
        </p:nvSpPr>
        <p:spPr>
          <a:xfrm>
            <a:off x="3079262" y="2731528"/>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25" name="object 25"/>
          <p:cNvSpPr txBox="1"/>
          <p:nvPr/>
        </p:nvSpPr>
        <p:spPr>
          <a:xfrm>
            <a:off x="4291240" y="2863879"/>
            <a:ext cx="1631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ourier New" panose="02070309020205020404"/>
                <a:cs typeface="Courier New" panose="02070309020205020404"/>
              </a:rPr>
              <a:t>T</a:t>
            </a:r>
            <a:endParaRPr sz="1800">
              <a:latin typeface="Courier New" panose="02070309020205020404"/>
              <a:cs typeface="Courier New" panose="02070309020205020404"/>
            </a:endParaRPr>
          </a:p>
        </p:txBody>
      </p:sp>
      <p:sp>
        <p:nvSpPr>
          <p:cNvPr id="26" name="object 26"/>
          <p:cNvSpPr txBox="1"/>
          <p:nvPr/>
        </p:nvSpPr>
        <p:spPr>
          <a:xfrm>
            <a:off x="3204997" y="4929490"/>
            <a:ext cx="1631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ourier New" panose="02070309020205020404"/>
                <a:cs typeface="Courier New" panose="02070309020205020404"/>
              </a:rPr>
              <a:t>F</a:t>
            </a:r>
            <a:endParaRPr sz="1800">
              <a:latin typeface="Courier New" panose="02070309020205020404"/>
              <a:cs typeface="Courier New" panose="02070309020205020404"/>
            </a:endParaRPr>
          </a:p>
        </p:txBody>
      </p:sp>
      <p:sp>
        <p:nvSpPr>
          <p:cNvPr id="27" name="object 27"/>
          <p:cNvSpPr txBox="1"/>
          <p:nvPr/>
        </p:nvSpPr>
        <p:spPr>
          <a:xfrm>
            <a:off x="4240761" y="4268186"/>
            <a:ext cx="1631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ourier New" panose="02070309020205020404"/>
                <a:cs typeface="Courier New" panose="02070309020205020404"/>
              </a:rPr>
              <a:t>T</a:t>
            </a:r>
            <a:endParaRPr sz="1800">
              <a:latin typeface="Courier New" panose="02070309020205020404"/>
              <a:cs typeface="Courier New" panose="02070309020205020404"/>
            </a:endParaRPr>
          </a:p>
        </p:txBody>
      </p:sp>
      <p:sp>
        <p:nvSpPr>
          <p:cNvPr id="28" name="object 28"/>
          <p:cNvSpPr txBox="1"/>
          <p:nvPr/>
        </p:nvSpPr>
        <p:spPr>
          <a:xfrm>
            <a:off x="2539517" y="5511803"/>
            <a:ext cx="1154430" cy="346710"/>
          </a:xfrm>
          <a:prstGeom prst="rect">
            <a:avLst/>
          </a:prstGeom>
          <a:ln w="19049">
            <a:solidFill>
              <a:srgbClr val="000000"/>
            </a:solidFill>
          </a:ln>
        </p:spPr>
        <p:txBody>
          <a:bodyPr vert="horz" wrap="square" lIns="0" tIns="24130" rIns="0" bIns="0" rtlCol="0">
            <a:spAutoFit/>
          </a:bodyPr>
          <a:lstStyle/>
          <a:p>
            <a:pPr marL="91440">
              <a:lnSpc>
                <a:spcPct val="100000"/>
              </a:lnSpc>
              <a:spcBef>
                <a:spcPts val="190"/>
              </a:spcBef>
            </a:pPr>
            <a:r>
              <a:rPr sz="1800" b="1" dirty="0">
                <a:latin typeface="Courier New" panose="02070309020205020404"/>
                <a:cs typeface="Courier New" panose="02070309020205020404"/>
              </a:rPr>
              <a:t>c =</a:t>
            </a:r>
            <a:r>
              <a:rPr sz="1800" b="1" spc="-80" dirty="0">
                <a:latin typeface="Courier New" panose="02070309020205020404"/>
                <a:cs typeface="Courier New" panose="02070309020205020404"/>
              </a:rPr>
              <a:t> </a:t>
            </a:r>
            <a:r>
              <a:rPr sz="1800" b="1" dirty="0">
                <a:latin typeface="Courier New" panose="02070309020205020404"/>
                <a:cs typeface="Courier New" panose="02070309020205020404"/>
              </a:rPr>
              <a:t>b+c</a:t>
            </a:r>
            <a:endParaRPr sz="1800">
              <a:latin typeface="Courier New" panose="02070309020205020404"/>
              <a:cs typeface="Courier New" panose="02070309020205020404"/>
            </a:endParaRPr>
          </a:p>
        </p:txBody>
      </p:sp>
      <p:sp>
        <p:nvSpPr>
          <p:cNvPr id="29" name="object 29"/>
          <p:cNvSpPr txBox="1"/>
          <p:nvPr/>
        </p:nvSpPr>
        <p:spPr>
          <a:xfrm>
            <a:off x="2625093" y="2489992"/>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①</a:t>
            </a:r>
            <a:endParaRPr sz="2000">
              <a:latin typeface="微软雅黑" panose="020B0503020204020204" pitchFamily="34" charset="-122"/>
              <a:cs typeface="微软雅黑" panose="020B0503020204020204" pitchFamily="34" charset="-122"/>
            </a:endParaRPr>
          </a:p>
        </p:txBody>
      </p:sp>
      <p:sp>
        <p:nvSpPr>
          <p:cNvPr id="30" name="object 30"/>
          <p:cNvSpPr txBox="1"/>
          <p:nvPr/>
        </p:nvSpPr>
        <p:spPr>
          <a:xfrm>
            <a:off x="4240016" y="3238849"/>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②</a:t>
            </a:r>
            <a:endParaRPr sz="2000">
              <a:latin typeface="微软雅黑" panose="020B0503020204020204" pitchFamily="34" charset="-122"/>
              <a:cs typeface="微软雅黑" panose="020B0503020204020204" pitchFamily="34" charset="-122"/>
            </a:endParaRPr>
          </a:p>
        </p:txBody>
      </p:sp>
      <p:sp>
        <p:nvSpPr>
          <p:cNvPr id="31" name="object 31"/>
          <p:cNvSpPr txBox="1"/>
          <p:nvPr/>
        </p:nvSpPr>
        <p:spPr>
          <a:xfrm>
            <a:off x="2623858" y="3927148"/>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③</a:t>
            </a:r>
            <a:endParaRPr sz="2000">
              <a:latin typeface="微软雅黑" panose="020B0503020204020204" pitchFamily="34" charset="-122"/>
              <a:cs typeface="微软雅黑" panose="020B0503020204020204" pitchFamily="34" charset="-122"/>
            </a:endParaRPr>
          </a:p>
        </p:txBody>
      </p:sp>
      <p:sp>
        <p:nvSpPr>
          <p:cNvPr id="32" name="object 32"/>
          <p:cNvSpPr txBox="1"/>
          <p:nvPr/>
        </p:nvSpPr>
        <p:spPr>
          <a:xfrm>
            <a:off x="4244221" y="4701379"/>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④</a:t>
            </a:r>
            <a:endParaRPr sz="2000">
              <a:latin typeface="微软雅黑" panose="020B0503020204020204" pitchFamily="34" charset="-122"/>
              <a:cs typeface="微软雅黑" panose="020B0503020204020204" pitchFamily="34" charset="-122"/>
            </a:endParaRPr>
          </a:p>
        </p:txBody>
      </p:sp>
      <p:sp>
        <p:nvSpPr>
          <p:cNvPr id="33" name="object 33"/>
          <p:cNvSpPr txBox="1"/>
          <p:nvPr/>
        </p:nvSpPr>
        <p:spPr>
          <a:xfrm>
            <a:off x="2155275" y="5506533"/>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⑤</a:t>
            </a:r>
            <a:endParaRPr sz="2000">
              <a:latin typeface="微软雅黑" panose="020B0503020204020204" pitchFamily="34" charset="-122"/>
              <a:cs typeface="微软雅黑" panose="020B0503020204020204" pitchFamily="34" charset="-122"/>
            </a:endParaRPr>
          </a:p>
        </p:txBody>
      </p:sp>
      <p:sp>
        <p:nvSpPr>
          <p:cNvPr id="34" name="object 34"/>
          <p:cNvSpPr txBox="1"/>
          <p:nvPr/>
        </p:nvSpPr>
        <p:spPr>
          <a:xfrm>
            <a:off x="7089805" y="3566006"/>
            <a:ext cx="3211195" cy="914400"/>
          </a:xfrm>
          <a:prstGeom prst="rect">
            <a:avLst/>
          </a:prstGeom>
        </p:spPr>
        <p:txBody>
          <a:bodyPr vert="horz" wrap="square" lIns="0" tIns="121920" rIns="0" bIns="0" rtlCol="0">
            <a:spAutoFit/>
          </a:bodyPr>
          <a:lstStyle/>
          <a:p>
            <a:pPr marL="12700">
              <a:lnSpc>
                <a:spcPct val="100000"/>
              </a:lnSpc>
              <a:spcBef>
                <a:spcPts val="960"/>
              </a:spcBef>
            </a:pPr>
            <a:r>
              <a:rPr sz="2200" dirty="0">
                <a:latin typeface="微软雅黑" panose="020B0503020204020204" pitchFamily="34" charset="-122"/>
                <a:cs typeface="微软雅黑" panose="020B0503020204020204" pitchFamily="34" charset="-122"/>
              </a:rPr>
              <a:t>输入</a:t>
            </a:r>
            <a:r>
              <a:rPr sz="2200" spc="-5" dirty="0">
                <a:latin typeface="微软雅黑" panose="020B0503020204020204" pitchFamily="34" charset="-122"/>
                <a:cs typeface="微软雅黑" panose="020B0503020204020204" pitchFamily="34" charset="-122"/>
              </a:rPr>
              <a:t>：</a:t>
            </a:r>
            <a:r>
              <a:rPr sz="2200" b="1" spc="-5" dirty="0">
                <a:latin typeface="Courier New" panose="02070309020205020404"/>
                <a:cs typeface="Courier New" panose="02070309020205020404"/>
              </a:rPr>
              <a:t>a=2,b=1,c=6</a:t>
            </a:r>
            <a:endParaRPr sz="2200">
              <a:latin typeface="Courier New" panose="02070309020205020404"/>
              <a:cs typeface="Courier New" panose="02070309020205020404"/>
            </a:endParaRPr>
          </a:p>
          <a:p>
            <a:pPr marL="12700">
              <a:lnSpc>
                <a:spcPct val="100000"/>
              </a:lnSpc>
              <a:spcBef>
                <a:spcPts val="860"/>
              </a:spcBef>
            </a:pPr>
            <a:r>
              <a:rPr sz="2200" dirty="0">
                <a:latin typeface="微软雅黑" panose="020B0503020204020204" pitchFamily="34" charset="-122"/>
                <a:cs typeface="微软雅黑" panose="020B0503020204020204" pitchFamily="34" charset="-122"/>
              </a:rPr>
              <a:t>输入：</a:t>
            </a:r>
            <a:r>
              <a:rPr sz="2200" b="1" dirty="0">
                <a:latin typeface="Courier New" panose="02070309020205020404"/>
                <a:cs typeface="Courier New" panose="02070309020205020404"/>
              </a:rPr>
              <a:t>a=-2,b=-1,c=-3</a:t>
            </a:r>
            <a:endParaRPr sz="2200">
              <a:latin typeface="Courier New" panose="02070309020205020404"/>
              <a:cs typeface="Courier New" panose="02070309020205020404"/>
            </a:endParaRPr>
          </a:p>
        </p:txBody>
      </p:sp>
      <p:sp>
        <p:nvSpPr>
          <p:cNvPr id="35" name="灯片编号占位符 34"/>
          <p:cNvSpPr>
            <a:spLocks noGrp="1"/>
          </p:cNvSpPr>
          <p:nvPr>
            <p:ph type="sldNum" sz="quarter" idx="12"/>
          </p:nvPr>
        </p:nvSpPr>
        <p:spPr/>
        <p:txBody>
          <a:bodyPr/>
          <a:lstStyle/>
          <a:p>
            <a:fld id="{74D2AB8B-5816-41F2-8B4B-CA5C3E4E6A65}" type="slidenum">
              <a:rPr lang="zh-CN" altLang="en-US" smtClean="0"/>
              <a:t>31</a:t>
            </a:fld>
            <a:endParaRPr lang="zh-CN" altLang="en-US"/>
          </a:p>
        </p:txBody>
      </p:sp>
      <p:sp>
        <p:nvSpPr>
          <p:cNvPr id="37" name="标题 36"/>
          <p:cNvSpPr>
            <a:spLocks noGrp="1"/>
          </p:cNvSpPr>
          <p:nvPr>
            <p:ph type="title"/>
          </p:nvPr>
        </p:nvSpPr>
        <p:spPr/>
        <p:txBody>
          <a:bodyPr/>
          <a:lstStyle/>
          <a:p>
            <a:r>
              <a:rPr lang="zh-CN" altLang="en-US" dirty="0"/>
              <a:t>判定覆盖（分支覆盖）</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23999" y="1548000"/>
            <a:ext cx="9720580" cy="688975"/>
          </a:xfrm>
          <a:prstGeom prst="rect">
            <a:avLst/>
          </a:prstGeom>
          <a:solidFill>
            <a:srgbClr val="797BA9"/>
          </a:solidFill>
        </p:spPr>
        <p:txBody>
          <a:bodyPr vert="horz" wrap="square" lIns="0" tIns="191770" rIns="0" bIns="0" rtlCol="0">
            <a:spAutoFit/>
          </a:bodyPr>
          <a:lstStyle/>
          <a:p>
            <a:pPr marL="391795">
              <a:lnSpc>
                <a:spcPct val="100000"/>
              </a:lnSpc>
              <a:spcBef>
                <a:spcPts val="1510"/>
              </a:spcBef>
            </a:pPr>
            <a:r>
              <a:rPr sz="2200" dirty="0">
                <a:solidFill>
                  <a:srgbClr val="FFFFFF"/>
                </a:solidFill>
                <a:latin typeface="微软雅黑" panose="020B0503020204020204" pitchFamily="34" charset="-122"/>
                <a:cs typeface="微软雅黑" panose="020B0503020204020204" pitchFamily="34" charset="-122"/>
              </a:rPr>
              <a:t>程序中每个判断的取真和取假分支至少经历一次，即判断真假值均被满足。</a:t>
            </a:r>
            <a:endParaRPr sz="2200">
              <a:latin typeface="微软雅黑" panose="020B0503020204020204" pitchFamily="34" charset="-122"/>
              <a:cs typeface="微软雅黑" panose="020B0503020204020204" pitchFamily="34" charset="-122"/>
            </a:endParaRPr>
          </a:p>
        </p:txBody>
      </p:sp>
      <p:sp>
        <p:nvSpPr>
          <p:cNvPr id="4" name="object 4"/>
          <p:cNvSpPr txBox="1"/>
          <p:nvPr/>
        </p:nvSpPr>
        <p:spPr>
          <a:xfrm>
            <a:off x="1484873" y="2287540"/>
            <a:ext cx="9558655" cy="3517900"/>
          </a:xfrm>
          <a:prstGeom prst="rect">
            <a:avLst/>
          </a:prstGeom>
        </p:spPr>
        <p:txBody>
          <a:bodyPr vert="horz" wrap="square" lIns="0" tIns="198120" rIns="0" bIns="0" rtlCol="0">
            <a:spAutoFit/>
          </a:bodyPr>
          <a:lstStyle/>
          <a:p>
            <a:pPr marL="12700">
              <a:lnSpc>
                <a:spcPct val="100000"/>
              </a:lnSpc>
              <a:spcBef>
                <a:spcPts val="1560"/>
              </a:spcBef>
            </a:pPr>
            <a:r>
              <a:rPr sz="2200" dirty="0">
                <a:solidFill>
                  <a:srgbClr val="0033CC"/>
                </a:solidFill>
                <a:latin typeface="微软雅黑" panose="020B0503020204020204" pitchFamily="34" charset="-122"/>
                <a:cs typeface="微软雅黑" panose="020B0503020204020204" pitchFamily="34" charset="-122"/>
              </a:rPr>
              <a:t>测试用例</a:t>
            </a:r>
            <a:r>
              <a:rPr sz="2200" dirty="0">
                <a:solidFill>
                  <a:srgbClr val="004DD6"/>
                </a:solidFill>
                <a:latin typeface="微软雅黑" panose="020B0503020204020204" pitchFamily="34" charset="-122"/>
                <a:cs typeface="微软雅黑" panose="020B0503020204020204" pitchFamily="34" charset="-122"/>
              </a:rPr>
              <a:t>：</a:t>
            </a:r>
            <a:endParaRPr sz="2200">
              <a:latin typeface="微软雅黑" panose="020B0503020204020204" pitchFamily="34" charset="-122"/>
              <a:cs typeface="微软雅黑" panose="020B0503020204020204" pitchFamily="34" charset="-122"/>
            </a:endParaRPr>
          </a:p>
          <a:p>
            <a:pPr marL="12700">
              <a:lnSpc>
                <a:spcPct val="100000"/>
              </a:lnSpc>
              <a:spcBef>
                <a:spcPts val="1460"/>
              </a:spcBef>
            </a:pPr>
            <a:r>
              <a:rPr sz="2200" dirty="0">
                <a:latin typeface="微软雅黑" panose="020B0503020204020204" pitchFamily="34" charset="-122"/>
                <a:cs typeface="微软雅黑" panose="020B0503020204020204" pitchFamily="34" charset="-122"/>
              </a:rPr>
              <a:t>输入</a:t>
            </a:r>
            <a:r>
              <a:rPr sz="2200" spc="-5" dirty="0">
                <a:latin typeface="微软雅黑" panose="020B0503020204020204" pitchFamily="34" charset="-122"/>
                <a:cs typeface="微软雅黑" panose="020B0503020204020204" pitchFamily="34" charset="-122"/>
              </a:rPr>
              <a:t>：</a:t>
            </a:r>
            <a:r>
              <a:rPr sz="2200" b="1" spc="-5" dirty="0">
                <a:latin typeface="Courier New" panose="02070309020205020404"/>
                <a:cs typeface="Courier New" panose="02070309020205020404"/>
              </a:rPr>
              <a:t>a=2,b=1,c=6</a:t>
            </a:r>
            <a:r>
              <a:rPr sz="2200" spc="-5" dirty="0">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覆盖判断</a:t>
            </a:r>
            <a:r>
              <a:rPr sz="2200" dirty="0">
                <a:latin typeface="Calibri" panose="020F0502020204030204"/>
                <a:cs typeface="Calibri" panose="020F0502020204030204"/>
              </a:rPr>
              <a:t>1</a:t>
            </a:r>
            <a:r>
              <a:rPr sz="2200" dirty="0">
                <a:latin typeface="微软雅黑" panose="020B0503020204020204" pitchFamily="34" charset="-122"/>
                <a:cs typeface="微软雅黑" panose="020B0503020204020204" pitchFamily="34" charset="-122"/>
              </a:rPr>
              <a:t>的</a:t>
            </a:r>
            <a:r>
              <a:rPr sz="2200" spc="-5" dirty="0">
                <a:latin typeface="微软雅黑" panose="020B0503020204020204" pitchFamily="34" charset="-122"/>
                <a:cs typeface="微软雅黑" panose="020B0503020204020204" pitchFamily="34" charset="-122"/>
              </a:rPr>
              <a:t> </a:t>
            </a:r>
            <a:r>
              <a:rPr sz="2200" dirty="0">
                <a:latin typeface="Calibri" panose="020F0502020204030204"/>
                <a:cs typeface="Calibri" panose="020F0502020204030204"/>
              </a:rPr>
              <a:t>T</a:t>
            </a:r>
            <a:r>
              <a:rPr sz="2200" dirty="0">
                <a:latin typeface="微软雅黑" panose="020B0503020204020204" pitchFamily="34" charset="-122"/>
                <a:cs typeface="微软雅黑" panose="020B0503020204020204" pitchFamily="34" charset="-122"/>
              </a:rPr>
              <a:t>分支和判断</a:t>
            </a:r>
            <a:r>
              <a:rPr sz="2200" dirty="0">
                <a:latin typeface="Calibri" panose="020F0502020204030204"/>
                <a:cs typeface="Calibri" panose="020F0502020204030204"/>
              </a:rPr>
              <a:t>2</a:t>
            </a:r>
            <a:r>
              <a:rPr sz="2200" dirty="0">
                <a:latin typeface="微软雅黑" panose="020B0503020204020204" pitchFamily="34" charset="-122"/>
                <a:cs typeface="微软雅黑" panose="020B0503020204020204" pitchFamily="34" charset="-122"/>
              </a:rPr>
              <a:t>的 </a:t>
            </a:r>
            <a:r>
              <a:rPr sz="2200" dirty="0">
                <a:latin typeface="Calibri" panose="020F0502020204030204"/>
                <a:cs typeface="Calibri" panose="020F0502020204030204"/>
              </a:rPr>
              <a:t>T</a:t>
            </a:r>
            <a:r>
              <a:rPr sz="2200" dirty="0">
                <a:latin typeface="微软雅黑" panose="020B0503020204020204" pitchFamily="34" charset="-122"/>
                <a:cs typeface="微软雅黑" panose="020B0503020204020204" pitchFamily="34" charset="-122"/>
              </a:rPr>
              <a:t>分支</a:t>
            </a:r>
            <a:endParaRPr sz="2200">
              <a:latin typeface="微软雅黑" panose="020B0503020204020204" pitchFamily="34" charset="-122"/>
              <a:cs typeface="微软雅黑" panose="020B0503020204020204" pitchFamily="34" charset="-122"/>
            </a:endParaRPr>
          </a:p>
          <a:p>
            <a:pPr marL="12700">
              <a:lnSpc>
                <a:spcPct val="100000"/>
              </a:lnSpc>
              <a:spcBef>
                <a:spcPts val="860"/>
              </a:spcBef>
            </a:pPr>
            <a:r>
              <a:rPr sz="2200" dirty="0">
                <a:latin typeface="微软雅黑" panose="020B0503020204020204" pitchFamily="34" charset="-122"/>
                <a:cs typeface="微软雅黑" panose="020B0503020204020204" pitchFamily="34" charset="-122"/>
              </a:rPr>
              <a:t>输入</a:t>
            </a:r>
            <a:r>
              <a:rPr sz="2200" spc="-5" dirty="0">
                <a:latin typeface="微软雅黑" panose="020B0503020204020204" pitchFamily="34" charset="-122"/>
                <a:cs typeface="微软雅黑" panose="020B0503020204020204" pitchFamily="34" charset="-122"/>
              </a:rPr>
              <a:t>：</a:t>
            </a:r>
            <a:r>
              <a:rPr sz="2200" b="1" spc="-5" dirty="0">
                <a:latin typeface="Courier New" panose="02070309020205020404"/>
                <a:cs typeface="Courier New" panose="02070309020205020404"/>
              </a:rPr>
              <a:t>a=-2,b=-1,c=-3</a:t>
            </a:r>
            <a:r>
              <a:rPr sz="2200" spc="-5" dirty="0">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覆盖判断</a:t>
            </a:r>
            <a:r>
              <a:rPr sz="2200" dirty="0">
                <a:latin typeface="Calibri" panose="020F0502020204030204"/>
                <a:cs typeface="Calibri" panose="020F0502020204030204"/>
              </a:rPr>
              <a:t>1</a:t>
            </a:r>
            <a:r>
              <a:rPr sz="2200" dirty="0">
                <a:latin typeface="微软雅黑" panose="020B0503020204020204" pitchFamily="34" charset="-122"/>
                <a:cs typeface="微软雅黑" panose="020B0503020204020204" pitchFamily="34" charset="-122"/>
              </a:rPr>
              <a:t>的</a:t>
            </a:r>
            <a:r>
              <a:rPr sz="2200" spc="-5" dirty="0">
                <a:latin typeface="微软雅黑" panose="020B0503020204020204" pitchFamily="34" charset="-122"/>
                <a:cs typeface="微软雅黑" panose="020B0503020204020204" pitchFamily="34" charset="-122"/>
              </a:rPr>
              <a:t> </a:t>
            </a:r>
            <a:r>
              <a:rPr sz="2200" dirty="0">
                <a:latin typeface="Calibri" panose="020F0502020204030204"/>
                <a:cs typeface="Calibri" panose="020F0502020204030204"/>
              </a:rPr>
              <a:t>F</a:t>
            </a:r>
            <a:r>
              <a:rPr sz="2200" dirty="0">
                <a:latin typeface="微软雅黑" panose="020B0503020204020204" pitchFamily="34" charset="-122"/>
                <a:cs typeface="微软雅黑" panose="020B0503020204020204" pitchFamily="34" charset="-122"/>
              </a:rPr>
              <a:t>分支和判断</a:t>
            </a:r>
            <a:r>
              <a:rPr sz="2200" dirty="0">
                <a:latin typeface="Calibri" panose="020F0502020204030204"/>
                <a:cs typeface="Calibri" panose="020F0502020204030204"/>
              </a:rPr>
              <a:t>2</a:t>
            </a:r>
            <a:r>
              <a:rPr sz="2200" dirty="0">
                <a:latin typeface="微软雅黑" panose="020B0503020204020204" pitchFamily="34" charset="-122"/>
                <a:cs typeface="微软雅黑" panose="020B0503020204020204" pitchFamily="34" charset="-122"/>
              </a:rPr>
              <a:t>的 </a:t>
            </a:r>
            <a:r>
              <a:rPr sz="2200" dirty="0">
                <a:latin typeface="Calibri" panose="020F0502020204030204"/>
                <a:cs typeface="Calibri" panose="020F0502020204030204"/>
              </a:rPr>
              <a:t>F</a:t>
            </a:r>
            <a:r>
              <a:rPr sz="2200" dirty="0">
                <a:latin typeface="微软雅黑" panose="020B0503020204020204" pitchFamily="34" charset="-122"/>
                <a:cs typeface="微软雅黑" panose="020B0503020204020204" pitchFamily="34" charset="-122"/>
              </a:rPr>
              <a:t>分支</a:t>
            </a:r>
            <a:endParaRPr sz="2200">
              <a:latin typeface="微软雅黑" panose="020B0503020204020204" pitchFamily="34" charset="-122"/>
              <a:cs typeface="微软雅黑" panose="020B0503020204020204" pitchFamily="34" charset="-122"/>
            </a:endParaRPr>
          </a:p>
          <a:p>
            <a:pPr marL="12700">
              <a:lnSpc>
                <a:spcPct val="100000"/>
              </a:lnSpc>
              <a:spcBef>
                <a:spcPts val="2660"/>
              </a:spcBef>
            </a:pPr>
            <a:r>
              <a:rPr sz="2200" dirty="0">
                <a:solidFill>
                  <a:srgbClr val="0033CC"/>
                </a:solidFill>
                <a:latin typeface="微软雅黑" panose="020B0503020204020204" pitchFamily="34" charset="-122"/>
                <a:cs typeface="微软雅黑" panose="020B0503020204020204" pitchFamily="34" charset="-122"/>
              </a:rPr>
              <a:t>问题分析</a:t>
            </a:r>
            <a:r>
              <a:rPr sz="2200" dirty="0">
                <a:solidFill>
                  <a:srgbClr val="004DD6"/>
                </a:solidFill>
                <a:latin typeface="微软雅黑" panose="020B0503020204020204" pitchFamily="34" charset="-122"/>
                <a:cs typeface="微软雅黑" panose="020B0503020204020204" pitchFamily="34" charset="-122"/>
              </a:rPr>
              <a:t>：</a:t>
            </a:r>
            <a:endParaRPr sz="2200">
              <a:latin typeface="微软雅黑" panose="020B0503020204020204" pitchFamily="34" charset="-122"/>
              <a:cs typeface="微软雅黑" panose="020B0503020204020204" pitchFamily="34" charset="-122"/>
            </a:endParaRPr>
          </a:p>
          <a:p>
            <a:pPr marL="12700" marR="5080">
              <a:lnSpc>
                <a:spcPct val="110000"/>
              </a:lnSpc>
              <a:spcBef>
                <a:spcPts val="1200"/>
              </a:spcBef>
            </a:pPr>
            <a:r>
              <a:rPr sz="2200" spc="5" dirty="0">
                <a:latin typeface="微软雅黑" panose="020B0503020204020204" pitchFamily="34" charset="-122"/>
                <a:cs typeface="微软雅黑" panose="020B0503020204020204" pitchFamily="34" charset="-122"/>
              </a:rPr>
              <a:t>由于大部分判定语句是由多个逻辑条件组合而成，若仅判断其整个最终结</a:t>
            </a:r>
            <a:r>
              <a:rPr sz="2200" dirty="0">
                <a:latin typeface="微软雅黑" panose="020B0503020204020204" pitchFamily="34" charset="-122"/>
                <a:cs typeface="微软雅黑" panose="020B0503020204020204" pitchFamily="34" charset="-122"/>
              </a:rPr>
              <a:t>果， 而忽略每个条件的取值情况，必然会遗漏部分测试路径。</a:t>
            </a:r>
            <a:endParaRPr sz="2200">
              <a:latin typeface="微软雅黑" panose="020B0503020204020204" pitchFamily="34" charset="-122"/>
              <a:cs typeface="微软雅黑" panose="020B0503020204020204" pitchFamily="34" charset="-122"/>
            </a:endParaRPr>
          </a:p>
          <a:p>
            <a:pPr marL="12700">
              <a:lnSpc>
                <a:spcPct val="100000"/>
              </a:lnSpc>
              <a:spcBef>
                <a:spcPts val="860"/>
              </a:spcBef>
            </a:pPr>
            <a:r>
              <a:rPr sz="2200" dirty="0">
                <a:solidFill>
                  <a:srgbClr val="C00000"/>
                </a:solidFill>
                <a:latin typeface="微软雅黑" panose="020B0503020204020204" pitchFamily="34" charset="-122"/>
                <a:cs typeface="微软雅黑" panose="020B0503020204020204" pitchFamily="34" charset="-122"/>
              </a:rPr>
              <a:t>判定覆盖具有比语句覆盖更强的测试能力</a:t>
            </a:r>
            <a:r>
              <a:rPr sz="2200" dirty="0">
                <a:solidFill>
                  <a:srgbClr val="CE1C00"/>
                </a:solidFill>
                <a:latin typeface="微软雅黑" panose="020B0503020204020204" pitchFamily="34" charset="-122"/>
                <a:cs typeface="微软雅黑" panose="020B0503020204020204" pitchFamily="34" charset="-122"/>
              </a:rPr>
              <a:t>，</a:t>
            </a:r>
            <a:r>
              <a:rPr sz="2200" dirty="0">
                <a:solidFill>
                  <a:srgbClr val="C00000"/>
                </a:solidFill>
                <a:latin typeface="微软雅黑" panose="020B0503020204020204" pitchFamily="34" charset="-122"/>
                <a:cs typeface="微软雅黑" panose="020B0503020204020204" pitchFamily="34" charset="-122"/>
              </a:rPr>
              <a:t>但仍是弱的逻辑覆盖</a:t>
            </a:r>
            <a:r>
              <a:rPr sz="2200" dirty="0">
                <a:solidFill>
                  <a:srgbClr val="CE1C00"/>
                </a:solidFill>
                <a:latin typeface="微软雅黑" panose="020B0503020204020204" pitchFamily="34" charset="-122"/>
                <a:cs typeface="微软雅黑" panose="020B0503020204020204" pitchFamily="34" charset="-122"/>
              </a:rPr>
              <a:t>。</a:t>
            </a:r>
            <a:endParaRPr sz="2200">
              <a:latin typeface="微软雅黑" panose="020B0503020204020204" pitchFamily="34" charset="-122"/>
              <a:cs typeface="微软雅黑" panose="020B0503020204020204" pitchFamily="34" charset="-122"/>
            </a:endParaRPr>
          </a:p>
        </p:txBody>
      </p:sp>
      <p:sp>
        <p:nvSpPr>
          <p:cNvPr id="5" name="灯片编号占位符 4"/>
          <p:cNvSpPr>
            <a:spLocks noGrp="1"/>
          </p:cNvSpPr>
          <p:nvPr>
            <p:ph type="sldNum" sz="quarter" idx="12"/>
          </p:nvPr>
        </p:nvSpPr>
        <p:spPr/>
        <p:txBody>
          <a:bodyPr/>
          <a:lstStyle/>
          <a:p>
            <a:fld id="{74D2AB8B-5816-41F2-8B4B-CA5C3E4E6A65}" type="slidenum">
              <a:rPr lang="zh-CN" altLang="en-US" smtClean="0"/>
              <a:t>32</a:t>
            </a:fld>
            <a:endParaRPr lang="zh-CN" altLang="en-US"/>
          </a:p>
        </p:txBody>
      </p:sp>
      <p:sp>
        <p:nvSpPr>
          <p:cNvPr id="7" name="标题 6"/>
          <p:cNvSpPr>
            <a:spLocks noGrp="1"/>
          </p:cNvSpPr>
          <p:nvPr>
            <p:ph type="title"/>
          </p:nvPr>
        </p:nvSpPr>
        <p:spPr/>
        <p:txBody>
          <a:bodyPr/>
          <a:lstStyle/>
          <a:p>
            <a:r>
              <a:rPr lang="zh-CN" altLang="en-US" dirty="0"/>
              <a:t>判定覆盖（分支覆盖）</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428740" y="2939473"/>
            <a:ext cx="4243705" cy="914400"/>
          </a:xfrm>
          <a:prstGeom prst="rect">
            <a:avLst/>
          </a:prstGeom>
        </p:spPr>
        <p:txBody>
          <a:bodyPr vert="horz" wrap="square" lIns="0" tIns="121920" rIns="0" bIns="0" rtlCol="0">
            <a:spAutoFit/>
          </a:bodyPr>
          <a:lstStyle/>
          <a:p>
            <a:pPr marL="12700">
              <a:lnSpc>
                <a:spcPct val="100000"/>
              </a:lnSpc>
              <a:spcBef>
                <a:spcPts val="960"/>
              </a:spcBef>
            </a:pPr>
            <a:r>
              <a:rPr sz="2200" dirty="0">
                <a:latin typeface="微软雅黑" panose="020B0503020204020204" pitchFamily="34" charset="-122"/>
                <a:cs typeface="微软雅黑" panose="020B0503020204020204" pitchFamily="34" charset="-122"/>
              </a:rPr>
              <a:t>输入：</a:t>
            </a:r>
            <a:r>
              <a:rPr sz="2200" spc="-10" dirty="0">
                <a:latin typeface="微软雅黑" panose="020B0503020204020204" pitchFamily="34" charset="-122"/>
                <a:cs typeface="微软雅黑" panose="020B0503020204020204" pitchFamily="34" charset="-122"/>
              </a:rPr>
              <a:t> </a:t>
            </a:r>
            <a:r>
              <a:rPr sz="2200" b="1" dirty="0">
                <a:latin typeface="Courier New" panose="02070309020205020404"/>
                <a:cs typeface="Courier New" panose="02070309020205020404"/>
              </a:rPr>
              <a:t>a=2,b=-1,c=-2</a:t>
            </a:r>
            <a:endParaRPr sz="2200">
              <a:latin typeface="Courier New" panose="02070309020205020404"/>
              <a:cs typeface="Courier New" panose="02070309020205020404"/>
            </a:endParaRPr>
          </a:p>
          <a:p>
            <a:pPr marL="12700">
              <a:lnSpc>
                <a:spcPct val="100000"/>
              </a:lnSpc>
              <a:spcBef>
                <a:spcPts val="860"/>
              </a:spcBef>
              <a:tabLst>
                <a:tab pos="3671570" algn="l"/>
              </a:tabLst>
            </a:pPr>
            <a:r>
              <a:rPr sz="2200" dirty="0">
                <a:latin typeface="微软雅黑" panose="020B0503020204020204" pitchFamily="34" charset="-122"/>
                <a:cs typeface="微软雅黑" panose="020B0503020204020204" pitchFamily="34" charset="-122"/>
              </a:rPr>
              <a:t>覆盖 </a:t>
            </a:r>
            <a:r>
              <a:rPr sz="2200" b="1" dirty="0">
                <a:latin typeface="Courier New" panose="02070309020205020404"/>
                <a:cs typeface="Courier New" panose="02070309020205020404"/>
              </a:rPr>
              <a:t>a&gt;0,b&lt;=0,a&gt;1,c&lt;=1	</a:t>
            </a:r>
            <a:r>
              <a:rPr sz="2200" dirty="0">
                <a:latin typeface="微软雅黑" panose="020B0503020204020204" pitchFamily="34" charset="-122"/>
                <a:cs typeface="微软雅黑" panose="020B0503020204020204" pitchFamily="34" charset="-122"/>
              </a:rPr>
              <a:t>条件</a:t>
            </a:r>
            <a:endParaRPr sz="2200">
              <a:latin typeface="微软雅黑" panose="020B0503020204020204" pitchFamily="34" charset="-122"/>
              <a:cs typeface="微软雅黑" panose="020B0503020204020204" pitchFamily="34" charset="-122"/>
            </a:endParaRPr>
          </a:p>
        </p:txBody>
      </p:sp>
      <p:sp>
        <p:nvSpPr>
          <p:cNvPr id="4" name="object 4"/>
          <p:cNvSpPr txBox="1"/>
          <p:nvPr/>
        </p:nvSpPr>
        <p:spPr>
          <a:xfrm>
            <a:off x="6428740" y="4272973"/>
            <a:ext cx="4243705" cy="914400"/>
          </a:xfrm>
          <a:prstGeom prst="rect">
            <a:avLst/>
          </a:prstGeom>
        </p:spPr>
        <p:txBody>
          <a:bodyPr vert="horz" wrap="square" lIns="0" tIns="121920" rIns="0" bIns="0" rtlCol="0">
            <a:spAutoFit/>
          </a:bodyPr>
          <a:lstStyle/>
          <a:p>
            <a:pPr marL="12700">
              <a:lnSpc>
                <a:spcPct val="100000"/>
              </a:lnSpc>
              <a:spcBef>
                <a:spcPts val="960"/>
              </a:spcBef>
            </a:pPr>
            <a:r>
              <a:rPr sz="2200" dirty="0">
                <a:latin typeface="微软雅黑" panose="020B0503020204020204" pitchFamily="34" charset="-122"/>
                <a:cs typeface="微软雅黑" panose="020B0503020204020204" pitchFamily="34" charset="-122"/>
              </a:rPr>
              <a:t>输入：</a:t>
            </a:r>
            <a:r>
              <a:rPr sz="2200" b="1" dirty="0">
                <a:latin typeface="Courier New" panose="02070309020205020404"/>
                <a:cs typeface="Courier New" panose="02070309020205020404"/>
              </a:rPr>
              <a:t>a=-1,b=2,c=3</a:t>
            </a:r>
            <a:endParaRPr sz="2200">
              <a:latin typeface="Courier New" panose="02070309020205020404"/>
              <a:cs typeface="Courier New" panose="02070309020205020404"/>
            </a:endParaRPr>
          </a:p>
          <a:p>
            <a:pPr marL="12700">
              <a:lnSpc>
                <a:spcPct val="100000"/>
              </a:lnSpc>
              <a:spcBef>
                <a:spcPts val="860"/>
              </a:spcBef>
            </a:pPr>
            <a:r>
              <a:rPr sz="2200" dirty="0">
                <a:latin typeface="微软雅黑" panose="020B0503020204020204" pitchFamily="34" charset="-122"/>
                <a:cs typeface="微软雅黑" panose="020B0503020204020204" pitchFamily="34" charset="-122"/>
              </a:rPr>
              <a:t>覆盖</a:t>
            </a:r>
            <a:r>
              <a:rPr sz="2200" spc="-30" dirty="0">
                <a:latin typeface="微软雅黑" panose="020B0503020204020204" pitchFamily="34" charset="-122"/>
                <a:cs typeface="微软雅黑" panose="020B0503020204020204" pitchFamily="34" charset="-122"/>
              </a:rPr>
              <a:t> </a:t>
            </a:r>
            <a:r>
              <a:rPr sz="2200" b="1" spc="-5" dirty="0">
                <a:latin typeface="Courier New" panose="02070309020205020404"/>
                <a:cs typeface="Courier New" panose="02070309020205020404"/>
              </a:rPr>
              <a:t>a&lt;=0,b&gt;0,a&lt;=1,c&gt;1</a:t>
            </a:r>
            <a:r>
              <a:rPr sz="2200" b="1" spc="-60" dirty="0">
                <a:latin typeface="Courier New" panose="02070309020205020404"/>
                <a:cs typeface="Courier New" panose="02070309020205020404"/>
              </a:rPr>
              <a:t> </a:t>
            </a:r>
            <a:r>
              <a:rPr sz="2200" dirty="0">
                <a:latin typeface="微软雅黑" panose="020B0503020204020204" pitchFamily="34" charset="-122"/>
                <a:cs typeface="微软雅黑" panose="020B0503020204020204" pitchFamily="34" charset="-122"/>
              </a:rPr>
              <a:t>条件</a:t>
            </a:r>
            <a:endParaRPr sz="2200">
              <a:latin typeface="微软雅黑" panose="020B0503020204020204" pitchFamily="34" charset="-122"/>
              <a:cs typeface="微软雅黑" panose="020B0503020204020204" pitchFamily="34" charset="-122"/>
            </a:endParaRPr>
          </a:p>
        </p:txBody>
      </p:sp>
      <p:sp>
        <p:nvSpPr>
          <p:cNvPr id="5" name="object 5"/>
          <p:cNvSpPr txBox="1"/>
          <p:nvPr/>
        </p:nvSpPr>
        <p:spPr>
          <a:xfrm>
            <a:off x="1224340" y="1594799"/>
            <a:ext cx="9714865" cy="688975"/>
          </a:xfrm>
          <a:prstGeom prst="rect">
            <a:avLst/>
          </a:prstGeom>
          <a:solidFill>
            <a:srgbClr val="797BA9"/>
          </a:solidFill>
        </p:spPr>
        <p:txBody>
          <a:bodyPr vert="horz" wrap="square" lIns="0" tIns="191770" rIns="0" bIns="0" rtlCol="0">
            <a:spAutoFit/>
          </a:bodyPr>
          <a:lstStyle/>
          <a:p>
            <a:pPr marL="285115" algn="ctr">
              <a:lnSpc>
                <a:spcPct val="100000"/>
              </a:lnSpc>
              <a:spcBef>
                <a:spcPts val="1510"/>
              </a:spcBef>
            </a:pPr>
            <a:r>
              <a:rPr sz="2200" dirty="0">
                <a:solidFill>
                  <a:srgbClr val="FFFFFF"/>
                </a:solidFill>
                <a:latin typeface="微软雅黑" panose="020B0503020204020204" pitchFamily="34" charset="-122"/>
                <a:cs typeface="微软雅黑" panose="020B0503020204020204" pitchFamily="34" charset="-122"/>
              </a:rPr>
              <a:t>每个判断中每个条件的可能取值至少满足一次。</a:t>
            </a:r>
            <a:endParaRPr sz="2200">
              <a:latin typeface="微软雅黑" panose="020B0503020204020204" pitchFamily="34" charset="-122"/>
              <a:cs typeface="微软雅黑" panose="020B0503020204020204" pitchFamily="34" charset="-122"/>
            </a:endParaRPr>
          </a:p>
        </p:txBody>
      </p:sp>
      <p:sp>
        <p:nvSpPr>
          <p:cNvPr id="6" name="object 6"/>
          <p:cNvSpPr/>
          <p:nvPr/>
        </p:nvSpPr>
        <p:spPr>
          <a:xfrm>
            <a:off x="3116705" y="4907994"/>
            <a:ext cx="1270" cy="578485"/>
          </a:xfrm>
          <a:custGeom>
            <a:avLst/>
            <a:gdLst/>
            <a:ahLst/>
            <a:cxnLst/>
            <a:rect l="l" t="t" r="r" b="b"/>
            <a:pathLst>
              <a:path w="1269" h="578485">
                <a:moveTo>
                  <a:pt x="655" y="0"/>
                </a:moveTo>
                <a:lnTo>
                  <a:pt x="0" y="578408"/>
                </a:lnTo>
              </a:path>
            </a:pathLst>
          </a:custGeom>
          <a:ln w="19049">
            <a:solidFill>
              <a:srgbClr val="000000"/>
            </a:solidFill>
          </a:ln>
        </p:spPr>
        <p:txBody>
          <a:bodyPr wrap="square" lIns="0" tIns="0" rIns="0" bIns="0" rtlCol="0"/>
          <a:lstStyle/>
          <a:p>
            <a:endParaRPr/>
          </a:p>
        </p:txBody>
      </p:sp>
      <p:sp>
        <p:nvSpPr>
          <p:cNvPr id="7" name="object 7"/>
          <p:cNvSpPr/>
          <p:nvPr/>
        </p:nvSpPr>
        <p:spPr>
          <a:xfrm>
            <a:off x="3078664" y="5435560"/>
            <a:ext cx="76200" cy="76835"/>
          </a:xfrm>
          <a:custGeom>
            <a:avLst/>
            <a:gdLst/>
            <a:ahLst/>
            <a:cxnLst/>
            <a:rect l="l" t="t" r="r" b="b"/>
            <a:pathLst>
              <a:path w="76200" h="76835">
                <a:moveTo>
                  <a:pt x="0" y="0"/>
                </a:moveTo>
                <a:lnTo>
                  <a:pt x="38013" y="76243"/>
                </a:lnTo>
                <a:lnTo>
                  <a:pt x="76200" y="86"/>
                </a:lnTo>
                <a:lnTo>
                  <a:pt x="0" y="0"/>
                </a:lnTo>
                <a:close/>
              </a:path>
            </a:pathLst>
          </a:custGeom>
          <a:solidFill>
            <a:srgbClr val="000000"/>
          </a:solidFill>
        </p:spPr>
        <p:txBody>
          <a:bodyPr wrap="square" lIns="0" tIns="0" rIns="0" bIns="0" rtlCol="0"/>
          <a:lstStyle/>
          <a:p>
            <a:endParaRPr/>
          </a:p>
        </p:txBody>
      </p:sp>
      <p:sp>
        <p:nvSpPr>
          <p:cNvPr id="8" name="object 8"/>
          <p:cNvSpPr/>
          <p:nvPr/>
        </p:nvSpPr>
        <p:spPr>
          <a:xfrm>
            <a:off x="1964278" y="2808086"/>
            <a:ext cx="2306320" cy="671830"/>
          </a:xfrm>
          <a:custGeom>
            <a:avLst/>
            <a:gdLst/>
            <a:ahLst/>
            <a:cxnLst/>
            <a:rect l="l" t="t" r="r" b="b"/>
            <a:pathLst>
              <a:path w="2306320" h="671829">
                <a:moveTo>
                  <a:pt x="0" y="335755"/>
                </a:moveTo>
                <a:lnTo>
                  <a:pt x="1153082" y="0"/>
                </a:lnTo>
                <a:lnTo>
                  <a:pt x="2306165" y="335755"/>
                </a:lnTo>
                <a:lnTo>
                  <a:pt x="1153082" y="671509"/>
                </a:lnTo>
                <a:lnTo>
                  <a:pt x="0" y="335755"/>
                </a:lnTo>
                <a:close/>
              </a:path>
            </a:pathLst>
          </a:custGeom>
          <a:ln w="19049">
            <a:solidFill>
              <a:srgbClr val="000000"/>
            </a:solidFill>
          </a:ln>
        </p:spPr>
        <p:txBody>
          <a:bodyPr wrap="square" lIns="0" tIns="0" rIns="0" bIns="0" rtlCol="0"/>
          <a:lstStyle/>
          <a:p>
            <a:endParaRPr/>
          </a:p>
        </p:txBody>
      </p:sp>
      <p:sp>
        <p:nvSpPr>
          <p:cNvPr id="9" name="object 9"/>
          <p:cNvSpPr txBox="1"/>
          <p:nvPr/>
        </p:nvSpPr>
        <p:spPr>
          <a:xfrm>
            <a:off x="2352860" y="2982551"/>
            <a:ext cx="153479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ourier New" panose="02070309020205020404"/>
                <a:cs typeface="Courier New" panose="02070309020205020404"/>
              </a:rPr>
              <a:t>a&gt;0 and</a:t>
            </a:r>
            <a:r>
              <a:rPr sz="1800" b="1" spc="-90" dirty="0">
                <a:latin typeface="Courier New" panose="02070309020205020404"/>
                <a:cs typeface="Courier New" panose="02070309020205020404"/>
              </a:rPr>
              <a:t> </a:t>
            </a:r>
            <a:r>
              <a:rPr sz="1800" b="1" spc="-5" dirty="0">
                <a:latin typeface="Courier New" panose="02070309020205020404"/>
                <a:cs typeface="Courier New" panose="02070309020205020404"/>
              </a:rPr>
              <a:t>b&gt;0</a:t>
            </a:r>
            <a:endParaRPr sz="1800">
              <a:latin typeface="Courier New" panose="02070309020205020404"/>
              <a:cs typeface="Courier New" panose="02070309020205020404"/>
            </a:endParaRPr>
          </a:p>
        </p:txBody>
      </p:sp>
      <p:sp>
        <p:nvSpPr>
          <p:cNvPr id="10" name="object 10"/>
          <p:cNvSpPr txBox="1"/>
          <p:nvPr/>
        </p:nvSpPr>
        <p:spPr>
          <a:xfrm>
            <a:off x="4575736" y="3273792"/>
            <a:ext cx="1154430" cy="346710"/>
          </a:xfrm>
          <a:prstGeom prst="rect">
            <a:avLst/>
          </a:prstGeom>
          <a:ln w="19049">
            <a:solidFill>
              <a:srgbClr val="000000"/>
            </a:solidFill>
          </a:ln>
        </p:spPr>
        <p:txBody>
          <a:bodyPr vert="horz" wrap="square" lIns="0" tIns="24130" rIns="0" bIns="0" rtlCol="0">
            <a:spAutoFit/>
          </a:bodyPr>
          <a:lstStyle/>
          <a:p>
            <a:pPr marL="91440">
              <a:lnSpc>
                <a:spcPct val="100000"/>
              </a:lnSpc>
              <a:spcBef>
                <a:spcPts val="190"/>
              </a:spcBef>
            </a:pPr>
            <a:r>
              <a:rPr sz="1800" b="1" dirty="0">
                <a:latin typeface="Courier New" panose="02070309020205020404"/>
                <a:cs typeface="Courier New" panose="02070309020205020404"/>
              </a:rPr>
              <a:t>c =</a:t>
            </a:r>
            <a:r>
              <a:rPr sz="1800" b="1" spc="-85" dirty="0">
                <a:latin typeface="Courier New" panose="02070309020205020404"/>
                <a:cs typeface="Courier New" panose="02070309020205020404"/>
              </a:rPr>
              <a:t> </a:t>
            </a:r>
            <a:r>
              <a:rPr sz="1800" b="1" spc="-5" dirty="0">
                <a:latin typeface="Courier New" panose="02070309020205020404"/>
                <a:cs typeface="Courier New" panose="02070309020205020404"/>
              </a:rPr>
              <a:t>c/a</a:t>
            </a:r>
            <a:endParaRPr sz="1800">
              <a:latin typeface="Courier New" panose="02070309020205020404"/>
              <a:cs typeface="Courier New" panose="02070309020205020404"/>
            </a:endParaRPr>
          </a:p>
        </p:txBody>
      </p:sp>
      <p:sp>
        <p:nvSpPr>
          <p:cNvPr id="11" name="object 11"/>
          <p:cNvSpPr/>
          <p:nvPr/>
        </p:nvSpPr>
        <p:spPr>
          <a:xfrm>
            <a:off x="1964278" y="4202297"/>
            <a:ext cx="2306320" cy="706120"/>
          </a:xfrm>
          <a:custGeom>
            <a:avLst/>
            <a:gdLst/>
            <a:ahLst/>
            <a:cxnLst/>
            <a:rect l="l" t="t" r="r" b="b"/>
            <a:pathLst>
              <a:path w="2306320" h="706120">
                <a:moveTo>
                  <a:pt x="0" y="352848"/>
                </a:moveTo>
                <a:lnTo>
                  <a:pt x="1153082" y="0"/>
                </a:lnTo>
                <a:lnTo>
                  <a:pt x="2306165" y="352848"/>
                </a:lnTo>
                <a:lnTo>
                  <a:pt x="1153082" y="705696"/>
                </a:lnTo>
                <a:lnTo>
                  <a:pt x="0" y="352848"/>
                </a:lnTo>
                <a:close/>
              </a:path>
            </a:pathLst>
          </a:custGeom>
          <a:ln w="19049">
            <a:solidFill>
              <a:srgbClr val="000000"/>
            </a:solidFill>
          </a:ln>
        </p:spPr>
        <p:txBody>
          <a:bodyPr wrap="square" lIns="0" tIns="0" rIns="0" bIns="0" rtlCol="0"/>
          <a:lstStyle/>
          <a:p>
            <a:endParaRPr/>
          </a:p>
        </p:txBody>
      </p:sp>
      <p:sp>
        <p:nvSpPr>
          <p:cNvPr id="12" name="object 12"/>
          <p:cNvSpPr txBox="1"/>
          <p:nvPr/>
        </p:nvSpPr>
        <p:spPr>
          <a:xfrm>
            <a:off x="2416360" y="4393857"/>
            <a:ext cx="13976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Courier New" panose="02070309020205020404"/>
                <a:cs typeface="Courier New" panose="02070309020205020404"/>
              </a:rPr>
              <a:t>a&gt;1 or</a:t>
            </a:r>
            <a:r>
              <a:rPr sz="1800" b="1" spc="-90" dirty="0">
                <a:latin typeface="Courier New" panose="02070309020205020404"/>
                <a:cs typeface="Courier New" panose="02070309020205020404"/>
              </a:rPr>
              <a:t> </a:t>
            </a:r>
            <a:r>
              <a:rPr sz="1800" b="1" spc="-5" dirty="0">
                <a:latin typeface="Courier New" panose="02070309020205020404"/>
                <a:cs typeface="Courier New" panose="02070309020205020404"/>
              </a:rPr>
              <a:t>c&gt;1</a:t>
            </a:r>
            <a:endParaRPr sz="1800">
              <a:latin typeface="Courier New" panose="02070309020205020404"/>
              <a:cs typeface="Courier New" panose="02070309020205020404"/>
            </a:endParaRPr>
          </a:p>
        </p:txBody>
      </p:sp>
      <p:sp>
        <p:nvSpPr>
          <p:cNvPr id="13" name="object 13"/>
          <p:cNvSpPr txBox="1"/>
          <p:nvPr/>
        </p:nvSpPr>
        <p:spPr>
          <a:xfrm>
            <a:off x="4567713" y="4724862"/>
            <a:ext cx="1154430" cy="346710"/>
          </a:xfrm>
          <a:prstGeom prst="rect">
            <a:avLst/>
          </a:prstGeom>
          <a:ln w="19049">
            <a:solidFill>
              <a:srgbClr val="000000"/>
            </a:solidFill>
          </a:ln>
        </p:spPr>
        <p:txBody>
          <a:bodyPr vert="horz" wrap="square" lIns="0" tIns="24130" rIns="0" bIns="0" rtlCol="0">
            <a:spAutoFit/>
          </a:bodyPr>
          <a:lstStyle/>
          <a:p>
            <a:pPr marL="91440">
              <a:lnSpc>
                <a:spcPct val="100000"/>
              </a:lnSpc>
              <a:spcBef>
                <a:spcPts val="190"/>
              </a:spcBef>
            </a:pPr>
            <a:r>
              <a:rPr sz="1800" b="1" dirty="0">
                <a:latin typeface="Courier New" panose="02070309020205020404"/>
                <a:cs typeface="Courier New" panose="02070309020205020404"/>
              </a:rPr>
              <a:t>c =</a:t>
            </a:r>
            <a:r>
              <a:rPr sz="1800" b="1" spc="-85" dirty="0">
                <a:latin typeface="Courier New" panose="02070309020205020404"/>
                <a:cs typeface="Courier New" panose="02070309020205020404"/>
              </a:rPr>
              <a:t> </a:t>
            </a:r>
            <a:r>
              <a:rPr sz="1800" b="1" spc="-5" dirty="0">
                <a:latin typeface="Courier New" panose="02070309020205020404"/>
                <a:cs typeface="Courier New" panose="02070309020205020404"/>
              </a:rPr>
              <a:t>c+1</a:t>
            </a:r>
            <a:endParaRPr sz="1800">
              <a:latin typeface="Courier New" panose="02070309020205020404"/>
              <a:cs typeface="Courier New" panose="02070309020205020404"/>
            </a:endParaRPr>
          </a:p>
        </p:txBody>
      </p:sp>
      <p:sp>
        <p:nvSpPr>
          <p:cNvPr id="14" name="object 14"/>
          <p:cNvSpPr/>
          <p:nvPr/>
        </p:nvSpPr>
        <p:spPr>
          <a:xfrm>
            <a:off x="4270444" y="3143842"/>
            <a:ext cx="882650" cy="104775"/>
          </a:xfrm>
          <a:custGeom>
            <a:avLst/>
            <a:gdLst/>
            <a:ahLst/>
            <a:cxnLst/>
            <a:rect l="l" t="t" r="r" b="b"/>
            <a:pathLst>
              <a:path w="882650" h="104775">
                <a:moveTo>
                  <a:pt x="0" y="0"/>
                </a:moveTo>
                <a:lnTo>
                  <a:pt x="882649" y="0"/>
                </a:lnTo>
                <a:lnTo>
                  <a:pt x="882649" y="104774"/>
                </a:lnTo>
              </a:path>
            </a:pathLst>
          </a:custGeom>
          <a:ln w="19049">
            <a:solidFill>
              <a:srgbClr val="000000"/>
            </a:solidFill>
          </a:ln>
        </p:spPr>
        <p:txBody>
          <a:bodyPr wrap="square" lIns="0" tIns="0" rIns="0" bIns="0" rtlCol="0"/>
          <a:lstStyle/>
          <a:p>
            <a:endParaRPr/>
          </a:p>
        </p:txBody>
      </p:sp>
      <p:sp>
        <p:nvSpPr>
          <p:cNvPr id="15" name="object 15"/>
          <p:cNvSpPr/>
          <p:nvPr/>
        </p:nvSpPr>
        <p:spPr>
          <a:xfrm>
            <a:off x="5114994" y="3197816"/>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16" name="object 16"/>
          <p:cNvSpPr/>
          <p:nvPr/>
        </p:nvSpPr>
        <p:spPr>
          <a:xfrm>
            <a:off x="3117362" y="3479596"/>
            <a:ext cx="0" cy="697230"/>
          </a:xfrm>
          <a:custGeom>
            <a:avLst/>
            <a:gdLst/>
            <a:ahLst/>
            <a:cxnLst/>
            <a:rect l="l" t="t" r="r" b="b"/>
            <a:pathLst>
              <a:path h="697229">
                <a:moveTo>
                  <a:pt x="0" y="0"/>
                </a:moveTo>
                <a:lnTo>
                  <a:pt x="0" y="696912"/>
                </a:lnTo>
              </a:path>
            </a:pathLst>
          </a:custGeom>
          <a:ln w="19049">
            <a:solidFill>
              <a:srgbClr val="000000"/>
            </a:solidFill>
          </a:ln>
        </p:spPr>
        <p:txBody>
          <a:bodyPr wrap="square" lIns="0" tIns="0" rIns="0" bIns="0" rtlCol="0"/>
          <a:lstStyle/>
          <a:p>
            <a:endParaRPr/>
          </a:p>
        </p:txBody>
      </p:sp>
      <p:sp>
        <p:nvSpPr>
          <p:cNvPr id="17" name="object 17"/>
          <p:cNvSpPr/>
          <p:nvPr/>
        </p:nvSpPr>
        <p:spPr>
          <a:xfrm>
            <a:off x="3079262" y="4125709"/>
            <a:ext cx="76200" cy="76200"/>
          </a:xfrm>
          <a:custGeom>
            <a:avLst/>
            <a:gdLst/>
            <a:ahLst/>
            <a:cxnLst/>
            <a:rect l="l" t="t" r="r" b="b"/>
            <a:pathLst>
              <a:path w="76200" h="76200">
                <a:moveTo>
                  <a:pt x="76200" y="0"/>
                </a:moveTo>
                <a:lnTo>
                  <a:pt x="0" y="0"/>
                </a:lnTo>
                <a:lnTo>
                  <a:pt x="38100" y="76199"/>
                </a:lnTo>
                <a:lnTo>
                  <a:pt x="76200" y="0"/>
                </a:lnTo>
                <a:close/>
              </a:path>
            </a:pathLst>
          </a:custGeom>
          <a:solidFill>
            <a:srgbClr val="000000"/>
          </a:solidFill>
        </p:spPr>
        <p:txBody>
          <a:bodyPr wrap="square" lIns="0" tIns="0" rIns="0" bIns="0" rtlCol="0"/>
          <a:lstStyle/>
          <a:p>
            <a:endParaRPr/>
          </a:p>
        </p:txBody>
      </p:sp>
      <p:sp>
        <p:nvSpPr>
          <p:cNvPr id="18" name="object 18"/>
          <p:cNvSpPr txBox="1"/>
          <p:nvPr/>
        </p:nvSpPr>
        <p:spPr>
          <a:xfrm>
            <a:off x="3211892" y="3489756"/>
            <a:ext cx="1631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ourier New" panose="02070309020205020404"/>
                <a:cs typeface="Courier New" panose="02070309020205020404"/>
              </a:rPr>
              <a:t>F</a:t>
            </a:r>
            <a:endParaRPr sz="1800">
              <a:latin typeface="Courier New" panose="02070309020205020404"/>
              <a:cs typeface="Courier New" panose="02070309020205020404"/>
            </a:endParaRPr>
          </a:p>
        </p:txBody>
      </p:sp>
      <p:sp>
        <p:nvSpPr>
          <p:cNvPr id="19" name="object 19"/>
          <p:cNvSpPr/>
          <p:nvPr/>
        </p:nvSpPr>
        <p:spPr>
          <a:xfrm>
            <a:off x="3216045" y="3620039"/>
            <a:ext cx="1937385" cy="196850"/>
          </a:xfrm>
          <a:custGeom>
            <a:avLst/>
            <a:gdLst/>
            <a:ahLst/>
            <a:cxnLst/>
            <a:rect l="l" t="t" r="r" b="b"/>
            <a:pathLst>
              <a:path w="1937385" h="196850">
                <a:moveTo>
                  <a:pt x="1936849" y="0"/>
                </a:moveTo>
                <a:lnTo>
                  <a:pt x="1936849" y="196527"/>
                </a:lnTo>
                <a:lnTo>
                  <a:pt x="0" y="196527"/>
                </a:lnTo>
              </a:path>
            </a:pathLst>
          </a:custGeom>
          <a:ln w="19049">
            <a:solidFill>
              <a:srgbClr val="000000"/>
            </a:solidFill>
          </a:ln>
        </p:spPr>
        <p:txBody>
          <a:bodyPr wrap="square" lIns="0" tIns="0" rIns="0" bIns="0" rtlCol="0"/>
          <a:lstStyle/>
          <a:p>
            <a:endParaRPr/>
          </a:p>
        </p:txBody>
      </p:sp>
      <p:sp>
        <p:nvSpPr>
          <p:cNvPr id="20" name="object 20"/>
          <p:cNvSpPr/>
          <p:nvPr/>
        </p:nvSpPr>
        <p:spPr>
          <a:xfrm>
            <a:off x="3030236" y="3758247"/>
            <a:ext cx="236608" cy="116643"/>
          </a:xfrm>
          <a:prstGeom prst="rect">
            <a:avLst/>
          </a:prstGeom>
          <a:blipFill>
            <a:blip r:embed="rId3" cstate="print"/>
            <a:stretch>
              <a:fillRect/>
            </a:stretch>
          </a:blipFill>
        </p:spPr>
        <p:txBody>
          <a:bodyPr wrap="square" lIns="0" tIns="0" rIns="0" bIns="0" rtlCol="0"/>
          <a:lstStyle/>
          <a:p>
            <a:endParaRPr/>
          </a:p>
        </p:txBody>
      </p:sp>
      <p:sp>
        <p:nvSpPr>
          <p:cNvPr id="21" name="object 21"/>
          <p:cNvSpPr/>
          <p:nvPr/>
        </p:nvSpPr>
        <p:spPr>
          <a:xfrm>
            <a:off x="4270444" y="4555147"/>
            <a:ext cx="875030" cy="144780"/>
          </a:xfrm>
          <a:custGeom>
            <a:avLst/>
            <a:gdLst/>
            <a:ahLst/>
            <a:cxnLst/>
            <a:rect l="l" t="t" r="r" b="b"/>
            <a:pathLst>
              <a:path w="875029" h="144779">
                <a:moveTo>
                  <a:pt x="0" y="0"/>
                </a:moveTo>
                <a:lnTo>
                  <a:pt x="874712" y="0"/>
                </a:lnTo>
                <a:lnTo>
                  <a:pt x="874712" y="144462"/>
                </a:lnTo>
              </a:path>
            </a:pathLst>
          </a:custGeom>
          <a:ln w="19049">
            <a:solidFill>
              <a:srgbClr val="000000"/>
            </a:solidFill>
          </a:ln>
        </p:spPr>
        <p:txBody>
          <a:bodyPr wrap="square" lIns="0" tIns="0" rIns="0" bIns="0" rtlCol="0"/>
          <a:lstStyle/>
          <a:p>
            <a:endParaRPr/>
          </a:p>
        </p:txBody>
      </p:sp>
      <p:sp>
        <p:nvSpPr>
          <p:cNvPr id="22" name="object 22"/>
          <p:cNvSpPr/>
          <p:nvPr/>
        </p:nvSpPr>
        <p:spPr>
          <a:xfrm>
            <a:off x="5107057" y="4648809"/>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23" name="object 23"/>
          <p:cNvSpPr/>
          <p:nvPr/>
        </p:nvSpPr>
        <p:spPr>
          <a:xfrm>
            <a:off x="3216046" y="5071111"/>
            <a:ext cx="1929130" cy="208279"/>
          </a:xfrm>
          <a:custGeom>
            <a:avLst/>
            <a:gdLst/>
            <a:ahLst/>
            <a:cxnLst/>
            <a:rect l="l" t="t" r="r" b="b"/>
            <a:pathLst>
              <a:path w="1929129" h="208279">
                <a:moveTo>
                  <a:pt x="1928828" y="0"/>
                </a:moveTo>
                <a:lnTo>
                  <a:pt x="1928828" y="207864"/>
                </a:lnTo>
                <a:lnTo>
                  <a:pt x="0" y="207864"/>
                </a:lnTo>
              </a:path>
            </a:pathLst>
          </a:custGeom>
          <a:ln w="19049">
            <a:solidFill>
              <a:srgbClr val="000000"/>
            </a:solidFill>
          </a:ln>
        </p:spPr>
        <p:txBody>
          <a:bodyPr wrap="square" lIns="0" tIns="0" rIns="0" bIns="0" rtlCol="0"/>
          <a:lstStyle/>
          <a:p>
            <a:endParaRPr/>
          </a:p>
        </p:txBody>
      </p:sp>
      <p:sp>
        <p:nvSpPr>
          <p:cNvPr id="24" name="object 24"/>
          <p:cNvSpPr/>
          <p:nvPr/>
        </p:nvSpPr>
        <p:spPr>
          <a:xfrm>
            <a:off x="3030236" y="5220654"/>
            <a:ext cx="236610" cy="116642"/>
          </a:xfrm>
          <a:prstGeom prst="rect">
            <a:avLst/>
          </a:prstGeom>
          <a:blipFill>
            <a:blip r:embed="rId3" cstate="print"/>
            <a:stretch>
              <a:fillRect/>
            </a:stretch>
          </a:blipFill>
        </p:spPr>
        <p:txBody>
          <a:bodyPr wrap="square" lIns="0" tIns="0" rIns="0" bIns="0" rtlCol="0"/>
          <a:lstStyle/>
          <a:p>
            <a:endParaRPr/>
          </a:p>
        </p:txBody>
      </p:sp>
      <p:sp>
        <p:nvSpPr>
          <p:cNvPr id="25" name="object 25"/>
          <p:cNvSpPr/>
          <p:nvPr/>
        </p:nvSpPr>
        <p:spPr>
          <a:xfrm>
            <a:off x="3117362" y="2464035"/>
            <a:ext cx="0" cy="318770"/>
          </a:xfrm>
          <a:custGeom>
            <a:avLst/>
            <a:gdLst/>
            <a:ahLst/>
            <a:cxnLst/>
            <a:rect l="l" t="t" r="r" b="b"/>
            <a:pathLst>
              <a:path h="318769">
                <a:moveTo>
                  <a:pt x="0" y="0"/>
                </a:moveTo>
                <a:lnTo>
                  <a:pt x="0" y="318293"/>
                </a:lnTo>
              </a:path>
            </a:pathLst>
          </a:custGeom>
          <a:ln w="19049">
            <a:solidFill>
              <a:srgbClr val="000000"/>
            </a:solidFill>
          </a:ln>
        </p:spPr>
        <p:txBody>
          <a:bodyPr wrap="square" lIns="0" tIns="0" rIns="0" bIns="0" rtlCol="0"/>
          <a:lstStyle/>
          <a:p>
            <a:endParaRPr/>
          </a:p>
        </p:txBody>
      </p:sp>
      <p:sp>
        <p:nvSpPr>
          <p:cNvPr id="26" name="object 26"/>
          <p:cNvSpPr/>
          <p:nvPr/>
        </p:nvSpPr>
        <p:spPr>
          <a:xfrm>
            <a:off x="3079262" y="2731528"/>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27" name="object 27"/>
          <p:cNvSpPr txBox="1"/>
          <p:nvPr/>
        </p:nvSpPr>
        <p:spPr>
          <a:xfrm>
            <a:off x="4291240" y="2863879"/>
            <a:ext cx="1631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ourier New" panose="02070309020205020404"/>
                <a:cs typeface="Courier New" panose="02070309020205020404"/>
              </a:rPr>
              <a:t>T</a:t>
            </a:r>
            <a:endParaRPr sz="1800">
              <a:latin typeface="Courier New" panose="02070309020205020404"/>
              <a:cs typeface="Courier New" panose="02070309020205020404"/>
            </a:endParaRPr>
          </a:p>
        </p:txBody>
      </p:sp>
      <p:sp>
        <p:nvSpPr>
          <p:cNvPr id="28" name="object 28"/>
          <p:cNvSpPr txBox="1"/>
          <p:nvPr/>
        </p:nvSpPr>
        <p:spPr>
          <a:xfrm>
            <a:off x="3204997" y="4929490"/>
            <a:ext cx="1631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ourier New" panose="02070309020205020404"/>
                <a:cs typeface="Courier New" panose="02070309020205020404"/>
              </a:rPr>
              <a:t>F</a:t>
            </a:r>
            <a:endParaRPr sz="1800">
              <a:latin typeface="Courier New" panose="02070309020205020404"/>
              <a:cs typeface="Courier New" panose="02070309020205020404"/>
            </a:endParaRPr>
          </a:p>
        </p:txBody>
      </p:sp>
      <p:sp>
        <p:nvSpPr>
          <p:cNvPr id="29" name="object 29"/>
          <p:cNvSpPr txBox="1"/>
          <p:nvPr/>
        </p:nvSpPr>
        <p:spPr>
          <a:xfrm>
            <a:off x="4240761" y="4268186"/>
            <a:ext cx="1631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ourier New" panose="02070309020205020404"/>
                <a:cs typeface="Courier New" panose="02070309020205020404"/>
              </a:rPr>
              <a:t>T</a:t>
            </a:r>
            <a:endParaRPr sz="1800">
              <a:latin typeface="Courier New" panose="02070309020205020404"/>
              <a:cs typeface="Courier New" panose="02070309020205020404"/>
            </a:endParaRPr>
          </a:p>
        </p:txBody>
      </p:sp>
      <p:sp>
        <p:nvSpPr>
          <p:cNvPr id="30" name="object 30"/>
          <p:cNvSpPr txBox="1"/>
          <p:nvPr/>
        </p:nvSpPr>
        <p:spPr>
          <a:xfrm>
            <a:off x="2539517" y="5511803"/>
            <a:ext cx="1154430" cy="346710"/>
          </a:xfrm>
          <a:prstGeom prst="rect">
            <a:avLst/>
          </a:prstGeom>
          <a:ln w="19049">
            <a:solidFill>
              <a:srgbClr val="000000"/>
            </a:solidFill>
          </a:ln>
        </p:spPr>
        <p:txBody>
          <a:bodyPr vert="horz" wrap="square" lIns="0" tIns="24130" rIns="0" bIns="0" rtlCol="0">
            <a:spAutoFit/>
          </a:bodyPr>
          <a:lstStyle/>
          <a:p>
            <a:pPr marL="91440">
              <a:lnSpc>
                <a:spcPct val="100000"/>
              </a:lnSpc>
              <a:spcBef>
                <a:spcPts val="190"/>
              </a:spcBef>
            </a:pPr>
            <a:r>
              <a:rPr sz="1800" b="1" dirty="0">
                <a:latin typeface="Courier New" panose="02070309020205020404"/>
                <a:cs typeface="Courier New" panose="02070309020205020404"/>
              </a:rPr>
              <a:t>c =</a:t>
            </a:r>
            <a:r>
              <a:rPr sz="1800" b="1" spc="-80" dirty="0">
                <a:latin typeface="Courier New" panose="02070309020205020404"/>
                <a:cs typeface="Courier New" panose="02070309020205020404"/>
              </a:rPr>
              <a:t> </a:t>
            </a:r>
            <a:r>
              <a:rPr sz="1800" b="1" dirty="0">
                <a:latin typeface="Courier New" panose="02070309020205020404"/>
                <a:cs typeface="Courier New" panose="02070309020205020404"/>
              </a:rPr>
              <a:t>b+c</a:t>
            </a:r>
            <a:endParaRPr sz="1800">
              <a:latin typeface="Courier New" panose="02070309020205020404"/>
              <a:cs typeface="Courier New" panose="02070309020205020404"/>
            </a:endParaRPr>
          </a:p>
        </p:txBody>
      </p:sp>
      <p:sp>
        <p:nvSpPr>
          <p:cNvPr id="31" name="object 31"/>
          <p:cNvSpPr txBox="1"/>
          <p:nvPr/>
        </p:nvSpPr>
        <p:spPr>
          <a:xfrm>
            <a:off x="2625093" y="2489992"/>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①</a:t>
            </a:r>
            <a:endParaRPr sz="2000">
              <a:latin typeface="微软雅黑" panose="020B0503020204020204" pitchFamily="34" charset="-122"/>
              <a:cs typeface="微软雅黑" panose="020B0503020204020204" pitchFamily="34" charset="-122"/>
            </a:endParaRPr>
          </a:p>
        </p:txBody>
      </p:sp>
      <p:sp>
        <p:nvSpPr>
          <p:cNvPr id="32" name="object 32"/>
          <p:cNvSpPr txBox="1"/>
          <p:nvPr/>
        </p:nvSpPr>
        <p:spPr>
          <a:xfrm>
            <a:off x="4240016" y="3238849"/>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②</a:t>
            </a:r>
            <a:endParaRPr sz="2000">
              <a:latin typeface="微软雅黑" panose="020B0503020204020204" pitchFamily="34" charset="-122"/>
              <a:cs typeface="微软雅黑" panose="020B0503020204020204" pitchFamily="34" charset="-122"/>
            </a:endParaRPr>
          </a:p>
        </p:txBody>
      </p:sp>
      <p:sp>
        <p:nvSpPr>
          <p:cNvPr id="33" name="object 33"/>
          <p:cNvSpPr txBox="1"/>
          <p:nvPr/>
        </p:nvSpPr>
        <p:spPr>
          <a:xfrm>
            <a:off x="2623858" y="3927148"/>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③</a:t>
            </a:r>
            <a:endParaRPr sz="2000">
              <a:latin typeface="微软雅黑" panose="020B0503020204020204" pitchFamily="34" charset="-122"/>
              <a:cs typeface="微软雅黑" panose="020B0503020204020204" pitchFamily="34" charset="-122"/>
            </a:endParaRPr>
          </a:p>
        </p:txBody>
      </p:sp>
      <p:sp>
        <p:nvSpPr>
          <p:cNvPr id="34" name="object 34"/>
          <p:cNvSpPr txBox="1"/>
          <p:nvPr/>
        </p:nvSpPr>
        <p:spPr>
          <a:xfrm>
            <a:off x="4244221" y="4701379"/>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④</a:t>
            </a:r>
            <a:endParaRPr sz="2000">
              <a:latin typeface="微软雅黑" panose="020B0503020204020204" pitchFamily="34" charset="-122"/>
              <a:cs typeface="微软雅黑" panose="020B0503020204020204" pitchFamily="34" charset="-122"/>
            </a:endParaRPr>
          </a:p>
        </p:txBody>
      </p:sp>
      <p:sp>
        <p:nvSpPr>
          <p:cNvPr id="35" name="object 35"/>
          <p:cNvSpPr txBox="1"/>
          <p:nvPr/>
        </p:nvSpPr>
        <p:spPr>
          <a:xfrm>
            <a:off x="2155275" y="5506533"/>
            <a:ext cx="279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⑤</a:t>
            </a:r>
            <a:endParaRPr sz="2000">
              <a:latin typeface="微软雅黑" panose="020B0503020204020204" pitchFamily="34" charset="-122"/>
              <a:cs typeface="微软雅黑" panose="020B0503020204020204" pitchFamily="34" charset="-122"/>
            </a:endParaRPr>
          </a:p>
        </p:txBody>
      </p:sp>
      <p:sp>
        <p:nvSpPr>
          <p:cNvPr id="36" name="灯片编号占位符 35"/>
          <p:cNvSpPr>
            <a:spLocks noGrp="1"/>
          </p:cNvSpPr>
          <p:nvPr>
            <p:ph type="sldNum" sz="quarter" idx="12"/>
          </p:nvPr>
        </p:nvSpPr>
        <p:spPr/>
        <p:txBody>
          <a:bodyPr/>
          <a:lstStyle/>
          <a:p>
            <a:fld id="{74D2AB8B-5816-41F2-8B4B-CA5C3E4E6A65}" type="slidenum">
              <a:rPr lang="zh-CN" altLang="en-US" smtClean="0"/>
              <a:t>33</a:t>
            </a:fld>
            <a:endParaRPr lang="zh-CN" altLang="en-US"/>
          </a:p>
        </p:txBody>
      </p:sp>
      <p:sp>
        <p:nvSpPr>
          <p:cNvPr id="38" name="标题 37"/>
          <p:cNvSpPr>
            <a:spLocks noGrp="1"/>
          </p:cNvSpPr>
          <p:nvPr>
            <p:ph type="title"/>
          </p:nvPr>
        </p:nvSpPr>
        <p:spPr/>
        <p:txBody>
          <a:bodyPr/>
          <a:lstStyle/>
          <a:p>
            <a:r>
              <a:rPr lang="zh-CN" altLang="en-US" dirty="0"/>
              <a:t>条件覆盖</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399541" y="2287540"/>
            <a:ext cx="9366885" cy="3517900"/>
          </a:xfrm>
          <a:prstGeom prst="rect">
            <a:avLst/>
          </a:prstGeom>
        </p:spPr>
        <p:txBody>
          <a:bodyPr vert="horz" wrap="square" lIns="0" tIns="198120" rIns="0" bIns="0" rtlCol="0">
            <a:spAutoFit/>
          </a:bodyPr>
          <a:lstStyle/>
          <a:p>
            <a:pPr marL="12700">
              <a:lnSpc>
                <a:spcPct val="100000"/>
              </a:lnSpc>
              <a:spcBef>
                <a:spcPts val="1560"/>
              </a:spcBef>
            </a:pPr>
            <a:r>
              <a:rPr sz="2200" dirty="0">
                <a:solidFill>
                  <a:srgbClr val="0033CC"/>
                </a:solidFill>
                <a:latin typeface="微软雅黑" panose="020B0503020204020204" pitchFamily="34" charset="-122"/>
                <a:cs typeface="微软雅黑" panose="020B0503020204020204" pitchFamily="34" charset="-122"/>
              </a:rPr>
              <a:t>测试用例</a:t>
            </a:r>
            <a:r>
              <a:rPr sz="2200" dirty="0">
                <a:solidFill>
                  <a:srgbClr val="004DD6"/>
                </a:solidFill>
                <a:latin typeface="微软雅黑" panose="020B0503020204020204" pitchFamily="34" charset="-122"/>
                <a:cs typeface="微软雅黑" panose="020B0503020204020204" pitchFamily="34" charset="-122"/>
              </a:rPr>
              <a:t>：</a:t>
            </a:r>
            <a:endParaRPr sz="2200">
              <a:latin typeface="微软雅黑" panose="020B0503020204020204" pitchFamily="34" charset="-122"/>
              <a:cs typeface="微软雅黑" panose="020B0503020204020204" pitchFamily="34" charset="-122"/>
            </a:endParaRPr>
          </a:p>
          <a:p>
            <a:pPr marL="12700" marR="1748155">
              <a:lnSpc>
                <a:spcPct val="133000"/>
              </a:lnSpc>
              <a:spcBef>
                <a:spcPts val="600"/>
              </a:spcBef>
              <a:tabLst>
                <a:tab pos="7051675" algn="l"/>
              </a:tabLst>
            </a:pPr>
            <a:r>
              <a:rPr sz="2200" dirty="0">
                <a:latin typeface="微软雅黑" panose="020B0503020204020204" pitchFamily="34" charset="-122"/>
                <a:cs typeface="微软雅黑" panose="020B0503020204020204" pitchFamily="34" charset="-122"/>
              </a:rPr>
              <a:t>输入： </a:t>
            </a:r>
            <a:r>
              <a:rPr sz="2200" b="1" dirty="0">
                <a:latin typeface="Courier New" panose="02070309020205020404"/>
                <a:cs typeface="Courier New" panose="02070309020205020404"/>
              </a:rPr>
              <a:t>a=2,b=-1,c=-</a:t>
            </a:r>
            <a:r>
              <a:rPr sz="2200" b="1" spc="-5" dirty="0">
                <a:latin typeface="Courier New" panose="02070309020205020404"/>
                <a:cs typeface="Courier New" panose="02070309020205020404"/>
              </a:rPr>
              <a:t>2</a:t>
            </a:r>
            <a:r>
              <a:rPr sz="2200" dirty="0">
                <a:latin typeface="微软雅黑" panose="020B0503020204020204" pitchFamily="34" charset="-122"/>
                <a:cs typeface="微软雅黑" panose="020B0503020204020204" pitchFamily="34" charset="-122"/>
              </a:rPr>
              <a:t>，覆盖 </a:t>
            </a:r>
            <a:r>
              <a:rPr sz="2200" b="1" dirty="0">
                <a:latin typeface="Courier New" panose="02070309020205020404"/>
                <a:cs typeface="Courier New" panose="02070309020205020404"/>
              </a:rPr>
              <a:t>a&gt;0,b&lt;=0,a&gt;1,c&lt;=1	</a:t>
            </a:r>
            <a:r>
              <a:rPr sz="2200" dirty="0">
                <a:latin typeface="微软雅黑" panose="020B0503020204020204" pitchFamily="34" charset="-122"/>
                <a:cs typeface="微软雅黑" panose="020B0503020204020204" pitchFamily="34" charset="-122"/>
              </a:rPr>
              <a:t>条件 输入</a:t>
            </a:r>
            <a:r>
              <a:rPr sz="2200" spc="-5" dirty="0">
                <a:latin typeface="微软雅黑" panose="020B0503020204020204" pitchFamily="34" charset="-122"/>
                <a:cs typeface="微软雅黑" panose="020B0503020204020204" pitchFamily="34" charset="-122"/>
              </a:rPr>
              <a:t>：</a:t>
            </a:r>
            <a:r>
              <a:rPr sz="2200" b="1" spc="-5" dirty="0">
                <a:latin typeface="Courier New" panose="02070309020205020404"/>
                <a:cs typeface="Courier New" panose="02070309020205020404"/>
              </a:rPr>
              <a:t>a=-1,b=2,c=3</a:t>
            </a:r>
            <a:r>
              <a:rPr sz="2200" spc="-5" dirty="0">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覆盖</a:t>
            </a:r>
            <a:r>
              <a:rPr sz="2200" spc="-5" dirty="0">
                <a:latin typeface="微软雅黑" panose="020B0503020204020204" pitchFamily="34" charset="-122"/>
                <a:cs typeface="微软雅黑" panose="020B0503020204020204" pitchFamily="34" charset="-122"/>
              </a:rPr>
              <a:t> </a:t>
            </a:r>
            <a:r>
              <a:rPr sz="2200" b="1" spc="-5" dirty="0">
                <a:latin typeface="Courier New" panose="02070309020205020404"/>
                <a:cs typeface="Courier New" panose="02070309020205020404"/>
              </a:rPr>
              <a:t>a&lt;=0,b&gt;0,a&lt;=1,c&gt;1</a:t>
            </a:r>
            <a:r>
              <a:rPr sz="2200" b="1" spc="-10" dirty="0">
                <a:latin typeface="Courier New" panose="02070309020205020404"/>
                <a:cs typeface="Courier New" panose="02070309020205020404"/>
              </a:rPr>
              <a:t> </a:t>
            </a:r>
            <a:r>
              <a:rPr sz="2200" dirty="0">
                <a:latin typeface="微软雅黑" panose="020B0503020204020204" pitchFamily="34" charset="-122"/>
                <a:cs typeface="微软雅黑" panose="020B0503020204020204" pitchFamily="34" charset="-122"/>
              </a:rPr>
              <a:t>条件</a:t>
            </a:r>
            <a:endParaRPr sz="2200">
              <a:latin typeface="微软雅黑" panose="020B0503020204020204" pitchFamily="34" charset="-122"/>
              <a:cs typeface="微软雅黑" panose="020B0503020204020204" pitchFamily="34" charset="-122"/>
            </a:endParaRPr>
          </a:p>
          <a:p>
            <a:pPr marL="12700">
              <a:lnSpc>
                <a:spcPct val="100000"/>
              </a:lnSpc>
              <a:spcBef>
                <a:spcPts val="2660"/>
              </a:spcBef>
            </a:pPr>
            <a:r>
              <a:rPr sz="2200" dirty="0">
                <a:solidFill>
                  <a:srgbClr val="0033CC"/>
                </a:solidFill>
                <a:latin typeface="微软雅黑" panose="020B0503020204020204" pitchFamily="34" charset="-122"/>
                <a:cs typeface="微软雅黑" panose="020B0503020204020204" pitchFamily="34" charset="-122"/>
              </a:rPr>
              <a:t>问题分析</a:t>
            </a:r>
            <a:r>
              <a:rPr sz="2200" dirty="0">
                <a:solidFill>
                  <a:srgbClr val="004DD6"/>
                </a:solidFill>
                <a:latin typeface="微软雅黑" panose="020B0503020204020204" pitchFamily="34" charset="-122"/>
                <a:cs typeface="微软雅黑" panose="020B0503020204020204" pitchFamily="34" charset="-122"/>
              </a:rPr>
              <a:t>：</a:t>
            </a:r>
            <a:endParaRPr sz="2200">
              <a:latin typeface="微软雅黑" panose="020B0503020204020204" pitchFamily="34" charset="-122"/>
              <a:cs typeface="微软雅黑" panose="020B0503020204020204" pitchFamily="34" charset="-122"/>
            </a:endParaRPr>
          </a:p>
          <a:p>
            <a:pPr marL="12700" marR="5080">
              <a:lnSpc>
                <a:spcPct val="110000"/>
              </a:lnSpc>
              <a:spcBef>
                <a:spcPts val="1200"/>
              </a:spcBef>
            </a:pPr>
            <a:r>
              <a:rPr sz="2200" spc="15" dirty="0">
                <a:latin typeface="微软雅黑" panose="020B0503020204020204" pitchFamily="34" charset="-122"/>
                <a:cs typeface="微软雅黑" panose="020B0503020204020204" pitchFamily="34" charset="-122"/>
              </a:rPr>
              <a:t>条件覆盖不一定包含判定覆盖，例如上面测试用例就没有覆盖判断</a:t>
            </a:r>
            <a:r>
              <a:rPr sz="2200" spc="15" dirty="0">
                <a:latin typeface="Arial" panose="020B0604020202020204"/>
                <a:cs typeface="Arial" panose="020B0604020202020204"/>
              </a:rPr>
              <a:t>1</a:t>
            </a:r>
            <a:r>
              <a:rPr sz="2200" spc="15" dirty="0">
                <a:latin typeface="微软雅黑" panose="020B0503020204020204" pitchFamily="34" charset="-122"/>
                <a:cs typeface="微软雅黑" panose="020B0503020204020204" pitchFamily="34" charset="-122"/>
              </a:rPr>
              <a:t>的</a:t>
            </a:r>
            <a:r>
              <a:rPr sz="2200" spc="15" dirty="0">
                <a:latin typeface="Arial" panose="020B0604020202020204"/>
                <a:cs typeface="Arial" panose="020B0604020202020204"/>
              </a:rPr>
              <a:t>T</a:t>
            </a:r>
            <a:r>
              <a:rPr sz="2200" spc="15" dirty="0">
                <a:latin typeface="微软雅黑" panose="020B0503020204020204" pitchFamily="34" charset="-122"/>
                <a:cs typeface="微软雅黑" panose="020B0503020204020204" pitchFamily="34" charset="-122"/>
              </a:rPr>
              <a:t>分支 </a:t>
            </a:r>
            <a:r>
              <a:rPr sz="2200" dirty="0">
                <a:latin typeface="微软雅黑" panose="020B0503020204020204" pitchFamily="34" charset="-122"/>
                <a:cs typeface="微软雅黑" panose="020B0503020204020204" pitchFamily="34" charset="-122"/>
              </a:rPr>
              <a:t>和判断</a:t>
            </a:r>
            <a:r>
              <a:rPr sz="2200" dirty="0">
                <a:latin typeface="Arial" panose="020B0604020202020204"/>
                <a:cs typeface="Arial" panose="020B0604020202020204"/>
              </a:rPr>
              <a:t>2</a:t>
            </a:r>
            <a:r>
              <a:rPr sz="2200" dirty="0">
                <a:latin typeface="微软雅黑" panose="020B0503020204020204" pitchFamily="34" charset="-122"/>
                <a:cs typeface="微软雅黑" panose="020B0503020204020204" pitchFamily="34" charset="-122"/>
              </a:rPr>
              <a:t>的</a:t>
            </a:r>
            <a:r>
              <a:rPr sz="2200" spc="-5" dirty="0">
                <a:latin typeface="微软雅黑" panose="020B0503020204020204" pitchFamily="34" charset="-122"/>
                <a:cs typeface="微软雅黑" panose="020B0503020204020204" pitchFamily="34" charset="-122"/>
              </a:rPr>
              <a:t> </a:t>
            </a:r>
            <a:r>
              <a:rPr sz="2200" dirty="0">
                <a:latin typeface="Arial" panose="020B0604020202020204"/>
                <a:cs typeface="Arial" panose="020B0604020202020204"/>
              </a:rPr>
              <a:t>F</a:t>
            </a:r>
            <a:r>
              <a:rPr sz="2200" dirty="0">
                <a:latin typeface="微软雅黑" panose="020B0503020204020204" pitchFamily="34" charset="-122"/>
                <a:cs typeface="微软雅黑" panose="020B0503020204020204" pitchFamily="34" charset="-122"/>
              </a:rPr>
              <a:t>分支。</a:t>
            </a:r>
            <a:endParaRPr sz="2200">
              <a:latin typeface="微软雅黑" panose="020B0503020204020204" pitchFamily="34" charset="-122"/>
              <a:cs typeface="微软雅黑" panose="020B0503020204020204" pitchFamily="34" charset="-122"/>
            </a:endParaRPr>
          </a:p>
          <a:p>
            <a:pPr marL="12700">
              <a:lnSpc>
                <a:spcPct val="100000"/>
              </a:lnSpc>
              <a:spcBef>
                <a:spcPts val="860"/>
              </a:spcBef>
            </a:pPr>
            <a:r>
              <a:rPr sz="2200" dirty="0">
                <a:solidFill>
                  <a:srgbClr val="C00000"/>
                </a:solidFill>
                <a:latin typeface="微软雅黑" panose="020B0503020204020204" pitchFamily="34" charset="-122"/>
                <a:cs typeface="微软雅黑" panose="020B0503020204020204" pitchFamily="34" charset="-122"/>
              </a:rPr>
              <a:t>条件覆盖只能保证每个条件至少有一次为真</a:t>
            </a:r>
            <a:r>
              <a:rPr sz="2200" dirty="0">
                <a:solidFill>
                  <a:srgbClr val="CE1C00"/>
                </a:solidFill>
                <a:latin typeface="微软雅黑" panose="020B0503020204020204" pitchFamily="34" charset="-122"/>
                <a:cs typeface="微软雅黑" panose="020B0503020204020204" pitchFamily="34" charset="-122"/>
              </a:rPr>
              <a:t>，</a:t>
            </a:r>
            <a:r>
              <a:rPr sz="2200" dirty="0">
                <a:solidFill>
                  <a:srgbClr val="C00000"/>
                </a:solidFill>
                <a:latin typeface="微软雅黑" panose="020B0503020204020204" pitchFamily="34" charset="-122"/>
                <a:cs typeface="微软雅黑" panose="020B0503020204020204" pitchFamily="34" charset="-122"/>
              </a:rPr>
              <a:t>而没有考虑整个判定结果</a:t>
            </a:r>
            <a:r>
              <a:rPr sz="2200" dirty="0">
                <a:solidFill>
                  <a:srgbClr val="CE1C00"/>
                </a:solidFill>
                <a:latin typeface="微软雅黑" panose="020B0503020204020204" pitchFamily="34" charset="-122"/>
                <a:cs typeface="微软雅黑" panose="020B0503020204020204" pitchFamily="34" charset="-122"/>
              </a:rPr>
              <a:t>。</a:t>
            </a:r>
            <a:endParaRPr sz="2200">
              <a:latin typeface="微软雅黑" panose="020B0503020204020204" pitchFamily="34" charset="-122"/>
              <a:cs typeface="微软雅黑" panose="020B0503020204020204" pitchFamily="34" charset="-122"/>
            </a:endParaRPr>
          </a:p>
        </p:txBody>
      </p:sp>
      <p:sp>
        <p:nvSpPr>
          <p:cNvPr id="4" name="object 4"/>
          <p:cNvSpPr txBox="1"/>
          <p:nvPr/>
        </p:nvSpPr>
        <p:spPr>
          <a:xfrm>
            <a:off x="1224340" y="1594799"/>
            <a:ext cx="9714865" cy="688975"/>
          </a:xfrm>
          <a:prstGeom prst="rect">
            <a:avLst/>
          </a:prstGeom>
          <a:solidFill>
            <a:srgbClr val="797BA9"/>
          </a:solidFill>
        </p:spPr>
        <p:txBody>
          <a:bodyPr vert="horz" wrap="square" lIns="0" tIns="191770" rIns="0" bIns="0" rtlCol="0">
            <a:spAutoFit/>
          </a:bodyPr>
          <a:lstStyle/>
          <a:p>
            <a:pPr marL="285115" algn="ctr">
              <a:lnSpc>
                <a:spcPct val="100000"/>
              </a:lnSpc>
              <a:spcBef>
                <a:spcPts val="1510"/>
              </a:spcBef>
            </a:pPr>
            <a:r>
              <a:rPr sz="2200" dirty="0">
                <a:solidFill>
                  <a:srgbClr val="FFFFFF"/>
                </a:solidFill>
                <a:latin typeface="微软雅黑" panose="020B0503020204020204" pitchFamily="34" charset="-122"/>
                <a:cs typeface="微软雅黑" panose="020B0503020204020204" pitchFamily="34" charset="-122"/>
              </a:rPr>
              <a:t>每个判断中每个条件的可能取值至少满足一次。</a:t>
            </a:r>
            <a:endParaRPr sz="2200">
              <a:latin typeface="微软雅黑" panose="020B0503020204020204" pitchFamily="34" charset="-122"/>
              <a:cs typeface="微软雅黑" panose="020B0503020204020204" pitchFamily="34" charset="-122"/>
            </a:endParaRPr>
          </a:p>
        </p:txBody>
      </p:sp>
      <p:sp>
        <p:nvSpPr>
          <p:cNvPr id="5" name="灯片编号占位符 4"/>
          <p:cNvSpPr>
            <a:spLocks noGrp="1"/>
          </p:cNvSpPr>
          <p:nvPr>
            <p:ph type="sldNum" sz="quarter" idx="12"/>
          </p:nvPr>
        </p:nvSpPr>
        <p:spPr/>
        <p:txBody>
          <a:bodyPr/>
          <a:lstStyle/>
          <a:p>
            <a:fld id="{74D2AB8B-5816-41F2-8B4B-CA5C3E4E6A65}" type="slidenum">
              <a:rPr lang="zh-CN" altLang="en-US" smtClean="0"/>
              <a:t>34</a:t>
            </a:fld>
            <a:endParaRPr lang="zh-CN" altLang="en-US"/>
          </a:p>
        </p:txBody>
      </p:sp>
      <p:sp>
        <p:nvSpPr>
          <p:cNvPr id="7" name="标题 6"/>
          <p:cNvSpPr>
            <a:spLocks noGrp="1"/>
          </p:cNvSpPr>
          <p:nvPr>
            <p:ph type="title"/>
          </p:nvPr>
        </p:nvSpPr>
        <p:spPr/>
        <p:txBody>
          <a:bodyPr/>
          <a:lstStyle/>
          <a:p>
            <a:r>
              <a:rPr lang="zh-CN" altLang="en-US" dirty="0"/>
              <a:t>条件覆盖</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015999" y="1548000"/>
            <a:ext cx="10245090" cy="688975"/>
          </a:xfrm>
          <a:custGeom>
            <a:avLst/>
            <a:gdLst/>
            <a:ahLst/>
            <a:cxnLst/>
            <a:rect l="l" t="t" r="r" b="b"/>
            <a:pathLst>
              <a:path w="10245090" h="688975">
                <a:moveTo>
                  <a:pt x="0" y="0"/>
                </a:moveTo>
                <a:lnTo>
                  <a:pt x="10244665" y="0"/>
                </a:lnTo>
                <a:lnTo>
                  <a:pt x="10244665" y="688558"/>
                </a:lnTo>
                <a:lnTo>
                  <a:pt x="0" y="688558"/>
                </a:lnTo>
                <a:lnTo>
                  <a:pt x="0" y="0"/>
                </a:lnTo>
                <a:close/>
              </a:path>
            </a:pathLst>
          </a:custGeom>
          <a:solidFill>
            <a:srgbClr val="797BA9"/>
          </a:solidFill>
        </p:spPr>
        <p:txBody>
          <a:bodyPr wrap="square" lIns="0" tIns="0" rIns="0" bIns="0" rtlCol="0"/>
          <a:lstStyle/>
          <a:p>
            <a:endParaRPr/>
          </a:p>
        </p:txBody>
      </p:sp>
      <p:sp>
        <p:nvSpPr>
          <p:cNvPr id="4" name="object 4"/>
          <p:cNvSpPr txBox="1"/>
          <p:nvPr/>
        </p:nvSpPr>
        <p:spPr>
          <a:xfrm>
            <a:off x="1239143" y="1727119"/>
            <a:ext cx="10083800" cy="3930650"/>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FFFFFF"/>
                </a:solidFill>
                <a:latin typeface="微软雅黑" panose="020B0503020204020204" pitchFamily="34" charset="-122"/>
                <a:cs typeface="微软雅黑" panose="020B0503020204020204" pitchFamily="34" charset="-122"/>
              </a:rPr>
              <a:t>判断中所有条件的可能取值至少执行一次，且所有判断的可能结果至少执行一次。</a:t>
            </a:r>
            <a:endParaRPr sz="2200">
              <a:latin typeface="微软雅黑" panose="020B0503020204020204" pitchFamily="34" charset="-122"/>
              <a:cs typeface="微软雅黑" panose="020B0503020204020204" pitchFamily="34" charset="-122"/>
            </a:endParaRPr>
          </a:p>
          <a:p>
            <a:pPr>
              <a:lnSpc>
                <a:spcPct val="100000"/>
              </a:lnSpc>
              <a:spcBef>
                <a:spcPts val="25"/>
              </a:spcBef>
            </a:pPr>
            <a:endParaRPr sz="3250">
              <a:latin typeface="Times New Roman" panose="02020603050405020304"/>
              <a:cs typeface="Times New Roman" panose="02020603050405020304"/>
            </a:endParaRPr>
          </a:p>
          <a:p>
            <a:pPr marL="325755">
              <a:lnSpc>
                <a:spcPct val="100000"/>
              </a:lnSpc>
            </a:pPr>
            <a:r>
              <a:rPr sz="2200" dirty="0">
                <a:solidFill>
                  <a:srgbClr val="0033CC"/>
                </a:solidFill>
                <a:latin typeface="微软雅黑" panose="020B0503020204020204" pitchFamily="34" charset="-122"/>
                <a:cs typeface="微软雅黑" panose="020B0503020204020204" pitchFamily="34" charset="-122"/>
              </a:rPr>
              <a:t>测试用例</a:t>
            </a:r>
            <a:r>
              <a:rPr sz="2200" dirty="0">
                <a:solidFill>
                  <a:srgbClr val="004DD6"/>
                </a:solidFill>
                <a:latin typeface="微软雅黑" panose="020B0503020204020204" pitchFamily="34" charset="-122"/>
                <a:cs typeface="微软雅黑" panose="020B0503020204020204" pitchFamily="34" charset="-122"/>
              </a:rPr>
              <a:t>：</a:t>
            </a:r>
            <a:endParaRPr sz="2200">
              <a:latin typeface="微软雅黑" panose="020B0503020204020204" pitchFamily="34" charset="-122"/>
              <a:cs typeface="微软雅黑" panose="020B0503020204020204" pitchFamily="34" charset="-122"/>
            </a:endParaRPr>
          </a:p>
          <a:p>
            <a:pPr marL="325755">
              <a:lnSpc>
                <a:spcPct val="100000"/>
              </a:lnSpc>
              <a:spcBef>
                <a:spcPts val="1460"/>
              </a:spcBef>
            </a:pPr>
            <a:r>
              <a:rPr sz="2200" dirty="0">
                <a:latin typeface="微软雅黑" panose="020B0503020204020204" pitchFamily="34" charset="-122"/>
                <a:cs typeface="微软雅黑" panose="020B0503020204020204" pitchFamily="34" charset="-122"/>
              </a:rPr>
              <a:t>输入</a:t>
            </a:r>
            <a:r>
              <a:rPr sz="2200" spc="-5" dirty="0">
                <a:latin typeface="微软雅黑" panose="020B0503020204020204" pitchFamily="34" charset="-122"/>
                <a:cs typeface="微软雅黑" panose="020B0503020204020204" pitchFamily="34" charset="-122"/>
              </a:rPr>
              <a:t>：</a:t>
            </a:r>
            <a:r>
              <a:rPr sz="2200" b="1" spc="-5" dirty="0">
                <a:latin typeface="Courier New" panose="02070309020205020404"/>
                <a:cs typeface="Courier New" panose="02070309020205020404"/>
              </a:rPr>
              <a:t>a=2,b=1,c=6</a:t>
            </a:r>
            <a:r>
              <a:rPr sz="2200" spc="-5" dirty="0">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覆盖</a:t>
            </a:r>
            <a:r>
              <a:rPr sz="2200" spc="-5" dirty="0">
                <a:latin typeface="微软雅黑" panose="020B0503020204020204" pitchFamily="34" charset="-122"/>
                <a:cs typeface="微软雅黑" panose="020B0503020204020204" pitchFamily="34" charset="-122"/>
              </a:rPr>
              <a:t> </a:t>
            </a:r>
            <a:r>
              <a:rPr sz="2200" b="1" spc="-5" dirty="0">
                <a:latin typeface="Courier New" panose="02070309020205020404"/>
                <a:cs typeface="Courier New" panose="02070309020205020404"/>
              </a:rPr>
              <a:t>a&gt;0,b&gt;0,a&gt;1,c&gt;1</a:t>
            </a:r>
            <a:r>
              <a:rPr sz="2200" b="1" dirty="0">
                <a:latin typeface="Courier New" panose="02070309020205020404"/>
                <a:cs typeface="Courier New" panose="02070309020205020404"/>
              </a:rPr>
              <a:t> </a:t>
            </a:r>
            <a:r>
              <a:rPr sz="2200" dirty="0">
                <a:latin typeface="微软雅黑" panose="020B0503020204020204" pitchFamily="34" charset="-122"/>
                <a:cs typeface="微软雅黑" panose="020B0503020204020204" pitchFamily="34" charset="-122"/>
              </a:rPr>
              <a:t>且判断均为</a:t>
            </a:r>
            <a:r>
              <a:rPr sz="2200" dirty="0">
                <a:latin typeface="Calibri" panose="020F0502020204030204"/>
                <a:cs typeface="Calibri" panose="020F0502020204030204"/>
              </a:rPr>
              <a:t>T</a:t>
            </a:r>
            <a:endParaRPr sz="2200">
              <a:latin typeface="Calibri" panose="020F0502020204030204"/>
              <a:cs typeface="Calibri" panose="020F0502020204030204"/>
            </a:endParaRPr>
          </a:p>
          <a:p>
            <a:pPr marL="325755">
              <a:lnSpc>
                <a:spcPct val="100000"/>
              </a:lnSpc>
              <a:spcBef>
                <a:spcPts val="860"/>
              </a:spcBef>
            </a:pPr>
            <a:r>
              <a:rPr sz="2200" dirty="0">
                <a:latin typeface="微软雅黑" panose="020B0503020204020204" pitchFamily="34" charset="-122"/>
                <a:cs typeface="微软雅黑" panose="020B0503020204020204" pitchFamily="34" charset="-122"/>
              </a:rPr>
              <a:t>输入</a:t>
            </a:r>
            <a:r>
              <a:rPr sz="2200" spc="-5" dirty="0">
                <a:latin typeface="微软雅黑" panose="020B0503020204020204" pitchFamily="34" charset="-122"/>
                <a:cs typeface="微软雅黑" panose="020B0503020204020204" pitchFamily="34" charset="-122"/>
              </a:rPr>
              <a:t>：</a:t>
            </a:r>
            <a:r>
              <a:rPr sz="2200" b="1" spc="-5" dirty="0">
                <a:latin typeface="Courier New" panose="02070309020205020404"/>
                <a:cs typeface="Courier New" panose="02070309020205020404"/>
              </a:rPr>
              <a:t>a=-1,b=-2,c=-3</a:t>
            </a:r>
            <a:r>
              <a:rPr sz="2200" spc="-5" dirty="0">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覆盖</a:t>
            </a:r>
            <a:r>
              <a:rPr sz="2200" spc="5" dirty="0">
                <a:latin typeface="微软雅黑" panose="020B0503020204020204" pitchFamily="34" charset="-122"/>
                <a:cs typeface="微软雅黑" panose="020B0503020204020204" pitchFamily="34" charset="-122"/>
              </a:rPr>
              <a:t> </a:t>
            </a:r>
            <a:r>
              <a:rPr sz="2200" b="1" spc="-5" dirty="0">
                <a:latin typeface="Courier New" panose="02070309020205020404"/>
                <a:cs typeface="Courier New" panose="02070309020205020404"/>
              </a:rPr>
              <a:t>a&lt;=0,b&lt;=0,a&lt;=1,c&lt;=1</a:t>
            </a:r>
            <a:r>
              <a:rPr sz="2200" dirty="0">
                <a:latin typeface="微软雅黑" panose="020B0503020204020204" pitchFamily="34" charset="-122"/>
                <a:cs typeface="微软雅黑" panose="020B0503020204020204" pitchFamily="34" charset="-122"/>
              </a:rPr>
              <a:t>且判断均为</a:t>
            </a:r>
            <a:r>
              <a:rPr sz="2200" dirty="0">
                <a:latin typeface="Calibri" panose="020F0502020204030204"/>
                <a:cs typeface="Calibri" panose="020F0502020204030204"/>
              </a:rPr>
              <a:t>F</a:t>
            </a:r>
            <a:endParaRPr sz="2200">
              <a:latin typeface="Calibri" panose="020F0502020204030204"/>
              <a:cs typeface="Calibri" panose="020F0502020204030204"/>
            </a:endParaRPr>
          </a:p>
          <a:p>
            <a:pPr>
              <a:lnSpc>
                <a:spcPct val="100000"/>
              </a:lnSpc>
              <a:spcBef>
                <a:spcPts val="10"/>
              </a:spcBef>
            </a:pPr>
            <a:endParaRPr sz="3350">
              <a:latin typeface="Times New Roman" panose="02020603050405020304"/>
              <a:cs typeface="Times New Roman" panose="02020603050405020304"/>
            </a:endParaRPr>
          </a:p>
          <a:p>
            <a:pPr marL="325755">
              <a:lnSpc>
                <a:spcPct val="100000"/>
              </a:lnSpc>
            </a:pPr>
            <a:r>
              <a:rPr sz="2200" dirty="0">
                <a:solidFill>
                  <a:srgbClr val="0033CC"/>
                </a:solidFill>
                <a:latin typeface="微软雅黑" panose="020B0503020204020204" pitchFamily="34" charset="-122"/>
                <a:cs typeface="微软雅黑" panose="020B0503020204020204" pitchFamily="34" charset="-122"/>
              </a:rPr>
              <a:t>问题分析</a:t>
            </a:r>
            <a:r>
              <a:rPr sz="2200" dirty="0">
                <a:solidFill>
                  <a:srgbClr val="004DD6"/>
                </a:solidFill>
                <a:latin typeface="微软雅黑" panose="020B0503020204020204" pitchFamily="34" charset="-122"/>
                <a:cs typeface="微软雅黑" panose="020B0503020204020204" pitchFamily="34" charset="-122"/>
              </a:rPr>
              <a:t>：</a:t>
            </a:r>
            <a:endParaRPr sz="2200">
              <a:latin typeface="微软雅黑" panose="020B0503020204020204" pitchFamily="34" charset="-122"/>
              <a:cs typeface="微软雅黑" panose="020B0503020204020204" pitchFamily="34" charset="-122"/>
            </a:endParaRPr>
          </a:p>
          <a:p>
            <a:pPr marL="325755" marR="3044190">
              <a:lnSpc>
                <a:spcPct val="133000"/>
              </a:lnSpc>
              <a:spcBef>
                <a:spcPts val="600"/>
              </a:spcBef>
            </a:pPr>
            <a:r>
              <a:rPr sz="2200" dirty="0">
                <a:latin typeface="微软雅黑" panose="020B0503020204020204" pitchFamily="34" charset="-122"/>
                <a:cs typeface="微软雅黑" panose="020B0503020204020204" pitchFamily="34" charset="-122"/>
              </a:rPr>
              <a:t>判定条件覆盖能够同时满足判定、条件两种覆盖标准。 </a:t>
            </a:r>
            <a:r>
              <a:rPr sz="2200" dirty="0">
                <a:solidFill>
                  <a:srgbClr val="C00000"/>
                </a:solidFill>
                <a:latin typeface="微软雅黑" panose="020B0503020204020204" pitchFamily="34" charset="-122"/>
                <a:cs typeface="微软雅黑" panose="020B0503020204020204" pitchFamily="34" charset="-122"/>
              </a:rPr>
              <a:t>没有考虑条件的各种组合情况</a:t>
            </a:r>
            <a:r>
              <a:rPr sz="2200" dirty="0">
                <a:solidFill>
                  <a:srgbClr val="CE1C00"/>
                </a:solidFill>
                <a:latin typeface="微软雅黑" panose="020B0503020204020204" pitchFamily="34" charset="-122"/>
                <a:cs typeface="微软雅黑" panose="020B0503020204020204" pitchFamily="34" charset="-122"/>
              </a:rPr>
              <a:t>。</a:t>
            </a:r>
            <a:endParaRPr sz="2200">
              <a:latin typeface="微软雅黑" panose="020B0503020204020204" pitchFamily="34" charset="-122"/>
              <a:cs typeface="微软雅黑" panose="020B0503020204020204" pitchFamily="34" charset="-122"/>
            </a:endParaRPr>
          </a:p>
        </p:txBody>
      </p:sp>
      <p:sp>
        <p:nvSpPr>
          <p:cNvPr id="5" name="灯片编号占位符 4"/>
          <p:cNvSpPr>
            <a:spLocks noGrp="1"/>
          </p:cNvSpPr>
          <p:nvPr>
            <p:ph type="sldNum" sz="quarter" idx="12"/>
          </p:nvPr>
        </p:nvSpPr>
        <p:spPr/>
        <p:txBody>
          <a:bodyPr/>
          <a:lstStyle/>
          <a:p>
            <a:fld id="{74D2AB8B-5816-41F2-8B4B-CA5C3E4E6A65}" type="slidenum">
              <a:rPr lang="zh-CN" altLang="en-US" smtClean="0"/>
              <a:t>35</a:t>
            </a:fld>
            <a:endParaRPr lang="zh-CN" altLang="en-US"/>
          </a:p>
        </p:txBody>
      </p:sp>
      <p:sp>
        <p:nvSpPr>
          <p:cNvPr id="7" name="标题 6"/>
          <p:cNvSpPr>
            <a:spLocks noGrp="1"/>
          </p:cNvSpPr>
          <p:nvPr>
            <p:ph type="title"/>
          </p:nvPr>
        </p:nvSpPr>
        <p:spPr/>
        <p:txBody>
          <a:bodyPr/>
          <a:lstStyle/>
          <a:p>
            <a:r>
              <a:rPr lang="zh-CN" altLang="en-US" dirty="0"/>
              <a:t>判定条件覆盖</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24340" y="1465781"/>
            <a:ext cx="9714865" cy="1004569"/>
          </a:xfrm>
          <a:prstGeom prst="rect">
            <a:avLst/>
          </a:prstGeom>
          <a:solidFill>
            <a:srgbClr val="797BA9"/>
          </a:solidFill>
        </p:spPr>
        <p:txBody>
          <a:bodyPr vert="horz" wrap="square" lIns="0" tIns="102870" rIns="0" bIns="0" rtlCol="0">
            <a:spAutoFit/>
          </a:bodyPr>
          <a:lstStyle/>
          <a:p>
            <a:pPr marL="215900" marR="191135">
              <a:lnSpc>
                <a:spcPct val="110000"/>
              </a:lnSpc>
              <a:spcBef>
                <a:spcPts val="810"/>
              </a:spcBef>
            </a:pPr>
            <a:r>
              <a:rPr sz="2200" spc="85" dirty="0">
                <a:solidFill>
                  <a:srgbClr val="FFFFFF"/>
                </a:solidFill>
                <a:latin typeface="微软雅黑" panose="020B0503020204020204" pitchFamily="34" charset="-122"/>
                <a:cs typeface="微软雅黑" panose="020B0503020204020204" pitchFamily="34" charset="-122"/>
              </a:rPr>
              <a:t>判断中每个条件的所有可能取值组合至少执行一</a:t>
            </a:r>
            <a:r>
              <a:rPr sz="2200" spc="90" dirty="0">
                <a:solidFill>
                  <a:srgbClr val="FFFFFF"/>
                </a:solidFill>
                <a:latin typeface="微软雅黑" panose="020B0503020204020204" pitchFamily="34" charset="-122"/>
                <a:cs typeface="微软雅黑" panose="020B0503020204020204" pitchFamily="34" charset="-122"/>
              </a:rPr>
              <a:t>次</a:t>
            </a:r>
            <a:r>
              <a:rPr sz="2200" spc="85" dirty="0">
                <a:solidFill>
                  <a:srgbClr val="FFFFFF"/>
                </a:solidFill>
                <a:latin typeface="微软雅黑" panose="020B0503020204020204" pitchFamily="34" charset="-122"/>
                <a:cs typeface="微软雅黑" panose="020B0503020204020204" pitchFamily="34" charset="-122"/>
              </a:rPr>
              <a:t>，并且每个判断本身的 </a:t>
            </a:r>
            <a:r>
              <a:rPr sz="2200" dirty="0">
                <a:solidFill>
                  <a:srgbClr val="FFFFFF"/>
                </a:solidFill>
                <a:latin typeface="微软雅黑" panose="020B0503020204020204" pitchFamily="34" charset="-122"/>
                <a:cs typeface="微软雅黑" panose="020B0503020204020204" pitchFamily="34" charset="-122"/>
              </a:rPr>
              <a:t>结果也至少执行一次。</a:t>
            </a:r>
            <a:endParaRPr sz="2200">
              <a:latin typeface="微软雅黑" panose="020B0503020204020204" pitchFamily="34" charset="-122"/>
              <a:cs typeface="微软雅黑" panose="020B0503020204020204" pitchFamily="34" charset="-122"/>
            </a:endParaRPr>
          </a:p>
        </p:txBody>
      </p:sp>
      <p:graphicFrame>
        <p:nvGraphicFramePr>
          <p:cNvPr id="4" name="object 4"/>
          <p:cNvGraphicFramePr>
            <a:graphicFrameLocks noGrp="1"/>
          </p:cNvGraphicFramePr>
          <p:nvPr/>
        </p:nvGraphicFramePr>
        <p:xfrm>
          <a:off x="1659449" y="2738803"/>
          <a:ext cx="8723630" cy="3161402"/>
        </p:xfrm>
        <a:graphic>
          <a:graphicData uri="http://schemas.openxmlformats.org/drawingml/2006/table">
            <a:tbl>
              <a:tblPr firstRow="1" bandRow="1">
                <a:tableStyleId>{2D5ABB26-0587-4C30-8999-92F81FD0307C}</a:tableStyleId>
              </a:tblPr>
              <a:tblGrid>
                <a:gridCol w="1414145">
                  <a:extLst>
                    <a:ext uri="{9D8B030D-6E8A-4147-A177-3AD203B41FA5}">
                      <a16:colId xmlns:a16="http://schemas.microsoft.com/office/drawing/2014/main" val="20000"/>
                    </a:ext>
                  </a:extLst>
                </a:gridCol>
                <a:gridCol w="2099945">
                  <a:extLst>
                    <a:ext uri="{9D8B030D-6E8A-4147-A177-3AD203B41FA5}">
                      <a16:colId xmlns:a16="http://schemas.microsoft.com/office/drawing/2014/main" val="20001"/>
                    </a:ext>
                  </a:extLst>
                </a:gridCol>
                <a:gridCol w="2114550">
                  <a:extLst>
                    <a:ext uri="{9D8B030D-6E8A-4147-A177-3AD203B41FA5}">
                      <a16:colId xmlns:a16="http://schemas.microsoft.com/office/drawing/2014/main" val="20002"/>
                    </a:ext>
                  </a:extLst>
                </a:gridCol>
                <a:gridCol w="3094990">
                  <a:extLst>
                    <a:ext uri="{9D8B030D-6E8A-4147-A177-3AD203B41FA5}">
                      <a16:colId xmlns:a16="http://schemas.microsoft.com/office/drawing/2014/main" val="20003"/>
                    </a:ext>
                  </a:extLst>
                </a:gridCol>
              </a:tblGrid>
              <a:tr h="368736">
                <a:tc>
                  <a:txBody>
                    <a:bodyPr/>
                    <a:lstStyle/>
                    <a:p>
                      <a:pPr marL="5080" algn="ctr">
                        <a:lnSpc>
                          <a:spcPct val="100000"/>
                        </a:lnSpc>
                        <a:spcBef>
                          <a:spcPts val="370"/>
                        </a:spcBef>
                      </a:pPr>
                      <a:r>
                        <a:rPr sz="1800" dirty="0">
                          <a:latin typeface="微软雅黑" panose="020B0503020204020204" pitchFamily="34" charset="-122"/>
                          <a:cs typeface="微软雅黑" panose="020B0503020204020204" pitchFamily="34" charset="-122"/>
                        </a:rPr>
                        <a:t>组合编号</a:t>
                      </a:r>
                      <a:endParaRPr sz="1800">
                        <a:latin typeface="微软雅黑" panose="020B0503020204020204" pitchFamily="34" charset="-122"/>
                        <a:cs typeface="微软雅黑" panose="020B0503020204020204" pitchFamily="34" charset="-122"/>
                      </a:endParaRPr>
                    </a:p>
                  </a:txBody>
                  <a:tcPr marL="0" marR="0" marT="46990" marB="0">
                    <a:lnR w="12700">
                      <a:solidFill>
                        <a:srgbClr val="000000"/>
                      </a:solidFill>
                      <a:prstDash val="solid"/>
                    </a:lnR>
                    <a:lnT w="19050">
                      <a:solidFill>
                        <a:srgbClr val="000000"/>
                      </a:solidFill>
                      <a:prstDash val="solid"/>
                    </a:lnT>
                    <a:lnB w="12700">
                      <a:solidFill>
                        <a:srgbClr val="000000"/>
                      </a:solidFill>
                      <a:prstDash val="solid"/>
                    </a:lnB>
                    <a:solidFill>
                      <a:srgbClr val="ECEBEB"/>
                    </a:solidFill>
                  </a:tcPr>
                </a:tc>
                <a:tc>
                  <a:txBody>
                    <a:bodyPr/>
                    <a:lstStyle/>
                    <a:p>
                      <a:pPr marL="5080" algn="ctr">
                        <a:lnSpc>
                          <a:spcPct val="100000"/>
                        </a:lnSpc>
                        <a:spcBef>
                          <a:spcPts val="370"/>
                        </a:spcBef>
                      </a:pPr>
                      <a:r>
                        <a:rPr sz="1800" dirty="0">
                          <a:latin typeface="微软雅黑" panose="020B0503020204020204" pitchFamily="34" charset="-122"/>
                          <a:cs typeface="微软雅黑" panose="020B0503020204020204" pitchFamily="34" charset="-122"/>
                        </a:rPr>
                        <a:t>覆盖条件取值</a:t>
                      </a:r>
                      <a:endParaRPr sz="1800">
                        <a:latin typeface="微软雅黑" panose="020B0503020204020204" pitchFamily="34" charset="-122"/>
                        <a:cs typeface="微软雅黑" panose="020B0503020204020204" pitchFamily="34" charset="-122"/>
                      </a:endParaRPr>
                    </a:p>
                  </a:txBody>
                  <a:tcPr marL="0" marR="0" marT="4699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solidFill>
                      <a:srgbClr val="ECEBEB"/>
                    </a:solidFill>
                  </a:tcPr>
                </a:tc>
                <a:tc>
                  <a:txBody>
                    <a:bodyPr/>
                    <a:lstStyle/>
                    <a:p>
                      <a:pPr marL="5080" algn="ctr">
                        <a:lnSpc>
                          <a:spcPct val="100000"/>
                        </a:lnSpc>
                        <a:spcBef>
                          <a:spcPts val="370"/>
                        </a:spcBef>
                      </a:pPr>
                      <a:r>
                        <a:rPr sz="1800" dirty="0">
                          <a:latin typeface="微软雅黑" panose="020B0503020204020204" pitchFamily="34" charset="-122"/>
                          <a:cs typeface="微软雅黑" panose="020B0503020204020204" pitchFamily="34" charset="-122"/>
                        </a:rPr>
                        <a:t>判定条件取值</a:t>
                      </a:r>
                      <a:endParaRPr sz="1800">
                        <a:latin typeface="微软雅黑" panose="020B0503020204020204" pitchFamily="34" charset="-122"/>
                        <a:cs typeface="微软雅黑" panose="020B0503020204020204" pitchFamily="34" charset="-122"/>
                      </a:endParaRPr>
                    </a:p>
                  </a:txBody>
                  <a:tcPr marL="0" marR="0" marT="4699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solidFill>
                      <a:srgbClr val="ECEBEB"/>
                    </a:solidFill>
                  </a:tcPr>
                </a:tc>
                <a:tc>
                  <a:txBody>
                    <a:bodyPr/>
                    <a:lstStyle/>
                    <a:p>
                      <a:pPr marL="5715" algn="ctr">
                        <a:lnSpc>
                          <a:spcPct val="100000"/>
                        </a:lnSpc>
                        <a:spcBef>
                          <a:spcPts val="370"/>
                        </a:spcBef>
                      </a:pPr>
                      <a:r>
                        <a:rPr sz="1800" dirty="0">
                          <a:latin typeface="微软雅黑" panose="020B0503020204020204" pitchFamily="34" charset="-122"/>
                          <a:cs typeface="微软雅黑" panose="020B0503020204020204" pitchFamily="34" charset="-122"/>
                        </a:rPr>
                        <a:t>判定</a:t>
                      </a:r>
                      <a:r>
                        <a:rPr sz="1800" dirty="0">
                          <a:latin typeface="Arial" panose="020B0604020202020204"/>
                          <a:cs typeface="Arial" panose="020B0604020202020204"/>
                        </a:rPr>
                        <a:t>-</a:t>
                      </a:r>
                      <a:r>
                        <a:rPr sz="1800" dirty="0">
                          <a:latin typeface="微软雅黑" panose="020B0503020204020204" pitchFamily="34" charset="-122"/>
                          <a:cs typeface="微软雅黑" panose="020B0503020204020204" pitchFamily="34" charset="-122"/>
                        </a:rPr>
                        <a:t>条件组合</a:t>
                      </a:r>
                      <a:endParaRPr sz="1800">
                        <a:latin typeface="微软雅黑" panose="020B0503020204020204" pitchFamily="34" charset="-122"/>
                        <a:cs typeface="微软雅黑" panose="020B0503020204020204" pitchFamily="34" charset="-122"/>
                      </a:endParaRPr>
                    </a:p>
                  </a:txBody>
                  <a:tcPr marL="0" marR="0" marT="46990" marB="0">
                    <a:lnL w="12700">
                      <a:solidFill>
                        <a:srgbClr val="000000"/>
                      </a:solidFill>
                      <a:prstDash val="solid"/>
                    </a:lnL>
                    <a:lnT w="19050">
                      <a:solidFill>
                        <a:srgbClr val="000000"/>
                      </a:solidFill>
                      <a:prstDash val="solid"/>
                    </a:lnT>
                    <a:lnB w="12700">
                      <a:solidFill>
                        <a:srgbClr val="000000"/>
                      </a:solidFill>
                      <a:prstDash val="solid"/>
                    </a:lnB>
                    <a:solidFill>
                      <a:srgbClr val="ECEBEB"/>
                    </a:solidFill>
                  </a:tcPr>
                </a:tc>
                <a:extLst>
                  <a:ext uri="{0D108BD9-81ED-4DB2-BD59-A6C34878D82A}">
                    <a16:rowId xmlns:a16="http://schemas.microsoft.com/office/drawing/2014/main" val="10000"/>
                  </a:ext>
                </a:extLst>
              </a:tr>
              <a:tr h="349084">
                <a:tc>
                  <a:txBody>
                    <a:bodyPr/>
                    <a:lstStyle/>
                    <a:p>
                      <a:pPr marL="5080" algn="ctr">
                        <a:lnSpc>
                          <a:spcPct val="100000"/>
                        </a:lnSpc>
                        <a:spcBef>
                          <a:spcPts val="295"/>
                        </a:spcBef>
                      </a:pPr>
                      <a:r>
                        <a:rPr sz="1800" dirty="0">
                          <a:latin typeface="Arial" panose="020B0604020202020204"/>
                          <a:cs typeface="Arial" panose="020B0604020202020204"/>
                        </a:rPr>
                        <a:t>1</a:t>
                      </a:r>
                      <a:endParaRPr sz="1800">
                        <a:latin typeface="Arial" panose="020B0604020202020204"/>
                        <a:cs typeface="Arial" panose="020B0604020202020204"/>
                      </a:endParaRPr>
                    </a:p>
                  </a:txBody>
                  <a:tcPr marL="0" marR="0" marT="3746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080" algn="ctr">
                        <a:lnSpc>
                          <a:spcPct val="100000"/>
                        </a:lnSpc>
                        <a:spcBef>
                          <a:spcPts val="295"/>
                        </a:spcBef>
                      </a:pPr>
                      <a:r>
                        <a:rPr sz="1800" spc="-5" dirty="0">
                          <a:latin typeface="Arial" panose="020B0604020202020204"/>
                          <a:cs typeface="Arial" panose="020B0604020202020204"/>
                        </a:rPr>
                        <a:t>a&gt;0</a:t>
                      </a:r>
                      <a:r>
                        <a:rPr sz="1800" spc="-5" dirty="0">
                          <a:latin typeface="微软雅黑" panose="020B0503020204020204" pitchFamily="34" charset="-122"/>
                          <a:cs typeface="微软雅黑" panose="020B0503020204020204" pitchFamily="34" charset="-122"/>
                        </a:rPr>
                        <a:t>，</a:t>
                      </a:r>
                      <a:r>
                        <a:rPr sz="1800" spc="-5" dirty="0">
                          <a:latin typeface="Arial" panose="020B0604020202020204"/>
                          <a:cs typeface="Arial" panose="020B0604020202020204"/>
                        </a:rPr>
                        <a:t>b&gt;0</a:t>
                      </a:r>
                      <a:endParaRPr sz="1800">
                        <a:latin typeface="Arial" panose="020B0604020202020204"/>
                        <a:cs typeface="Arial" panose="020B0604020202020204"/>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080" algn="ctr">
                        <a:lnSpc>
                          <a:spcPct val="100000"/>
                        </a:lnSpc>
                        <a:spcBef>
                          <a:spcPts val="295"/>
                        </a:spcBef>
                      </a:pPr>
                      <a:r>
                        <a:rPr sz="1800" dirty="0">
                          <a:latin typeface="微软雅黑" panose="020B0503020204020204" pitchFamily="34" charset="-122"/>
                          <a:cs typeface="微软雅黑" panose="020B0503020204020204" pitchFamily="34" charset="-122"/>
                        </a:rPr>
                        <a:t>判断</a:t>
                      </a:r>
                      <a:r>
                        <a:rPr sz="1800" dirty="0">
                          <a:latin typeface="Arial" panose="020B0604020202020204"/>
                          <a:cs typeface="Arial" panose="020B0604020202020204"/>
                        </a:rPr>
                        <a:t>1</a:t>
                      </a:r>
                      <a:r>
                        <a:rPr sz="1800" dirty="0">
                          <a:latin typeface="微软雅黑" panose="020B0503020204020204" pitchFamily="34" charset="-122"/>
                          <a:cs typeface="微软雅黑" panose="020B0503020204020204" pitchFamily="34" charset="-122"/>
                        </a:rPr>
                        <a:t>取</a:t>
                      </a:r>
                      <a:r>
                        <a:rPr sz="1800" dirty="0">
                          <a:latin typeface="Arial" panose="020B0604020202020204"/>
                          <a:cs typeface="Arial" panose="020B0604020202020204"/>
                        </a:rPr>
                        <a:t>T</a:t>
                      </a:r>
                      <a:endParaRPr sz="1800">
                        <a:latin typeface="Arial" panose="020B0604020202020204"/>
                        <a:cs typeface="Arial" panose="020B0604020202020204"/>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715" algn="ctr">
                        <a:lnSpc>
                          <a:spcPct val="100000"/>
                        </a:lnSpc>
                        <a:spcBef>
                          <a:spcPts val="295"/>
                        </a:spcBef>
                      </a:pPr>
                      <a:r>
                        <a:rPr sz="1800" spc="-5" dirty="0">
                          <a:latin typeface="Arial" panose="020B0604020202020204"/>
                          <a:cs typeface="Arial" panose="020B0604020202020204"/>
                        </a:rPr>
                        <a:t>a&gt;0</a:t>
                      </a:r>
                      <a:r>
                        <a:rPr sz="1800" spc="-5" dirty="0">
                          <a:latin typeface="微软雅黑" panose="020B0503020204020204" pitchFamily="34" charset="-122"/>
                          <a:cs typeface="微软雅黑" panose="020B0503020204020204" pitchFamily="34" charset="-122"/>
                        </a:rPr>
                        <a:t>，</a:t>
                      </a:r>
                      <a:r>
                        <a:rPr sz="1800" spc="-5" dirty="0">
                          <a:latin typeface="Arial" panose="020B0604020202020204"/>
                          <a:cs typeface="Arial" panose="020B0604020202020204"/>
                        </a:rPr>
                        <a:t>b&gt;0</a:t>
                      </a:r>
                      <a:r>
                        <a:rPr sz="1800" spc="-5" dirty="0">
                          <a:latin typeface="微软雅黑" panose="020B0503020204020204" pitchFamily="34" charset="-122"/>
                          <a:cs typeface="微软雅黑" panose="020B0503020204020204" pitchFamily="34" charset="-122"/>
                        </a:rPr>
                        <a:t>，</a:t>
                      </a:r>
                      <a:r>
                        <a:rPr sz="1800" dirty="0">
                          <a:latin typeface="微软雅黑" panose="020B0503020204020204" pitchFamily="34" charset="-122"/>
                          <a:cs typeface="微软雅黑" panose="020B0503020204020204" pitchFamily="34" charset="-122"/>
                        </a:rPr>
                        <a:t>判断</a:t>
                      </a:r>
                      <a:r>
                        <a:rPr sz="1800" dirty="0">
                          <a:latin typeface="Arial" panose="020B0604020202020204"/>
                          <a:cs typeface="Arial" panose="020B0604020202020204"/>
                        </a:rPr>
                        <a:t>1</a:t>
                      </a:r>
                      <a:r>
                        <a:rPr sz="1800" dirty="0">
                          <a:latin typeface="微软雅黑" panose="020B0503020204020204" pitchFamily="34" charset="-122"/>
                          <a:cs typeface="微软雅黑" panose="020B0503020204020204" pitchFamily="34" charset="-122"/>
                        </a:rPr>
                        <a:t>取</a:t>
                      </a:r>
                      <a:r>
                        <a:rPr sz="1800" dirty="0">
                          <a:latin typeface="Arial" panose="020B0604020202020204"/>
                          <a:cs typeface="Arial" panose="020B0604020202020204"/>
                        </a:rPr>
                        <a:t>T</a:t>
                      </a:r>
                      <a:endParaRPr sz="1800">
                        <a:latin typeface="Arial" panose="020B0604020202020204"/>
                        <a:cs typeface="Arial" panose="020B0604020202020204"/>
                      </a:endParaRPr>
                    </a:p>
                  </a:txBody>
                  <a:tcPr marL="0" marR="0" marT="37465"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49084">
                <a:tc>
                  <a:txBody>
                    <a:bodyPr/>
                    <a:lstStyle/>
                    <a:p>
                      <a:pPr marL="5080" algn="ctr">
                        <a:lnSpc>
                          <a:spcPct val="100000"/>
                        </a:lnSpc>
                        <a:spcBef>
                          <a:spcPts val="295"/>
                        </a:spcBef>
                      </a:pPr>
                      <a:r>
                        <a:rPr sz="1800" dirty="0">
                          <a:latin typeface="Arial" panose="020B0604020202020204"/>
                          <a:cs typeface="Arial" panose="020B0604020202020204"/>
                        </a:rPr>
                        <a:t>2</a:t>
                      </a:r>
                      <a:endParaRPr sz="1800">
                        <a:latin typeface="Arial" panose="020B0604020202020204"/>
                        <a:cs typeface="Arial" panose="020B0604020202020204"/>
                      </a:endParaRPr>
                    </a:p>
                  </a:txBody>
                  <a:tcPr marL="0" marR="0" marT="3746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080" algn="ctr">
                        <a:lnSpc>
                          <a:spcPct val="100000"/>
                        </a:lnSpc>
                        <a:spcBef>
                          <a:spcPts val="295"/>
                        </a:spcBef>
                      </a:pPr>
                      <a:r>
                        <a:rPr sz="1800" spc="-5" dirty="0">
                          <a:latin typeface="Arial" panose="020B0604020202020204"/>
                          <a:cs typeface="Arial" panose="020B0604020202020204"/>
                        </a:rPr>
                        <a:t>a&gt;0</a:t>
                      </a:r>
                      <a:r>
                        <a:rPr sz="1800" spc="-5" dirty="0">
                          <a:latin typeface="微软雅黑" panose="020B0503020204020204" pitchFamily="34" charset="-122"/>
                          <a:cs typeface="微软雅黑" panose="020B0503020204020204" pitchFamily="34" charset="-122"/>
                        </a:rPr>
                        <a:t>，</a:t>
                      </a:r>
                      <a:r>
                        <a:rPr sz="1800" spc="-5" dirty="0">
                          <a:latin typeface="Arial" panose="020B0604020202020204"/>
                          <a:cs typeface="Arial" panose="020B0604020202020204"/>
                        </a:rPr>
                        <a:t>b&lt;=0</a:t>
                      </a:r>
                      <a:endParaRPr sz="1800">
                        <a:latin typeface="Arial" panose="020B0604020202020204"/>
                        <a:cs typeface="Arial" panose="020B0604020202020204"/>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080" algn="ctr">
                        <a:lnSpc>
                          <a:spcPct val="100000"/>
                        </a:lnSpc>
                        <a:spcBef>
                          <a:spcPts val="295"/>
                        </a:spcBef>
                      </a:pPr>
                      <a:r>
                        <a:rPr sz="1800" dirty="0">
                          <a:latin typeface="微软雅黑" panose="020B0503020204020204" pitchFamily="34" charset="-122"/>
                          <a:cs typeface="微软雅黑" panose="020B0503020204020204" pitchFamily="34" charset="-122"/>
                        </a:rPr>
                        <a:t>判断</a:t>
                      </a:r>
                      <a:r>
                        <a:rPr sz="1800" dirty="0">
                          <a:latin typeface="Arial" panose="020B0604020202020204"/>
                          <a:cs typeface="Arial" panose="020B0604020202020204"/>
                        </a:rPr>
                        <a:t>1</a:t>
                      </a:r>
                      <a:r>
                        <a:rPr sz="1800" dirty="0">
                          <a:latin typeface="微软雅黑" panose="020B0503020204020204" pitchFamily="34" charset="-122"/>
                          <a:cs typeface="微软雅黑" panose="020B0503020204020204" pitchFamily="34" charset="-122"/>
                        </a:rPr>
                        <a:t>取</a:t>
                      </a:r>
                      <a:r>
                        <a:rPr sz="1800" dirty="0">
                          <a:latin typeface="Arial" panose="020B0604020202020204"/>
                          <a:cs typeface="Arial" panose="020B0604020202020204"/>
                        </a:rPr>
                        <a:t>F</a:t>
                      </a:r>
                      <a:endParaRPr sz="1800">
                        <a:latin typeface="Arial" panose="020B0604020202020204"/>
                        <a:cs typeface="Arial" panose="020B0604020202020204"/>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715" algn="ctr">
                        <a:lnSpc>
                          <a:spcPct val="100000"/>
                        </a:lnSpc>
                        <a:spcBef>
                          <a:spcPts val="295"/>
                        </a:spcBef>
                      </a:pPr>
                      <a:r>
                        <a:rPr sz="1800" spc="-5" dirty="0">
                          <a:latin typeface="Arial" panose="020B0604020202020204"/>
                          <a:cs typeface="Arial" panose="020B0604020202020204"/>
                        </a:rPr>
                        <a:t>a&gt;0</a:t>
                      </a:r>
                      <a:r>
                        <a:rPr sz="1800" spc="-5" dirty="0">
                          <a:latin typeface="微软雅黑" panose="020B0503020204020204" pitchFamily="34" charset="-122"/>
                          <a:cs typeface="微软雅黑" panose="020B0503020204020204" pitchFamily="34" charset="-122"/>
                        </a:rPr>
                        <a:t>，</a:t>
                      </a:r>
                      <a:r>
                        <a:rPr sz="1800" spc="-5" dirty="0">
                          <a:latin typeface="Arial" panose="020B0604020202020204"/>
                          <a:cs typeface="Arial" panose="020B0604020202020204"/>
                        </a:rPr>
                        <a:t>b&lt;=0</a:t>
                      </a:r>
                      <a:r>
                        <a:rPr sz="1800" spc="-5" dirty="0">
                          <a:latin typeface="微软雅黑" panose="020B0503020204020204" pitchFamily="34" charset="-122"/>
                          <a:cs typeface="微软雅黑" panose="020B0503020204020204" pitchFamily="34" charset="-122"/>
                        </a:rPr>
                        <a:t>，</a:t>
                      </a:r>
                      <a:r>
                        <a:rPr sz="1800" dirty="0">
                          <a:latin typeface="微软雅黑" panose="020B0503020204020204" pitchFamily="34" charset="-122"/>
                          <a:cs typeface="微软雅黑" panose="020B0503020204020204" pitchFamily="34" charset="-122"/>
                        </a:rPr>
                        <a:t>判断</a:t>
                      </a:r>
                      <a:r>
                        <a:rPr sz="1800" dirty="0">
                          <a:latin typeface="Arial" panose="020B0604020202020204"/>
                          <a:cs typeface="Arial" panose="020B0604020202020204"/>
                        </a:rPr>
                        <a:t>1</a:t>
                      </a:r>
                      <a:r>
                        <a:rPr sz="1800" dirty="0">
                          <a:latin typeface="微软雅黑" panose="020B0503020204020204" pitchFamily="34" charset="-122"/>
                          <a:cs typeface="微软雅黑" panose="020B0503020204020204" pitchFamily="34" charset="-122"/>
                        </a:rPr>
                        <a:t>取</a:t>
                      </a:r>
                      <a:r>
                        <a:rPr sz="1800" dirty="0">
                          <a:latin typeface="Arial" panose="020B0604020202020204"/>
                          <a:cs typeface="Arial" panose="020B0604020202020204"/>
                        </a:rPr>
                        <a:t>F</a:t>
                      </a:r>
                      <a:endParaRPr sz="1800">
                        <a:latin typeface="Arial" panose="020B0604020202020204"/>
                        <a:cs typeface="Arial" panose="020B0604020202020204"/>
                      </a:endParaRPr>
                    </a:p>
                  </a:txBody>
                  <a:tcPr marL="0" marR="0" marT="37465"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49083">
                <a:tc>
                  <a:txBody>
                    <a:bodyPr/>
                    <a:lstStyle/>
                    <a:p>
                      <a:pPr marL="5080" algn="ctr">
                        <a:lnSpc>
                          <a:spcPct val="100000"/>
                        </a:lnSpc>
                        <a:spcBef>
                          <a:spcPts val="295"/>
                        </a:spcBef>
                      </a:pPr>
                      <a:r>
                        <a:rPr sz="1800" dirty="0">
                          <a:latin typeface="Arial" panose="020B0604020202020204"/>
                          <a:cs typeface="Arial" panose="020B0604020202020204"/>
                        </a:rPr>
                        <a:t>3</a:t>
                      </a:r>
                      <a:endParaRPr sz="1800">
                        <a:latin typeface="Arial" panose="020B0604020202020204"/>
                        <a:cs typeface="Arial" panose="020B0604020202020204"/>
                      </a:endParaRPr>
                    </a:p>
                  </a:txBody>
                  <a:tcPr marL="0" marR="0" marT="3746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080" algn="ctr">
                        <a:lnSpc>
                          <a:spcPct val="100000"/>
                        </a:lnSpc>
                        <a:spcBef>
                          <a:spcPts val="295"/>
                        </a:spcBef>
                      </a:pPr>
                      <a:r>
                        <a:rPr sz="1800" spc="-5" dirty="0">
                          <a:latin typeface="Arial" panose="020B0604020202020204"/>
                          <a:cs typeface="Arial" panose="020B0604020202020204"/>
                        </a:rPr>
                        <a:t>a&lt;=0</a:t>
                      </a:r>
                      <a:r>
                        <a:rPr sz="1800" spc="-5" dirty="0">
                          <a:latin typeface="微软雅黑" panose="020B0503020204020204" pitchFamily="34" charset="-122"/>
                          <a:cs typeface="微软雅黑" panose="020B0503020204020204" pitchFamily="34" charset="-122"/>
                        </a:rPr>
                        <a:t>，</a:t>
                      </a:r>
                      <a:r>
                        <a:rPr sz="1800" spc="-5" dirty="0">
                          <a:latin typeface="Arial" panose="020B0604020202020204"/>
                          <a:cs typeface="Arial" panose="020B0604020202020204"/>
                        </a:rPr>
                        <a:t>b&gt;0</a:t>
                      </a:r>
                      <a:endParaRPr sz="1800">
                        <a:latin typeface="Arial" panose="020B0604020202020204"/>
                        <a:cs typeface="Arial" panose="020B0604020202020204"/>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080" algn="ctr">
                        <a:lnSpc>
                          <a:spcPct val="100000"/>
                        </a:lnSpc>
                        <a:spcBef>
                          <a:spcPts val="295"/>
                        </a:spcBef>
                      </a:pPr>
                      <a:r>
                        <a:rPr sz="1800" dirty="0">
                          <a:latin typeface="微软雅黑" panose="020B0503020204020204" pitchFamily="34" charset="-122"/>
                          <a:cs typeface="微软雅黑" panose="020B0503020204020204" pitchFamily="34" charset="-122"/>
                        </a:rPr>
                        <a:t>判断</a:t>
                      </a:r>
                      <a:r>
                        <a:rPr sz="1800" dirty="0">
                          <a:latin typeface="Arial" panose="020B0604020202020204"/>
                          <a:cs typeface="Arial" panose="020B0604020202020204"/>
                        </a:rPr>
                        <a:t>1</a:t>
                      </a:r>
                      <a:r>
                        <a:rPr sz="1800" dirty="0">
                          <a:latin typeface="微软雅黑" panose="020B0503020204020204" pitchFamily="34" charset="-122"/>
                          <a:cs typeface="微软雅黑" panose="020B0503020204020204" pitchFamily="34" charset="-122"/>
                        </a:rPr>
                        <a:t>取</a:t>
                      </a:r>
                      <a:r>
                        <a:rPr sz="1800" dirty="0">
                          <a:latin typeface="Arial" panose="020B0604020202020204"/>
                          <a:cs typeface="Arial" panose="020B0604020202020204"/>
                        </a:rPr>
                        <a:t>F</a:t>
                      </a:r>
                      <a:endParaRPr sz="1800">
                        <a:latin typeface="Arial" panose="020B0604020202020204"/>
                        <a:cs typeface="Arial" panose="020B0604020202020204"/>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715" algn="ctr">
                        <a:lnSpc>
                          <a:spcPct val="100000"/>
                        </a:lnSpc>
                        <a:spcBef>
                          <a:spcPts val="295"/>
                        </a:spcBef>
                      </a:pPr>
                      <a:r>
                        <a:rPr sz="1800" spc="-5" dirty="0">
                          <a:latin typeface="Arial" panose="020B0604020202020204"/>
                          <a:cs typeface="Arial" panose="020B0604020202020204"/>
                        </a:rPr>
                        <a:t>a&lt;=0</a:t>
                      </a:r>
                      <a:r>
                        <a:rPr sz="1800" spc="-5" dirty="0">
                          <a:latin typeface="微软雅黑" panose="020B0503020204020204" pitchFamily="34" charset="-122"/>
                          <a:cs typeface="微软雅黑" panose="020B0503020204020204" pitchFamily="34" charset="-122"/>
                        </a:rPr>
                        <a:t>，</a:t>
                      </a:r>
                      <a:r>
                        <a:rPr sz="1800" spc="-5" dirty="0">
                          <a:latin typeface="Arial" panose="020B0604020202020204"/>
                          <a:cs typeface="Arial" panose="020B0604020202020204"/>
                        </a:rPr>
                        <a:t>b&gt;0</a:t>
                      </a:r>
                      <a:r>
                        <a:rPr sz="1800" spc="-5" dirty="0">
                          <a:latin typeface="微软雅黑" panose="020B0503020204020204" pitchFamily="34" charset="-122"/>
                          <a:cs typeface="微软雅黑" panose="020B0503020204020204" pitchFamily="34" charset="-122"/>
                        </a:rPr>
                        <a:t>，</a:t>
                      </a:r>
                      <a:r>
                        <a:rPr sz="1800" dirty="0">
                          <a:latin typeface="微软雅黑" panose="020B0503020204020204" pitchFamily="34" charset="-122"/>
                          <a:cs typeface="微软雅黑" panose="020B0503020204020204" pitchFamily="34" charset="-122"/>
                        </a:rPr>
                        <a:t>判断</a:t>
                      </a:r>
                      <a:r>
                        <a:rPr sz="1800" dirty="0">
                          <a:latin typeface="Arial" panose="020B0604020202020204"/>
                          <a:cs typeface="Arial" panose="020B0604020202020204"/>
                        </a:rPr>
                        <a:t>1</a:t>
                      </a:r>
                      <a:r>
                        <a:rPr sz="1800" dirty="0">
                          <a:latin typeface="微软雅黑" panose="020B0503020204020204" pitchFamily="34" charset="-122"/>
                          <a:cs typeface="微软雅黑" panose="020B0503020204020204" pitchFamily="34" charset="-122"/>
                        </a:rPr>
                        <a:t>取</a:t>
                      </a:r>
                      <a:r>
                        <a:rPr sz="1800" dirty="0">
                          <a:latin typeface="Arial" panose="020B0604020202020204"/>
                          <a:cs typeface="Arial" panose="020B0604020202020204"/>
                        </a:rPr>
                        <a:t>F</a:t>
                      </a:r>
                      <a:endParaRPr sz="1800">
                        <a:latin typeface="Arial" panose="020B0604020202020204"/>
                        <a:cs typeface="Arial" panose="020B0604020202020204"/>
                      </a:endParaRPr>
                    </a:p>
                  </a:txBody>
                  <a:tcPr marL="0" marR="0" marT="37465"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49083">
                <a:tc>
                  <a:txBody>
                    <a:bodyPr/>
                    <a:lstStyle/>
                    <a:p>
                      <a:pPr marL="5080" algn="ctr">
                        <a:lnSpc>
                          <a:spcPct val="100000"/>
                        </a:lnSpc>
                        <a:spcBef>
                          <a:spcPts val="295"/>
                        </a:spcBef>
                      </a:pPr>
                      <a:r>
                        <a:rPr sz="1800" dirty="0">
                          <a:latin typeface="Arial" panose="020B0604020202020204"/>
                          <a:cs typeface="Arial" panose="020B0604020202020204"/>
                        </a:rPr>
                        <a:t>4</a:t>
                      </a:r>
                      <a:endParaRPr sz="1800">
                        <a:latin typeface="Arial" panose="020B0604020202020204"/>
                        <a:cs typeface="Arial" panose="020B0604020202020204"/>
                      </a:endParaRPr>
                    </a:p>
                  </a:txBody>
                  <a:tcPr marL="0" marR="0" marT="3746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080" algn="ctr">
                        <a:lnSpc>
                          <a:spcPct val="100000"/>
                        </a:lnSpc>
                        <a:spcBef>
                          <a:spcPts val="295"/>
                        </a:spcBef>
                      </a:pPr>
                      <a:r>
                        <a:rPr sz="1800" spc="-5" dirty="0">
                          <a:latin typeface="Arial" panose="020B0604020202020204"/>
                          <a:cs typeface="Arial" panose="020B0604020202020204"/>
                        </a:rPr>
                        <a:t>a&lt;=0</a:t>
                      </a:r>
                      <a:r>
                        <a:rPr sz="1800" spc="-5" dirty="0">
                          <a:latin typeface="微软雅黑" panose="020B0503020204020204" pitchFamily="34" charset="-122"/>
                          <a:cs typeface="微软雅黑" panose="020B0503020204020204" pitchFamily="34" charset="-122"/>
                        </a:rPr>
                        <a:t>，</a:t>
                      </a:r>
                      <a:r>
                        <a:rPr sz="1800" spc="-5" dirty="0">
                          <a:latin typeface="Arial" panose="020B0604020202020204"/>
                          <a:cs typeface="Arial" panose="020B0604020202020204"/>
                        </a:rPr>
                        <a:t>b&lt;=0</a:t>
                      </a:r>
                      <a:endParaRPr sz="1800">
                        <a:latin typeface="Arial" panose="020B0604020202020204"/>
                        <a:cs typeface="Arial" panose="020B0604020202020204"/>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080" algn="ctr">
                        <a:lnSpc>
                          <a:spcPct val="100000"/>
                        </a:lnSpc>
                        <a:spcBef>
                          <a:spcPts val="295"/>
                        </a:spcBef>
                      </a:pPr>
                      <a:r>
                        <a:rPr sz="1800" dirty="0">
                          <a:latin typeface="微软雅黑" panose="020B0503020204020204" pitchFamily="34" charset="-122"/>
                          <a:cs typeface="微软雅黑" panose="020B0503020204020204" pitchFamily="34" charset="-122"/>
                        </a:rPr>
                        <a:t>判断</a:t>
                      </a:r>
                      <a:r>
                        <a:rPr sz="1800" dirty="0">
                          <a:latin typeface="Arial" panose="020B0604020202020204"/>
                          <a:cs typeface="Arial" panose="020B0604020202020204"/>
                        </a:rPr>
                        <a:t>1</a:t>
                      </a:r>
                      <a:r>
                        <a:rPr sz="1800" dirty="0">
                          <a:latin typeface="微软雅黑" panose="020B0503020204020204" pitchFamily="34" charset="-122"/>
                          <a:cs typeface="微软雅黑" panose="020B0503020204020204" pitchFamily="34" charset="-122"/>
                        </a:rPr>
                        <a:t>取</a:t>
                      </a:r>
                      <a:r>
                        <a:rPr sz="1800" dirty="0">
                          <a:latin typeface="Arial" panose="020B0604020202020204"/>
                          <a:cs typeface="Arial" panose="020B0604020202020204"/>
                        </a:rPr>
                        <a:t>F</a:t>
                      </a:r>
                      <a:endParaRPr sz="1800">
                        <a:latin typeface="Arial" panose="020B0604020202020204"/>
                        <a:cs typeface="Arial" panose="020B0604020202020204"/>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715" algn="ctr">
                        <a:lnSpc>
                          <a:spcPct val="100000"/>
                        </a:lnSpc>
                        <a:spcBef>
                          <a:spcPts val="295"/>
                        </a:spcBef>
                      </a:pPr>
                      <a:r>
                        <a:rPr sz="1800" spc="-5" dirty="0">
                          <a:latin typeface="Arial" panose="020B0604020202020204"/>
                          <a:cs typeface="Arial" panose="020B0604020202020204"/>
                        </a:rPr>
                        <a:t>a&lt;=0</a:t>
                      </a:r>
                      <a:r>
                        <a:rPr sz="1800" spc="-5" dirty="0">
                          <a:latin typeface="微软雅黑" panose="020B0503020204020204" pitchFamily="34" charset="-122"/>
                          <a:cs typeface="微软雅黑" panose="020B0503020204020204" pitchFamily="34" charset="-122"/>
                        </a:rPr>
                        <a:t>，</a:t>
                      </a:r>
                      <a:r>
                        <a:rPr sz="1800" spc="-5" dirty="0">
                          <a:latin typeface="Arial" panose="020B0604020202020204"/>
                          <a:cs typeface="Arial" panose="020B0604020202020204"/>
                        </a:rPr>
                        <a:t>b&lt;=0</a:t>
                      </a:r>
                      <a:r>
                        <a:rPr sz="1800" spc="-5" dirty="0">
                          <a:latin typeface="微软雅黑" panose="020B0503020204020204" pitchFamily="34" charset="-122"/>
                          <a:cs typeface="微软雅黑" panose="020B0503020204020204" pitchFamily="34" charset="-122"/>
                        </a:rPr>
                        <a:t>，</a:t>
                      </a:r>
                      <a:r>
                        <a:rPr sz="1800" dirty="0">
                          <a:latin typeface="微软雅黑" panose="020B0503020204020204" pitchFamily="34" charset="-122"/>
                          <a:cs typeface="微软雅黑" panose="020B0503020204020204" pitchFamily="34" charset="-122"/>
                        </a:rPr>
                        <a:t>判断</a:t>
                      </a:r>
                      <a:r>
                        <a:rPr sz="1800" dirty="0">
                          <a:latin typeface="Arial" panose="020B0604020202020204"/>
                          <a:cs typeface="Arial" panose="020B0604020202020204"/>
                        </a:rPr>
                        <a:t>1</a:t>
                      </a:r>
                      <a:r>
                        <a:rPr sz="1800" dirty="0">
                          <a:latin typeface="微软雅黑" panose="020B0503020204020204" pitchFamily="34" charset="-122"/>
                          <a:cs typeface="微软雅黑" panose="020B0503020204020204" pitchFamily="34" charset="-122"/>
                        </a:rPr>
                        <a:t>取</a:t>
                      </a:r>
                      <a:r>
                        <a:rPr sz="1800" dirty="0">
                          <a:latin typeface="Arial" panose="020B0604020202020204"/>
                          <a:cs typeface="Arial" panose="020B0604020202020204"/>
                        </a:rPr>
                        <a:t>F</a:t>
                      </a:r>
                      <a:endParaRPr sz="1800">
                        <a:latin typeface="Arial" panose="020B0604020202020204"/>
                        <a:cs typeface="Arial" panose="020B0604020202020204"/>
                      </a:endParaRPr>
                    </a:p>
                  </a:txBody>
                  <a:tcPr marL="0" marR="0" marT="37465"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49083">
                <a:tc>
                  <a:txBody>
                    <a:bodyPr/>
                    <a:lstStyle/>
                    <a:p>
                      <a:pPr marL="5080" algn="ctr">
                        <a:lnSpc>
                          <a:spcPct val="100000"/>
                        </a:lnSpc>
                        <a:spcBef>
                          <a:spcPts val="295"/>
                        </a:spcBef>
                      </a:pPr>
                      <a:r>
                        <a:rPr sz="1800" dirty="0">
                          <a:latin typeface="Arial" panose="020B0604020202020204"/>
                          <a:cs typeface="Arial" panose="020B0604020202020204"/>
                        </a:rPr>
                        <a:t>5</a:t>
                      </a:r>
                      <a:endParaRPr sz="1800">
                        <a:latin typeface="Arial" panose="020B0604020202020204"/>
                        <a:cs typeface="Arial" panose="020B0604020202020204"/>
                      </a:endParaRPr>
                    </a:p>
                  </a:txBody>
                  <a:tcPr marL="0" marR="0" marT="3746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080" algn="ctr">
                        <a:lnSpc>
                          <a:spcPct val="100000"/>
                        </a:lnSpc>
                        <a:spcBef>
                          <a:spcPts val="295"/>
                        </a:spcBef>
                      </a:pPr>
                      <a:r>
                        <a:rPr sz="1800" spc="-5" dirty="0">
                          <a:latin typeface="Arial" panose="020B0604020202020204"/>
                          <a:cs typeface="Arial" panose="020B0604020202020204"/>
                        </a:rPr>
                        <a:t>a&gt;1</a:t>
                      </a:r>
                      <a:r>
                        <a:rPr sz="1800" spc="-5" dirty="0">
                          <a:latin typeface="微软雅黑" panose="020B0503020204020204" pitchFamily="34" charset="-122"/>
                          <a:cs typeface="微软雅黑" panose="020B0503020204020204" pitchFamily="34" charset="-122"/>
                        </a:rPr>
                        <a:t>，</a:t>
                      </a:r>
                      <a:r>
                        <a:rPr sz="1800" spc="-5" dirty="0">
                          <a:latin typeface="Arial" panose="020B0604020202020204"/>
                          <a:cs typeface="Arial" panose="020B0604020202020204"/>
                        </a:rPr>
                        <a:t>c&gt;1</a:t>
                      </a:r>
                      <a:endParaRPr sz="1800">
                        <a:latin typeface="Arial" panose="020B0604020202020204"/>
                        <a:cs typeface="Arial" panose="020B0604020202020204"/>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080" algn="ctr">
                        <a:lnSpc>
                          <a:spcPct val="100000"/>
                        </a:lnSpc>
                        <a:spcBef>
                          <a:spcPts val="295"/>
                        </a:spcBef>
                      </a:pPr>
                      <a:r>
                        <a:rPr sz="1800" dirty="0">
                          <a:latin typeface="微软雅黑" panose="020B0503020204020204" pitchFamily="34" charset="-122"/>
                          <a:cs typeface="微软雅黑" panose="020B0503020204020204" pitchFamily="34" charset="-122"/>
                        </a:rPr>
                        <a:t>判断</a:t>
                      </a:r>
                      <a:r>
                        <a:rPr sz="1800" dirty="0">
                          <a:latin typeface="Arial" panose="020B0604020202020204"/>
                          <a:cs typeface="Arial" panose="020B0604020202020204"/>
                        </a:rPr>
                        <a:t>2</a:t>
                      </a:r>
                      <a:r>
                        <a:rPr sz="1800" dirty="0">
                          <a:latin typeface="微软雅黑" panose="020B0503020204020204" pitchFamily="34" charset="-122"/>
                          <a:cs typeface="微软雅黑" panose="020B0503020204020204" pitchFamily="34" charset="-122"/>
                        </a:rPr>
                        <a:t>取</a:t>
                      </a:r>
                      <a:r>
                        <a:rPr sz="1800" dirty="0">
                          <a:latin typeface="Arial" panose="020B0604020202020204"/>
                          <a:cs typeface="Arial" panose="020B0604020202020204"/>
                        </a:rPr>
                        <a:t>T</a:t>
                      </a:r>
                      <a:endParaRPr sz="1800">
                        <a:latin typeface="Arial" panose="020B0604020202020204"/>
                        <a:cs typeface="Arial" panose="020B0604020202020204"/>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715" algn="ctr">
                        <a:lnSpc>
                          <a:spcPct val="100000"/>
                        </a:lnSpc>
                        <a:spcBef>
                          <a:spcPts val="295"/>
                        </a:spcBef>
                      </a:pPr>
                      <a:r>
                        <a:rPr sz="1800" spc="-5" dirty="0">
                          <a:latin typeface="Arial" panose="020B0604020202020204"/>
                          <a:cs typeface="Arial" panose="020B0604020202020204"/>
                        </a:rPr>
                        <a:t>a&gt;1</a:t>
                      </a:r>
                      <a:r>
                        <a:rPr sz="1800" spc="-5" dirty="0">
                          <a:latin typeface="微软雅黑" panose="020B0503020204020204" pitchFamily="34" charset="-122"/>
                          <a:cs typeface="微软雅黑" panose="020B0503020204020204" pitchFamily="34" charset="-122"/>
                        </a:rPr>
                        <a:t>，</a:t>
                      </a:r>
                      <a:r>
                        <a:rPr sz="1800" spc="-5" dirty="0">
                          <a:latin typeface="Arial" panose="020B0604020202020204"/>
                          <a:cs typeface="Arial" panose="020B0604020202020204"/>
                        </a:rPr>
                        <a:t>c&gt;1</a:t>
                      </a:r>
                      <a:r>
                        <a:rPr sz="1800" spc="-5" dirty="0">
                          <a:latin typeface="微软雅黑" panose="020B0503020204020204" pitchFamily="34" charset="-122"/>
                          <a:cs typeface="微软雅黑" panose="020B0503020204020204" pitchFamily="34" charset="-122"/>
                        </a:rPr>
                        <a:t>，</a:t>
                      </a:r>
                      <a:r>
                        <a:rPr sz="1800" dirty="0">
                          <a:latin typeface="微软雅黑" panose="020B0503020204020204" pitchFamily="34" charset="-122"/>
                          <a:cs typeface="微软雅黑" panose="020B0503020204020204" pitchFamily="34" charset="-122"/>
                        </a:rPr>
                        <a:t>判断</a:t>
                      </a:r>
                      <a:r>
                        <a:rPr sz="1800" dirty="0">
                          <a:latin typeface="Arial" panose="020B0604020202020204"/>
                          <a:cs typeface="Arial" panose="020B0604020202020204"/>
                        </a:rPr>
                        <a:t>2</a:t>
                      </a:r>
                      <a:r>
                        <a:rPr sz="1800" dirty="0">
                          <a:latin typeface="微软雅黑" panose="020B0503020204020204" pitchFamily="34" charset="-122"/>
                          <a:cs typeface="微软雅黑" panose="020B0503020204020204" pitchFamily="34" charset="-122"/>
                        </a:rPr>
                        <a:t>取</a:t>
                      </a:r>
                      <a:r>
                        <a:rPr sz="1800" dirty="0">
                          <a:latin typeface="Arial" panose="020B0604020202020204"/>
                          <a:cs typeface="Arial" panose="020B0604020202020204"/>
                        </a:rPr>
                        <a:t>T</a:t>
                      </a:r>
                      <a:endParaRPr sz="1800">
                        <a:latin typeface="Arial" panose="020B0604020202020204"/>
                        <a:cs typeface="Arial" panose="020B0604020202020204"/>
                      </a:endParaRPr>
                    </a:p>
                  </a:txBody>
                  <a:tcPr marL="0" marR="0" marT="37465"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349083">
                <a:tc>
                  <a:txBody>
                    <a:bodyPr/>
                    <a:lstStyle/>
                    <a:p>
                      <a:pPr marL="5080" algn="ctr">
                        <a:lnSpc>
                          <a:spcPct val="100000"/>
                        </a:lnSpc>
                        <a:spcBef>
                          <a:spcPts val="295"/>
                        </a:spcBef>
                      </a:pPr>
                      <a:r>
                        <a:rPr sz="1800" dirty="0">
                          <a:latin typeface="Arial" panose="020B0604020202020204"/>
                          <a:cs typeface="Arial" panose="020B0604020202020204"/>
                        </a:rPr>
                        <a:t>6</a:t>
                      </a:r>
                      <a:endParaRPr sz="1800">
                        <a:latin typeface="Arial" panose="020B0604020202020204"/>
                        <a:cs typeface="Arial" panose="020B0604020202020204"/>
                      </a:endParaRPr>
                    </a:p>
                  </a:txBody>
                  <a:tcPr marL="0" marR="0" marT="3746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080" algn="ctr">
                        <a:lnSpc>
                          <a:spcPct val="100000"/>
                        </a:lnSpc>
                        <a:spcBef>
                          <a:spcPts val="295"/>
                        </a:spcBef>
                      </a:pPr>
                      <a:r>
                        <a:rPr sz="1800" spc="-5" dirty="0">
                          <a:latin typeface="Arial" panose="020B0604020202020204"/>
                          <a:cs typeface="Arial" panose="020B0604020202020204"/>
                        </a:rPr>
                        <a:t>a&gt;1</a:t>
                      </a:r>
                      <a:r>
                        <a:rPr sz="1800" spc="-5" dirty="0">
                          <a:latin typeface="微软雅黑" panose="020B0503020204020204" pitchFamily="34" charset="-122"/>
                          <a:cs typeface="微软雅黑" panose="020B0503020204020204" pitchFamily="34" charset="-122"/>
                        </a:rPr>
                        <a:t>，</a:t>
                      </a:r>
                      <a:r>
                        <a:rPr sz="1800" spc="-5" dirty="0">
                          <a:latin typeface="Arial" panose="020B0604020202020204"/>
                          <a:cs typeface="Arial" panose="020B0604020202020204"/>
                        </a:rPr>
                        <a:t>c&lt;=1</a:t>
                      </a:r>
                      <a:endParaRPr sz="1800">
                        <a:latin typeface="Arial" panose="020B0604020202020204"/>
                        <a:cs typeface="Arial" panose="020B0604020202020204"/>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080" algn="ctr">
                        <a:lnSpc>
                          <a:spcPct val="100000"/>
                        </a:lnSpc>
                        <a:spcBef>
                          <a:spcPts val="295"/>
                        </a:spcBef>
                      </a:pPr>
                      <a:r>
                        <a:rPr sz="1800" dirty="0">
                          <a:latin typeface="微软雅黑" panose="020B0503020204020204" pitchFamily="34" charset="-122"/>
                          <a:cs typeface="微软雅黑" panose="020B0503020204020204" pitchFamily="34" charset="-122"/>
                        </a:rPr>
                        <a:t>判断</a:t>
                      </a:r>
                      <a:r>
                        <a:rPr sz="1800" dirty="0">
                          <a:latin typeface="Arial" panose="020B0604020202020204"/>
                          <a:cs typeface="Arial" panose="020B0604020202020204"/>
                        </a:rPr>
                        <a:t>2</a:t>
                      </a:r>
                      <a:r>
                        <a:rPr sz="1800" dirty="0">
                          <a:latin typeface="微软雅黑" panose="020B0503020204020204" pitchFamily="34" charset="-122"/>
                          <a:cs typeface="微软雅黑" panose="020B0503020204020204" pitchFamily="34" charset="-122"/>
                        </a:rPr>
                        <a:t>取</a:t>
                      </a:r>
                      <a:r>
                        <a:rPr sz="1800" dirty="0">
                          <a:latin typeface="Arial" panose="020B0604020202020204"/>
                          <a:cs typeface="Arial" panose="020B0604020202020204"/>
                        </a:rPr>
                        <a:t>T</a:t>
                      </a:r>
                      <a:endParaRPr sz="1800">
                        <a:latin typeface="Arial" panose="020B0604020202020204"/>
                        <a:cs typeface="Arial" panose="020B0604020202020204"/>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715" algn="ctr">
                        <a:lnSpc>
                          <a:spcPct val="100000"/>
                        </a:lnSpc>
                        <a:spcBef>
                          <a:spcPts val="295"/>
                        </a:spcBef>
                      </a:pPr>
                      <a:r>
                        <a:rPr sz="1800" spc="-5" dirty="0">
                          <a:latin typeface="Arial" panose="020B0604020202020204"/>
                          <a:cs typeface="Arial" panose="020B0604020202020204"/>
                        </a:rPr>
                        <a:t>a&gt;1</a:t>
                      </a:r>
                      <a:r>
                        <a:rPr sz="1800" spc="-5" dirty="0">
                          <a:latin typeface="微软雅黑" panose="020B0503020204020204" pitchFamily="34" charset="-122"/>
                          <a:cs typeface="微软雅黑" panose="020B0503020204020204" pitchFamily="34" charset="-122"/>
                        </a:rPr>
                        <a:t>，</a:t>
                      </a:r>
                      <a:r>
                        <a:rPr sz="1800" spc="-5" dirty="0">
                          <a:latin typeface="Arial" panose="020B0604020202020204"/>
                          <a:cs typeface="Arial" panose="020B0604020202020204"/>
                        </a:rPr>
                        <a:t>c&lt;=1</a:t>
                      </a:r>
                      <a:r>
                        <a:rPr sz="1800" spc="-5" dirty="0">
                          <a:latin typeface="微软雅黑" panose="020B0503020204020204" pitchFamily="34" charset="-122"/>
                          <a:cs typeface="微软雅黑" panose="020B0503020204020204" pitchFamily="34" charset="-122"/>
                        </a:rPr>
                        <a:t>，</a:t>
                      </a:r>
                      <a:r>
                        <a:rPr sz="1800" dirty="0">
                          <a:latin typeface="微软雅黑" panose="020B0503020204020204" pitchFamily="34" charset="-122"/>
                          <a:cs typeface="微软雅黑" panose="020B0503020204020204" pitchFamily="34" charset="-122"/>
                        </a:rPr>
                        <a:t>判断</a:t>
                      </a:r>
                      <a:r>
                        <a:rPr sz="1800" dirty="0">
                          <a:latin typeface="Arial" panose="020B0604020202020204"/>
                          <a:cs typeface="Arial" panose="020B0604020202020204"/>
                        </a:rPr>
                        <a:t>2</a:t>
                      </a:r>
                      <a:r>
                        <a:rPr sz="1800" dirty="0">
                          <a:latin typeface="微软雅黑" panose="020B0503020204020204" pitchFamily="34" charset="-122"/>
                          <a:cs typeface="微软雅黑" panose="020B0503020204020204" pitchFamily="34" charset="-122"/>
                        </a:rPr>
                        <a:t>取</a:t>
                      </a:r>
                      <a:r>
                        <a:rPr sz="1800" dirty="0">
                          <a:latin typeface="Arial" panose="020B0604020202020204"/>
                          <a:cs typeface="Arial" panose="020B0604020202020204"/>
                        </a:rPr>
                        <a:t>T</a:t>
                      </a:r>
                      <a:endParaRPr sz="1800">
                        <a:latin typeface="Arial" panose="020B0604020202020204"/>
                        <a:cs typeface="Arial" panose="020B0604020202020204"/>
                      </a:endParaRPr>
                    </a:p>
                  </a:txBody>
                  <a:tcPr marL="0" marR="0" marT="37465"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349083">
                <a:tc>
                  <a:txBody>
                    <a:bodyPr/>
                    <a:lstStyle/>
                    <a:p>
                      <a:pPr marL="5080" algn="ctr">
                        <a:lnSpc>
                          <a:spcPct val="100000"/>
                        </a:lnSpc>
                        <a:spcBef>
                          <a:spcPts val="295"/>
                        </a:spcBef>
                      </a:pPr>
                      <a:r>
                        <a:rPr sz="1800" dirty="0">
                          <a:latin typeface="Arial" panose="020B0604020202020204"/>
                          <a:cs typeface="Arial" panose="020B0604020202020204"/>
                        </a:rPr>
                        <a:t>7</a:t>
                      </a:r>
                      <a:endParaRPr sz="1800">
                        <a:latin typeface="Arial" panose="020B0604020202020204"/>
                        <a:cs typeface="Arial" panose="020B0604020202020204"/>
                      </a:endParaRPr>
                    </a:p>
                  </a:txBody>
                  <a:tcPr marL="0" marR="0" marT="3746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080" algn="ctr">
                        <a:lnSpc>
                          <a:spcPct val="100000"/>
                        </a:lnSpc>
                        <a:spcBef>
                          <a:spcPts val="295"/>
                        </a:spcBef>
                      </a:pPr>
                      <a:r>
                        <a:rPr sz="1800" spc="-5" dirty="0">
                          <a:latin typeface="Arial" panose="020B0604020202020204"/>
                          <a:cs typeface="Arial" panose="020B0604020202020204"/>
                        </a:rPr>
                        <a:t>a&lt;=1</a:t>
                      </a:r>
                      <a:r>
                        <a:rPr sz="1800" spc="-5" dirty="0">
                          <a:latin typeface="微软雅黑" panose="020B0503020204020204" pitchFamily="34" charset="-122"/>
                          <a:cs typeface="微软雅黑" panose="020B0503020204020204" pitchFamily="34" charset="-122"/>
                        </a:rPr>
                        <a:t>，</a:t>
                      </a:r>
                      <a:r>
                        <a:rPr sz="1800" spc="-5" dirty="0">
                          <a:latin typeface="Arial" panose="020B0604020202020204"/>
                          <a:cs typeface="Arial" panose="020B0604020202020204"/>
                        </a:rPr>
                        <a:t>c&gt;1</a:t>
                      </a:r>
                      <a:endParaRPr sz="1800">
                        <a:latin typeface="Arial" panose="020B0604020202020204"/>
                        <a:cs typeface="Arial" panose="020B0604020202020204"/>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080" algn="ctr">
                        <a:lnSpc>
                          <a:spcPct val="100000"/>
                        </a:lnSpc>
                        <a:spcBef>
                          <a:spcPts val="295"/>
                        </a:spcBef>
                      </a:pPr>
                      <a:r>
                        <a:rPr sz="1800" dirty="0">
                          <a:latin typeface="微软雅黑" panose="020B0503020204020204" pitchFamily="34" charset="-122"/>
                          <a:cs typeface="微软雅黑" panose="020B0503020204020204" pitchFamily="34" charset="-122"/>
                        </a:rPr>
                        <a:t>判断</a:t>
                      </a:r>
                      <a:r>
                        <a:rPr sz="1800" dirty="0">
                          <a:latin typeface="Arial" panose="020B0604020202020204"/>
                          <a:cs typeface="Arial" panose="020B0604020202020204"/>
                        </a:rPr>
                        <a:t>2</a:t>
                      </a:r>
                      <a:r>
                        <a:rPr sz="1800" dirty="0">
                          <a:latin typeface="微软雅黑" panose="020B0503020204020204" pitchFamily="34" charset="-122"/>
                          <a:cs typeface="微软雅黑" panose="020B0503020204020204" pitchFamily="34" charset="-122"/>
                        </a:rPr>
                        <a:t>取</a:t>
                      </a:r>
                      <a:r>
                        <a:rPr sz="1800" dirty="0">
                          <a:latin typeface="Arial" panose="020B0604020202020204"/>
                          <a:cs typeface="Arial" panose="020B0604020202020204"/>
                        </a:rPr>
                        <a:t>T</a:t>
                      </a:r>
                      <a:endParaRPr sz="1800">
                        <a:latin typeface="Arial" panose="020B0604020202020204"/>
                        <a:cs typeface="Arial" panose="020B0604020202020204"/>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715" algn="ctr">
                        <a:lnSpc>
                          <a:spcPct val="100000"/>
                        </a:lnSpc>
                        <a:spcBef>
                          <a:spcPts val="295"/>
                        </a:spcBef>
                      </a:pPr>
                      <a:r>
                        <a:rPr sz="1800" spc="-5" dirty="0">
                          <a:latin typeface="Arial" panose="020B0604020202020204"/>
                          <a:cs typeface="Arial" panose="020B0604020202020204"/>
                        </a:rPr>
                        <a:t>a&lt;=1</a:t>
                      </a:r>
                      <a:r>
                        <a:rPr sz="1800" spc="-5" dirty="0">
                          <a:latin typeface="微软雅黑" panose="020B0503020204020204" pitchFamily="34" charset="-122"/>
                          <a:cs typeface="微软雅黑" panose="020B0503020204020204" pitchFamily="34" charset="-122"/>
                        </a:rPr>
                        <a:t>，</a:t>
                      </a:r>
                      <a:r>
                        <a:rPr sz="1800" spc="-5" dirty="0">
                          <a:latin typeface="Arial" panose="020B0604020202020204"/>
                          <a:cs typeface="Arial" panose="020B0604020202020204"/>
                        </a:rPr>
                        <a:t>c&gt;1</a:t>
                      </a:r>
                      <a:r>
                        <a:rPr sz="1800" spc="-5" dirty="0">
                          <a:latin typeface="微软雅黑" panose="020B0503020204020204" pitchFamily="34" charset="-122"/>
                          <a:cs typeface="微软雅黑" panose="020B0503020204020204" pitchFamily="34" charset="-122"/>
                        </a:rPr>
                        <a:t>，</a:t>
                      </a:r>
                      <a:r>
                        <a:rPr sz="1800" dirty="0">
                          <a:latin typeface="微软雅黑" panose="020B0503020204020204" pitchFamily="34" charset="-122"/>
                          <a:cs typeface="微软雅黑" panose="020B0503020204020204" pitchFamily="34" charset="-122"/>
                        </a:rPr>
                        <a:t>判断</a:t>
                      </a:r>
                      <a:r>
                        <a:rPr sz="1800" dirty="0">
                          <a:latin typeface="Arial" panose="020B0604020202020204"/>
                          <a:cs typeface="Arial" panose="020B0604020202020204"/>
                        </a:rPr>
                        <a:t>2</a:t>
                      </a:r>
                      <a:r>
                        <a:rPr sz="1800" dirty="0">
                          <a:latin typeface="微软雅黑" panose="020B0503020204020204" pitchFamily="34" charset="-122"/>
                          <a:cs typeface="微软雅黑" panose="020B0503020204020204" pitchFamily="34" charset="-122"/>
                        </a:rPr>
                        <a:t>取</a:t>
                      </a:r>
                      <a:r>
                        <a:rPr sz="1800" dirty="0">
                          <a:latin typeface="Arial" panose="020B0604020202020204"/>
                          <a:cs typeface="Arial" panose="020B0604020202020204"/>
                        </a:rPr>
                        <a:t>T</a:t>
                      </a:r>
                      <a:endParaRPr sz="1800">
                        <a:latin typeface="Arial" panose="020B0604020202020204"/>
                        <a:cs typeface="Arial" panose="020B0604020202020204"/>
                      </a:endParaRPr>
                    </a:p>
                  </a:txBody>
                  <a:tcPr marL="0" marR="0" marT="37465"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349083">
                <a:tc>
                  <a:txBody>
                    <a:bodyPr/>
                    <a:lstStyle/>
                    <a:p>
                      <a:pPr marL="5080" algn="ctr">
                        <a:lnSpc>
                          <a:spcPct val="100000"/>
                        </a:lnSpc>
                        <a:spcBef>
                          <a:spcPts val="295"/>
                        </a:spcBef>
                      </a:pPr>
                      <a:r>
                        <a:rPr sz="1800" dirty="0">
                          <a:latin typeface="Arial" panose="020B0604020202020204"/>
                          <a:cs typeface="Arial" panose="020B0604020202020204"/>
                        </a:rPr>
                        <a:t>8</a:t>
                      </a:r>
                      <a:endParaRPr sz="1800">
                        <a:latin typeface="Arial" panose="020B0604020202020204"/>
                        <a:cs typeface="Arial" panose="020B0604020202020204"/>
                      </a:endParaRPr>
                    </a:p>
                  </a:txBody>
                  <a:tcPr marL="0" marR="0" marT="37465" marB="0">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marL="5080" algn="ctr">
                        <a:lnSpc>
                          <a:spcPct val="100000"/>
                        </a:lnSpc>
                        <a:spcBef>
                          <a:spcPts val="295"/>
                        </a:spcBef>
                      </a:pPr>
                      <a:r>
                        <a:rPr sz="1800" spc="-5" dirty="0">
                          <a:latin typeface="Arial" panose="020B0604020202020204"/>
                          <a:cs typeface="Arial" panose="020B0604020202020204"/>
                        </a:rPr>
                        <a:t>a&lt;=1</a:t>
                      </a:r>
                      <a:r>
                        <a:rPr sz="1800" spc="-5" dirty="0">
                          <a:latin typeface="微软雅黑" panose="020B0503020204020204" pitchFamily="34" charset="-122"/>
                          <a:cs typeface="微软雅黑" panose="020B0503020204020204" pitchFamily="34" charset="-122"/>
                        </a:rPr>
                        <a:t>，</a:t>
                      </a:r>
                      <a:r>
                        <a:rPr sz="1800" spc="-5" dirty="0">
                          <a:latin typeface="Arial" panose="020B0604020202020204"/>
                          <a:cs typeface="Arial" panose="020B0604020202020204"/>
                        </a:rPr>
                        <a:t>c&lt;=1</a:t>
                      </a:r>
                      <a:endParaRPr sz="1800">
                        <a:latin typeface="Arial" panose="020B0604020202020204"/>
                        <a:cs typeface="Arial" panose="020B0604020202020204"/>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marL="5080" algn="ctr">
                        <a:lnSpc>
                          <a:spcPct val="100000"/>
                        </a:lnSpc>
                        <a:spcBef>
                          <a:spcPts val="295"/>
                        </a:spcBef>
                      </a:pPr>
                      <a:r>
                        <a:rPr sz="1800" dirty="0">
                          <a:latin typeface="微软雅黑" panose="020B0503020204020204" pitchFamily="34" charset="-122"/>
                          <a:cs typeface="微软雅黑" panose="020B0503020204020204" pitchFamily="34" charset="-122"/>
                        </a:rPr>
                        <a:t>判断</a:t>
                      </a:r>
                      <a:r>
                        <a:rPr sz="1800" dirty="0">
                          <a:latin typeface="Arial" panose="020B0604020202020204"/>
                          <a:cs typeface="Arial" panose="020B0604020202020204"/>
                        </a:rPr>
                        <a:t>2</a:t>
                      </a:r>
                      <a:r>
                        <a:rPr sz="1800" dirty="0">
                          <a:latin typeface="微软雅黑" panose="020B0503020204020204" pitchFamily="34" charset="-122"/>
                          <a:cs typeface="微软雅黑" panose="020B0503020204020204" pitchFamily="34" charset="-122"/>
                        </a:rPr>
                        <a:t>取</a:t>
                      </a:r>
                      <a:r>
                        <a:rPr sz="1800" dirty="0">
                          <a:latin typeface="Arial" panose="020B0604020202020204"/>
                          <a:cs typeface="Arial" panose="020B0604020202020204"/>
                        </a:rPr>
                        <a:t>F</a:t>
                      </a:r>
                      <a:endParaRPr sz="1800">
                        <a:latin typeface="Arial" panose="020B0604020202020204"/>
                        <a:cs typeface="Arial" panose="020B0604020202020204"/>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marL="5715" algn="ctr">
                        <a:lnSpc>
                          <a:spcPct val="100000"/>
                        </a:lnSpc>
                        <a:spcBef>
                          <a:spcPts val="295"/>
                        </a:spcBef>
                      </a:pPr>
                      <a:r>
                        <a:rPr sz="1800" spc="-5" dirty="0">
                          <a:latin typeface="Arial" panose="020B0604020202020204"/>
                          <a:cs typeface="Arial" panose="020B0604020202020204"/>
                        </a:rPr>
                        <a:t>a&lt;=1</a:t>
                      </a:r>
                      <a:r>
                        <a:rPr sz="1800" spc="-5" dirty="0">
                          <a:latin typeface="微软雅黑" panose="020B0503020204020204" pitchFamily="34" charset="-122"/>
                          <a:cs typeface="微软雅黑" panose="020B0503020204020204" pitchFamily="34" charset="-122"/>
                        </a:rPr>
                        <a:t>，</a:t>
                      </a:r>
                      <a:r>
                        <a:rPr sz="1800" spc="-5" dirty="0">
                          <a:latin typeface="Arial" panose="020B0604020202020204"/>
                          <a:cs typeface="Arial" panose="020B0604020202020204"/>
                        </a:rPr>
                        <a:t>c&lt;=1</a:t>
                      </a:r>
                      <a:r>
                        <a:rPr sz="1800" spc="-5" dirty="0">
                          <a:latin typeface="微软雅黑" panose="020B0503020204020204" pitchFamily="34" charset="-122"/>
                          <a:cs typeface="微软雅黑" panose="020B0503020204020204" pitchFamily="34" charset="-122"/>
                        </a:rPr>
                        <a:t>，</a:t>
                      </a:r>
                      <a:r>
                        <a:rPr sz="1800" dirty="0">
                          <a:latin typeface="微软雅黑" panose="020B0503020204020204" pitchFamily="34" charset="-122"/>
                          <a:cs typeface="微软雅黑" panose="020B0503020204020204" pitchFamily="34" charset="-122"/>
                        </a:rPr>
                        <a:t>判断</a:t>
                      </a:r>
                      <a:r>
                        <a:rPr sz="1800" dirty="0">
                          <a:latin typeface="Arial" panose="020B0604020202020204"/>
                          <a:cs typeface="Arial" panose="020B0604020202020204"/>
                        </a:rPr>
                        <a:t>2</a:t>
                      </a:r>
                      <a:r>
                        <a:rPr sz="1800" dirty="0">
                          <a:latin typeface="微软雅黑" panose="020B0503020204020204" pitchFamily="34" charset="-122"/>
                          <a:cs typeface="微软雅黑" panose="020B0503020204020204" pitchFamily="34" charset="-122"/>
                        </a:rPr>
                        <a:t>取</a:t>
                      </a:r>
                      <a:r>
                        <a:rPr sz="1800" dirty="0">
                          <a:latin typeface="Arial" panose="020B0604020202020204"/>
                          <a:cs typeface="Arial" panose="020B0604020202020204"/>
                        </a:rPr>
                        <a:t>F</a:t>
                      </a:r>
                      <a:endParaRPr sz="1800">
                        <a:latin typeface="Arial" panose="020B0604020202020204"/>
                        <a:cs typeface="Arial" panose="020B0604020202020204"/>
                      </a:endParaRPr>
                    </a:p>
                  </a:txBody>
                  <a:tcPr marL="0" marR="0" marT="37465" marB="0">
                    <a:lnL w="12700">
                      <a:solidFill>
                        <a:srgbClr val="000000"/>
                      </a:solidFill>
                      <a:prstDash val="solid"/>
                    </a:lnL>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8"/>
                  </a:ext>
                </a:extLst>
              </a:tr>
            </a:tbl>
          </a:graphicData>
        </a:graphic>
      </p:graphicFrame>
      <p:sp>
        <p:nvSpPr>
          <p:cNvPr id="5" name="灯片编号占位符 4"/>
          <p:cNvSpPr>
            <a:spLocks noGrp="1"/>
          </p:cNvSpPr>
          <p:nvPr>
            <p:ph type="sldNum" sz="quarter" idx="12"/>
          </p:nvPr>
        </p:nvSpPr>
        <p:spPr/>
        <p:txBody>
          <a:bodyPr/>
          <a:lstStyle/>
          <a:p>
            <a:fld id="{74D2AB8B-5816-41F2-8B4B-CA5C3E4E6A65}" type="slidenum">
              <a:rPr lang="zh-CN" altLang="en-US" smtClean="0"/>
              <a:t>36</a:t>
            </a:fld>
            <a:endParaRPr lang="zh-CN" altLang="en-US"/>
          </a:p>
        </p:txBody>
      </p:sp>
      <p:sp>
        <p:nvSpPr>
          <p:cNvPr id="7" name="标题 6"/>
          <p:cNvSpPr>
            <a:spLocks noGrp="1"/>
          </p:cNvSpPr>
          <p:nvPr>
            <p:ph type="title"/>
          </p:nvPr>
        </p:nvSpPr>
        <p:spPr/>
        <p:txBody>
          <a:bodyPr/>
          <a:lstStyle/>
          <a:p>
            <a:r>
              <a:rPr lang="zh-CN" altLang="en-US" dirty="0"/>
              <a:t>条件组合覆盖</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nvGraphicFramePr>
        <p:xfrm>
          <a:off x="1342504" y="1626121"/>
          <a:ext cx="9415142" cy="2865116"/>
        </p:xfrm>
        <a:graphic>
          <a:graphicData uri="http://schemas.openxmlformats.org/drawingml/2006/table">
            <a:tbl>
              <a:tblPr firstRow="1" bandRow="1">
                <a:tableStyleId>{2D5ABB26-0587-4C30-8999-92F81FD0307C}</a:tableStyleId>
              </a:tblPr>
              <a:tblGrid>
                <a:gridCol w="3611879">
                  <a:extLst>
                    <a:ext uri="{9D8B030D-6E8A-4147-A177-3AD203B41FA5}">
                      <a16:colId xmlns:a16="http://schemas.microsoft.com/office/drawing/2014/main" val="20000"/>
                    </a:ext>
                  </a:extLst>
                </a:gridCol>
                <a:gridCol w="2217420">
                  <a:extLst>
                    <a:ext uri="{9D8B030D-6E8A-4147-A177-3AD203B41FA5}">
                      <a16:colId xmlns:a16="http://schemas.microsoft.com/office/drawing/2014/main" val="20001"/>
                    </a:ext>
                  </a:extLst>
                </a:gridCol>
                <a:gridCol w="1722754">
                  <a:extLst>
                    <a:ext uri="{9D8B030D-6E8A-4147-A177-3AD203B41FA5}">
                      <a16:colId xmlns:a16="http://schemas.microsoft.com/office/drawing/2014/main" val="20002"/>
                    </a:ext>
                  </a:extLst>
                </a:gridCol>
                <a:gridCol w="1863089">
                  <a:extLst>
                    <a:ext uri="{9D8B030D-6E8A-4147-A177-3AD203B41FA5}">
                      <a16:colId xmlns:a16="http://schemas.microsoft.com/office/drawing/2014/main" val="20003"/>
                    </a:ext>
                  </a:extLst>
                </a:gridCol>
              </a:tblGrid>
              <a:tr h="413856">
                <a:tc>
                  <a:txBody>
                    <a:bodyPr/>
                    <a:lstStyle/>
                    <a:p>
                      <a:pPr algn="ctr">
                        <a:lnSpc>
                          <a:spcPct val="100000"/>
                        </a:lnSpc>
                        <a:spcBef>
                          <a:spcPts val="730"/>
                        </a:spcBef>
                      </a:pPr>
                      <a:r>
                        <a:rPr sz="1800" dirty="0">
                          <a:latin typeface="微软雅黑" panose="020B0503020204020204" pitchFamily="34" charset="-122"/>
                          <a:cs typeface="微软雅黑" panose="020B0503020204020204" pitchFamily="34" charset="-122"/>
                        </a:rPr>
                        <a:t>测试用例</a:t>
                      </a:r>
                      <a:endParaRPr sz="1800">
                        <a:latin typeface="微软雅黑" panose="020B0503020204020204" pitchFamily="34" charset="-122"/>
                        <a:cs typeface="微软雅黑" panose="020B0503020204020204" pitchFamily="34" charset="-122"/>
                      </a:endParaRPr>
                    </a:p>
                  </a:txBody>
                  <a:tcPr marL="0" marR="0" marT="92710" marB="0">
                    <a:lnR w="12700">
                      <a:solidFill>
                        <a:srgbClr val="000000"/>
                      </a:solidFill>
                      <a:prstDash val="solid"/>
                    </a:lnR>
                    <a:lnT w="19050">
                      <a:solidFill>
                        <a:srgbClr val="000000"/>
                      </a:solidFill>
                      <a:prstDash val="solid"/>
                    </a:lnT>
                    <a:lnB w="12700">
                      <a:solidFill>
                        <a:srgbClr val="000000"/>
                      </a:solidFill>
                      <a:prstDash val="solid"/>
                    </a:lnB>
                    <a:solidFill>
                      <a:srgbClr val="ECEBEB"/>
                    </a:solidFill>
                  </a:tcPr>
                </a:tc>
                <a:tc>
                  <a:txBody>
                    <a:bodyPr/>
                    <a:lstStyle/>
                    <a:p>
                      <a:pPr marL="652145">
                        <a:lnSpc>
                          <a:spcPct val="100000"/>
                        </a:lnSpc>
                        <a:spcBef>
                          <a:spcPts val="730"/>
                        </a:spcBef>
                      </a:pPr>
                      <a:r>
                        <a:rPr sz="1800" dirty="0">
                          <a:latin typeface="微软雅黑" panose="020B0503020204020204" pitchFamily="34" charset="-122"/>
                          <a:cs typeface="微软雅黑" panose="020B0503020204020204" pitchFamily="34" charset="-122"/>
                        </a:rPr>
                        <a:t>覆盖条件</a:t>
                      </a:r>
                      <a:endParaRPr sz="1800">
                        <a:latin typeface="微软雅黑" panose="020B0503020204020204" pitchFamily="34" charset="-122"/>
                        <a:cs typeface="微软雅黑" panose="020B0503020204020204" pitchFamily="34" charset="-122"/>
                      </a:endParaRPr>
                    </a:p>
                  </a:txBody>
                  <a:tcPr marL="0" marR="0" marT="9271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solidFill>
                      <a:srgbClr val="ECEBEB"/>
                    </a:solidFill>
                  </a:tcPr>
                </a:tc>
                <a:tc>
                  <a:txBody>
                    <a:bodyPr/>
                    <a:lstStyle/>
                    <a:p>
                      <a:pPr algn="ctr">
                        <a:lnSpc>
                          <a:spcPct val="100000"/>
                        </a:lnSpc>
                        <a:spcBef>
                          <a:spcPts val="730"/>
                        </a:spcBef>
                      </a:pPr>
                      <a:r>
                        <a:rPr sz="1800" dirty="0">
                          <a:latin typeface="微软雅黑" panose="020B0503020204020204" pitchFamily="34" charset="-122"/>
                          <a:cs typeface="微软雅黑" panose="020B0503020204020204" pitchFamily="34" charset="-122"/>
                        </a:rPr>
                        <a:t>覆盖路径</a:t>
                      </a:r>
                      <a:endParaRPr sz="1800">
                        <a:latin typeface="微软雅黑" panose="020B0503020204020204" pitchFamily="34" charset="-122"/>
                        <a:cs typeface="微软雅黑" panose="020B0503020204020204" pitchFamily="34" charset="-122"/>
                      </a:endParaRPr>
                    </a:p>
                  </a:txBody>
                  <a:tcPr marL="0" marR="0" marT="9271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solidFill>
                      <a:srgbClr val="ECEBEB"/>
                    </a:solidFill>
                  </a:tcPr>
                </a:tc>
                <a:tc>
                  <a:txBody>
                    <a:bodyPr/>
                    <a:lstStyle/>
                    <a:p>
                      <a:pPr marL="1905" algn="ctr">
                        <a:lnSpc>
                          <a:spcPct val="100000"/>
                        </a:lnSpc>
                        <a:spcBef>
                          <a:spcPts val="730"/>
                        </a:spcBef>
                      </a:pPr>
                      <a:r>
                        <a:rPr sz="1800" dirty="0">
                          <a:latin typeface="微软雅黑" panose="020B0503020204020204" pitchFamily="34" charset="-122"/>
                          <a:cs typeface="微软雅黑" panose="020B0503020204020204" pitchFamily="34" charset="-122"/>
                        </a:rPr>
                        <a:t>覆盖组合</a:t>
                      </a:r>
                      <a:endParaRPr sz="1800">
                        <a:latin typeface="微软雅黑" panose="020B0503020204020204" pitchFamily="34" charset="-122"/>
                        <a:cs typeface="微软雅黑" panose="020B0503020204020204" pitchFamily="34" charset="-122"/>
                      </a:endParaRPr>
                    </a:p>
                  </a:txBody>
                  <a:tcPr marL="0" marR="0" marT="92710" marB="0">
                    <a:lnL w="12700">
                      <a:solidFill>
                        <a:srgbClr val="000000"/>
                      </a:solidFill>
                      <a:prstDash val="solid"/>
                    </a:lnL>
                    <a:lnT w="19050">
                      <a:solidFill>
                        <a:srgbClr val="000000"/>
                      </a:solidFill>
                      <a:prstDash val="solid"/>
                    </a:lnT>
                    <a:lnB w="12700">
                      <a:solidFill>
                        <a:srgbClr val="000000"/>
                      </a:solidFill>
                      <a:prstDash val="solid"/>
                    </a:lnB>
                    <a:solidFill>
                      <a:srgbClr val="ECEBEB"/>
                    </a:solidFill>
                  </a:tcPr>
                </a:tc>
                <a:extLst>
                  <a:ext uri="{0D108BD9-81ED-4DB2-BD59-A6C34878D82A}">
                    <a16:rowId xmlns:a16="http://schemas.microsoft.com/office/drawing/2014/main" val="10000"/>
                  </a:ext>
                </a:extLst>
              </a:tr>
              <a:tr h="612815">
                <a:tc>
                  <a:txBody>
                    <a:bodyPr/>
                    <a:lstStyle/>
                    <a:p>
                      <a:pPr marL="67945">
                        <a:lnSpc>
                          <a:spcPct val="100000"/>
                        </a:lnSpc>
                        <a:spcBef>
                          <a:spcPts val="1330"/>
                        </a:spcBef>
                      </a:pPr>
                      <a:r>
                        <a:rPr sz="1800" dirty="0">
                          <a:latin typeface="微软雅黑" panose="020B0503020204020204" pitchFamily="34" charset="-122"/>
                          <a:cs typeface="微软雅黑" panose="020B0503020204020204" pitchFamily="34" charset="-122"/>
                        </a:rPr>
                        <a:t>输入：</a:t>
                      </a:r>
                      <a:r>
                        <a:rPr sz="1800" b="1" dirty="0">
                          <a:latin typeface="Courier New" panose="02070309020205020404"/>
                          <a:cs typeface="Courier New" panose="02070309020205020404"/>
                        </a:rPr>
                        <a:t>a=2</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b=1</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c=6</a:t>
                      </a:r>
                      <a:endParaRPr sz="1800">
                        <a:latin typeface="Courier New" panose="02070309020205020404"/>
                        <a:cs typeface="Courier New" panose="02070309020205020404"/>
                      </a:endParaRPr>
                    </a:p>
                  </a:txBody>
                  <a:tcPr marL="0" marR="0" marT="16891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28650" marR="621030">
                        <a:lnSpc>
                          <a:spcPct val="102000"/>
                        </a:lnSpc>
                        <a:spcBef>
                          <a:spcPts val="150"/>
                        </a:spcBef>
                      </a:pPr>
                      <a:r>
                        <a:rPr sz="1800" b="1" spc="-5" dirty="0">
                          <a:latin typeface="Courier New" panose="02070309020205020404"/>
                          <a:cs typeface="Courier New" panose="02070309020205020404"/>
                        </a:rPr>
                        <a:t>a&gt;0,b&gt;0  a&gt;1,c&gt;1</a:t>
                      </a:r>
                      <a:endParaRPr sz="1800">
                        <a:latin typeface="Courier New" panose="02070309020205020404"/>
                        <a:cs typeface="Courier New" panose="02070309020205020404"/>
                      </a:endParaRPr>
                    </a:p>
                  </a:txBody>
                  <a:tcPr marL="0" marR="0" marT="190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330"/>
                        </a:spcBef>
                      </a:pPr>
                      <a:r>
                        <a:rPr sz="1800" b="1" dirty="0">
                          <a:latin typeface="Courier New" panose="02070309020205020404"/>
                          <a:cs typeface="Courier New" panose="02070309020205020404"/>
                        </a:rPr>
                        <a:t>1-2-4</a:t>
                      </a:r>
                      <a:endParaRPr sz="1800">
                        <a:latin typeface="Courier New" panose="02070309020205020404"/>
                        <a:cs typeface="Courier New" panose="02070309020205020404"/>
                      </a:endParaRPr>
                    </a:p>
                  </a:txBody>
                  <a:tcPr marL="0" marR="0" marT="168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510"/>
                        </a:spcBef>
                      </a:pPr>
                      <a:r>
                        <a:rPr sz="1800" b="1" dirty="0">
                          <a:latin typeface="Courier New" panose="02070309020205020404"/>
                          <a:cs typeface="Courier New" panose="02070309020205020404"/>
                        </a:rPr>
                        <a:t>1</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5</a:t>
                      </a:r>
                      <a:endParaRPr sz="1800">
                        <a:latin typeface="Courier New" panose="02070309020205020404"/>
                        <a:cs typeface="Courier New" panose="02070309020205020404"/>
                      </a:endParaRPr>
                    </a:p>
                  </a:txBody>
                  <a:tcPr marL="0" marR="0" marT="19177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612815">
                <a:tc>
                  <a:txBody>
                    <a:bodyPr/>
                    <a:lstStyle/>
                    <a:p>
                      <a:pPr marL="67945">
                        <a:lnSpc>
                          <a:spcPct val="100000"/>
                        </a:lnSpc>
                        <a:spcBef>
                          <a:spcPts val="1330"/>
                        </a:spcBef>
                      </a:pPr>
                      <a:r>
                        <a:rPr sz="1800" dirty="0">
                          <a:latin typeface="微软雅黑" panose="020B0503020204020204" pitchFamily="34" charset="-122"/>
                          <a:cs typeface="微软雅黑" panose="020B0503020204020204" pitchFamily="34" charset="-122"/>
                        </a:rPr>
                        <a:t>输入：</a:t>
                      </a:r>
                      <a:r>
                        <a:rPr sz="1800" b="1" dirty="0">
                          <a:latin typeface="Courier New" panose="02070309020205020404"/>
                          <a:cs typeface="Courier New" panose="02070309020205020404"/>
                        </a:rPr>
                        <a:t>a=2</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b=-1</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c=-2</a:t>
                      </a:r>
                      <a:endParaRPr sz="1800">
                        <a:latin typeface="Courier New" panose="02070309020205020404"/>
                        <a:cs typeface="Courier New" panose="02070309020205020404"/>
                      </a:endParaRPr>
                    </a:p>
                  </a:txBody>
                  <a:tcPr marL="0" marR="0" marT="16891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60070" marR="552450">
                        <a:lnSpc>
                          <a:spcPct val="102000"/>
                        </a:lnSpc>
                        <a:spcBef>
                          <a:spcPts val="150"/>
                        </a:spcBef>
                      </a:pPr>
                      <a:r>
                        <a:rPr sz="1800" b="1" spc="-5" dirty="0">
                          <a:latin typeface="Courier New" panose="02070309020205020404"/>
                          <a:cs typeface="Courier New" panose="02070309020205020404"/>
                        </a:rPr>
                        <a:t>a&gt;0,b&lt;=0  </a:t>
                      </a:r>
                      <a:r>
                        <a:rPr sz="1800" b="1" dirty="0">
                          <a:latin typeface="Courier New" panose="02070309020205020404"/>
                          <a:cs typeface="Courier New" panose="02070309020205020404"/>
                        </a:rPr>
                        <a:t>a&gt;1,c&lt;=1</a:t>
                      </a:r>
                      <a:endParaRPr sz="1800">
                        <a:latin typeface="Courier New" panose="02070309020205020404"/>
                        <a:cs typeface="Courier New" panose="02070309020205020404"/>
                      </a:endParaRPr>
                    </a:p>
                  </a:txBody>
                  <a:tcPr marL="0" marR="0" marT="190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330"/>
                        </a:spcBef>
                      </a:pPr>
                      <a:r>
                        <a:rPr sz="1800" b="1" dirty="0">
                          <a:latin typeface="Courier New" panose="02070309020205020404"/>
                          <a:cs typeface="Courier New" panose="02070309020205020404"/>
                        </a:rPr>
                        <a:t>1-3-4</a:t>
                      </a:r>
                      <a:endParaRPr sz="1800">
                        <a:latin typeface="Courier New" panose="02070309020205020404"/>
                        <a:cs typeface="Courier New" panose="02070309020205020404"/>
                      </a:endParaRPr>
                    </a:p>
                  </a:txBody>
                  <a:tcPr marL="0" marR="0" marT="168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510"/>
                        </a:spcBef>
                      </a:pPr>
                      <a:r>
                        <a:rPr sz="1800" b="1" dirty="0">
                          <a:latin typeface="Courier New" panose="02070309020205020404"/>
                          <a:cs typeface="Courier New" panose="02070309020205020404"/>
                        </a:rPr>
                        <a:t>2</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6</a:t>
                      </a:r>
                      <a:endParaRPr sz="1800">
                        <a:latin typeface="Courier New" panose="02070309020205020404"/>
                        <a:cs typeface="Courier New" panose="02070309020205020404"/>
                      </a:endParaRPr>
                    </a:p>
                  </a:txBody>
                  <a:tcPr marL="0" marR="0" marT="19177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612815">
                <a:tc>
                  <a:txBody>
                    <a:bodyPr/>
                    <a:lstStyle/>
                    <a:p>
                      <a:pPr marL="67945">
                        <a:lnSpc>
                          <a:spcPct val="100000"/>
                        </a:lnSpc>
                        <a:spcBef>
                          <a:spcPts val="1330"/>
                        </a:spcBef>
                      </a:pPr>
                      <a:r>
                        <a:rPr sz="1800" dirty="0">
                          <a:latin typeface="微软雅黑" panose="020B0503020204020204" pitchFamily="34" charset="-122"/>
                          <a:cs typeface="微软雅黑" panose="020B0503020204020204" pitchFamily="34" charset="-122"/>
                        </a:rPr>
                        <a:t>输入</a:t>
                      </a:r>
                      <a:r>
                        <a:rPr sz="1800" spc="-5" dirty="0">
                          <a:latin typeface="微软雅黑" panose="020B0503020204020204" pitchFamily="34" charset="-122"/>
                          <a:cs typeface="微软雅黑" panose="020B0503020204020204" pitchFamily="34" charset="-122"/>
                        </a:rPr>
                        <a:t>：</a:t>
                      </a:r>
                      <a:r>
                        <a:rPr sz="1800" b="1" spc="-5" dirty="0">
                          <a:latin typeface="Courier New" panose="02070309020205020404"/>
                          <a:cs typeface="Courier New" panose="02070309020205020404"/>
                        </a:rPr>
                        <a:t>a=-1</a:t>
                      </a:r>
                      <a:r>
                        <a:rPr sz="1800" b="1" spc="-5" dirty="0">
                          <a:latin typeface="微软雅黑" panose="020B0503020204020204" pitchFamily="34" charset="-122"/>
                          <a:cs typeface="微软雅黑" panose="020B0503020204020204" pitchFamily="34" charset="-122"/>
                        </a:rPr>
                        <a:t>，</a:t>
                      </a:r>
                      <a:r>
                        <a:rPr sz="1800" b="1" spc="-5" dirty="0">
                          <a:latin typeface="Courier New" panose="02070309020205020404"/>
                          <a:cs typeface="Courier New" panose="02070309020205020404"/>
                        </a:rPr>
                        <a:t>b=2</a:t>
                      </a:r>
                      <a:r>
                        <a:rPr sz="1800" b="1" spc="-5" dirty="0">
                          <a:latin typeface="微软雅黑" panose="020B0503020204020204" pitchFamily="34" charset="-122"/>
                          <a:cs typeface="微软雅黑" panose="020B0503020204020204" pitchFamily="34" charset="-122"/>
                        </a:rPr>
                        <a:t>，</a:t>
                      </a:r>
                      <a:r>
                        <a:rPr sz="1800" b="1" spc="-5" dirty="0">
                          <a:latin typeface="Courier New" panose="02070309020205020404"/>
                          <a:cs typeface="Courier New" panose="02070309020205020404"/>
                        </a:rPr>
                        <a:t>c=3</a:t>
                      </a:r>
                      <a:endParaRPr sz="1800">
                        <a:latin typeface="Courier New" panose="02070309020205020404"/>
                        <a:cs typeface="Courier New" panose="02070309020205020404"/>
                      </a:endParaRPr>
                    </a:p>
                  </a:txBody>
                  <a:tcPr marL="0" marR="0" marT="16891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60070" marR="552450">
                        <a:lnSpc>
                          <a:spcPct val="102000"/>
                        </a:lnSpc>
                        <a:spcBef>
                          <a:spcPts val="150"/>
                        </a:spcBef>
                      </a:pPr>
                      <a:r>
                        <a:rPr sz="1800" b="1" spc="-5" dirty="0">
                          <a:latin typeface="Courier New" panose="02070309020205020404"/>
                          <a:cs typeface="Courier New" panose="02070309020205020404"/>
                        </a:rPr>
                        <a:t>a&lt;=0,b&gt;0  a&lt;=1,c&gt;1</a:t>
                      </a:r>
                      <a:endParaRPr sz="1800">
                        <a:latin typeface="Courier New" panose="02070309020205020404"/>
                        <a:cs typeface="Courier New" panose="02070309020205020404"/>
                      </a:endParaRPr>
                    </a:p>
                  </a:txBody>
                  <a:tcPr marL="0" marR="0" marT="190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330"/>
                        </a:spcBef>
                      </a:pPr>
                      <a:r>
                        <a:rPr sz="1800" b="1" dirty="0">
                          <a:latin typeface="Courier New" panose="02070309020205020404"/>
                          <a:cs typeface="Courier New" panose="02070309020205020404"/>
                        </a:rPr>
                        <a:t>1-3-4</a:t>
                      </a:r>
                      <a:endParaRPr sz="1800">
                        <a:latin typeface="Courier New" panose="02070309020205020404"/>
                        <a:cs typeface="Courier New" panose="02070309020205020404"/>
                      </a:endParaRPr>
                    </a:p>
                  </a:txBody>
                  <a:tcPr marL="0" marR="0" marT="168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4445" algn="ctr">
                        <a:lnSpc>
                          <a:spcPct val="100000"/>
                        </a:lnSpc>
                        <a:spcBef>
                          <a:spcPts val="1510"/>
                        </a:spcBef>
                      </a:pPr>
                      <a:r>
                        <a:rPr sz="1800" b="1" dirty="0">
                          <a:latin typeface="Courier New" panose="02070309020205020404"/>
                          <a:cs typeface="Courier New" panose="02070309020205020404"/>
                        </a:rPr>
                        <a:t>3</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7</a:t>
                      </a:r>
                      <a:endParaRPr sz="1800">
                        <a:latin typeface="Courier New" panose="02070309020205020404"/>
                        <a:cs typeface="Courier New" panose="02070309020205020404"/>
                      </a:endParaRPr>
                    </a:p>
                  </a:txBody>
                  <a:tcPr marL="0" marR="0" marT="19177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612815">
                <a:tc>
                  <a:txBody>
                    <a:bodyPr/>
                    <a:lstStyle/>
                    <a:p>
                      <a:pPr marL="67945">
                        <a:lnSpc>
                          <a:spcPct val="100000"/>
                        </a:lnSpc>
                        <a:spcBef>
                          <a:spcPts val="1330"/>
                        </a:spcBef>
                      </a:pPr>
                      <a:r>
                        <a:rPr sz="1800" dirty="0">
                          <a:latin typeface="微软雅黑" panose="020B0503020204020204" pitchFamily="34" charset="-122"/>
                          <a:cs typeface="微软雅黑" panose="020B0503020204020204" pitchFamily="34" charset="-122"/>
                        </a:rPr>
                        <a:t>输入：</a:t>
                      </a:r>
                      <a:r>
                        <a:rPr sz="1800" b="1" dirty="0">
                          <a:latin typeface="Courier New" panose="02070309020205020404"/>
                          <a:cs typeface="Courier New" panose="02070309020205020404"/>
                        </a:rPr>
                        <a:t>a=-1</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b=-2</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c=-3</a:t>
                      </a:r>
                      <a:endParaRPr sz="1800">
                        <a:latin typeface="Courier New" panose="02070309020205020404"/>
                        <a:cs typeface="Courier New" panose="02070309020205020404"/>
                      </a:endParaRPr>
                    </a:p>
                  </a:txBody>
                  <a:tcPr marL="0" marR="0" marT="168910" marB="0">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marL="491490" marR="483870">
                        <a:lnSpc>
                          <a:spcPct val="102000"/>
                        </a:lnSpc>
                        <a:spcBef>
                          <a:spcPts val="150"/>
                        </a:spcBef>
                      </a:pPr>
                      <a:r>
                        <a:rPr sz="1800" b="1" spc="-5" dirty="0">
                          <a:latin typeface="Courier New" panose="02070309020205020404"/>
                          <a:cs typeface="Courier New" panose="02070309020205020404"/>
                        </a:rPr>
                        <a:t>a&lt;=0,b&lt;=0  a&lt;=1,c&lt;=1</a:t>
                      </a:r>
                      <a:endParaRPr sz="1800">
                        <a:latin typeface="Courier New" panose="02070309020205020404"/>
                        <a:cs typeface="Courier New" panose="02070309020205020404"/>
                      </a:endParaRPr>
                    </a:p>
                  </a:txBody>
                  <a:tcPr marL="0" marR="0" marT="1905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algn="ctr">
                        <a:lnSpc>
                          <a:spcPct val="100000"/>
                        </a:lnSpc>
                        <a:spcBef>
                          <a:spcPts val="1330"/>
                        </a:spcBef>
                      </a:pPr>
                      <a:r>
                        <a:rPr sz="1800" b="1" dirty="0">
                          <a:latin typeface="Courier New" panose="02070309020205020404"/>
                          <a:cs typeface="Courier New" panose="02070309020205020404"/>
                        </a:rPr>
                        <a:t>1-3-5</a:t>
                      </a:r>
                      <a:endParaRPr sz="1800">
                        <a:latin typeface="Courier New" panose="02070309020205020404"/>
                        <a:cs typeface="Courier New" panose="02070309020205020404"/>
                      </a:endParaRPr>
                    </a:p>
                  </a:txBody>
                  <a:tcPr marL="0" marR="0" marT="16891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algn="ctr">
                        <a:lnSpc>
                          <a:spcPct val="100000"/>
                        </a:lnSpc>
                        <a:spcBef>
                          <a:spcPts val="1510"/>
                        </a:spcBef>
                      </a:pPr>
                      <a:r>
                        <a:rPr sz="1800" b="1" dirty="0">
                          <a:latin typeface="Courier New" panose="02070309020205020404"/>
                          <a:cs typeface="Courier New" panose="02070309020205020404"/>
                        </a:rPr>
                        <a:t>4</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8</a:t>
                      </a:r>
                      <a:endParaRPr sz="1800">
                        <a:latin typeface="Courier New" panose="02070309020205020404"/>
                        <a:cs typeface="Courier New" panose="02070309020205020404"/>
                      </a:endParaRPr>
                    </a:p>
                  </a:txBody>
                  <a:tcPr marL="0" marR="0" marT="191770" marB="0">
                    <a:lnL w="12700">
                      <a:solidFill>
                        <a:srgbClr val="000000"/>
                      </a:solidFill>
                      <a:prstDash val="solid"/>
                    </a:lnL>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4"/>
                  </a:ext>
                </a:extLst>
              </a:tr>
            </a:tbl>
          </a:graphicData>
        </a:graphic>
      </p:graphicFrame>
      <p:sp>
        <p:nvSpPr>
          <p:cNvPr id="4" name="object 4"/>
          <p:cNvSpPr txBox="1"/>
          <p:nvPr/>
        </p:nvSpPr>
        <p:spPr>
          <a:xfrm>
            <a:off x="1468654" y="4670576"/>
            <a:ext cx="8128000" cy="1397000"/>
          </a:xfrm>
          <a:prstGeom prst="rect">
            <a:avLst/>
          </a:prstGeom>
        </p:spPr>
        <p:txBody>
          <a:bodyPr vert="horz" wrap="square" lIns="0" tIns="160020" rIns="0" bIns="0" rtlCol="0">
            <a:spAutoFit/>
          </a:bodyPr>
          <a:lstStyle/>
          <a:p>
            <a:pPr marL="12700">
              <a:lnSpc>
                <a:spcPct val="100000"/>
              </a:lnSpc>
              <a:spcBef>
                <a:spcPts val="1260"/>
              </a:spcBef>
            </a:pPr>
            <a:r>
              <a:rPr sz="2200" dirty="0">
                <a:solidFill>
                  <a:srgbClr val="0033CC"/>
                </a:solidFill>
                <a:latin typeface="微软雅黑" panose="020B0503020204020204" pitchFamily="34" charset="-122"/>
                <a:cs typeface="微软雅黑" panose="020B0503020204020204" pitchFamily="34" charset="-122"/>
              </a:rPr>
              <a:t>问题分析：</a:t>
            </a:r>
            <a:endParaRPr sz="2200">
              <a:latin typeface="微软雅黑" panose="020B0503020204020204" pitchFamily="34" charset="-122"/>
              <a:cs typeface="微软雅黑" panose="020B0503020204020204" pitchFamily="34" charset="-122"/>
            </a:endParaRPr>
          </a:p>
          <a:p>
            <a:pPr marL="12700" marR="5080">
              <a:lnSpc>
                <a:spcPct val="121000"/>
              </a:lnSpc>
              <a:spcBef>
                <a:spcPts val="600"/>
              </a:spcBef>
            </a:pPr>
            <a:r>
              <a:rPr sz="2200" dirty="0">
                <a:latin typeface="微软雅黑" panose="020B0503020204020204" pitchFamily="34" charset="-122"/>
                <a:cs typeface="微软雅黑" panose="020B0503020204020204" pitchFamily="34" charset="-122"/>
              </a:rPr>
              <a:t>条件组合覆盖准则满足判定覆盖、条件覆盖和判定条件覆盖准则。 </a:t>
            </a:r>
            <a:r>
              <a:rPr sz="2200" dirty="0">
                <a:solidFill>
                  <a:srgbClr val="C00000"/>
                </a:solidFill>
                <a:latin typeface="微软雅黑" panose="020B0503020204020204" pitchFamily="34" charset="-122"/>
                <a:cs typeface="微软雅黑" panose="020B0503020204020204" pitchFamily="34" charset="-122"/>
              </a:rPr>
              <a:t>覆盖了所有组合</a:t>
            </a:r>
            <a:r>
              <a:rPr sz="2200" dirty="0">
                <a:solidFill>
                  <a:srgbClr val="CE1C00"/>
                </a:solidFill>
                <a:latin typeface="微软雅黑" panose="020B0503020204020204" pitchFamily="34" charset="-122"/>
                <a:cs typeface="微软雅黑" panose="020B0503020204020204" pitchFamily="34" charset="-122"/>
              </a:rPr>
              <a:t>，</a:t>
            </a:r>
            <a:r>
              <a:rPr sz="2200" dirty="0">
                <a:solidFill>
                  <a:srgbClr val="C00000"/>
                </a:solidFill>
                <a:latin typeface="微软雅黑" panose="020B0503020204020204" pitchFamily="34" charset="-122"/>
                <a:cs typeface="微软雅黑" panose="020B0503020204020204" pitchFamily="34" charset="-122"/>
              </a:rPr>
              <a:t>但覆盖路径有限</a:t>
            </a:r>
            <a:r>
              <a:rPr sz="2200" dirty="0">
                <a:solidFill>
                  <a:srgbClr val="CE1C00"/>
                </a:solidFill>
                <a:latin typeface="微软雅黑" panose="020B0503020204020204" pitchFamily="34" charset="-122"/>
                <a:cs typeface="微软雅黑" panose="020B0503020204020204" pitchFamily="34" charset="-122"/>
              </a:rPr>
              <a:t>，</a:t>
            </a:r>
            <a:r>
              <a:rPr sz="2200" dirty="0">
                <a:solidFill>
                  <a:srgbClr val="C00000"/>
                </a:solidFill>
                <a:latin typeface="微软雅黑" panose="020B0503020204020204" pitchFamily="34" charset="-122"/>
                <a:cs typeface="微软雅黑" panose="020B0503020204020204" pitchFamily="34" charset="-122"/>
              </a:rPr>
              <a:t>上面示例中</a:t>
            </a:r>
            <a:r>
              <a:rPr sz="2200" spc="-5" dirty="0">
                <a:solidFill>
                  <a:srgbClr val="CE1C00"/>
                </a:solidFill>
                <a:latin typeface="Arial" panose="020B0604020202020204"/>
                <a:cs typeface="Arial" panose="020B0604020202020204"/>
              </a:rPr>
              <a:t>1-2-5</a:t>
            </a:r>
            <a:r>
              <a:rPr sz="2200" dirty="0">
                <a:solidFill>
                  <a:srgbClr val="C00000"/>
                </a:solidFill>
                <a:latin typeface="微软雅黑" panose="020B0503020204020204" pitchFamily="34" charset="-122"/>
                <a:cs typeface="微软雅黑" panose="020B0503020204020204" pitchFamily="34" charset="-122"/>
              </a:rPr>
              <a:t>没覆盖</a:t>
            </a:r>
            <a:r>
              <a:rPr sz="2200" dirty="0">
                <a:solidFill>
                  <a:srgbClr val="CE1C00"/>
                </a:solidFill>
                <a:latin typeface="微软雅黑" panose="020B0503020204020204" pitchFamily="34" charset="-122"/>
                <a:cs typeface="微软雅黑" panose="020B0503020204020204" pitchFamily="34" charset="-122"/>
              </a:rPr>
              <a:t>。</a:t>
            </a:r>
            <a:endParaRPr sz="2200">
              <a:latin typeface="微软雅黑" panose="020B0503020204020204" pitchFamily="34" charset="-122"/>
              <a:cs typeface="微软雅黑" panose="020B0503020204020204" pitchFamily="34" charset="-122"/>
            </a:endParaRPr>
          </a:p>
        </p:txBody>
      </p:sp>
      <p:sp>
        <p:nvSpPr>
          <p:cNvPr id="5" name="灯片编号占位符 4"/>
          <p:cNvSpPr>
            <a:spLocks noGrp="1"/>
          </p:cNvSpPr>
          <p:nvPr>
            <p:ph type="sldNum" sz="quarter" idx="12"/>
          </p:nvPr>
        </p:nvSpPr>
        <p:spPr/>
        <p:txBody>
          <a:bodyPr/>
          <a:lstStyle/>
          <a:p>
            <a:fld id="{74D2AB8B-5816-41F2-8B4B-CA5C3E4E6A65}" type="slidenum">
              <a:rPr lang="zh-CN" altLang="en-US" smtClean="0"/>
              <a:t>37</a:t>
            </a:fld>
            <a:endParaRPr lang="zh-CN" altLang="en-US"/>
          </a:p>
        </p:txBody>
      </p:sp>
      <p:sp>
        <p:nvSpPr>
          <p:cNvPr id="7" name="标题 6"/>
          <p:cNvSpPr>
            <a:spLocks noGrp="1"/>
          </p:cNvSpPr>
          <p:nvPr>
            <p:ph type="title"/>
          </p:nvPr>
        </p:nvSpPr>
        <p:spPr/>
        <p:txBody>
          <a:bodyPr/>
          <a:lstStyle/>
          <a:p>
            <a:r>
              <a:rPr lang="zh-CN" altLang="en-US" dirty="0"/>
              <a:t>条件组合覆盖</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24340" y="1598801"/>
            <a:ext cx="9714865" cy="688975"/>
          </a:xfrm>
          <a:prstGeom prst="rect">
            <a:avLst/>
          </a:prstGeom>
          <a:solidFill>
            <a:srgbClr val="797BA9"/>
          </a:solidFill>
        </p:spPr>
        <p:txBody>
          <a:bodyPr vert="horz" wrap="square" lIns="0" tIns="191770" rIns="0" bIns="0" rtlCol="0">
            <a:spAutoFit/>
          </a:bodyPr>
          <a:lstStyle/>
          <a:p>
            <a:pPr marL="285115" algn="ctr">
              <a:lnSpc>
                <a:spcPct val="100000"/>
              </a:lnSpc>
              <a:spcBef>
                <a:spcPts val="1510"/>
              </a:spcBef>
            </a:pPr>
            <a:r>
              <a:rPr sz="2200" dirty="0">
                <a:solidFill>
                  <a:srgbClr val="FFFFFF"/>
                </a:solidFill>
                <a:latin typeface="微软雅黑" panose="020B0503020204020204" pitchFamily="34" charset="-122"/>
                <a:cs typeface="微软雅黑" panose="020B0503020204020204" pitchFamily="34" charset="-122"/>
              </a:rPr>
              <a:t>覆盖程序中的所有可能的执行路径。</a:t>
            </a:r>
            <a:endParaRPr sz="2200">
              <a:latin typeface="微软雅黑" panose="020B0503020204020204" pitchFamily="34" charset="-122"/>
              <a:cs typeface="微软雅黑" panose="020B0503020204020204" pitchFamily="34" charset="-122"/>
            </a:endParaRPr>
          </a:p>
        </p:txBody>
      </p:sp>
      <p:graphicFrame>
        <p:nvGraphicFramePr>
          <p:cNvPr id="4" name="object 4"/>
          <p:cNvGraphicFramePr>
            <a:graphicFrameLocks noGrp="1"/>
          </p:cNvGraphicFramePr>
          <p:nvPr/>
        </p:nvGraphicFramePr>
        <p:xfrm>
          <a:off x="1680588" y="2591878"/>
          <a:ext cx="8667749" cy="3081164"/>
        </p:xfrm>
        <a:graphic>
          <a:graphicData uri="http://schemas.openxmlformats.org/drawingml/2006/table">
            <a:tbl>
              <a:tblPr firstRow="1" bandRow="1">
                <a:tableStyleId>{2D5ABB26-0587-4C30-8999-92F81FD0307C}</a:tableStyleId>
              </a:tblPr>
              <a:tblGrid>
                <a:gridCol w="3324860">
                  <a:extLst>
                    <a:ext uri="{9D8B030D-6E8A-4147-A177-3AD203B41FA5}">
                      <a16:colId xmlns:a16="http://schemas.microsoft.com/office/drawing/2014/main" val="20000"/>
                    </a:ext>
                  </a:extLst>
                </a:gridCol>
                <a:gridCol w="2041525">
                  <a:extLst>
                    <a:ext uri="{9D8B030D-6E8A-4147-A177-3AD203B41FA5}">
                      <a16:colId xmlns:a16="http://schemas.microsoft.com/office/drawing/2014/main" val="20001"/>
                    </a:ext>
                  </a:extLst>
                </a:gridCol>
                <a:gridCol w="1586230">
                  <a:extLst>
                    <a:ext uri="{9D8B030D-6E8A-4147-A177-3AD203B41FA5}">
                      <a16:colId xmlns:a16="http://schemas.microsoft.com/office/drawing/2014/main" val="20002"/>
                    </a:ext>
                  </a:extLst>
                </a:gridCol>
                <a:gridCol w="1715134">
                  <a:extLst>
                    <a:ext uri="{9D8B030D-6E8A-4147-A177-3AD203B41FA5}">
                      <a16:colId xmlns:a16="http://schemas.microsoft.com/office/drawing/2014/main" val="20003"/>
                    </a:ext>
                  </a:extLst>
                </a:gridCol>
              </a:tblGrid>
              <a:tr h="445063">
                <a:tc>
                  <a:txBody>
                    <a:bodyPr/>
                    <a:lstStyle/>
                    <a:p>
                      <a:pPr algn="ctr">
                        <a:lnSpc>
                          <a:spcPct val="100000"/>
                        </a:lnSpc>
                        <a:spcBef>
                          <a:spcPts val="850"/>
                        </a:spcBef>
                      </a:pPr>
                      <a:r>
                        <a:rPr sz="1800" dirty="0">
                          <a:latin typeface="微软雅黑" panose="020B0503020204020204" pitchFamily="34" charset="-122"/>
                          <a:cs typeface="微软雅黑" panose="020B0503020204020204" pitchFamily="34" charset="-122"/>
                        </a:rPr>
                        <a:t>测试用例</a:t>
                      </a:r>
                      <a:endParaRPr sz="1800">
                        <a:latin typeface="微软雅黑" panose="020B0503020204020204" pitchFamily="34" charset="-122"/>
                        <a:cs typeface="微软雅黑" panose="020B0503020204020204" pitchFamily="34" charset="-122"/>
                      </a:endParaRPr>
                    </a:p>
                  </a:txBody>
                  <a:tcPr marL="0" marR="0" marT="107950" marB="0">
                    <a:lnR w="12700">
                      <a:solidFill>
                        <a:srgbClr val="000000"/>
                      </a:solidFill>
                      <a:prstDash val="solid"/>
                    </a:lnR>
                    <a:lnT w="19050">
                      <a:solidFill>
                        <a:srgbClr val="000000"/>
                      </a:solidFill>
                      <a:prstDash val="solid"/>
                    </a:lnT>
                    <a:lnB w="12700">
                      <a:solidFill>
                        <a:srgbClr val="000000"/>
                      </a:solidFill>
                      <a:prstDash val="solid"/>
                    </a:lnB>
                    <a:solidFill>
                      <a:srgbClr val="ECEBEB"/>
                    </a:solidFill>
                  </a:tcPr>
                </a:tc>
                <a:tc>
                  <a:txBody>
                    <a:bodyPr/>
                    <a:lstStyle/>
                    <a:p>
                      <a:pPr marL="564515">
                        <a:lnSpc>
                          <a:spcPct val="100000"/>
                        </a:lnSpc>
                        <a:spcBef>
                          <a:spcPts val="850"/>
                        </a:spcBef>
                      </a:pPr>
                      <a:r>
                        <a:rPr sz="1800" dirty="0">
                          <a:latin typeface="微软雅黑" panose="020B0503020204020204" pitchFamily="34" charset="-122"/>
                          <a:cs typeface="微软雅黑" panose="020B0503020204020204" pitchFamily="34" charset="-122"/>
                        </a:rPr>
                        <a:t>覆盖条件</a:t>
                      </a:r>
                      <a:endParaRPr sz="1800">
                        <a:latin typeface="微软雅黑" panose="020B0503020204020204" pitchFamily="34" charset="-122"/>
                        <a:cs typeface="微软雅黑" panose="020B0503020204020204" pitchFamily="34" charset="-122"/>
                      </a:endParaRPr>
                    </a:p>
                  </a:txBody>
                  <a:tcPr marL="0" marR="0" marT="10795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solidFill>
                      <a:srgbClr val="ECEBEB"/>
                    </a:solidFill>
                  </a:tcPr>
                </a:tc>
                <a:tc>
                  <a:txBody>
                    <a:bodyPr/>
                    <a:lstStyle/>
                    <a:p>
                      <a:pPr marL="2540" algn="ctr">
                        <a:lnSpc>
                          <a:spcPct val="100000"/>
                        </a:lnSpc>
                        <a:spcBef>
                          <a:spcPts val="850"/>
                        </a:spcBef>
                      </a:pPr>
                      <a:r>
                        <a:rPr sz="1800" dirty="0">
                          <a:latin typeface="微软雅黑" panose="020B0503020204020204" pitchFamily="34" charset="-122"/>
                          <a:cs typeface="微软雅黑" panose="020B0503020204020204" pitchFamily="34" charset="-122"/>
                        </a:rPr>
                        <a:t>覆盖路径</a:t>
                      </a:r>
                      <a:endParaRPr sz="1800">
                        <a:latin typeface="微软雅黑" panose="020B0503020204020204" pitchFamily="34" charset="-122"/>
                        <a:cs typeface="微软雅黑" panose="020B0503020204020204" pitchFamily="34" charset="-122"/>
                      </a:endParaRPr>
                    </a:p>
                  </a:txBody>
                  <a:tcPr marL="0" marR="0" marT="10795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solidFill>
                      <a:srgbClr val="ECEBEB"/>
                    </a:solidFill>
                  </a:tcPr>
                </a:tc>
                <a:tc>
                  <a:txBody>
                    <a:bodyPr/>
                    <a:lstStyle/>
                    <a:p>
                      <a:pPr marL="3810" algn="ctr">
                        <a:lnSpc>
                          <a:spcPct val="100000"/>
                        </a:lnSpc>
                        <a:spcBef>
                          <a:spcPts val="850"/>
                        </a:spcBef>
                      </a:pPr>
                      <a:r>
                        <a:rPr sz="1800" dirty="0">
                          <a:latin typeface="微软雅黑" panose="020B0503020204020204" pitchFamily="34" charset="-122"/>
                          <a:cs typeface="微软雅黑" panose="020B0503020204020204" pitchFamily="34" charset="-122"/>
                        </a:rPr>
                        <a:t>覆盖组合</a:t>
                      </a:r>
                      <a:endParaRPr sz="1800">
                        <a:latin typeface="微软雅黑" panose="020B0503020204020204" pitchFamily="34" charset="-122"/>
                        <a:cs typeface="微软雅黑" panose="020B0503020204020204" pitchFamily="34" charset="-122"/>
                      </a:endParaRPr>
                    </a:p>
                  </a:txBody>
                  <a:tcPr marL="0" marR="0" marT="107950" marB="0">
                    <a:lnL w="12700">
                      <a:solidFill>
                        <a:srgbClr val="000000"/>
                      </a:solidFill>
                      <a:prstDash val="solid"/>
                    </a:lnL>
                    <a:lnT w="19050">
                      <a:solidFill>
                        <a:srgbClr val="000000"/>
                      </a:solidFill>
                      <a:prstDash val="solid"/>
                    </a:lnT>
                    <a:lnB w="12700">
                      <a:solidFill>
                        <a:srgbClr val="000000"/>
                      </a:solidFill>
                      <a:prstDash val="solid"/>
                    </a:lnB>
                    <a:solidFill>
                      <a:srgbClr val="ECEBEB"/>
                    </a:solidFill>
                  </a:tcPr>
                </a:tc>
                <a:extLst>
                  <a:ext uri="{0D108BD9-81ED-4DB2-BD59-A6C34878D82A}">
                    <a16:rowId xmlns:a16="http://schemas.microsoft.com/office/drawing/2014/main" val="10000"/>
                  </a:ext>
                </a:extLst>
              </a:tr>
              <a:tr h="659026">
                <a:tc>
                  <a:txBody>
                    <a:bodyPr/>
                    <a:lstStyle/>
                    <a:p>
                      <a:pPr marL="68580">
                        <a:lnSpc>
                          <a:spcPct val="100000"/>
                        </a:lnSpc>
                        <a:spcBef>
                          <a:spcPts val="1515"/>
                        </a:spcBef>
                      </a:pPr>
                      <a:r>
                        <a:rPr sz="1800" dirty="0">
                          <a:latin typeface="微软雅黑" panose="020B0503020204020204" pitchFamily="34" charset="-122"/>
                          <a:cs typeface="微软雅黑" panose="020B0503020204020204" pitchFamily="34" charset="-122"/>
                        </a:rPr>
                        <a:t>输入：</a:t>
                      </a:r>
                      <a:r>
                        <a:rPr sz="1800" b="1" dirty="0">
                          <a:latin typeface="Courier New" panose="02070309020205020404"/>
                          <a:cs typeface="Courier New" panose="02070309020205020404"/>
                        </a:rPr>
                        <a:t>a=2</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b=1</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c=6</a:t>
                      </a:r>
                      <a:endParaRPr sz="1800">
                        <a:latin typeface="Courier New" panose="02070309020205020404"/>
                        <a:cs typeface="Courier New" panose="02070309020205020404"/>
                      </a:endParaRPr>
                    </a:p>
                  </a:txBody>
                  <a:tcPr marL="0" marR="0" marT="19240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40385" marR="532765">
                        <a:lnSpc>
                          <a:spcPct val="102000"/>
                        </a:lnSpc>
                        <a:spcBef>
                          <a:spcPts val="330"/>
                        </a:spcBef>
                      </a:pPr>
                      <a:r>
                        <a:rPr sz="1800" b="1" spc="-5" dirty="0">
                          <a:latin typeface="Courier New" panose="02070309020205020404"/>
                          <a:cs typeface="Courier New" panose="02070309020205020404"/>
                        </a:rPr>
                        <a:t>a&gt;0,b&gt;0  a&gt;1,c&gt;1</a:t>
                      </a:r>
                      <a:endParaRPr sz="1800">
                        <a:latin typeface="Courier New" panose="02070309020205020404"/>
                        <a:cs typeface="Courier New" panose="02070309020205020404"/>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515"/>
                        </a:spcBef>
                      </a:pPr>
                      <a:r>
                        <a:rPr sz="1800" b="1" dirty="0">
                          <a:latin typeface="Courier New" panose="02070309020205020404"/>
                          <a:cs typeface="Courier New" panose="02070309020205020404"/>
                        </a:rPr>
                        <a:t>1-2-4</a:t>
                      </a:r>
                      <a:endParaRPr sz="1800">
                        <a:latin typeface="Courier New" panose="02070309020205020404"/>
                        <a:cs typeface="Courier New" panose="02070309020205020404"/>
                      </a:endParaRPr>
                    </a:p>
                  </a:txBody>
                  <a:tcPr marL="0" marR="0" marT="1924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695"/>
                        </a:spcBef>
                      </a:pPr>
                      <a:r>
                        <a:rPr sz="1800" b="1" dirty="0">
                          <a:latin typeface="Courier New" panose="02070309020205020404"/>
                          <a:cs typeface="Courier New" panose="02070309020205020404"/>
                        </a:rPr>
                        <a:t>1</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5</a:t>
                      </a:r>
                      <a:endParaRPr sz="1800">
                        <a:latin typeface="Courier New" panose="02070309020205020404"/>
                        <a:cs typeface="Courier New" panose="02070309020205020404"/>
                      </a:endParaRPr>
                    </a:p>
                  </a:txBody>
                  <a:tcPr marL="0" marR="0" marT="215265"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659025">
                <a:tc>
                  <a:txBody>
                    <a:bodyPr/>
                    <a:lstStyle/>
                    <a:p>
                      <a:pPr marL="68580">
                        <a:lnSpc>
                          <a:spcPct val="100000"/>
                        </a:lnSpc>
                        <a:spcBef>
                          <a:spcPts val="1515"/>
                        </a:spcBef>
                      </a:pPr>
                      <a:r>
                        <a:rPr sz="1800" dirty="0">
                          <a:latin typeface="微软雅黑" panose="020B0503020204020204" pitchFamily="34" charset="-122"/>
                          <a:cs typeface="微软雅黑" panose="020B0503020204020204" pitchFamily="34" charset="-122"/>
                        </a:rPr>
                        <a:t>输入：</a:t>
                      </a:r>
                      <a:r>
                        <a:rPr sz="1800" b="1" dirty="0">
                          <a:latin typeface="Courier New" panose="02070309020205020404"/>
                          <a:cs typeface="Courier New" panose="02070309020205020404"/>
                        </a:rPr>
                        <a:t>a=1</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b=1</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c=-3</a:t>
                      </a:r>
                      <a:endParaRPr sz="1800">
                        <a:latin typeface="Courier New" panose="02070309020205020404"/>
                        <a:cs typeface="Courier New" panose="02070309020205020404"/>
                      </a:endParaRPr>
                    </a:p>
                  </a:txBody>
                  <a:tcPr marL="0" marR="0" marT="19240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403225" marR="395605" indent="137160">
                        <a:lnSpc>
                          <a:spcPct val="102000"/>
                        </a:lnSpc>
                        <a:spcBef>
                          <a:spcPts val="330"/>
                        </a:spcBef>
                      </a:pPr>
                      <a:r>
                        <a:rPr sz="1800" b="1" spc="-5" dirty="0">
                          <a:latin typeface="Courier New" panose="02070309020205020404"/>
                          <a:cs typeface="Courier New" panose="02070309020205020404"/>
                        </a:rPr>
                        <a:t>a&gt;0,b&gt;0  </a:t>
                      </a:r>
                      <a:r>
                        <a:rPr sz="1800" b="1" dirty="0">
                          <a:latin typeface="Courier New" panose="02070309020205020404"/>
                          <a:cs typeface="Courier New" panose="02070309020205020404"/>
                        </a:rPr>
                        <a:t>a&lt;=1,c&lt;=1</a:t>
                      </a:r>
                      <a:endParaRPr sz="1800">
                        <a:latin typeface="Courier New" panose="02070309020205020404"/>
                        <a:cs typeface="Courier New" panose="02070309020205020404"/>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515"/>
                        </a:spcBef>
                      </a:pPr>
                      <a:r>
                        <a:rPr sz="1800" b="1" dirty="0">
                          <a:latin typeface="Courier New" panose="02070309020205020404"/>
                          <a:cs typeface="Courier New" panose="02070309020205020404"/>
                        </a:rPr>
                        <a:t>1-2-5</a:t>
                      </a:r>
                      <a:endParaRPr sz="1800">
                        <a:latin typeface="Courier New" panose="02070309020205020404"/>
                        <a:cs typeface="Courier New" panose="02070309020205020404"/>
                      </a:endParaRPr>
                    </a:p>
                  </a:txBody>
                  <a:tcPr marL="0" marR="0" marT="1924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695"/>
                        </a:spcBef>
                      </a:pPr>
                      <a:r>
                        <a:rPr sz="1800" b="1" dirty="0">
                          <a:latin typeface="Courier New" panose="02070309020205020404"/>
                          <a:cs typeface="Courier New" panose="02070309020205020404"/>
                        </a:rPr>
                        <a:t>1</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8</a:t>
                      </a:r>
                      <a:endParaRPr sz="1800">
                        <a:latin typeface="Courier New" panose="02070309020205020404"/>
                        <a:cs typeface="Courier New" panose="02070309020205020404"/>
                      </a:endParaRPr>
                    </a:p>
                  </a:txBody>
                  <a:tcPr marL="0" marR="0" marT="215265"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659025">
                <a:tc>
                  <a:txBody>
                    <a:bodyPr/>
                    <a:lstStyle/>
                    <a:p>
                      <a:pPr marL="68580">
                        <a:lnSpc>
                          <a:spcPct val="100000"/>
                        </a:lnSpc>
                        <a:spcBef>
                          <a:spcPts val="1515"/>
                        </a:spcBef>
                      </a:pPr>
                      <a:r>
                        <a:rPr sz="1800" dirty="0">
                          <a:latin typeface="微软雅黑" panose="020B0503020204020204" pitchFamily="34" charset="-122"/>
                          <a:cs typeface="微软雅黑" panose="020B0503020204020204" pitchFamily="34" charset="-122"/>
                        </a:rPr>
                        <a:t>输入</a:t>
                      </a:r>
                      <a:r>
                        <a:rPr sz="1800" spc="-5" dirty="0">
                          <a:latin typeface="微软雅黑" panose="020B0503020204020204" pitchFamily="34" charset="-122"/>
                          <a:cs typeface="微软雅黑" panose="020B0503020204020204" pitchFamily="34" charset="-122"/>
                        </a:rPr>
                        <a:t>：</a:t>
                      </a:r>
                      <a:r>
                        <a:rPr sz="1800" b="1" spc="-5" dirty="0">
                          <a:latin typeface="Courier New" panose="02070309020205020404"/>
                          <a:cs typeface="Courier New" panose="02070309020205020404"/>
                        </a:rPr>
                        <a:t>a=-1</a:t>
                      </a:r>
                      <a:r>
                        <a:rPr sz="1800" b="1" spc="-5" dirty="0">
                          <a:latin typeface="微软雅黑" panose="020B0503020204020204" pitchFamily="34" charset="-122"/>
                          <a:cs typeface="微软雅黑" panose="020B0503020204020204" pitchFamily="34" charset="-122"/>
                        </a:rPr>
                        <a:t>，</a:t>
                      </a:r>
                      <a:r>
                        <a:rPr sz="1800" b="1" spc="-5" dirty="0">
                          <a:latin typeface="Courier New" panose="02070309020205020404"/>
                          <a:cs typeface="Courier New" panose="02070309020205020404"/>
                        </a:rPr>
                        <a:t>b=2</a:t>
                      </a:r>
                      <a:r>
                        <a:rPr sz="1800" b="1" spc="-5" dirty="0">
                          <a:latin typeface="微软雅黑" panose="020B0503020204020204" pitchFamily="34" charset="-122"/>
                          <a:cs typeface="微软雅黑" panose="020B0503020204020204" pitchFamily="34" charset="-122"/>
                        </a:rPr>
                        <a:t>，</a:t>
                      </a:r>
                      <a:r>
                        <a:rPr sz="1800" b="1" spc="-5" dirty="0">
                          <a:latin typeface="Courier New" panose="02070309020205020404"/>
                          <a:cs typeface="Courier New" panose="02070309020205020404"/>
                        </a:rPr>
                        <a:t>c=3</a:t>
                      </a:r>
                      <a:endParaRPr sz="1800">
                        <a:latin typeface="Courier New" panose="02070309020205020404"/>
                        <a:cs typeface="Courier New" panose="02070309020205020404"/>
                      </a:endParaRPr>
                    </a:p>
                  </a:txBody>
                  <a:tcPr marL="0" marR="0" marT="19240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471805" marR="464185">
                        <a:lnSpc>
                          <a:spcPct val="102000"/>
                        </a:lnSpc>
                        <a:spcBef>
                          <a:spcPts val="330"/>
                        </a:spcBef>
                      </a:pPr>
                      <a:r>
                        <a:rPr sz="1800" b="1" spc="-5" dirty="0">
                          <a:latin typeface="Courier New" panose="02070309020205020404"/>
                          <a:cs typeface="Courier New" panose="02070309020205020404"/>
                        </a:rPr>
                        <a:t>a&lt;=0,b&gt;0  a&lt;=1,c&gt;1</a:t>
                      </a:r>
                      <a:endParaRPr sz="1800">
                        <a:latin typeface="Courier New" panose="02070309020205020404"/>
                        <a:cs typeface="Courier New" panose="02070309020205020404"/>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515"/>
                        </a:spcBef>
                      </a:pPr>
                      <a:r>
                        <a:rPr sz="1800" b="1" dirty="0">
                          <a:latin typeface="Courier New" panose="02070309020205020404"/>
                          <a:cs typeface="Courier New" panose="02070309020205020404"/>
                        </a:rPr>
                        <a:t>1-3-4</a:t>
                      </a:r>
                      <a:endParaRPr sz="1800">
                        <a:latin typeface="Courier New" panose="02070309020205020404"/>
                        <a:cs typeface="Courier New" panose="02070309020205020404"/>
                      </a:endParaRPr>
                    </a:p>
                  </a:txBody>
                  <a:tcPr marL="0" marR="0" marT="1924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695"/>
                        </a:spcBef>
                      </a:pPr>
                      <a:r>
                        <a:rPr sz="1800" b="1" dirty="0">
                          <a:latin typeface="Courier New" panose="02070309020205020404"/>
                          <a:cs typeface="Courier New" panose="02070309020205020404"/>
                        </a:rPr>
                        <a:t>3</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7</a:t>
                      </a:r>
                      <a:endParaRPr sz="1800">
                        <a:latin typeface="Courier New" panose="02070309020205020404"/>
                        <a:cs typeface="Courier New" panose="02070309020205020404"/>
                      </a:endParaRPr>
                    </a:p>
                  </a:txBody>
                  <a:tcPr marL="0" marR="0" marT="215265"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659025">
                <a:tc>
                  <a:txBody>
                    <a:bodyPr/>
                    <a:lstStyle/>
                    <a:p>
                      <a:pPr marL="68580">
                        <a:lnSpc>
                          <a:spcPct val="100000"/>
                        </a:lnSpc>
                        <a:spcBef>
                          <a:spcPts val="1515"/>
                        </a:spcBef>
                      </a:pPr>
                      <a:r>
                        <a:rPr sz="1800" dirty="0">
                          <a:latin typeface="微软雅黑" panose="020B0503020204020204" pitchFamily="34" charset="-122"/>
                          <a:cs typeface="微软雅黑" panose="020B0503020204020204" pitchFamily="34" charset="-122"/>
                        </a:rPr>
                        <a:t>输入：</a:t>
                      </a:r>
                      <a:r>
                        <a:rPr sz="1800" b="1" dirty="0">
                          <a:latin typeface="Courier New" panose="02070309020205020404"/>
                          <a:cs typeface="Courier New" panose="02070309020205020404"/>
                        </a:rPr>
                        <a:t>a=-1</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b=-2</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c=-3</a:t>
                      </a:r>
                      <a:endParaRPr sz="1800">
                        <a:latin typeface="Courier New" panose="02070309020205020404"/>
                        <a:cs typeface="Courier New" panose="02070309020205020404"/>
                      </a:endParaRPr>
                    </a:p>
                  </a:txBody>
                  <a:tcPr marL="0" marR="0" marT="192405" marB="0">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marL="403225" marR="395605">
                        <a:lnSpc>
                          <a:spcPct val="102000"/>
                        </a:lnSpc>
                        <a:spcBef>
                          <a:spcPts val="330"/>
                        </a:spcBef>
                      </a:pPr>
                      <a:r>
                        <a:rPr sz="1800" b="1" spc="-5" dirty="0">
                          <a:latin typeface="Courier New" panose="02070309020205020404"/>
                          <a:cs typeface="Courier New" panose="02070309020205020404"/>
                        </a:rPr>
                        <a:t>a&lt;=0,b&lt;=0  a&lt;=1,c&lt;=1</a:t>
                      </a:r>
                      <a:endParaRPr sz="1800">
                        <a:latin typeface="Courier New" panose="02070309020205020404"/>
                        <a:cs typeface="Courier New" panose="02070309020205020404"/>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algn="ctr">
                        <a:lnSpc>
                          <a:spcPct val="100000"/>
                        </a:lnSpc>
                        <a:spcBef>
                          <a:spcPts val="1515"/>
                        </a:spcBef>
                      </a:pPr>
                      <a:r>
                        <a:rPr sz="1800" b="1" dirty="0">
                          <a:latin typeface="Courier New" panose="02070309020205020404"/>
                          <a:cs typeface="Courier New" panose="02070309020205020404"/>
                        </a:rPr>
                        <a:t>1-3-5</a:t>
                      </a:r>
                      <a:endParaRPr sz="1800">
                        <a:latin typeface="Courier New" panose="02070309020205020404"/>
                        <a:cs typeface="Courier New" panose="02070309020205020404"/>
                      </a:endParaRPr>
                    </a:p>
                  </a:txBody>
                  <a:tcPr marL="0" marR="0" marT="192405"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algn="ctr">
                        <a:lnSpc>
                          <a:spcPct val="100000"/>
                        </a:lnSpc>
                        <a:spcBef>
                          <a:spcPts val="1695"/>
                        </a:spcBef>
                      </a:pPr>
                      <a:r>
                        <a:rPr sz="1800" b="1" dirty="0">
                          <a:latin typeface="Courier New" panose="02070309020205020404"/>
                          <a:cs typeface="Courier New" panose="02070309020205020404"/>
                        </a:rPr>
                        <a:t>4</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8</a:t>
                      </a:r>
                      <a:endParaRPr sz="1800">
                        <a:latin typeface="Courier New" panose="02070309020205020404"/>
                        <a:cs typeface="Courier New" panose="02070309020205020404"/>
                      </a:endParaRPr>
                    </a:p>
                  </a:txBody>
                  <a:tcPr marL="0" marR="0" marT="215265" marB="0">
                    <a:lnL w="12700">
                      <a:solidFill>
                        <a:srgbClr val="000000"/>
                      </a:solidFill>
                      <a:prstDash val="solid"/>
                    </a:lnL>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4"/>
                  </a:ext>
                </a:extLst>
              </a:tr>
            </a:tbl>
          </a:graphicData>
        </a:graphic>
      </p:graphicFrame>
      <p:sp>
        <p:nvSpPr>
          <p:cNvPr id="5" name="灯片编号占位符 4"/>
          <p:cNvSpPr>
            <a:spLocks noGrp="1"/>
          </p:cNvSpPr>
          <p:nvPr>
            <p:ph type="sldNum" sz="quarter" idx="12"/>
          </p:nvPr>
        </p:nvSpPr>
        <p:spPr/>
        <p:txBody>
          <a:bodyPr/>
          <a:lstStyle/>
          <a:p>
            <a:fld id="{74D2AB8B-5816-41F2-8B4B-CA5C3E4E6A65}" type="slidenum">
              <a:rPr lang="zh-CN" altLang="en-US" smtClean="0"/>
              <a:t>38</a:t>
            </a:fld>
            <a:endParaRPr lang="zh-CN" altLang="en-US"/>
          </a:p>
        </p:txBody>
      </p:sp>
      <p:sp>
        <p:nvSpPr>
          <p:cNvPr id="7" name="标题 6"/>
          <p:cNvSpPr>
            <a:spLocks noGrp="1"/>
          </p:cNvSpPr>
          <p:nvPr>
            <p:ph type="title"/>
          </p:nvPr>
        </p:nvSpPr>
        <p:spPr/>
        <p:txBody>
          <a:bodyPr/>
          <a:lstStyle/>
          <a:p>
            <a:r>
              <a:rPr lang="zh-CN" altLang="en-US" dirty="0"/>
              <a:t>路径覆盖</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extLst>
              <p:ext uri="{D42A27DB-BD31-4B8C-83A1-F6EECF244321}">
                <p14:modId xmlns:p14="http://schemas.microsoft.com/office/powerpoint/2010/main" val="1762997771"/>
              </p:ext>
            </p:extLst>
          </p:nvPr>
        </p:nvGraphicFramePr>
        <p:xfrm>
          <a:off x="1581241" y="2767246"/>
          <a:ext cx="8859520" cy="3325324"/>
        </p:xfrm>
        <a:graphic>
          <a:graphicData uri="http://schemas.openxmlformats.org/drawingml/2006/table">
            <a:tbl>
              <a:tblPr firstRow="1" bandRow="1">
                <a:tableStyleId>{2D5ABB26-0587-4C30-8999-92F81FD0307C}</a:tableStyleId>
              </a:tblPr>
              <a:tblGrid>
                <a:gridCol w="3398520">
                  <a:extLst>
                    <a:ext uri="{9D8B030D-6E8A-4147-A177-3AD203B41FA5}">
                      <a16:colId xmlns:a16="http://schemas.microsoft.com/office/drawing/2014/main" val="20000"/>
                    </a:ext>
                  </a:extLst>
                </a:gridCol>
                <a:gridCol w="2086610">
                  <a:extLst>
                    <a:ext uri="{9D8B030D-6E8A-4147-A177-3AD203B41FA5}">
                      <a16:colId xmlns:a16="http://schemas.microsoft.com/office/drawing/2014/main" val="20001"/>
                    </a:ext>
                  </a:extLst>
                </a:gridCol>
                <a:gridCol w="1621155">
                  <a:extLst>
                    <a:ext uri="{9D8B030D-6E8A-4147-A177-3AD203B41FA5}">
                      <a16:colId xmlns:a16="http://schemas.microsoft.com/office/drawing/2014/main" val="20002"/>
                    </a:ext>
                  </a:extLst>
                </a:gridCol>
                <a:gridCol w="1753235">
                  <a:extLst>
                    <a:ext uri="{9D8B030D-6E8A-4147-A177-3AD203B41FA5}">
                      <a16:colId xmlns:a16="http://schemas.microsoft.com/office/drawing/2014/main" val="20003"/>
                    </a:ext>
                  </a:extLst>
                </a:gridCol>
              </a:tblGrid>
              <a:tr h="505924">
                <a:tc>
                  <a:txBody>
                    <a:bodyPr/>
                    <a:lstStyle/>
                    <a:p>
                      <a:pPr algn="ctr">
                        <a:lnSpc>
                          <a:spcPct val="100000"/>
                        </a:lnSpc>
                        <a:spcBef>
                          <a:spcPts val="1090"/>
                        </a:spcBef>
                      </a:pPr>
                      <a:r>
                        <a:rPr sz="1800" dirty="0">
                          <a:latin typeface="微软雅黑" panose="020B0503020204020204" pitchFamily="34" charset="-122"/>
                          <a:cs typeface="微软雅黑" panose="020B0503020204020204" pitchFamily="34" charset="-122"/>
                        </a:rPr>
                        <a:t>测试用例</a:t>
                      </a:r>
                      <a:endParaRPr sz="1800">
                        <a:latin typeface="微软雅黑" panose="020B0503020204020204" pitchFamily="34" charset="-122"/>
                        <a:cs typeface="微软雅黑" panose="020B0503020204020204" pitchFamily="34" charset="-122"/>
                      </a:endParaRPr>
                    </a:p>
                  </a:txBody>
                  <a:tcPr marL="0" marR="0" marT="138430" marB="0">
                    <a:lnR w="12700">
                      <a:solidFill>
                        <a:srgbClr val="000000"/>
                      </a:solidFill>
                      <a:prstDash val="solid"/>
                    </a:lnR>
                    <a:lnT w="19050">
                      <a:solidFill>
                        <a:srgbClr val="000000"/>
                      </a:solidFill>
                      <a:prstDash val="solid"/>
                    </a:lnT>
                    <a:lnB w="12700">
                      <a:solidFill>
                        <a:srgbClr val="000000"/>
                      </a:solidFill>
                      <a:prstDash val="solid"/>
                    </a:lnB>
                    <a:solidFill>
                      <a:srgbClr val="ECEBEB"/>
                    </a:solidFill>
                  </a:tcPr>
                </a:tc>
                <a:tc>
                  <a:txBody>
                    <a:bodyPr/>
                    <a:lstStyle/>
                    <a:p>
                      <a:pPr marL="586105">
                        <a:lnSpc>
                          <a:spcPct val="100000"/>
                        </a:lnSpc>
                        <a:spcBef>
                          <a:spcPts val="1090"/>
                        </a:spcBef>
                      </a:pPr>
                      <a:r>
                        <a:rPr sz="1800" dirty="0">
                          <a:latin typeface="微软雅黑" panose="020B0503020204020204" pitchFamily="34" charset="-122"/>
                          <a:cs typeface="微软雅黑" panose="020B0503020204020204" pitchFamily="34" charset="-122"/>
                        </a:rPr>
                        <a:t>覆盖条件</a:t>
                      </a:r>
                      <a:endParaRPr sz="1800">
                        <a:latin typeface="微软雅黑" panose="020B0503020204020204" pitchFamily="34" charset="-122"/>
                        <a:cs typeface="微软雅黑" panose="020B0503020204020204" pitchFamily="34" charset="-122"/>
                      </a:endParaRPr>
                    </a:p>
                  </a:txBody>
                  <a:tcPr marL="0" marR="0" marT="13843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solidFill>
                      <a:srgbClr val="ECEBEB"/>
                    </a:solidFill>
                  </a:tcPr>
                </a:tc>
                <a:tc>
                  <a:txBody>
                    <a:bodyPr/>
                    <a:lstStyle/>
                    <a:p>
                      <a:pPr algn="ctr">
                        <a:lnSpc>
                          <a:spcPct val="100000"/>
                        </a:lnSpc>
                        <a:spcBef>
                          <a:spcPts val="1090"/>
                        </a:spcBef>
                      </a:pPr>
                      <a:r>
                        <a:rPr sz="1800" dirty="0">
                          <a:latin typeface="微软雅黑" panose="020B0503020204020204" pitchFamily="34" charset="-122"/>
                          <a:cs typeface="微软雅黑" panose="020B0503020204020204" pitchFamily="34" charset="-122"/>
                        </a:rPr>
                        <a:t>覆盖路径</a:t>
                      </a:r>
                      <a:endParaRPr sz="1800">
                        <a:latin typeface="微软雅黑" panose="020B0503020204020204" pitchFamily="34" charset="-122"/>
                        <a:cs typeface="微软雅黑" panose="020B0503020204020204" pitchFamily="34" charset="-122"/>
                      </a:endParaRPr>
                    </a:p>
                  </a:txBody>
                  <a:tcPr marL="0" marR="0" marT="13843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solidFill>
                      <a:srgbClr val="ECEBEB"/>
                    </a:solidFill>
                  </a:tcPr>
                </a:tc>
                <a:tc>
                  <a:txBody>
                    <a:bodyPr/>
                    <a:lstStyle/>
                    <a:p>
                      <a:pPr algn="ctr">
                        <a:lnSpc>
                          <a:spcPct val="100000"/>
                        </a:lnSpc>
                        <a:spcBef>
                          <a:spcPts val="1090"/>
                        </a:spcBef>
                      </a:pPr>
                      <a:r>
                        <a:rPr sz="1800" dirty="0">
                          <a:latin typeface="微软雅黑" panose="020B0503020204020204" pitchFamily="34" charset="-122"/>
                          <a:cs typeface="微软雅黑" panose="020B0503020204020204" pitchFamily="34" charset="-122"/>
                        </a:rPr>
                        <a:t>覆盖组合</a:t>
                      </a:r>
                      <a:endParaRPr sz="1800">
                        <a:latin typeface="微软雅黑" panose="020B0503020204020204" pitchFamily="34" charset="-122"/>
                        <a:cs typeface="微软雅黑" panose="020B0503020204020204" pitchFamily="34" charset="-122"/>
                      </a:endParaRPr>
                    </a:p>
                  </a:txBody>
                  <a:tcPr marL="0" marR="0" marT="138430" marB="0">
                    <a:lnL w="12700">
                      <a:solidFill>
                        <a:srgbClr val="000000"/>
                      </a:solidFill>
                      <a:prstDash val="solid"/>
                    </a:lnL>
                    <a:lnT w="19050">
                      <a:solidFill>
                        <a:srgbClr val="000000"/>
                      </a:solidFill>
                      <a:prstDash val="solid"/>
                    </a:lnT>
                    <a:lnB w="12700">
                      <a:solidFill>
                        <a:srgbClr val="000000"/>
                      </a:solidFill>
                      <a:prstDash val="solid"/>
                    </a:lnB>
                    <a:solidFill>
                      <a:srgbClr val="ECEBEB"/>
                    </a:solidFill>
                  </a:tcPr>
                </a:tc>
                <a:extLst>
                  <a:ext uri="{0D108BD9-81ED-4DB2-BD59-A6C34878D82A}">
                    <a16:rowId xmlns:a16="http://schemas.microsoft.com/office/drawing/2014/main" val="10000"/>
                  </a:ext>
                </a:extLst>
              </a:tr>
              <a:tr h="563880">
                <a:tc>
                  <a:txBody>
                    <a:bodyPr/>
                    <a:lstStyle/>
                    <a:p>
                      <a:pPr marL="67945">
                        <a:lnSpc>
                          <a:spcPct val="100000"/>
                        </a:lnSpc>
                        <a:spcBef>
                          <a:spcPts val="1140"/>
                        </a:spcBef>
                      </a:pPr>
                      <a:r>
                        <a:rPr sz="1800" dirty="0">
                          <a:latin typeface="微软雅黑" panose="020B0503020204020204" pitchFamily="34" charset="-122"/>
                          <a:cs typeface="微软雅黑" panose="020B0503020204020204" pitchFamily="34" charset="-122"/>
                        </a:rPr>
                        <a:t>输入：</a:t>
                      </a:r>
                      <a:r>
                        <a:rPr sz="1800" b="1" dirty="0">
                          <a:latin typeface="Courier New" panose="02070309020205020404"/>
                          <a:cs typeface="Courier New" panose="02070309020205020404"/>
                        </a:rPr>
                        <a:t>a=2</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b=1</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c=6</a:t>
                      </a:r>
                      <a:endParaRPr sz="1800">
                        <a:latin typeface="Courier New" panose="02070309020205020404"/>
                        <a:cs typeface="Courier New" panose="02070309020205020404"/>
                      </a:endParaRPr>
                    </a:p>
                  </a:txBody>
                  <a:tcPr marL="0" marR="0" marT="14478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63245" marR="555625">
                        <a:lnSpc>
                          <a:spcPts val="2200"/>
                        </a:lnSpc>
                        <a:spcBef>
                          <a:spcPts val="40"/>
                        </a:spcBef>
                      </a:pPr>
                      <a:r>
                        <a:rPr sz="1800" b="1" spc="-5" dirty="0">
                          <a:latin typeface="Courier New" panose="02070309020205020404"/>
                          <a:cs typeface="Courier New" panose="02070309020205020404"/>
                        </a:rPr>
                        <a:t>a&gt;0,b&gt;0  a&gt;1,c&gt;1</a:t>
                      </a:r>
                      <a:endParaRPr sz="1800">
                        <a:latin typeface="Courier New" panose="02070309020205020404"/>
                        <a:cs typeface="Courier New" panose="02070309020205020404"/>
                      </a:endParaRPr>
                    </a:p>
                  </a:txBody>
                  <a:tcPr marL="0" marR="0" marT="50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140"/>
                        </a:spcBef>
                      </a:pPr>
                      <a:r>
                        <a:rPr sz="1800" b="1" dirty="0">
                          <a:latin typeface="Courier New" panose="02070309020205020404"/>
                          <a:cs typeface="Courier New" panose="02070309020205020404"/>
                        </a:rPr>
                        <a:t>1-2-4</a:t>
                      </a:r>
                      <a:endParaRPr sz="1800">
                        <a:latin typeface="Courier New" panose="02070309020205020404"/>
                        <a:cs typeface="Courier New" panose="02070309020205020404"/>
                      </a:endParaRPr>
                    </a:p>
                  </a:txBody>
                  <a:tcPr marL="0" marR="0" marT="1447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320"/>
                        </a:spcBef>
                      </a:pPr>
                      <a:r>
                        <a:rPr sz="1800" b="1" dirty="0">
                          <a:latin typeface="Courier New" panose="02070309020205020404"/>
                          <a:cs typeface="Courier New" panose="02070309020205020404"/>
                        </a:rPr>
                        <a:t>1</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5</a:t>
                      </a:r>
                      <a:endParaRPr sz="1800">
                        <a:latin typeface="Courier New" panose="02070309020205020404"/>
                        <a:cs typeface="Courier New" panose="02070309020205020404"/>
                      </a:endParaRPr>
                    </a:p>
                  </a:txBody>
                  <a:tcPr marL="0" marR="0" marT="16764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563879">
                <a:tc>
                  <a:txBody>
                    <a:bodyPr/>
                    <a:lstStyle/>
                    <a:p>
                      <a:pPr marL="67945">
                        <a:lnSpc>
                          <a:spcPct val="100000"/>
                        </a:lnSpc>
                        <a:spcBef>
                          <a:spcPts val="1140"/>
                        </a:spcBef>
                      </a:pPr>
                      <a:r>
                        <a:rPr sz="1800" dirty="0">
                          <a:latin typeface="微软雅黑" panose="020B0503020204020204" pitchFamily="34" charset="-122"/>
                          <a:cs typeface="微软雅黑" panose="020B0503020204020204" pitchFamily="34" charset="-122"/>
                        </a:rPr>
                        <a:t>输入：</a:t>
                      </a:r>
                      <a:r>
                        <a:rPr sz="1800" b="1" dirty="0">
                          <a:latin typeface="Courier New" panose="02070309020205020404"/>
                          <a:cs typeface="Courier New" panose="02070309020205020404"/>
                        </a:rPr>
                        <a:t>a=1</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b=1</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c=-3</a:t>
                      </a:r>
                      <a:endParaRPr sz="1800">
                        <a:latin typeface="Courier New" panose="02070309020205020404"/>
                        <a:cs typeface="Courier New" panose="02070309020205020404"/>
                      </a:endParaRPr>
                    </a:p>
                  </a:txBody>
                  <a:tcPr marL="0" marR="0" marT="14478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426085" marR="419100" indent="137160">
                        <a:lnSpc>
                          <a:spcPts val="2200"/>
                        </a:lnSpc>
                        <a:spcBef>
                          <a:spcPts val="40"/>
                        </a:spcBef>
                      </a:pPr>
                      <a:r>
                        <a:rPr sz="1800" b="1" spc="-5" dirty="0">
                          <a:latin typeface="Courier New" panose="02070309020205020404"/>
                          <a:cs typeface="Courier New" panose="02070309020205020404"/>
                        </a:rPr>
                        <a:t>a&gt;0,b&gt;0  </a:t>
                      </a:r>
                      <a:r>
                        <a:rPr sz="1800" b="1" dirty="0">
                          <a:latin typeface="Courier New" panose="02070309020205020404"/>
                          <a:cs typeface="Courier New" panose="02070309020205020404"/>
                        </a:rPr>
                        <a:t>a&lt;=1,c&lt;=1</a:t>
                      </a:r>
                      <a:endParaRPr sz="1800">
                        <a:latin typeface="Courier New" panose="02070309020205020404"/>
                        <a:cs typeface="Courier New" panose="02070309020205020404"/>
                      </a:endParaRPr>
                    </a:p>
                  </a:txBody>
                  <a:tcPr marL="0" marR="0" marT="50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140"/>
                        </a:spcBef>
                      </a:pPr>
                      <a:r>
                        <a:rPr sz="1800" b="1" dirty="0">
                          <a:latin typeface="Courier New" panose="02070309020205020404"/>
                          <a:cs typeface="Courier New" panose="02070309020205020404"/>
                        </a:rPr>
                        <a:t>1-2-5</a:t>
                      </a:r>
                      <a:endParaRPr sz="1800">
                        <a:latin typeface="Courier New" panose="02070309020205020404"/>
                        <a:cs typeface="Courier New" panose="02070309020205020404"/>
                      </a:endParaRPr>
                    </a:p>
                  </a:txBody>
                  <a:tcPr marL="0" marR="0" marT="1447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320"/>
                        </a:spcBef>
                      </a:pPr>
                      <a:r>
                        <a:rPr sz="1800" b="1" dirty="0">
                          <a:latin typeface="Courier New" panose="02070309020205020404"/>
                          <a:cs typeface="Courier New" panose="02070309020205020404"/>
                        </a:rPr>
                        <a:t>1</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8</a:t>
                      </a:r>
                      <a:endParaRPr sz="1800">
                        <a:latin typeface="Courier New" panose="02070309020205020404"/>
                        <a:cs typeface="Courier New" panose="02070309020205020404"/>
                      </a:endParaRPr>
                    </a:p>
                  </a:txBody>
                  <a:tcPr marL="0" marR="0" marT="16764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563879">
                <a:tc>
                  <a:txBody>
                    <a:bodyPr/>
                    <a:lstStyle/>
                    <a:p>
                      <a:pPr marL="67945">
                        <a:lnSpc>
                          <a:spcPct val="100000"/>
                        </a:lnSpc>
                        <a:spcBef>
                          <a:spcPts val="1140"/>
                        </a:spcBef>
                      </a:pPr>
                      <a:r>
                        <a:rPr sz="1800" dirty="0">
                          <a:latin typeface="微软雅黑" panose="020B0503020204020204" pitchFamily="34" charset="-122"/>
                          <a:cs typeface="微软雅黑" panose="020B0503020204020204" pitchFamily="34" charset="-122"/>
                        </a:rPr>
                        <a:t>输入：</a:t>
                      </a:r>
                      <a:r>
                        <a:rPr sz="1800" b="1" dirty="0">
                          <a:solidFill>
                            <a:srgbClr val="FF0000"/>
                          </a:solidFill>
                          <a:latin typeface="Courier New" panose="02070309020205020404"/>
                          <a:cs typeface="Courier New" panose="02070309020205020404"/>
                        </a:rPr>
                        <a:t>a=2</a:t>
                      </a:r>
                      <a:r>
                        <a:rPr sz="1800" b="1" dirty="0">
                          <a:solidFill>
                            <a:srgbClr val="FF0000"/>
                          </a:solidFill>
                          <a:latin typeface="微软雅黑" panose="020B0503020204020204" pitchFamily="34" charset="-122"/>
                          <a:cs typeface="微软雅黑" panose="020B0503020204020204" pitchFamily="34" charset="-122"/>
                        </a:rPr>
                        <a:t>，</a:t>
                      </a:r>
                      <a:r>
                        <a:rPr sz="1800" b="1" dirty="0">
                          <a:solidFill>
                            <a:srgbClr val="FF0000"/>
                          </a:solidFill>
                          <a:latin typeface="Courier New" panose="02070309020205020404"/>
                          <a:cs typeface="Courier New" panose="02070309020205020404"/>
                        </a:rPr>
                        <a:t>b=-1</a:t>
                      </a:r>
                      <a:r>
                        <a:rPr sz="1800" b="1" dirty="0">
                          <a:solidFill>
                            <a:srgbClr val="FF0000"/>
                          </a:solidFill>
                          <a:latin typeface="微软雅黑" panose="020B0503020204020204" pitchFamily="34" charset="-122"/>
                          <a:cs typeface="微软雅黑" panose="020B0503020204020204" pitchFamily="34" charset="-122"/>
                        </a:rPr>
                        <a:t>，</a:t>
                      </a:r>
                      <a:r>
                        <a:rPr sz="1800" b="1" dirty="0">
                          <a:solidFill>
                            <a:srgbClr val="FF0000"/>
                          </a:solidFill>
                          <a:latin typeface="Courier New" panose="02070309020205020404"/>
                          <a:cs typeface="Courier New" panose="02070309020205020404"/>
                        </a:rPr>
                        <a:t>c=-2</a:t>
                      </a:r>
                      <a:endParaRPr sz="1800" dirty="0">
                        <a:solidFill>
                          <a:srgbClr val="FF0000"/>
                        </a:solidFill>
                        <a:latin typeface="Courier New" panose="02070309020205020404"/>
                        <a:cs typeface="Courier New" panose="02070309020205020404"/>
                      </a:endParaRPr>
                    </a:p>
                  </a:txBody>
                  <a:tcPr marL="0" marR="0" marT="14478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494665" marR="487045">
                        <a:lnSpc>
                          <a:spcPts val="2200"/>
                        </a:lnSpc>
                        <a:spcBef>
                          <a:spcPts val="40"/>
                        </a:spcBef>
                      </a:pPr>
                      <a:r>
                        <a:rPr sz="1800" b="1" spc="-5" dirty="0">
                          <a:latin typeface="Courier New" panose="02070309020205020404"/>
                          <a:cs typeface="Courier New" panose="02070309020205020404"/>
                        </a:rPr>
                        <a:t>a&gt;0,b&lt;=0  </a:t>
                      </a:r>
                      <a:r>
                        <a:rPr sz="1800" b="1" dirty="0">
                          <a:latin typeface="Courier New" panose="02070309020205020404"/>
                          <a:cs typeface="Courier New" panose="02070309020205020404"/>
                        </a:rPr>
                        <a:t>a&gt;1,c&lt;=1</a:t>
                      </a:r>
                      <a:endParaRPr sz="1800">
                        <a:latin typeface="Courier New" panose="02070309020205020404"/>
                        <a:cs typeface="Courier New" panose="02070309020205020404"/>
                      </a:endParaRPr>
                    </a:p>
                  </a:txBody>
                  <a:tcPr marL="0" marR="0" marT="50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140"/>
                        </a:spcBef>
                      </a:pPr>
                      <a:r>
                        <a:rPr sz="1800" b="1" dirty="0">
                          <a:latin typeface="Courier New" panose="02070309020205020404"/>
                          <a:cs typeface="Courier New" panose="02070309020205020404"/>
                        </a:rPr>
                        <a:t>1-3-4</a:t>
                      </a:r>
                      <a:endParaRPr sz="1800" dirty="0">
                        <a:latin typeface="Courier New" panose="02070309020205020404"/>
                        <a:cs typeface="Courier New" panose="02070309020205020404"/>
                      </a:endParaRPr>
                    </a:p>
                  </a:txBody>
                  <a:tcPr marL="0" marR="0" marT="1447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320"/>
                        </a:spcBef>
                      </a:pPr>
                      <a:r>
                        <a:rPr sz="1800" b="1" dirty="0">
                          <a:latin typeface="Courier New" panose="02070309020205020404"/>
                          <a:cs typeface="Courier New" panose="02070309020205020404"/>
                        </a:rPr>
                        <a:t>2</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6</a:t>
                      </a:r>
                      <a:endParaRPr sz="1800">
                        <a:latin typeface="Courier New" panose="02070309020205020404"/>
                        <a:cs typeface="Courier New" panose="02070309020205020404"/>
                      </a:endParaRPr>
                    </a:p>
                  </a:txBody>
                  <a:tcPr marL="0" marR="0" marT="16764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563879">
                <a:tc>
                  <a:txBody>
                    <a:bodyPr/>
                    <a:lstStyle/>
                    <a:p>
                      <a:pPr marL="67945">
                        <a:lnSpc>
                          <a:spcPct val="100000"/>
                        </a:lnSpc>
                        <a:spcBef>
                          <a:spcPts val="1140"/>
                        </a:spcBef>
                      </a:pPr>
                      <a:r>
                        <a:rPr sz="1800" dirty="0">
                          <a:latin typeface="微软雅黑" panose="020B0503020204020204" pitchFamily="34" charset="-122"/>
                          <a:cs typeface="微软雅黑" panose="020B0503020204020204" pitchFamily="34" charset="-122"/>
                        </a:rPr>
                        <a:t>输入</a:t>
                      </a:r>
                      <a:r>
                        <a:rPr sz="1800" spc="-5" dirty="0">
                          <a:latin typeface="微软雅黑" panose="020B0503020204020204" pitchFamily="34" charset="-122"/>
                          <a:cs typeface="微软雅黑" panose="020B0503020204020204" pitchFamily="34" charset="-122"/>
                        </a:rPr>
                        <a:t>：</a:t>
                      </a:r>
                      <a:r>
                        <a:rPr sz="1800" b="1" spc="-5" dirty="0">
                          <a:latin typeface="Courier New" panose="02070309020205020404"/>
                          <a:cs typeface="Courier New" panose="02070309020205020404"/>
                        </a:rPr>
                        <a:t>a=-1</a:t>
                      </a:r>
                      <a:r>
                        <a:rPr sz="1800" b="1" spc="-5" dirty="0">
                          <a:latin typeface="微软雅黑" panose="020B0503020204020204" pitchFamily="34" charset="-122"/>
                          <a:cs typeface="微软雅黑" panose="020B0503020204020204" pitchFamily="34" charset="-122"/>
                        </a:rPr>
                        <a:t>，</a:t>
                      </a:r>
                      <a:r>
                        <a:rPr sz="1800" b="1" spc="-5" dirty="0">
                          <a:latin typeface="Courier New" panose="02070309020205020404"/>
                          <a:cs typeface="Courier New" panose="02070309020205020404"/>
                        </a:rPr>
                        <a:t>b=2</a:t>
                      </a:r>
                      <a:r>
                        <a:rPr sz="1800" b="1" spc="-5" dirty="0">
                          <a:latin typeface="微软雅黑" panose="020B0503020204020204" pitchFamily="34" charset="-122"/>
                          <a:cs typeface="微软雅黑" panose="020B0503020204020204" pitchFamily="34" charset="-122"/>
                        </a:rPr>
                        <a:t>，</a:t>
                      </a:r>
                      <a:r>
                        <a:rPr sz="1800" b="1" spc="-5" dirty="0">
                          <a:latin typeface="Courier New" panose="02070309020205020404"/>
                          <a:cs typeface="Courier New" panose="02070309020205020404"/>
                        </a:rPr>
                        <a:t>c=3</a:t>
                      </a:r>
                      <a:endParaRPr sz="1800">
                        <a:latin typeface="Courier New" panose="02070309020205020404"/>
                        <a:cs typeface="Courier New" panose="02070309020205020404"/>
                      </a:endParaRPr>
                    </a:p>
                  </a:txBody>
                  <a:tcPr marL="0" marR="0" marT="14478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494665" marR="487045">
                        <a:lnSpc>
                          <a:spcPts val="2200"/>
                        </a:lnSpc>
                        <a:spcBef>
                          <a:spcPts val="40"/>
                        </a:spcBef>
                      </a:pPr>
                      <a:r>
                        <a:rPr sz="1800" b="1" spc="-5" dirty="0">
                          <a:latin typeface="Courier New" panose="02070309020205020404"/>
                          <a:cs typeface="Courier New" panose="02070309020205020404"/>
                        </a:rPr>
                        <a:t>a&lt;=0,b&gt;0  a&lt;=1,c&gt;1</a:t>
                      </a:r>
                      <a:endParaRPr sz="1800">
                        <a:latin typeface="Courier New" panose="02070309020205020404"/>
                        <a:cs typeface="Courier New" panose="02070309020205020404"/>
                      </a:endParaRPr>
                    </a:p>
                  </a:txBody>
                  <a:tcPr marL="0" marR="0" marT="50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140"/>
                        </a:spcBef>
                      </a:pPr>
                      <a:r>
                        <a:rPr sz="1800" b="1" dirty="0">
                          <a:latin typeface="Courier New" panose="02070309020205020404"/>
                          <a:cs typeface="Courier New" panose="02070309020205020404"/>
                        </a:rPr>
                        <a:t>1-3-4</a:t>
                      </a:r>
                      <a:endParaRPr sz="1800">
                        <a:latin typeface="Courier New" panose="02070309020205020404"/>
                        <a:cs typeface="Courier New" panose="02070309020205020404"/>
                      </a:endParaRPr>
                    </a:p>
                  </a:txBody>
                  <a:tcPr marL="0" marR="0" marT="1447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320"/>
                        </a:spcBef>
                      </a:pPr>
                      <a:r>
                        <a:rPr sz="1800" b="1" dirty="0">
                          <a:latin typeface="Courier New" panose="02070309020205020404"/>
                          <a:cs typeface="Courier New" panose="02070309020205020404"/>
                        </a:rPr>
                        <a:t>3</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7</a:t>
                      </a:r>
                      <a:endParaRPr sz="1800">
                        <a:latin typeface="Courier New" panose="02070309020205020404"/>
                        <a:cs typeface="Courier New" panose="02070309020205020404"/>
                      </a:endParaRPr>
                    </a:p>
                  </a:txBody>
                  <a:tcPr marL="0" marR="0" marT="16764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563879">
                <a:tc>
                  <a:txBody>
                    <a:bodyPr/>
                    <a:lstStyle/>
                    <a:p>
                      <a:pPr marL="67945">
                        <a:lnSpc>
                          <a:spcPct val="100000"/>
                        </a:lnSpc>
                        <a:spcBef>
                          <a:spcPts val="1140"/>
                        </a:spcBef>
                      </a:pPr>
                      <a:r>
                        <a:rPr sz="1800" dirty="0">
                          <a:latin typeface="微软雅黑" panose="020B0503020204020204" pitchFamily="34" charset="-122"/>
                          <a:cs typeface="微软雅黑" panose="020B0503020204020204" pitchFamily="34" charset="-122"/>
                        </a:rPr>
                        <a:t>输入：</a:t>
                      </a:r>
                      <a:r>
                        <a:rPr sz="1800" b="1" dirty="0">
                          <a:latin typeface="Courier New" panose="02070309020205020404"/>
                          <a:cs typeface="Courier New" panose="02070309020205020404"/>
                        </a:rPr>
                        <a:t>a=-1</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b=-2</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c=-3</a:t>
                      </a:r>
                      <a:endParaRPr sz="1800">
                        <a:latin typeface="Courier New" panose="02070309020205020404"/>
                        <a:cs typeface="Courier New" panose="02070309020205020404"/>
                      </a:endParaRPr>
                    </a:p>
                  </a:txBody>
                  <a:tcPr marL="0" marR="0" marT="144780" marB="0">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marL="426085" marR="418465">
                        <a:lnSpc>
                          <a:spcPts val="2200"/>
                        </a:lnSpc>
                        <a:spcBef>
                          <a:spcPts val="40"/>
                        </a:spcBef>
                      </a:pPr>
                      <a:r>
                        <a:rPr sz="1800" b="1" spc="-5" dirty="0">
                          <a:latin typeface="Courier New" panose="02070309020205020404"/>
                          <a:cs typeface="Courier New" panose="02070309020205020404"/>
                        </a:rPr>
                        <a:t>a&lt;=0,b&lt;=0  a&lt;=1,c&lt;=1</a:t>
                      </a:r>
                      <a:endParaRPr sz="1800">
                        <a:latin typeface="Courier New" panose="02070309020205020404"/>
                        <a:cs typeface="Courier New" panose="02070309020205020404"/>
                      </a:endParaRPr>
                    </a:p>
                  </a:txBody>
                  <a:tcPr marL="0" marR="0" marT="508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algn="ctr">
                        <a:lnSpc>
                          <a:spcPct val="100000"/>
                        </a:lnSpc>
                        <a:spcBef>
                          <a:spcPts val="1140"/>
                        </a:spcBef>
                      </a:pPr>
                      <a:r>
                        <a:rPr sz="1800" b="1" dirty="0">
                          <a:latin typeface="Courier New" panose="02070309020205020404"/>
                          <a:cs typeface="Courier New" panose="02070309020205020404"/>
                        </a:rPr>
                        <a:t>1-3-5</a:t>
                      </a:r>
                      <a:endParaRPr sz="1800">
                        <a:latin typeface="Courier New" panose="02070309020205020404"/>
                        <a:cs typeface="Courier New" panose="02070309020205020404"/>
                      </a:endParaRPr>
                    </a:p>
                  </a:txBody>
                  <a:tcPr marL="0" marR="0" marT="14478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algn="ctr">
                        <a:lnSpc>
                          <a:spcPct val="100000"/>
                        </a:lnSpc>
                        <a:spcBef>
                          <a:spcPts val="1320"/>
                        </a:spcBef>
                      </a:pPr>
                      <a:r>
                        <a:rPr sz="1800" b="1" dirty="0">
                          <a:latin typeface="Courier New" panose="02070309020205020404"/>
                          <a:cs typeface="Courier New" panose="02070309020205020404"/>
                        </a:rPr>
                        <a:t>4</a:t>
                      </a:r>
                      <a:r>
                        <a:rPr sz="1800" b="1" dirty="0">
                          <a:latin typeface="微软雅黑" panose="020B0503020204020204" pitchFamily="34" charset="-122"/>
                          <a:cs typeface="微软雅黑" panose="020B0503020204020204" pitchFamily="34" charset="-122"/>
                        </a:rPr>
                        <a:t>，</a:t>
                      </a:r>
                      <a:r>
                        <a:rPr sz="1800" b="1" dirty="0">
                          <a:latin typeface="Courier New" panose="02070309020205020404"/>
                          <a:cs typeface="Courier New" panose="02070309020205020404"/>
                        </a:rPr>
                        <a:t>8</a:t>
                      </a:r>
                      <a:endParaRPr sz="1800" dirty="0">
                        <a:latin typeface="Courier New" panose="02070309020205020404"/>
                        <a:cs typeface="Courier New" panose="02070309020205020404"/>
                      </a:endParaRPr>
                    </a:p>
                  </a:txBody>
                  <a:tcPr marL="0" marR="0" marT="167640" marB="0">
                    <a:lnL w="12700">
                      <a:solidFill>
                        <a:srgbClr val="000000"/>
                      </a:solidFill>
                      <a:prstDash val="solid"/>
                    </a:lnL>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5"/>
                  </a:ext>
                </a:extLst>
              </a:tr>
            </a:tbl>
          </a:graphicData>
        </a:graphic>
      </p:graphicFrame>
      <p:sp>
        <p:nvSpPr>
          <p:cNvPr id="4" name="object 4"/>
          <p:cNvSpPr txBox="1"/>
          <p:nvPr/>
        </p:nvSpPr>
        <p:spPr>
          <a:xfrm>
            <a:off x="1583880" y="1640526"/>
            <a:ext cx="9245600" cy="838200"/>
          </a:xfrm>
          <a:prstGeom prst="rect">
            <a:avLst/>
          </a:prstGeom>
        </p:spPr>
        <p:txBody>
          <a:bodyPr vert="horz" wrap="square" lIns="0" tIns="12700" rIns="0" bIns="0" rtlCol="0">
            <a:spAutoFit/>
          </a:bodyPr>
          <a:lstStyle/>
          <a:p>
            <a:pPr marL="12700" marR="5080">
              <a:lnSpc>
                <a:spcPct val="121000"/>
              </a:lnSpc>
              <a:spcBef>
                <a:spcPts val="100"/>
              </a:spcBef>
            </a:pPr>
            <a:r>
              <a:rPr sz="2200" dirty="0">
                <a:solidFill>
                  <a:srgbClr val="CC0000"/>
                </a:solidFill>
                <a:latin typeface="微软雅黑" panose="020B0503020204020204" pitchFamily="34" charset="-122"/>
                <a:cs typeface="微软雅黑" panose="020B0503020204020204" pitchFamily="34" charset="-122"/>
              </a:rPr>
              <a:t>问题分析</a:t>
            </a:r>
            <a:r>
              <a:rPr sz="2200" dirty="0">
                <a:solidFill>
                  <a:srgbClr val="D81E00"/>
                </a:solidFill>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前面的测试用例完全覆盖所有路径，但没有覆盖所有条件组合。 </a:t>
            </a:r>
            <a:r>
              <a:rPr sz="2200" dirty="0">
                <a:solidFill>
                  <a:srgbClr val="0033CC"/>
                </a:solidFill>
                <a:latin typeface="微软雅黑" panose="020B0503020204020204" pitchFamily="34" charset="-122"/>
                <a:cs typeface="微软雅黑" panose="020B0503020204020204" pitchFamily="34" charset="-122"/>
              </a:rPr>
              <a:t>下面结合条件组合和路径覆盖两种方法重新设计测试用例</a:t>
            </a:r>
            <a:r>
              <a:rPr sz="2200" dirty="0">
                <a:solidFill>
                  <a:srgbClr val="004DD6"/>
                </a:solidFill>
                <a:latin typeface="微软雅黑" panose="020B0503020204020204" pitchFamily="34" charset="-122"/>
                <a:cs typeface="微软雅黑" panose="020B0503020204020204" pitchFamily="34" charset="-122"/>
              </a:rPr>
              <a:t>：</a:t>
            </a:r>
            <a:endParaRPr sz="2200">
              <a:latin typeface="微软雅黑" panose="020B0503020204020204" pitchFamily="34" charset="-122"/>
              <a:cs typeface="微软雅黑" panose="020B0503020204020204" pitchFamily="34" charset="-122"/>
            </a:endParaRPr>
          </a:p>
        </p:txBody>
      </p:sp>
      <p:sp>
        <p:nvSpPr>
          <p:cNvPr id="5" name="灯片编号占位符 4"/>
          <p:cNvSpPr>
            <a:spLocks noGrp="1"/>
          </p:cNvSpPr>
          <p:nvPr>
            <p:ph type="sldNum" sz="quarter" idx="12"/>
          </p:nvPr>
        </p:nvSpPr>
        <p:spPr/>
        <p:txBody>
          <a:bodyPr/>
          <a:lstStyle/>
          <a:p>
            <a:fld id="{74D2AB8B-5816-41F2-8B4B-CA5C3E4E6A65}" type="slidenum">
              <a:rPr lang="zh-CN" altLang="en-US" smtClean="0"/>
              <a:t>39</a:t>
            </a:fld>
            <a:endParaRPr lang="zh-CN" altLang="en-US"/>
          </a:p>
        </p:txBody>
      </p:sp>
      <p:sp>
        <p:nvSpPr>
          <p:cNvPr id="7" name="标题 6"/>
          <p:cNvSpPr>
            <a:spLocks noGrp="1"/>
          </p:cNvSpPr>
          <p:nvPr>
            <p:ph type="title"/>
          </p:nvPr>
        </p:nvSpPr>
        <p:spPr/>
        <p:txBody>
          <a:bodyPr/>
          <a:lstStyle/>
          <a:p>
            <a:r>
              <a:rPr lang="zh-CN" altLang="en-US" dirty="0"/>
              <a:t>路径覆盖</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90007" y="1934338"/>
            <a:ext cx="9406255" cy="2976880"/>
          </a:xfrm>
          <a:prstGeom prst="rect">
            <a:avLst/>
          </a:prstGeom>
        </p:spPr>
        <p:txBody>
          <a:bodyPr vert="horz" wrap="square" lIns="0" tIns="12700" rIns="0" bIns="0" rtlCol="0">
            <a:spAutoFit/>
          </a:bodyPr>
          <a:lstStyle/>
          <a:p>
            <a:pPr marL="452120" indent="-440055">
              <a:lnSpc>
                <a:spcPct val="100000"/>
              </a:lnSpc>
              <a:spcBef>
                <a:spcPts val="100"/>
              </a:spcBef>
              <a:buFont typeface="Arial" panose="020B0604020202020204"/>
              <a:buChar char="•"/>
              <a:tabLst>
                <a:tab pos="452120" algn="l"/>
                <a:tab pos="452755" algn="l"/>
              </a:tabLst>
            </a:pPr>
            <a:r>
              <a:rPr sz="2200" dirty="0">
                <a:latin typeface="微软雅黑" panose="020B0503020204020204" pitchFamily="34" charset="-122"/>
                <a:cs typeface="微软雅黑" panose="020B0503020204020204" pitchFamily="34" charset="-122"/>
              </a:rPr>
              <a:t>覆盖率数据只能代表测试过哪些代码，不能代表是否测试好这些代码。</a:t>
            </a:r>
          </a:p>
          <a:p>
            <a:pPr marL="452120" indent="-440055">
              <a:lnSpc>
                <a:spcPct val="100000"/>
              </a:lnSpc>
              <a:spcBef>
                <a:spcPts val="2460"/>
              </a:spcBef>
              <a:buFont typeface="Arial" panose="020B0604020202020204"/>
              <a:buChar char="•"/>
              <a:tabLst>
                <a:tab pos="452120" algn="l"/>
                <a:tab pos="452755" algn="l"/>
              </a:tabLst>
            </a:pPr>
            <a:r>
              <a:rPr sz="2200" dirty="0">
                <a:latin typeface="微软雅黑" panose="020B0503020204020204" pitchFamily="34" charset="-122"/>
                <a:cs typeface="微软雅黑" panose="020B0503020204020204" pitchFamily="34" charset="-122"/>
              </a:rPr>
              <a:t>较低的测试覆盖率能说明所做的测试还不够，但反之不成立。</a:t>
            </a:r>
          </a:p>
          <a:p>
            <a:pPr marL="452120" indent="-440055">
              <a:lnSpc>
                <a:spcPct val="100000"/>
              </a:lnSpc>
              <a:spcBef>
                <a:spcPts val="2560"/>
              </a:spcBef>
              <a:buFont typeface="Arial" panose="020B0604020202020204"/>
              <a:buChar char="•"/>
              <a:tabLst>
                <a:tab pos="452120" algn="l"/>
                <a:tab pos="452755" algn="l"/>
              </a:tabLst>
            </a:pPr>
            <a:r>
              <a:rPr sz="2200" dirty="0">
                <a:latin typeface="微软雅黑" panose="020B0503020204020204" pitchFamily="34" charset="-122"/>
                <a:cs typeface="微软雅黑" panose="020B0503020204020204" pitchFamily="34" charset="-122"/>
              </a:rPr>
              <a:t>路径覆盖</a:t>
            </a:r>
            <a:r>
              <a:rPr sz="2200" spc="-5" dirty="0">
                <a:latin typeface="微软雅黑" panose="020B0503020204020204" pitchFamily="34" charset="-122"/>
                <a:cs typeface="微软雅黑" panose="020B0503020204020204" pitchFamily="34" charset="-122"/>
              </a:rPr>
              <a:t> </a:t>
            </a:r>
            <a:r>
              <a:rPr sz="2200" dirty="0">
                <a:latin typeface="Arial" panose="020B0604020202020204"/>
                <a:cs typeface="Arial" panose="020B0604020202020204"/>
              </a:rPr>
              <a:t>&gt; </a:t>
            </a:r>
            <a:r>
              <a:rPr sz="2200" dirty="0">
                <a:latin typeface="微软雅黑" panose="020B0503020204020204" pitchFamily="34" charset="-122"/>
                <a:cs typeface="微软雅黑" panose="020B0503020204020204" pitchFamily="34" charset="-122"/>
              </a:rPr>
              <a:t>判定覆盖 </a:t>
            </a:r>
            <a:r>
              <a:rPr sz="2200" dirty="0">
                <a:latin typeface="Arial" panose="020B0604020202020204"/>
                <a:cs typeface="Arial" panose="020B0604020202020204"/>
              </a:rPr>
              <a:t>&gt;</a:t>
            </a:r>
            <a:r>
              <a:rPr sz="2200" spc="-5" dirty="0">
                <a:latin typeface="Arial" panose="020B0604020202020204"/>
                <a:cs typeface="Arial" panose="020B0604020202020204"/>
              </a:rPr>
              <a:t> </a:t>
            </a:r>
            <a:r>
              <a:rPr sz="2200" dirty="0">
                <a:latin typeface="微软雅黑" panose="020B0503020204020204" pitchFamily="34" charset="-122"/>
                <a:cs typeface="微软雅黑" panose="020B0503020204020204" pitchFamily="34" charset="-122"/>
              </a:rPr>
              <a:t>语句覆盖</a:t>
            </a:r>
          </a:p>
          <a:p>
            <a:pPr marL="452120" indent="-440055">
              <a:lnSpc>
                <a:spcPct val="100000"/>
              </a:lnSpc>
              <a:spcBef>
                <a:spcPts val="2460"/>
              </a:spcBef>
              <a:buFont typeface="Arial" panose="020B0604020202020204"/>
              <a:buChar char="•"/>
              <a:tabLst>
                <a:tab pos="452120" algn="l"/>
                <a:tab pos="452755" algn="l"/>
              </a:tabLst>
            </a:pPr>
            <a:r>
              <a:rPr sz="2200" dirty="0">
                <a:latin typeface="微软雅黑" panose="020B0503020204020204" pitchFamily="34" charset="-122"/>
                <a:cs typeface="微软雅黑" panose="020B0503020204020204" pitchFamily="34" charset="-122"/>
              </a:rPr>
              <a:t>测试人员不能盲目追求代码覆盖率，而应该想办法设计更好的测试用例。</a:t>
            </a:r>
          </a:p>
          <a:p>
            <a:pPr marL="452120" indent="-440055">
              <a:lnSpc>
                <a:spcPct val="100000"/>
              </a:lnSpc>
              <a:spcBef>
                <a:spcPts val="2560"/>
              </a:spcBef>
              <a:buFont typeface="Arial" panose="020B0604020202020204"/>
              <a:buChar char="•"/>
              <a:tabLst>
                <a:tab pos="452120" algn="l"/>
                <a:tab pos="452755" algn="l"/>
              </a:tabLst>
            </a:pPr>
            <a:r>
              <a:rPr sz="2200" dirty="0">
                <a:latin typeface="微软雅黑" panose="020B0503020204020204" pitchFamily="34" charset="-122"/>
                <a:cs typeface="微软雅黑" panose="020B0503020204020204" pitchFamily="34" charset="-122"/>
              </a:rPr>
              <a:t>测试覆盖率应达到多少需要考虑软件整体的覆盖率情况以及测试成本。</a:t>
            </a:r>
          </a:p>
        </p:txBody>
      </p:sp>
      <p:sp>
        <p:nvSpPr>
          <p:cNvPr id="4" name="object 4"/>
          <p:cNvSpPr/>
          <p:nvPr/>
        </p:nvSpPr>
        <p:spPr>
          <a:xfrm>
            <a:off x="1693335" y="2387600"/>
            <a:ext cx="8534400" cy="0"/>
          </a:xfrm>
          <a:custGeom>
            <a:avLst/>
            <a:gdLst/>
            <a:ahLst/>
            <a:cxnLst/>
            <a:rect l="l" t="t" r="r" b="b"/>
            <a:pathLst>
              <a:path w="8534400">
                <a:moveTo>
                  <a:pt x="0" y="0"/>
                </a:moveTo>
                <a:lnTo>
                  <a:pt x="8534395" y="1"/>
                </a:lnTo>
              </a:path>
            </a:pathLst>
          </a:custGeom>
          <a:ln w="28574">
            <a:solidFill>
              <a:srgbClr val="D81E00"/>
            </a:solidFill>
          </a:ln>
        </p:spPr>
        <p:txBody>
          <a:bodyPr wrap="square" lIns="0" tIns="0" rIns="0" bIns="0" rtlCol="0"/>
          <a:lstStyle/>
          <a:p>
            <a:endParaRPr/>
          </a:p>
        </p:txBody>
      </p:sp>
      <p:sp>
        <p:nvSpPr>
          <p:cNvPr id="5" name="object 5"/>
          <p:cNvSpPr/>
          <p:nvPr/>
        </p:nvSpPr>
        <p:spPr>
          <a:xfrm>
            <a:off x="1693335" y="5012268"/>
            <a:ext cx="8534400" cy="0"/>
          </a:xfrm>
          <a:custGeom>
            <a:avLst/>
            <a:gdLst/>
            <a:ahLst/>
            <a:cxnLst/>
            <a:rect l="l" t="t" r="r" b="b"/>
            <a:pathLst>
              <a:path w="8534400">
                <a:moveTo>
                  <a:pt x="0" y="0"/>
                </a:moveTo>
                <a:lnTo>
                  <a:pt x="8534395" y="0"/>
                </a:lnTo>
              </a:path>
            </a:pathLst>
          </a:custGeom>
          <a:ln w="28574">
            <a:solidFill>
              <a:srgbClr val="D81E00"/>
            </a:solidFill>
          </a:ln>
        </p:spPr>
        <p:txBody>
          <a:bodyPr wrap="square" lIns="0" tIns="0" rIns="0" bIns="0" rtlCol="0"/>
          <a:lstStyle/>
          <a:p>
            <a:endParaRPr/>
          </a:p>
        </p:txBody>
      </p:sp>
      <p:sp>
        <p:nvSpPr>
          <p:cNvPr id="6" name="灯片编号占位符 5"/>
          <p:cNvSpPr>
            <a:spLocks noGrp="1"/>
          </p:cNvSpPr>
          <p:nvPr>
            <p:ph type="sldNum" sz="quarter" idx="12"/>
          </p:nvPr>
        </p:nvSpPr>
        <p:spPr/>
        <p:txBody>
          <a:bodyPr/>
          <a:lstStyle/>
          <a:p>
            <a:fld id="{74D2AB8B-5816-41F2-8B4B-CA5C3E4E6A65}" type="slidenum">
              <a:rPr lang="zh-CN" altLang="en-US" smtClean="0"/>
              <a:t>40</a:t>
            </a:fld>
            <a:endParaRPr lang="zh-CN" altLang="en-US"/>
          </a:p>
        </p:txBody>
      </p:sp>
      <p:sp>
        <p:nvSpPr>
          <p:cNvPr id="8" name="标题 7"/>
          <p:cNvSpPr>
            <a:spLocks noGrp="1"/>
          </p:cNvSpPr>
          <p:nvPr>
            <p:ph type="title"/>
          </p:nvPr>
        </p:nvSpPr>
        <p:spPr/>
        <p:txBody>
          <a:bodyPr/>
          <a:lstStyle/>
          <a:p>
            <a:r>
              <a:rPr lang="zh-CN" altLang="en-US" dirty="0"/>
              <a:t>如何看待测试覆盖率</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518944" y="2761783"/>
            <a:ext cx="5763895" cy="1219200"/>
          </a:xfrm>
          <a:prstGeom prst="rect">
            <a:avLst/>
          </a:prstGeom>
        </p:spPr>
        <p:txBody>
          <a:bodyPr vert="horz" wrap="square" lIns="0" tIns="6350" rIns="0" bIns="0" rtlCol="0">
            <a:spAutoFit/>
          </a:bodyPr>
          <a:lstStyle/>
          <a:p>
            <a:pPr marL="12700" marR="5080" algn="just">
              <a:lnSpc>
                <a:spcPct val="119000"/>
              </a:lnSpc>
              <a:spcBef>
                <a:spcPts val="50"/>
              </a:spcBef>
            </a:pPr>
            <a:r>
              <a:rPr sz="2200" spc="55" dirty="0">
                <a:solidFill>
                  <a:srgbClr val="0033CC"/>
                </a:solidFill>
                <a:latin typeface="微软雅黑" panose="020B0503020204020204" pitchFamily="34" charset="-122"/>
                <a:cs typeface="微软雅黑" panose="020B0503020204020204" pitchFamily="34" charset="-122"/>
              </a:rPr>
              <a:t>基本路径测试</a:t>
            </a:r>
            <a:r>
              <a:rPr sz="2200" spc="55" dirty="0">
                <a:latin typeface="微软雅黑" panose="020B0503020204020204" pitchFamily="34" charset="-122"/>
                <a:cs typeface="微软雅黑" panose="020B0503020204020204" pitchFamily="34" charset="-122"/>
              </a:rPr>
              <a:t>是在程序控制流图基础上，通过 分析控制构造的环路复杂性，导出基本可执行 </a:t>
            </a:r>
            <a:r>
              <a:rPr sz="2200" dirty="0">
                <a:latin typeface="微软雅黑" panose="020B0503020204020204" pitchFamily="34" charset="-122"/>
                <a:cs typeface="微软雅黑" panose="020B0503020204020204" pitchFamily="34" charset="-122"/>
              </a:rPr>
              <a:t>路径集合，从而设计测试用例的方法。</a:t>
            </a:r>
            <a:endParaRPr sz="2200">
              <a:latin typeface="微软雅黑" panose="020B0503020204020204" pitchFamily="34" charset="-122"/>
              <a:cs typeface="微软雅黑" panose="020B0503020204020204" pitchFamily="34" charset="-122"/>
            </a:endParaRPr>
          </a:p>
        </p:txBody>
      </p:sp>
      <p:sp>
        <p:nvSpPr>
          <p:cNvPr id="4" name="object 4"/>
          <p:cNvSpPr txBox="1"/>
          <p:nvPr/>
        </p:nvSpPr>
        <p:spPr>
          <a:xfrm>
            <a:off x="8398931" y="4859860"/>
            <a:ext cx="2150745" cy="762000"/>
          </a:xfrm>
          <a:prstGeom prst="rect">
            <a:avLst/>
          </a:prstGeom>
          <a:solidFill>
            <a:srgbClr val="E4EFF9"/>
          </a:solidFill>
          <a:ln w="6349">
            <a:solidFill>
              <a:srgbClr val="6C6C6C"/>
            </a:solidFill>
          </a:ln>
        </p:spPr>
        <p:txBody>
          <a:bodyPr vert="horz" wrap="square" lIns="0" tIns="228600" rIns="0" bIns="0" rtlCol="0">
            <a:spAutoFit/>
          </a:bodyPr>
          <a:lstStyle/>
          <a:p>
            <a:pPr marL="315595">
              <a:lnSpc>
                <a:spcPct val="100000"/>
              </a:lnSpc>
              <a:spcBef>
                <a:spcPts val="1800"/>
              </a:spcBef>
            </a:pPr>
            <a:r>
              <a:rPr sz="2000" dirty="0">
                <a:latin typeface="微软雅黑" panose="020B0503020204020204" pitchFamily="34" charset="-122"/>
                <a:cs typeface="微软雅黑" panose="020B0503020204020204" pitchFamily="34" charset="-122"/>
              </a:rPr>
              <a:t>设计测试用例</a:t>
            </a:r>
            <a:endParaRPr sz="2000">
              <a:latin typeface="微软雅黑" panose="020B0503020204020204" pitchFamily="34" charset="-122"/>
              <a:cs typeface="微软雅黑" panose="020B0503020204020204" pitchFamily="34" charset="-122"/>
            </a:endParaRPr>
          </a:p>
        </p:txBody>
      </p:sp>
      <p:sp>
        <p:nvSpPr>
          <p:cNvPr id="5" name="object 5"/>
          <p:cNvSpPr txBox="1"/>
          <p:nvPr/>
        </p:nvSpPr>
        <p:spPr>
          <a:xfrm>
            <a:off x="8398931" y="1608672"/>
            <a:ext cx="2150745" cy="762000"/>
          </a:xfrm>
          <a:prstGeom prst="rect">
            <a:avLst/>
          </a:prstGeom>
          <a:solidFill>
            <a:srgbClr val="E4EFF9"/>
          </a:solidFill>
          <a:ln w="6349">
            <a:solidFill>
              <a:srgbClr val="6C6C6C"/>
            </a:solidFill>
          </a:ln>
        </p:spPr>
        <p:txBody>
          <a:bodyPr vert="horz" wrap="square" lIns="0" tIns="228600" rIns="0" bIns="0" rtlCol="0">
            <a:spAutoFit/>
          </a:bodyPr>
          <a:lstStyle/>
          <a:p>
            <a:pPr marL="315595">
              <a:lnSpc>
                <a:spcPct val="100000"/>
              </a:lnSpc>
              <a:spcBef>
                <a:spcPts val="1800"/>
              </a:spcBef>
            </a:pPr>
            <a:r>
              <a:rPr sz="2000" dirty="0">
                <a:latin typeface="微软雅黑" panose="020B0503020204020204" pitchFamily="34" charset="-122"/>
                <a:cs typeface="微软雅黑" panose="020B0503020204020204" pitchFamily="34" charset="-122"/>
              </a:rPr>
              <a:t>绘制控制流图</a:t>
            </a:r>
            <a:endParaRPr sz="2000">
              <a:latin typeface="微软雅黑" panose="020B0503020204020204" pitchFamily="34" charset="-122"/>
              <a:cs typeface="微软雅黑" panose="020B0503020204020204" pitchFamily="34" charset="-122"/>
            </a:endParaRPr>
          </a:p>
        </p:txBody>
      </p:sp>
      <p:sp>
        <p:nvSpPr>
          <p:cNvPr id="6" name="object 6"/>
          <p:cNvSpPr/>
          <p:nvPr/>
        </p:nvSpPr>
        <p:spPr>
          <a:xfrm>
            <a:off x="9347198" y="2404532"/>
            <a:ext cx="271145" cy="271145"/>
          </a:xfrm>
          <a:custGeom>
            <a:avLst/>
            <a:gdLst/>
            <a:ahLst/>
            <a:cxnLst/>
            <a:rect l="l" t="t" r="r" b="b"/>
            <a:pathLst>
              <a:path w="271145" h="271144">
                <a:moveTo>
                  <a:pt x="270934" y="135467"/>
                </a:moveTo>
                <a:lnTo>
                  <a:pt x="0" y="135467"/>
                </a:lnTo>
                <a:lnTo>
                  <a:pt x="135467" y="270934"/>
                </a:lnTo>
                <a:lnTo>
                  <a:pt x="270934" y="135467"/>
                </a:lnTo>
                <a:close/>
              </a:path>
              <a:path w="271145" h="271144">
                <a:moveTo>
                  <a:pt x="203200" y="0"/>
                </a:moveTo>
                <a:lnTo>
                  <a:pt x="67734" y="0"/>
                </a:lnTo>
                <a:lnTo>
                  <a:pt x="67734" y="135467"/>
                </a:lnTo>
                <a:lnTo>
                  <a:pt x="203200" y="135467"/>
                </a:lnTo>
                <a:lnTo>
                  <a:pt x="203200" y="0"/>
                </a:lnTo>
                <a:close/>
              </a:path>
            </a:pathLst>
          </a:custGeom>
          <a:solidFill>
            <a:srgbClr val="919191"/>
          </a:solidFill>
        </p:spPr>
        <p:txBody>
          <a:bodyPr wrap="square" lIns="0" tIns="0" rIns="0" bIns="0" rtlCol="0"/>
          <a:lstStyle/>
          <a:p>
            <a:endParaRPr/>
          </a:p>
        </p:txBody>
      </p:sp>
      <p:sp>
        <p:nvSpPr>
          <p:cNvPr id="7" name="object 7"/>
          <p:cNvSpPr txBox="1"/>
          <p:nvPr/>
        </p:nvSpPr>
        <p:spPr>
          <a:xfrm>
            <a:off x="8398932" y="2692405"/>
            <a:ext cx="2150745" cy="762000"/>
          </a:xfrm>
          <a:prstGeom prst="rect">
            <a:avLst/>
          </a:prstGeom>
          <a:solidFill>
            <a:srgbClr val="E4EFF9"/>
          </a:solidFill>
          <a:ln w="6349">
            <a:solidFill>
              <a:srgbClr val="6C6C6C"/>
            </a:solidFill>
          </a:ln>
        </p:spPr>
        <p:txBody>
          <a:bodyPr vert="horz" wrap="square" lIns="0" tIns="228600" rIns="0" bIns="0" rtlCol="0">
            <a:spAutoFit/>
          </a:bodyPr>
          <a:lstStyle/>
          <a:p>
            <a:pPr marL="188595">
              <a:lnSpc>
                <a:spcPct val="100000"/>
              </a:lnSpc>
              <a:spcBef>
                <a:spcPts val="1800"/>
              </a:spcBef>
            </a:pPr>
            <a:r>
              <a:rPr sz="2000" dirty="0">
                <a:latin typeface="微软雅黑" panose="020B0503020204020204" pitchFamily="34" charset="-122"/>
                <a:cs typeface="微软雅黑" panose="020B0503020204020204" pitchFamily="34" charset="-122"/>
              </a:rPr>
              <a:t>计算环路复杂度</a:t>
            </a:r>
            <a:endParaRPr sz="2000">
              <a:latin typeface="微软雅黑" panose="020B0503020204020204" pitchFamily="34" charset="-122"/>
              <a:cs typeface="微软雅黑" panose="020B0503020204020204" pitchFamily="34" charset="-122"/>
            </a:endParaRPr>
          </a:p>
        </p:txBody>
      </p:sp>
      <p:sp>
        <p:nvSpPr>
          <p:cNvPr id="8" name="object 8"/>
          <p:cNvSpPr/>
          <p:nvPr/>
        </p:nvSpPr>
        <p:spPr>
          <a:xfrm>
            <a:off x="9347198" y="3488265"/>
            <a:ext cx="271145" cy="271145"/>
          </a:xfrm>
          <a:custGeom>
            <a:avLst/>
            <a:gdLst/>
            <a:ahLst/>
            <a:cxnLst/>
            <a:rect l="l" t="t" r="r" b="b"/>
            <a:pathLst>
              <a:path w="271145" h="271145">
                <a:moveTo>
                  <a:pt x="270934" y="135467"/>
                </a:moveTo>
                <a:lnTo>
                  <a:pt x="0" y="135467"/>
                </a:lnTo>
                <a:lnTo>
                  <a:pt x="135467" y="270932"/>
                </a:lnTo>
                <a:lnTo>
                  <a:pt x="270934" y="135467"/>
                </a:lnTo>
                <a:close/>
              </a:path>
              <a:path w="271145" h="271145">
                <a:moveTo>
                  <a:pt x="203200" y="0"/>
                </a:moveTo>
                <a:lnTo>
                  <a:pt x="67734" y="0"/>
                </a:lnTo>
                <a:lnTo>
                  <a:pt x="67734" y="135467"/>
                </a:lnTo>
                <a:lnTo>
                  <a:pt x="203200" y="135467"/>
                </a:lnTo>
                <a:lnTo>
                  <a:pt x="203200" y="0"/>
                </a:lnTo>
                <a:close/>
              </a:path>
            </a:pathLst>
          </a:custGeom>
          <a:solidFill>
            <a:srgbClr val="919191"/>
          </a:solidFill>
        </p:spPr>
        <p:txBody>
          <a:bodyPr wrap="square" lIns="0" tIns="0" rIns="0" bIns="0" rtlCol="0"/>
          <a:lstStyle/>
          <a:p>
            <a:endParaRPr/>
          </a:p>
        </p:txBody>
      </p:sp>
      <p:sp>
        <p:nvSpPr>
          <p:cNvPr id="9" name="object 9"/>
          <p:cNvSpPr txBox="1"/>
          <p:nvPr/>
        </p:nvSpPr>
        <p:spPr>
          <a:xfrm>
            <a:off x="8398930" y="3776135"/>
            <a:ext cx="2150745" cy="762000"/>
          </a:xfrm>
          <a:prstGeom prst="rect">
            <a:avLst/>
          </a:prstGeom>
          <a:solidFill>
            <a:srgbClr val="E4EFF9"/>
          </a:solidFill>
          <a:ln w="6349">
            <a:solidFill>
              <a:srgbClr val="6C6C6C"/>
            </a:solidFill>
          </a:ln>
        </p:spPr>
        <p:txBody>
          <a:bodyPr vert="horz" wrap="square" lIns="0" tIns="228600" rIns="0" bIns="0" rtlCol="0">
            <a:spAutoFit/>
          </a:bodyPr>
          <a:lstStyle/>
          <a:p>
            <a:pPr marL="315595">
              <a:lnSpc>
                <a:spcPct val="100000"/>
              </a:lnSpc>
              <a:spcBef>
                <a:spcPts val="1800"/>
              </a:spcBef>
            </a:pPr>
            <a:r>
              <a:rPr sz="2000" dirty="0">
                <a:latin typeface="微软雅黑" panose="020B0503020204020204" pitchFamily="34" charset="-122"/>
                <a:cs typeface="微软雅黑" panose="020B0503020204020204" pitchFamily="34" charset="-122"/>
              </a:rPr>
              <a:t>确定基本路径</a:t>
            </a:r>
            <a:endParaRPr sz="2000">
              <a:latin typeface="微软雅黑" panose="020B0503020204020204" pitchFamily="34" charset="-122"/>
              <a:cs typeface="微软雅黑" panose="020B0503020204020204" pitchFamily="34" charset="-122"/>
            </a:endParaRPr>
          </a:p>
        </p:txBody>
      </p:sp>
      <p:sp>
        <p:nvSpPr>
          <p:cNvPr id="10" name="object 10"/>
          <p:cNvSpPr/>
          <p:nvPr/>
        </p:nvSpPr>
        <p:spPr>
          <a:xfrm>
            <a:off x="9347198" y="4572000"/>
            <a:ext cx="271145" cy="271145"/>
          </a:xfrm>
          <a:custGeom>
            <a:avLst/>
            <a:gdLst/>
            <a:ahLst/>
            <a:cxnLst/>
            <a:rect l="l" t="t" r="r" b="b"/>
            <a:pathLst>
              <a:path w="271145" h="271145">
                <a:moveTo>
                  <a:pt x="270934" y="135467"/>
                </a:moveTo>
                <a:lnTo>
                  <a:pt x="0" y="135467"/>
                </a:lnTo>
                <a:lnTo>
                  <a:pt x="135467" y="270932"/>
                </a:lnTo>
                <a:lnTo>
                  <a:pt x="270934" y="135467"/>
                </a:lnTo>
                <a:close/>
              </a:path>
              <a:path w="271145" h="271145">
                <a:moveTo>
                  <a:pt x="203200" y="0"/>
                </a:moveTo>
                <a:lnTo>
                  <a:pt x="67734" y="0"/>
                </a:lnTo>
                <a:lnTo>
                  <a:pt x="67734" y="135467"/>
                </a:lnTo>
                <a:lnTo>
                  <a:pt x="203200" y="135467"/>
                </a:lnTo>
                <a:lnTo>
                  <a:pt x="203200" y="0"/>
                </a:lnTo>
                <a:close/>
              </a:path>
            </a:pathLst>
          </a:custGeom>
          <a:solidFill>
            <a:srgbClr val="919191"/>
          </a:solidFill>
        </p:spPr>
        <p:txBody>
          <a:bodyPr wrap="square" lIns="0" tIns="0" rIns="0" bIns="0" rtlCol="0"/>
          <a:lstStyle/>
          <a:p>
            <a:endParaRPr/>
          </a:p>
        </p:txBody>
      </p:sp>
      <p:sp>
        <p:nvSpPr>
          <p:cNvPr id="11" name="灯片编号占位符 10"/>
          <p:cNvSpPr>
            <a:spLocks noGrp="1"/>
          </p:cNvSpPr>
          <p:nvPr>
            <p:ph type="sldNum" sz="quarter" idx="12"/>
          </p:nvPr>
        </p:nvSpPr>
        <p:spPr/>
        <p:txBody>
          <a:bodyPr/>
          <a:lstStyle/>
          <a:p>
            <a:fld id="{74D2AB8B-5816-41F2-8B4B-CA5C3E4E6A65}" type="slidenum">
              <a:rPr lang="zh-CN" altLang="en-US" smtClean="0"/>
              <a:t>41</a:t>
            </a:fld>
            <a:endParaRPr lang="zh-CN" altLang="en-US"/>
          </a:p>
        </p:txBody>
      </p:sp>
      <p:sp>
        <p:nvSpPr>
          <p:cNvPr id="13" name="标题 12"/>
          <p:cNvSpPr>
            <a:spLocks noGrp="1"/>
          </p:cNvSpPr>
          <p:nvPr>
            <p:ph type="title"/>
          </p:nvPr>
        </p:nvSpPr>
        <p:spPr/>
        <p:txBody>
          <a:bodyPr/>
          <a:lstStyle/>
          <a:p>
            <a:r>
              <a:rPr lang="zh-CN" altLang="en-US" dirty="0"/>
              <a:t>基本路径测试</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70739" y="583620"/>
            <a:ext cx="9322435" cy="5537200"/>
          </a:xfrm>
          <a:prstGeom prst="rect">
            <a:avLst/>
          </a:prstGeom>
        </p:spPr>
        <p:txBody>
          <a:bodyPr vert="horz" wrap="square" lIns="0" tIns="12700" rIns="0" bIns="0" rtlCol="0">
            <a:spAutoFit/>
          </a:bodyPr>
          <a:lstStyle/>
          <a:p>
            <a:pPr marL="12700">
              <a:lnSpc>
                <a:spcPts val="2250"/>
              </a:lnSpc>
              <a:spcBef>
                <a:spcPts val="100"/>
              </a:spcBef>
            </a:pPr>
            <a:r>
              <a:rPr sz="2000" b="1" spc="-5" dirty="0">
                <a:latin typeface="Courier New" panose="02070309020205020404"/>
                <a:cs typeface="Courier New" panose="02070309020205020404"/>
              </a:rPr>
              <a:t>FindMean(float *mean, FILE</a:t>
            </a:r>
            <a:r>
              <a:rPr sz="2000" b="1" spc="-10" dirty="0">
                <a:latin typeface="Courier New" panose="02070309020205020404"/>
                <a:cs typeface="Courier New" panose="02070309020205020404"/>
              </a:rPr>
              <a:t> </a:t>
            </a:r>
            <a:r>
              <a:rPr sz="2000" b="1" dirty="0">
                <a:latin typeface="Courier New" panose="02070309020205020404"/>
                <a:cs typeface="Courier New" panose="02070309020205020404"/>
              </a:rPr>
              <a:t>*fp)</a:t>
            </a:r>
            <a:endParaRPr sz="2000">
              <a:latin typeface="Courier New" panose="02070309020205020404"/>
              <a:cs typeface="Courier New" panose="02070309020205020404"/>
            </a:endParaRPr>
          </a:p>
          <a:p>
            <a:pPr marL="12700">
              <a:lnSpc>
                <a:spcPts val="2150"/>
              </a:lnSpc>
            </a:pPr>
            <a:r>
              <a:rPr sz="2000" b="1" dirty="0">
                <a:latin typeface="Courier New" panose="02070309020205020404"/>
                <a:cs typeface="Courier New" panose="02070309020205020404"/>
              </a:rPr>
              <a:t>{</a:t>
            </a:r>
            <a:endParaRPr sz="2000">
              <a:latin typeface="Courier New" panose="02070309020205020404"/>
              <a:cs typeface="Courier New" panose="02070309020205020404"/>
            </a:endParaRPr>
          </a:p>
          <a:p>
            <a:pPr marL="622300" marR="4272280">
              <a:lnSpc>
                <a:spcPts val="2100"/>
              </a:lnSpc>
              <a:spcBef>
                <a:spcPts val="220"/>
              </a:spcBef>
              <a:tabLst>
                <a:tab pos="1231900" algn="l"/>
              </a:tabLst>
            </a:pPr>
            <a:r>
              <a:rPr sz="2000" b="1" spc="-5" dirty="0">
                <a:latin typeface="Courier New" panose="02070309020205020404"/>
                <a:cs typeface="Courier New" panose="02070309020205020404"/>
              </a:rPr>
              <a:t>float sum </a:t>
            </a:r>
            <a:r>
              <a:rPr sz="2000" b="1" dirty="0">
                <a:latin typeface="Courier New" panose="02070309020205020404"/>
                <a:cs typeface="Courier New" panose="02070309020205020404"/>
              </a:rPr>
              <a:t>= </a:t>
            </a:r>
            <a:r>
              <a:rPr sz="2000" b="1" spc="-5" dirty="0">
                <a:latin typeface="Courier New" panose="02070309020205020404"/>
                <a:cs typeface="Courier New" panose="02070309020205020404"/>
              </a:rPr>
              <a:t>0.0, score </a:t>
            </a:r>
            <a:r>
              <a:rPr sz="2000" b="1" dirty="0">
                <a:latin typeface="Courier New" panose="02070309020205020404"/>
                <a:cs typeface="Courier New" panose="02070309020205020404"/>
              </a:rPr>
              <a:t>= </a:t>
            </a:r>
            <a:r>
              <a:rPr sz="2000" b="1" spc="-5" dirty="0">
                <a:latin typeface="Courier New" panose="02070309020205020404"/>
                <a:cs typeface="Courier New" panose="02070309020205020404"/>
              </a:rPr>
              <a:t>0.0;  </a:t>
            </a:r>
            <a:r>
              <a:rPr sz="2000" b="1" dirty="0">
                <a:latin typeface="Courier New" panose="02070309020205020404"/>
                <a:cs typeface="Courier New" panose="02070309020205020404"/>
              </a:rPr>
              <a:t>int	</a:t>
            </a:r>
            <a:r>
              <a:rPr sz="2000" b="1" spc="-5" dirty="0">
                <a:latin typeface="Courier New" panose="02070309020205020404"/>
                <a:cs typeface="Courier New" panose="02070309020205020404"/>
              </a:rPr>
              <a:t>num </a:t>
            </a:r>
            <a:r>
              <a:rPr sz="2000" b="1" dirty="0">
                <a:latin typeface="Courier New" panose="02070309020205020404"/>
                <a:cs typeface="Courier New" panose="02070309020205020404"/>
              </a:rPr>
              <a:t>=</a:t>
            </a:r>
            <a:r>
              <a:rPr sz="2000" b="1" spc="-15" dirty="0">
                <a:latin typeface="Courier New" panose="02070309020205020404"/>
                <a:cs typeface="Courier New" panose="02070309020205020404"/>
              </a:rPr>
              <a:t> </a:t>
            </a:r>
            <a:r>
              <a:rPr sz="2000" b="1" spc="-5" dirty="0">
                <a:latin typeface="Courier New" panose="02070309020205020404"/>
                <a:cs typeface="Courier New" panose="02070309020205020404"/>
              </a:rPr>
              <a:t>0;</a:t>
            </a:r>
            <a:endParaRPr sz="2000">
              <a:latin typeface="Courier New" panose="02070309020205020404"/>
              <a:cs typeface="Courier New" panose="02070309020205020404"/>
            </a:endParaRPr>
          </a:p>
          <a:p>
            <a:pPr>
              <a:lnSpc>
                <a:spcPct val="100000"/>
              </a:lnSpc>
              <a:spcBef>
                <a:spcPts val="50"/>
              </a:spcBef>
            </a:pPr>
            <a:endParaRPr sz="1800">
              <a:latin typeface="Times New Roman" panose="02020603050405020304"/>
              <a:cs typeface="Times New Roman" panose="02020603050405020304"/>
            </a:endParaRPr>
          </a:p>
          <a:p>
            <a:pPr marL="622300" marR="5080">
              <a:lnSpc>
                <a:spcPts val="2200"/>
              </a:lnSpc>
            </a:pPr>
            <a:r>
              <a:rPr sz="2000" b="1" dirty="0">
                <a:latin typeface="Courier New" panose="02070309020205020404"/>
                <a:cs typeface="Courier New" panose="02070309020205020404"/>
              </a:rPr>
              <a:t>fscanf(fp, </a:t>
            </a:r>
            <a:r>
              <a:rPr sz="2000" b="1" spc="-5" dirty="0">
                <a:latin typeface="Courier New" panose="02070309020205020404"/>
                <a:cs typeface="Courier New" panose="02070309020205020404"/>
              </a:rPr>
              <a:t>"%f", &amp;score); /* Read and parse into score */  while (!EOF(fp))</a:t>
            </a:r>
            <a:r>
              <a:rPr sz="2000" b="1" spc="-10" dirty="0">
                <a:latin typeface="Courier New" panose="02070309020205020404"/>
                <a:cs typeface="Courier New" panose="02070309020205020404"/>
              </a:rPr>
              <a:t> </a:t>
            </a:r>
            <a:r>
              <a:rPr sz="2000" b="1" dirty="0">
                <a:latin typeface="Courier New" panose="02070309020205020404"/>
                <a:cs typeface="Courier New" panose="02070309020205020404"/>
              </a:rPr>
              <a:t>{</a:t>
            </a:r>
            <a:endParaRPr sz="2000">
              <a:latin typeface="Courier New" panose="02070309020205020404"/>
              <a:cs typeface="Courier New" panose="02070309020205020404"/>
            </a:endParaRPr>
          </a:p>
          <a:p>
            <a:pPr marL="1841500" marR="5339080" indent="-610235">
              <a:lnSpc>
                <a:spcPct val="90000"/>
              </a:lnSpc>
              <a:spcBef>
                <a:spcPts val="10"/>
              </a:spcBef>
            </a:pPr>
            <a:r>
              <a:rPr sz="2000" b="1" spc="-5" dirty="0">
                <a:latin typeface="Courier New" panose="02070309020205020404"/>
                <a:cs typeface="Courier New" panose="02070309020205020404"/>
              </a:rPr>
              <a:t>if (score </a:t>
            </a:r>
            <a:r>
              <a:rPr sz="2000" b="1" dirty="0">
                <a:latin typeface="Courier New" panose="02070309020205020404"/>
                <a:cs typeface="Courier New" panose="02070309020205020404"/>
              </a:rPr>
              <a:t>&gt; </a:t>
            </a:r>
            <a:r>
              <a:rPr sz="2000" b="1" spc="-5" dirty="0">
                <a:latin typeface="Courier New" panose="02070309020205020404"/>
                <a:cs typeface="Courier New" panose="02070309020205020404"/>
              </a:rPr>
              <a:t>0.0)</a:t>
            </a:r>
            <a:r>
              <a:rPr sz="2000" b="1" spc="-95" dirty="0">
                <a:latin typeface="Courier New" panose="02070309020205020404"/>
                <a:cs typeface="Courier New" panose="02070309020205020404"/>
              </a:rPr>
              <a:t> </a:t>
            </a:r>
            <a:r>
              <a:rPr sz="2000" b="1" dirty="0">
                <a:latin typeface="Courier New" panose="02070309020205020404"/>
                <a:cs typeface="Courier New" panose="02070309020205020404"/>
              </a:rPr>
              <a:t>{  </a:t>
            </a:r>
            <a:r>
              <a:rPr sz="2000" b="1" spc="-5" dirty="0">
                <a:latin typeface="Courier New" panose="02070309020205020404"/>
                <a:cs typeface="Courier New" panose="02070309020205020404"/>
              </a:rPr>
              <a:t>sum += score;  num++;</a:t>
            </a:r>
            <a:endParaRPr sz="2000">
              <a:latin typeface="Courier New" panose="02070309020205020404"/>
              <a:cs typeface="Courier New" panose="02070309020205020404"/>
            </a:endParaRPr>
          </a:p>
          <a:p>
            <a:pPr marL="1231900">
              <a:lnSpc>
                <a:spcPts val="2050"/>
              </a:lnSpc>
            </a:pPr>
            <a:r>
              <a:rPr sz="2000" b="1" dirty="0">
                <a:latin typeface="Courier New" panose="02070309020205020404"/>
                <a:cs typeface="Courier New" panose="02070309020205020404"/>
              </a:rPr>
              <a:t>}</a:t>
            </a:r>
            <a:endParaRPr sz="2000">
              <a:latin typeface="Courier New" panose="02070309020205020404"/>
              <a:cs typeface="Courier New" panose="02070309020205020404"/>
            </a:endParaRPr>
          </a:p>
          <a:p>
            <a:pPr marL="1231900">
              <a:lnSpc>
                <a:spcPts val="2150"/>
              </a:lnSpc>
            </a:pPr>
            <a:r>
              <a:rPr sz="2000" b="1" dirty="0">
                <a:latin typeface="Courier New" panose="02070309020205020404"/>
                <a:cs typeface="Courier New" panose="02070309020205020404"/>
              </a:rPr>
              <a:t>fscanf(fp, </a:t>
            </a:r>
            <a:r>
              <a:rPr sz="2000" b="1" spc="-5" dirty="0">
                <a:latin typeface="Courier New" panose="02070309020205020404"/>
                <a:cs typeface="Courier New" panose="02070309020205020404"/>
              </a:rPr>
              <a:t>"%f",</a:t>
            </a:r>
            <a:r>
              <a:rPr sz="2000" b="1" spc="-20" dirty="0">
                <a:latin typeface="Courier New" panose="02070309020205020404"/>
                <a:cs typeface="Courier New" panose="02070309020205020404"/>
              </a:rPr>
              <a:t> </a:t>
            </a:r>
            <a:r>
              <a:rPr sz="2000" b="1" spc="-5" dirty="0">
                <a:latin typeface="Courier New" panose="02070309020205020404"/>
                <a:cs typeface="Courier New" panose="02070309020205020404"/>
              </a:rPr>
              <a:t>&amp;score);</a:t>
            </a:r>
            <a:endParaRPr sz="2000">
              <a:latin typeface="Courier New" panose="02070309020205020404"/>
              <a:cs typeface="Courier New" panose="02070309020205020404"/>
            </a:endParaRPr>
          </a:p>
          <a:p>
            <a:pPr marL="622300">
              <a:lnSpc>
                <a:spcPts val="2150"/>
              </a:lnSpc>
            </a:pPr>
            <a:r>
              <a:rPr sz="2000" b="1" dirty="0">
                <a:latin typeface="Courier New" panose="02070309020205020404"/>
                <a:cs typeface="Courier New" panose="02070309020205020404"/>
              </a:rPr>
              <a:t>}</a:t>
            </a:r>
            <a:endParaRPr sz="2000">
              <a:latin typeface="Courier New" panose="02070309020205020404"/>
              <a:cs typeface="Courier New" panose="02070309020205020404"/>
            </a:endParaRPr>
          </a:p>
          <a:p>
            <a:pPr marL="622300" marR="2138680">
              <a:lnSpc>
                <a:spcPts val="2200"/>
              </a:lnSpc>
              <a:spcBef>
                <a:spcPts val="90"/>
              </a:spcBef>
            </a:pPr>
            <a:r>
              <a:rPr sz="2000" b="1" spc="-5" dirty="0">
                <a:latin typeface="Courier New" panose="02070309020205020404"/>
                <a:cs typeface="Courier New" panose="02070309020205020404"/>
              </a:rPr>
              <a:t>/* Compute the mean and print the result */  if (num </a:t>
            </a:r>
            <a:r>
              <a:rPr sz="2000" b="1" dirty="0">
                <a:latin typeface="Courier New" panose="02070309020205020404"/>
                <a:cs typeface="Courier New" panose="02070309020205020404"/>
              </a:rPr>
              <a:t>&gt; </a:t>
            </a:r>
            <a:r>
              <a:rPr sz="2000" b="1" spc="-5" dirty="0">
                <a:latin typeface="Courier New" panose="02070309020205020404"/>
                <a:cs typeface="Courier New" panose="02070309020205020404"/>
              </a:rPr>
              <a:t>0)</a:t>
            </a:r>
            <a:r>
              <a:rPr sz="2000" b="1" spc="-25" dirty="0">
                <a:latin typeface="Courier New" panose="02070309020205020404"/>
                <a:cs typeface="Courier New" panose="02070309020205020404"/>
              </a:rPr>
              <a:t> </a:t>
            </a:r>
            <a:r>
              <a:rPr sz="2000" b="1" dirty="0">
                <a:latin typeface="Courier New" panose="02070309020205020404"/>
                <a:cs typeface="Courier New" panose="02070309020205020404"/>
              </a:rPr>
              <a:t>{</a:t>
            </a:r>
            <a:endParaRPr sz="2000">
              <a:latin typeface="Courier New" panose="02070309020205020404"/>
              <a:cs typeface="Courier New" panose="02070309020205020404"/>
            </a:endParaRPr>
          </a:p>
          <a:p>
            <a:pPr marL="1231900">
              <a:lnSpc>
                <a:spcPts val="2010"/>
              </a:lnSpc>
            </a:pPr>
            <a:r>
              <a:rPr sz="2000" b="1" spc="-5" dirty="0">
                <a:latin typeface="Courier New" panose="02070309020205020404"/>
                <a:cs typeface="Courier New" panose="02070309020205020404"/>
              </a:rPr>
              <a:t>*mean </a:t>
            </a:r>
            <a:r>
              <a:rPr sz="2000" b="1" dirty="0">
                <a:latin typeface="Courier New" panose="02070309020205020404"/>
                <a:cs typeface="Courier New" panose="02070309020205020404"/>
              </a:rPr>
              <a:t>=</a:t>
            </a:r>
            <a:r>
              <a:rPr sz="2000" b="1" spc="-10" dirty="0">
                <a:latin typeface="Courier New" panose="02070309020205020404"/>
                <a:cs typeface="Courier New" panose="02070309020205020404"/>
              </a:rPr>
              <a:t> </a:t>
            </a:r>
            <a:r>
              <a:rPr sz="2000" b="1" spc="-5" dirty="0">
                <a:latin typeface="Courier New" panose="02070309020205020404"/>
                <a:cs typeface="Courier New" panose="02070309020205020404"/>
              </a:rPr>
              <a:t>sum/num;</a:t>
            </a:r>
            <a:endParaRPr sz="2000">
              <a:latin typeface="Courier New" panose="02070309020205020404"/>
              <a:cs typeface="Courier New" panose="02070309020205020404"/>
            </a:endParaRPr>
          </a:p>
          <a:p>
            <a:pPr marL="1231900">
              <a:lnSpc>
                <a:spcPts val="2150"/>
              </a:lnSpc>
            </a:pPr>
            <a:r>
              <a:rPr sz="2000" b="1" spc="-5" dirty="0">
                <a:latin typeface="Courier New" panose="02070309020205020404"/>
                <a:cs typeface="Courier New" panose="02070309020205020404"/>
              </a:rPr>
              <a:t>printf(“The mean score is %f \n”,</a:t>
            </a:r>
            <a:r>
              <a:rPr sz="2000" b="1" spc="-20" dirty="0">
                <a:latin typeface="Courier New" panose="02070309020205020404"/>
                <a:cs typeface="Courier New" panose="02070309020205020404"/>
              </a:rPr>
              <a:t> </a:t>
            </a:r>
            <a:r>
              <a:rPr sz="2000" b="1" spc="-5" dirty="0">
                <a:latin typeface="Courier New" panose="02070309020205020404"/>
                <a:cs typeface="Courier New" panose="02070309020205020404"/>
              </a:rPr>
              <a:t>mean);</a:t>
            </a:r>
            <a:endParaRPr sz="2000">
              <a:latin typeface="Courier New" panose="02070309020205020404"/>
              <a:cs typeface="Courier New" panose="02070309020205020404"/>
            </a:endParaRPr>
          </a:p>
          <a:p>
            <a:pPr marL="622300">
              <a:lnSpc>
                <a:spcPts val="2150"/>
              </a:lnSpc>
            </a:pPr>
            <a:r>
              <a:rPr sz="2000" b="1" dirty="0">
                <a:latin typeface="Courier New" panose="02070309020205020404"/>
                <a:cs typeface="Courier New" panose="02070309020205020404"/>
              </a:rPr>
              <a:t>}</a:t>
            </a:r>
            <a:r>
              <a:rPr sz="2000" b="1" spc="-10" dirty="0">
                <a:latin typeface="Courier New" panose="02070309020205020404"/>
                <a:cs typeface="Courier New" panose="02070309020205020404"/>
              </a:rPr>
              <a:t> </a:t>
            </a:r>
            <a:r>
              <a:rPr sz="2000" b="1" spc="-5" dirty="0">
                <a:latin typeface="Courier New" panose="02070309020205020404"/>
                <a:cs typeface="Courier New" panose="02070309020205020404"/>
              </a:rPr>
              <a:t>else</a:t>
            </a:r>
            <a:endParaRPr sz="2000">
              <a:latin typeface="Courier New" panose="02070309020205020404"/>
              <a:cs typeface="Courier New" panose="02070309020205020404"/>
            </a:endParaRPr>
          </a:p>
          <a:p>
            <a:pPr marL="1231900">
              <a:lnSpc>
                <a:spcPts val="2150"/>
              </a:lnSpc>
            </a:pPr>
            <a:r>
              <a:rPr sz="2000" b="1" spc="-5" dirty="0">
                <a:latin typeface="Courier New" panose="02070309020205020404"/>
                <a:cs typeface="Courier New" panose="02070309020205020404"/>
              </a:rPr>
              <a:t>printf(”No scores found in</a:t>
            </a:r>
            <a:r>
              <a:rPr sz="2000" b="1" spc="-15" dirty="0">
                <a:latin typeface="Courier New" panose="02070309020205020404"/>
                <a:cs typeface="Courier New" panose="02070309020205020404"/>
              </a:rPr>
              <a:t> </a:t>
            </a:r>
            <a:r>
              <a:rPr sz="2000" b="1" spc="-5" dirty="0">
                <a:latin typeface="Courier New" panose="02070309020205020404"/>
                <a:cs typeface="Courier New" panose="02070309020205020404"/>
              </a:rPr>
              <a:t>file\n”);</a:t>
            </a:r>
            <a:endParaRPr sz="2000">
              <a:latin typeface="Courier New" panose="02070309020205020404"/>
              <a:cs typeface="Courier New" panose="02070309020205020404"/>
            </a:endParaRPr>
          </a:p>
          <a:p>
            <a:pPr marL="12700">
              <a:lnSpc>
                <a:spcPts val="2300"/>
              </a:lnSpc>
            </a:pPr>
            <a:r>
              <a:rPr sz="2000" b="1" dirty="0">
                <a:latin typeface="Courier New" panose="02070309020205020404"/>
                <a:cs typeface="Courier New" panose="02070309020205020404"/>
              </a:rPr>
              <a:t>}</a:t>
            </a:r>
            <a:endParaRPr sz="2000">
              <a:latin typeface="Courier New" panose="02070309020205020404"/>
              <a:cs typeface="Courier New" panose="02070309020205020404"/>
            </a:endParaRPr>
          </a:p>
        </p:txBody>
      </p:sp>
      <p:sp>
        <p:nvSpPr>
          <p:cNvPr id="3" name="灯片编号占位符 2"/>
          <p:cNvSpPr>
            <a:spLocks noGrp="1"/>
          </p:cNvSpPr>
          <p:nvPr>
            <p:ph type="sldNum" sz="quarter" idx="7"/>
          </p:nvPr>
        </p:nvSpPr>
        <p:spPr/>
        <p:txBody>
          <a:bodyPr/>
          <a:lstStyle/>
          <a:p>
            <a:fld id="{B6F15528-21DE-4FAA-801E-634DDDAF4B2B}" type="slidenum">
              <a:rPr lang="en-US" altLang="zh-CN" smtClean="0"/>
              <a:t>42</a:t>
            </a:fld>
            <a:endParaRPr lang="en-US" altLang="zh-C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4D2AB8B-5816-41F2-8B4B-CA5C3E4E6A65}" type="slidenum">
              <a:rPr lang="zh-CN" altLang="en-US" smtClean="0"/>
              <a:t>43</a:t>
            </a:fld>
            <a:endParaRPr lang="zh-CN" altLang="en-US"/>
          </a:p>
        </p:txBody>
      </p:sp>
      <p:grpSp>
        <p:nvGrpSpPr>
          <p:cNvPr id="69" name="组合 68"/>
          <p:cNvGrpSpPr/>
          <p:nvPr/>
        </p:nvGrpSpPr>
        <p:grpSpPr>
          <a:xfrm>
            <a:off x="953083" y="573448"/>
            <a:ext cx="10285834" cy="5711104"/>
            <a:chOff x="907522" y="571707"/>
            <a:chExt cx="10285834" cy="5711104"/>
          </a:xfrm>
        </p:grpSpPr>
        <p:sp>
          <p:nvSpPr>
            <p:cNvPr id="3" name="object 2"/>
            <p:cNvSpPr/>
            <p:nvPr/>
          </p:nvSpPr>
          <p:spPr>
            <a:xfrm>
              <a:off x="5097265" y="571707"/>
              <a:ext cx="479425" cy="479425"/>
            </a:xfrm>
            <a:custGeom>
              <a:avLst/>
              <a:gdLst/>
              <a:ahLst/>
              <a:cxnLst/>
              <a:rect l="l" t="t" r="r" b="b"/>
              <a:pathLst>
                <a:path w="479425" h="479425">
                  <a:moveTo>
                    <a:pt x="239520" y="0"/>
                  </a:moveTo>
                  <a:lnTo>
                    <a:pt x="191248" y="4865"/>
                  </a:lnTo>
                  <a:lnTo>
                    <a:pt x="146288" y="18820"/>
                  </a:lnTo>
                  <a:lnTo>
                    <a:pt x="105602" y="40900"/>
                  </a:lnTo>
                  <a:lnTo>
                    <a:pt x="70153" y="70144"/>
                  </a:lnTo>
                  <a:lnTo>
                    <a:pt x="40906" y="105587"/>
                  </a:lnTo>
                  <a:lnTo>
                    <a:pt x="18822" y="146268"/>
                  </a:lnTo>
                  <a:lnTo>
                    <a:pt x="4866" y="191222"/>
                  </a:lnTo>
                  <a:lnTo>
                    <a:pt x="0" y="239487"/>
                  </a:lnTo>
                  <a:lnTo>
                    <a:pt x="4866" y="287752"/>
                  </a:lnTo>
                  <a:lnTo>
                    <a:pt x="18822" y="332707"/>
                  </a:lnTo>
                  <a:lnTo>
                    <a:pt x="40906" y="373387"/>
                  </a:lnTo>
                  <a:lnTo>
                    <a:pt x="70153" y="408831"/>
                  </a:lnTo>
                  <a:lnTo>
                    <a:pt x="105602" y="438074"/>
                  </a:lnTo>
                  <a:lnTo>
                    <a:pt x="146288" y="460155"/>
                  </a:lnTo>
                  <a:lnTo>
                    <a:pt x="191248" y="474109"/>
                  </a:lnTo>
                  <a:lnTo>
                    <a:pt x="239520" y="478975"/>
                  </a:lnTo>
                  <a:lnTo>
                    <a:pt x="287792" y="474109"/>
                  </a:lnTo>
                  <a:lnTo>
                    <a:pt x="332752" y="460155"/>
                  </a:lnTo>
                  <a:lnTo>
                    <a:pt x="373438" y="438074"/>
                  </a:lnTo>
                  <a:lnTo>
                    <a:pt x="408887" y="408831"/>
                  </a:lnTo>
                  <a:lnTo>
                    <a:pt x="438134" y="373387"/>
                  </a:lnTo>
                  <a:lnTo>
                    <a:pt x="460218" y="332707"/>
                  </a:lnTo>
                  <a:lnTo>
                    <a:pt x="474175" y="287752"/>
                  </a:lnTo>
                  <a:lnTo>
                    <a:pt x="479041" y="239487"/>
                  </a:lnTo>
                  <a:lnTo>
                    <a:pt x="474175" y="191222"/>
                  </a:lnTo>
                  <a:lnTo>
                    <a:pt x="460218" y="146268"/>
                  </a:lnTo>
                  <a:lnTo>
                    <a:pt x="438134" y="105587"/>
                  </a:lnTo>
                  <a:lnTo>
                    <a:pt x="408887" y="70144"/>
                  </a:lnTo>
                  <a:lnTo>
                    <a:pt x="373438" y="40900"/>
                  </a:lnTo>
                  <a:lnTo>
                    <a:pt x="332752" y="18820"/>
                  </a:lnTo>
                  <a:lnTo>
                    <a:pt x="287792" y="4865"/>
                  </a:lnTo>
                  <a:lnTo>
                    <a:pt x="239520" y="0"/>
                  </a:lnTo>
                  <a:close/>
                </a:path>
              </a:pathLst>
            </a:custGeom>
            <a:solidFill>
              <a:srgbClr val="A8D5D6"/>
            </a:solidFill>
          </p:spPr>
          <p:txBody>
            <a:bodyPr wrap="square" lIns="0" tIns="0" rIns="0" bIns="0" rtlCol="0"/>
            <a:lstStyle/>
            <a:p>
              <a:endParaRPr/>
            </a:p>
          </p:txBody>
        </p:sp>
        <p:sp>
          <p:nvSpPr>
            <p:cNvPr id="4" name="object 3"/>
            <p:cNvSpPr/>
            <p:nvPr/>
          </p:nvSpPr>
          <p:spPr>
            <a:xfrm>
              <a:off x="5097265" y="571707"/>
              <a:ext cx="479425" cy="479425"/>
            </a:xfrm>
            <a:custGeom>
              <a:avLst/>
              <a:gdLst/>
              <a:ahLst/>
              <a:cxnLst/>
              <a:rect l="l" t="t" r="r" b="b"/>
              <a:pathLst>
                <a:path w="479425" h="479425">
                  <a:moveTo>
                    <a:pt x="0" y="239488"/>
                  </a:moveTo>
                  <a:lnTo>
                    <a:pt x="4866" y="191222"/>
                  </a:lnTo>
                  <a:lnTo>
                    <a:pt x="18822" y="146268"/>
                  </a:lnTo>
                  <a:lnTo>
                    <a:pt x="40906" y="105588"/>
                  </a:lnTo>
                  <a:lnTo>
                    <a:pt x="70154" y="70144"/>
                  </a:lnTo>
                  <a:lnTo>
                    <a:pt x="105602" y="40900"/>
                  </a:lnTo>
                  <a:lnTo>
                    <a:pt x="146288" y="18820"/>
                  </a:lnTo>
                  <a:lnTo>
                    <a:pt x="191249" y="4865"/>
                  </a:lnTo>
                  <a:lnTo>
                    <a:pt x="239521" y="0"/>
                  </a:lnTo>
                  <a:lnTo>
                    <a:pt x="287792" y="4865"/>
                  </a:lnTo>
                  <a:lnTo>
                    <a:pt x="332753" y="18820"/>
                  </a:lnTo>
                  <a:lnTo>
                    <a:pt x="373439" y="40900"/>
                  </a:lnTo>
                  <a:lnTo>
                    <a:pt x="408887" y="70144"/>
                  </a:lnTo>
                  <a:lnTo>
                    <a:pt x="438135" y="105588"/>
                  </a:lnTo>
                  <a:lnTo>
                    <a:pt x="460219" y="146268"/>
                  </a:lnTo>
                  <a:lnTo>
                    <a:pt x="474175" y="191222"/>
                  </a:lnTo>
                  <a:lnTo>
                    <a:pt x="479042" y="239488"/>
                  </a:lnTo>
                  <a:lnTo>
                    <a:pt x="474175" y="287753"/>
                  </a:lnTo>
                  <a:lnTo>
                    <a:pt x="460219" y="332707"/>
                  </a:lnTo>
                  <a:lnTo>
                    <a:pt x="438135" y="373387"/>
                  </a:lnTo>
                  <a:lnTo>
                    <a:pt x="408887" y="408831"/>
                  </a:lnTo>
                  <a:lnTo>
                    <a:pt x="373439" y="438075"/>
                  </a:lnTo>
                  <a:lnTo>
                    <a:pt x="332753" y="460155"/>
                  </a:lnTo>
                  <a:lnTo>
                    <a:pt x="287792" y="474110"/>
                  </a:lnTo>
                  <a:lnTo>
                    <a:pt x="239521" y="478975"/>
                  </a:lnTo>
                  <a:lnTo>
                    <a:pt x="191249" y="474110"/>
                  </a:lnTo>
                  <a:lnTo>
                    <a:pt x="146288" y="460155"/>
                  </a:lnTo>
                  <a:lnTo>
                    <a:pt x="105602" y="438075"/>
                  </a:lnTo>
                  <a:lnTo>
                    <a:pt x="70154" y="408831"/>
                  </a:lnTo>
                  <a:lnTo>
                    <a:pt x="40906" y="373387"/>
                  </a:lnTo>
                  <a:lnTo>
                    <a:pt x="18822" y="332707"/>
                  </a:lnTo>
                  <a:lnTo>
                    <a:pt x="4866" y="287753"/>
                  </a:lnTo>
                  <a:lnTo>
                    <a:pt x="0" y="239488"/>
                  </a:lnTo>
                  <a:close/>
                </a:path>
              </a:pathLst>
            </a:custGeom>
            <a:ln w="9524">
              <a:solidFill>
                <a:srgbClr val="000000"/>
              </a:solidFill>
            </a:ln>
          </p:spPr>
          <p:txBody>
            <a:bodyPr wrap="square" lIns="0" tIns="0" rIns="0" bIns="0" rtlCol="0"/>
            <a:lstStyle/>
            <a:p>
              <a:endParaRPr/>
            </a:p>
          </p:txBody>
        </p:sp>
        <p:sp>
          <p:nvSpPr>
            <p:cNvPr id="5" name="object 4"/>
            <p:cNvSpPr txBox="1"/>
            <p:nvPr/>
          </p:nvSpPr>
          <p:spPr>
            <a:xfrm>
              <a:off x="5269971" y="661334"/>
              <a:ext cx="1397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panose="02020603050405020304"/>
                  <a:cs typeface="Times New Roman" panose="02020603050405020304"/>
                </a:rPr>
                <a:t>1</a:t>
              </a:r>
              <a:endParaRPr sz="1800">
                <a:latin typeface="Times New Roman" panose="02020603050405020304"/>
                <a:cs typeface="Times New Roman" panose="02020603050405020304"/>
              </a:endParaRPr>
            </a:p>
          </p:txBody>
        </p:sp>
        <p:sp>
          <p:nvSpPr>
            <p:cNvPr id="6" name="object 5"/>
            <p:cNvSpPr/>
            <p:nvPr/>
          </p:nvSpPr>
          <p:spPr>
            <a:xfrm>
              <a:off x="4853027" y="1496767"/>
              <a:ext cx="965200" cy="507365"/>
            </a:xfrm>
            <a:custGeom>
              <a:avLst/>
              <a:gdLst/>
              <a:ahLst/>
              <a:cxnLst/>
              <a:rect l="l" t="t" r="r" b="b"/>
              <a:pathLst>
                <a:path w="965200" h="507364">
                  <a:moveTo>
                    <a:pt x="482479" y="0"/>
                  </a:moveTo>
                  <a:lnTo>
                    <a:pt x="0" y="253467"/>
                  </a:lnTo>
                  <a:lnTo>
                    <a:pt x="482479" y="506935"/>
                  </a:lnTo>
                  <a:lnTo>
                    <a:pt x="964958" y="253467"/>
                  </a:lnTo>
                  <a:lnTo>
                    <a:pt x="482479" y="0"/>
                  </a:lnTo>
                  <a:close/>
                </a:path>
              </a:pathLst>
            </a:custGeom>
            <a:solidFill>
              <a:srgbClr val="FFACA9"/>
            </a:solidFill>
          </p:spPr>
          <p:txBody>
            <a:bodyPr wrap="square" lIns="0" tIns="0" rIns="0" bIns="0" rtlCol="0"/>
            <a:lstStyle/>
            <a:p>
              <a:endParaRPr/>
            </a:p>
          </p:txBody>
        </p:sp>
        <p:sp>
          <p:nvSpPr>
            <p:cNvPr id="7" name="object 6"/>
            <p:cNvSpPr/>
            <p:nvPr/>
          </p:nvSpPr>
          <p:spPr>
            <a:xfrm>
              <a:off x="4853027" y="1496767"/>
              <a:ext cx="965200" cy="507365"/>
            </a:xfrm>
            <a:custGeom>
              <a:avLst/>
              <a:gdLst/>
              <a:ahLst/>
              <a:cxnLst/>
              <a:rect l="l" t="t" r="r" b="b"/>
              <a:pathLst>
                <a:path w="965200" h="507364">
                  <a:moveTo>
                    <a:pt x="0" y="253468"/>
                  </a:moveTo>
                  <a:lnTo>
                    <a:pt x="482479" y="0"/>
                  </a:lnTo>
                  <a:lnTo>
                    <a:pt x="964959" y="253468"/>
                  </a:lnTo>
                  <a:lnTo>
                    <a:pt x="482479" y="506936"/>
                  </a:lnTo>
                  <a:lnTo>
                    <a:pt x="0" y="253468"/>
                  </a:lnTo>
                  <a:close/>
                </a:path>
              </a:pathLst>
            </a:custGeom>
            <a:ln w="9524">
              <a:solidFill>
                <a:srgbClr val="000000"/>
              </a:solidFill>
            </a:ln>
          </p:spPr>
          <p:txBody>
            <a:bodyPr wrap="square" lIns="0" tIns="0" rIns="0" bIns="0" rtlCol="0"/>
            <a:lstStyle/>
            <a:p>
              <a:endParaRPr/>
            </a:p>
          </p:txBody>
        </p:sp>
        <p:sp>
          <p:nvSpPr>
            <p:cNvPr id="8" name="object 7"/>
            <p:cNvSpPr txBox="1"/>
            <p:nvPr/>
          </p:nvSpPr>
          <p:spPr>
            <a:xfrm>
              <a:off x="5268255" y="1600375"/>
              <a:ext cx="1397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panose="02020603050405020304"/>
                  <a:cs typeface="Times New Roman" panose="02020603050405020304"/>
                </a:rPr>
                <a:t>2</a:t>
              </a:r>
              <a:endParaRPr sz="1800">
                <a:latin typeface="Times New Roman" panose="02020603050405020304"/>
                <a:cs typeface="Times New Roman" panose="02020603050405020304"/>
              </a:endParaRPr>
            </a:p>
          </p:txBody>
        </p:sp>
        <p:sp>
          <p:nvSpPr>
            <p:cNvPr id="9" name="object 8"/>
            <p:cNvSpPr/>
            <p:nvPr/>
          </p:nvSpPr>
          <p:spPr>
            <a:xfrm>
              <a:off x="4858479" y="2440890"/>
              <a:ext cx="965200" cy="507365"/>
            </a:xfrm>
            <a:custGeom>
              <a:avLst/>
              <a:gdLst/>
              <a:ahLst/>
              <a:cxnLst/>
              <a:rect l="l" t="t" r="r" b="b"/>
              <a:pathLst>
                <a:path w="965200" h="507364">
                  <a:moveTo>
                    <a:pt x="482480" y="0"/>
                  </a:moveTo>
                  <a:lnTo>
                    <a:pt x="0" y="253469"/>
                  </a:lnTo>
                  <a:lnTo>
                    <a:pt x="482480" y="506937"/>
                  </a:lnTo>
                  <a:lnTo>
                    <a:pt x="964959" y="253469"/>
                  </a:lnTo>
                  <a:lnTo>
                    <a:pt x="482480" y="0"/>
                  </a:lnTo>
                  <a:close/>
                </a:path>
              </a:pathLst>
            </a:custGeom>
            <a:solidFill>
              <a:srgbClr val="FFACA9"/>
            </a:solidFill>
          </p:spPr>
          <p:txBody>
            <a:bodyPr wrap="square" lIns="0" tIns="0" rIns="0" bIns="0" rtlCol="0"/>
            <a:lstStyle/>
            <a:p>
              <a:endParaRPr/>
            </a:p>
          </p:txBody>
        </p:sp>
        <p:sp>
          <p:nvSpPr>
            <p:cNvPr id="10" name="object 9"/>
            <p:cNvSpPr/>
            <p:nvPr/>
          </p:nvSpPr>
          <p:spPr>
            <a:xfrm>
              <a:off x="4858479" y="2440890"/>
              <a:ext cx="965200" cy="507365"/>
            </a:xfrm>
            <a:custGeom>
              <a:avLst/>
              <a:gdLst/>
              <a:ahLst/>
              <a:cxnLst/>
              <a:rect l="l" t="t" r="r" b="b"/>
              <a:pathLst>
                <a:path w="965200" h="507364">
                  <a:moveTo>
                    <a:pt x="0" y="253468"/>
                  </a:moveTo>
                  <a:lnTo>
                    <a:pt x="482479" y="0"/>
                  </a:lnTo>
                  <a:lnTo>
                    <a:pt x="964959" y="253468"/>
                  </a:lnTo>
                  <a:lnTo>
                    <a:pt x="482479" y="506936"/>
                  </a:lnTo>
                  <a:lnTo>
                    <a:pt x="0" y="253468"/>
                  </a:lnTo>
                  <a:close/>
                </a:path>
              </a:pathLst>
            </a:custGeom>
            <a:ln w="9524">
              <a:solidFill>
                <a:srgbClr val="000000"/>
              </a:solidFill>
            </a:ln>
          </p:spPr>
          <p:txBody>
            <a:bodyPr wrap="square" lIns="0" tIns="0" rIns="0" bIns="0" rtlCol="0"/>
            <a:lstStyle/>
            <a:p>
              <a:endParaRPr/>
            </a:p>
          </p:txBody>
        </p:sp>
        <p:sp>
          <p:nvSpPr>
            <p:cNvPr id="11" name="object 10"/>
            <p:cNvSpPr txBox="1"/>
            <p:nvPr/>
          </p:nvSpPr>
          <p:spPr>
            <a:xfrm>
              <a:off x="5273709" y="2544498"/>
              <a:ext cx="1397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panose="02020603050405020304"/>
                  <a:cs typeface="Times New Roman" panose="02020603050405020304"/>
                </a:rPr>
                <a:t>3</a:t>
              </a:r>
              <a:endParaRPr sz="1800">
                <a:latin typeface="Times New Roman" panose="02020603050405020304"/>
                <a:cs typeface="Times New Roman" panose="02020603050405020304"/>
              </a:endParaRPr>
            </a:p>
          </p:txBody>
        </p:sp>
        <p:sp>
          <p:nvSpPr>
            <p:cNvPr id="12" name="object 11"/>
            <p:cNvSpPr/>
            <p:nvPr/>
          </p:nvSpPr>
          <p:spPr>
            <a:xfrm>
              <a:off x="4014694" y="3009823"/>
              <a:ext cx="479425" cy="479425"/>
            </a:xfrm>
            <a:custGeom>
              <a:avLst/>
              <a:gdLst/>
              <a:ahLst/>
              <a:cxnLst/>
              <a:rect l="l" t="t" r="r" b="b"/>
              <a:pathLst>
                <a:path w="479425" h="479425">
                  <a:moveTo>
                    <a:pt x="239522" y="0"/>
                  </a:moveTo>
                  <a:lnTo>
                    <a:pt x="191249" y="4865"/>
                  </a:lnTo>
                  <a:lnTo>
                    <a:pt x="146289" y="18820"/>
                  </a:lnTo>
                  <a:lnTo>
                    <a:pt x="105602" y="40901"/>
                  </a:lnTo>
                  <a:lnTo>
                    <a:pt x="70154" y="70144"/>
                  </a:lnTo>
                  <a:lnTo>
                    <a:pt x="40906" y="105588"/>
                  </a:lnTo>
                  <a:lnTo>
                    <a:pt x="18822" y="146269"/>
                  </a:lnTo>
                  <a:lnTo>
                    <a:pt x="4866" y="191223"/>
                  </a:lnTo>
                  <a:lnTo>
                    <a:pt x="0" y="239488"/>
                  </a:lnTo>
                  <a:lnTo>
                    <a:pt x="4866" y="287754"/>
                  </a:lnTo>
                  <a:lnTo>
                    <a:pt x="18822" y="332708"/>
                  </a:lnTo>
                  <a:lnTo>
                    <a:pt x="40906" y="373388"/>
                  </a:lnTo>
                  <a:lnTo>
                    <a:pt x="70154" y="408832"/>
                  </a:lnTo>
                  <a:lnTo>
                    <a:pt x="105602" y="438075"/>
                  </a:lnTo>
                  <a:lnTo>
                    <a:pt x="146289" y="460156"/>
                  </a:lnTo>
                  <a:lnTo>
                    <a:pt x="191249" y="474111"/>
                  </a:lnTo>
                  <a:lnTo>
                    <a:pt x="239522" y="478976"/>
                  </a:lnTo>
                  <a:lnTo>
                    <a:pt x="287793" y="474111"/>
                  </a:lnTo>
                  <a:lnTo>
                    <a:pt x="332754" y="460156"/>
                  </a:lnTo>
                  <a:lnTo>
                    <a:pt x="373440" y="438075"/>
                  </a:lnTo>
                  <a:lnTo>
                    <a:pt x="408888" y="408832"/>
                  </a:lnTo>
                  <a:lnTo>
                    <a:pt x="438136" y="373388"/>
                  </a:lnTo>
                  <a:lnTo>
                    <a:pt x="460219" y="332708"/>
                  </a:lnTo>
                  <a:lnTo>
                    <a:pt x="474176" y="287754"/>
                  </a:lnTo>
                  <a:lnTo>
                    <a:pt x="479042" y="239488"/>
                  </a:lnTo>
                  <a:lnTo>
                    <a:pt x="474176" y="191223"/>
                  </a:lnTo>
                  <a:lnTo>
                    <a:pt x="460219" y="146269"/>
                  </a:lnTo>
                  <a:lnTo>
                    <a:pt x="438136" y="105588"/>
                  </a:lnTo>
                  <a:lnTo>
                    <a:pt x="408888" y="70144"/>
                  </a:lnTo>
                  <a:lnTo>
                    <a:pt x="373440" y="40901"/>
                  </a:lnTo>
                  <a:lnTo>
                    <a:pt x="332754" y="18820"/>
                  </a:lnTo>
                  <a:lnTo>
                    <a:pt x="287793" y="4865"/>
                  </a:lnTo>
                  <a:lnTo>
                    <a:pt x="239522" y="0"/>
                  </a:lnTo>
                  <a:close/>
                </a:path>
              </a:pathLst>
            </a:custGeom>
            <a:solidFill>
              <a:srgbClr val="A8D5D6"/>
            </a:solidFill>
          </p:spPr>
          <p:txBody>
            <a:bodyPr wrap="square" lIns="0" tIns="0" rIns="0" bIns="0" rtlCol="0"/>
            <a:lstStyle/>
            <a:p>
              <a:endParaRPr/>
            </a:p>
          </p:txBody>
        </p:sp>
        <p:sp>
          <p:nvSpPr>
            <p:cNvPr id="13" name="object 12"/>
            <p:cNvSpPr/>
            <p:nvPr/>
          </p:nvSpPr>
          <p:spPr>
            <a:xfrm>
              <a:off x="4014694" y="3009823"/>
              <a:ext cx="479425" cy="479425"/>
            </a:xfrm>
            <a:custGeom>
              <a:avLst/>
              <a:gdLst/>
              <a:ahLst/>
              <a:cxnLst/>
              <a:rect l="l" t="t" r="r" b="b"/>
              <a:pathLst>
                <a:path w="479425" h="479425">
                  <a:moveTo>
                    <a:pt x="0" y="239488"/>
                  </a:moveTo>
                  <a:lnTo>
                    <a:pt x="4866" y="191222"/>
                  </a:lnTo>
                  <a:lnTo>
                    <a:pt x="18822" y="146268"/>
                  </a:lnTo>
                  <a:lnTo>
                    <a:pt x="40906" y="105588"/>
                  </a:lnTo>
                  <a:lnTo>
                    <a:pt x="70154" y="70144"/>
                  </a:lnTo>
                  <a:lnTo>
                    <a:pt x="105602" y="40900"/>
                  </a:lnTo>
                  <a:lnTo>
                    <a:pt x="146288" y="18820"/>
                  </a:lnTo>
                  <a:lnTo>
                    <a:pt x="191249" y="4865"/>
                  </a:lnTo>
                  <a:lnTo>
                    <a:pt x="239521" y="0"/>
                  </a:lnTo>
                  <a:lnTo>
                    <a:pt x="287792" y="4865"/>
                  </a:lnTo>
                  <a:lnTo>
                    <a:pt x="332753" y="18820"/>
                  </a:lnTo>
                  <a:lnTo>
                    <a:pt x="373439" y="40900"/>
                  </a:lnTo>
                  <a:lnTo>
                    <a:pt x="408887" y="70144"/>
                  </a:lnTo>
                  <a:lnTo>
                    <a:pt x="438135" y="105588"/>
                  </a:lnTo>
                  <a:lnTo>
                    <a:pt x="460219" y="146268"/>
                  </a:lnTo>
                  <a:lnTo>
                    <a:pt x="474175" y="191222"/>
                  </a:lnTo>
                  <a:lnTo>
                    <a:pt x="479041" y="239488"/>
                  </a:lnTo>
                  <a:lnTo>
                    <a:pt x="474175" y="287753"/>
                  </a:lnTo>
                  <a:lnTo>
                    <a:pt x="460219" y="332707"/>
                  </a:lnTo>
                  <a:lnTo>
                    <a:pt x="438135" y="373387"/>
                  </a:lnTo>
                  <a:lnTo>
                    <a:pt x="408887" y="408831"/>
                  </a:lnTo>
                  <a:lnTo>
                    <a:pt x="373439" y="438075"/>
                  </a:lnTo>
                  <a:lnTo>
                    <a:pt x="332753" y="460155"/>
                  </a:lnTo>
                  <a:lnTo>
                    <a:pt x="287792" y="474110"/>
                  </a:lnTo>
                  <a:lnTo>
                    <a:pt x="239521" y="478975"/>
                  </a:lnTo>
                  <a:lnTo>
                    <a:pt x="191249" y="474110"/>
                  </a:lnTo>
                  <a:lnTo>
                    <a:pt x="146288" y="460155"/>
                  </a:lnTo>
                  <a:lnTo>
                    <a:pt x="105602" y="438075"/>
                  </a:lnTo>
                  <a:lnTo>
                    <a:pt x="70154" y="408831"/>
                  </a:lnTo>
                  <a:lnTo>
                    <a:pt x="40906" y="373387"/>
                  </a:lnTo>
                  <a:lnTo>
                    <a:pt x="18822" y="332707"/>
                  </a:lnTo>
                  <a:lnTo>
                    <a:pt x="4866" y="287753"/>
                  </a:lnTo>
                  <a:lnTo>
                    <a:pt x="0" y="239488"/>
                  </a:lnTo>
                  <a:close/>
                </a:path>
              </a:pathLst>
            </a:custGeom>
            <a:ln w="9524">
              <a:solidFill>
                <a:srgbClr val="000000"/>
              </a:solidFill>
            </a:ln>
          </p:spPr>
          <p:txBody>
            <a:bodyPr wrap="square" lIns="0" tIns="0" rIns="0" bIns="0" rtlCol="0"/>
            <a:lstStyle/>
            <a:p>
              <a:endParaRPr/>
            </a:p>
          </p:txBody>
        </p:sp>
        <p:sp>
          <p:nvSpPr>
            <p:cNvPr id="14" name="object 13"/>
            <p:cNvSpPr txBox="1"/>
            <p:nvPr/>
          </p:nvSpPr>
          <p:spPr>
            <a:xfrm>
              <a:off x="4181052" y="3084212"/>
              <a:ext cx="152400"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panose="02020603050405020304"/>
                  <a:cs typeface="Times New Roman" panose="02020603050405020304"/>
                </a:rPr>
                <a:t>4</a:t>
              </a:r>
              <a:endParaRPr sz="2000">
                <a:latin typeface="Times New Roman" panose="02020603050405020304"/>
                <a:cs typeface="Times New Roman" panose="02020603050405020304"/>
              </a:endParaRPr>
            </a:p>
          </p:txBody>
        </p:sp>
        <p:sp>
          <p:nvSpPr>
            <p:cNvPr id="15" name="object 14"/>
            <p:cNvSpPr/>
            <p:nvPr/>
          </p:nvSpPr>
          <p:spPr>
            <a:xfrm>
              <a:off x="5136518" y="3503827"/>
              <a:ext cx="479425" cy="479425"/>
            </a:xfrm>
            <a:custGeom>
              <a:avLst/>
              <a:gdLst/>
              <a:ahLst/>
              <a:cxnLst/>
              <a:rect l="l" t="t" r="r" b="b"/>
              <a:pathLst>
                <a:path w="479425" h="479425">
                  <a:moveTo>
                    <a:pt x="239520" y="0"/>
                  </a:moveTo>
                  <a:lnTo>
                    <a:pt x="191248" y="4866"/>
                  </a:lnTo>
                  <a:lnTo>
                    <a:pt x="146288" y="18822"/>
                  </a:lnTo>
                  <a:lnTo>
                    <a:pt x="105602" y="40906"/>
                  </a:lnTo>
                  <a:lnTo>
                    <a:pt x="70153" y="70154"/>
                  </a:lnTo>
                  <a:lnTo>
                    <a:pt x="40906" y="105602"/>
                  </a:lnTo>
                  <a:lnTo>
                    <a:pt x="18822" y="146288"/>
                  </a:lnTo>
                  <a:lnTo>
                    <a:pt x="4866" y="191249"/>
                  </a:lnTo>
                  <a:lnTo>
                    <a:pt x="0" y="239520"/>
                  </a:lnTo>
                  <a:lnTo>
                    <a:pt x="4866" y="287792"/>
                  </a:lnTo>
                  <a:lnTo>
                    <a:pt x="18822" y="332753"/>
                  </a:lnTo>
                  <a:lnTo>
                    <a:pt x="40906" y="373439"/>
                  </a:lnTo>
                  <a:lnTo>
                    <a:pt x="70153" y="408887"/>
                  </a:lnTo>
                  <a:lnTo>
                    <a:pt x="105602" y="438135"/>
                  </a:lnTo>
                  <a:lnTo>
                    <a:pt x="146288" y="460218"/>
                  </a:lnTo>
                  <a:lnTo>
                    <a:pt x="191248" y="474175"/>
                  </a:lnTo>
                  <a:lnTo>
                    <a:pt x="239520" y="479041"/>
                  </a:lnTo>
                  <a:lnTo>
                    <a:pt x="287792" y="474175"/>
                  </a:lnTo>
                  <a:lnTo>
                    <a:pt x="332752" y="460218"/>
                  </a:lnTo>
                  <a:lnTo>
                    <a:pt x="373438" y="438135"/>
                  </a:lnTo>
                  <a:lnTo>
                    <a:pt x="408887" y="408887"/>
                  </a:lnTo>
                  <a:lnTo>
                    <a:pt x="438134" y="373439"/>
                  </a:lnTo>
                  <a:lnTo>
                    <a:pt x="460218" y="332753"/>
                  </a:lnTo>
                  <a:lnTo>
                    <a:pt x="474175" y="287792"/>
                  </a:lnTo>
                  <a:lnTo>
                    <a:pt x="479041" y="239520"/>
                  </a:lnTo>
                  <a:lnTo>
                    <a:pt x="474175" y="191249"/>
                  </a:lnTo>
                  <a:lnTo>
                    <a:pt x="460218" y="146288"/>
                  </a:lnTo>
                  <a:lnTo>
                    <a:pt x="438134" y="105602"/>
                  </a:lnTo>
                  <a:lnTo>
                    <a:pt x="408887" y="70154"/>
                  </a:lnTo>
                  <a:lnTo>
                    <a:pt x="373438" y="40906"/>
                  </a:lnTo>
                  <a:lnTo>
                    <a:pt x="332752" y="18822"/>
                  </a:lnTo>
                  <a:lnTo>
                    <a:pt x="287792" y="4866"/>
                  </a:lnTo>
                  <a:lnTo>
                    <a:pt x="239520" y="0"/>
                  </a:lnTo>
                  <a:close/>
                </a:path>
              </a:pathLst>
            </a:custGeom>
            <a:solidFill>
              <a:srgbClr val="A8D5D6"/>
            </a:solidFill>
          </p:spPr>
          <p:txBody>
            <a:bodyPr wrap="square" lIns="0" tIns="0" rIns="0" bIns="0" rtlCol="0"/>
            <a:lstStyle/>
            <a:p>
              <a:endParaRPr/>
            </a:p>
          </p:txBody>
        </p:sp>
        <p:sp>
          <p:nvSpPr>
            <p:cNvPr id="16" name="object 15"/>
            <p:cNvSpPr/>
            <p:nvPr/>
          </p:nvSpPr>
          <p:spPr>
            <a:xfrm>
              <a:off x="5136519" y="3503827"/>
              <a:ext cx="479425" cy="479425"/>
            </a:xfrm>
            <a:custGeom>
              <a:avLst/>
              <a:gdLst/>
              <a:ahLst/>
              <a:cxnLst/>
              <a:rect l="l" t="t" r="r" b="b"/>
              <a:pathLst>
                <a:path w="479425" h="479425">
                  <a:moveTo>
                    <a:pt x="0" y="239520"/>
                  </a:moveTo>
                  <a:lnTo>
                    <a:pt x="4866" y="191249"/>
                  </a:lnTo>
                  <a:lnTo>
                    <a:pt x="18822" y="146288"/>
                  </a:lnTo>
                  <a:lnTo>
                    <a:pt x="40906" y="105602"/>
                  </a:lnTo>
                  <a:lnTo>
                    <a:pt x="70154" y="70154"/>
                  </a:lnTo>
                  <a:lnTo>
                    <a:pt x="105602" y="40906"/>
                  </a:lnTo>
                  <a:lnTo>
                    <a:pt x="146288" y="18822"/>
                  </a:lnTo>
                  <a:lnTo>
                    <a:pt x="191249" y="4866"/>
                  </a:lnTo>
                  <a:lnTo>
                    <a:pt x="239520" y="0"/>
                  </a:lnTo>
                  <a:lnTo>
                    <a:pt x="287792" y="4866"/>
                  </a:lnTo>
                  <a:lnTo>
                    <a:pt x="332753" y="18822"/>
                  </a:lnTo>
                  <a:lnTo>
                    <a:pt x="373439" y="40906"/>
                  </a:lnTo>
                  <a:lnTo>
                    <a:pt x="408887" y="70154"/>
                  </a:lnTo>
                  <a:lnTo>
                    <a:pt x="438135" y="105602"/>
                  </a:lnTo>
                  <a:lnTo>
                    <a:pt x="460219" y="146288"/>
                  </a:lnTo>
                  <a:lnTo>
                    <a:pt x="474175" y="191249"/>
                  </a:lnTo>
                  <a:lnTo>
                    <a:pt x="479042" y="239520"/>
                  </a:lnTo>
                  <a:lnTo>
                    <a:pt x="474175" y="287792"/>
                  </a:lnTo>
                  <a:lnTo>
                    <a:pt x="460219" y="332753"/>
                  </a:lnTo>
                  <a:lnTo>
                    <a:pt x="438135" y="373439"/>
                  </a:lnTo>
                  <a:lnTo>
                    <a:pt x="408887" y="408887"/>
                  </a:lnTo>
                  <a:lnTo>
                    <a:pt x="373439" y="438135"/>
                  </a:lnTo>
                  <a:lnTo>
                    <a:pt x="332753" y="460219"/>
                  </a:lnTo>
                  <a:lnTo>
                    <a:pt x="287792" y="474175"/>
                  </a:lnTo>
                  <a:lnTo>
                    <a:pt x="239520" y="479041"/>
                  </a:lnTo>
                  <a:lnTo>
                    <a:pt x="191249" y="474175"/>
                  </a:lnTo>
                  <a:lnTo>
                    <a:pt x="146288" y="460219"/>
                  </a:lnTo>
                  <a:lnTo>
                    <a:pt x="105602" y="438135"/>
                  </a:lnTo>
                  <a:lnTo>
                    <a:pt x="70154" y="408887"/>
                  </a:lnTo>
                  <a:lnTo>
                    <a:pt x="40906" y="373439"/>
                  </a:lnTo>
                  <a:lnTo>
                    <a:pt x="18822" y="332753"/>
                  </a:lnTo>
                  <a:lnTo>
                    <a:pt x="4866" y="287792"/>
                  </a:lnTo>
                  <a:lnTo>
                    <a:pt x="0" y="239520"/>
                  </a:lnTo>
                  <a:close/>
                </a:path>
              </a:pathLst>
            </a:custGeom>
            <a:ln w="9524">
              <a:solidFill>
                <a:srgbClr val="000000"/>
              </a:solidFill>
            </a:ln>
          </p:spPr>
          <p:txBody>
            <a:bodyPr wrap="square" lIns="0" tIns="0" rIns="0" bIns="0" rtlCol="0"/>
            <a:lstStyle/>
            <a:p>
              <a:endParaRPr/>
            </a:p>
          </p:txBody>
        </p:sp>
        <p:sp>
          <p:nvSpPr>
            <p:cNvPr id="17" name="object 16"/>
            <p:cNvSpPr txBox="1"/>
            <p:nvPr/>
          </p:nvSpPr>
          <p:spPr>
            <a:xfrm>
              <a:off x="5302874" y="3578247"/>
              <a:ext cx="152400"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panose="02020603050405020304"/>
                  <a:cs typeface="Times New Roman" panose="02020603050405020304"/>
                </a:rPr>
                <a:t>5</a:t>
              </a:r>
              <a:endParaRPr sz="2000">
                <a:latin typeface="Times New Roman" panose="02020603050405020304"/>
                <a:cs typeface="Times New Roman" panose="02020603050405020304"/>
              </a:endParaRPr>
            </a:p>
          </p:txBody>
        </p:sp>
        <p:sp>
          <p:nvSpPr>
            <p:cNvPr id="18" name="object 17"/>
            <p:cNvSpPr/>
            <p:nvPr/>
          </p:nvSpPr>
          <p:spPr>
            <a:xfrm>
              <a:off x="5335578" y="1050682"/>
              <a:ext cx="1270" cy="421005"/>
            </a:xfrm>
            <a:custGeom>
              <a:avLst/>
              <a:gdLst/>
              <a:ahLst/>
              <a:cxnLst/>
              <a:rect l="l" t="t" r="r" b="b"/>
              <a:pathLst>
                <a:path w="1270" h="421005">
                  <a:moveTo>
                    <a:pt x="1207" y="0"/>
                  </a:moveTo>
                  <a:lnTo>
                    <a:pt x="0" y="420880"/>
                  </a:lnTo>
                </a:path>
              </a:pathLst>
            </a:custGeom>
            <a:ln w="9524">
              <a:solidFill>
                <a:srgbClr val="000000"/>
              </a:solidFill>
            </a:ln>
          </p:spPr>
          <p:txBody>
            <a:bodyPr wrap="square" lIns="0" tIns="0" rIns="0" bIns="0" rtlCol="0"/>
            <a:lstStyle/>
            <a:p>
              <a:endParaRPr/>
            </a:p>
          </p:txBody>
        </p:sp>
        <p:sp>
          <p:nvSpPr>
            <p:cNvPr id="19" name="object 18"/>
            <p:cNvSpPr/>
            <p:nvPr/>
          </p:nvSpPr>
          <p:spPr>
            <a:xfrm>
              <a:off x="5276842" y="1380730"/>
              <a:ext cx="117908" cy="116037"/>
            </a:xfrm>
            <a:prstGeom prst="rect">
              <a:avLst/>
            </a:prstGeom>
            <a:blipFill>
              <a:blip r:embed="rId3" cstate="print"/>
              <a:stretch>
                <a:fillRect/>
              </a:stretch>
            </a:blipFill>
          </p:spPr>
          <p:txBody>
            <a:bodyPr wrap="square" lIns="0" tIns="0" rIns="0" bIns="0" rtlCol="0"/>
            <a:lstStyle/>
            <a:p>
              <a:endParaRPr/>
            </a:p>
          </p:txBody>
        </p:sp>
        <p:sp>
          <p:nvSpPr>
            <p:cNvPr id="20" name="object 19"/>
            <p:cNvSpPr/>
            <p:nvPr/>
          </p:nvSpPr>
          <p:spPr>
            <a:xfrm>
              <a:off x="5335506" y="2003704"/>
              <a:ext cx="5715" cy="412750"/>
            </a:xfrm>
            <a:custGeom>
              <a:avLst/>
              <a:gdLst/>
              <a:ahLst/>
              <a:cxnLst/>
              <a:rect l="l" t="t" r="r" b="b"/>
              <a:pathLst>
                <a:path w="5714" h="412750">
                  <a:moveTo>
                    <a:pt x="0" y="0"/>
                  </a:moveTo>
                  <a:lnTo>
                    <a:pt x="5236" y="412153"/>
                  </a:lnTo>
                </a:path>
              </a:pathLst>
            </a:custGeom>
            <a:ln w="9524">
              <a:solidFill>
                <a:srgbClr val="000000"/>
              </a:solidFill>
            </a:ln>
          </p:spPr>
          <p:txBody>
            <a:bodyPr wrap="square" lIns="0" tIns="0" rIns="0" bIns="0" rtlCol="0"/>
            <a:lstStyle/>
            <a:p>
              <a:endParaRPr/>
            </a:p>
          </p:txBody>
        </p:sp>
        <p:sp>
          <p:nvSpPr>
            <p:cNvPr id="21" name="object 20"/>
            <p:cNvSpPr/>
            <p:nvPr/>
          </p:nvSpPr>
          <p:spPr>
            <a:xfrm>
              <a:off x="5280829" y="2324592"/>
              <a:ext cx="117897" cy="116467"/>
            </a:xfrm>
            <a:prstGeom prst="rect">
              <a:avLst/>
            </a:prstGeom>
            <a:blipFill>
              <a:blip r:embed="rId4" cstate="print"/>
              <a:stretch>
                <a:fillRect/>
              </a:stretch>
            </a:blipFill>
          </p:spPr>
          <p:txBody>
            <a:bodyPr wrap="square" lIns="0" tIns="0" rIns="0" bIns="0" rtlCol="0"/>
            <a:lstStyle/>
            <a:p>
              <a:endParaRPr/>
            </a:p>
          </p:txBody>
        </p:sp>
        <p:sp>
          <p:nvSpPr>
            <p:cNvPr id="22" name="object 21"/>
            <p:cNvSpPr/>
            <p:nvPr/>
          </p:nvSpPr>
          <p:spPr>
            <a:xfrm>
              <a:off x="4254216" y="2694357"/>
              <a:ext cx="604520" cy="290830"/>
            </a:xfrm>
            <a:custGeom>
              <a:avLst/>
              <a:gdLst/>
              <a:ahLst/>
              <a:cxnLst/>
              <a:rect l="l" t="t" r="r" b="b"/>
              <a:pathLst>
                <a:path w="604520" h="290830">
                  <a:moveTo>
                    <a:pt x="604262" y="0"/>
                  </a:moveTo>
                  <a:lnTo>
                    <a:pt x="0" y="0"/>
                  </a:lnTo>
                  <a:lnTo>
                    <a:pt x="0" y="290260"/>
                  </a:lnTo>
                </a:path>
              </a:pathLst>
            </a:custGeom>
            <a:ln w="9524">
              <a:solidFill>
                <a:srgbClr val="000000"/>
              </a:solidFill>
            </a:ln>
          </p:spPr>
          <p:txBody>
            <a:bodyPr wrap="square" lIns="0" tIns="0" rIns="0" bIns="0" rtlCol="0"/>
            <a:lstStyle/>
            <a:p>
              <a:endParaRPr/>
            </a:p>
          </p:txBody>
        </p:sp>
        <p:sp>
          <p:nvSpPr>
            <p:cNvPr id="23" name="object 22"/>
            <p:cNvSpPr/>
            <p:nvPr/>
          </p:nvSpPr>
          <p:spPr>
            <a:xfrm>
              <a:off x="4195262" y="2893913"/>
              <a:ext cx="117909" cy="115910"/>
            </a:xfrm>
            <a:prstGeom prst="rect">
              <a:avLst/>
            </a:prstGeom>
            <a:blipFill>
              <a:blip r:embed="rId5" cstate="print"/>
              <a:stretch>
                <a:fillRect/>
              </a:stretch>
            </a:blipFill>
          </p:spPr>
          <p:txBody>
            <a:bodyPr wrap="square" lIns="0" tIns="0" rIns="0" bIns="0" rtlCol="0"/>
            <a:lstStyle/>
            <a:p>
              <a:endParaRPr/>
            </a:p>
          </p:txBody>
        </p:sp>
        <p:sp>
          <p:nvSpPr>
            <p:cNvPr id="24" name="object 23"/>
            <p:cNvSpPr/>
            <p:nvPr/>
          </p:nvSpPr>
          <p:spPr>
            <a:xfrm>
              <a:off x="5640764" y="2694358"/>
              <a:ext cx="774700" cy="1049020"/>
            </a:xfrm>
            <a:custGeom>
              <a:avLst/>
              <a:gdLst/>
              <a:ahLst/>
              <a:cxnLst/>
              <a:rect l="l" t="t" r="r" b="b"/>
              <a:pathLst>
                <a:path w="774700" h="1049020">
                  <a:moveTo>
                    <a:pt x="182675" y="0"/>
                  </a:moveTo>
                  <a:lnTo>
                    <a:pt x="774159" y="0"/>
                  </a:lnTo>
                  <a:lnTo>
                    <a:pt x="774159" y="1048989"/>
                  </a:lnTo>
                  <a:lnTo>
                    <a:pt x="0" y="1048989"/>
                  </a:lnTo>
                </a:path>
              </a:pathLst>
            </a:custGeom>
            <a:ln w="9524">
              <a:solidFill>
                <a:srgbClr val="000000"/>
              </a:solidFill>
            </a:ln>
          </p:spPr>
          <p:txBody>
            <a:bodyPr wrap="square" lIns="0" tIns="0" rIns="0" bIns="0" rtlCol="0"/>
            <a:lstStyle/>
            <a:p>
              <a:endParaRPr/>
            </a:p>
          </p:txBody>
        </p:sp>
        <p:sp>
          <p:nvSpPr>
            <p:cNvPr id="25" name="object 24"/>
            <p:cNvSpPr/>
            <p:nvPr/>
          </p:nvSpPr>
          <p:spPr>
            <a:xfrm>
              <a:off x="5615560" y="3684394"/>
              <a:ext cx="115909" cy="117908"/>
            </a:xfrm>
            <a:prstGeom prst="rect">
              <a:avLst/>
            </a:prstGeom>
            <a:blipFill>
              <a:blip r:embed="rId6" cstate="print"/>
              <a:stretch>
                <a:fillRect/>
              </a:stretch>
            </a:blipFill>
          </p:spPr>
          <p:txBody>
            <a:bodyPr wrap="square" lIns="0" tIns="0" rIns="0" bIns="0" rtlCol="0"/>
            <a:lstStyle/>
            <a:p>
              <a:endParaRPr/>
            </a:p>
          </p:txBody>
        </p:sp>
        <p:sp>
          <p:nvSpPr>
            <p:cNvPr id="26" name="object 25"/>
            <p:cNvSpPr/>
            <p:nvPr/>
          </p:nvSpPr>
          <p:spPr>
            <a:xfrm>
              <a:off x="4254216" y="3488799"/>
              <a:ext cx="857250" cy="254635"/>
            </a:xfrm>
            <a:custGeom>
              <a:avLst/>
              <a:gdLst/>
              <a:ahLst/>
              <a:cxnLst/>
              <a:rect l="l" t="t" r="r" b="b"/>
              <a:pathLst>
                <a:path w="857250" h="254635">
                  <a:moveTo>
                    <a:pt x="0" y="0"/>
                  </a:moveTo>
                  <a:lnTo>
                    <a:pt x="0" y="254549"/>
                  </a:lnTo>
                  <a:lnTo>
                    <a:pt x="857096" y="254549"/>
                  </a:lnTo>
                </a:path>
              </a:pathLst>
            </a:custGeom>
            <a:ln w="9524">
              <a:solidFill>
                <a:srgbClr val="000000"/>
              </a:solidFill>
            </a:ln>
          </p:spPr>
          <p:txBody>
            <a:bodyPr wrap="square" lIns="0" tIns="0" rIns="0" bIns="0" rtlCol="0"/>
            <a:lstStyle/>
            <a:p>
              <a:endParaRPr/>
            </a:p>
          </p:txBody>
        </p:sp>
        <p:sp>
          <p:nvSpPr>
            <p:cNvPr id="27" name="object 26"/>
            <p:cNvSpPr/>
            <p:nvPr/>
          </p:nvSpPr>
          <p:spPr>
            <a:xfrm>
              <a:off x="5020608" y="3684394"/>
              <a:ext cx="115909" cy="117908"/>
            </a:xfrm>
            <a:prstGeom prst="rect">
              <a:avLst/>
            </a:prstGeom>
            <a:blipFill>
              <a:blip r:embed="rId7" cstate="print"/>
              <a:stretch>
                <a:fillRect/>
              </a:stretch>
            </a:blipFill>
          </p:spPr>
          <p:txBody>
            <a:bodyPr wrap="square" lIns="0" tIns="0" rIns="0" bIns="0" rtlCol="0"/>
            <a:lstStyle/>
            <a:p>
              <a:endParaRPr/>
            </a:p>
          </p:txBody>
        </p:sp>
        <p:sp>
          <p:nvSpPr>
            <p:cNvPr id="28" name="object 27"/>
            <p:cNvSpPr/>
            <p:nvPr/>
          </p:nvSpPr>
          <p:spPr>
            <a:xfrm>
              <a:off x="3056237" y="4265321"/>
              <a:ext cx="965200" cy="507365"/>
            </a:xfrm>
            <a:custGeom>
              <a:avLst/>
              <a:gdLst/>
              <a:ahLst/>
              <a:cxnLst/>
              <a:rect l="l" t="t" r="r" b="b"/>
              <a:pathLst>
                <a:path w="965200" h="507364">
                  <a:moveTo>
                    <a:pt x="482479" y="0"/>
                  </a:moveTo>
                  <a:lnTo>
                    <a:pt x="0" y="253467"/>
                  </a:lnTo>
                  <a:lnTo>
                    <a:pt x="482479" y="506937"/>
                  </a:lnTo>
                  <a:lnTo>
                    <a:pt x="964958" y="253467"/>
                  </a:lnTo>
                  <a:lnTo>
                    <a:pt x="482479" y="0"/>
                  </a:lnTo>
                  <a:close/>
                </a:path>
              </a:pathLst>
            </a:custGeom>
            <a:solidFill>
              <a:srgbClr val="FFACA9"/>
            </a:solidFill>
          </p:spPr>
          <p:txBody>
            <a:bodyPr wrap="square" lIns="0" tIns="0" rIns="0" bIns="0" rtlCol="0"/>
            <a:lstStyle/>
            <a:p>
              <a:endParaRPr/>
            </a:p>
          </p:txBody>
        </p:sp>
        <p:sp>
          <p:nvSpPr>
            <p:cNvPr id="29" name="object 28"/>
            <p:cNvSpPr/>
            <p:nvPr/>
          </p:nvSpPr>
          <p:spPr>
            <a:xfrm>
              <a:off x="3056237" y="4265321"/>
              <a:ext cx="965200" cy="507365"/>
            </a:xfrm>
            <a:custGeom>
              <a:avLst/>
              <a:gdLst/>
              <a:ahLst/>
              <a:cxnLst/>
              <a:rect l="l" t="t" r="r" b="b"/>
              <a:pathLst>
                <a:path w="965200" h="507364">
                  <a:moveTo>
                    <a:pt x="0" y="253468"/>
                  </a:moveTo>
                  <a:lnTo>
                    <a:pt x="482479" y="0"/>
                  </a:lnTo>
                  <a:lnTo>
                    <a:pt x="964959" y="253468"/>
                  </a:lnTo>
                  <a:lnTo>
                    <a:pt x="482479" y="506936"/>
                  </a:lnTo>
                  <a:lnTo>
                    <a:pt x="0" y="253468"/>
                  </a:lnTo>
                  <a:close/>
                </a:path>
              </a:pathLst>
            </a:custGeom>
            <a:ln w="9524">
              <a:solidFill>
                <a:srgbClr val="000000"/>
              </a:solidFill>
            </a:ln>
          </p:spPr>
          <p:txBody>
            <a:bodyPr wrap="square" lIns="0" tIns="0" rIns="0" bIns="0" rtlCol="0"/>
            <a:lstStyle/>
            <a:p>
              <a:endParaRPr/>
            </a:p>
          </p:txBody>
        </p:sp>
        <p:sp>
          <p:nvSpPr>
            <p:cNvPr id="30" name="object 29"/>
            <p:cNvSpPr txBox="1"/>
            <p:nvPr/>
          </p:nvSpPr>
          <p:spPr>
            <a:xfrm>
              <a:off x="3471466" y="4368929"/>
              <a:ext cx="1397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panose="02020603050405020304"/>
                  <a:cs typeface="Times New Roman" panose="02020603050405020304"/>
                </a:rPr>
                <a:t>6</a:t>
              </a:r>
              <a:endParaRPr sz="1800">
                <a:latin typeface="Times New Roman" panose="02020603050405020304"/>
                <a:cs typeface="Times New Roman" panose="02020603050405020304"/>
              </a:endParaRPr>
            </a:p>
          </p:txBody>
        </p:sp>
        <p:sp>
          <p:nvSpPr>
            <p:cNvPr id="31" name="object 30"/>
            <p:cNvSpPr/>
            <p:nvPr/>
          </p:nvSpPr>
          <p:spPr>
            <a:xfrm>
              <a:off x="2511747" y="4768850"/>
              <a:ext cx="479425" cy="479425"/>
            </a:xfrm>
            <a:custGeom>
              <a:avLst/>
              <a:gdLst/>
              <a:ahLst/>
              <a:cxnLst/>
              <a:rect l="l" t="t" r="r" b="b"/>
              <a:pathLst>
                <a:path w="479425" h="479425">
                  <a:moveTo>
                    <a:pt x="239520" y="0"/>
                  </a:moveTo>
                  <a:lnTo>
                    <a:pt x="191249" y="4866"/>
                  </a:lnTo>
                  <a:lnTo>
                    <a:pt x="146288" y="18822"/>
                  </a:lnTo>
                  <a:lnTo>
                    <a:pt x="105602" y="40906"/>
                  </a:lnTo>
                  <a:lnTo>
                    <a:pt x="70154" y="70154"/>
                  </a:lnTo>
                  <a:lnTo>
                    <a:pt x="40906" y="105602"/>
                  </a:lnTo>
                  <a:lnTo>
                    <a:pt x="18822" y="146288"/>
                  </a:lnTo>
                  <a:lnTo>
                    <a:pt x="4866" y="191249"/>
                  </a:lnTo>
                  <a:lnTo>
                    <a:pt x="0" y="239520"/>
                  </a:lnTo>
                  <a:lnTo>
                    <a:pt x="4866" y="287792"/>
                  </a:lnTo>
                  <a:lnTo>
                    <a:pt x="18822" y="332753"/>
                  </a:lnTo>
                  <a:lnTo>
                    <a:pt x="40906" y="373439"/>
                  </a:lnTo>
                  <a:lnTo>
                    <a:pt x="70154" y="408887"/>
                  </a:lnTo>
                  <a:lnTo>
                    <a:pt x="105602" y="438135"/>
                  </a:lnTo>
                  <a:lnTo>
                    <a:pt x="146288" y="460218"/>
                  </a:lnTo>
                  <a:lnTo>
                    <a:pt x="191249" y="474175"/>
                  </a:lnTo>
                  <a:lnTo>
                    <a:pt x="239520" y="479041"/>
                  </a:lnTo>
                  <a:lnTo>
                    <a:pt x="287792" y="474175"/>
                  </a:lnTo>
                  <a:lnTo>
                    <a:pt x="332753" y="460218"/>
                  </a:lnTo>
                  <a:lnTo>
                    <a:pt x="373439" y="438135"/>
                  </a:lnTo>
                  <a:lnTo>
                    <a:pt x="408887" y="408887"/>
                  </a:lnTo>
                  <a:lnTo>
                    <a:pt x="438135" y="373439"/>
                  </a:lnTo>
                  <a:lnTo>
                    <a:pt x="460218" y="332753"/>
                  </a:lnTo>
                  <a:lnTo>
                    <a:pt x="474175" y="287792"/>
                  </a:lnTo>
                  <a:lnTo>
                    <a:pt x="479041" y="239520"/>
                  </a:lnTo>
                  <a:lnTo>
                    <a:pt x="474175" y="191249"/>
                  </a:lnTo>
                  <a:lnTo>
                    <a:pt x="460218" y="146288"/>
                  </a:lnTo>
                  <a:lnTo>
                    <a:pt x="438135" y="105602"/>
                  </a:lnTo>
                  <a:lnTo>
                    <a:pt x="408887" y="70154"/>
                  </a:lnTo>
                  <a:lnTo>
                    <a:pt x="373439" y="40906"/>
                  </a:lnTo>
                  <a:lnTo>
                    <a:pt x="332753" y="18822"/>
                  </a:lnTo>
                  <a:lnTo>
                    <a:pt x="287792" y="4866"/>
                  </a:lnTo>
                  <a:lnTo>
                    <a:pt x="239520" y="0"/>
                  </a:lnTo>
                  <a:close/>
                </a:path>
              </a:pathLst>
            </a:custGeom>
            <a:solidFill>
              <a:srgbClr val="A8D5D6"/>
            </a:solidFill>
          </p:spPr>
          <p:txBody>
            <a:bodyPr wrap="square" lIns="0" tIns="0" rIns="0" bIns="0" rtlCol="0"/>
            <a:lstStyle/>
            <a:p>
              <a:endParaRPr/>
            </a:p>
          </p:txBody>
        </p:sp>
        <p:sp>
          <p:nvSpPr>
            <p:cNvPr id="32" name="object 31"/>
            <p:cNvSpPr/>
            <p:nvPr/>
          </p:nvSpPr>
          <p:spPr>
            <a:xfrm>
              <a:off x="2511747" y="4768850"/>
              <a:ext cx="479425" cy="479425"/>
            </a:xfrm>
            <a:custGeom>
              <a:avLst/>
              <a:gdLst/>
              <a:ahLst/>
              <a:cxnLst/>
              <a:rect l="l" t="t" r="r" b="b"/>
              <a:pathLst>
                <a:path w="479425" h="479425">
                  <a:moveTo>
                    <a:pt x="0" y="239520"/>
                  </a:moveTo>
                  <a:lnTo>
                    <a:pt x="4866" y="191249"/>
                  </a:lnTo>
                  <a:lnTo>
                    <a:pt x="18822" y="146288"/>
                  </a:lnTo>
                  <a:lnTo>
                    <a:pt x="40906" y="105602"/>
                  </a:lnTo>
                  <a:lnTo>
                    <a:pt x="70154" y="70154"/>
                  </a:lnTo>
                  <a:lnTo>
                    <a:pt x="105602" y="40906"/>
                  </a:lnTo>
                  <a:lnTo>
                    <a:pt x="146288" y="18822"/>
                  </a:lnTo>
                  <a:lnTo>
                    <a:pt x="191249" y="4866"/>
                  </a:lnTo>
                  <a:lnTo>
                    <a:pt x="239520" y="0"/>
                  </a:lnTo>
                  <a:lnTo>
                    <a:pt x="287792" y="4866"/>
                  </a:lnTo>
                  <a:lnTo>
                    <a:pt x="332753" y="18822"/>
                  </a:lnTo>
                  <a:lnTo>
                    <a:pt x="373439" y="40906"/>
                  </a:lnTo>
                  <a:lnTo>
                    <a:pt x="408887" y="70154"/>
                  </a:lnTo>
                  <a:lnTo>
                    <a:pt x="438135" y="105602"/>
                  </a:lnTo>
                  <a:lnTo>
                    <a:pt x="460219" y="146288"/>
                  </a:lnTo>
                  <a:lnTo>
                    <a:pt x="474175" y="191249"/>
                  </a:lnTo>
                  <a:lnTo>
                    <a:pt x="479041" y="239520"/>
                  </a:lnTo>
                  <a:lnTo>
                    <a:pt x="474175" y="287792"/>
                  </a:lnTo>
                  <a:lnTo>
                    <a:pt x="460219" y="332753"/>
                  </a:lnTo>
                  <a:lnTo>
                    <a:pt x="438135" y="373439"/>
                  </a:lnTo>
                  <a:lnTo>
                    <a:pt x="408887" y="408887"/>
                  </a:lnTo>
                  <a:lnTo>
                    <a:pt x="373439" y="438135"/>
                  </a:lnTo>
                  <a:lnTo>
                    <a:pt x="332753" y="460219"/>
                  </a:lnTo>
                  <a:lnTo>
                    <a:pt x="287792" y="474175"/>
                  </a:lnTo>
                  <a:lnTo>
                    <a:pt x="239520" y="479041"/>
                  </a:lnTo>
                  <a:lnTo>
                    <a:pt x="191249" y="474175"/>
                  </a:lnTo>
                  <a:lnTo>
                    <a:pt x="146288" y="460219"/>
                  </a:lnTo>
                  <a:lnTo>
                    <a:pt x="105602" y="438135"/>
                  </a:lnTo>
                  <a:lnTo>
                    <a:pt x="70154" y="408887"/>
                  </a:lnTo>
                  <a:lnTo>
                    <a:pt x="40906" y="373439"/>
                  </a:lnTo>
                  <a:lnTo>
                    <a:pt x="18822" y="332753"/>
                  </a:lnTo>
                  <a:lnTo>
                    <a:pt x="4866" y="287792"/>
                  </a:lnTo>
                  <a:lnTo>
                    <a:pt x="0" y="239520"/>
                  </a:lnTo>
                  <a:close/>
                </a:path>
              </a:pathLst>
            </a:custGeom>
            <a:ln w="9524">
              <a:solidFill>
                <a:srgbClr val="000000"/>
              </a:solidFill>
            </a:ln>
          </p:spPr>
          <p:txBody>
            <a:bodyPr wrap="square" lIns="0" tIns="0" rIns="0" bIns="0" rtlCol="0"/>
            <a:lstStyle/>
            <a:p>
              <a:endParaRPr/>
            </a:p>
          </p:txBody>
        </p:sp>
        <p:sp>
          <p:nvSpPr>
            <p:cNvPr id="33" name="object 32"/>
            <p:cNvSpPr txBox="1"/>
            <p:nvPr/>
          </p:nvSpPr>
          <p:spPr>
            <a:xfrm>
              <a:off x="2678103" y="4843270"/>
              <a:ext cx="152400"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panose="02020603050405020304"/>
                  <a:cs typeface="Times New Roman" panose="02020603050405020304"/>
                </a:rPr>
                <a:t>7</a:t>
              </a:r>
              <a:endParaRPr sz="2000">
                <a:latin typeface="Times New Roman" panose="02020603050405020304"/>
                <a:cs typeface="Times New Roman" panose="02020603050405020304"/>
              </a:endParaRPr>
            </a:p>
          </p:txBody>
        </p:sp>
        <p:sp>
          <p:nvSpPr>
            <p:cNvPr id="34" name="object 33"/>
            <p:cNvSpPr/>
            <p:nvPr/>
          </p:nvSpPr>
          <p:spPr>
            <a:xfrm>
              <a:off x="4169079" y="4757949"/>
              <a:ext cx="479425" cy="479425"/>
            </a:xfrm>
            <a:custGeom>
              <a:avLst/>
              <a:gdLst/>
              <a:ahLst/>
              <a:cxnLst/>
              <a:rect l="l" t="t" r="r" b="b"/>
              <a:pathLst>
                <a:path w="479425" h="479425">
                  <a:moveTo>
                    <a:pt x="239520" y="0"/>
                  </a:moveTo>
                  <a:lnTo>
                    <a:pt x="191249" y="4866"/>
                  </a:lnTo>
                  <a:lnTo>
                    <a:pt x="146288" y="18822"/>
                  </a:lnTo>
                  <a:lnTo>
                    <a:pt x="105602" y="40906"/>
                  </a:lnTo>
                  <a:lnTo>
                    <a:pt x="70154" y="70153"/>
                  </a:lnTo>
                  <a:lnTo>
                    <a:pt x="40906" y="105602"/>
                  </a:lnTo>
                  <a:lnTo>
                    <a:pt x="18822" y="146288"/>
                  </a:lnTo>
                  <a:lnTo>
                    <a:pt x="4866" y="191248"/>
                  </a:lnTo>
                  <a:lnTo>
                    <a:pt x="0" y="239520"/>
                  </a:lnTo>
                  <a:lnTo>
                    <a:pt x="4866" y="287792"/>
                  </a:lnTo>
                  <a:lnTo>
                    <a:pt x="18822" y="332752"/>
                  </a:lnTo>
                  <a:lnTo>
                    <a:pt x="40906" y="373438"/>
                  </a:lnTo>
                  <a:lnTo>
                    <a:pt x="70154" y="408887"/>
                  </a:lnTo>
                  <a:lnTo>
                    <a:pt x="105602" y="438134"/>
                  </a:lnTo>
                  <a:lnTo>
                    <a:pt x="146288" y="460218"/>
                  </a:lnTo>
                  <a:lnTo>
                    <a:pt x="191249" y="474175"/>
                  </a:lnTo>
                  <a:lnTo>
                    <a:pt x="239520" y="479041"/>
                  </a:lnTo>
                  <a:lnTo>
                    <a:pt x="287792" y="474175"/>
                  </a:lnTo>
                  <a:lnTo>
                    <a:pt x="332753" y="460218"/>
                  </a:lnTo>
                  <a:lnTo>
                    <a:pt x="373439" y="438134"/>
                  </a:lnTo>
                  <a:lnTo>
                    <a:pt x="408887" y="408887"/>
                  </a:lnTo>
                  <a:lnTo>
                    <a:pt x="438135" y="373438"/>
                  </a:lnTo>
                  <a:lnTo>
                    <a:pt x="460218" y="332752"/>
                  </a:lnTo>
                  <a:lnTo>
                    <a:pt x="474175" y="287792"/>
                  </a:lnTo>
                  <a:lnTo>
                    <a:pt x="479041" y="239520"/>
                  </a:lnTo>
                  <a:lnTo>
                    <a:pt x="474175" y="191248"/>
                  </a:lnTo>
                  <a:lnTo>
                    <a:pt x="460218" y="146288"/>
                  </a:lnTo>
                  <a:lnTo>
                    <a:pt x="438135" y="105602"/>
                  </a:lnTo>
                  <a:lnTo>
                    <a:pt x="408887" y="70153"/>
                  </a:lnTo>
                  <a:lnTo>
                    <a:pt x="373439" y="40906"/>
                  </a:lnTo>
                  <a:lnTo>
                    <a:pt x="332753" y="18822"/>
                  </a:lnTo>
                  <a:lnTo>
                    <a:pt x="287792" y="4866"/>
                  </a:lnTo>
                  <a:lnTo>
                    <a:pt x="239520" y="0"/>
                  </a:lnTo>
                  <a:close/>
                </a:path>
              </a:pathLst>
            </a:custGeom>
            <a:solidFill>
              <a:srgbClr val="A8D5D6"/>
            </a:solidFill>
          </p:spPr>
          <p:txBody>
            <a:bodyPr wrap="square" lIns="0" tIns="0" rIns="0" bIns="0" rtlCol="0"/>
            <a:lstStyle/>
            <a:p>
              <a:endParaRPr/>
            </a:p>
          </p:txBody>
        </p:sp>
        <p:sp>
          <p:nvSpPr>
            <p:cNvPr id="35" name="object 34"/>
            <p:cNvSpPr/>
            <p:nvPr/>
          </p:nvSpPr>
          <p:spPr>
            <a:xfrm>
              <a:off x="4169079" y="4757949"/>
              <a:ext cx="479425" cy="479425"/>
            </a:xfrm>
            <a:custGeom>
              <a:avLst/>
              <a:gdLst/>
              <a:ahLst/>
              <a:cxnLst/>
              <a:rect l="l" t="t" r="r" b="b"/>
              <a:pathLst>
                <a:path w="479425" h="479425">
                  <a:moveTo>
                    <a:pt x="0" y="239520"/>
                  </a:moveTo>
                  <a:lnTo>
                    <a:pt x="4866" y="191249"/>
                  </a:lnTo>
                  <a:lnTo>
                    <a:pt x="18822" y="146288"/>
                  </a:lnTo>
                  <a:lnTo>
                    <a:pt x="40906" y="105602"/>
                  </a:lnTo>
                  <a:lnTo>
                    <a:pt x="70154" y="70154"/>
                  </a:lnTo>
                  <a:lnTo>
                    <a:pt x="105602" y="40906"/>
                  </a:lnTo>
                  <a:lnTo>
                    <a:pt x="146288" y="18822"/>
                  </a:lnTo>
                  <a:lnTo>
                    <a:pt x="191249" y="4866"/>
                  </a:lnTo>
                  <a:lnTo>
                    <a:pt x="239521" y="0"/>
                  </a:lnTo>
                  <a:lnTo>
                    <a:pt x="287792" y="4866"/>
                  </a:lnTo>
                  <a:lnTo>
                    <a:pt x="332753" y="18822"/>
                  </a:lnTo>
                  <a:lnTo>
                    <a:pt x="373439" y="40906"/>
                  </a:lnTo>
                  <a:lnTo>
                    <a:pt x="408887" y="70154"/>
                  </a:lnTo>
                  <a:lnTo>
                    <a:pt x="438135" y="105602"/>
                  </a:lnTo>
                  <a:lnTo>
                    <a:pt x="460219" y="146288"/>
                  </a:lnTo>
                  <a:lnTo>
                    <a:pt x="474175" y="191249"/>
                  </a:lnTo>
                  <a:lnTo>
                    <a:pt x="479042" y="239520"/>
                  </a:lnTo>
                  <a:lnTo>
                    <a:pt x="474175" y="287792"/>
                  </a:lnTo>
                  <a:lnTo>
                    <a:pt x="460219" y="332753"/>
                  </a:lnTo>
                  <a:lnTo>
                    <a:pt x="438135" y="373439"/>
                  </a:lnTo>
                  <a:lnTo>
                    <a:pt x="408887" y="408887"/>
                  </a:lnTo>
                  <a:lnTo>
                    <a:pt x="373439" y="438135"/>
                  </a:lnTo>
                  <a:lnTo>
                    <a:pt x="332753" y="460219"/>
                  </a:lnTo>
                  <a:lnTo>
                    <a:pt x="287792" y="474175"/>
                  </a:lnTo>
                  <a:lnTo>
                    <a:pt x="239521" y="479041"/>
                  </a:lnTo>
                  <a:lnTo>
                    <a:pt x="191249" y="474175"/>
                  </a:lnTo>
                  <a:lnTo>
                    <a:pt x="146288" y="460219"/>
                  </a:lnTo>
                  <a:lnTo>
                    <a:pt x="105602" y="438135"/>
                  </a:lnTo>
                  <a:lnTo>
                    <a:pt x="70154" y="408887"/>
                  </a:lnTo>
                  <a:lnTo>
                    <a:pt x="40906" y="373439"/>
                  </a:lnTo>
                  <a:lnTo>
                    <a:pt x="18822" y="332753"/>
                  </a:lnTo>
                  <a:lnTo>
                    <a:pt x="4866" y="287792"/>
                  </a:lnTo>
                  <a:lnTo>
                    <a:pt x="0" y="239520"/>
                  </a:lnTo>
                  <a:close/>
                </a:path>
              </a:pathLst>
            </a:custGeom>
            <a:ln w="9524">
              <a:solidFill>
                <a:srgbClr val="000000"/>
              </a:solidFill>
            </a:ln>
          </p:spPr>
          <p:txBody>
            <a:bodyPr wrap="square" lIns="0" tIns="0" rIns="0" bIns="0" rtlCol="0"/>
            <a:lstStyle/>
            <a:p>
              <a:endParaRPr/>
            </a:p>
          </p:txBody>
        </p:sp>
        <p:sp>
          <p:nvSpPr>
            <p:cNvPr id="36" name="object 35"/>
            <p:cNvSpPr txBox="1"/>
            <p:nvPr/>
          </p:nvSpPr>
          <p:spPr>
            <a:xfrm>
              <a:off x="4335435" y="4832370"/>
              <a:ext cx="152400"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panose="02020603050405020304"/>
                  <a:cs typeface="Times New Roman" panose="02020603050405020304"/>
                </a:rPr>
                <a:t>8</a:t>
              </a:r>
              <a:endParaRPr sz="2000">
                <a:latin typeface="Times New Roman" panose="02020603050405020304"/>
                <a:cs typeface="Times New Roman" panose="02020603050405020304"/>
              </a:endParaRPr>
            </a:p>
          </p:txBody>
        </p:sp>
        <p:sp>
          <p:nvSpPr>
            <p:cNvPr id="37" name="object 36"/>
            <p:cNvSpPr/>
            <p:nvPr/>
          </p:nvSpPr>
          <p:spPr>
            <a:xfrm>
              <a:off x="3538718" y="1750235"/>
              <a:ext cx="1314450" cy="2490470"/>
            </a:xfrm>
            <a:custGeom>
              <a:avLst/>
              <a:gdLst/>
              <a:ahLst/>
              <a:cxnLst/>
              <a:rect l="l" t="t" r="r" b="b"/>
              <a:pathLst>
                <a:path w="1314450" h="2490470">
                  <a:moveTo>
                    <a:pt x="1314308" y="0"/>
                  </a:moveTo>
                  <a:lnTo>
                    <a:pt x="0" y="0"/>
                  </a:lnTo>
                  <a:lnTo>
                    <a:pt x="0" y="2489880"/>
                  </a:lnTo>
                </a:path>
              </a:pathLst>
            </a:custGeom>
            <a:ln w="9524">
              <a:solidFill>
                <a:srgbClr val="000000"/>
              </a:solidFill>
            </a:ln>
          </p:spPr>
          <p:txBody>
            <a:bodyPr wrap="square" lIns="0" tIns="0" rIns="0" bIns="0" rtlCol="0"/>
            <a:lstStyle/>
            <a:p>
              <a:endParaRPr/>
            </a:p>
          </p:txBody>
        </p:sp>
        <p:sp>
          <p:nvSpPr>
            <p:cNvPr id="38" name="object 37"/>
            <p:cNvSpPr/>
            <p:nvPr/>
          </p:nvSpPr>
          <p:spPr>
            <a:xfrm>
              <a:off x="3479764" y="4149412"/>
              <a:ext cx="117908" cy="115909"/>
            </a:xfrm>
            <a:prstGeom prst="rect">
              <a:avLst/>
            </a:prstGeom>
            <a:blipFill>
              <a:blip r:embed="rId8" cstate="print"/>
              <a:stretch>
                <a:fillRect/>
              </a:stretch>
            </a:blipFill>
          </p:spPr>
          <p:txBody>
            <a:bodyPr wrap="square" lIns="0" tIns="0" rIns="0" bIns="0" rtlCol="0"/>
            <a:lstStyle/>
            <a:p>
              <a:endParaRPr/>
            </a:p>
          </p:txBody>
        </p:sp>
        <p:sp>
          <p:nvSpPr>
            <p:cNvPr id="39" name="object 38"/>
            <p:cNvSpPr/>
            <p:nvPr/>
          </p:nvSpPr>
          <p:spPr>
            <a:xfrm>
              <a:off x="5376038" y="1750235"/>
              <a:ext cx="2875915" cy="2520315"/>
            </a:xfrm>
            <a:custGeom>
              <a:avLst/>
              <a:gdLst/>
              <a:ahLst/>
              <a:cxnLst/>
              <a:rect l="l" t="t" r="r" b="b"/>
              <a:pathLst>
                <a:path w="2875915" h="2520315">
                  <a:moveTo>
                    <a:pt x="0" y="2232634"/>
                  </a:moveTo>
                  <a:lnTo>
                    <a:pt x="0" y="2519907"/>
                  </a:lnTo>
                  <a:lnTo>
                    <a:pt x="2875479" y="2519907"/>
                  </a:lnTo>
                  <a:lnTo>
                    <a:pt x="2875479" y="0"/>
                  </a:lnTo>
                  <a:lnTo>
                    <a:pt x="467151" y="0"/>
                  </a:lnTo>
                </a:path>
              </a:pathLst>
            </a:custGeom>
            <a:ln w="9524">
              <a:solidFill>
                <a:srgbClr val="000000"/>
              </a:solidFill>
            </a:ln>
          </p:spPr>
          <p:txBody>
            <a:bodyPr wrap="square" lIns="0" tIns="0" rIns="0" bIns="0" rtlCol="0"/>
            <a:lstStyle/>
            <a:p>
              <a:endParaRPr/>
            </a:p>
          </p:txBody>
        </p:sp>
        <p:sp>
          <p:nvSpPr>
            <p:cNvPr id="40" name="object 39"/>
            <p:cNvSpPr/>
            <p:nvPr/>
          </p:nvSpPr>
          <p:spPr>
            <a:xfrm>
              <a:off x="5817985" y="1691281"/>
              <a:ext cx="115909" cy="117908"/>
            </a:xfrm>
            <a:prstGeom prst="rect">
              <a:avLst/>
            </a:prstGeom>
            <a:blipFill>
              <a:blip r:embed="rId9" cstate="print"/>
              <a:stretch>
                <a:fillRect/>
              </a:stretch>
            </a:blipFill>
          </p:spPr>
          <p:txBody>
            <a:bodyPr wrap="square" lIns="0" tIns="0" rIns="0" bIns="0" rtlCol="0"/>
            <a:lstStyle/>
            <a:p>
              <a:endParaRPr/>
            </a:p>
          </p:txBody>
        </p:sp>
        <p:sp>
          <p:nvSpPr>
            <p:cNvPr id="41" name="object 40"/>
            <p:cNvSpPr/>
            <p:nvPr/>
          </p:nvSpPr>
          <p:spPr>
            <a:xfrm>
              <a:off x="2751269" y="4518790"/>
              <a:ext cx="305435" cy="225425"/>
            </a:xfrm>
            <a:custGeom>
              <a:avLst/>
              <a:gdLst/>
              <a:ahLst/>
              <a:cxnLst/>
              <a:rect l="l" t="t" r="r" b="b"/>
              <a:pathLst>
                <a:path w="305435" h="225425">
                  <a:moveTo>
                    <a:pt x="304967" y="0"/>
                  </a:moveTo>
                  <a:lnTo>
                    <a:pt x="0" y="0"/>
                  </a:lnTo>
                  <a:lnTo>
                    <a:pt x="0" y="224855"/>
                  </a:lnTo>
                </a:path>
              </a:pathLst>
            </a:custGeom>
            <a:ln w="9524">
              <a:solidFill>
                <a:srgbClr val="000000"/>
              </a:solidFill>
            </a:ln>
          </p:spPr>
          <p:txBody>
            <a:bodyPr wrap="square" lIns="0" tIns="0" rIns="0" bIns="0" rtlCol="0"/>
            <a:lstStyle/>
            <a:p>
              <a:endParaRPr/>
            </a:p>
          </p:txBody>
        </p:sp>
        <p:sp>
          <p:nvSpPr>
            <p:cNvPr id="42" name="object 41"/>
            <p:cNvSpPr/>
            <p:nvPr/>
          </p:nvSpPr>
          <p:spPr>
            <a:xfrm>
              <a:off x="2692314" y="4652940"/>
              <a:ext cx="117908" cy="115909"/>
            </a:xfrm>
            <a:prstGeom prst="rect">
              <a:avLst/>
            </a:prstGeom>
            <a:blipFill>
              <a:blip r:embed="rId5" cstate="print"/>
              <a:stretch>
                <a:fillRect/>
              </a:stretch>
            </a:blipFill>
          </p:spPr>
          <p:txBody>
            <a:bodyPr wrap="square" lIns="0" tIns="0" rIns="0" bIns="0" rtlCol="0"/>
            <a:lstStyle/>
            <a:p>
              <a:endParaRPr/>
            </a:p>
          </p:txBody>
        </p:sp>
        <p:sp>
          <p:nvSpPr>
            <p:cNvPr id="43" name="object 42"/>
            <p:cNvSpPr/>
            <p:nvPr/>
          </p:nvSpPr>
          <p:spPr>
            <a:xfrm>
              <a:off x="4021197" y="4518790"/>
              <a:ext cx="387350" cy="213995"/>
            </a:xfrm>
            <a:custGeom>
              <a:avLst/>
              <a:gdLst/>
              <a:ahLst/>
              <a:cxnLst/>
              <a:rect l="l" t="t" r="r" b="b"/>
              <a:pathLst>
                <a:path w="387350" h="213995">
                  <a:moveTo>
                    <a:pt x="0" y="0"/>
                  </a:moveTo>
                  <a:lnTo>
                    <a:pt x="387349" y="0"/>
                  </a:lnTo>
                  <a:lnTo>
                    <a:pt x="387349" y="213713"/>
                  </a:lnTo>
                </a:path>
              </a:pathLst>
            </a:custGeom>
            <a:ln w="9524">
              <a:solidFill>
                <a:srgbClr val="000000"/>
              </a:solidFill>
            </a:ln>
          </p:spPr>
          <p:txBody>
            <a:bodyPr wrap="square" lIns="0" tIns="0" rIns="0" bIns="0" rtlCol="0"/>
            <a:lstStyle/>
            <a:p>
              <a:endParaRPr/>
            </a:p>
          </p:txBody>
        </p:sp>
        <p:sp>
          <p:nvSpPr>
            <p:cNvPr id="44" name="object 43"/>
            <p:cNvSpPr/>
            <p:nvPr/>
          </p:nvSpPr>
          <p:spPr>
            <a:xfrm>
              <a:off x="4349593" y="4641800"/>
              <a:ext cx="117908" cy="115909"/>
            </a:xfrm>
            <a:prstGeom prst="rect">
              <a:avLst/>
            </a:prstGeom>
            <a:blipFill>
              <a:blip r:embed="rId10" cstate="print"/>
              <a:stretch>
                <a:fillRect/>
              </a:stretch>
            </a:blipFill>
          </p:spPr>
          <p:txBody>
            <a:bodyPr wrap="square" lIns="0" tIns="0" rIns="0" bIns="0" rtlCol="0"/>
            <a:lstStyle/>
            <a:p>
              <a:endParaRPr/>
            </a:p>
          </p:txBody>
        </p:sp>
        <p:sp>
          <p:nvSpPr>
            <p:cNvPr id="45" name="object 44"/>
            <p:cNvSpPr txBox="1"/>
            <p:nvPr/>
          </p:nvSpPr>
          <p:spPr>
            <a:xfrm>
              <a:off x="5076906" y="2067286"/>
              <a:ext cx="16129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T</a:t>
              </a:r>
              <a:endParaRPr sz="1600">
                <a:latin typeface="Times New Roman" panose="02020603050405020304"/>
                <a:cs typeface="Times New Roman" panose="02020603050405020304"/>
              </a:endParaRPr>
            </a:p>
          </p:txBody>
        </p:sp>
        <p:sp>
          <p:nvSpPr>
            <p:cNvPr id="46" name="object 45"/>
            <p:cNvSpPr txBox="1"/>
            <p:nvPr/>
          </p:nvSpPr>
          <p:spPr>
            <a:xfrm>
              <a:off x="4656034" y="1430605"/>
              <a:ext cx="14986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F</a:t>
              </a:r>
              <a:endParaRPr sz="1600">
                <a:latin typeface="Times New Roman" panose="02020603050405020304"/>
                <a:cs typeface="Times New Roman" panose="02020603050405020304"/>
              </a:endParaRPr>
            </a:p>
          </p:txBody>
        </p:sp>
        <p:sp>
          <p:nvSpPr>
            <p:cNvPr id="47" name="object 46"/>
            <p:cNvSpPr txBox="1"/>
            <p:nvPr/>
          </p:nvSpPr>
          <p:spPr>
            <a:xfrm>
              <a:off x="4591156" y="2748124"/>
              <a:ext cx="16129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T</a:t>
              </a:r>
              <a:endParaRPr sz="1600">
                <a:latin typeface="Times New Roman" panose="02020603050405020304"/>
                <a:cs typeface="Times New Roman" panose="02020603050405020304"/>
              </a:endParaRPr>
            </a:p>
          </p:txBody>
        </p:sp>
        <p:sp>
          <p:nvSpPr>
            <p:cNvPr id="48" name="object 47"/>
            <p:cNvSpPr txBox="1"/>
            <p:nvPr/>
          </p:nvSpPr>
          <p:spPr>
            <a:xfrm>
              <a:off x="5867955" y="2747578"/>
              <a:ext cx="14986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F</a:t>
              </a:r>
              <a:endParaRPr sz="1600">
                <a:latin typeface="Times New Roman" panose="02020603050405020304"/>
                <a:cs typeface="Times New Roman" panose="02020603050405020304"/>
              </a:endParaRPr>
            </a:p>
          </p:txBody>
        </p:sp>
        <p:sp>
          <p:nvSpPr>
            <p:cNvPr id="49" name="object 48"/>
            <p:cNvSpPr txBox="1"/>
            <p:nvPr/>
          </p:nvSpPr>
          <p:spPr>
            <a:xfrm>
              <a:off x="2898480" y="4271123"/>
              <a:ext cx="16129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T</a:t>
              </a:r>
              <a:endParaRPr sz="1600">
                <a:latin typeface="Times New Roman" panose="02020603050405020304"/>
                <a:cs typeface="Times New Roman" panose="02020603050405020304"/>
              </a:endParaRPr>
            </a:p>
          </p:txBody>
        </p:sp>
        <p:sp>
          <p:nvSpPr>
            <p:cNvPr id="50" name="object 49"/>
            <p:cNvSpPr txBox="1"/>
            <p:nvPr/>
          </p:nvSpPr>
          <p:spPr>
            <a:xfrm>
              <a:off x="4010639" y="4271123"/>
              <a:ext cx="14986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F</a:t>
              </a:r>
              <a:endParaRPr sz="1600">
                <a:latin typeface="Times New Roman" panose="02020603050405020304"/>
                <a:cs typeface="Times New Roman" panose="02020603050405020304"/>
              </a:endParaRPr>
            </a:p>
          </p:txBody>
        </p:sp>
        <p:sp>
          <p:nvSpPr>
            <p:cNvPr id="51" name="object 51"/>
            <p:cNvSpPr txBox="1"/>
            <p:nvPr/>
          </p:nvSpPr>
          <p:spPr>
            <a:xfrm>
              <a:off x="949546" y="1781985"/>
              <a:ext cx="2409825"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panose="02020603050405020304"/>
                  <a:cs typeface="Times New Roman" panose="02020603050405020304"/>
                </a:rPr>
                <a:t>Data set must </a:t>
              </a:r>
              <a:r>
                <a:rPr sz="2000" dirty="0">
                  <a:latin typeface="Times New Roman" panose="02020603050405020304"/>
                  <a:cs typeface="Times New Roman" panose="02020603050405020304"/>
                </a:rPr>
                <a:t>be</a:t>
              </a:r>
              <a:r>
                <a:rPr sz="2000" spc="-55"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empty</a:t>
              </a:r>
              <a:endParaRPr sz="2000">
                <a:latin typeface="Times New Roman" panose="02020603050405020304"/>
                <a:cs typeface="Times New Roman" panose="02020603050405020304"/>
              </a:endParaRPr>
            </a:p>
          </p:txBody>
        </p:sp>
        <p:sp>
          <p:nvSpPr>
            <p:cNvPr id="52" name="object 52"/>
            <p:cNvSpPr txBox="1"/>
            <p:nvPr/>
          </p:nvSpPr>
          <p:spPr>
            <a:xfrm>
              <a:off x="5434238" y="2035073"/>
              <a:ext cx="4038600"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panose="02020603050405020304"/>
                  <a:cs typeface="Times New Roman" panose="02020603050405020304"/>
                </a:rPr>
                <a:t>Data set must contain at least </a:t>
              </a:r>
              <a:r>
                <a:rPr sz="2000" dirty="0">
                  <a:latin typeface="Times New Roman" panose="02020603050405020304"/>
                  <a:cs typeface="Times New Roman" panose="02020603050405020304"/>
                </a:rPr>
                <a:t>one</a:t>
              </a:r>
              <a:r>
                <a:rPr sz="2000" spc="-20"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value</a:t>
              </a:r>
              <a:endParaRPr sz="2000">
                <a:latin typeface="Times New Roman" panose="02020603050405020304"/>
                <a:cs typeface="Times New Roman" panose="02020603050405020304"/>
              </a:endParaRPr>
            </a:p>
          </p:txBody>
        </p:sp>
        <p:sp>
          <p:nvSpPr>
            <p:cNvPr id="53" name="object 53"/>
            <p:cNvSpPr txBox="1"/>
            <p:nvPr/>
          </p:nvSpPr>
          <p:spPr>
            <a:xfrm>
              <a:off x="2740874" y="2658597"/>
              <a:ext cx="1443355"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panose="02020603050405020304"/>
                  <a:cs typeface="Times New Roman" panose="02020603050405020304"/>
                </a:rPr>
                <a:t>Positive</a:t>
              </a:r>
              <a:r>
                <a:rPr sz="2000" spc="-50"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score</a:t>
              </a:r>
              <a:endParaRPr sz="2000">
                <a:latin typeface="Times New Roman" panose="02020603050405020304"/>
                <a:cs typeface="Times New Roman" panose="02020603050405020304"/>
              </a:endParaRPr>
            </a:p>
          </p:txBody>
        </p:sp>
        <p:sp>
          <p:nvSpPr>
            <p:cNvPr id="54" name="object 54"/>
            <p:cNvSpPr txBox="1"/>
            <p:nvPr/>
          </p:nvSpPr>
          <p:spPr>
            <a:xfrm>
              <a:off x="6480600" y="2674439"/>
              <a:ext cx="1541780"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panose="02020603050405020304"/>
                  <a:cs typeface="Times New Roman" panose="02020603050405020304"/>
                </a:rPr>
                <a:t>Negative</a:t>
              </a:r>
              <a:r>
                <a:rPr sz="2000" spc="-55"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score</a:t>
              </a:r>
              <a:endParaRPr sz="2000">
                <a:latin typeface="Times New Roman" panose="02020603050405020304"/>
                <a:cs typeface="Times New Roman" panose="02020603050405020304"/>
              </a:endParaRPr>
            </a:p>
          </p:txBody>
        </p:sp>
        <p:sp>
          <p:nvSpPr>
            <p:cNvPr id="55" name="object 55"/>
            <p:cNvSpPr txBox="1"/>
            <p:nvPr/>
          </p:nvSpPr>
          <p:spPr>
            <a:xfrm>
              <a:off x="907522" y="4466846"/>
              <a:ext cx="1731010" cy="330200"/>
            </a:xfrm>
            <a:prstGeom prst="rect">
              <a:avLst/>
            </a:prstGeom>
          </p:spPr>
          <p:txBody>
            <a:bodyPr vert="horz" wrap="square" lIns="0" tIns="12700" rIns="0" bIns="0" rtlCol="0">
              <a:spAutoFit/>
            </a:bodyPr>
            <a:lstStyle/>
            <a:p>
              <a:pPr marL="12700">
                <a:lnSpc>
                  <a:spcPct val="100000"/>
                </a:lnSpc>
                <a:spcBef>
                  <a:spcPts val="100"/>
                </a:spcBef>
              </a:pPr>
              <a:r>
                <a:rPr sz="2000" spc="-30" dirty="0">
                  <a:latin typeface="Times New Roman" panose="02020603050405020304"/>
                  <a:cs typeface="Times New Roman" panose="02020603050405020304"/>
                </a:rPr>
                <a:t>Total </a:t>
              </a:r>
              <a:r>
                <a:rPr sz="2000" spc="-5" dirty="0">
                  <a:latin typeface="Times New Roman" panose="02020603050405020304"/>
                  <a:cs typeface="Times New Roman" panose="02020603050405020304"/>
                </a:rPr>
                <a:t>score </a:t>
              </a:r>
              <a:r>
                <a:rPr sz="2000" dirty="0">
                  <a:latin typeface="Times New Roman" panose="02020603050405020304"/>
                  <a:cs typeface="Times New Roman" panose="02020603050405020304"/>
                </a:rPr>
                <a:t>&gt;</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0.0</a:t>
              </a:r>
              <a:endParaRPr sz="2000">
                <a:latin typeface="Times New Roman" panose="02020603050405020304"/>
                <a:cs typeface="Times New Roman" panose="02020603050405020304"/>
              </a:endParaRPr>
            </a:p>
          </p:txBody>
        </p:sp>
        <p:sp>
          <p:nvSpPr>
            <p:cNvPr id="56" name="object 56"/>
            <p:cNvSpPr txBox="1"/>
            <p:nvPr/>
          </p:nvSpPr>
          <p:spPr>
            <a:xfrm>
              <a:off x="4495515" y="4454173"/>
              <a:ext cx="1874520" cy="330200"/>
            </a:xfrm>
            <a:prstGeom prst="rect">
              <a:avLst/>
            </a:prstGeom>
          </p:spPr>
          <p:txBody>
            <a:bodyPr vert="horz" wrap="square" lIns="0" tIns="12700" rIns="0" bIns="0" rtlCol="0">
              <a:spAutoFit/>
            </a:bodyPr>
            <a:lstStyle/>
            <a:p>
              <a:pPr marL="12700">
                <a:lnSpc>
                  <a:spcPct val="100000"/>
                </a:lnSpc>
                <a:spcBef>
                  <a:spcPts val="100"/>
                </a:spcBef>
              </a:pPr>
              <a:r>
                <a:rPr sz="2000" spc="-30" dirty="0">
                  <a:latin typeface="Times New Roman" panose="02020603050405020304"/>
                  <a:cs typeface="Times New Roman" panose="02020603050405020304"/>
                </a:rPr>
                <a:t>Total </a:t>
              </a:r>
              <a:r>
                <a:rPr sz="2000" spc="-5" dirty="0">
                  <a:latin typeface="Times New Roman" panose="02020603050405020304"/>
                  <a:cs typeface="Times New Roman" panose="02020603050405020304"/>
                </a:rPr>
                <a:t>score </a:t>
              </a:r>
              <a:r>
                <a:rPr sz="2000" dirty="0">
                  <a:latin typeface="Times New Roman" panose="02020603050405020304"/>
                  <a:cs typeface="Times New Roman" panose="02020603050405020304"/>
                </a:rPr>
                <a:t>&lt;=</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0.0</a:t>
              </a:r>
              <a:endParaRPr sz="2000">
                <a:latin typeface="Times New Roman" panose="02020603050405020304"/>
                <a:cs typeface="Times New Roman" panose="02020603050405020304"/>
              </a:endParaRPr>
            </a:p>
          </p:txBody>
        </p:sp>
        <p:sp>
          <p:nvSpPr>
            <p:cNvPr id="57" name="object 57"/>
            <p:cNvSpPr/>
            <p:nvPr/>
          </p:nvSpPr>
          <p:spPr>
            <a:xfrm>
              <a:off x="3273341" y="5803386"/>
              <a:ext cx="479425" cy="479425"/>
            </a:xfrm>
            <a:custGeom>
              <a:avLst/>
              <a:gdLst/>
              <a:ahLst/>
              <a:cxnLst/>
              <a:rect l="l" t="t" r="r" b="b"/>
              <a:pathLst>
                <a:path w="479425" h="479425">
                  <a:moveTo>
                    <a:pt x="239522" y="0"/>
                  </a:moveTo>
                  <a:lnTo>
                    <a:pt x="191249" y="4866"/>
                  </a:lnTo>
                  <a:lnTo>
                    <a:pt x="146289" y="18822"/>
                  </a:lnTo>
                  <a:lnTo>
                    <a:pt x="105602" y="40906"/>
                  </a:lnTo>
                  <a:lnTo>
                    <a:pt x="70154" y="70154"/>
                  </a:lnTo>
                  <a:lnTo>
                    <a:pt x="40906" y="105602"/>
                  </a:lnTo>
                  <a:lnTo>
                    <a:pt x="18822" y="146288"/>
                  </a:lnTo>
                  <a:lnTo>
                    <a:pt x="4866" y="191249"/>
                  </a:lnTo>
                  <a:lnTo>
                    <a:pt x="0" y="239520"/>
                  </a:lnTo>
                  <a:lnTo>
                    <a:pt x="4866" y="287792"/>
                  </a:lnTo>
                  <a:lnTo>
                    <a:pt x="18822" y="332753"/>
                  </a:lnTo>
                  <a:lnTo>
                    <a:pt x="40906" y="373439"/>
                  </a:lnTo>
                  <a:lnTo>
                    <a:pt x="70154" y="408887"/>
                  </a:lnTo>
                  <a:lnTo>
                    <a:pt x="105602" y="438135"/>
                  </a:lnTo>
                  <a:lnTo>
                    <a:pt x="146289" y="460219"/>
                  </a:lnTo>
                  <a:lnTo>
                    <a:pt x="191249" y="474175"/>
                  </a:lnTo>
                  <a:lnTo>
                    <a:pt x="239522" y="479041"/>
                  </a:lnTo>
                  <a:lnTo>
                    <a:pt x="287793" y="474175"/>
                  </a:lnTo>
                  <a:lnTo>
                    <a:pt x="332754" y="460219"/>
                  </a:lnTo>
                  <a:lnTo>
                    <a:pt x="373440" y="438135"/>
                  </a:lnTo>
                  <a:lnTo>
                    <a:pt x="408888" y="408887"/>
                  </a:lnTo>
                  <a:lnTo>
                    <a:pt x="438136" y="373439"/>
                  </a:lnTo>
                  <a:lnTo>
                    <a:pt x="460219" y="332753"/>
                  </a:lnTo>
                  <a:lnTo>
                    <a:pt x="474176" y="287792"/>
                  </a:lnTo>
                  <a:lnTo>
                    <a:pt x="479042" y="239520"/>
                  </a:lnTo>
                  <a:lnTo>
                    <a:pt x="474176" y="191249"/>
                  </a:lnTo>
                  <a:lnTo>
                    <a:pt x="460219" y="146288"/>
                  </a:lnTo>
                  <a:lnTo>
                    <a:pt x="438136" y="105602"/>
                  </a:lnTo>
                  <a:lnTo>
                    <a:pt x="408888" y="70154"/>
                  </a:lnTo>
                  <a:lnTo>
                    <a:pt x="373440" y="40906"/>
                  </a:lnTo>
                  <a:lnTo>
                    <a:pt x="332754" y="18822"/>
                  </a:lnTo>
                  <a:lnTo>
                    <a:pt x="287793" y="4866"/>
                  </a:lnTo>
                  <a:lnTo>
                    <a:pt x="239522" y="0"/>
                  </a:lnTo>
                  <a:close/>
                </a:path>
              </a:pathLst>
            </a:custGeom>
            <a:solidFill>
              <a:srgbClr val="A8D5D6"/>
            </a:solidFill>
          </p:spPr>
          <p:txBody>
            <a:bodyPr wrap="square" lIns="0" tIns="0" rIns="0" bIns="0" rtlCol="0"/>
            <a:lstStyle/>
            <a:p>
              <a:endParaRPr/>
            </a:p>
          </p:txBody>
        </p:sp>
        <p:sp>
          <p:nvSpPr>
            <p:cNvPr id="58" name="object 58"/>
            <p:cNvSpPr/>
            <p:nvPr/>
          </p:nvSpPr>
          <p:spPr>
            <a:xfrm>
              <a:off x="3273341" y="5803386"/>
              <a:ext cx="479425" cy="479425"/>
            </a:xfrm>
            <a:custGeom>
              <a:avLst/>
              <a:gdLst/>
              <a:ahLst/>
              <a:cxnLst/>
              <a:rect l="l" t="t" r="r" b="b"/>
              <a:pathLst>
                <a:path w="479425" h="479425">
                  <a:moveTo>
                    <a:pt x="0" y="239520"/>
                  </a:moveTo>
                  <a:lnTo>
                    <a:pt x="4866" y="191249"/>
                  </a:lnTo>
                  <a:lnTo>
                    <a:pt x="18822" y="146288"/>
                  </a:lnTo>
                  <a:lnTo>
                    <a:pt x="40906" y="105602"/>
                  </a:lnTo>
                  <a:lnTo>
                    <a:pt x="70154" y="70154"/>
                  </a:lnTo>
                  <a:lnTo>
                    <a:pt x="105602" y="40906"/>
                  </a:lnTo>
                  <a:lnTo>
                    <a:pt x="146288" y="18822"/>
                  </a:lnTo>
                  <a:lnTo>
                    <a:pt x="191249" y="4866"/>
                  </a:lnTo>
                  <a:lnTo>
                    <a:pt x="239521" y="0"/>
                  </a:lnTo>
                  <a:lnTo>
                    <a:pt x="287792" y="4866"/>
                  </a:lnTo>
                  <a:lnTo>
                    <a:pt x="332753" y="18822"/>
                  </a:lnTo>
                  <a:lnTo>
                    <a:pt x="373439" y="40906"/>
                  </a:lnTo>
                  <a:lnTo>
                    <a:pt x="408887" y="70154"/>
                  </a:lnTo>
                  <a:lnTo>
                    <a:pt x="438135" y="105602"/>
                  </a:lnTo>
                  <a:lnTo>
                    <a:pt x="460219" y="146288"/>
                  </a:lnTo>
                  <a:lnTo>
                    <a:pt x="474175" y="191249"/>
                  </a:lnTo>
                  <a:lnTo>
                    <a:pt x="479042" y="239520"/>
                  </a:lnTo>
                  <a:lnTo>
                    <a:pt x="474175" y="287792"/>
                  </a:lnTo>
                  <a:lnTo>
                    <a:pt x="460219" y="332753"/>
                  </a:lnTo>
                  <a:lnTo>
                    <a:pt x="438135" y="373439"/>
                  </a:lnTo>
                  <a:lnTo>
                    <a:pt x="408887" y="408887"/>
                  </a:lnTo>
                  <a:lnTo>
                    <a:pt x="373439" y="438135"/>
                  </a:lnTo>
                  <a:lnTo>
                    <a:pt x="332753" y="460219"/>
                  </a:lnTo>
                  <a:lnTo>
                    <a:pt x="287792" y="474175"/>
                  </a:lnTo>
                  <a:lnTo>
                    <a:pt x="239521" y="479041"/>
                  </a:lnTo>
                  <a:lnTo>
                    <a:pt x="191249" y="474175"/>
                  </a:lnTo>
                  <a:lnTo>
                    <a:pt x="146288" y="460219"/>
                  </a:lnTo>
                  <a:lnTo>
                    <a:pt x="105602" y="438135"/>
                  </a:lnTo>
                  <a:lnTo>
                    <a:pt x="70154" y="408887"/>
                  </a:lnTo>
                  <a:lnTo>
                    <a:pt x="40906" y="373439"/>
                  </a:lnTo>
                  <a:lnTo>
                    <a:pt x="18822" y="332753"/>
                  </a:lnTo>
                  <a:lnTo>
                    <a:pt x="4866" y="287792"/>
                  </a:lnTo>
                  <a:lnTo>
                    <a:pt x="0" y="239520"/>
                  </a:lnTo>
                  <a:close/>
                </a:path>
              </a:pathLst>
            </a:custGeom>
            <a:ln w="9524">
              <a:solidFill>
                <a:srgbClr val="000000"/>
              </a:solidFill>
            </a:ln>
          </p:spPr>
          <p:txBody>
            <a:bodyPr wrap="square" lIns="0" tIns="0" rIns="0" bIns="0" rtlCol="0"/>
            <a:lstStyle/>
            <a:p>
              <a:endParaRPr/>
            </a:p>
          </p:txBody>
        </p:sp>
        <p:sp>
          <p:nvSpPr>
            <p:cNvPr id="59" name="object 59"/>
            <p:cNvSpPr txBox="1"/>
            <p:nvPr/>
          </p:nvSpPr>
          <p:spPr>
            <a:xfrm>
              <a:off x="3439539" y="5877806"/>
              <a:ext cx="152400"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panose="02020603050405020304"/>
                  <a:cs typeface="Times New Roman" panose="02020603050405020304"/>
                </a:rPr>
                <a:t>9</a:t>
              </a:r>
              <a:endParaRPr sz="2000">
                <a:latin typeface="Times New Roman" panose="02020603050405020304"/>
                <a:cs typeface="Times New Roman" panose="02020603050405020304"/>
              </a:endParaRPr>
            </a:p>
          </p:txBody>
        </p:sp>
        <p:sp>
          <p:nvSpPr>
            <p:cNvPr id="60" name="object 60"/>
            <p:cNvSpPr/>
            <p:nvPr/>
          </p:nvSpPr>
          <p:spPr>
            <a:xfrm>
              <a:off x="2751266" y="5236990"/>
              <a:ext cx="1657350" cy="213995"/>
            </a:xfrm>
            <a:custGeom>
              <a:avLst/>
              <a:gdLst/>
              <a:ahLst/>
              <a:cxnLst/>
              <a:rect l="l" t="t" r="r" b="b"/>
              <a:pathLst>
                <a:path w="1657350" h="213995">
                  <a:moveTo>
                    <a:pt x="0" y="10901"/>
                  </a:moveTo>
                  <a:lnTo>
                    <a:pt x="0" y="213704"/>
                  </a:lnTo>
                  <a:lnTo>
                    <a:pt x="1657331" y="213704"/>
                  </a:lnTo>
                  <a:lnTo>
                    <a:pt x="1657331" y="0"/>
                  </a:lnTo>
                </a:path>
              </a:pathLst>
            </a:custGeom>
            <a:ln w="9524">
              <a:solidFill>
                <a:srgbClr val="000000"/>
              </a:solidFill>
            </a:ln>
          </p:spPr>
          <p:txBody>
            <a:bodyPr wrap="square" lIns="0" tIns="0" rIns="0" bIns="0" rtlCol="0"/>
            <a:lstStyle/>
            <a:p>
              <a:endParaRPr/>
            </a:p>
          </p:txBody>
        </p:sp>
        <p:sp>
          <p:nvSpPr>
            <p:cNvPr id="61" name="object 61"/>
            <p:cNvSpPr/>
            <p:nvPr/>
          </p:nvSpPr>
          <p:spPr>
            <a:xfrm>
              <a:off x="3500691" y="5445146"/>
              <a:ext cx="0" cy="333375"/>
            </a:xfrm>
            <a:custGeom>
              <a:avLst/>
              <a:gdLst/>
              <a:ahLst/>
              <a:cxnLst/>
              <a:rect l="l" t="t" r="r" b="b"/>
              <a:pathLst>
                <a:path h="333375">
                  <a:moveTo>
                    <a:pt x="0" y="0"/>
                  </a:moveTo>
                  <a:lnTo>
                    <a:pt x="0" y="332776"/>
                  </a:lnTo>
                </a:path>
              </a:pathLst>
            </a:custGeom>
            <a:ln w="9524">
              <a:solidFill>
                <a:srgbClr val="000000"/>
              </a:solidFill>
            </a:ln>
          </p:spPr>
          <p:txBody>
            <a:bodyPr wrap="square" lIns="0" tIns="0" rIns="0" bIns="0" rtlCol="0"/>
            <a:lstStyle/>
            <a:p>
              <a:endParaRPr/>
            </a:p>
          </p:txBody>
        </p:sp>
        <p:sp>
          <p:nvSpPr>
            <p:cNvPr id="62" name="object 62"/>
            <p:cNvSpPr/>
            <p:nvPr/>
          </p:nvSpPr>
          <p:spPr>
            <a:xfrm>
              <a:off x="3441736" y="5687219"/>
              <a:ext cx="117908" cy="115908"/>
            </a:xfrm>
            <a:prstGeom prst="rect">
              <a:avLst/>
            </a:prstGeom>
            <a:blipFill>
              <a:blip r:embed="rId8" cstate="print"/>
              <a:stretch>
                <a:fillRect/>
              </a:stretch>
            </a:blipFill>
          </p:spPr>
          <p:txBody>
            <a:bodyPr wrap="square" lIns="0" tIns="0" rIns="0" bIns="0" rtlCol="0"/>
            <a:lstStyle/>
            <a:p>
              <a:endParaRPr/>
            </a:p>
          </p:txBody>
        </p:sp>
        <p:sp>
          <p:nvSpPr>
            <p:cNvPr id="63" name="object 63"/>
            <p:cNvSpPr txBox="1"/>
            <p:nvPr/>
          </p:nvSpPr>
          <p:spPr>
            <a:xfrm>
              <a:off x="3294639" y="4953754"/>
              <a:ext cx="61023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CC0000"/>
                  </a:solidFill>
                  <a:latin typeface="微软雅黑" panose="020B0503020204020204" pitchFamily="34" charset="-122"/>
                  <a:cs typeface="微软雅黑" panose="020B0503020204020204" pitchFamily="34" charset="-122"/>
                </a:rPr>
                <a:t>区域</a:t>
              </a:r>
              <a:r>
                <a:rPr sz="1800" dirty="0">
                  <a:solidFill>
                    <a:srgbClr val="CC0000"/>
                  </a:solidFill>
                  <a:latin typeface="Arial" panose="020B0604020202020204"/>
                  <a:cs typeface="Arial" panose="020B0604020202020204"/>
                </a:rPr>
                <a:t>1</a:t>
              </a:r>
              <a:endParaRPr sz="1800">
                <a:latin typeface="Arial" panose="020B0604020202020204"/>
                <a:cs typeface="Arial" panose="020B0604020202020204"/>
              </a:endParaRPr>
            </a:p>
          </p:txBody>
        </p:sp>
        <p:sp>
          <p:nvSpPr>
            <p:cNvPr id="64" name="object 64"/>
            <p:cNvSpPr txBox="1"/>
            <p:nvPr/>
          </p:nvSpPr>
          <p:spPr>
            <a:xfrm>
              <a:off x="5021839" y="3108021"/>
              <a:ext cx="61023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CC0000"/>
                  </a:solidFill>
                  <a:latin typeface="微软雅黑" panose="020B0503020204020204" pitchFamily="34" charset="-122"/>
                  <a:cs typeface="微软雅黑" panose="020B0503020204020204" pitchFamily="34" charset="-122"/>
                </a:rPr>
                <a:t>区域</a:t>
              </a:r>
              <a:r>
                <a:rPr sz="1800" dirty="0">
                  <a:solidFill>
                    <a:srgbClr val="CC0000"/>
                  </a:solidFill>
                  <a:latin typeface="Arial" panose="020B0604020202020204"/>
                  <a:cs typeface="Arial" panose="020B0604020202020204"/>
                </a:rPr>
                <a:t>2</a:t>
              </a:r>
              <a:endParaRPr sz="1800">
                <a:latin typeface="Arial" panose="020B0604020202020204"/>
                <a:cs typeface="Arial" panose="020B0604020202020204"/>
              </a:endParaRPr>
            </a:p>
          </p:txBody>
        </p:sp>
        <p:sp>
          <p:nvSpPr>
            <p:cNvPr id="65" name="object 65"/>
            <p:cNvSpPr txBox="1"/>
            <p:nvPr/>
          </p:nvSpPr>
          <p:spPr>
            <a:xfrm>
              <a:off x="7003039" y="3446687"/>
              <a:ext cx="61023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CC0000"/>
                  </a:solidFill>
                  <a:latin typeface="微软雅黑" panose="020B0503020204020204" pitchFamily="34" charset="-122"/>
                  <a:cs typeface="微软雅黑" panose="020B0503020204020204" pitchFamily="34" charset="-122"/>
                </a:rPr>
                <a:t>区域</a:t>
              </a:r>
              <a:r>
                <a:rPr sz="1800" dirty="0">
                  <a:solidFill>
                    <a:srgbClr val="CC0000"/>
                  </a:solidFill>
                  <a:latin typeface="Arial" panose="020B0604020202020204"/>
                  <a:cs typeface="Arial" panose="020B0604020202020204"/>
                </a:rPr>
                <a:t>3</a:t>
              </a:r>
              <a:endParaRPr sz="1800">
                <a:latin typeface="Arial" panose="020B0604020202020204"/>
                <a:cs typeface="Arial" panose="020B0604020202020204"/>
              </a:endParaRPr>
            </a:p>
          </p:txBody>
        </p:sp>
        <p:sp>
          <p:nvSpPr>
            <p:cNvPr id="66" name="object 66"/>
            <p:cNvSpPr txBox="1"/>
            <p:nvPr/>
          </p:nvSpPr>
          <p:spPr>
            <a:xfrm>
              <a:off x="1381173" y="2989488"/>
              <a:ext cx="61023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CC0000"/>
                  </a:solidFill>
                  <a:latin typeface="微软雅黑" panose="020B0503020204020204" pitchFamily="34" charset="-122"/>
                  <a:cs typeface="微软雅黑" panose="020B0503020204020204" pitchFamily="34" charset="-122"/>
                </a:rPr>
                <a:t>区域</a:t>
              </a:r>
              <a:r>
                <a:rPr sz="1800" dirty="0">
                  <a:solidFill>
                    <a:srgbClr val="CC0000"/>
                  </a:solidFill>
                  <a:latin typeface="Arial" panose="020B0604020202020204"/>
                  <a:cs typeface="Arial" panose="020B0604020202020204"/>
                </a:rPr>
                <a:t>4</a:t>
              </a:r>
              <a:endParaRPr sz="1800">
                <a:latin typeface="Arial" panose="020B0604020202020204"/>
                <a:cs typeface="Arial" panose="020B0604020202020204"/>
              </a:endParaRPr>
            </a:p>
          </p:txBody>
        </p:sp>
        <p:sp>
          <p:nvSpPr>
            <p:cNvPr id="67" name="object 67"/>
            <p:cNvSpPr txBox="1"/>
            <p:nvPr/>
          </p:nvSpPr>
          <p:spPr>
            <a:xfrm>
              <a:off x="6974362" y="4958729"/>
              <a:ext cx="4171950" cy="1235075"/>
            </a:xfrm>
            <a:prstGeom prst="rect">
              <a:avLst/>
            </a:prstGeom>
          </p:spPr>
          <p:txBody>
            <a:bodyPr vert="horz" wrap="square" lIns="0" tIns="109220" rIns="0" bIns="0" rtlCol="0">
              <a:spAutoFit/>
            </a:bodyPr>
            <a:lstStyle/>
            <a:p>
              <a:pPr marL="12700">
                <a:lnSpc>
                  <a:spcPct val="100000"/>
                </a:lnSpc>
                <a:spcBef>
                  <a:spcPts val="860"/>
                </a:spcBef>
              </a:pPr>
              <a:r>
                <a:rPr sz="3000" spc="-7" baseline="1000" dirty="0">
                  <a:latin typeface="Arial" panose="020B0604020202020204"/>
                  <a:cs typeface="Arial" panose="020B0604020202020204"/>
                </a:rPr>
                <a:t>V(G) </a:t>
              </a:r>
              <a:r>
                <a:rPr sz="3000" baseline="1000" dirty="0">
                  <a:latin typeface="微软雅黑" panose="020B0503020204020204" pitchFamily="34" charset="-122"/>
                  <a:cs typeface="微软雅黑" panose="020B0503020204020204" pitchFamily="34" charset="-122"/>
                </a:rPr>
                <a:t>＝</a:t>
              </a:r>
              <a:r>
                <a:rPr sz="3000" spc="-7" baseline="1000" dirty="0">
                  <a:latin typeface="微软雅黑" panose="020B0503020204020204" pitchFamily="34" charset="-122"/>
                  <a:cs typeface="微软雅黑" panose="020B0503020204020204" pitchFamily="34" charset="-122"/>
                </a:rPr>
                <a:t> </a:t>
              </a:r>
              <a:r>
                <a:rPr sz="3000" baseline="1000" dirty="0">
                  <a:latin typeface="微软雅黑" panose="020B0503020204020204" pitchFamily="34" charset="-122"/>
                  <a:cs typeface="微软雅黑" panose="020B0503020204020204" pitchFamily="34" charset="-122"/>
                </a:rPr>
                <a:t>区域数</a:t>
              </a:r>
              <a:r>
                <a:rPr sz="3000" spc="-352" baseline="1000" dirty="0">
                  <a:latin typeface="微软雅黑" panose="020B0503020204020204" pitchFamily="34" charset="-122"/>
                  <a:cs typeface="微软雅黑" panose="020B0503020204020204" pitchFamily="34" charset="-122"/>
                </a:rPr>
                <a:t>目</a:t>
              </a:r>
              <a:r>
                <a:rPr sz="2000" dirty="0">
                  <a:solidFill>
                    <a:srgbClr val="0033CC"/>
                  </a:solidFill>
                  <a:latin typeface="微软雅黑" panose="020B0503020204020204" pitchFamily="34" charset="-122"/>
                  <a:cs typeface="微软雅黑" panose="020B0503020204020204" pitchFamily="34" charset="-122"/>
                </a:rPr>
                <a:t>＝</a:t>
              </a:r>
              <a:r>
                <a:rPr sz="2000" dirty="0">
                  <a:solidFill>
                    <a:srgbClr val="0033CC"/>
                  </a:solidFill>
                  <a:latin typeface="Arial" panose="020B0604020202020204"/>
                  <a:cs typeface="Arial" panose="020B0604020202020204"/>
                </a:rPr>
                <a:t>4</a:t>
              </a:r>
              <a:endParaRPr sz="2000">
                <a:latin typeface="Arial" panose="020B0604020202020204"/>
                <a:cs typeface="Arial" panose="020B0604020202020204"/>
              </a:endParaRPr>
            </a:p>
            <a:p>
              <a:pPr marL="12700" marR="5080">
                <a:lnSpc>
                  <a:spcPts val="3200"/>
                </a:lnSpc>
                <a:spcBef>
                  <a:spcPts val="200"/>
                </a:spcBef>
              </a:pPr>
              <a:r>
                <a:rPr sz="2000" spc="-5" dirty="0">
                  <a:latin typeface="Arial" panose="020B0604020202020204"/>
                  <a:cs typeface="Arial" panose="020B0604020202020204"/>
                </a:rPr>
                <a:t>V(G)</a:t>
              </a:r>
              <a:r>
                <a:rPr sz="2000" spc="-40" dirty="0">
                  <a:latin typeface="Arial" panose="020B0604020202020204"/>
                  <a:cs typeface="Arial" panose="020B0604020202020204"/>
                </a:rPr>
                <a:t> </a:t>
              </a:r>
              <a:r>
                <a:rPr sz="2000" dirty="0">
                  <a:latin typeface="微软雅黑" panose="020B0503020204020204" pitchFamily="34" charset="-122"/>
                  <a:cs typeface="微软雅黑" panose="020B0503020204020204" pitchFamily="34" charset="-122"/>
                </a:rPr>
                <a:t>＝</a:t>
              </a:r>
              <a:r>
                <a:rPr sz="2000" spc="-40" dirty="0">
                  <a:latin typeface="微软雅黑" panose="020B0503020204020204" pitchFamily="34" charset="-122"/>
                  <a:cs typeface="微软雅黑" panose="020B0503020204020204" pitchFamily="34" charset="-122"/>
                </a:rPr>
                <a:t> </a:t>
              </a:r>
              <a:r>
                <a:rPr sz="2000" dirty="0">
                  <a:latin typeface="微软雅黑" panose="020B0503020204020204" pitchFamily="34" charset="-122"/>
                  <a:cs typeface="微软雅黑" panose="020B0503020204020204" pitchFamily="34" charset="-122"/>
                </a:rPr>
                <a:t>边数</a:t>
              </a:r>
              <a:r>
                <a:rPr sz="2000" spc="-5" dirty="0">
                  <a:latin typeface="微软雅黑" panose="020B0503020204020204" pitchFamily="34" charset="-122"/>
                  <a:cs typeface="微软雅黑" panose="020B0503020204020204" pitchFamily="34" charset="-122"/>
                </a:rPr>
                <a:t>-</a:t>
              </a:r>
              <a:r>
                <a:rPr sz="2000" dirty="0">
                  <a:latin typeface="微软雅黑" panose="020B0503020204020204" pitchFamily="34" charset="-122"/>
                  <a:cs typeface="微软雅黑" panose="020B0503020204020204" pitchFamily="34" charset="-122"/>
                </a:rPr>
                <a:t>节点数</a:t>
              </a:r>
              <a:r>
                <a:rPr sz="2000" spc="-10" dirty="0">
                  <a:latin typeface="微软雅黑" panose="020B0503020204020204" pitchFamily="34" charset="-122"/>
                  <a:cs typeface="微软雅黑" panose="020B0503020204020204" pitchFamily="34" charset="-122"/>
                </a:rPr>
                <a:t>＋</a:t>
              </a:r>
              <a:r>
                <a:rPr sz="2000" spc="-10" dirty="0">
                  <a:latin typeface="Arial" panose="020B0604020202020204"/>
                  <a:cs typeface="Arial" panose="020B0604020202020204"/>
                </a:rPr>
                <a:t>2</a:t>
              </a:r>
              <a:r>
                <a:rPr sz="3000" spc="-15" baseline="3000" dirty="0">
                  <a:solidFill>
                    <a:srgbClr val="0033CC"/>
                  </a:solidFill>
                  <a:latin typeface="微软雅黑" panose="020B0503020204020204" pitchFamily="34" charset="-122"/>
                  <a:cs typeface="微软雅黑" panose="020B0503020204020204" pitchFamily="34" charset="-122"/>
                </a:rPr>
                <a:t>＝</a:t>
              </a:r>
              <a:r>
                <a:rPr sz="3000" spc="-15" baseline="3000" dirty="0">
                  <a:solidFill>
                    <a:srgbClr val="0033CC"/>
                  </a:solidFill>
                  <a:latin typeface="Arial" panose="020B0604020202020204"/>
                  <a:cs typeface="Arial" panose="020B0604020202020204"/>
                </a:rPr>
                <a:t>11-9+2</a:t>
              </a:r>
              <a:r>
                <a:rPr sz="3000" spc="-15" baseline="3000" dirty="0">
                  <a:solidFill>
                    <a:srgbClr val="0033CC"/>
                  </a:solidFill>
                  <a:latin typeface="微软雅黑" panose="020B0503020204020204" pitchFamily="34" charset="-122"/>
                  <a:cs typeface="微软雅黑" panose="020B0503020204020204" pitchFamily="34" charset="-122"/>
                </a:rPr>
                <a:t>＝</a:t>
              </a:r>
              <a:r>
                <a:rPr sz="3000" spc="-15" baseline="3000" dirty="0">
                  <a:solidFill>
                    <a:srgbClr val="0033CC"/>
                  </a:solidFill>
                  <a:latin typeface="Arial" panose="020B0604020202020204"/>
                  <a:cs typeface="Arial" panose="020B0604020202020204"/>
                </a:rPr>
                <a:t>4  </a:t>
              </a:r>
              <a:r>
                <a:rPr sz="2000" spc="-5" dirty="0">
                  <a:latin typeface="Arial" panose="020B0604020202020204"/>
                  <a:cs typeface="Arial" panose="020B0604020202020204"/>
                </a:rPr>
                <a:t>V(G)</a:t>
              </a:r>
              <a:r>
                <a:rPr sz="2000" spc="-10" dirty="0">
                  <a:latin typeface="Arial" panose="020B0604020202020204"/>
                  <a:cs typeface="Arial" panose="020B0604020202020204"/>
                </a:rPr>
                <a:t> </a:t>
              </a:r>
              <a:r>
                <a:rPr sz="2000" dirty="0">
                  <a:latin typeface="微软雅黑" panose="020B0503020204020204" pitchFamily="34" charset="-122"/>
                  <a:cs typeface="微软雅黑" panose="020B0503020204020204" pitchFamily="34" charset="-122"/>
                </a:rPr>
                <a:t>＝</a:t>
              </a:r>
              <a:r>
                <a:rPr sz="2000" spc="-10" dirty="0">
                  <a:latin typeface="微软雅黑" panose="020B0503020204020204" pitchFamily="34" charset="-122"/>
                  <a:cs typeface="微软雅黑" panose="020B0503020204020204" pitchFamily="34" charset="-122"/>
                </a:rPr>
                <a:t> </a:t>
              </a:r>
              <a:r>
                <a:rPr sz="2000" dirty="0">
                  <a:latin typeface="微软雅黑" panose="020B0503020204020204" pitchFamily="34" charset="-122"/>
                  <a:cs typeface="微软雅黑" panose="020B0503020204020204" pitchFamily="34" charset="-122"/>
                </a:rPr>
                <a:t>判断节点数</a:t>
              </a:r>
              <a:r>
                <a:rPr sz="2000" spc="-20" dirty="0">
                  <a:latin typeface="微软雅黑" panose="020B0503020204020204" pitchFamily="34" charset="-122"/>
                  <a:cs typeface="微软雅黑" panose="020B0503020204020204" pitchFamily="34" charset="-122"/>
                </a:rPr>
                <a:t>＋</a:t>
              </a:r>
              <a:r>
                <a:rPr sz="2000" spc="-20" dirty="0">
                  <a:latin typeface="Arial" panose="020B0604020202020204"/>
                  <a:cs typeface="Arial" panose="020B0604020202020204"/>
                </a:rPr>
                <a:t>1</a:t>
              </a:r>
              <a:r>
                <a:rPr sz="3000" spc="-30" baseline="3000" dirty="0">
                  <a:solidFill>
                    <a:srgbClr val="0033CC"/>
                  </a:solidFill>
                  <a:latin typeface="微软雅黑" panose="020B0503020204020204" pitchFamily="34" charset="-122"/>
                  <a:cs typeface="微软雅黑" panose="020B0503020204020204" pitchFamily="34" charset="-122"/>
                </a:rPr>
                <a:t>＝</a:t>
              </a:r>
              <a:r>
                <a:rPr sz="3000" spc="-30" baseline="3000" dirty="0">
                  <a:solidFill>
                    <a:srgbClr val="0033CC"/>
                  </a:solidFill>
                  <a:latin typeface="Arial" panose="020B0604020202020204"/>
                  <a:cs typeface="Arial" panose="020B0604020202020204"/>
                </a:rPr>
                <a:t>3+1</a:t>
              </a:r>
              <a:r>
                <a:rPr sz="3000" spc="-30" baseline="3000" dirty="0">
                  <a:solidFill>
                    <a:srgbClr val="0033CC"/>
                  </a:solidFill>
                  <a:latin typeface="微软雅黑" panose="020B0503020204020204" pitchFamily="34" charset="-122"/>
                  <a:cs typeface="微软雅黑" panose="020B0503020204020204" pitchFamily="34" charset="-122"/>
                </a:rPr>
                <a:t>＝</a:t>
              </a:r>
              <a:r>
                <a:rPr sz="3000" spc="-30" baseline="3000" dirty="0">
                  <a:solidFill>
                    <a:srgbClr val="0033CC"/>
                  </a:solidFill>
                  <a:latin typeface="Arial" panose="020B0604020202020204"/>
                  <a:cs typeface="Arial" panose="020B0604020202020204"/>
                </a:rPr>
                <a:t>4</a:t>
              </a:r>
              <a:endParaRPr sz="3000" baseline="3000">
                <a:latin typeface="Arial" panose="020B0604020202020204"/>
                <a:cs typeface="Arial" panose="020B0604020202020204"/>
              </a:endParaRPr>
            </a:p>
          </p:txBody>
        </p:sp>
        <p:sp>
          <p:nvSpPr>
            <p:cNvPr id="68" name="object 68"/>
            <p:cNvSpPr txBox="1"/>
            <p:nvPr/>
          </p:nvSpPr>
          <p:spPr>
            <a:xfrm>
              <a:off x="8771466" y="3472162"/>
              <a:ext cx="2421890" cy="626110"/>
            </a:xfrm>
            <a:prstGeom prst="rect">
              <a:avLst/>
            </a:prstGeom>
            <a:solidFill>
              <a:srgbClr val="797BA9"/>
            </a:solidFill>
          </p:spPr>
          <p:txBody>
            <a:bodyPr vert="horz" wrap="square" lIns="0" tIns="144780" rIns="0" bIns="0" rtlCol="0">
              <a:spAutoFit/>
            </a:bodyPr>
            <a:lstStyle/>
            <a:p>
              <a:pPr marL="294640">
                <a:lnSpc>
                  <a:spcPct val="100000"/>
                </a:lnSpc>
                <a:spcBef>
                  <a:spcPts val="1140"/>
                </a:spcBef>
              </a:pPr>
              <a:r>
                <a:rPr sz="2200" dirty="0">
                  <a:solidFill>
                    <a:srgbClr val="FFFFFF"/>
                  </a:solidFill>
                  <a:latin typeface="微软雅黑" panose="020B0503020204020204" pitchFamily="34" charset="-122"/>
                  <a:cs typeface="微软雅黑" panose="020B0503020204020204" pitchFamily="34" charset="-122"/>
                </a:rPr>
                <a:t>环路复杂性：</a:t>
              </a:r>
              <a:r>
                <a:rPr sz="2200" dirty="0">
                  <a:solidFill>
                    <a:srgbClr val="FFFFFF"/>
                  </a:solidFill>
                  <a:latin typeface="Arial" panose="020B0604020202020204"/>
                  <a:cs typeface="Arial" panose="020B0604020202020204"/>
                </a:rPr>
                <a:t>4</a:t>
              </a:r>
              <a:endParaRPr sz="2200">
                <a:latin typeface="Arial" panose="020B0604020202020204"/>
                <a:cs typeface="Arial" panose="020B0604020202020204"/>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4D2AB8B-5816-41F2-8B4B-CA5C3E4E6A65}" type="slidenum">
              <a:rPr lang="zh-CN" altLang="en-US" smtClean="0"/>
              <a:t>44</a:t>
            </a:fld>
            <a:endParaRPr lang="zh-CN" altLang="en-US"/>
          </a:p>
        </p:txBody>
      </p:sp>
      <p:grpSp>
        <p:nvGrpSpPr>
          <p:cNvPr id="66" name="组合 65"/>
          <p:cNvGrpSpPr/>
          <p:nvPr/>
        </p:nvGrpSpPr>
        <p:grpSpPr>
          <a:xfrm>
            <a:off x="953083" y="573448"/>
            <a:ext cx="10285834" cy="5711104"/>
            <a:chOff x="907522" y="571707"/>
            <a:chExt cx="10285834" cy="5711104"/>
          </a:xfrm>
        </p:grpSpPr>
        <p:sp>
          <p:nvSpPr>
            <p:cNvPr id="3" name="object 2"/>
            <p:cNvSpPr/>
            <p:nvPr/>
          </p:nvSpPr>
          <p:spPr>
            <a:xfrm>
              <a:off x="5097265" y="571707"/>
              <a:ext cx="479425" cy="479425"/>
            </a:xfrm>
            <a:custGeom>
              <a:avLst/>
              <a:gdLst/>
              <a:ahLst/>
              <a:cxnLst/>
              <a:rect l="l" t="t" r="r" b="b"/>
              <a:pathLst>
                <a:path w="479425" h="479425">
                  <a:moveTo>
                    <a:pt x="239520" y="0"/>
                  </a:moveTo>
                  <a:lnTo>
                    <a:pt x="191248" y="4865"/>
                  </a:lnTo>
                  <a:lnTo>
                    <a:pt x="146288" y="18820"/>
                  </a:lnTo>
                  <a:lnTo>
                    <a:pt x="105602" y="40900"/>
                  </a:lnTo>
                  <a:lnTo>
                    <a:pt x="70153" y="70144"/>
                  </a:lnTo>
                  <a:lnTo>
                    <a:pt x="40906" y="105587"/>
                  </a:lnTo>
                  <a:lnTo>
                    <a:pt x="18822" y="146268"/>
                  </a:lnTo>
                  <a:lnTo>
                    <a:pt x="4866" y="191222"/>
                  </a:lnTo>
                  <a:lnTo>
                    <a:pt x="0" y="239487"/>
                  </a:lnTo>
                  <a:lnTo>
                    <a:pt x="4866" y="287752"/>
                  </a:lnTo>
                  <a:lnTo>
                    <a:pt x="18822" y="332707"/>
                  </a:lnTo>
                  <a:lnTo>
                    <a:pt x="40906" y="373387"/>
                  </a:lnTo>
                  <a:lnTo>
                    <a:pt x="70153" y="408831"/>
                  </a:lnTo>
                  <a:lnTo>
                    <a:pt x="105602" y="438074"/>
                  </a:lnTo>
                  <a:lnTo>
                    <a:pt x="146288" y="460155"/>
                  </a:lnTo>
                  <a:lnTo>
                    <a:pt x="191248" y="474109"/>
                  </a:lnTo>
                  <a:lnTo>
                    <a:pt x="239520" y="478975"/>
                  </a:lnTo>
                  <a:lnTo>
                    <a:pt x="287792" y="474109"/>
                  </a:lnTo>
                  <a:lnTo>
                    <a:pt x="332752" y="460155"/>
                  </a:lnTo>
                  <a:lnTo>
                    <a:pt x="373438" y="438074"/>
                  </a:lnTo>
                  <a:lnTo>
                    <a:pt x="408887" y="408831"/>
                  </a:lnTo>
                  <a:lnTo>
                    <a:pt x="438134" y="373387"/>
                  </a:lnTo>
                  <a:lnTo>
                    <a:pt x="460218" y="332707"/>
                  </a:lnTo>
                  <a:lnTo>
                    <a:pt x="474175" y="287752"/>
                  </a:lnTo>
                  <a:lnTo>
                    <a:pt x="479041" y="239487"/>
                  </a:lnTo>
                  <a:lnTo>
                    <a:pt x="474175" y="191222"/>
                  </a:lnTo>
                  <a:lnTo>
                    <a:pt x="460218" y="146268"/>
                  </a:lnTo>
                  <a:lnTo>
                    <a:pt x="438134" y="105587"/>
                  </a:lnTo>
                  <a:lnTo>
                    <a:pt x="408887" y="70144"/>
                  </a:lnTo>
                  <a:lnTo>
                    <a:pt x="373438" y="40900"/>
                  </a:lnTo>
                  <a:lnTo>
                    <a:pt x="332752" y="18820"/>
                  </a:lnTo>
                  <a:lnTo>
                    <a:pt x="287792" y="4865"/>
                  </a:lnTo>
                  <a:lnTo>
                    <a:pt x="239520" y="0"/>
                  </a:lnTo>
                  <a:close/>
                </a:path>
              </a:pathLst>
            </a:custGeom>
            <a:solidFill>
              <a:srgbClr val="A8D5D6"/>
            </a:solidFill>
          </p:spPr>
          <p:txBody>
            <a:bodyPr wrap="square" lIns="0" tIns="0" rIns="0" bIns="0" rtlCol="0"/>
            <a:lstStyle/>
            <a:p>
              <a:endParaRPr/>
            </a:p>
          </p:txBody>
        </p:sp>
        <p:sp>
          <p:nvSpPr>
            <p:cNvPr id="4" name="object 3"/>
            <p:cNvSpPr/>
            <p:nvPr/>
          </p:nvSpPr>
          <p:spPr>
            <a:xfrm>
              <a:off x="5097265" y="571707"/>
              <a:ext cx="479425" cy="479425"/>
            </a:xfrm>
            <a:custGeom>
              <a:avLst/>
              <a:gdLst/>
              <a:ahLst/>
              <a:cxnLst/>
              <a:rect l="l" t="t" r="r" b="b"/>
              <a:pathLst>
                <a:path w="479425" h="479425">
                  <a:moveTo>
                    <a:pt x="0" y="239488"/>
                  </a:moveTo>
                  <a:lnTo>
                    <a:pt x="4866" y="191222"/>
                  </a:lnTo>
                  <a:lnTo>
                    <a:pt x="18822" y="146268"/>
                  </a:lnTo>
                  <a:lnTo>
                    <a:pt x="40906" y="105588"/>
                  </a:lnTo>
                  <a:lnTo>
                    <a:pt x="70154" y="70144"/>
                  </a:lnTo>
                  <a:lnTo>
                    <a:pt x="105602" y="40900"/>
                  </a:lnTo>
                  <a:lnTo>
                    <a:pt x="146288" y="18820"/>
                  </a:lnTo>
                  <a:lnTo>
                    <a:pt x="191249" y="4865"/>
                  </a:lnTo>
                  <a:lnTo>
                    <a:pt x="239521" y="0"/>
                  </a:lnTo>
                  <a:lnTo>
                    <a:pt x="287792" y="4865"/>
                  </a:lnTo>
                  <a:lnTo>
                    <a:pt x="332753" y="18820"/>
                  </a:lnTo>
                  <a:lnTo>
                    <a:pt x="373439" y="40900"/>
                  </a:lnTo>
                  <a:lnTo>
                    <a:pt x="408887" y="70144"/>
                  </a:lnTo>
                  <a:lnTo>
                    <a:pt x="438135" y="105588"/>
                  </a:lnTo>
                  <a:lnTo>
                    <a:pt x="460219" y="146268"/>
                  </a:lnTo>
                  <a:lnTo>
                    <a:pt x="474175" y="191222"/>
                  </a:lnTo>
                  <a:lnTo>
                    <a:pt x="479042" y="239488"/>
                  </a:lnTo>
                  <a:lnTo>
                    <a:pt x="474175" y="287753"/>
                  </a:lnTo>
                  <a:lnTo>
                    <a:pt x="460219" y="332707"/>
                  </a:lnTo>
                  <a:lnTo>
                    <a:pt x="438135" y="373387"/>
                  </a:lnTo>
                  <a:lnTo>
                    <a:pt x="408887" y="408831"/>
                  </a:lnTo>
                  <a:lnTo>
                    <a:pt x="373439" y="438075"/>
                  </a:lnTo>
                  <a:lnTo>
                    <a:pt x="332753" y="460155"/>
                  </a:lnTo>
                  <a:lnTo>
                    <a:pt x="287792" y="474110"/>
                  </a:lnTo>
                  <a:lnTo>
                    <a:pt x="239521" y="478975"/>
                  </a:lnTo>
                  <a:lnTo>
                    <a:pt x="191249" y="474110"/>
                  </a:lnTo>
                  <a:lnTo>
                    <a:pt x="146288" y="460155"/>
                  </a:lnTo>
                  <a:lnTo>
                    <a:pt x="105602" y="438075"/>
                  </a:lnTo>
                  <a:lnTo>
                    <a:pt x="70154" y="408831"/>
                  </a:lnTo>
                  <a:lnTo>
                    <a:pt x="40906" y="373387"/>
                  </a:lnTo>
                  <a:lnTo>
                    <a:pt x="18822" y="332707"/>
                  </a:lnTo>
                  <a:lnTo>
                    <a:pt x="4866" y="287753"/>
                  </a:lnTo>
                  <a:lnTo>
                    <a:pt x="0" y="239488"/>
                  </a:lnTo>
                  <a:close/>
                </a:path>
              </a:pathLst>
            </a:custGeom>
            <a:ln w="9524">
              <a:solidFill>
                <a:srgbClr val="000000"/>
              </a:solidFill>
            </a:ln>
          </p:spPr>
          <p:txBody>
            <a:bodyPr wrap="square" lIns="0" tIns="0" rIns="0" bIns="0" rtlCol="0"/>
            <a:lstStyle/>
            <a:p>
              <a:endParaRPr/>
            </a:p>
          </p:txBody>
        </p:sp>
        <p:sp>
          <p:nvSpPr>
            <p:cNvPr id="5" name="object 4"/>
            <p:cNvSpPr txBox="1"/>
            <p:nvPr/>
          </p:nvSpPr>
          <p:spPr>
            <a:xfrm>
              <a:off x="5269971" y="661334"/>
              <a:ext cx="1397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panose="02020603050405020304"/>
                  <a:cs typeface="Times New Roman" panose="02020603050405020304"/>
                </a:rPr>
                <a:t>1</a:t>
              </a:r>
              <a:endParaRPr sz="1800">
                <a:latin typeface="Times New Roman" panose="02020603050405020304"/>
                <a:cs typeface="Times New Roman" panose="02020603050405020304"/>
              </a:endParaRPr>
            </a:p>
          </p:txBody>
        </p:sp>
        <p:sp>
          <p:nvSpPr>
            <p:cNvPr id="6" name="object 5"/>
            <p:cNvSpPr/>
            <p:nvPr/>
          </p:nvSpPr>
          <p:spPr>
            <a:xfrm>
              <a:off x="4853027" y="1496767"/>
              <a:ext cx="965200" cy="507365"/>
            </a:xfrm>
            <a:custGeom>
              <a:avLst/>
              <a:gdLst/>
              <a:ahLst/>
              <a:cxnLst/>
              <a:rect l="l" t="t" r="r" b="b"/>
              <a:pathLst>
                <a:path w="965200" h="507364">
                  <a:moveTo>
                    <a:pt x="482479" y="0"/>
                  </a:moveTo>
                  <a:lnTo>
                    <a:pt x="0" y="253467"/>
                  </a:lnTo>
                  <a:lnTo>
                    <a:pt x="482479" y="506935"/>
                  </a:lnTo>
                  <a:lnTo>
                    <a:pt x="964958" y="253467"/>
                  </a:lnTo>
                  <a:lnTo>
                    <a:pt x="482479" y="0"/>
                  </a:lnTo>
                  <a:close/>
                </a:path>
              </a:pathLst>
            </a:custGeom>
            <a:solidFill>
              <a:srgbClr val="FFACA9"/>
            </a:solidFill>
          </p:spPr>
          <p:txBody>
            <a:bodyPr wrap="square" lIns="0" tIns="0" rIns="0" bIns="0" rtlCol="0"/>
            <a:lstStyle/>
            <a:p>
              <a:endParaRPr/>
            </a:p>
          </p:txBody>
        </p:sp>
        <p:sp>
          <p:nvSpPr>
            <p:cNvPr id="7" name="object 6"/>
            <p:cNvSpPr/>
            <p:nvPr/>
          </p:nvSpPr>
          <p:spPr>
            <a:xfrm>
              <a:off x="4853027" y="1496767"/>
              <a:ext cx="965200" cy="507365"/>
            </a:xfrm>
            <a:custGeom>
              <a:avLst/>
              <a:gdLst/>
              <a:ahLst/>
              <a:cxnLst/>
              <a:rect l="l" t="t" r="r" b="b"/>
              <a:pathLst>
                <a:path w="965200" h="507364">
                  <a:moveTo>
                    <a:pt x="0" y="253468"/>
                  </a:moveTo>
                  <a:lnTo>
                    <a:pt x="482479" y="0"/>
                  </a:lnTo>
                  <a:lnTo>
                    <a:pt x="964959" y="253468"/>
                  </a:lnTo>
                  <a:lnTo>
                    <a:pt x="482479" y="506936"/>
                  </a:lnTo>
                  <a:lnTo>
                    <a:pt x="0" y="253468"/>
                  </a:lnTo>
                  <a:close/>
                </a:path>
              </a:pathLst>
            </a:custGeom>
            <a:ln w="9524">
              <a:solidFill>
                <a:srgbClr val="000000"/>
              </a:solidFill>
            </a:ln>
          </p:spPr>
          <p:txBody>
            <a:bodyPr wrap="square" lIns="0" tIns="0" rIns="0" bIns="0" rtlCol="0"/>
            <a:lstStyle/>
            <a:p>
              <a:endParaRPr/>
            </a:p>
          </p:txBody>
        </p:sp>
        <p:sp>
          <p:nvSpPr>
            <p:cNvPr id="8" name="object 7"/>
            <p:cNvSpPr txBox="1"/>
            <p:nvPr/>
          </p:nvSpPr>
          <p:spPr>
            <a:xfrm>
              <a:off x="5268255" y="1600375"/>
              <a:ext cx="1397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panose="02020603050405020304"/>
                  <a:cs typeface="Times New Roman" panose="02020603050405020304"/>
                </a:rPr>
                <a:t>2</a:t>
              </a:r>
              <a:endParaRPr sz="1800">
                <a:latin typeface="Times New Roman" panose="02020603050405020304"/>
                <a:cs typeface="Times New Roman" panose="02020603050405020304"/>
              </a:endParaRPr>
            </a:p>
          </p:txBody>
        </p:sp>
        <p:sp>
          <p:nvSpPr>
            <p:cNvPr id="9" name="object 8"/>
            <p:cNvSpPr/>
            <p:nvPr/>
          </p:nvSpPr>
          <p:spPr>
            <a:xfrm>
              <a:off x="4858479" y="2440890"/>
              <a:ext cx="965200" cy="507365"/>
            </a:xfrm>
            <a:custGeom>
              <a:avLst/>
              <a:gdLst/>
              <a:ahLst/>
              <a:cxnLst/>
              <a:rect l="l" t="t" r="r" b="b"/>
              <a:pathLst>
                <a:path w="965200" h="507364">
                  <a:moveTo>
                    <a:pt x="482480" y="0"/>
                  </a:moveTo>
                  <a:lnTo>
                    <a:pt x="0" y="253469"/>
                  </a:lnTo>
                  <a:lnTo>
                    <a:pt x="482480" y="506937"/>
                  </a:lnTo>
                  <a:lnTo>
                    <a:pt x="964959" y="253469"/>
                  </a:lnTo>
                  <a:lnTo>
                    <a:pt x="482480" y="0"/>
                  </a:lnTo>
                  <a:close/>
                </a:path>
              </a:pathLst>
            </a:custGeom>
            <a:solidFill>
              <a:srgbClr val="FFACA9"/>
            </a:solidFill>
          </p:spPr>
          <p:txBody>
            <a:bodyPr wrap="square" lIns="0" tIns="0" rIns="0" bIns="0" rtlCol="0"/>
            <a:lstStyle/>
            <a:p>
              <a:endParaRPr/>
            </a:p>
          </p:txBody>
        </p:sp>
        <p:sp>
          <p:nvSpPr>
            <p:cNvPr id="10" name="object 9"/>
            <p:cNvSpPr/>
            <p:nvPr/>
          </p:nvSpPr>
          <p:spPr>
            <a:xfrm>
              <a:off x="4858479" y="2440890"/>
              <a:ext cx="965200" cy="507365"/>
            </a:xfrm>
            <a:custGeom>
              <a:avLst/>
              <a:gdLst/>
              <a:ahLst/>
              <a:cxnLst/>
              <a:rect l="l" t="t" r="r" b="b"/>
              <a:pathLst>
                <a:path w="965200" h="507364">
                  <a:moveTo>
                    <a:pt x="0" y="253468"/>
                  </a:moveTo>
                  <a:lnTo>
                    <a:pt x="482479" y="0"/>
                  </a:lnTo>
                  <a:lnTo>
                    <a:pt x="964959" y="253468"/>
                  </a:lnTo>
                  <a:lnTo>
                    <a:pt x="482479" y="506936"/>
                  </a:lnTo>
                  <a:lnTo>
                    <a:pt x="0" y="253468"/>
                  </a:lnTo>
                  <a:close/>
                </a:path>
              </a:pathLst>
            </a:custGeom>
            <a:ln w="9524">
              <a:solidFill>
                <a:srgbClr val="000000"/>
              </a:solidFill>
            </a:ln>
          </p:spPr>
          <p:txBody>
            <a:bodyPr wrap="square" lIns="0" tIns="0" rIns="0" bIns="0" rtlCol="0"/>
            <a:lstStyle/>
            <a:p>
              <a:endParaRPr/>
            </a:p>
          </p:txBody>
        </p:sp>
        <p:sp>
          <p:nvSpPr>
            <p:cNvPr id="11" name="object 10"/>
            <p:cNvSpPr txBox="1"/>
            <p:nvPr/>
          </p:nvSpPr>
          <p:spPr>
            <a:xfrm>
              <a:off x="5273709" y="2544498"/>
              <a:ext cx="1397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panose="02020603050405020304"/>
                  <a:cs typeface="Times New Roman" panose="02020603050405020304"/>
                </a:rPr>
                <a:t>3</a:t>
              </a:r>
              <a:endParaRPr sz="1800">
                <a:latin typeface="Times New Roman" panose="02020603050405020304"/>
                <a:cs typeface="Times New Roman" panose="02020603050405020304"/>
              </a:endParaRPr>
            </a:p>
          </p:txBody>
        </p:sp>
        <p:sp>
          <p:nvSpPr>
            <p:cNvPr id="12" name="object 11"/>
            <p:cNvSpPr/>
            <p:nvPr/>
          </p:nvSpPr>
          <p:spPr>
            <a:xfrm>
              <a:off x="4014694" y="3009823"/>
              <a:ext cx="479425" cy="479425"/>
            </a:xfrm>
            <a:custGeom>
              <a:avLst/>
              <a:gdLst/>
              <a:ahLst/>
              <a:cxnLst/>
              <a:rect l="l" t="t" r="r" b="b"/>
              <a:pathLst>
                <a:path w="479425" h="479425">
                  <a:moveTo>
                    <a:pt x="239522" y="0"/>
                  </a:moveTo>
                  <a:lnTo>
                    <a:pt x="191249" y="4865"/>
                  </a:lnTo>
                  <a:lnTo>
                    <a:pt x="146289" y="18820"/>
                  </a:lnTo>
                  <a:lnTo>
                    <a:pt x="105602" y="40901"/>
                  </a:lnTo>
                  <a:lnTo>
                    <a:pt x="70154" y="70144"/>
                  </a:lnTo>
                  <a:lnTo>
                    <a:pt x="40906" y="105588"/>
                  </a:lnTo>
                  <a:lnTo>
                    <a:pt x="18822" y="146269"/>
                  </a:lnTo>
                  <a:lnTo>
                    <a:pt x="4866" y="191223"/>
                  </a:lnTo>
                  <a:lnTo>
                    <a:pt x="0" y="239488"/>
                  </a:lnTo>
                  <a:lnTo>
                    <a:pt x="4866" y="287754"/>
                  </a:lnTo>
                  <a:lnTo>
                    <a:pt x="18822" y="332708"/>
                  </a:lnTo>
                  <a:lnTo>
                    <a:pt x="40906" y="373388"/>
                  </a:lnTo>
                  <a:lnTo>
                    <a:pt x="70154" y="408832"/>
                  </a:lnTo>
                  <a:lnTo>
                    <a:pt x="105602" y="438075"/>
                  </a:lnTo>
                  <a:lnTo>
                    <a:pt x="146289" y="460156"/>
                  </a:lnTo>
                  <a:lnTo>
                    <a:pt x="191249" y="474111"/>
                  </a:lnTo>
                  <a:lnTo>
                    <a:pt x="239522" y="478976"/>
                  </a:lnTo>
                  <a:lnTo>
                    <a:pt x="287793" y="474111"/>
                  </a:lnTo>
                  <a:lnTo>
                    <a:pt x="332754" y="460156"/>
                  </a:lnTo>
                  <a:lnTo>
                    <a:pt x="373440" y="438075"/>
                  </a:lnTo>
                  <a:lnTo>
                    <a:pt x="408888" y="408832"/>
                  </a:lnTo>
                  <a:lnTo>
                    <a:pt x="438136" y="373388"/>
                  </a:lnTo>
                  <a:lnTo>
                    <a:pt x="460219" y="332708"/>
                  </a:lnTo>
                  <a:lnTo>
                    <a:pt x="474176" y="287754"/>
                  </a:lnTo>
                  <a:lnTo>
                    <a:pt x="479042" y="239488"/>
                  </a:lnTo>
                  <a:lnTo>
                    <a:pt x="474176" y="191223"/>
                  </a:lnTo>
                  <a:lnTo>
                    <a:pt x="460219" y="146269"/>
                  </a:lnTo>
                  <a:lnTo>
                    <a:pt x="438136" y="105588"/>
                  </a:lnTo>
                  <a:lnTo>
                    <a:pt x="408888" y="70144"/>
                  </a:lnTo>
                  <a:lnTo>
                    <a:pt x="373440" y="40901"/>
                  </a:lnTo>
                  <a:lnTo>
                    <a:pt x="332754" y="18820"/>
                  </a:lnTo>
                  <a:lnTo>
                    <a:pt x="287793" y="4865"/>
                  </a:lnTo>
                  <a:lnTo>
                    <a:pt x="239522" y="0"/>
                  </a:lnTo>
                  <a:close/>
                </a:path>
              </a:pathLst>
            </a:custGeom>
            <a:solidFill>
              <a:srgbClr val="A8D5D6"/>
            </a:solidFill>
          </p:spPr>
          <p:txBody>
            <a:bodyPr wrap="square" lIns="0" tIns="0" rIns="0" bIns="0" rtlCol="0"/>
            <a:lstStyle/>
            <a:p>
              <a:endParaRPr/>
            </a:p>
          </p:txBody>
        </p:sp>
        <p:sp>
          <p:nvSpPr>
            <p:cNvPr id="13" name="object 12"/>
            <p:cNvSpPr/>
            <p:nvPr/>
          </p:nvSpPr>
          <p:spPr>
            <a:xfrm>
              <a:off x="4014694" y="3009823"/>
              <a:ext cx="479425" cy="479425"/>
            </a:xfrm>
            <a:custGeom>
              <a:avLst/>
              <a:gdLst/>
              <a:ahLst/>
              <a:cxnLst/>
              <a:rect l="l" t="t" r="r" b="b"/>
              <a:pathLst>
                <a:path w="479425" h="479425">
                  <a:moveTo>
                    <a:pt x="0" y="239488"/>
                  </a:moveTo>
                  <a:lnTo>
                    <a:pt x="4866" y="191222"/>
                  </a:lnTo>
                  <a:lnTo>
                    <a:pt x="18822" y="146268"/>
                  </a:lnTo>
                  <a:lnTo>
                    <a:pt x="40906" y="105588"/>
                  </a:lnTo>
                  <a:lnTo>
                    <a:pt x="70154" y="70144"/>
                  </a:lnTo>
                  <a:lnTo>
                    <a:pt x="105602" y="40900"/>
                  </a:lnTo>
                  <a:lnTo>
                    <a:pt x="146288" y="18820"/>
                  </a:lnTo>
                  <a:lnTo>
                    <a:pt x="191249" y="4865"/>
                  </a:lnTo>
                  <a:lnTo>
                    <a:pt x="239521" y="0"/>
                  </a:lnTo>
                  <a:lnTo>
                    <a:pt x="287792" y="4865"/>
                  </a:lnTo>
                  <a:lnTo>
                    <a:pt x="332753" y="18820"/>
                  </a:lnTo>
                  <a:lnTo>
                    <a:pt x="373439" y="40900"/>
                  </a:lnTo>
                  <a:lnTo>
                    <a:pt x="408887" y="70144"/>
                  </a:lnTo>
                  <a:lnTo>
                    <a:pt x="438135" y="105588"/>
                  </a:lnTo>
                  <a:lnTo>
                    <a:pt x="460219" y="146268"/>
                  </a:lnTo>
                  <a:lnTo>
                    <a:pt x="474175" y="191222"/>
                  </a:lnTo>
                  <a:lnTo>
                    <a:pt x="479041" y="239488"/>
                  </a:lnTo>
                  <a:lnTo>
                    <a:pt x="474175" y="287753"/>
                  </a:lnTo>
                  <a:lnTo>
                    <a:pt x="460219" y="332707"/>
                  </a:lnTo>
                  <a:lnTo>
                    <a:pt x="438135" y="373387"/>
                  </a:lnTo>
                  <a:lnTo>
                    <a:pt x="408887" y="408831"/>
                  </a:lnTo>
                  <a:lnTo>
                    <a:pt x="373439" y="438075"/>
                  </a:lnTo>
                  <a:lnTo>
                    <a:pt x="332753" y="460155"/>
                  </a:lnTo>
                  <a:lnTo>
                    <a:pt x="287792" y="474110"/>
                  </a:lnTo>
                  <a:lnTo>
                    <a:pt x="239521" y="478975"/>
                  </a:lnTo>
                  <a:lnTo>
                    <a:pt x="191249" y="474110"/>
                  </a:lnTo>
                  <a:lnTo>
                    <a:pt x="146288" y="460155"/>
                  </a:lnTo>
                  <a:lnTo>
                    <a:pt x="105602" y="438075"/>
                  </a:lnTo>
                  <a:lnTo>
                    <a:pt x="70154" y="408831"/>
                  </a:lnTo>
                  <a:lnTo>
                    <a:pt x="40906" y="373387"/>
                  </a:lnTo>
                  <a:lnTo>
                    <a:pt x="18822" y="332707"/>
                  </a:lnTo>
                  <a:lnTo>
                    <a:pt x="4866" y="287753"/>
                  </a:lnTo>
                  <a:lnTo>
                    <a:pt x="0" y="239488"/>
                  </a:lnTo>
                  <a:close/>
                </a:path>
              </a:pathLst>
            </a:custGeom>
            <a:ln w="9524">
              <a:solidFill>
                <a:srgbClr val="000000"/>
              </a:solidFill>
            </a:ln>
          </p:spPr>
          <p:txBody>
            <a:bodyPr wrap="square" lIns="0" tIns="0" rIns="0" bIns="0" rtlCol="0"/>
            <a:lstStyle/>
            <a:p>
              <a:endParaRPr/>
            </a:p>
          </p:txBody>
        </p:sp>
        <p:sp>
          <p:nvSpPr>
            <p:cNvPr id="14" name="object 13"/>
            <p:cNvSpPr txBox="1"/>
            <p:nvPr/>
          </p:nvSpPr>
          <p:spPr>
            <a:xfrm>
              <a:off x="4181052" y="3084212"/>
              <a:ext cx="152400"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panose="02020603050405020304"/>
                  <a:cs typeface="Times New Roman" panose="02020603050405020304"/>
                </a:rPr>
                <a:t>4</a:t>
              </a:r>
              <a:endParaRPr sz="2000">
                <a:latin typeface="Times New Roman" panose="02020603050405020304"/>
                <a:cs typeface="Times New Roman" panose="02020603050405020304"/>
              </a:endParaRPr>
            </a:p>
          </p:txBody>
        </p:sp>
        <p:sp>
          <p:nvSpPr>
            <p:cNvPr id="15" name="object 14"/>
            <p:cNvSpPr/>
            <p:nvPr/>
          </p:nvSpPr>
          <p:spPr>
            <a:xfrm>
              <a:off x="5136518" y="3503827"/>
              <a:ext cx="479425" cy="479425"/>
            </a:xfrm>
            <a:custGeom>
              <a:avLst/>
              <a:gdLst/>
              <a:ahLst/>
              <a:cxnLst/>
              <a:rect l="l" t="t" r="r" b="b"/>
              <a:pathLst>
                <a:path w="479425" h="479425">
                  <a:moveTo>
                    <a:pt x="239520" y="0"/>
                  </a:moveTo>
                  <a:lnTo>
                    <a:pt x="191248" y="4866"/>
                  </a:lnTo>
                  <a:lnTo>
                    <a:pt x="146288" y="18822"/>
                  </a:lnTo>
                  <a:lnTo>
                    <a:pt x="105602" y="40906"/>
                  </a:lnTo>
                  <a:lnTo>
                    <a:pt x="70153" y="70154"/>
                  </a:lnTo>
                  <a:lnTo>
                    <a:pt x="40906" y="105602"/>
                  </a:lnTo>
                  <a:lnTo>
                    <a:pt x="18822" y="146288"/>
                  </a:lnTo>
                  <a:lnTo>
                    <a:pt x="4866" y="191249"/>
                  </a:lnTo>
                  <a:lnTo>
                    <a:pt x="0" y="239520"/>
                  </a:lnTo>
                  <a:lnTo>
                    <a:pt x="4866" y="287792"/>
                  </a:lnTo>
                  <a:lnTo>
                    <a:pt x="18822" y="332753"/>
                  </a:lnTo>
                  <a:lnTo>
                    <a:pt x="40906" y="373439"/>
                  </a:lnTo>
                  <a:lnTo>
                    <a:pt x="70153" y="408887"/>
                  </a:lnTo>
                  <a:lnTo>
                    <a:pt x="105602" y="438135"/>
                  </a:lnTo>
                  <a:lnTo>
                    <a:pt x="146288" y="460218"/>
                  </a:lnTo>
                  <a:lnTo>
                    <a:pt x="191248" y="474175"/>
                  </a:lnTo>
                  <a:lnTo>
                    <a:pt x="239520" y="479041"/>
                  </a:lnTo>
                  <a:lnTo>
                    <a:pt x="287792" y="474175"/>
                  </a:lnTo>
                  <a:lnTo>
                    <a:pt x="332752" y="460218"/>
                  </a:lnTo>
                  <a:lnTo>
                    <a:pt x="373438" y="438135"/>
                  </a:lnTo>
                  <a:lnTo>
                    <a:pt x="408887" y="408887"/>
                  </a:lnTo>
                  <a:lnTo>
                    <a:pt x="438134" y="373439"/>
                  </a:lnTo>
                  <a:lnTo>
                    <a:pt x="460218" y="332753"/>
                  </a:lnTo>
                  <a:lnTo>
                    <a:pt x="474175" y="287792"/>
                  </a:lnTo>
                  <a:lnTo>
                    <a:pt x="479041" y="239520"/>
                  </a:lnTo>
                  <a:lnTo>
                    <a:pt x="474175" y="191249"/>
                  </a:lnTo>
                  <a:lnTo>
                    <a:pt x="460218" y="146288"/>
                  </a:lnTo>
                  <a:lnTo>
                    <a:pt x="438134" y="105602"/>
                  </a:lnTo>
                  <a:lnTo>
                    <a:pt x="408887" y="70154"/>
                  </a:lnTo>
                  <a:lnTo>
                    <a:pt x="373438" y="40906"/>
                  </a:lnTo>
                  <a:lnTo>
                    <a:pt x="332752" y="18822"/>
                  </a:lnTo>
                  <a:lnTo>
                    <a:pt x="287792" y="4866"/>
                  </a:lnTo>
                  <a:lnTo>
                    <a:pt x="239520" y="0"/>
                  </a:lnTo>
                  <a:close/>
                </a:path>
              </a:pathLst>
            </a:custGeom>
            <a:solidFill>
              <a:srgbClr val="A8D5D6"/>
            </a:solidFill>
          </p:spPr>
          <p:txBody>
            <a:bodyPr wrap="square" lIns="0" tIns="0" rIns="0" bIns="0" rtlCol="0"/>
            <a:lstStyle/>
            <a:p>
              <a:endParaRPr/>
            </a:p>
          </p:txBody>
        </p:sp>
        <p:sp>
          <p:nvSpPr>
            <p:cNvPr id="16" name="object 15"/>
            <p:cNvSpPr/>
            <p:nvPr/>
          </p:nvSpPr>
          <p:spPr>
            <a:xfrm>
              <a:off x="5136519" y="3503827"/>
              <a:ext cx="479425" cy="479425"/>
            </a:xfrm>
            <a:custGeom>
              <a:avLst/>
              <a:gdLst/>
              <a:ahLst/>
              <a:cxnLst/>
              <a:rect l="l" t="t" r="r" b="b"/>
              <a:pathLst>
                <a:path w="479425" h="479425">
                  <a:moveTo>
                    <a:pt x="0" y="239520"/>
                  </a:moveTo>
                  <a:lnTo>
                    <a:pt x="4866" y="191249"/>
                  </a:lnTo>
                  <a:lnTo>
                    <a:pt x="18822" y="146288"/>
                  </a:lnTo>
                  <a:lnTo>
                    <a:pt x="40906" y="105602"/>
                  </a:lnTo>
                  <a:lnTo>
                    <a:pt x="70154" y="70154"/>
                  </a:lnTo>
                  <a:lnTo>
                    <a:pt x="105602" y="40906"/>
                  </a:lnTo>
                  <a:lnTo>
                    <a:pt x="146288" y="18822"/>
                  </a:lnTo>
                  <a:lnTo>
                    <a:pt x="191249" y="4866"/>
                  </a:lnTo>
                  <a:lnTo>
                    <a:pt x="239520" y="0"/>
                  </a:lnTo>
                  <a:lnTo>
                    <a:pt x="287792" y="4866"/>
                  </a:lnTo>
                  <a:lnTo>
                    <a:pt x="332753" y="18822"/>
                  </a:lnTo>
                  <a:lnTo>
                    <a:pt x="373439" y="40906"/>
                  </a:lnTo>
                  <a:lnTo>
                    <a:pt x="408887" y="70154"/>
                  </a:lnTo>
                  <a:lnTo>
                    <a:pt x="438135" y="105602"/>
                  </a:lnTo>
                  <a:lnTo>
                    <a:pt x="460219" y="146288"/>
                  </a:lnTo>
                  <a:lnTo>
                    <a:pt x="474175" y="191249"/>
                  </a:lnTo>
                  <a:lnTo>
                    <a:pt x="479042" y="239520"/>
                  </a:lnTo>
                  <a:lnTo>
                    <a:pt x="474175" y="287792"/>
                  </a:lnTo>
                  <a:lnTo>
                    <a:pt x="460219" y="332753"/>
                  </a:lnTo>
                  <a:lnTo>
                    <a:pt x="438135" y="373439"/>
                  </a:lnTo>
                  <a:lnTo>
                    <a:pt x="408887" y="408887"/>
                  </a:lnTo>
                  <a:lnTo>
                    <a:pt x="373439" y="438135"/>
                  </a:lnTo>
                  <a:lnTo>
                    <a:pt x="332753" y="460219"/>
                  </a:lnTo>
                  <a:lnTo>
                    <a:pt x="287792" y="474175"/>
                  </a:lnTo>
                  <a:lnTo>
                    <a:pt x="239520" y="479041"/>
                  </a:lnTo>
                  <a:lnTo>
                    <a:pt x="191249" y="474175"/>
                  </a:lnTo>
                  <a:lnTo>
                    <a:pt x="146288" y="460219"/>
                  </a:lnTo>
                  <a:lnTo>
                    <a:pt x="105602" y="438135"/>
                  </a:lnTo>
                  <a:lnTo>
                    <a:pt x="70154" y="408887"/>
                  </a:lnTo>
                  <a:lnTo>
                    <a:pt x="40906" y="373439"/>
                  </a:lnTo>
                  <a:lnTo>
                    <a:pt x="18822" y="332753"/>
                  </a:lnTo>
                  <a:lnTo>
                    <a:pt x="4866" y="287792"/>
                  </a:lnTo>
                  <a:lnTo>
                    <a:pt x="0" y="239520"/>
                  </a:lnTo>
                  <a:close/>
                </a:path>
              </a:pathLst>
            </a:custGeom>
            <a:ln w="9524">
              <a:solidFill>
                <a:srgbClr val="000000"/>
              </a:solidFill>
            </a:ln>
          </p:spPr>
          <p:txBody>
            <a:bodyPr wrap="square" lIns="0" tIns="0" rIns="0" bIns="0" rtlCol="0"/>
            <a:lstStyle/>
            <a:p>
              <a:endParaRPr/>
            </a:p>
          </p:txBody>
        </p:sp>
        <p:sp>
          <p:nvSpPr>
            <p:cNvPr id="17" name="object 16"/>
            <p:cNvSpPr txBox="1"/>
            <p:nvPr/>
          </p:nvSpPr>
          <p:spPr>
            <a:xfrm>
              <a:off x="5302874" y="3578247"/>
              <a:ext cx="152400"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panose="02020603050405020304"/>
                  <a:cs typeface="Times New Roman" panose="02020603050405020304"/>
                </a:rPr>
                <a:t>5</a:t>
              </a:r>
              <a:endParaRPr sz="2000">
                <a:latin typeface="Times New Roman" panose="02020603050405020304"/>
                <a:cs typeface="Times New Roman" panose="02020603050405020304"/>
              </a:endParaRPr>
            </a:p>
          </p:txBody>
        </p:sp>
        <p:sp>
          <p:nvSpPr>
            <p:cNvPr id="18" name="object 17"/>
            <p:cNvSpPr/>
            <p:nvPr/>
          </p:nvSpPr>
          <p:spPr>
            <a:xfrm>
              <a:off x="5335578" y="1050682"/>
              <a:ext cx="1270" cy="421005"/>
            </a:xfrm>
            <a:custGeom>
              <a:avLst/>
              <a:gdLst/>
              <a:ahLst/>
              <a:cxnLst/>
              <a:rect l="l" t="t" r="r" b="b"/>
              <a:pathLst>
                <a:path w="1270" h="421005">
                  <a:moveTo>
                    <a:pt x="1207" y="0"/>
                  </a:moveTo>
                  <a:lnTo>
                    <a:pt x="0" y="420880"/>
                  </a:lnTo>
                </a:path>
              </a:pathLst>
            </a:custGeom>
            <a:ln w="9524">
              <a:solidFill>
                <a:srgbClr val="000000"/>
              </a:solidFill>
            </a:ln>
          </p:spPr>
          <p:txBody>
            <a:bodyPr wrap="square" lIns="0" tIns="0" rIns="0" bIns="0" rtlCol="0"/>
            <a:lstStyle/>
            <a:p>
              <a:endParaRPr/>
            </a:p>
          </p:txBody>
        </p:sp>
        <p:sp>
          <p:nvSpPr>
            <p:cNvPr id="19" name="object 18"/>
            <p:cNvSpPr/>
            <p:nvPr/>
          </p:nvSpPr>
          <p:spPr>
            <a:xfrm>
              <a:off x="5276842" y="1380730"/>
              <a:ext cx="117908" cy="116037"/>
            </a:xfrm>
            <a:prstGeom prst="rect">
              <a:avLst/>
            </a:prstGeom>
            <a:blipFill>
              <a:blip r:embed="rId3" cstate="print"/>
              <a:stretch>
                <a:fillRect/>
              </a:stretch>
            </a:blipFill>
          </p:spPr>
          <p:txBody>
            <a:bodyPr wrap="square" lIns="0" tIns="0" rIns="0" bIns="0" rtlCol="0"/>
            <a:lstStyle/>
            <a:p>
              <a:endParaRPr/>
            </a:p>
          </p:txBody>
        </p:sp>
        <p:sp>
          <p:nvSpPr>
            <p:cNvPr id="20" name="object 19"/>
            <p:cNvSpPr/>
            <p:nvPr/>
          </p:nvSpPr>
          <p:spPr>
            <a:xfrm>
              <a:off x="5335506" y="2003704"/>
              <a:ext cx="5715" cy="412750"/>
            </a:xfrm>
            <a:custGeom>
              <a:avLst/>
              <a:gdLst/>
              <a:ahLst/>
              <a:cxnLst/>
              <a:rect l="l" t="t" r="r" b="b"/>
              <a:pathLst>
                <a:path w="5714" h="412750">
                  <a:moveTo>
                    <a:pt x="0" y="0"/>
                  </a:moveTo>
                  <a:lnTo>
                    <a:pt x="5236" y="412153"/>
                  </a:lnTo>
                </a:path>
              </a:pathLst>
            </a:custGeom>
            <a:ln w="9524">
              <a:solidFill>
                <a:srgbClr val="000000"/>
              </a:solidFill>
            </a:ln>
          </p:spPr>
          <p:txBody>
            <a:bodyPr wrap="square" lIns="0" tIns="0" rIns="0" bIns="0" rtlCol="0"/>
            <a:lstStyle/>
            <a:p>
              <a:endParaRPr/>
            </a:p>
          </p:txBody>
        </p:sp>
        <p:sp>
          <p:nvSpPr>
            <p:cNvPr id="21" name="object 20"/>
            <p:cNvSpPr/>
            <p:nvPr/>
          </p:nvSpPr>
          <p:spPr>
            <a:xfrm>
              <a:off x="5280829" y="2324592"/>
              <a:ext cx="117897" cy="116467"/>
            </a:xfrm>
            <a:prstGeom prst="rect">
              <a:avLst/>
            </a:prstGeom>
            <a:blipFill>
              <a:blip r:embed="rId4" cstate="print"/>
              <a:stretch>
                <a:fillRect/>
              </a:stretch>
            </a:blipFill>
          </p:spPr>
          <p:txBody>
            <a:bodyPr wrap="square" lIns="0" tIns="0" rIns="0" bIns="0" rtlCol="0"/>
            <a:lstStyle/>
            <a:p>
              <a:endParaRPr/>
            </a:p>
          </p:txBody>
        </p:sp>
        <p:sp>
          <p:nvSpPr>
            <p:cNvPr id="22" name="object 21"/>
            <p:cNvSpPr/>
            <p:nvPr/>
          </p:nvSpPr>
          <p:spPr>
            <a:xfrm>
              <a:off x="4254216" y="2694357"/>
              <a:ext cx="604520" cy="290830"/>
            </a:xfrm>
            <a:custGeom>
              <a:avLst/>
              <a:gdLst/>
              <a:ahLst/>
              <a:cxnLst/>
              <a:rect l="l" t="t" r="r" b="b"/>
              <a:pathLst>
                <a:path w="604520" h="290830">
                  <a:moveTo>
                    <a:pt x="604262" y="0"/>
                  </a:moveTo>
                  <a:lnTo>
                    <a:pt x="0" y="0"/>
                  </a:lnTo>
                  <a:lnTo>
                    <a:pt x="0" y="290260"/>
                  </a:lnTo>
                </a:path>
              </a:pathLst>
            </a:custGeom>
            <a:ln w="9524">
              <a:solidFill>
                <a:srgbClr val="000000"/>
              </a:solidFill>
            </a:ln>
          </p:spPr>
          <p:txBody>
            <a:bodyPr wrap="square" lIns="0" tIns="0" rIns="0" bIns="0" rtlCol="0"/>
            <a:lstStyle/>
            <a:p>
              <a:endParaRPr/>
            </a:p>
          </p:txBody>
        </p:sp>
        <p:sp>
          <p:nvSpPr>
            <p:cNvPr id="23" name="object 22"/>
            <p:cNvSpPr/>
            <p:nvPr/>
          </p:nvSpPr>
          <p:spPr>
            <a:xfrm>
              <a:off x="4195262" y="2893913"/>
              <a:ext cx="117909" cy="115910"/>
            </a:xfrm>
            <a:prstGeom prst="rect">
              <a:avLst/>
            </a:prstGeom>
            <a:blipFill>
              <a:blip r:embed="rId5" cstate="print"/>
              <a:stretch>
                <a:fillRect/>
              </a:stretch>
            </a:blipFill>
          </p:spPr>
          <p:txBody>
            <a:bodyPr wrap="square" lIns="0" tIns="0" rIns="0" bIns="0" rtlCol="0"/>
            <a:lstStyle/>
            <a:p>
              <a:endParaRPr/>
            </a:p>
          </p:txBody>
        </p:sp>
        <p:sp>
          <p:nvSpPr>
            <p:cNvPr id="24" name="object 23"/>
            <p:cNvSpPr/>
            <p:nvPr/>
          </p:nvSpPr>
          <p:spPr>
            <a:xfrm>
              <a:off x="5640764" y="2694358"/>
              <a:ext cx="774700" cy="1049020"/>
            </a:xfrm>
            <a:custGeom>
              <a:avLst/>
              <a:gdLst/>
              <a:ahLst/>
              <a:cxnLst/>
              <a:rect l="l" t="t" r="r" b="b"/>
              <a:pathLst>
                <a:path w="774700" h="1049020">
                  <a:moveTo>
                    <a:pt x="182675" y="0"/>
                  </a:moveTo>
                  <a:lnTo>
                    <a:pt x="774159" y="0"/>
                  </a:lnTo>
                  <a:lnTo>
                    <a:pt x="774159" y="1048989"/>
                  </a:lnTo>
                  <a:lnTo>
                    <a:pt x="0" y="1048989"/>
                  </a:lnTo>
                </a:path>
              </a:pathLst>
            </a:custGeom>
            <a:ln w="9524">
              <a:solidFill>
                <a:srgbClr val="000000"/>
              </a:solidFill>
            </a:ln>
          </p:spPr>
          <p:txBody>
            <a:bodyPr wrap="square" lIns="0" tIns="0" rIns="0" bIns="0" rtlCol="0"/>
            <a:lstStyle/>
            <a:p>
              <a:endParaRPr/>
            </a:p>
          </p:txBody>
        </p:sp>
        <p:sp>
          <p:nvSpPr>
            <p:cNvPr id="25" name="object 24"/>
            <p:cNvSpPr/>
            <p:nvPr/>
          </p:nvSpPr>
          <p:spPr>
            <a:xfrm>
              <a:off x="5615560" y="3684394"/>
              <a:ext cx="115909" cy="117908"/>
            </a:xfrm>
            <a:prstGeom prst="rect">
              <a:avLst/>
            </a:prstGeom>
            <a:blipFill>
              <a:blip r:embed="rId6" cstate="print"/>
              <a:stretch>
                <a:fillRect/>
              </a:stretch>
            </a:blipFill>
          </p:spPr>
          <p:txBody>
            <a:bodyPr wrap="square" lIns="0" tIns="0" rIns="0" bIns="0" rtlCol="0"/>
            <a:lstStyle/>
            <a:p>
              <a:endParaRPr/>
            </a:p>
          </p:txBody>
        </p:sp>
        <p:sp>
          <p:nvSpPr>
            <p:cNvPr id="26" name="object 25"/>
            <p:cNvSpPr/>
            <p:nvPr/>
          </p:nvSpPr>
          <p:spPr>
            <a:xfrm>
              <a:off x="4254216" y="3488799"/>
              <a:ext cx="857250" cy="254635"/>
            </a:xfrm>
            <a:custGeom>
              <a:avLst/>
              <a:gdLst/>
              <a:ahLst/>
              <a:cxnLst/>
              <a:rect l="l" t="t" r="r" b="b"/>
              <a:pathLst>
                <a:path w="857250" h="254635">
                  <a:moveTo>
                    <a:pt x="0" y="0"/>
                  </a:moveTo>
                  <a:lnTo>
                    <a:pt x="0" y="254549"/>
                  </a:lnTo>
                  <a:lnTo>
                    <a:pt x="857096" y="254549"/>
                  </a:lnTo>
                </a:path>
              </a:pathLst>
            </a:custGeom>
            <a:ln w="9524">
              <a:solidFill>
                <a:srgbClr val="000000"/>
              </a:solidFill>
            </a:ln>
          </p:spPr>
          <p:txBody>
            <a:bodyPr wrap="square" lIns="0" tIns="0" rIns="0" bIns="0" rtlCol="0"/>
            <a:lstStyle/>
            <a:p>
              <a:endParaRPr/>
            </a:p>
          </p:txBody>
        </p:sp>
        <p:sp>
          <p:nvSpPr>
            <p:cNvPr id="27" name="object 26"/>
            <p:cNvSpPr/>
            <p:nvPr/>
          </p:nvSpPr>
          <p:spPr>
            <a:xfrm>
              <a:off x="5020608" y="3684394"/>
              <a:ext cx="115909" cy="117908"/>
            </a:xfrm>
            <a:prstGeom prst="rect">
              <a:avLst/>
            </a:prstGeom>
            <a:blipFill>
              <a:blip r:embed="rId7" cstate="print"/>
              <a:stretch>
                <a:fillRect/>
              </a:stretch>
            </a:blipFill>
          </p:spPr>
          <p:txBody>
            <a:bodyPr wrap="square" lIns="0" tIns="0" rIns="0" bIns="0" rtlCol="0"/>
            <a:lstStyle/>
            <a:p>
              <a:endParaRPr/>
            </a:p>
          </p:txBody>
        </p:sp>
        <p:sp>
          <p:nvSpPr>
            <p:cNvPr id="28" name="object 27"/>
            <p:cNvSpPr/>
            <p:nvPr/>
          </p:nvSpPr>
          <p:spPr>
            <a:xfrm>
              <a:off x="3056237" y="4265321"/>
              <a:ext cx="965200" cy="507365"/>
            </a:xfrm>
            <a:custGeom>
              <a:avLst/>
              <a:gdLst/>
              <a:ahLst/>
              <a:cxnLst/>
              <a:rect l="l" t="t" r="r" b="b"/>
              <a:pathLst>
                <a:path w="965200" h="507364">
                  <a:moveTo>
                    <a:pt x="482479" y="0"/>
                  </a:moveTo>
                  <a:lnTo>
                    <a:pt x="0" y="253467"/>
                  </a:lnTo>
                  <a:lnTo>
                    <a:pt x="482479" y="506937"/>
                  </a:lnTo>
                  <a:lnTo>
                    <a:pt x="964958" y="253467"/>
                  </a:lnTo>
                  <a:lnTo>
                    <a:pt x="482479" y="0"/>
                  </a:lnTo>
                  <a:close/>
                </a:path>
              </a:pathLst>
            </a:custGeom>
            <a:solidFill>
              <a:srgbClr val="FFACA9"/>
            </a:solidFill>
          </p:spPr>
          <p:txBody>
            <a:bodyPr wrap="square" lIns="0" tIns="0" rIns="0" bIns="0" rtlCol="0"/>
            <a:lstStyle/>
            <a:p>
              <a:endParaRPr/>
            </a:p>
          </p:txBody>
        </p:sp>
        <p:sp>
          <p:nvSpPr>
            <p:cNvPr id="29" name="object 28"/>
            <p:cNvSpPr/>
            <p:nvPr/>
          </p:nvSpPr>
          <p:spPr>
            <a:xfrm>
              <a:off x="3056237" y="4265321"/>
              <a:ext cx="965200" cy="507365"/>
            </a:xfrm>
            <a:custGeom>
              <a:avLst/>
              <a:gdLst/>
              <a:ahLst/>
              <a:cxnLst/>
              <a:rect l="l" t="t" r="r" b="b"/>
              <a:pathLst>
                <a:path w="965200" h="507364">
                  <a:moveTo>
                    <a:pt x="0" y="253468"/>
                  </a:moveTo>
                  <a:lnTo>
                    <a:pt x="482479" y="0"/>
                  </a:lnTo>
                  <a:lnTo>
                    <a:pt x="964959" y="253468"/>
                  </a:lnTo>
                  <a:lnTo>
                    <a:pt x="482479" y="506936"/>
                  </a:lnTo>
                  <a:lnTo>
                    <a:pt x="0" y="253468"/>
                  </a:lnTo>
                  <a:close/>
                </a:path>
              </a:pathLst>
            </a:custGeom>
            <a:ln w="9524">
              <a:solidFill>
                <a:srgbClr val="000000"/>
              </a:solidFill>
            </a:ln>
          </p:spPr>
          <p:txBody>
            <a:bodyPr wrap="square" lIns="0" tIns="0" rIns="0" bIns="0" rtlCol="0"/>
            <a:lstStyle/>
            <a:p>
              <a:endParaRPr/>
            </a:p>
          </p:txBody>
        </p:sp>
        <p:sp>
          <p:nvSpPr>
            <p:cNvPr id="30" name="object 29"/>
            <p:cNvSpPr txBox="1"/>
            <p:nvPr/>
          </p:nvSpPr>
          <p:spPr>
            <a:xfrm>
              <a:off x="3471466" y="4368929"/>
              <a:ext cx="1397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panose="02020603050405020304"/>
                  <a:cs typeface="Times New Roman" panose="02020603050405020304"/>
                </a:rPr>
                <a:t>6</a:t>
              </a:r>
              <a:endParaRPr sz="1800">
                <a:latin typeface="Times New Roman" panose="02020603050405020304"/>
                <a:cs typeface="Times New Roman" panose="02020603050405020304"/>
              </a:endParaRPr>
            </a:p>
          </p:txBody>
        </p:sp>
        <p:sp>
          <p:nvSpPr>
            <p:cNvPr id="31" name="object 30"/>
            <p:cNvSpPr/>
            <p:nvPr/>
          </p:nvSpPr>
          <p:spPr>
            <a:xfrm>
              <a:off x="2511747" y="4768850"/>
              <a:ext cx="479425" cy="479425"/>
            </a:xfrm>
            <a:custGeom>
              <a:avLst/>
              <a:gdLst/>
              <a:ahLst/>
              <a:cxnLst/>
              <a:rect l="l" t="t" r="r" b="b"/>
              <a:pathLst>
                <a:path w="479425" h="479425">
                  <a:moveTo>
                    <a:pt x="239520" y="0"/>
                  </a:moveTo>
                  <a:lnTo>
                    <a:pt x="191249" y="4866"/>
                  </a:lnTo>
                  <a:lnTo>
                    <a:pt x="146288" y="18822"/>
                  </a:lnTo>
                  <a:lnTo>
                    <a:pt x="105602" y="40906"/>
                  </a:lnTo>
                  <a:lnTo>
                    <a:pt x="70154" y="70154"/>
                  </a:lnTo>
                  <a:lnTo>
                    <a:pt x="40906" y="105602"/>
                  </a:lnTo>
                  <a:lnTo>
                    <a:pt x="18822" y="146288"/>
                  </a:lnTo>
                  <a:lnTo>
                    <a:pt x="4866" y="191249"/>
                  </a:lnTo>
                  <a:lnTo>
                    <a:pt x="0" y="239520"/>
                  </a:lnTo>
                  <a:lnTo>
                    <a:pt x="4866" y="287792"/>
                  </a:lnTo>
                  <a:lnTo>
                    <a:pt x="18822" y="332753"/>
                  </a:lnTo>
                  <a:lnTo>
                    <a:pt x="40906" y="373439"/>
                  </a:lnTo>
                  <a:lnTo>
                    <a:pt x="70154" y="408887"/>
                  </a:lnTo>
                  <a:lnTo>
                    <a:pt x="105602" y="438135"/>
                  </a:lnTo>
                  <a:lnTo>
                    <a:pt x="146288" y="460218"/>
                  </a:lnTo>
                  <a:lnTo>
                    <a:pt x="191249" y="474175"/>
                  </a:lnTo>
                  <a:lnTo>
                    <a:pt x="239520" y="479041"/>
                  </a:lnTo>
                  <a:lnTo>
                    <a:pt x="287792" y="474175"/>
                  </a:lnTo>
                  <a:lnTo>
                    <a:pt x="332753" y="460218"/>
                  </a:lnTo>
                  <a:lnTo>
                    <a:pt x="373439" y="438135"/>
                  </a:lnTo>
                  <a:lnTo>
                    <a:pt x="408887" y="408887"/>
                  </a:lnTo>
                  <a:lnTo>
                    <a:pt x="438135" y="373439"/>
                  </a:lnTo>
                  <a:lnTo>
                    <a:pt x="460218" y="332753"/>
                  </a:lnTo>
                  <a:lnTo>
                    <a:pt x="474175" y="287792"/>
                  </a:lnTo>
                  <a:lnTo>
                    <a:pt x="479041" y="239520"/>
                  </a:lnTo>
                  <a:lnTo>
                    <a:pt x="474175" y="191249"/>
                  </a:lnTo>
                  <a:lnTo>
                    <a:pt x="460218" y="146288"/>
                  </a:lnTo>
                  <a:lnTo>
                    <a:pt x="438135" y="105602"/>
                  </a:lnTo>
                  <a:lnTo>
                    <a:pt x="408887" y="70154"/>
                  </a:lnTo>
                  <a:lnTo>
                    <a:pt x="373439" y="40906"/>
                  </a:lnTo>
                  <a:lnTo>
                    <a:pt x="332753" y="18822"/>
                  </a:lnTo>
                  <a:lnTo>
                    <a:pt x="287792" y="4866"/>
                  </a:lnTo>
                  <a:lnTo>
                    <a:pt x="239520" y="0"/>
                  </a:lnTo>
                  <a:close/>
                </a:path>
              </a:pathLst>
            </a:custGeom>
            <a:solidFill>
              <a:srgbClr val="A8D5D6"/>
            </a:solidFill>
          </p:spPr>
          <p:txBody>
            <a:bodyPr wrap="square" lIns="0" tIns="0" rIns="0" bIns="0" rtlCol="0"/>
            <a:lstStyle/>
            <a:p>
              <a:endParaRPr/>
            </a:p>
          </p:txBody>
        </p:sp>
        <p:sp>
          <p:nvSpPr>
            <p:cNvPr id="32" name="object 31"/>
            <p:cNvSpPr/>
            <p:nvPr/>
          </p:nvSpPr>
          <p:spPr>
            <a:xfrm>
              <a:off x="2511747" y="4768850"/>
              <a:ext cx="479425" cy="479425"/>
            </a:xfrm>
            <a:custGeom>
              <a:avLst/>
              <a:gdLst/>
              <a:ahLst/>
              <a:cxnLst/>
              <a:rect l="l" t="t" r="r" b="b"/>
              <a:pathLst>
                <a:path w="479425" h="479425">
                  <a:moveTo>
                    <a:pt x="0" y="239520"/>
                  </a:moveTo>
                  <a:lnTo>
                    <a:pt x="4866" y="191249"/>
                  </a:lnTo>
                  <a:lnTo>
                    <a:pt x="18822" y="146288"/>
                  </a:lnTo>
                  <a:lnTo>
                    <a:pt x="40906" y="105602"/>
                  </a:lnTo>
                  <a:lnTo>
                    <a:pt x="70154" y="70154"/>
                  </a:lnTo>
                  <a:lnTo>
                    <a:pt x="105602" y="40906"/>
                  </a:lnTo>
                  <a:lnTo>
                    <a:pt x="146288" y="18822"/>
                  </a:lnTo>
                  <a:lnTo>
                    <a:pt x="191249" y="4866"/>
                  </a:lnTo>
                  <a:lnTo>
                    <a:pt x="239520" y="0"/>
                  </a:lnTo>
                  <a:lnTo>
                    <a:pt x="287792" y="4866"/>
                  </a:lnTo>
                  <a:lnTo>
                    <a:pt x="332753" y="18822"/>
                  </a:lnTo>
                  <a:lnTo>
                    <a:pt x="373439" y="40906"/>
                  </a:lnTo>
                  <a:lnTo>
                    <a:pt x="408887" y="70154"/>
                  </a:lnTo>
                  <a:lnTo>
                    <a:pt x="438135" y="105602"/>
                  </a:lnTo>
                  <a:lnTo>
                    <a:pt x="460219" y="146288"/>
                  </a:lnTo>
                  <a:lnTo>
                    <a:pt x="474175" y="191249"/>
                  </a:lnTo>
                  <a:lnTo>
                    <a:pt x="479041" y="239520"/>
                  </a:lnTo>
                  <a:lnTo>
                    <a:pt x="474175" y="287792"/>
                  </a:lnTo>
                  <a:lnTo>
                    <a:pt x="460219" y="332753"/>
                  </a:lnTo>
                  <a:lnTo>
                    <a:pt x="438135" y="373439"/>
                  </a:lnTo>
                  <a:lnTo>
                    <a:pt x="408887" y="408887"/>
                  </a:lnTo>
                  <a:lnTo>
                    <a:pt x="373439" y="438135"/>
                  </a:lnTo>
                  <a:lnTo>
                    <a:pt x="332753" y="460219"/>
                  </a:lnTo>
                  <a:lnTo>
                    <a:pt x="287792" y="474175"/>
                  </a:lnTo>
                  <a:lnTo>
                    <a:pt x="239520" y="479041"/>
                  </a:lnTo>
                  <a:lnTo>
                    <a:pt x="191249" y="474175"/>
                  </a:lnTo>
                  <a:lnTo>
                    <a:pt x="146288" y="460219"/>
                  </a:lnTo>
                  <a:lnTo>
                    <a:pt x="105602" y="438135"/>
                  </a:lnTo>
                  <a:lnTo>
                    <a:pt x="70154" y="408887"/>
                  </a:lnTo>
                  <a:lnTo>
                    <a:pt x="40906" y="373439"/>
                  </a:lnTo>
                  <a:lnTo>
                    <a:pt x="18822" y="332753"/>
                  </a:lnTo>
                  <a:lnTo>
                    <a:pt x="4866" y="287792"/>
                  </a:lnTo>
                  <a:lnTo>
                    <a:pt x="0" y="239520"/>
                  </a:lnTo>
                  <a:close/>
                </a:path>
              </a:pathLst>
            </a:custGeom>
            <a:ln w="9524">
              <a:solidFill>
                <a:srgbClr val="000000"/>
              </a:solidFill>
            </a:ln>
          </p:spPr>
          <p:txBody>
            <a:bodyPr wrap="square" lIns="0" tIns="0" rIns="0" bIns="0" rtlCol="0"/>
            <a:lstStyle/>
            <a:p>
              <a:endParaRPr/>
            </a:p>
          </p:txBody>
        </p:sp>
        <p:sp>
          <p:nvSpPr>
            <p:cNvPr id="33" name="object 32"/>
            <p:cNvSpPr txBox="1"/>
            <p:nvPr/>
          </p:nvSpPr>
          <p:spPr>
            <a:xfrm>
              <a:off x="2678103" y="4843270"/>
              <a:ext cx="152400"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panose="02020603050405020304"/>
                  <a:cs typeface="Times New Roman" panose="02020603050405020304"/>
                </a:rPr>
                <a:t>7</a:t>
              </a:r>
              <a:endParaRPr sz="2000">
                <a:latin typeface="Times New Roman" panose="02020603050405020304"/>
                <a:cs typeface="Times New Roman" panose="02020603050405020304"/>
              </a:endParaRPr>
            </a:p>
          </p:txBody>
        </p:sp>
        <p:sp>
          <p:nvSpPr>
            <p:cNvPr id="34" name="object 33"/>
            <p:cNvSpPr/>
            <p:nvPr/>
          </p:nvSpPr>
          <p:spPr>
            <a:xfrm>
              <a:off x="4169079" y="4757949"/>
              <a:ext cx="479425" cy="479425"/>
            </a:xfrm>
            <a:custGeom>
              <a:avLst/>
              <a:gdLst/>
              <a:ahLst/>
              <a:cxnLst/>
              <a:rect l="l" t="t" r="r" b="b"/>
              <a:pathLst>
                <a:path w="479425" h="479425">
                  <a:moveTo>
                    <a:pt x="239520" y="0"/>
                  </a:moveTo>
                  <a:lnTo>
                    <a:pt x="191249" y="4866"/>
                  </a:lnTo>
                  <a:lnTo>
                    <a:pt x="146288" y="18822"/>
                  </a:lnTo>
                  <a:lnTo>
                    <a:pt x="105602" y="40906"/>
                  </a:lnTo>
                  <a:lnTo>
                    <a:pt x="70154" y="70153"/>
                  </a:lnTo>
                  <a:lnTo>
                    <a:pt x="40906" y="105602"/>
                  </a:lnTo>
                  <a:lnTo>
                    <a:pt x="18822" y="146288"/>
                  </a:lnTo>
                  <a:lnTo>
                    <a:pt x="4866" y="191248"/>
                  </a:lnTo>
                  <a:lnTo>
                    <a:pt x="0" y="239520"/>
                  </a:lnTo>
                  <a:lnTo>
                    <a:pt x="4866" y="287792"/>
                  </a:lnTo>
                  <a:lnTo>
                    <a:pt x="18822" y="332752"/>
                  </a:lnTo>
                  <a:lnTo>
                    <a:pt x="40906" y="373438"/>
                  </a:lnTo>
                  <a:lnTo>
                    <a:pt x="70154" y="408887"/>
                  </a:lnTo>
                  <a:lnTo>
                    <a:pt x="105602" y="438134"/>
                  </a:lnTo>
                  <a:lnTo>
                    <a:pt x="146288" y="460218"/>
                  </a:lnTo>
                  <a:lnTo>
                    <a:pt x="191249" y="474175"/>
                  </a:lnTo>
                  <a:lnTo>
                    <a:pt x="239520" y="479041"/>
                  </a:lnTo>
                  <a:lnTo>
                    <a:pt x="287792" y="474175"/>
                  </a:lnTo>
                  <a:lnTo>
                    <a:pt x="332753" y="460218"/>
                  </a:lnTo>
                  <a:lnTo>
                    <a:pt x="373439" y="438134"/>
                  </a:lnTo>
                  <a:lnTo>
                    <a:pt x="408887" y="408887"/>
                  </a:lnTo>
                  <a:lnTo>
                    <a:pt x="438135" y="373438"/>
                  </a:lnTo>
                  <a:lnTo>
                    <a:pt x="460218" y="332752"/>
                  </a:lnTo>
                  <a:lnTo>
                    <a:pt x="474175" y="287792"/>
                  </a:lnTo>
                  <a:lnTo>
                    <a:pt x="479041" y="239520"/>
                  </a:lnTo>
                  <a:lnTo>
                    <a:pt x="474175" y="191248"/>
                  </a:lnTo>
                  <a:lnTo>
                    <a:pt x="460218" y="146288"/>
                  </a:lnTo>
                  <a:lnTo>
                    <a:pt x="438135" y="105602"/>
                  </a:lnTo>
                  <a:lnTo>
                    <a:pt x="408887" y="70153"/>
                  </a:lnTo>
                  <a:lnTo>
                    <a:pt x="373439" y="40906"/>
                  </a:lnTo>
                  <a:lnTo>
                    <a:pt x="332753" y="18822"/>
                  </a:lnTo>
                  <a:lnTo>
                    <a:pt x="287792" y="4866"/>
                  </a:lnTo>
                  <a:lnTo>
                    <a:pt x="239520" y="0"/>
                  </a:lnTo>
                  <a:close/>
                </a:path>
              </a:pathLst>
            </a:custGeom>
            <a:solidFill>
              <a:srgbClr val="A8D5D6"/>
            </a:solidFill>
          </p:spPr>
          <p:txBody>
            <a:bodyPr wrap="square" lIns="0" tIns="0" rIns="0" bIns="0" rtlCol="0"/>
            <a:lstStyle/>
            <a:p>
              <a:endParaRPr/>
            </a:p>
          </p:txBody>
        </p:sp>
        <p:sp>
          <p:nvSpPr>
            <p:cNvPr id="35" name="object 34"/>
            <p:cNvSpPr/>
            <p:nvPr/>
          </p:nvSpPr>
          <p:spPr>
            <a:xfrm>
              <a:off x="4169079" y="4757949"/>
              <a:ext cx="479425" cy="479425"/>
            </a:xfrm>
            <a:custGeom>
              <a:avLst/>
              <a:gdLst/>
              <a:ahLst/>
              <a:cxnLst/>
              <a:rect l="l" t="t" r="r" b="b"/>
              <a:pathLst>
                <a:path w="479425" h="479425">
                  <a:moveTo>
                    <a:pt x="0" y="239520"/>
                  </a:moveTo>
                  <a:lnTo>
                    <a:pt x="4866" y="191249"/>
                  </a:lnTo>
                  <a:lnTo>
                    <a:pt x="18822" y="146288"/>
                  </a:lnTo>
                  <a:lnTo>
                    <a:pt x="40906" y="105602"/>
                  </a:lnTo>
                  <a:lnTo>
                    <a:pt x="70154" y="70154"/>
                  </a:lnTo>
                  <a:lnTo>
                    <a:pt x="105602" y="40906"/>
                  </a:lnTo>
                  <a:lnTo>
                    <a:pt x="146288" y="18822"/>
                  </a:lnTo>
                  <a:lnTo>
                    <a:pt x="191249" y="4866"/>
                  </a:lnTo>
                  <a:lnTo>
                    <a:pt x="239521" y="0"/>
                  </a:lnTo>
                  <a:lnTo>
                    <a:pt x="287792" y="4866"/>
                  </a:lnTo>
                  <a:lnTo>
                    <a:pt x="332753" y="18822"/>
                  </a:lnTo>
                  <a:lnTo>
                    <a:pt x="373439" y="40906"/>
                  </a:lnTo>
                  <a:lnTo>
                    <a:pt x="408887" y="70154"/>
                  </a:lnTo>
                  <a:lnTo>
                    <a:pt x="438135" y="105602"/>
                  </a:lnTo>
                  <a:lnTo>
                    <a:pt x="460219" y="146288"/>
                  </a:lnTo>
                  <a:lnTo>
                    <a:pt x="474175" y="191249"/>
                  </a:lnTo>
                  <a:lnTo>
                    <a:pt x="479042" y="239520"/>
                  </a:lnTo>
                  <a:lnTo>
                    <a:pt x="474175" y="287792"/>
                  </a:lnTo>
                  <a:lnTo>
                    <a:pt x="460219" y="332753"/>
                  </a:lnTo>
                  <a:lnTo>
                    <a:pt x="438135" y="373439"/>
                  </a:lnTo>
                  <a:lnTo>
                    <a:pt x="408887" y="408887"/>
                  </a:lnTo>
                  <a:lnTo>
                    <a:pt x="373439" y="438135"/>
                  </a:lnTo>
                  <a:lnTo>
                    <a:pt x="332753" y="460219"/>
                  </a:lnTo>
                  <a:lnTo>
                    <a:pt x="287792" y="474175"/>
                  </a:lnTo>
                  <a:lnTo>
                    <a:pt x="239521" y="479041"/>
                  </a:lnTo>
                  <a:lnTo>
                    <a:pt x="191249" y="474175"/>
                  </a:lnTo>
                  <a:lnTo>
                    <a:pt x="146288" y="460219"/>
                  </a:lnTo>
                  <a:lnTo>
                    <a:pt x="105602" y="438135"/>
                  </a:lnTo>
                  <a:lnTo>
                    <a:pt x="70154" y="408887"/>
                  </a:lnTo>
                  <a:lnTo>
                    <a:pt x="40906" y="373439"/>
                  </a:lnTo>
                  <a:lnTo>
                    <a:pt x="18822" y="332753"/>
                  </a:lnTo>
                  <a:lnTo>
                    <a:pt x="4866" y="287792"/>
                  </a:lnTo>
                  <a:lnTo>
                    <a:pt x="0" y="239520"/>
                  </a:lnTo>
                  <a:close/>
                </a:path>
              </a:pathLst>
            </a:custGeom>
            <a:ln w="9524">
              <a:solidFill>
                <a:srgbClr val="000000"/>
              </a:solidFill>
            </a:ln>
          </p:spPr>
          <p:txBody>
            <a:bodyPr wrap="square" lIns="0" tIns="0" rIns="0" bIns="0" rtlCol="0"/>
            <a:lstStyle/>
            <a:p>
              <a:endParaRPr/>
            </a:p>
          </p:txBody>
        </p:sp>
        <p:sp>
          <p:nvSpPr>
            <p:cNvPr id="36" name="object 35"/>
            <p:cNvSpPr txBox="1"/>
            <p:nvPr/>
          </p:nvSpPr>
          <p:spPr>
            <a:xfrm>
              <a:off x="4335435" y="4832370"/>
              <a:ext cx="152400"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panose="02020603050405020304"/>
                  <a:cs typeface="Times New Roman" panose="02020603050405020304"/>
                </a:rPr>
                <a:t>8</a:t>
              </a:r>
              <a:endParaRPr sz="2000">
                <a:latin typeface="Times New Roman" panose="02020603050405020304"/>
                <a:cs typeface="Times New Roman" panose="02020603050405020304"/>
              </a:endParaRPr>
            </a:p>
          </p:txBody>
        </p:sp>
        <p:sp>
          <p:nvSpPr>
            <p:cNvPr id="37" name="object 36"/>
            <p:cNvSpPr/>
            <p:nvPr/>
          </p:nvSpPr>
          <p:spPr>
            <a:xfrm>
              <a:off x="3538718" y="1750235"/>
              <a:ext cx="1314450" cy="2490470"/>
            </a:xfrm>
            <a:custGeom>
              <a:avLst/>
              <a:gdLst/>
              <a:ahLst/>
              <a:cxnLst/>
              <a:rect l="l" t="t" r="r" b="b"/>
              <a:pathLst>
                <a:path w="1314450" h="2490470">
                  <a:moveTo>
                    <a:pt x="1314308" y="0"/>
                  </a:moveTo>
                  <a:lnTo>
                    <a:pt x="0" y="0"/>
                  </a:lnTo>
                  <a:lnTo>
                    <a:pt x="0" y="2489880"/>
                  </a:lnTo>
                </a:path>
              </a:pathLst>
            </a:custGeom>
            <a:ln w="9524">
              <a:solidFill>
                <a:srgbClr val="000000"/>
              </a:solidFill>
            </a:ln>
          </p:spPr>
          <p:txBody>
            <a:bodyPr wrap="square" lIns="0" tIns="0" rIns="0" bIns="0" rtlCol="0"/>
            <a:lstStyle/>
            <a:p>
              <a:endParaRPr/>
            </a:p>
          </p:txBody>
        </p:sp>
        <p:sp>
          <p:nvSpPr>
            <p:cNvPr id="38" name="object 37"/>
            <p:cNvSpPr/>
            <p:nvPr/>
          </p:nvSpPr>
          <p:spPr>
            <a:xfrm>
              <a:off x="3479764" y="4149412"/>
              <a:ext cx="117908" cy="115909"/>
            </a:xfrm>
            <a:prstGeom prst="rect">
              <a:avLst/>
            </a:prstGeom>
            <a:blipFill>
              <a:blip r:embed="rId8" cstate="print"/>
              <a:stretch>
                <a:fillRect/>
              </a:stretch>
            </a:blipFill>
          </p:spPr>
          <p:txBody>
            <a:bodyPr wrap="square" lIns="0" tIns="0" rIns="0" bIns="0" rtlCol="0"/>
            <a:lstStyle/>
            <a:p>
              <a:endParaRPr/>
            </a:p>
          </p:txBody>
        </p:sp>
        <p:sp>
          <p:nvSpPr>
            <p:cNvPr id="39" name="object 38"/>
            <p:cNvSpPr/>
            <p:nvPr/>
          </p:nvSpPr>
          <p:spPr>
            <a:xfrm>
              <a:off x="5376038" y="1750235"/>
              <a:ext cx="2875915" cy="2520315"/>
            </a:xfrm>
            <a:custGeom>
              <a:avLst/>
              <a:gdLst/>
              <a:ahLst/>
              <a:cxnLst/>
              <a:rect l="l" t="t" r="r" b="b"/>
              <a:pathLst>
                <a:path w="2875915" h="2520315">
                  <a:moveTo>
                    <a:pt x="0" y="2232634"/>
                  </a:moveTo>
                  <a:lnTo>
                    <a:pt x="0" y="2519907"/>
                  </a:lnTo>
                  <a:lnTo>
                    <a:pt x="2875479" y="2519907"/>
                  </a:lnTo>
                  <a:lnTo>
                    <a:pt x="2875479" y="0"/>
                  </a:lnTo>
                  <a:lnTo>
                    <a:pt x="467151" y="0"/>
                  </a:lnTo>
                </a:path>
              </a:pathLst>
            </a:custGeom>
            <a:ln w="9524">
              <a:solidFill>
                <a:srgbClr val="000000"/>
              </a:solidFill>
            </a:ln>
          </p:spPr>
          <p:txBody>
            <a:bodyPr wrap="square" lIns="0" tIns="0" rIns="0" bIns="0" rtlCol="0"/>
            <a:lstStyle/>
            <a:p>
              <a:endParaRPr/>
            </a:p>
          </p:txBody>
        </p:sp>
        <p:sp>
          <p:nvSpPr>
            <p:cNvPr id="40" name="object 39"/>
            <p:cNvSpPr/>
            <p:nvPr/>
          </p:nvSpPr>
          <p:spPr>
            <a:xfrm>
              <a:off x="5817985" y="1691281"/>
              <a:ext cx="115909" cy="117908"/>
            </a:xfrm>
            <a:prstGeom prst="rect">
              <a:avLst/>
            </a:prstGeom>
            <a:blipFill>
              <a:blip r:embed="rId9" cstate="print"/>
              <a:stretch>
                <a:fillRect/>
              </a:stretch>
            </a:blipFill>
          </p:spPr>
          <p:txBody>
            <a:bodyPr wrap="square" lIns="0" tIns="0" rIns="0" bIns="0" rtlCol="0"/>
            <a:lstStyle/>
            <a:p>
              <a:endParaRPr/>
            </a:p>
          </p:txBody>
        </p:sp>
        <p:sp>
          <p:nvSpPr>
            <p:cNvPr id="41" name="object 40"/>
            <p:cNvSpPr/>
            <p:nvPr/>
          </p:nvSpPr>
          <p:spPr>
            <a:xfrm>
              <a:off x="2751269" y="4518790"/>
              <a:ext cx="305435" cy="225425"/>
            </a:xfrm>
            <a:custGeom>
              <a:avLst/>
              <a:gdLst/>
              <a:ahLst/>
              <a:cxnLst/>
              <a:rect l="l" t="t" r="r" b="b"/>
              <a:pathLst>
                <a:path w="305435" h="225425">
                  <a:moveTo>
                    <a:pt x="304967" y="0"/>
                  </a:moveTo>
                  <a:lnTo>
                    <a:pt x="0" y="0"/>
                  </a:lnTo>
                  <a:lnTo>
                    <a:pt x="0" y="224855"/>
                  </a:lnTo>
                </a:path>
              </a:pathLst>
            </a:custGeom>
            <a:ln w="9524">
              <a:solidFill>
                <a:srgbClr val="000000"/>
              </a:solidFill>
            </a:ln>
          </p:spPr>
          <p:txBody>
            <a:bodyPr wrap="square" lIns="0" tIns="0" rIns="0" bIns="0" rtlCol="0"/>
            <a:lstStyle/>
            <a:p>
              <a:endParaRPr/>
            </a:p>
          </p:txBody>
        </p:sp>
        <p:sp>
          <p:nvSpPr>
            <p:cNvPr id="42" name="object 41"/>
            <p:cNvSpPr/>
            <p:nvPr/>
          </p:nvSpPr>
          <p:spPr>
            <a:xfrm>
              <a:off x="2692314" y="4652940"/>
              <a:ext cx="117908" cy="115909"/>
            </a:xfrm>
            <a:prstGeom prst="rect">
              <a:avLst/>
            </a:prstGeom>
            <a:blipFill>
              <a:blip r:embed="rId5" cstate="print"/>
              <a:stretch>
                <a:fillRect/>
              </a:stretch>
            </a:blipFill>
          </p:spPr>
          <p:txBody>
            <a:bodyPr wrap="square" lIns="0" tIns="0" rIns="0" bIns="0" rtlCol="0"/>
            <a:lstStyle/>
            <a:p>
              <a:endParaRPr/>
            </a:p>
          </p:txBody>
        </p:sp>
        <p:sp>
          <p:nvSpPr>
            <p:cNvPr id="43" name="object 42"/>
            <p:cNvSpPr/>
            <p:nvPr/>
          </p:nvSpPr>
          <p:spPr>
            <a:xfrm>
              <a:off x="4021197" y="4518790"/>
              <a:ext cx="387350" cy="213995"/>
            </a:xfrm>
            <a:custGeom>
              <a:avLst/>
              <a:gdLst/>
              <a:ahLst/>
              <a:cxnLst/>
              <a:rect l="l" t="t" r="r" b="b"/>
              <a:pathLst>
                <a:path w="387350" h="213995">
                  <a:moveTo>
                    <a:pt x="0" y="0"/>
                  </a:moveTo>
                  <a:lnTo>
                    <a:pt x="387349" y="0"/>
                  </a:lnTo>
                  <a:lnTo>
                    <a:pt x="387349" y="213713"/>
                  </a:lnTo>
                </a:path>
              </a:pathLst>
            </a:custGeom>
            <a:ln w="9524">
              <a:solidFill>
                <a:srgbClr val="000000"/>
              </a:solidFill>
            </a:ln>
          </p:spPr>
          <p:txBody>
            <a:bodyPr wrap="square" lIns="0" tIns="0" rIns="0" bIns="0" rtlCol="0"/>
            <a:lstStyle/>
            <a:p>
              <a:endParaRPr/>
            </a:p>
          </p:txBody>
        </p:sp>
        <p:sp>
          <p:nvSpPr>
            <p:cNvPr id="44" name="object 43"/>
            <p:cNvSpPr/>
            <p:nvPr/>
          </p:nvSpPr>
          <p:spPr>
            <a:xfrm>
              <a:off x="4349593" y="4641800"/>
              <a:ext cx="117908" cy="115909"/>
            </a:xfrm>
            <a:prstGeom prst="rect">
              <a:avLst/>
            </a:prstGeom>
            <a:blipFill>
              <a:blip r:embed="rId10" cstate="print"/>
              <a:stretch>
                <a:fillRect/>
              </a:stretch>
            </a:blipFill>
          </p:spPr>
          <p:txBody>
            <a:bodyPr wrap="square" lIns="0" tIns="0" rIns="0" bIns="0" rtlCol="0"/>
            <a:lstStyle/>
            <a:p>
              <a:endParaRPr/>
            </a:p>
          </p:txBody>
        </p:sp>
        <p:sp>
          <p:nvSpPr>
            <p:cNvPr id="45" name="object 44"/>
            <p:cNvSpPr txBox="1"/>
            <p:nvPr/>
          </p:nvSpPr>
          <p:spPr>
            <a:xfrm>
              <a:off x="5076906" y="2067286"/>
              <a:ext cx="16129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T</a:t>
              </a:r>
              <a:endParaRPr sz="1600">
                <a:latin typeface="Times New Roman" panose="02020603050405020304"/>
                <a:cs typeface="Times New Roman" panose="02020603050405020304"/>
              </a:endParaRPr>
            </a:p>
          </p:txBody>
        </p:sp>
        <p:sp>
          <p:nvSpPr>
            <p:cNvPr id="46" name="object 45"/>
            <p:cNvSpPr txBox="1"/>
            <p:nvPr/>
          </p:nvSpPr>
          <p:spPr>
            <a:xfrm>
              <a:off x="4656034" y="1430605"/>
              <a:ext cx="14986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F</a:t>
              </a:r>
              <a:endParaRPr sz="1600">
                <a:latin typeface="Times New Roman" panose="02020603050405020304"/>
                <a:cs typeface="Times New Roman" panose="02020603050405020304"/>
              </a:endParaRPr>
            </a:p>
          </p:txBody>
        </p:sp>
        <p:sp>
          <p:nvSpPr>
            <p:cNvPr id="47" name="object 46"/>
            <p:cNvSpPr txBox="1"/>
            <p:nvPr/>
          </p:nvSpPr>
          <p:spPr>
            <a:xfrm>
              <a:off x="4591156" y="2748124"/>
              <a:ext cx="16129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T</a:t>
              </a:r>
              <a:endParaRPr sz="1600">
                <a:latin typeface="Times New Roman" panose="02020603050405020304"/>
                <a:cs typeface="Times New Roman" panose="02020603050405020304"/>
              </a:endParaRPr>
            </a:p>
          </p:txBody>
        </p:sp>
        <p:sp>
          <p:nvSpPr>
            <p:cNvPr id="48" name="object 47"/>
            <p:cNvSpPr txBox="1"/>
            <p:nvPr/>
          </p:nvSpPr>
          <p:spPr>
            <a:xfrm>
              <a:off x="5867955" y="2747578"/>
              <a:ext cx="14986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F</a:t>
              </a:r>
              <a:endParaRPr sz="1600">
                <a:latin typeface="Times New Roman" panose="02020603050405020304"/>
                <a:cs typeface="Times New Roman" panose="02020603050405020304"/>
              </a:endParaRPr>
            </a:p>
          </p:txBody>
        </p:sp>
        <p:sp>
          <p:nvSpPr>
            <p:cNvPr id="49" name="object 48"/>
            <p:cNvSpPr txBox="1"/>
            <p:nvPr/>
          </p:nvSpPr>
          <p:spPr>
            <a:xfrm>
              <a:off x="2898480" y="4271123"/>
              <a:ext cx="16129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T</a:t>
              </a:r>
              <a:endParaRPr sz="1600">
                <a:latin typeface="Times New Roman" panose="02020603050405020304"/>
                <a:cs typeface="Times New Roman" panose="02020603050405020304"/>
              </a:endParaRPr>
            </a:p>
          </p:txBody>
        </p:sp>
        <p:sp>
          <p:nvSpPr>
            <p:cNvPr id="50" name="object 49"/>
            <p:cNvSpPr txBox="1"/>
            <p:nvPr/>
          </p:nvSpPr>
          <p:spPr>
            <a:xfrm>
              <a:off x="4010639" y="4271123"/>
              <a:ext cx="149860"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Times New Roman" panose="02020603050405020304"/>
                  <a:cs typeface="Times New Roman" panose="02020603050405020304"/>
                </a:rPr>
                <a:t>F</a:t>
              </a:r>
              <a:endParaRPr sz="1600">
                <a:latin typeface="Times New Roman" panose="02020603050405020304"/>
                <a:cs typeface="Times New Roman" panose="02020603050405020304"/>
              </a:endParaRPr>
            </a:p>
          </p:txBody>
        </p:sp>
        <p:sp>
          <p:nvSpPr>
            <p:cNvPr id="51" name="object 51"/>
            <p:cNvSpPr txBox="1"/>
            <p:nvPr/>
          </p:nvSpPr>
          <p:spPr>
            <a:xfrm>
              <a:off x="949546" y="1781985"/>
              <a:ext cx="2409825"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panose="02020603050405020304"/>
                  <a:cs typeface="Times New Roman" panose="02020603050405020304"/>
                </a:rPr>
                <a:t>Data set must </a:t>
              </a:r>
              <a:r>
                <a:rPr sz="2000" dirty="0">
                  <a:latin typeface="Times New Roman" panose="02020603050405020304"/>
                  <a:cs typeface="Times New Roman" panose="02020603050405020304"/>
                </a:rPr>
                <a:t>be</a:t>
              </a:r>
              <a:r>
                <a:rPr sz="2000" spc="-55"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empty</a:t>
              </a:r>
              <a:endParaRPr sz="2000">
                <a:latin typeface="Times New Roman" panose="02020603050405020304"/>
                <a:cs typeface="Times New Roman" panose="02020603050405020304"/>
              </a:endParaRPr>
            </a:p>
          </p:txBody>
        </p:sp>
        <p:sp>
          <p:nvSpPr>
            <p:cNvPr id="52" name="object 52"/>
            <p:cNvSpPr txBox="1"/>
            <p:nvPr/>
          </p:nvSpPr>
          <p:spPr>
            <a:xfrm>
              <a:off x="5434238" y="2035073"/>
              <a:ext cx="4038600"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panose="02020603050405020304"/>
                  <a:cs typeface="Times New Roman" panose="02020603050405020304"/>
                </a:rPr>
                <a:t>Data set must contain at least </a:t>
              </a:r>
              <a:r>
                <a:rPr sz="2000" dirty="0">
                  <a:latin typeface="Times New Roman" panose="02020603050405020304"/>
                  <a:cs typeface="Times New Roman" panose="02020603050405020304"/>
                </a:rPr>
                <a:t>one</a:t>
              </a:r>
              <a:r>
                <a:rPr sz="2000" spc="-20"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value</a:t>
              </a:r>
              <a:endParaRPr sz="2000">
                <a:latin typeface="Times New Roman" panose="02020603050405020304"/>
                <a:cs typeface="Times New Roman" panose="02020603050405020304"/>
              </a:endParaRPr>
            </a:p>
          </p:txBody>
        </p:sp>
        <p:sp>
          <p:nvSpPr>
            <p:cNvPr id="53" name="object 53"/>
            <p:cNvSpPr txBox="1"/>
            <p:nvPr/>
          </p:nvSpPr>
          <p:spPr>
            <a:xfrm>
              <a:off x="2740874" y="2658597"/>
              <a:ext cx="1443355"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panose="02020603050405020304"/>
                  <a:cs typeface="Times New Roman" panose="02020603050405020304"/>
                </a:rPr>
                <a:t>Positive</a:t>
              </a:r>
              <a:r>
                <a:rPr sz="2000" spc="-50"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score</a:t>
              </a:r>
              <a:endParaRPr sz="2000">
                <a:latin typeface="Times New Roman" panose="02020603050405020304"/>
                <a:cs typeface="Times New Roman" panose="02020603050405020304"/>
              </a:endParaRPr>
            </a:p>
          </p:txBody>
        </p:sp>
        <p:sp>
          <p:nvSpPr>
            <p:cNvPr id="54" name="object 54"/>
            <p:cNvSpPr txBox="1"/>
            <p:nvPr/>
          </p:nvSpPr>
          <p:spPr>
            <a:xfrm>
              <a:off x="6480600" y="2674439"/>
              <a:ext cx="1541780"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panose="02020603050405020304"/>
                  <a:cs typeface="Times New Roman" panose="02020603050405020304"/>
                </a:rPr>
                <a:t>Negative</a:t>
              </a:r>
              <a:r>
                <a:rPr sz="2000" spc="-55" dirty="0">
                  <a:latin typeface="Times New Roman" panose="02020603050405020304"/>
                  <a:cs typeface="Times New Roman" panose="02020603050405020304"/>
                </a:rPr>
                <a:t> </a:t>
              </a:r>
              <a:r>
                <a:rPr sz="2000" spc="-5" dirty="0">
                  <a:latin typeface="Times New Roman" panose="02020603050405020304"/>
                  <a:cs typeface="Times New Roman" panose="02020603050405020304"/>
                </a:rPr>
                <a:t>score</a:t>
              </a:r>
              <a:endParaRPr sz="2000">
                <a:latin typeface="Times New Roman" panose="02020603050405020304"/>
                <a:cs typeface="Times New Roman" panose="02020603050405020304"/>
              </a:endParaRPr>
            </a:p>
          </p:txBody>
        </p:sp>
        <p:sp>
          <p:nvSpPr>
            <p:cNvPr id="55" name="object 55"/>
            <p:cNvSpPr txBox="1"/>
            <p:nvPr/>
          </p:nvSpPr>
          <p:spPr>
            <a:xfrm>
              <a:off x="907522" y="4466846"/>
              <a:ext cx="1731010" cy="330200"/>
            </a:xfrm>
            <a:prstGeom prst="rect">
              <a:avLst/>
            </a:prstGeom>
          </p:spPr>
          <p:txBody>
            <a:bodyPr vert="horz" wrap="square" lIns="0" tIns="12700" rIns="0" bIns="0" rtlCol="0">
              <a:spAutoFit/>
            </a:bodyPr>
            <a:lstStyle/>
            <a:p>
              <a:pPr marL="12700">
                <a:lnSpc>
                  <a:spcPct val="100000"/>
                </a:lnSpc>
                <a:spcBef>
                  <a:spcPts val="100"/>
                </a:spcBef>
              </a:pPr>
              <a:r>
                <a:rPr sz="2000" spc="-30" dirty="0">
                  <a:latin typeface="Times New Roman" panose="02020603050405020304"/>
                  <a:cs typeface="Times New Roman" panose="02020603050405020304"/>
                </a:rPr>
                <a:t>Total </a:t>
              </a:r>
              <a:r>
                <a:rPr sz="2000" spc="-5" dirty="0">
                  <a:latin typeface="Times New Roman" panose="02020603050405020304"/>
                  <a:cs typeface="Times New Roman" panose="02020603050405020304"/>
                </a:rPr>
                <a:t>score </a:t>
              </a:r>
              <a:r>
                <a:rPr sz="2000" dirty="0">
                  <a:latin typeface="Times New Roman" panose="02020603050405020304"/>
                  <a:cs typeface="Times New Roman" panose="02020603050405020304"/>
                </a:rPr>
                <a:t>&gt;</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0.0</a:t>
              </a:r>
              <a:endParaRPr sz="2000">
                <a:latin typeface="Times New Roman" panose="02020603050405020304"/>
                <a:cs typeface="Times New Roman" panose="02020603050405020304"/>
              </a:endParaRPr>
            </a:p>
          </p:txBody>
        </p:sp>
        <p:sp>
          <p:nvSpPr>
            <p:cNvPr id="56" name="object 56"/>
            <p:cNvSpPr txBox="1"/>
            <p:nvPr/>
          </p:nvSpPr>
          <p:spPr>
            <a:xfrm>
              <a:off x="4495515" y="4454173"/>
              <a:ext cx="1874520" cy="330200"/>
            </a:xfrm>
            <a:prstGeom prst="rect">
              <a:avLst/>
            </a:prstGeom>
          </p:spPr>
          <p:txBody>
            <a:bodyPr vert="horz" wrap="square" lIns="0" tIns="12700" rIns="0" bIns="0" rtlCol="0">
              <a:spAutoFit/>
            </a:bodyPr>
            <a:lstStyle/>
            <a:p>
              <a:pPr marL="12700">
                <a:lnSpc>
                  <a:spcPct val="100000"/>
                </a:lnSpc>
                <a:spcBef>
                  <a:spcPts val="100"/>
                </a:spcBef>
              </a:pPr>
              <a:r>
                <a:rPr sz="2000" spc="-30" dirty="0">
                  <a:latin typeface="Times New Roman" panose="02020603050405020304"/>
                  <a:cs typeface="Times New Roman" panose="02020603050405020304"/>
                </a:rPr>
                <a:t>Total </a:t>
              </a:r>
              <a:r>
                <a:rPr sz="2000" spc="-5" dirty="0">
                  <a:latin typeface="Times New Roman" panose="02020603050405020304"/>
                  <a:cs typeface="Times New Roman" panose="02020603050405020304"/>
                </a:rPr>
                <a:t>score </a:t>
              </a:r>
              <a:r>
                <a:rPr sz="2000" dirty="0">
                  <a:latin typeface="Times New Roman" panose="02020603050405020304"/>
                  <a:cs typeface="Times New Roman" panose="02020603050405020304"/>
                </a:rPr>
                <a:t>&lt;=</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0.0</a:t>
              </a:r>
              <a:endParaRPr sz="2000">
                <a:latin typeface="Times New Roman" panose="02020603050405020304"/>
                <a:cs typeface="Times New Roman" panose="02020603050405020304"/>
              </a:endParaRPr>
            </a:p>
          </p:txBody>
        </p:sp>
        <p:sp>
          <p:nvSpPr>
            <p:cNvPr id="57" name="object 57"/>
            <p:cNvSpPr/>
            <p:nvPr/>
          </p:nvSpPr>
          <p:spPr>
            <a:xfrm>
              <a:off x="3290275" y="5803386"/>
              <a:ext cx="479425" cy="479425"/>
            </a:xfrm>
            <a:custGeom>
              <a:avLst/>
              <a:gdLst/>
              <a:ahLst/>
              <a:cxnLst/>
              <a:rect l="l" t="t" r="r" b="b"/>
              <a:pathLst>
                <a:path w="479425" h="479425">
                  <a:moveTo>
                    <a:pt x="239520" y="0"/>
                  </a:moveTo>
                  <a:lnTo>
                    <a:pt x="191248" y="4866"/>
                  </a:lnTo>
                  <a:lnTo>
                    <a:pt x="146288" y="18822"/>
                  </a:lnTo>
                  <a:lnTo>
                    <a:pt x="105602" y="40906"/>
                  </a:lnTo>
                  <a:lnTo>
                    <a:pt x="70153" y="70154"/>
                  </a:lnTo>
                  <a:lnTo>
                    <a:pt x="40906" y="105602"/>
                  </a:lnTo>
                  <a:lnTo>
                    <a:pt x="18822" y="146288"/>
                  </a:lnTo>
                  <a:lnTo>
                    <a:pt x="4866" y="191249"/>
                  </a:lnTo>
                  <a:lnTo>
                    <a:pt x="0" y="239520"/>
                  </a:lnTo>
                  <a:lnTo>
                    <a:pt x="4866" y="287792"/>
                  </a:lnTo>
                  <a:lnTo>
                    <a:pt x="18822" y="332753"/>
                  </a:lnTo>
                  <a:lnTo>
                    <a:pt x="40906" y="373439"/>
                  </a:lnTo>
                  <a:lnTo>
                    <a:pt x="70153" y="408887"/>
                  </a:lnTo>
                  <a:lnTo>
                    <a:pt x="105602" y="438135"/>
                  </a:lnTo>
                  <a:lnTo>
                    <a:pt x="146288" y="460219"/>
                  </a:lnTo>
                  <a:lnTo>
                    <a:pt x="191248" y="474175"/>
                  </a:lnTo>
                  <a:lnTo>
                    <a:pt x="239520" y="479041"/>
                  </a:lnTo>
                  <a:lnTo>
                    <a:pt x="287792" y="474175"/>
                  </a:lnTo>
                  <a:lnTo>
                    <a:pt x="332752" y="460219"/>
                  </a:lnTo>
                  <a:lnTo>
                    <a:pt x="373438" y="438135"/>
                  </a:lnTo>
                  <a:lnTo>
                    <a:pt x="408887" y="408887"/>
                  </a:lnTo>
                  <a:lnTo>
                    <a:pt x="438134" y="373439"/>
                  </a:lnTo>
                  <a:lnTo>
                    <a:pt x="460218" y="332753"/>
                  </a:lnTo>
                  <a:lnTo>
                    <a:pt x="474175" y="287792"/>
                  </a:lnTo>
                  <a:lnTo>
                    <a:pt x="479041" y="239520"/>
                  </a:lnTo>
                  <a:lnTo>
                    <a:pt x="474175" y="191249"/>
                  </a:lnTo>
                  <a:lnTo>
                    <a:pt x="460218" y="146288"/>
                  </a:lnTo>
                  <a:lnTo>
                    <a:pt x="438134" y="105602"/>
                  </a:lnTo>
                  <a:lnTo>
                    <a:pt x="408887" y="70154"/>
                  </a:lnTo>
                  <a:lnTo>
                    <a:pt x="373438" y="40906"/>
                  </a:lnTo>
                  <a:lnTo>
                    <a:pt x="332752" y="18822"/>
                  </a:lnTo>
                  <a:lnTo>
                    <a:pt x="287792" y="4866"/>
                  </a:lnTo>
                  <a:lnTo>
                    <a:pt x="239520" y="0"/>
                  </a:lnTo>
                  <a:close/>
                </a:path>
              </a:pathLst>
            </a:custGeom>
            <a:solidFill>
              <a:srgbClr val="A8D5D6"/>
            </a:solidFill>
          </p:spPr>
          <p:txBody>
            <a:bodyPr wrap="square" lIns="0" tIns="0" rIns="0" bIns="0" rtlCol="0"/>
            <a:lstStyle/>
            <a:p>
              <a:endParaRPr/>
            </a:p>
          </p:txBody>
        </p:sp>
        <p:sp>
          <p:nvSpPr>
            <p:cNvPr id="58" name="object 58"/>
            <p:cNvSpPr/>
            <p:nvPr/>
          </p:nvSpPr>
          <p:spPr>
            <a:xfrm>
              <a:off x="3290275" y="5803386"/>
              <a:ext cx="479425" cy="479425"/>
            </a:xfrm>
            <a:custGeom>
              <a:avLst/>
              <a:gdLst/>
              <a:ahLst/>
              <a:cxnLst/>
              <a:rect l="l" t="t" r="r" b="b"/>
              <a:pathLst>
                <a:path w="479425" h="479425">
                  <a:moveTo>
                    <a:pt x="0" y="239520"/>
                  </a:moveTo>
                  <a:lnTo>
                    <a:pt x="4866" y="191249"/>
                  </a:lnTo>
                  <a:lnTo>
                    <a:pt x="18822" y="146288"/>
                  </a:lnTo>
                  <a:lnTo>
                    <a:pt x="40906" y="105602"/>
                  </a:lnTo>
                  <a:lnTo>
                    <a:pt x="70154" y="70154"/>
                  </a:lnTo>
                  <a:lnTo>
                    <a:pt x="105602" y="40906"/>
                  </a:lnTo>
                  <a:lnTo>
                    <a:pt x="146288" y="18822"/>
                  </a:lnTo>
                  <a:lnTo>
                    <a:pt x="191249" y="4866"/>
                  </a:lnTo>
                  <a:lnTo>
                    <a:pt x="239521" y="0"/>
                  </a:lnTo>
                  <a:lnTo>
                    <a:pt x="287792" y="4866"/>
                  </a:lnTo>
                  <a:lnTo>
                    <a:pt x="332753" y="18822"/>
                  </a:lnTo>
                  <a:lnTo>
                    <a:pt x="373439" y="40906"/>
                  </a:lnTo>
                  <a:lnTo>
                    <a:pt x="408887" y="70154"/>
                  </a:lnTo>
                  <a:lnTo>
                    <a:pt x="438135" y="105602"/>
                  </a:lnTo>
                  <a:lnTo>
                    <a:pt x="460219" y="146288"/>
                  </a:lnTo>
                  <a:lnTo>
                    <a:pt x="474175" y="191249"/>
                  </a:lnTo>
                  <a:lnTo>
                    <a:pt x="479042" y="239520"/>
                  </a:lnTo>
                  <a:lnTo>
                    <a:pt x="474175" y="287792"/>
                  </a:lnTo>
                  <a:lnTo>
                    <a:pt x="460219" y="332753"/>
                  </a:lnTo>
                  <a:lnTo>
                    <a:pt x="438135" y="373439"/>
                  </a:lnTo>
                  <a:lnTo>
                    <a:pt x="408887" y="408887"/>
                  </a:lnTo>
                  <a:lnTo>
                    <a:pt x="373439" y="438135"/>
                  </a:lnTo>
                  <a:lnTo>
                    <a:pt x="332753" y="460219"/>
                  </a:lnTo>
                  <a:lnTo>
                    <a:pt x="287792" y="474175"/>
                  </a:lnTo>
                  <a:lnTo>
                    <a:pt x="239521" y="479041"/>
                  </a:lnTo>
                  <a:lnTo>
                    <a:pt x="191249" y="474175"/>
                  </a:lnTo>
                  <a:lnTo>
                    <a:pt x="146288" y="460219"/>
                  </a:lnTo>
                  <a:lnTo>
                    <a:pt x="105602" y="438135"/>
                  </a:lnTo>
                  <a:lnTo>
                    <a:pt x="70154" y="408887"/>
                  </a:lnTo>
                  <a:lnTo>
                    <a:pt x="40906" y="373439"/>
                  </a:lnTo>
                  <a:lnTo>
                    <a:pt x="18822" y="332753"/>
                  </a:lnTo>
                  <a:lnTo>
                    <a:pt x="4866" y="287792"/>
                  </a:lnTo>
                  <a:lnTo>
                    <a:pt x="0" y="239520"/>
                  </a:lnTo>
                  <a:close/>
                </a:path>
              </a:pathLst>
            </a:custGeom>
            <a:ln w="9524">
              <a:solidFill>
                <a:srgbClr val="000000"/>
              </a:solidFill>
            </a:ln>
          </p:spPr>
          <p:txBody>
            <a:bodyPr wrap="square" lIns="0" tIns="0" rIns="0" bIns="0" rtlCol="0"/>
            <a:lstStyle/>
            <a:p>
              <a:endParaRPr/>
            </a:p>
          </p:txBody>
        </p:sp>
        <p:sp>
          <p:nvSpPr>
            <p:cNvPr id="59" name="object 59"/>
            <p:cNvSpPr txBox="1"/>
            <p:nvPr/>
          </p:nvSpPr>
          <p:spPr>
            <a:xfrm>
              <a:off x="3456472" y="5877806"/>
              <a:ext cx="152400"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panose="02020603050405020304"/>
                  <a:cs typeface="Times New Roman" panose="02020603050405020304"/>
                </a:rPr>
                <a:t>9</a:t>
              </a:r>
              <a:endParaRPr sz="2000">
                <a:latin typeface="Times New Roman" panose="02020603050405020304"/>
                <a:cs typeface="Times New Roman" panose="02020603050405020304"/>
              </a:endParaRPr>
            </a:p>
          </p:txBody>
        </p:sp>
        <p:sp>
          <p:nvSpPr>
            <p:cNvPr id="60" name="object 60"/>
            <p:cNvSpPr txBox="1"/>
            <p:nvPr/>
          </p:nvSpPr>
          <p:spPr>
            <a:xfrm>
              <a:off x="7664870" y="4964808"/>
              <a:ext cx="3480435" cy="1244600"/>
            </a:xfrm>
            <a:prstGeom prst="rect">
              <a:avLst/>
            </a:prstGeom>
          </p:spPr>
          <p:txBody>
            <a:bodyPr vert="horz" wrap="square" lIns="0" tIns="12700" rIns="0" bIns="0" rtlCol="0">
              <a:spAutoFit/>
            </a:bodyPr>
            <a:lstStyle/>
            <a:p>
              <a:pPr marL="12700" marR="5080">
                <a:lnSpc>
                  <a:spcPct val="100000"/>
                </a:lnSpc>
                <a:spcBef>
                  <a:spcPts val="100"/>
                </a:spcBef>
              </a:pPr>
              <a:r>
                <a:rPr sz="2000" b="1" dirty="0">
                  <a:latin typeface="Courier New" panose="02070309020205020404"/>
                  <a:cs typeface="Courier New" panose="02070309020205020404"/>
                </a:rPr>
                <a:t>P1</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1</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2</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3</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4</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5</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2</a:t>
              </a:r>
              <a:r>
                <a:rPr sz="2000" b="1" dirty="0">
                  <a:latin typeface="微软雅黑" panose="020B0503020204020204" pitchFamily="34" charset="-122"/>
                  <a:cs typeface="微软雅黑" panose="020B0503020204020204" pitchFamily="34" charset="-122"/>
                </a:rPr>
                <a:t>－</a:t>
              </a:r>
              <a:r>
                <a:rPr sz="2000" spc="-5" dirty="0">
                  <a:latin typeface="Courier New" panose="02070309020205020404"/>
                  <a:cs typeface="Courier New" panose="02070309020205020404"/>
                </a:rPr>
                <a:t>•••  </a:t>
              </a:r>
              <a:r>
                <a:rPr sz="2000" b="1" dirty="0">
                  <a:latin typeface="Courier New" panose="02070309020205020404"/>
                  <a:cs typeface="Courier New" panose="02070309020205020404"/>
                </a:rPr>
                <a:t>P2</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1</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2</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3</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5</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2</a:t>
              </a:r>
              <a:r>
                <a:rPr sz="2000" b="1" dirty="0">
                  <a:latin typeface="微软雅黑" panose="020B0503020204020204" pitchFamily="34" charset="-122"/>
                  <a:cs typeface="微软雅黑" panose="020B0503020204020204" pitchFamily="34" charset="-122"/>
                </a:rPr>
                <a:t>－</a:t>
              </a:r>
              <a:r>
                <a:rPr sz="2000" dirty="0">
                  <a:latin typeface="Courier New" panose="02070309020205020404"/>
                  <a:cs typeface="Courier New" panose="02070309020205020404"/>
                </a:rPr>
                <a:t>•••  </a:t>
              </a:r>
              <a:r>
                <a:rPr sz="2000" b="1" dirty="0">
                  <a:latin typeface="Courier New" panose="02070309020205020404"/>
                  <a:cs typeface="Courier New" panose="02070309020205020404"/>
                </a:rPr>
                <a:t>P3</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1</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2</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6</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7</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9  </a:t>
              </a:r>
              <a:endParaRPr lang="en-US" altLang="zh-CN" sz="2000" b="1" dirty="0">
                <a:latin typeface="Courier New" panose="02070309020205020404"/>
                <a:cs typeface="Courier New" panose="02070309020205020404"/>
              </a:endParaRPr>
            </a:p>
            <a:p>
              <a:pPr marL="12700" marR="5080">
                <a:lnSpc>
                  <a:spcPct val="100000"/>
                </a:lnSpc>
                <a:spcBef>
                  <a:spcPts val="100"/>
                </a:spcBef>
              </a:pPr>
              <a:r>
                <a:rPr sz="2000" b="1" dirty="0">
                  <a:latin typeface="Courier New" panose="02070309020205020404"/>
                  <a:cs typeface="Courier New" panose="02070309020205020404"/>
                </a:rPr>
                <a:t>P4</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1</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2</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6</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8</a:t>
              </a:r>
              <a:r>
                <a:rPr sz="2000" b="1" dirty="0">
                  <a:latin typeface="微软雅黑" panose="020B0503020204020204" pitchFamily="34" charset="-122"/>
                  <a:cs typeface="微软雅黑" panose="020B0503020204020204" pitchFamily="34" charset="-122"/>
                </a:rPr>
                <a:t>－</a:t>
              </a:r>
              <a:r>
                <a:rPr sz="2000" b="1" dirty="0">
                  <a:latin typeface="Courier New" panose="02070309020205020404"/>
                  <a:cs typeface="Courier New" panose="02070309020205020404"/>
                </a:rPr>
                <a:t>9</a:t>
              </a:r>
              <a:endParaRPr sz="2000" dirty="0">
                <a:latin typeface="Courier New" panose="02070309020205020404"/>
                <a:cs typeface="Courier New" panose="02070309020205020404"/>
              </a:endParaRPr>
            </a:p>
          </p:txBody>
        </p:sp>
        <p:sp>
          <p:nvSpPr>
            <p:cNvPr id="61" name="object 61"/>
            <p:cNvSpPr/>
            <p:nvPr/>
          </p:nvSpPr>
          <p:spPr>
            <a:xfrm>
              <a:off x="2751268" y="5247891"/>
              <a:ext cx="779145" cy="530860"/>
            </a:xfrm>
            <a:custGeom>
              <a:avLst/>
              <a:gdLst/>
              <a:ahLst/>
              <a:cxnLst/>
              <a:rect l="l" t="t" r="r" b="b"/>
              <a:pathLst>
                <a:path w="779145" h="530860">
                  <a:moveTo>
                    <a:pt x="0" y="0"/>
                  </a:moveTo>
                  <a:lnTo>
                    <a:pt x="0" y="277746"/>
                  </a:lnTo>
                  <a:lnTo>
                    <a:pt x="778526" y="277746"/>
                  </a:lnTo>
                  <a:lnTo>
                    <a:pt x="778526" y="530288"/>
                  </a:lnTo>
                </a:path>
              </a:pathLst>
            </a:custGeom>
            <a:ln w="12699">
              <a:solidFill>
                <a:srgbClr val="000000"/>
              </a:solidFill>
            </a:ln>
          </p:spPr>
          <p:txBody>
            <a:bodyPr wrap="square" lIns="0" tIns="0" rIns="0" bIns="0" rtlCol="0"/>
            <a:lstStyle/>
            <a:p>
              <a:endParaRPr/>
            </a:p>
          </p:txBody>
        </p:sp>
        <p:sp>
          <p:nvSpPr>
            <p:cNvPr id="62" name="object 62"/>
            <p:cNvSpPr/>
            <p:nvPr/>
          </p:nvSpPr>
          <p:spPr>
            <a:xfrm>
              <a:off x="3470841" y="5687476"/>
              <a:ext cx="117908" cy="115909"/>
            </a:xfrm>
            <a:prstGeom prst="rect">
              <a:avLst/>
            </a:prstGeom>
            <a:blipFill>
              <a:blip r:embed="rId11" cstate="print"/>
              <a:stretch>
                <a:fillRect/>
              </a:stretch>
            </a:blipFill>
          </p:spPr>
          <p:txBody>
            <a:bodyPr wrap="square" lIns="0" tIns="0" rIns="0" bIns="0" rtlCol="0"/>
            <a:lstStyle/>
            <a:p>
              <a:endParaRPr/>
            </a:p>
          </p:txBody>
        </p:sp>
        <p:sp>
          <p:nvSpPr>
            <p:cNvPr id="63" name="object 63"/>
            <p:cNvSpPr/>
            <p:nvPr/>
          </p:nvSpPr>
          <p:spPr>
            <a:xfrm>
              <a:off x="3529796" y="5236991"/>
              <a:ext cx="878840" cy="541655"/>
            </a:xfrm>
            <a:custGeom>
              <a:avLst/>
              <a:gdLst/>
              <a:ahLst/>
              <a:cxnLst/>
              <a:rect l="l" t="t" r="r" b="b"/>
              <a:pathLst>
                <a:path w="878839" h="541654">
                  <a:moveTo>
                    <a:pt x="878804" y="0"/>
                  </a:moveTo>
                  <a:lnTo>
                    <a:pt x="878804" y="283197"/>
                  </a:lnTo>
                  <a:lnTo>
                    <a:pt x="0" y="283197"/>
                  </a:lnTo>
                  <a:lnTo>
                    <a:pt x="0" y="541189"/>
                  </a:lnTo>
                </a:path>
              </a:pathLst>
            </a:custGeom>
            <a:ln w="12699">
              <a:solidFill>
                <a:srgbClr val="000000"/>
              </a:solidFill>
            </a:ln>
          </p:spPr>
          <p:txBody>
            <a:bodyPr wrap="square" lIns="0" tIns="0" rIns="0" bIns="0" rtlCol="0"/>
            <a:lstStyle/>
            <a:p>
              <a:endParaRPr/>
            </a:p>
          </p:txBody>
        </p:sp>
        <p:sp>
          <p:nvSpPr>
            <p:cNvPr id="64" name="object 64"/>
            <p:cNvSpPr/>
            <p:nvPr/>
          </p:nvSpPr>
          <p:spPr>
            <a:xfrm>
              <a:off x="3470842" y="5687476"/>
              <a:ext cx="117908" cy="115908"/>
            </a:xfrm>
            <a:prstGeom prst="rect">
              <a:avLst/>
            </a:prstGeom>
            <a:blipFill>
              <a:blip r:embed="rId11" cstate="print"/>
              <a:stretch>
                <a:fillRect/>
              </a:stretch>
            </a:blipFill>
          </p:spPr>
          <p:txBody>
            <a:bodyPr wrap="square" lIns="0" tIns="0" rIns="0" bIns="0" rtlCol="0"/>
            <a:lstStyle/>
            <a:p>
              <a:endParaRPr/>
            </a:p>
          </p:txBody>
        </p:sp>
        <p:sp>
          <p:nvSpPr>
            <p:cNvPr id="65" name="object 65"/>
            <p:cNvSpPr txBox="1"/>
            <p:nvPr/>
          </p:nvSpPr>
          <p:spPr>
            <a:xfrm>
              <a:off x="8771466" y="3472162"/>
              <a:ext cx="2421890" cy="626110"/>
            </a:xfrm>
            <a:prstGeom prst="rect">
              <a:avLst/>
            </a:prstGeom>
            <a:solidFill>
              <a:srgbClr val="797BA9"/>
            </a:solidFill>
          </p:spPr>
          <p:txBody>
            <a:bodyPr vert="horz" wrap="square" lIns="0" tIns="144780" rIns="0" bIns="0" rtlCol="0">
              <a:spAutoFit/>
            </a:bodyPr>
            <a:lstStyle/>
            <a:p>
              <a:pPr marL="294640">
                <a:lnSpc>
                  <a:spcPct val="100000"/>
                </a:lnSpc>
                <a:spcBef>
                  <a:spcPts val="1140"/>
                </a:spcBef>
              </a:pPr>
              <a:r>
                <a:rPr sz="2200" dirty="0">
                  <a:solidFill>
                    <a:srgbClr val="FFFFFF"/>
                  </a:solidFill>
                  <a:latin typeface="微软雅黑" panose="020B0503020204020204" pitchFamily="34" charset="-122"/>
                  <a:cs typeface="微软雅黑" panose="020B0503020204020204" pitchFamily="34" charset="-122"/>
                </a:rPr>
                <a:t>环路复杂性：</a:t>
              </a:r>
              <a:r>
                <a:rPr sz="2200" dirty="0">
                  <a:solidFill>
                    <a:srgbClr val="FFFFFF"/>
                  </a:solidFill>
                  <a:latin typeface="Arial" panose="020B0604020202020204"/>
                  <a:cs typeface="Arial" panose="020B0604020202020204"/>
                </a:rPr>
                <a:t>4</a:t>
              </a:r>
              <a:endParaRPr sz="2200">
                <a:latin typeface="Arial" panose="020B0604020202020204"/>
                <a:cs typeface="Arial" panose="020B0604020202020204"/>
              </a:endParaRPr>
            </a:p>
          </p:txBody>
        </p:sp>
      </p:grpSp>
      <p:sp>
        <p:nvSpPr>
          <p:cNvPr id="67" name="矩形 66">
            <a:extLst>
              <a:ext uri="{FF2B5EF4-FFF2-40B4-BE49-F238E27FC236}">
                <a16:creationId xmlns:a16="http://schemas.microsoft.com/office/drawing/2014/main" id="{15658062-C326-461D-9E1B-656F79E473A7}"/>
              </a:ext>
            </a:extLst>
          </p:cNvPr>
          <p:cNvSpPr/>
          <p:nvPr/>
        </p:nvSpPr>
        <p:spPr>
          <a:xfrm>
            <a:off x="421942" y="-28857"/>
            <a:ext cx="11282868" cy="646331"/>
          </a:xfrm>
          <a:prstGeom prst="rect">
            <a:avLst/>
          </a:prstGeom>
        </p:spPr>
        <p:txBody>
          <a:bodyPr wrap="square">
            <a:spAutoFit/>
          </a:bodyPr>
          <a:lstStyle/>
          <a:p>
            <a:pPr algn="ctr"/>
            <a:r>
              <a:rPr lang="zh-CN" altLang="en-US" dirty="0">
                <a:latin typeface="华文楷体" panose="02010600040101010101" pitchFamily="2" charset="-122"/>
                <a:ea typeface="华文楷体" panose="02010600040101010101" pitchFamily="2" charset="-122"/>
              </a:rPr>
              <a:t>基本独立路径集：一条独立路径和其他独立路径相比，至少要包含一条新的边</a:t>
            </a:r>
            <a:endParaRPr lang="en-US" altLang="zh-CN" dirty="0">
              <a:latin typeface="华文楷体" panose="02010600040101010101" pitchFamily="2" charset="-122"/>
              <a:ea typeface="华文楷体" panose="02010600040101010101" pitchFamily="2" charset="-122"/>
            </a:endParaRPr>
          </a:p>
          <a:p>
            <a:pPr algn="ctr"/>
            <a:r>
              <a:rPr lang="zh-CN" altLang="en-US" dirty="0">
                <a:latin typeface="华文楷体" panose="02010600040101010101" pitchFamily="2" charset="-122"/>
                <a:ea typeface="华文楷体" panose="02010600040101010101" pitchFamily="2" charset="-122"/>
              </a:rPr>
              <a:t>环路复杂度等于程序的独立路径数</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42338" y="1526483"/>
            <a:ext cx="9002395" cy="3911600"/>
          </a:xfrm>
          <a:prstGeom prst="rect">
            <a:avLst/>
          </a:prstGeom>
        </p:spPr>
        <p:txBody>
          <a:bodyPr vert="horz" wrap="square" lIns="0" tIns="12700" rIns="0" bIns="0" rtlCol="0">
            <a:spAutoFit/>
          </a:bodyPr>
          <a:lstStyle/>
          <a:p>
            <a:pPr marL="545465" marR="5080" indent="-533400">
              <a:lnSpc>
                <a:spcPct val="150000"/>
              </a:lnSpc>
              <a:spcBef>
                <a:spcPts val="100"/>
              </a:spcBef>
              <a:tabLst>
                <a:tab pos="554990" algn="l"/>
              </a:tabLst>
            </a:pPr>
            <a:r>
              <a:rPr sz="2000" dirty="0">
                <a:latin typeface="微软雅黑" panose="020B0503020204020204" pitchFamily="34" charset="-122"/>
                <a:cs typeface="微软雅黑" panose="020B0503020204020204" pitchFamily="34" charset="-122"/>
              </a:rPr>
              <a:t>①		输入：</a:t>
            </a:r>
            <a:r>
              <a:rPr sz="2000" b="1" dirty="0">
                <a:latin typeface="Courier New" panose="02070309020205020404"/>
                <a:cs typeface="Courier New" panose="02070309020205020404"/>
              </a:rPr>
              <a:t>fp≠NULL</a:t>
            </a:r>
            <a:r>
              <a:rPr sz="2000" dirty="0">
                <a:latin typeface="微软雅黑" panose="020B0503020204020204" pitchFamily="34" charset="-122"/>
                <a:cs typeface="微软雅黑" panose="020B0503020204020204" pitchFamily="34" charset="-122"/>
              </a:rPr>
              <a:t>，文件有数据</a:t>
            </a:r>
            <a:r>
              <a:rPr sz="2000" b="1" spc="-5" dirty="0">
                <a:latin typeface="Courier New" panose="02070309020205020404"/>
                <a:cs typeface="Courier New" panose="02070309020205020404"/>
              </a:rPr>
              <a:t>{60.0,100.0,-1.0,110.0}</a:t>
            </a:r>
            <a:r>
              <a:rPr sz="2000" spc="-5" dirty="0">
                <a:latin typeface="微软雅黑" panose="020B0503020204020204" pitchFamily="34" charset="-122"/>
                <a:cs typeface="微软雅黑" panose="020B0503020204020204" pitchFamily="34" charset="-122"/>
              </a:rPr>
              <a:t>，</a:t>
            </a:r>
            <a:r>
              <a:rPr sz="2000" dirty="0">
                <a:latin typeface="微软雅黑" panose="020B0503020204020204" pitchFamily="34" charset="-122"/>
                <a:cs typeface="微软雅黑" panose="020B0503020204020204" pitchFamily="34" charset="-122"/>
              </a:rPr>
              <a:t>覆盖路径</a:t>
            </a:r>
            <a:r>
              <a:rPr sz="2000" b="1" spc="-5" dirty="0">
                <a:latin typeface="Courier New" panose="02070309020205020404"/>
                <a:cs typeface="Courier New" panose="02070309020205020404"/>
              </a:rPr>
              <a:t>P1  </a:t>
            </a:r>
            <a:r>
              <a:rPr sz="2000" dirty="0">
                <a:latin typeface="微软雅黑" panose="020B0503020204020204" pitchFamily="34" charset="-122"/>
                <a:cs typeface="微软雅黑" panose="020B0503020204020204" pitchFamily="34" charset="-122"/>
              </a:rPr>
              <a:t>输出：打印信息</a:t>
            </a:r>
            <a:r>
              <a:rPr sz="2000" spc="-5" dirty="0">
                <a:latin typeface="微软雅黑" panose="020B0503020204020204" pitchFamily="34" charset="-122"/>
                <a:cs typeface="微软雅黑" panose="020B0503020204020204" pitchFamily="34" charset="-122"/>
              </a:rPr>
              <a:t>“</a:t>
            </a:r>
            <a:r>
              <a:rPr sz="2000" b="1" spc="-5" dirty="0">
                <a:latin typeface="Courier New" panose="02070309020205020404"/>
                <a:cs typeface="Courier New" panose="02070309020205020404"/>
              </a:rPr>
              <a:t>The</a:t>
            </a:r>
            <a:r>
              <a:rPr sz="2000" b="1" spc="-10" dirty="0">
                <a:latin typeface="Courier New" panose="02070309020205020404"/>
                <a:cs typeface="Courier New" panose="02070309020205020404"/>
              </a:rPr>
              <a:t> </a:t>
            </a:r>
            <a:r>
              <a:rPr sz="2000" b="1" spc="-5" dirty="0">
                <a:latin typeface="Courier New" panose="02070309020205020404"/>
                <a:cs typeface="Courier New" panose="02070309020205020404"/>
              </a:rPr>
              <a:t>mean</a:t>
            </a:r>
            <a:r>
              <a:rPr sz="2000" b="1" spc="-10" dirty="0">
                <a:latin typeface="Courier New" panose="02070309020205020404"/>
                <a:cs typeface="Courier New" panose="02070309020205020404"/>
              </a:rPr>
              <a:t> </a:t>
            </a:r>
            <a:r>
              <a:rPr sz="2000" b="1" spc="-5" dirty="0">
                <a:latin typeface="Courier New" panose="02070309020205020404"/>
                <a:cs typeface="Courier New" panose="02070309020205020404"/>
              </a:rPr>
              <a:t>score is</a:t>
            </a:r>
            <a:r>
              <a:rPr sz="2000" b="1" spc="-10" dirty="0">
                <a:latin typeface="Courier New" panose="02070309020205020404"/>
                <a:cs typeface="Courier New" panose="02070309020205020404"/>
              </a:rPr>
              <a:t> </a:t>
            </a:r>
            <a:r>
              <a:rPr sz="2000" b="1" dirty="0">
                <a:latin typeface="Courier New" panose="02070309020205020404"/>
                <a:cs typeface="Courier New" panose="02070309020205020404"/>
              </a:rPr>
              <a:t>90.0</a:t>
            </a:r>
            <a:r>
              <a:rPr sz="2000" dirty="0">
                <a:latin typeface="微软雅黑" panose="020B0503020204020204" pitchFamily="34" charset="-122"/>
                <a:cs typeface="微软雅黑" panose="020B0503020204020204" pitchFamily="34" charset="-122"/>
              </a:rPr>
              <a:t>”</a:t>
            </a:r>
          </a:p>
          <a:p>
            <a:pPr marL="545465" marR="1224280" indent="-533400">
              <a:lnSpc>
                <a:spcPct val="150000"/>
              </a:lnSpc>
              <a:spcBef>
                <a:spcPts val="600"/>
              </a:spcBef>
              <a:tabLst>
                <a:tab pos="554990" algn="l"/>
              </a:tabLst>
            </a:pPr>
            <a:r>
              <a:rPr sz="2000" dirty="0">
                <a:latin typeface="微软雅黑" panose="020B0503020204020204" pitchFamily="34" charset="-122"/>
                <a:cs typeface="微软雅黑" panose="020B0503020204020204" pitchFamily="34" charset="-122"/>
              </a:rPr>
              <a:t>②		输入：</a:t>
            </a:r>
            <a:r>
              <a:rPr sz="2000" b="1" dirty="0">
                <a:latin typeface="Courier New" panose="02070309020205020404"/>
                <a:cs typeface="Courier New" panose="02070309020205020404"/>
              </a:rPr>
              <a:t>fp≠NULL</a:t>
            </a:r>
            <a:r>
              <a:rPr sz="2000" dirty="0">
                <a:latin typeface="微软雅黑" panose="020B0503020204020204" pitchFamily="34" charset="-122"/>
                <a:cs typeface="微软雅黑" panose="020B0503020204020204" pitchFamily="34" charset="-122"/>
              </a:rPr>
              <a:t>，文件有数据</a:t>
            </a:r>
            <a:r>
              <a:rPr sz="2000" b="1" dirty="0">
                <a:latin typeface="Courier New" panose="02070309020205020404"/>
                <a:cs typeface="Courier New" panose="02070309020205020404"/>
              </a:rPr>
              <a:t>{0.0,-1.0,75.0</a:t>
            </a:r>
            <a:r>
              <a:rPr sz="2000" b="1" spc="-5" dirty="0">
                <a:latin typeface="Courier New" panose="02070309020205020404"/>
                <a:cs typeface="Courier New" panose="02070309020205020404"/>
              </a:rPr>
              <a:t>}</a:t>
            </a:r>
            <a:r>
              <a:rPr sz="2000" dirty="0">
                <a:latin typeface="微软雅黑" panose="020B0503020204020204" pitchFamily="34" charset="-122"/>
                <a:cs typeface="微软雅黑" panose="020B0503020204020204" pitchFamily="34" charset="-122"/>
              </a:rPr>
              <a:t>，覆盖路径</a:t>
            </a:r>
            <a:r>
              <a:rPr sz="2000" b="1" dirty="0">
                <a:latin typeface="Courier New" panose="02070309020205020404"/>
                <a:cs typeface="Courier New" panose="02070309020205020404"/>
              </a:rPr>
              <a:t>P2 </a:t>
            </a:r>
            <a:r>
              <a:rPr sz="2000" dirty="0">
                <a:latin typeface="微软雅黑" panose="020B0503020204020204" pitchFamily="34" charset="-122"/>
                <a:cs typeface="微软雅黑" panose="020B0503020204020204" pitchFamily="34" charset="-122"/>
              </a:rPr>
              <a:t>输出：打印信息</a:t>
            </a:r>
            <a:r>
              <a:rPr sz="2000" spc="-5" dirty="0">
                <a:latin typeface="微软雅黑" panose="020B0503020204020204" pitchFamily="34" charset="-122"/>
                <a:cs typeface="微软雅黑" panose="020B0503020204020204" pitchFamily="34" charset="-122"/>
              </a:rPr>
              <a:t>“</a:t>
            </a:r>
            <a:r>
              <a:rPr sz="2000" b="1" spc="-5" dirty="0">
                <a:latin typeface="Courier New" panose="02070309020205020404"/>
                <a:cs typeface="Courier New" panose="02070309020205020404"/>
              </a:rPr>
              <a:t>The</a:t>
            </a:r>
            <a:r>
              <a:rPr sz="2000" b="1" spc="-15" dirty="0">
                <a:latin typeface="Courier New" panose="02070309020205020404"/>
                <a:cs typeface="Courier New" panose="02070309020205020404"/>
              </a:rPr>
              <a:t> </a:t>
            </a:r>
            <a:r>
              <a:rPr sz="2000" b="1" spc="-5" dirty="0">
                <a:latin typeface="Courier New" panose="02070309020205020404"/>
                <a:cs typeface="Courier New" panose="02070309020205020404"/>
              </a:rPr>
              <a:t>mean</a:t>
            </a:r>
            <a:r>
              <a:rPr sz="2000" b="1" spc="-10" dirty="0">
                <a:latin typeface="Courier New" panose="02070309020205020404"/>
                <a:cs typeface="Courier New" panose="02070309020205020404"/>
              </a:rPr>
              <a:t> </a:t>
            </a:r>
            <a:r>
              <a:rPr sz="2000" b="1" spc="-5" dirty="0">
                <a:latin typeface="Courier New" panose="02070309020205020404"/>
                <a:cs typeface="Courier New" panose="02070309020205020404"/>
              </a:rPr>
              <a:t>score</a:t>
            </a:r>
            <a:r>
              <a:rPr sz="2000" b="1" spc="-10" dirty="0">
                <a:latin typeface="Courier New" panose="02070309020205020404"/>
                <a:cs typeface="Courier New" panose="02070309020205020404"/>
              </a:rPr>
              <a:t> </a:t>
            </a:r>
            <a:r>
              <a:rPr sz="2000" b="1" spc="-5" dirty="0">
                <a:latin typeface="Courier New" panose="02070309020205020404"/>
                <a:cs typeface="Courier New" panose="02070309020205020404"/>
              </a:rPr>
              <a:t>is</a:t>
            </a:r>
            <a:r>
              <a:rPr sz="2000" b="1" spc="-10" dirty="0">
                <a:latin typeface="Courier New" panose="02070309020205020404"/>
                <a:cs typeface="Courier New" panose="02070309020205020404"/>
              </a:rPr>
              <a:t> </a:t>
            </a:r>
            <a:r>
              <a:rPr sz="2000" b="1" dirty="0">
                <a:latin typeface="Courier New" panose="02070309020205020404"/>
                <a:cs typeface="Courier New" panose="02070309020205020404"/>
              </a:rPr>
              <a:t>75.0</a:t>
            </a:r>
            <a:r>
              <a:rPr sz="2000" dirty="0">
                <a:latin typeface="微软雅黑" panose="020B0503020204020204" pitchFamily="34" charset="-122"/>
                <a:cs typeface="微软雅黑" panose="020B0503020204020204" pitchFamily="34" charset="-122"/>
              </a:rPr>
              <a:t>”</a:t>
            </a:r>
          </a:p>
          <a:p>
            <a:pPr marL="545465" marR="3002280" indent="-533400">
              <a:lnSpc>
                <a:spcPct val="150000"/>
              </a:lnSpc>
              <a:spcBef>
                <a:spcPts val="600"/>
              </a:spcBef>
              <a:tabLst>
                <a:tab pos="554990" algn="l"/>
              </a:tabLst>
            </a:pPr>
            <a:r>
              <a:rPr sz="2000" dirty="0">
                <a:latin typeface="微软雅黑" panose="020B0503020204020204" pitchFamily="34" charset="-122"/>
                <a:cs typeface="微软雅黑" panose="020B0503020204020204" pitchFamily="34" charset="-122"/>
              </a:rPr>
              <a:t>③		输入：</a:t>
            </a:r>
            <a:r>
              <a:rPr sz="2000" b="1" dirty="0">
                <a:latin typeface="Courier New" panose="02070309020205020404"/>
                <a:cs typeface="Courier New" panose="02070309020205020404"/>
              </a:rPr>
              <a:t>fp≠NULL</a:t>
            </a:r>
            <a:r>
              <a:rPr sz="2000" dirty="0">
                <a:latin typeface="微软雅黑" panose="020B0503020204020204" pitchFamily="34" charset="-122"/>
                <a:cs typeface="微软雅黑" panose="020B0503020204020204" pitchFamily="34" charset="-122"/>
              </a:rPr>
              <a:t>，文件无任何数据，覆盖路径</a:t>
            </a:r>
            <a:r>
              <a:rPr sz="2000" b="1" dirty="0">
                <a:latin typeface="Courier New" panose="02070309020205020404"/>
                <a:cs typeface="Courier New" panose="02070309020205020404"/>
              </a:rPr>
              <a:t>P3 </a:t>
            </a:r>
            <a:r>
              <a:rPr sz="2000" dirty="0">
                <a:latin typeface="微软雅黑" panose="020B0503020204020204" pitchFamily="34" charset="-122"/>
                <a:cs typeface="微软雅黑" panose="020B0503020204020204" pitchFamily="34" charset="-122"/>
              </a:rPr>
              <a:t>输出：</a:t>
            </a:r>
            <a:r>
              <a:rPr sz="2000" dirty="0">
                <a:highlight>
                  <a:srgbClr val="00FFFF"/>
                </a:highlight>
                <a:latin typeface="微软雅黑" panose="020B0503020204020204" pitchFamily="34" charset="-122"/>
                <a:cs typeface="微软雅黑" panose="020B0503020204020204" pitchFamily="34" charset="-122"/>
              </a:rPr>
              <a:t>该路径不可达</a:t>
            </a:r>
          </a:p>
          <a:p>
            <a:pPr marL="545465" marR="2656205" indent="-533400">
              <a:lnSpc>
                <a:spcPct val="150000"/>
              </a:lnSpc>
              <a:spcBef>
                <a:spcPts val="600"/>
              </a:spcBef>
              <a:tabLst>
                <a:tab pos="554990" algn="l"/>
              </a:tabLst>
            </a:pPr>
            <a:r>
              <a:rPr sz="2000" dirty="0">
                <a:latin typeface="微软雅黑" panose="020B0503020204020204" pitchFamily="34" charset="-122"/>
                <a:cs typeface="微软雅黑" panose="020B0503020204020204" pitchFamily="34" charset="-122"/>
              </a:rPr>
              <a:t>④		输入：</a:t>
            </a:r>
            <a:r>
              <a:rPr sz="2000" b="1" dirty="0">
                <a:latin typeface="Courier New" panose="02070309020205020404"/>
                <a:cs typeface="Courier New" panose="02070309020205020404"/>
              </a:rPr>
              <a:t>fp≠NULL</a:t>
            </a:r>
            <a:r>
              <a:rPr sz="2000" dirty="0">
                <a:latin typeface="微软雅黑" panose="020B0503020204020204" pitchFamily="34" charset="-122"/>
                <a:cs typeface="微软雅黑" panose="020B0503020204020204" pitchFamily="34" charset="-122"/>
              </a:rPr>
              <a:t>，文件无任何数据，覆盖路径</a:t>
            </a:r>
            <a:r>
              <a:rPr sz="2000" b="1" spc="-5" dirty="0">
                <a:latin typeface="Courier New" panose="02070309020205020404"/>
                <a:cs typeface="Courier New" panose="02070309020205020404"/>
              </a:rPr>
              <a:t>P4  </a:t>
            </a:r>
            <a:r>
              <a:rPr sz="2000" dirty="0">
                <a:latin typeface="微软雅黑" panose="020B0503020204020204" pitchFamily="34" charset="-122"/>
                <a:cs typeface="微软雅黑" panose="020B0503020204020204" pitchFamily="34" charset="-122"/>
              </a:rPr>
              <a:t>输出：打印信息</a:t>
            </a:r>
            <a:r>
              <a:rPr sz="2000" spc="-5" dirty="0">
                <a:latin typeface="微软雅黑" panose="020B0503020204020204" pitchFamily="34" charset="-122"/>
                <a:cs typeface="微软雅黑" panose="020B0503020204020204" pitchFamily="34" charset="-122"/>
              </a:rPr>
              <a:t>“</a:t>
            </a:r>
            <a:r>
              <a:rPr sz="2000" b="1" spc="-5" dirty="0">
                <a:latin typeface="Courier New" panose="02070309020205020404"/>
                <a:cs typeface="Courier New" panose="02070309020205020404"/>
              </a:rPr>
              <a:t>No</a:t>
            </a:r>
            <a:r>
              <a:rPr sz="2000" b="1" spc="-25" dirty="0">
                <a:latin typeface="Courier New" panose="02070309020205020404"/>
                <a:cs typeface="Courier New" panose="02070309020205020404"/>
              </a:rPr>
              <a:t> </a:t>
            </a:r>
            <a:r>
              <a:rPr sz="2000" b="1" spc="-5" dirty="0">
                <a:latin typeface="Courier New" panose="02070309020205020404"/>
                <a:cs typeface="Courier New" panose="02070309020205020404"/>
              </a:rPr>
              <a:t>scores</a:t>
            </a:r>
            <a:r>
              <a:rPr sz="2000" b="1" spc="-25" dirty="0">
                <a:latin typeface="Courier New" panose="02070309020205020404"/>
                <a:cs typeface="Courier New" panose="02070309020205020404"/>
              </a:rPr>
              <a:t> </a:t>
            </a:r>
            <a:r>
              <a:rPr sz="2000" b="1" spc="-5" dirty="0">
                <a:latin typeface="Courier New" panose="02070309020205020404"/>
                <a:cs typeface="Courier New" panose="02070309020205020404"/>
              </a:rPr>
              <a:t>found</a:t>
            </a:r>
            <a:r>
              <a:rPr sz="2000" b="1" spc="-25" dirty="0">
                <a:latin typeface="Courier New" panose="02070309020205020404"/>
                <a:cs typeface="Courier New" panose="02070309020205020404"/>
              </a:rPr>
              <a:t> </a:t>
            </a:r>
            <a:r>
              <a:rPr sz="2000" b="1" spc="-5" dirty="0">
                <a:latin typeface="Courier New" panose="02070309020205020404"/>
                <a:cs typeface="Courier New" panose="02070309020205020404"/>
              </a:rPr>
              <a:t>in</a:t>
            </a:r>
            <a:r>
              <a:rPr sz="2000" b="1" spc="-20" dirty="0">
                <a:latin typeface="Courier New" panose="02070309020205020404"/>
                <a:cs typeface="Courier New" panose="02070309020205020404"/>
              </a:rPr>
              <a:t> </a:t>
            </a:r>
            <a:r>
              <a:rPr sz="2000" b="1" dirty="0">
                <a:latin typeface="Courier New" panose="02070309020205020404"/>
                <a:cs typeface="Courier New" panose="02070309020205020404"/>
              </a:rPr>
              <a:t>file</a:t>
            </a:r>
            <a:r>
              <a:rPr sz="2000" dirty="0">
                <a:latin typeface="微软雅黑" panose="020B0503020204020204" pitchFamily="34" charset="-122"/>
                <a:cs typeface="微软雅黑" panose="020B0503020204020204" pitchFamily="34" charset="-122"/>
              </a:rPr>
              <a:t>”</a:t>
            </a:r>
          </a:p>
        </p:txBody>
      </p:sp>
      <p:sp>
        <p:nvSpPr>
          <p:cNvPr id="4" name="object 4"/>
          <p:cNvSpPr/>
          <p:nvPr/>
        </p:nvSpPr>
        <p:spPr>
          <a:xfrm>
            <a:off x="795866" y="3972204"/>
            <a:ext cx="6400800" cy="0"/>
          </a:xfrm>
          <a:custGeom>
            <a:avLst/>
            <a:gdLst/>
            <a:ahLst/>
            <a:cxnLst/>
            <a:rect l="l" t="t" r="r" b="b"/>
            <a:pathLst>
              <a:path w="6400800">
                <a:moveTo>
                  <a:pt x="0" y="0"/>
                </a:moveTo>
                <a:lnTo>
                  <a:pt x="6400798" y="0"/>
                </a:lnTo>
              </a:path>
            </a:pathLst>
          </a:custGeom>
          <a:ln w="28574">
            <a:solidFill>
              <a:srgbClr val="D81E00"/>
            </a:solidFill>
          </a:ln>
        </p:spPr>
        <p:txBody>
          <a:bodyPr wrap="square" lIns="0" tIns="0" rIns="0" bIns="0" rtlCol="0"/>
          <a:lstStyle/>
          <a:p>
            <a:endParaRPr/>
          </a:p>
        </p:txBody>
      </p:sp>
      <p:sp>
        <p:nvSpPr>
          <p:cNvPr id="5" name="灯片编号占位符 4"/>
          <p:cNvSpPr>
            <a:spLocks noGrp="1"/>
          </p:cNvSpPr>
          <p:nvPr>
            <p:ph type="sldNum" sz="quarter" idx="12"/>
          </p:nvPr>
        </p:nvSpPr>
        <p:spPr/>
        <p:txBody>
          <a:bodyPr/>
          <a:lstStyle/>
          <a:p>
            <a:fld id="{74D2AB8B-5816-41F2-8B4B-CA5C3E4E6A65}" type="slidenum">
              <a:rPr lang="zh-CN" altLang="en-US" smtClean="0"/>
              <a:t>45</a:t>
            </a:fld>
            <a:endParaRPr lang="zh-CN" altLang="en-US"/>
          </a:p>
        </p:txBody>
      </p:sp>
      <p:sp>
        <p:nvSpPr>
          <p:cNvPr id="7" name="标题 6"/>
          <p:cNvSpPr>
            <a:spLocks noGrp="1"/>
          </p:cNvSpPr>
          <p:nvPr>
            <p:ph type="title"/>
          </p:nvPr>
        </p:nvSpPr>
        <p:spPr/>
        <p:txBody>
          <a:bodyPr/>
          <a:lstStyle/>
          <a:p>
            <a:r>
              <a:rPr lang="zh-CN" altLang="en-US" dirty="0"/>
              <a:t>示例：基本路径测试</a:t>
            </a:r>
          </a:p>
        </p:txBody>
      </p:sp>
      <p:sp>
        <p:nvSpPr>
          <p:cNvPr id="6" name="矩形 5">
            <a:extLst>
              <a:ext uri="{FF2B5EF4-FFF2-40B4-BE49-F238E27FC236}">
                <a16:creationId xmlns:a16="http://schemas.microsoft.com/office/drawing/2014/main" id="{A8EE0B6E-BFF8-40A4-BAA9-02234C70B171}"/>
              </a:ext>
            </a:extLst>
          </p:cNvPr>
          <p:cNvSpPr/>
          <p:nvPr/>
        </p:nvSpPr>
        <p:spPr>
          <a:xfrm>
            <a:off x="6297800" y="761138"/>
            <a:ext cx="4108817" cy="369332"/>
          </a:xfrm>
          <a:prstGeom prst="rect">
            <a:avLst/>
          </a:prstGeom>
        </p:spPr>
        <p:txBody>
          <a:bodyPr wrap="none">
            <a:spAutoFit/>
          </a:bodyPr>
          <a:lstStyle/>
          <a:p>
            <a:r>
              <a:rPr lang="zh-CN" altLang="en-US" dirty="0">
                <a:solidFill>
                  <a:srgbClr val="FF0000"/>
                </a:solidFill>
                <a:latin typeface="华文楷体" panose="02010600040101010101" pitchFamily="2" charset="-122"/>
                <a:ea typeface="华文楷体" panose="02010600040101010101" pitchFamily="2" charset="-122"/>
              </a:rPr>
              <a:t>选择合适的输入数据，形成测试用例集</a:t>
            </a:r>
          </a:p>
        </p:txBody>
      </p:sp>
      <p:sp>
        <p:nvSpPr>
          <p:cNvPr id="8" name="矩形 7">
            <a:extLst>
              <a:ext uri="{FF2B5EF4-FFF2-40B4-BE49-F238E27FC236}">
                <a16:creationId xmlns:a16="http://schemas.microsoft.com/office/drawing/2014/main" id="{FCE808C7-DC5F-4089-A1A4-AAC7950E42FB}"/>
              </a:ext>
            </a:extLst>
          </p:cNvPr>
          <p:cNvSpPr/>
          <p:nvPr/>
        </p:nvSpPr>
        <p:spPr>
          <a:xfrm>
            <a:off x="891538" y="5617024"/>
            <a:ext cx="10705376" cy="369332"/>
          </a:xfrm>
          <a:prstGeom prst="rect">
            <a:avLst/>
          </a:prstGeom>
        </p:spPr>
        <p:txBody>
          <a:bodyPr wrap="square">
            <a:spAutoFit/>
          </a:bodyPr>
          <a:lstStyle/>
          <a:p>
            <a:pPr algn="ctr"/>
            <a:r>
              <a:rPr lang="zh-CN" altLang="en-US" dirty="0">
                <a:solidFill>
                  <a:srgbClr val="FF0000"/>
                </a:solidFill>
                <a:latin typeface="华文楷体" panose="02010600040101010101" pitchFamily="2" charset="-122"/>
                <a:ea typeface="华文楷体" panose="02010600040101010101" pitchFamily="2" charset="-122"/>
              </a:rPr>
              <a:t>有一些独立路径往往不是孤立的，它是正常控制流的一部分，比如</a:t>
            </a:r>
            <a:r>
              <a:rPr lang="en-US" altLang="zh-CN" dirty="0">
                <a:solidFill>
                  <a:srgbClr val="FF0000"/>
                </a:solidFill>
                <a:latin typeface="华文楷体" panose="02010600040101010101" pitchFamily="2" charset="-122"/>
                <a:ea typeface="华文楷体" panose="02010600040101010101" pitchFamily="2" charset="-122"/>
              </a:rPr>
              <a:t>P3</a:t>
            </a:r>
            <a:r>
              <a:rPr lang="zh-CN" altLang="en-US" dirty="0">
                <a:solidFill>
                  <a:srgbClr val="FF0000"/>
                </a:solidFill>
                <a:latin typeface="华文楷体" panose="02010600040101010101" pitchFamily="2" charset="-122"/>
                <a:ea typeface="华文楷体" panose="02010600040101010101" pitchFamily="2" charset="-122"/>
              </a:rPr>
              <a:t>就是</a:t>
            </a:r>
            <a:r>
              <a:rPr lang="en-US" altLang="zh-CN" dirty="0">
                <a:solidFill>
                  <a:srgbClr val="FF0000"/>
                </a:solidFill>
                <a:latin typeface="华文楷体" panose="02010600040101010101" pitchFamily="2" charset="-122"/>
                <a:ea typeface="华文楷体" panose="02010600040101010101" pitchFamily="2" charset="-122"/>
              </a:rPr>
              <a:t>p1</a:t>
            </a:r>
            <a:r>
              <a:rPr lang="zh-CN" altLang="en-US" dirty="0">
                <a:solidFill>
                  <a:srgbClr val="FF0000"/>
                </a:solidFill>
                <a:latin typeface="华文楷体" panose="02010600040101010101" pitchFamily="2" charset="-122"/>
                <a:ea typeface="华文楷体" panose="02010600040101010101" pitchFamily="2" charset="-122"/>
              </a:rPr>
              <a:t>和</a:t>
            </a:r>
            <a:r>
              <a:rPr lang="en-US" altLang="zh-CN" dirty="0">
                <a:solidFill>
                  <a:srgbClr val="FF0000"/>
                </a:solidFill>
                <a:latin typeface="华文楷体" panose="02010600040101010101" pitchFamily="2" charset="-122"/>
                <a:ea typeface="华文楷体" panose="02010600040101010101" pitchFamily="2" charset="-122"/>
              </a:rPr>
              <a:t>2</a:t>
            </a:r>
            <a:r>
              <a:rPr lang="zh-CN" altLang="en-US" dirty="0">
                <a:solidFill>
                  <a:srgbClr val="FF0000"/>
                </a:solidFill>
                <a:latin typeface="华文楷体" panose="02010600040101010101" pitchFamily="2" charset="-122"/>
                <a:ea typeface="华文楷体" panose="02010600040101010101" pitchFamily="2" charset="-122"/>
              </a:rPr>
              <a:t>的一部分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306648" y="1444166"/>
            <a:ext cx="6896100" cy="4542155"/>
          </a:xfrm>
          <a:prstGeom prst="rect">
            <a:avLst/>
          </a:prstGeom>
        </p:spPr>
        <p:txBody>
          <a:bodyPr vert="horz" wrap="square" lIns="0" tIns="198120" rIns="0" bIns="0" rtlCol="0">
            <a:spAutoFit/>
          </a:bodyPr>
          <a:lstStyle/>
          <a:p>
            <a:pPr marL="12700">
              <a:lnSpc>
                <a:spcPct val="100000"/>
              </a:lnSpc>
              <a:spcBef>
                <a:spcPts val="1560"/>
              </a:spcBef>
            </a:pPr>
            <a:r>
              <a:rPr sz="2200" dirty="0">
                <a:solidFill>
                  <a:srgbClr val="0033CC"/>
                </a:solidFill>
                <a:latin typeface="微软雅黑" panose="020B0503020204020204" pitchFamily="34" charset="-122"/>
                <a:cs typeface="微软雅黑" panose="020B0503020204020204" pitchFamily="34" charset="-122"/>
              </a:rPr>
              <a:t>循环测试</a:t>
            </a:r>
            <a:endParaRPr sz="2200" dirty="0">
              <a:latin typeface="微软雅黑" panose="020B0503020204020204" pitchFamily="34" charset="-122"/>
              <a:cs typeface="微软雅黑" panose="020B0503020204020204" pitchFamily="34" charset="-122"/>
            </a:endParaRPr>
          </a:p>
          <a:p>
            <a:pPr marL="457200" indent="-355600">
              <a:lnSpc>
                <a:spcPct val="100000"/>
              </a:lnSpc>
              <a:spcBef>
                <a:spcPts val="1460"/>
              </a:spcBef>
              <a:buFont typeface="Arial" panose="020B0604020202020204"/>
              <a:buChar char="•"/>
              <a:tabLst>
                <a:tab pos="456565" algn="l"/>
                <a:tab pos="457200" algn="l"/>
              </a:tabLst>
            </a:pPr>
            <a:r>
              <a:rPr sz="2200" dirty="0">
                <a:latin typeface="微软雅黑" panose="020B0503020204020204" pitchFamily="34" charset="-122"/>
                <a:cs typeface="微软雅黑" panose="020B0503020204020204" pitchFamily="34" charset="-122"/>
              </a:rPr>
              <a:t>目的：检查循环结构的有效性</a:t>
            </a:r>
          </a:p>
          <a:p>
            <a:pPr marL="457200" indent="-355600">
              <a:lnSpc>
                <a:spcPct val="100000"/>
              </a:lnSpc>
              <a:spcBef>
                <a:spcPts val="860"/>
              </a:spcBef>
              <a:buFont typeface="Arial" panose="020B0604020202020204"/>
              <a:buChar char="•"/>
              <a:tabLst>
                <a:tab pos="456565" algn="l"/>
                <a:tab pos="457200" algn="l"/>
              </a:tabLst>
            </a:pPr>
            <a:r>
              <a:rPr sz="2200" dirty="0">
                <a:latin typeface="微软雅黑" panose="020B0503020204020204" pitchFamily="34" charset="-122"/>
                <a:cs typeface="微软雅黑" panose="020B0503020204020204" pitchFamily="34" charset="-122"/>
              </a:rPr>
              <a:t>类型：简单循环、嵌套循环、串接循环和非结构循环</a:t>
            </a:r>
          </a:p>
          <a:p>
            <a:pPr>
              <a:lnSpc>
                <a:spcPct val="100000"/>
              </a:lnSpc>
              <a:spcBef>
                <a:spcPts val="15"/>
              </a:spcBef>
              <a:buFont typeface="Arial" panose="020B0604020202020204"/>
              <a:buChar char="•"/>
            </a:pPr>
            <a:endParaRPr sz="2700" dirty="0">
              <a:latin typeface="Times New Roman" panose="02020603050405020304"/>
              <a:cs typeface="Times New Roman" panose="02020603050405020304"/>
            </a:endParaRPr>
          </a:p>
          <a:p>
            <a:pPr marL="12700">
              <a:lnSpc>
                <a:spcPct val="100000"/>
              </a:lnSpc>
            </a:pPr>
            <a:r>
              <a:rPr sz="2200" dirty="0">
                <a:solidFill>
                  <a:srgbClr val="0033CC"/>
                </a:solidFill>
                <a:latin typeface="微软雅黑" panose="020B0503020204020204" pitchFamily="34" charset="-122"/>
                <a:cs typeface="微软雅黑" panose="020B0503020204020204" pitchFamily="34" charset="-122"/>
              </a:rPr>
              <a:t>简单循环（次数为</a:t>
            </a:r>
            <a:r>
              <a:rPr sz="2200" spc="-5" dirty="0">
                <a:solidFill>
                  <a:srgbClr val="0033CC"/>
                </a:solidFill>
                <a:latin typeface="微软雅黑" panose="020B0503020204020204" pitchFamily="34" charset="-122"/>
                <a:cs typeface="微软雅黑" panose="020B0503020204020204" pitchFamily="34" charset="-122"/>
              </a:rPr>
              <a:t> </a:t>
            </a:r>
            <a:r>
              <a:rPr sz="2200" dirty="0">
                <a:solidFill>
                  <a:srgbClr val="0033CC"/>
                </a:solidFill>
                <a:latin typeface="Arial" panose="020B0604020202020204"/>
                <a:cs typeface="Arial" panose="020B0604020202020204"/>
              </a:rPr>
              <a:t>n</a:t>
            </a:r>
            <a:r>
              <a:rPr sz="2200" dirty="0">
                <a:solidFill>
                  <a:srgbClr val="0033CC"/>
                </a:solidFill>
                <a:latin typeface="微软雅黑" panose="020B0503020204020204" pitchFamily="34" charset="-122"/>
                <a:cs typeface="微软雅黑" panose="020B0503020204020204" pitchFamily="34" charset="-122"/>
              </a:rPr>
              <a:t>）</a:t>
            </a:r>
            <a:endParaRPr sz="2200" dirty="0">
              <a:latin typeface="微软雅黑" panose="020B0503020204020204" pitchFamily="34" charset="-122"/>
              <a:cs typeface="微软雅黑" panose="020B0503020204020204" pitchFamily="34" charset="-122"/>
            </a:endParaRPr>
          </a:p>
          <a:p>
            <a:pPr marL="464820" indent="-363855">
              <a:lnSpc>
                <a:spcPct val="100000"/>
              </a:lnSpc>
              <a:spcBef>
                <a:spcPts val="1460"/>
              </a:spcBef>
              <a:buFont typeface="Arial" panose="020B0604020202020204"/>
              <a:buChar char="•"/>
              <a:tabLst>
                <a:tab pos="464820" algn="l"/>
                <a:tab pos="465455" algn="l"/>
              </a:tabLst>
            </a:pPr>
            <a:r>
              <a:rPr sz="2200" dirty="0">
                <a:latin typeface="微软雅黑" panose="020B0503020204020204" pitchFamily="34" charset="-122"/>
                <a:cs typeface="微软雅黑" panose="020B0503020204020204" pitchFamily="34" charset="-122"/>
              </a:rPr>
              <a:t>完全跳过循环</a:t>
            </a:r>
          </a:p>
          <a:p>
            <a:pPr marL="464820" indent="-363855">
              <a:lnSpc>
                <a:spcPct val="100000"/>
              </a:lnSpc>
              <a:spcBef>
                <a:spcPts val="860"/>
              </a:spcBef>
              <a:buFont typeface="Arial" panose="020B0604020202020204"/>
              <a:buChar char="•"/>
              <a:tabLst>
                <a:tab pos="464820" algn="l"/>
                <a:tab pos="465455" algn="l"/>
              </a:tabLst>
            </a:pPr>
            <a:r>
              <a:rPr sz="2200" dirty="0">
                <a:latin typeface="微软雅黑" panose="020B0503020204020204" pitchFamily="34" charset="-122"/>
                <a:cs typeface="微软雅黑" panose="020B0503020204020204" pitchFamily="34" charset="-122"/>
              </a:rPr>
              <a:t>只循环</a:t>
            </a:r>
            <a:r>
              <a:rPr sz="2200" spc="-55" dirty="0">
                <a:latin typeface="微软雅黑" panose="020B0503020204020204" pitchFamily="34" charset="-122"/>
                <a:cs typeface="微软雅黑" panose="020B0503020204020204" pitchFamily="34" charset="-122"/>
              </a:rPr>
              <a:t> </a:t>
            </a:r>
            <a:r>
              <a:rPr sz="2200" dirty="0">
                <a:latin typeface="Arial" panose="020B0604020202020204"/>
                <a:cs typeface="Arial" panose="020B0604020202020204"/>
              </a:rPr>
              <a:t>1</a:t>
            </a:r>
            <a:r>
              <a:rPr sz="2200" spc="-45" dirty="0">
                <a:latin typeface="Arial" panose="020B0604020202020204"/>
                <a:cs typeface="Arial" panose="020B0604020202020204"/>
              </a:rPr>
              <a:t> </a:t>
            </a:r>
            <a:r>
              <a:rPr sz="2200" dirty="0">
                <a:latin typeface="微软雅黑" panose="020B0503020204020204" pitchFamily="34" charset="-122"/>
                <a:cs typeface="微软雅黑" panose="020B0503020204020204" pitchFamily="34" charset="-122"/>
              </a:rPr>
              <a:t>次</a:t>
            </a:r>
          </a:p>
          <a:p>
            <a:pPr marL="464820" indent="-363855">
              <a:lnSpc>
                <a:spcPct val="100000"/>
              </a:lnSpc>
              <a:spcBef>
                <a:spcPts val="860"/>
              </a:spcBef>
              <a:buFont typeface="Arial" panose="020B0604020202020204"/>
              <a:buChar char="•"/>
              <a:tabLst>
                <a:tab pos="464820" algn="l"/>
                <a:tab pos="465455" algn="l"/>
              </a:tabLst>
            </a:pPr>
            <a:r>
              <a:rPr sz="2200" dirty="0">
                <a:latin typeface="微软雅黑" panose="020B0503020204020204" pitchFamily="34" charset="-122"/>
                <a:cs typeface="微软雅黑" panose="020B0503020204020204" pitchFamily="34" charset="-122"/>
              </a:rPr>
              <a:t>只循环</a:t>
            </a:r>
            <a:r>
              <a:rPr sz="2200" spc="-55" dirty="0">
                <a:latin typeface="微软雅黑" panose="020B0503020204020204" pitchFamily="34" charset="-122"/>
                <a:cs typeface="微软雅黑" panose="020B0503020204020204" pitchFamily="34" charset="-122"/>
              </a:rPr>
              <a:t> </a:t>
            </a:r>
            <a:r>
              <a:rPr sz="2200" dirty="0">
                <a:latin typeface="Arial" panose="020B0604020202020204"/>
                <a:cs typeface="Arial" panose="020B0604020202020204"/>
              </a:rPr>
              <a:t>2</a:t>
            </a:r>
            <a:r>
              <a:rPr sz="2200" spc="-45" dirty="0">
                <a:latin typeface="Arial" panose="020B0604020202020204"/>
                <a:cs typeface="Arial" panose="020B0604020202020204"/>
              </a:rPr>
              <a:t> </a:t>
            </a:r>
            <a:r>
              <a:rPr sz="2200" dirty="0">
                <a:latin typeface="微软雅黑" panose="020B0503020204020204" pitchFamily="34" charset="-122"/>
                <a:cs typeface="微软雅黑" panose="020B0503020204020204" pitchFamily="34" charset="-122"/>
              </a:rPr>
              <a:t>次</a:t>
            </a:r>
          </a:p>
          <a:p>
            <a:pPr marL="464820" indent="-363855">
              <a:lnSpc>
                <a:spcPct val="100000"/>
              </a:lnSpc>
              <a:spcBef>
                <a:spcPts val="860"/>
              </a:spcBef>
              <a:buFont typeface="Arial" panose="020B0604020202020204"/>
              <a:buChar char="•"/>
              <a:tabLst>
                <a:tab pos="464820" algn="l"/>
                <a:tab pos="465455" algn="l"/>
              </a:tabLst>
            </a:pPr>
            <a:r>
              <a:rPr sz="2200" dirty="0">
                <a:latin typeface="微软雅黑" panose="020B0503020204020204" pitchFamily="34" charset="-122"/>
                <a:cs typeface="微软雅黑" panose="020B0503020204020204" pitchFamily="34" charset="-122"/>
              </a:rPr>
              <a:t>循环</a:t>
            </a:r>
            <a:r>
              <a:rPr sz="2200" spc="-5" dirty="0">
                <a:latin typeface="微软雅黑" panose="020B0503020204020204" pitchFamily="34" charset="-122"/>
                <a:cs typeface="微软雅黑" panose="020B0503020204020204" pitchFamily="34" charset="-122"/>
              </a:rPr>
              <a:t> </a:t>
            </a:r>
            <a:r>
              <a:rPr sz="2200" dirty="0">
                <a:latin typeface="Arial" panose="020B0604020202020204"/>
                <a:cs typeface="Arial" panose="020B0604020202020204"/>
              </a:rPr>
              <a:t>m</a:t>
            </a:r>
            <a:r>
              <a:rPr sz="2200" dirty="0">
                <a:latin typeface="微软雅黑" panose="020B0503020204020204" pitchFamily="34" charset="-122"/>
                <a:cs typeface="微软雅黑" panose="020B0503020204020204" pitchFamily="34" charset="-122"/>
              </a:rPr>
              <a:t>（</a:t>
            </a:r>
            <a:r>
              <a:rPr sz="2200" spc="-40" dirty="0">
                <a:latin typeface="微软雅黑" panose="020B0503020204020204" pitchFamily="34" charset="-122"/>
                <a:cs typeface="微软雅黑" panose="020B0503020204020204" pitchFamily="34" charset="-122"/>
              </a:rPr>
              <a:t> </a:t>
            </a:r>
            <a:r>
              <a:rPr sz="2200" dirty="0">
                <a:latin typeface="Arial" panose="020B0604020202020204"/>
                <a:cs typeface="Arial" panose="020B0604020202020204"/>
              </a:rPr>
              <a:t>m</a:t>
            </a:r>
            <a:r>
              <a:rPr sz="2200" spc="-10" dirty="0">
                <a:latin typeface="Arial" panose="020B0604020202020204"/>
                <a:cs typeface="Arial" panose="020B0604020202020204"/>
              </a:rPr>
              <a:t> </a:t>
            </a:r>
            <a:r>
              <a:rPr sz="2200" dirty="0">
                <a:latin typeface="Arial" panose="020B0604020202020204"/>
                <a:cs typeface="Arial" panose="020B0604020202020204"/>
              </a:rPr>
              <a:t>&lt; n </a:t>
            </a:r>
            <a:r>
              <a:rPr sz="2200" dirty="0">
                <a:latin typeface="微软雅黑" panose="020B0503020204020204" pitchFamily="34" charset="-122"/>
                <a:cs typeface="微软雅黑" panose="020B0503020204020204" pitchFamily="34" charset="-122"/>
              </a:rPr>
              <a:t>）次</a:t>
            </a:r>
          </a:p>
          <a:p>
            <a:pPr marL="464820" indent="-363855">
              <a:lnSpc>
                <a:spcPct val="100000"/>
              </a:lnSpc>
              <a:spcBef>
                <a:spcPts val="860"/>
              </a:spcBef>
              <a:buFont typeface="Arial" panose="020B0604020202020204"/>
              <a:buChar char="•"/>
              <a:tabLst>
                <a:tab pos="464820" algn="l"/>
                <a:tab pos="465455" algn="l"/>
              </a:tabLst>
            </a:pPr>
            <a:r>
              <a:rPr sz="2200" dirty="0">
                <a:latin typeface="微软雅黑" panose="020B0503020204020204" pitchFamily="34" charset="-122"/>
                <a:cs typeface="微软雅黑" panose="020B0503020204020204" pitchFamily="34" charset="-122"/>
              </a:rPr>
              <a:t>分别循环</a:t>
            </a:r>
            <a:r>
              <a:rPr sz="2200" spc="-5" dirty="0">
                <a:latin typeface="微软雅黑" panose="020B0503020204020204" pitchFamily="34" charset="-122"/>
                <a:cs typeface="微软雅黑" panose="020B0503020204020204" pitchFamily="34" charset="-122"/>
              </a:rPr>
              <a:t> </a:t>
            </a:r>
            <a:r>
              <a:rPr sz="2200" dirty="0">
                <a:latin typeface="Arial" panose="020B0604020202020204"/>
                <a:cs typeface="Arial" panose="020B0604020202020204"/>
              </a:rPr>
              <a:t>n-1,</a:t>
            </a:r>
            <a:r>
              <a:rPr sz="2200" spc="-5" dirty="0">
                <a:latin typeface="Arial" panose="020B0604020202020204"/>
                <a:cs typeface="Arial" panose="020B0604020202020204"/>
              </a:rPr>
              <a:t> </a:t>
            </a:r>
            <a:r>
              <a:rPr sz="2200" dirty="0">
                <a:latin typeface="Arial" panose="020B0604020202020204"/>
                <a:cs typeface="Arial" panose="020B0604020202020204"/>
              </a:rPr>
              <a:t>n,</a:t>
            </a:r>
            <a:r>
              <a:rPr sz="2200" spc="-10" dirty="0">
                <a:latin typeface="Arial" panose="020B0604020202020204"/>
                <a:cs typeface="Arial" panose="020B0604020202020204"/>
              </a:rPr>
              <a:t> </a:t>
            </a:r>
            <a:r>
              <a:rPr sz="2200" dirty="0">
                <a:latin typeface="Arial" panose="020B0604020202020204"/>
                <a:cs typeface="Arial" panose="020B0604020202020204"/>
              </a:rPr>
              <a:t>n+1</a:t>
            </a:r>
            <a:r>
              <a:rPr sz="2200" spc="-5" dirty="0">
                <a:latin typeface="Arial" panose="020B0604020202020204"/>
                <a:cs typeface="Arial" panose="020B0604020202020204"/>
              </a:rPr>
              <a:t> </a:t>
            </a:r>
            <a:r>
              <a:rPr sz="2200" dirty="0">
                <a:latin typeface="微软雅黑" panose="020B0503020204020204" pitchFamily="34" charset="-122"/>
                <a:cs typeface="微软雅黑" panose="020B0503020204020204" pitchFamily="34" charset="-122"/>
              </a:rPr>
              <a:t>次</a:t>
            </a:r>
          </a:p>
        </p:txBody>
      </p:sp>
      <p:sp>
        <p:nvSpPr>
          <p:cNvPr id="4" name="object 4"/>
          <p:cNvSpPr/>
          <p:nvPr/>
        </p:nvSpPr>
        <p:spPr>
          <a:xfrm>
            <a:off x="7065031" y="4131144"/>
            <a:ext cx="1499235" cy="479425"/>
          </a:xfrm>
          <a:custGeom>
            <a:avLst/>
            <a:gdLst/>
            <a:ahLst/>
            <a:cxnLst/>
            <a:rect l="l" t="t" r="r" b="b"/>
            <a:pathLst>
              <a:path w="1499234" h="479425">
                <a:moveTo>
                  <a:pt x="0" y="239472"/>
                </a:moveTo>
                <a:lnTo>
                  <a:pt x="749342" y="0"/>
                </a:lnTo>
                <a:lnTo>
                  <a:pt x="1498684" y="239472"/>
                </a:lnTo>
                <a:lnTo>
                  <a:pt x="749342" y="478944"/>
                </a:lnTo>
                <a:lnTo>
                  <a:pt x="0" y="239472"/>
                </a:lnTo>
                <a:close/>
              </a:path>
            </a:pathLst>
          </a:custGeom>
          <a:ln w="19049">
            <a:solidFill>
              <a:srgbClr val="000000"/>
            </a:solidFill>
          </a:ln>
        </p:spPr>
        <p:txBody>
          <a:bodyPr wrap="square" lIns="0" tIns="0" rIns="0" bIns="0" rtlCol="0"/>
          <a:lstStyle/>
          <a:p>
            <a:endParaRPr/>
          </a:p>
        </p:txBody>
      </p:sp>
      <p:sp>
        <p:nvSpPr>
          <p:cNvPr id="5" name="object 5"/>
          <p:cNvSpPr/>
          <p:nvPr/>
        </p:nvSpPr>
        <p:spPr>
          <a:xfrm>
            <a:off x="7223642" y="5049920"/>
            <a:ext cx="1177925" cy="399415"/>
          </a:xfrm>
          <a:custGeom>
            <a:avLst/>
            <a:gdLst/>
            <a:ahLst/>
            <a:cxnLst/>
            <a:rect l="l" t="t" r="r" b="b"/>
            <a:pathLst>
              <a:path w="1177925" h="399414">
                <a:moveTo>
                  <a:pt x="0" y="0"/>
                </a:moveTo>
                <a:lnTo>
                  <a:pt x="1177536" y="0"/>
                </a:lnTo>
                <a:lnTo>
                  <a:pt x="1177536" y="399120"/>
                </a:lnTo>
                <a:lnTo>
                  <a:pt x="0" y="399120"/>
                </a:lnTo>
                <a:lnTo>
                  <a:pt x="0" y="0"/>
                </a:lnTo>
                <a:close/>
              </a:path>
            </a:pathLst>
          </a:custGeom>
          <a:ln w="19049">
            <a:solidFill>
              <a:srgbClr val="000000"/>
            </a:solidFill>
          </a:ln>
        </p:spPr>
        <p:txBody>
          <a:bodyPr wrap="square" lIns="0" tIns="0" rIns="0" bIns="0" rtlCol="0"/>
          <a:lstStyle/>
          <a:p>
            <a:endParaRPr/>
          </a:p>
        </p:txBody>
      </p:sp>
      <p:sp>
        <p:nvSpPr>
          <p:cNvPr id="6" name="object 6"/>
          <p:cNvSpPr/>
          <p:nvPr/>
        </p:nvSpPr>
        <p:spPr>
          <a:xfrm>
            <a:off x="7812525" y="4610089"/>
            <a:ext cx="1905" cy="414655"/>
          </a:xfrm>
          <a:custGeom>
            <a:avLst/>
            <a:gdLst/>
            <a:ahLst/>
            <a:cxnLst/>
            <a:rect l="l" t="t" r="r" b="b"/>
            <a:pathLst>
              <a:path w="1904" h="414654">
                <a:moveTo>
                  <a:pt x="1850" y="0"/>
                </a:moveTo>
                <a:lnTo>
                  <a:pt x="0" y="414626"/>
                </a:lnTo>
              </a:path>
            </a:pathLst>
          </a:custGeom>
          <a:ln w="19049">
            <a:solidFill>
              <a:srgbClr val="000000"/>
            </a:solidFill>
          </a:ln>
        </p:spPr>
        <p:txBody>
          <a:bodyPr wrap="square" lIns="0" tIns="0" rIns="0" bIns="0" rtlCol="0"/>
          <a:lstStyle/>
          <a:p>
            <a:endParaRPr/>
          </a:p>
        </p:txBody>
      </p:sp>
      <p:sp>
        <p:nvSpPr>
          <p:cNvPr id="7" name="object 7"/>
          <p:cNvSpPr/>
          <p:nvPr/>
        </p:nvSpPr>
        <p:spPr>
          <a:xfrm>
            <a:off x="7753909" y="4933812"/>
            <a:ext cx="117906" cy="116108"/>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7810553" y="3657520"/>
            <a:ext cx="1905" cy="448945"/>
          </a:xfrm>
          <a:custGeom>
            <a:avLst/>
            <a:gdLst/>
            <a:ahLst/>
            <a:cxnLst/>
            <a:rect l="l" t="t" r="r" b="b"/>
            <a:pathLst>
              <a:path w="1904" h="448945">
                <a:moveTo>
                  <a:pt x="1858" y="0"/>
                </a:moveTo>
                <a:lnTo>
                  <a:pt x="0" y="448419"/>
                </a:lnTo>
              </a:path>
            </a:pathLst>
          </a:custGeom>
          <a:ln w="19049">
            <a:solidFill>
              <a:srgbClr val="000000"/>
            </a:solidFill>
          </a:ln>
        </p:spPr>
        <p:txBody>
          <a:bodyPr wrap="square" lIns="0" tIns="0" rIns="0" bIns="0" rtlCol="0"/>
          <a:lstStyle/>
          <a:p>
            <a:endParaRPr/>
          </a:p>
        </p:txBody>
      </p:sp>
      <p:sp>
        <p:nvSpPr>
          <p:cNvPr id="9" name="object 9"/>
          <p:cNvSpPr/>
          <p:nvPr/>
        </p:nvSpPr>
        <p:spPr>
          <a:xfrm>
            <a:off x="7751913" y="4015050"/>
            <a:ext cx="117906" cy="116093"/>
          </a:xfrm>
          <a:prstGeom prst="rect">
            <a:avLst/>
          </a:prstGeom>
          <a:blipFill>
            <a:blip r:embed="rId4" cstate="print"/>
            <a:stretch>
              <a:fillRect/>
            </a:stretch>
          </a:blipFill>
        </p:spPr>
        <p:txBody>
          <a:bodyPr wrap="square" lIns="0" tIns="0" rIns="0" bIns="0" rtlCol="0"/>
          <a:lstStyle/>
          <a:p>
            <a:endParaRPr/>
          </a:p>
        </p:txBody>
      </p:sp>
      <p:sp>
        <p:nvSpPr>
          <p:cNvPr id="10" name="object 10"/>
          <p:cNvSpPr/>
          <p:nvPr/>
        </p:nvSpPr>
        <p:spPr>
          <a:xfrm>
            <a:off x="6711233" y="3901372"/>
            <a:ext cx="1110615" cy="1859280"/>
          </a:xfrm>
          <a:custGeom>
            <a:avLst/>
            <a:gdLst/>
            <a:ahLst/>
            <a:cxnLst/>
            <a:rect l="l" t="t" r="r" b="b"/>
            <a:pathLst>
              <a:path w="1110615" h="1859279">
                <a:moveTo>
                  <a:pt x="1110618" y="1554708"/>
                </a:moveTo>
                <a:lnTo>
                  <a:pt x="1110618" y="1858840"/>
                </a:lnTo>
                <a:lnTo>
                  <a:pt x="0" y="1858840"/>
                </a:lnTo>
                <a:lnTo>
                  <a:pt x="0" y="0"/>
                </a:lnTo>
                <a:lnTo>
                  <a:pt x="1066531" y="0"/>
                </a:lnTo>
              </a:path>
            </a:pathLst>
          </a:custGeom>
          <a:ln w="19049">
            <a:solidFill>
              <a:srgbClr val="000000"/>
            </a:solidFill>
          </a:ln>
        </p:spPr>
        <p:txBody>
          <a:bodyPr wrap="square" lIns="0" tIns="0" rIns="0" bIns="0" rtlCol="0"/>
          <a:lstStyle/>
          <a:p>
            <a:endParaRPr/>
          </a:p>
        </p:txBody>
      </p:sp>
      <p:sp>
        <p:nvSpPr>
          <p:cNvPr id="11" name="object 11"/>
          <p:cNvSpPr/>
          <p:nvPr/>
        </p:nvSpPr>
        <p:spPr>
          <a:xfrm>
            <a:off x="7687061" y="3842417"/>
            <a:ext cx="115907" cy="117908"/>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9399589" y="4131144"/>
            <a:ext cx="1177925" cy="399415"/>
          </a:xfrm>
          <a:custGeom>
            <a:avLst/>
            <a:gdLst/>
            <a:ahLst/>
            <a:cxnLst/>
            <a:rect l="l" t="t" r="r" b="b"/>
            <a:pathLst>
              <a:path w="1177925" h="399414">
                <a:moveTo>
                  <a:pt x="0" y="0"/>
                </a:moveTo>
                <a:lnTo>
                  <a:pt x="1177537" y="0"/>
                </a:lnTo>
                <a:lnTo>
                  <a:pt x="1177537" y="399120"/>
                </a:lnTo>
                <a:lnTo>
                  <a:pt x="0" y="399120"/>
                </a:lnTo>
                <a:lnTo>
                  <a:pt x="0" y="0"/>
                </a:lnTo>
                <a:close/>
              </a:path>
            </a:pathLst>
          </a:custGeom>
          <a:ln w="19049">
            <a:solidFill>
              <a:srgbClr val="000000"/>
            </a:solidFill>
          </a:ln>
        </p:spPr>
        <p:txBody>
          <a:bodyPr wrap="square" lIns="0" tIns="0" rIns="0" bIns="0" rtlCol="0"/>
          <a:lstStyle/>
          <a:p>
            <a:endParaRPr/>
          </a:p>
        </p:txBody>
      </p:sp>
      <p:sp>
        <p:nvSpPr>
          <p:cNvPr id="13" name="object 13"/>
          <p:cNvSpPr/>
          <p:nvPr/>
        </p:nvSpPr>
        <p:spPr>
          <a:xfrm>
            <a:off x="9238466" y="5016128"/>
            <a:ext cx="1499235" cy="479425"/>
          </a:xfrm>
          <a:custGeom>
            <a:avLst/>
            <a:gdLst/>
            <a:ahLst/>
            <a:cxnLst/>
            <a:rect l="l" t="t" r="r" b="b"/>
            <a:pathLst>
              <a:path w="1499234" h="479425">
                <a:moveTo>
                  <a:pt x="0" y="239472"/>
                </a:moveTo>
                <a:lnTo>
                  <a:pt x="749342" y="0"/>
                </a:lnTo>
                <a:lnTo>
                  <a:pt x="1498684" y="239472"/>
                </a:lnTo>
                <a:lnTo>
                  <a:pt x="749342" y="478944"/>
                </a:lnTo>
                <a:lnTo>
                  <a:pt x="0" y="239472"/>
                </a:lnTo>
                <a:close/>
              </a:path>
            </a:pathLst>
          </a:custGeom>
          <a:ln w="19049">
            <a:solidFill>
              <a:srgbClr val="000000"/>
            </a:solidFill>
          </a:ln>
        </p:spPr>
        <p:txBody>
          <a:bodyPr wrap="square" lIns="0" tIns="0" rIns="0" bIns="0" rtlCol="0"/>
          <a:lstStyle/>
          <a:p>
            <a:endParaRPr/>
          </a:p>
        </p:txBody>
      </p:sp>
      <p:sp>
        <p:nvSpPr>
          <p:cNvPr id="14" name="object 14"/>
          <p:cNvSpPr/>
          <p:nvPr/>
        </p:nvSpPr>
        <p:spPr>
          <a:xfrm>
            <a:off x="9987839" y="4530265"/>
            <a:ext cx="635" cy="461009"/>
          </a:xfrm>
          <a:custGeom>
            <a:avLst/>
            <a:gdLst/>
            <a:ahLst/>
            <a:cxnLst/>
            <a:rect l="l" t="t" r="r" b="b"/>
            <a:pathLst>
              <a:path w="634" h="461010">
                <a:moveTo>
                  <a:pt x="520" y="0"/>
                </a:moveTo>
                <a:lnTo>
                  <a:pt x="0" y="460658"/>
                </a:lnTo>
              </a:path>
            </a:pathLst>
          </a:custGeom>
          <a:ln w="19049">
            <a:solidFill>
              <a:srgbClr val="000000"/>
            </a:solidFill>
          </a:ln>
        </p:spPr>
        <p:txBody>
          <a:bodyPr wrap="square" lIns="0" tIns="0" rIns="0" bIns="0" rtlCol="0"/>
          <a:lstStyle/>
          <a:p>
            <a:endParaRPr/>
          </a:p>
        </p:txBody>
      </p:sp>
      <p:sp>
        <p:nvSpPr>
          <p:cNvPr id="15" name="object 15"/>
          <p:cNvSpPr/>
          <p:nvPr/>
        </p:nvSpPr>
        <p:spPr>
          <a:xfrm>
            <a:off x="9928969" y="4900168"/>
            <a:ext cx="117909" cy="115959"/>
          </a:xfrm>
          <a:prstGeom prst="rect">
            <a:avLst/>
          </a:prstGeom>
          <a:blipFill>
            <a:blip r:embed="rId6" cstate="print"/>
            <a:stretch>
              <a:fillRect/>
            </a:stretch>
          </a:blipFill>
        </p:spPr>
        <p:txBody>
          <a:bodyPr wrap="square" lIns="0" tIns="0" rIns="0" bIns="0" rtlCol="0"/>
          <a:lstStyle/>
          <a:p>
            <a:endParaRPr/>
          </a:p>
        </p:txBody>
      </p:sp>
      <p:sp>
        <p:nvSpPr>
          <p:cNvPr id="16" name="object 16"/>
          <p:cNvSpPr/>
          <p:nvPr/>
        </p:nvSpPr>
        <p:spPr>
          <a:xfrm>
            <a:off x="9985950" y="3664560"/>
            <a:ext cx="1905" cy="448945"/>
          </a:xfrm>
          <a:custGeom>
            <a:avLst/>
            <a:gdLst/>
            <a:ahLst/>
            <a:cxnLst/>
            <a:rect l="l" t="t" r="r" b="b"/>
            <a:pathLst>
              <a:path w="1904" h="448945">
                <a:moveTo>
                  <a:pt x="1858" y="0"/>
                </a:moveTo>
                <a:lnTo>
                  <a:pt x="0" y="448419"/>
                </a:lnTo>
              </a:path>
            </a:pathLst>
          </a:custGeom>
          <a:ln w="19049">
            <a:solidFill>
              <a:srgbClr val="000000"/>
            </a:solidFill>
          </a:ln>
        </p:spPr>
        <p:txBody>
          <a:bodyPr wrap="square" lIns="0" tIns="0" rIns="0" bIns="0" rtlCol="0"/>
          <a:lstStyle/>
          <a:p>
            <a:endParaRPr/>
          </a:p>
        </p:txBody>
      </p:sp>
      <p:sp>
        <p:nvSpPr>
          <p:cNvPr id="17" name="object 17"/>
          <p:cNvSpPr/>
          <p:nvPr/>
        </p:nvSpPr>
        <p:spPr>
          <a:xfrm>
            <a:off x="9927312" y="4022090"/>
            <a:ext cx="117906" cy="116093"/>
          </a:xfrm>
          <a:prstGeom prst="rect">
            <a:avLst/>
          </a:prstGeom>
          <a:blipFill>
            <a:blip r:embed="rId7" cstate="print"/>
            <a:stretch>
              <a:fillRect/>
            </a:stretch>
          </a:blipFill>
        </p:spPr>
        <p:txBody>
          <a:bodyPr wrap="square" lIns="0" tIns="0" rIns="0" bIns="0" rtlCol="0"/>
          <a:lstStyle/>
          <a:p>
            <a:endParaRPr/>
          </a:p>
        </p:txBody>
      </p:sp>
      <p:sp>
        <p:nvSpPr>
          <p:cNvPr id="18" name="object 18"/>
          <p:cNvSpPr/>
          <p:nvPr/>
        </p:nvSpPr>
        <p:spPr>
          <a:xfrm>
            <a:off x="8897843" y="3901372"/>
            <a:ext cx="1090295" cy="1847214"/>
          </a:xfrm>
          <a:custGeom>
            <a:avLst/>
            <a:gdLst/>
            <a:ahLst/>
            <a:cxnLst/>
            <a:rect l="l" t="t" r="r" b="b"/>
            <a:pathLst>
              <a:path w="1090295" h="1847214">
                <a:moveTo>
                  <a:pt x="1089965" y="1593700"/>
                </a:moveTo>
                <a:lnTo>
                  <a:pt x="1089965" y="1847146"/>
                </a:lnTo>
                <a:lnTo>
                  <a:pt x="0" y="1847146"/>
                </a:lnTo>
                <a:lnTo>
                  <a:pt x="0" y="0"/>
                </a:lnTo>
                <a:lnTo>
                  <a:pt x="1065309" y="0"/>
                </a:lnTo>
              </a:path>
            </a:pathLst>
          </a:custGeom>
          <a:ln w="19049">
            <a:solidFill>
              <a:srgbClr val="000000"/>
            </a:solidFill>
          </a:ln>
        </p:spPr>
        <p:txBody>
          <a:bodyPr wrap="square" lIns="0" tIns="0" rIns="0" bIns="0" rtlCol="0"/>
          <a:lstStyle/>
          <a:p>
            <a:endParaRPr/>
          </a:p>
        </p:txBody>
      </p:sp>
      <p:sp>
        <p:nvSpPr>
          <p:cNvPr id="19" name="object 19"/>
          <p:cNvSpPr/>
          <p:nvPr/>
        </p:nvSpPr>
        <p:spPr>
          <a:xfrm>
            <a:off x="9872448" y="3842418"/>
            <a:ext cx="115909" cy="117908"/>
          </a:xfrm>
          <a:prstGeom prst="rect">
            <a:avLst/>
          </a:prstGeom>
          <a:blipFill>
            <a:blip r:embed="rId8" cstate="print"/>
            <a:stretch>
              <a:fillRect/>
            </a:stretch>
          </a:blipFill>
        </p:spPr>
        <p:txBody>
          <a:bodyPr wrap="square" lIns="0" tIns="0" rIns="0" bIns="0" rtlCol="0"/>
          <a:lstStyle/>
          <a:p>
            <a:endParaRPr/>
          </a:p>
        </p:txBody>
      </p:sp>
      <p:sp>
        <p:nvSpPr>
          <p:cNvPr id="20" name="灯片编号占位符 19"/>
          <p:cNvSpPr>
            <a:spLocks noGrp="1"/>
          </p:cNvSpPr>
          <p:nvPr>
            <p:ph type="sldNum" sz="quarter" idx="12"/>
          </p:nvPr>
        </p:nvSpPr>
        <p:spPr/>
        <p:txBody>
          <a:bodyPr/>
          <a:lstStyle/>
          <a:p>
            <a:fld id="{74D2AB8B-5816-41F2-8B4B-CA5C3E4E6A65}" type="slidenum">
              <a:rPr lang="zh-CN" altLang="en-US" smtClean="0"/>
              <a:t>46</a:t>
            </a:fld>
            <a:endParaRPr lang="zh-CN" altLang="en-US"/>
          </a:p>
        </p:txBody>
      </p:sp>
      <p:sp>
        <p:nvSpPr>
          <p:cNvPr id="23" name="标题 22"/>
          <p:cNvSpPr>
            <a:spLocks noGrp="1"/>
          </p:cNvSpPr>
          <p:nvPr>
            <p:ph type="title"/>
          </p:nvPr>
        </p:nvSpPr>
        <p:spPr/>
        <p:txBody>
          <a:bodyPr/>
          <a:lstStyle/>
          <a:p>
            <a:r>
              <a:rPr lang="zh-CN" altLang="en-US" dirty="0"/>
              <a:t>循环测试</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42019" y="1434198"/>
            <a:ext cx="7054850" cy="4638040"/>
          </a:xfrm>
          <a:prstGeom prst="rect">
            <a:avLst/>
          </a:prstGeom>
        </p:spPr>
        <p:txBody>
          <a:bodyPr vert="horz" wrap="square" lIns="0" tIns="187960" rIns="0" bIns="0" rtlCol="0">
            <a:spAutoFit/>
          </a:bodyPr>
          <a:lstStyle/>
          <a:p>
            <a:pPr marL="12700">
              <a:lnSpc>
                <a:spcPct val="100000"/>
              </a:lnSpc>
              <a:spcBef>
                <a:spcPts val="1480"/>
              </a:spcBef>
            </a:pPr>
            <a:r>
              <a:rPr sz="2200" dirty="0">
                <a:solidFill>
                  <a:srgbClr val="0033CC"/>
                </a:solidFill>
                <a:latin typeface="微软雅黑" panose="020B0503020204020204" pitchFamily="34" charset="-122"/>
                <a:cs typeface="微软雅黑" panose="020B0503020204020204" pitchFamily="34" charset="-122"/>
              </a:rPr>
              <a:t>嵌套循环</a:t>
            </a:r>
            <a:endParaRPr sz="2200" dirty="0">
              <a:latin typeface="微软雅黑" panose="020B0503020204020204" pitchFamily="34" charset="-122"/>
              <a:cs typeface="微软雅黑" panose="020B0503020204020204" pitchFamily="34" charset="-122"/>
            </a:endParaRPr>
          </a:p>
          <a:p>
            <a:pPr marL="457200" indent="-356235" algn="just">
              <a:lnSpc>
                <a:spcPct val="100000"/>
              </a:lnSpc>
              <a:spcBef>
                <a:spcPts val="1380"/>
              </a:spcBef>
              <a:buFont typeface="Arial" panose="020B0604020202020204"/>
              <a:buChar char="•"/>
              <a:tabLst>
                <a:tab pos="457200" algn="l"/>
              </a:tabLst>
            </a:pPr>
            <a:r>
              <a:rPr sz="2200" dirty="0">
                <a:latin typeface="微软雅黑" panose="020B0503020204020204" pitchFamily="34" charset="-122"/>
                <a:cs typeface="微软雅黑" panose="020B0503020204020204" pitchFamily="34" charset="-122"/>
              </a:rPr>
              <a:t>从最内层循环开始，所有外层循环次数设为最小值；</a:t>
            </a:r>
          </a:p>
          <a:p>
            <a:pPr marL="464820" indent="-364490" algn="just">
              <a:lnSpc>
                <a:spcPct val="100000"/>
              </a:lnSpc>
              <a:spcBef>
                <a:spcPts val="860"/>
              </a:spcBef>
              <a:buFont typeface="Arial" panose="020B0604020202020204"/>
              <a:buChar char="•"/>
              <a:tabLst>
                <a:tab pos="465455" algn="l"/>
              </a:tabLst>
            </a:pPr>
            <a:r>
              <a:rPr sz="2200" dirty="0">
                <a:latin typeface="微软雅黑" panose="020B0503020204020204" pitchFamily="34" charset="-122"/>
                <a:cs typeface="微软雅黑" panose="020B0503020204020204" pitchFamily="34" charset="-122"/>
              </a:rPr>
              <a:t>对最内层循环按照简单循环方法进行测试；</a:t>
            </a:r>
          </a:p>
          <a:p>
            <a:pPr marL="469265" marR="5080" indent="-368300" algn="just">
              <a:lnSpc>
                <a:spcPct val="110000"/>
              </a:lnSpc>
              <a:spcBef>
                <a:spcPts val="600"/>
              </a:spcBef>
              <a:buFont typeface="Arial" panose="020B0604020202020204"/>
              <a:buChar char="•"/>
              <a:tabLst>
                <a:tab pos="468630" algn="l"/>
              </a:tabLst>
            </a:pPr>
            <a:r>
              <a:rPr sz="2200" spc="45" dirty="0">
                <a:latin typeface="微软雅黑" panose="020B0503020204020204" pitchFamily="34" charset="-122"/>
                <a:cs typeface="微软雅黑" panose="020B0503020204020204" pitchFamily="34" charset="-122"/>
              </a:rPr>
              <a:t>由内向外进行下一个循环的测试，本层循环的所有外 层循环仍取最小</a:t>
            </a:r>
            <a:r>
              <a:rPr sz="2200" spc="50" dirty="0">
                <a:latin typeface="微软雅黑" panose="020B0503020204020204" pitchFamily="34" charset="-122"/>
                <a:cs typeface="微软雅黑" panose="020B0503020204020204" pitchFamily="34" charset="-122"/>
              </a:rPr>
              <a:t>值，</a:t>
            </a:r>
            <a:r>
              <a:rPr sz="2200" spc="45" dirty="0">
                <a:latin typeface="微软雅黑" panose="020B0503020204020204" pitchFamily="34" charset="-122"/>
                <a:cs typeface="微软雅黑" panose="020B0503020204020204" pitchFamily="34" charset="-122"/>
              </a:rPr>
              <a:t>而由本层循环嵌套的循环取某些  </a:t>
            </a:r>
            <a:r>
              <a:rPr sz="2200" dirty="0">
                <a:latin typeface="微软雅黑" panose="020B0503020204020204" pitchFamily="34" charset="-122"/>
                <a:cs typeface="微软雅黑" panose="020B0503020204020204" pitchFamily="34" charset="-122"/>
              </a:rPr>
              <a:t>“典型”值；</a:t>
            </a:r>
          </a:p>
          <a:p>
            <a:pPr marL="464820" indent="-364490" algn="just">
              <a:lnSpc>
                <a:spcPct val="100000"/>
              </a:lnSpc>
              <a:spcBef>
                <a:spcPts val="860"/>
              </a:spcBef>
              <a:buFont typeface="Arial" panose="020B0604020202020204"/>
              <a:buChar char="•"/>
              <a:tabLst>
                <a:tab pos="465455" algn="l"/>
              </a:tabLst>
            </a:pPr>
            <a:r>
              <a:rPr sz="2200" dirty="0">
                <a:latin typeface="微软雅黑" panose="020B0503020204020204" pitchFamily="34" charset="-122"/>
                <a:cs typeface="微软雅黑" panose="020B0503020204020204" pitchFamily="34" charset="-122"/>
              </a:rPr>
              <a:t>重复上一步的过程，直到测试完所有循环。</a:t>
            </a:r>
          </a:p>
          <a:p>
            <a:pPr marL="12700">
              <a:lnSpc>
                <a:spcPct val="100000"/>
              </a:lnSpc>
              <a:spcBef>
                <a:spcPts val="1740"/>
              </a:spcBef>
            </a:pPr>
            <a:r>
              <a:rPr sz="2200" dirty="0">
                <a:solidFill>
                  <a:srgbClr val="0033CC"/>
                </a:solidFill>
                <a:latin typeface="微软雅黑" panose="020B0503020204020204" pitchFamily="34" charset="-122"/>
                <a:cs typeface="微软雅黑" panose="020B0503020204020204" pitchFamily="34" charset="-122"/>
              </a:rPr>
              <a:t>串接循环</a:t>
            </a:r>
            <a:endParaRPr sz="2200" dirty="0">
              <a:latin typeface="微软雅黑" panose="020B0503020204020204" pitchFamily="34" charset="-122"/>
              <a:cs typeface="微软雅黑" panose="020B0503020204020204" pitchFamily="34" charset="-122"/>
            </a:endParaRPr>
          </a:p>
          <a:p>
            <a:pPr marL="464820" indent="-364490" algn="just">
              <a:lnSpc>
                <a:spcPct val="100000"/>
              </a:lnSpc>
              <a:spcBef>
                <a:spcPts val="1460"/>
              </a:spcBef>
              <a:buFont typeface="Arial" panose="020B0604020202020204"/>
              <a:buChar char="•"/>
              <a:tabLst>
                <a:tab pos="465455" algn="l"/>
              </a:tabLst>
            </a:pPr>
            <a:r>
              <a:rPr sz="2200" dirty="0">
                <a:latin typeface="微软雅黑" panose="020B0503020204020204" pitchFamily="34" charset="-122"/>
                <a:cs typeface="微软雅黑" panose="020B0503020204020204" pitchFamily="34" charset="-122"/>
              </a:rPr>
              <a:t>独立循环：分别采用简单循环的测试方法；</a:t>
            </a:r>
          </a:p>
          <a:p>
            <a:pPr marL="464820" indent="-364490" algn="just">
              <a:lnSpc>
                <a:spcPct val="100000"/>
              </a:lnSpc>
              <a:spcBef>
                <a:spcPts val="860"/>
              </a:spcBef>
              <a:buFont typeface="Arial" panose="020B0604020202020204"/>
              <a:buChar char="•"/>
              <a:tabLst>
                <a:tab pos="465455" algn="l"/>
              </a:tabLst>
            </a:pPr>
            <a:r>
              <a:rPr sz="2200" dirty="0">
                <a:latin typeface="微软雅黑" panose="020B0503020204020204" pitchFamily="34" charset="-122"/>
                <a:cs typeface="微软雅黑" panose="020B0503020204020204" pitchFamily="34" charset="-122"/>
              </a:rPr>
              <a:t>依赖性循环：采用嵌套循环的测试方法。</a:t>
            </a:r>
          </a:p>
        </p:txBody>
      </p:sp>
      <p:sp>
        <p:nvSpPr>
          <p:cNvPr id="4" name="object 4"/>
          <p:cNvSpPr/>
          <p:nvPr/>
        </p:nvSpPr>
        <p:spPr>
          <a:xfrm>
            <a:off x="9710079" y="3056982"/>
            <a:ext cx="935990" cy="425450"/>
          </a:xfrm>
          <a:custGeom>
            <a:avLst/>
            <a:gdLst/>
            <a:ahLst/>
            <a:cxnLst/>
            <a:rect l="l" t="t" r="r" b="b"/>
            <a:pathLst>
              <a:path w="935990" h="425450">
                <a:moveTo>
                  <a:pt x="0" y="0"/>
                </a:moveTo>
                <a:lnTo>
                  <a:pt x="935641" y="0"/>
                </a:lnTo>
                <a:lnTo>
                  <a:pt x="935641" y="425291"/>
                </a:lnTo>
                <a:lnTo>
                  <a:pt x="0" y="425291"/>
                </a:lnTo>
                <a:lnTo>
                  <a:pt x="0" y="0"/>
                </a:lnTo>
                <a:close/>
              </a:path>
            </a:pathLst>
          </a:custGeom>
          <a:ln w="19049">
            <a:solidFill>
              <a:srgbClr val="000000"/>
            </a:solidFill>
          </a:ln>
        </p:spPr>
        <p:txBody>
          <a:bodyPr wrap="square" lIns="0" tIns="0" rIns="0" bIns="0" rtlCol="0"/>
          <a:lstStyle/>
          <a:p>
            <a:endParaRPr/>
          </a:p>
        </p:txBody>
      </p:sp>
      <p:sp>
        <p:nvSpPr>
          <p:cNvPr id="5" name="object 5"/>
          <p:cNvSpPr/>
          <p:nvPr/>
        </p:nvSpPr>
        <p:spPr>
          <a:xfrm>
            <a:off x="9582055" y="3945985"/>
            <a:ext cx="1191260" cy="510540"/>
          </a:xfrm>
          <a:custGeom>
            <a:avLst/>
            <a:gdLst/>
            <a:ahLst/>
            <a:cxnLst/>
            <a:rect l="l" t="t" r="r" b="b"/>
            <a:pathLst>
              <a:path w="1191259" h="510539">
                <a:moveTo>
                  <a:pt x="0" y="255174"/>
                </a:moveTo>
                <a:lnTo>
                  <a:pt x="595408" y="0"/>
                </a:lnTo>
                <a:lnTo>
                  <a:pt x="1190818" y="255174"/>
                </a:lnTo>
                <a:lnTo>
                  <a:pt x="595408" y="510349"/>
                </a:lnTo>
                <a:lnTo>
                  <a:pt x="0" y="255174"/>
                </a:lnTo>
                <a:close/>
              </a:path>
            </a:pathLst>
          </a:custGeom>
          <a:ln w="19049">
            <a:solidFill>
              <a:srgbClr val="000000"/>
            </a:solidFill>
          </a:ln>
        </p:spPr>
        <p:txBody>
          <a:bodyPr wrap="square" lIns="0" tIns="0" rIns="0" bIns="0" rtlCol="0"/>
          <a:lstStyle/>
          <a:p>
            <a:endParaRPr/>
          </a:p>
        </p:txBody>
      </p:sp>
      <p:sp>
        <p:nvSpPr>
          <p:cNvPr id="6" name="object 6"/>
          <p:cNvSpPr/>
          <p:nvPr/>
        </p:nvSpPr>
        <p:spPr>
          <a:xfrm>
            <a:off x="10177487" y="3482275"/>
            <a:ext cx="635" cy="438784"/>
          </a:xfrm>
          <a:custGeom>
            <a:avLst/>
            <a:gdLst/>
            <a:ahLst/>
            <a:cxnLst/>
            <a:rect l="l" t="t" r="r" b="b"/>
            <a:pathLst>
              <a:path w="634" h="438785">
                <a:moveTo>
                  <a:pt x="412" y="0"/>
                </a:moveTo>
                <a:lnTo>
                  <a:pt x="0" y="438505"/>
                </a:lnTo>
              </a:path>
            </a:pathLst>
          </a:custGeom>
          <a:ln w="19049">
            <a:solidFill>
              <a:srgbClr val="000000"/>
            </a:solidFill>
          </a:ln>
        </p:spPr>
        <p:txBody>
          <a:bodyPr wrap="square" lIns="0" tIns="0" rIns="0" bIns="0" rtlCol="0"/>
          <a:lstStyle/>
          <a:p>
            <a:endParaRPr/>
          </a:p>
        </p:txBody>
      </p:sp>
      <p:sp>
        <p:nvSpPr>
          <p:cNvPr id="7" name="object 7"/>
          <p:cNvSpPr/>
          <p:nvPr/>
        </p:nvSpPr>
        <p:spPr>
          <a:xfrm>
            <a:off x="10118605" y="3830034"/>
            <a:ext cx="117908" cy="115950"/>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10175905" y="2332839"/>
            <a:ext cx="0" cy="706755"/>
          </a:xfrm>
          <a:custGeom>
            <a:avLst/>
            <a:gdLst/>
            <a:ahLst/>
            <a:cxnLst/>
            <a:rect l="l" t="t" r="r" b="b"/>
            <a:pathLst>
              <a:path h="706755">
                <a:moveTo>
                  <a:pt x="0" y="0"/>
                </a:moveTo>
                <a:lnTo>
                  <a:pt x="0" y="706632"/>
                </a:lnTo>
              </a:path>
            </a:pathLst>
          </a:custGeom>
          <a:ln w="19049">
            <a:solidFill>
              <a:srgbClr val="000000"/>
            </a:solidFill>
          </a:ln>
        </p:spPr>
        <p:txBody>
          <a:bodyPr wrap="square" lIns="0" tIns="0" rIns="0" bIns="0" rtlCol="0"/>
          <a:lstStyle/>
          <a:p>
            <a:endParaRPr/>
          </a:p>
        </p:txBody>
      </p:sp>
      <p:sp>
        <p:nvSpPr>
          <p:cNvPr id="9" name="object 9"/>
          <p:cNvSpPr/>
          <p:nvPr/>
        </p:nvSpPr>
        <p:spPr>
          <a:xfrm>
            <a:off x="10116950" y="2948767"/>
            <a:ext cx="117908" cy="115909"/>
          </a:xfrm>
          <a:prstGeom prst="rect">
            <a:avLst/>
          </a:prstGeom>
          <a:blipFill>
            <a:blip r:embed="rId4" cstate="print"/>
            <a:stretch>
              <a:fillRect/>
            </a:stretch>
          </a:blipFill>
        </p:spPr>
        <p:txBody>
          <a:bodyPr wrap="square" lIns="0" tIns="0" rIns="0" bIns="0" rtlCol="0"/>
          <a:lstStyle/>
          <a:p>
            <a:endParaRPr/>
          </a:p>
        </p:txBody>
      </p:sp>
      <p:sp>
        <p:nvSpPr>
          <p:cNvPr id="10" name="object 10"/>
          <p:cNvSpPr/>
          <p:nvPr/>
        </p:nvSpPr>
        <p:spPr>
          <a:xfrm>
            <a:off x="9311843" y="2758132"/>
            <a:ext cx="866140" cy="1968500"/>
          </a:xfrm>
          <a:custGeom>
            <a:avLst/>
            <a:gdLst/>
            <a:ahLst/>
            <a:cxnLst/>
            <a:rect l="l" t="t" r="r" b="b"/>
            <a:pathLst>
              <a:path w="866140" h="1968500">
                <a:moveTo>
                  <a:pt x="865619" y="1698202"/>
                </a:moveTo>
                <a:lnTo>
                  <a:pt x="865619" y="1968267"/>
                </a:lnTo>
                <a:lnTo>
                  <a:pt x="0" y="1968267"/>
                </a:lnTo>
                <a:lnTo>
                  <a:pt x="0" y="0"/>
                </a:lnTo>
                <a:lnTo>
                  <a:pt x="840850" y="0"/>
                </a:lnTo>
              </a:path>
            </a:pathLst>
          </a:custGeom>
          <a:ln w="19049">
            <a:solidFill>
              <a:srgbClr val="000000"/>
            </a:solidFill>
          </a:ln>
        </p:spPr>
        <p:txBody>
          <a:bodyPr wrap="square" lIns="0" tIns="0" rIns="0" bIns="0" rtlCol="0"/>
          <a:lstStyle/>
          <a:p>
            <a:endParaRPr/>
          </a:p>
        </p:txBody>
      </p:sp>
      <p:sp>
        <p:nvSpPr>
          <p:cNvPr id="11" name="object 11"/>
          <p:cNvSpPr/>
          <p:nvPr/>
        </p:nvSpPr>
        <p:spPr>
          <a:xfrm>
            <a:off x="10061991" y="2699178"/>
            <a:ext cx="115907" cy="117908"/>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9580497" y="4920044"/>
            <a:ext cx="1191260" cy="510540"/>
          </a:xfrm>
          <a:custGeom>
            <a:avLst/>
            <a:gdLst/>
            <a:ahLst/>
            <a:cxnLst/>
            <a:rect l="l" t="t" r="r" b="b"/>
            <a:pathLst>
              <a:path w="1191259" h="510539">
                <a:moveTo>
                  <a:pt x="0" y="255174"/>
                </a:moveTo>
                <a:lnTo>
                  <a:pt x="595408" y="0"/>
                </a:lnTo>
                <a:lnTo>
                  <a:pt x="1190817" y="255174"/>
                </a:lnTo>
                <a:lnTo>
                  <a:pt x="595408" y="510349"/>
                </a:lnTo>
                <a:lnTo>
                  <a:pt x="0" y="255174"/>
                </a:lnTo>
                <a:close/>
              </a:path>
            </a:pathLst>
          </a:custGeom>
          <a:ln w="19049">
            <a:solidFill>
              <a:srgbClr val="000000"/>
            </a:solidFill>
          </a:ln>
        </p:spPr>
        <p:txBody>
          <a:bodyPr wrap="square" lIns="0" tIns="0" rIns="0" bIns="0" rtlCol="0"/>
          <a:lstStyle/>
          <a:p>
            <a:endParaRPr/>
          </a:p>
        </p:txBody>
      </p:sp>
      <p:sp>
        <p:nvSpPr>
          <p:cNvPr id="13" name="object 13"/>
          <p:cNvSpPr/>
          <p:nvPr/>
        </p:nvSpPr>
        <p:spPr>
          <a:xfrm>
            <a:off x="10175929" y="4456334"/>
            <a:ext cx="635" cy="438784"/>
          </a:xfrm>
          <a:custGeom>
            <a:avLst/>
            <a:gdLst/>
            <a:ahLst/>
            <a:cxnLst/>
            <a:rect l="l" t="t" r="r" b="b"/>
            <a:pathLst>
              <a:path w="634" h="438785">
                <a:moveTo>
                  <a:pt x="412" y="0"/>
                </a:moveTo>
                <a:lnTo>
                  <a:pt x="0" y="438504"/>
                </a:lnTo>
              </a:path>
            </a:pathLst>
          </a:custGeom>
          <a:ln w="19049">
            <a:solidFill>
              <a:srgbClr val="000000"/>
            </a:solidFill>
          </a:ln>
        </p:spPr>
        <p:txBody>
          <a:bodyPr wrap="square" lIns="0" tIns="0" rIns="0" bIns="0" rtlCol="0"/>
          <a:lstStyle/>
          <a:p>
            <a:endParaRPr/>
          </a:p>
        </p:txBody>
      </p:sp>
      <p:sp>
        <p:nvSpPr>
          <p:cNvPr id="14" name="object 14"/>
          <p:cNvSpPr/>
          <p:nvPr/>
        </p:nvSpPr>
        <p:spPr>
          <a:xfrm>
            <a:off x="10117047" y="4804093"/>
            <a:ext cx="117906" cy="115950"/>
          </a:xfrm>
          <a:prstGeom prst="rect">
            <a:avLst/>
          </a:prstGeom>
          <a:blipFill>
            <a:blip r:embed="rId6" cstate="print"/>
            <a:stretch>
              <a:fillRect/>
            </a:stretch>
          </a:blipFill>
        </p:spPr>
        <p:txBody>
          <a:bodyPr wrap="square" lIns="0" tIns="0" rIns="0" bIns="0" rtlCol="0"/>
          <a:lstStyle/>
          <a:p>
            <a:endParaRPr/>
          </a:p>
        </p:txBody>
      </p:sp>
      <p:sp>
        <p:nvSpPr>
          <p:cNvPr id="15" name="object 15"/>
          <p:cNvSpPr/>
          <p:nvPr/>
        </p:nvSpPr>
        <p:spPr>
          <a:xfrm>
            <a:off x="9112206" y="2545486"/>
            <a:ext cx="1064260" cy="3155315"/>
          </a:xfrm>
          <a:custGeom>
            <a:avLst/>
            <a:gdLst/>
            <a:ahLst/>
            <a:cxnLst/>
            <a:rect l="l" t="t" r="r" b="b"/>
            <a:pathLst>
              <a:path w="1064259" h="3155315">
                <a:moveTo>
                  <a:pt x="1063698" y="2884910"/>
                </a:moveTo>
                <a:lnTo>
                  <a:pt x="1063698" y="3154967"/>
                </a:lnTo>
                <a:lnTo>
                  <a:pt x="0" y="3154967"/>
                </a:lnTo>
                <a:lnTo>
                  <a:pt x="0" y="0"/>
                </a:lnTo>
                <a:lnTo>
                  <a:pt x="1038057" y="0"/>
                </a:lnTo>
              </a:path>
            </a:pathLst>
          </a:custGeom>
          <a:ln w="19049">
            <a:solidFill>
              <a:srgbClr val="000000"/>
            </a:solidFill>
          </a:ln>
        </p:spPr>
        <p:txBody>
          <a:bodyPr wrap="square" lIns="0" tIns="0" rIns="0" bIns="0" rtlCol="0"/>
          <a:lstStyle/>
          <a:p>
            <a:endParaRPr/>
          </a:p>
        </p:txBody>
      </p:sp>
      <p:sp>
        <p:nvSpPr>
          <p:cNvPr id="16" name="object 16"/>
          <p:cNvSpPr/>
          <p:nvPr/>
        </p:nvSpPr>
        <p:spPr>
          <a:xfrm>
            <a:off x="10059561" y="2486533"/>
            <a:ext cx="115907" cy="117908"/>
          </a:xfrm>
          <a:prstGeom prst="rect">
            <a:avLst/>
          </a:prstGeom>
          <a:blipFill>
            <a:blip r:embed="rId7" cstate="print"/>
            <a:stretch>
              <a:fillRect/>
            </a:stretch>
          </a:blipFill>
        </p:spPr>
        <p:txBody>
          <a:bodyPr wrap="square" lIns="0" tIns="0" rIns="0" bIns="0" rtlCol="0"/>
          <a:lstStyle/>
          <a:p>
            <a:endParaRPr/>
          </a:p>
        </p:txBody>
      </p:sp>
      <p:sp>
        <p:nvSpPr>
          <p:cNvPr id="17" name="灯片编号占位符 16"/>
          <p:cNvSpPr>
            <a:spLocks noGrp="1"/>
          </p:cNvSpPr>
          <p:nvPr>
            <p:ph type="sldNum" sz="quarter" idx="12"/>
          </p:nvPr>
        </p:nvSpPr>
        <p:spPr/>
        <p:txBody>
          <a:bodyPr/>
          <a:lstStyle/>
          <a:p>
            <a:fld id="{74D2AB8B-5816-41F2-8B4B-CA5C3E4E6A65}" type="slidenum">
              <a:rPr lang="zh-CN" altLang="en-US" smtClean="0"/>
              <a:t>47</a:t>
            </a:fld>
            <a:endParaRPr lang="zh-CN" altLang="en-US"/>
          </a:p>
        </p:txBody>
      </p:sp>
      <p:sp>
        <p:nvSpPr>
          <p:cNvPr id="19" name="标题 18"/>
          <p:cNvSpPr>
            <a:spLocks noGrp="1"/>
          </p:cNvSpPr>
          <p:nvPr>
            <p:ph type="title"/>
          </p:nvPr>
        </p:nvSpPr>
        <p:spPr/>
        <p:txBody>
          <a:bodyPr/>
          <a:lstStyle/>
          <a:p>
            <a:r>
              <a:rPr lang="zh-CN" altLang="en-US" dirty="0"/>
              <a:t>循环测试</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42519" y="1573821"/>
            <a:ext cx="10561955" cy="1822450"/>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0033CC"/>
                </a:solidFill>
                <a:latin typeface="Arial" panose="020B0604020202020204"/>
                <a:cs typeface="Arial" panose="020B0604020202020204"/>
              </a:rPr>
              <a:t>Z</a:t>
            </a:r>
            <a:r>
              <a:rPr sz="2200" dirty="0">
                <a:solidFill>
                  <a:srgbClr val="0033CC"/>
                </a:solidFill>
                <a:latin typeface="微软雅黑" panose="020B0503020204020204" pitchFamily="34" charset="-122"/>
                <a:cs typeface="微软雅黑" panose="020B0503020204020204" pitchFamily="34" charset="-122"/>
              </a:rPr>
              <a:t>路径覆盖下的循环测试</a:t>
            </a:r>
            <a:endParaRPr sz="2200" dirty="0">
              <a:latin typeface="微软雅黑" panose="020B0503020204020204" pitchFamily="34" charset="-122"/>
              <a:cs typeface="微软雅黑" panose="020B0503020204020204" pitchFamily="34" charset="-122"/>
            </a:endParaRPr>
          </a:p>
          <a:p>
            <a:pPr marL="457200" indent="-355600">
              <a:lnSpc>
                <a:spcPct val="100000"/>
              </a:lnSpc>
              <a:spcBef>
                <a:spcPts val="1660"/>
              </a:spcBef>
              <a:buFont typeface="Arial" panose="020B0604020202020204"/>
              <a:buChar char="•"/>
              <a:tabLst>
                <a:tab pos="456565" algn="l"/>
                <a:tab pos="457200" algn="l"/>
              </a:tabLst>
            </a:pPr>
            <a:r>
              <a:rPr sz="2200" dirty="0">
                <a:latin typeface="微软雅黑" panose="020B0503020204020204" pitchFamily="34" charset="-122"/>
                <a:cs typeface="微软雅黑" panose="020B0503020204020204" pitchFamily="34" charset="-122"/>
              </a:rPr>
              <a:t>这是路径覆盖的一种变体，将程序中的</a:t>
            </a:r>
            <a:r>
              <a:rPr sz="2200" dirty="0">
                <a:solidFill>
                  <a:srgbClr val="FF0000"/>
                </a:solidFill>
                <a:latin typeface="微软雅黑" panose="020B0503020204020204" pitchFamily="34" charset="-122"/>
                <a:cs typeface="微软雅黑" panose="020B0503020204020204" pitchFamily="34" charset="-122"/>
              </a:rPr>
              <a:t>循环结构简化为选择结构</a:t>
            </a:r>
            <a:r>
              <a:rPr sz="2200" dirty="0">
                <a:latin typeface="微软雅黑" panose="020B0503020204020204" pitchFamily="34" charset="-122"/>
                <a:cs typeface="微软雅黑" panose="020B0503020204020204" pitchFamily="34" charset="-122"/>
              </a:rPr>
              <a:t>的一种路径覆盖。</a:t>
            </a:r>
          </a:p>
          <a:p>
            <a:pPr marL="469265" marR="5080" indent="-368300">
              <a:lnSpc>
                <a:spcPct val="125000"/>
              </a:lnSpc>
              <a:spcBef>
                <a:spcPts val="610"/>
              </a:spcBef>
              <a:buFont typeface="Arial" panose="020B0604020202020204"/>
              <a:buChar char="•"/>
              <a:tabLst>
                <a:tab pos="469265" algn="l"/>
                <a:tab pos="469900" algn="l"/>
              </a:tabLst>
            </a:pPr>
            <a:r>
              <a:rPr sz="2200" spc="70" dirty="0">
                <a:latin typeface="微软雅黑" panose="020B0503020204020204" pitchFamily="34" charset="-122"/>
                <a:cs typeface="微软雅黑" panose="020B0503020204020204" pitchFamily="34" charset="-122"/>
              </a:rPr>
              <a:t>循环简化的目的是限制循环的次数，无论循环的形式和循环体实际执行的次</a:t>
            </a:r>
            <a:r>
              <a:rPr sz="2200" spc="-5" dirty="0">
                <a:latin typeface="微软雅黑" panose="020B0503020204020204" pitchFamily="34" charset="-122"/>
                <a:cs typeface="微软雅黑" panose="020B0503020204020204" pitchFamily="34" charset="-122"/>
              </a:rPr>
              <a:t>数</a:t>
            </a:r>
            <a:r>
              <a:rPr sz="2200" dirty="0">
                <a:latin typeface="微软雅黑" panose="020B0503020204020204" pitchFamily="34" charset="-122"/>
                <a:cs typeface="微软雅黑" panose="020B0503020204020204" pitchFamily="34" charset="-122"/>
              </a:rPr>
              <a:t>， 简化后的循环测试</a:t>
            </a:r>
            <a:r>
              <a:rPr sz="2200" dirty="0">
                <a:solidFill>
                  <a:srgbClr val="FF0000"/>
                </a:solidFill>
                <a:latin typeface="微软雅黑" panose="020B0503020204020204" pitchFamily="34" charset="-122"/>
                <a:cs typeface="微软雅黑" panose="020B0503020204020204" pitchFamily="34" charset="-122"/>
              </a:rPr>
              <a:t>只考虑执行循环体一次和零次（不执行）</a:t>
            </a:r>
            <a:r>
              <a:rPr sz="2200" dirty="0">
                <a:latin typeface="微软雅黑" panose="020B0503020204020204" pitchFamily="34" charset="-122"/>
                <a:cs typeface="微软雅黑" panose="020B0503020204020204" pitchFamily="34" charset="-122"/>
              </a:rPr>
              <a:t>两种情况。</a:t>
            </a:r>
          </a:p>
        </p:txBody>
      </p:sp>
      <p:sp>
        <p:nvSpPr>
          <p:cNvPr id="4" name="object 4"/>
          <p:cNvSpPr/>
          <p:nvPr/>
        </p:nvSpPr>
        <p:spPr>
          <a:xfrm>
            <a:off x="7545909" y="4382339"/>
            <a:ext cx="3338195" cy="1016000"/>
          </a:xfrm>
          <a:custGeom>
            <a:avLst/>
            <a:gdLst/>
            <a:ahLst/>
            <a:cxnLst/>
            <a:rect l="l" t="t" r="r" b="b"/>
            <a:pathLst>
              <a:path w="3338195" h="1016000">
                <a:moveTo>
                  <a:pt x="0" y="0"/>
                </a:moveTo>
                <a:lnTo>
                  <a:pt x="3337737" y="0"/>
                </a:lnTo>
                <a:lnTo>
                  <a:pt x="3337737" y="1015662"/>
                </a:lnTo>
                <a:lnTo>
                  <a:pt x="0" y="1015662"/>
                </a:lnTo>
                <a:lnTo>
                  <a:pt x="0" y="0"/>
                </a:lnTo>
                <a:close/>
              </a:path>
            </a:pathLst>
          </a:custGeom>
          <a:ln w="19049">
            <a:solidFill>
              <a:srgbClr val="919191"/>
            </a:solidFill>
          </a:ln>
        </p:spPr>
        <p:txBody>
          <a:bodyPr wrap="square" lIns="0" tIns="0" rIns="0" bIns="0" rtlCol="0"/>
          <a:lstStyle/>
          <a:p>
            <a:endParaRPr/>
          </a:p>
        </p:txBody>
      </p:sp>
      <p:sp>
        <p:nvSpPr>
          <p:cNvPr id="5" name="object 5"/>
          <p:cNvSpPr txBox="1"/>
          <p:nvPr/>
        </p:nvSpPr>
        <p:spPr>
          <a:xfrm>
            <a:off x="7624649" y="4415359"/>
            <a:ext cx="3327400" cy="939800"/>
          </a:xfrm>
          <a:prstGeom prst="rect">
            <a:avLst/>
          </a:prstGeom>
        </p:spPr>
        <p:txBody>
          <a:bodyPr vert="horz" wrap="square" lIns="0" tIns="12700" rIns="0" bIns="0" rtlCol="0">
            <a:spAutoFit/>
          </a:bodyPr>
          <a:lstStyle/>
          <a:p>
            <a:pPr marL="12700" marR="5080">
              <a:lnSpc>
                <a:spcPct val="100000"/>
              </a:lnSpc>
              <a:spcBef>
                <a:spcPts val="100"/>
              </a:spcBef>
            </a:pPr>
            <a:r>
              <a:rPr sz="2000" dirty="0">
                <a:latin typeface="微软雅黑" panose="020B0503020204020204" pitchFamily="34" charset="-122"/>
                <a:cs typeface="微软雅黑" panose="020B0503020204020204" pitchFamily="34" charset="-122"/>
              </a:rPr>
              <a:t>在循环简化的思路下，循环 与判定分支的效果是一样的， 即循环要么执行、要么跳过。</a:t>
            </a:r>
            <a:endParaRPr sz="2000">
              <a:latin typeface="微软雅黑" panose="020B0503020204020204" pitchFamily="34" charset="-122"/>
              <a:cs typeface="微软雅黑" panose="020B0503020204020204" pitchFamily="34" charset="-122"/>
            </a:endParaRPr>
          </a:p>
        </p:txBody>
      </p:sp>
      <p:sp>
        <p:nvSpPr>
          <p:cNvPr id="6" name="object 6"/>
          <p:cNvSpPr/>
          <p:nvPr/>
        </p:nvSpPr>
        <p:spPr>
          <a:xfrm>
            <a:off x="4073492" y="4571742"/>
            <a:ext cx="648335" cy="602615"/>
          </a:xfrm>
          <a:custGeom>
            <a:avLst/>
            <a:gdLst/>
            <a:ahLst/>
            <a:cxnLst/>
            <a:rect l="l" t="t" r="r" b="b"/>
            <a:pathLst>
              <a:path w="648335" h="602614">
                <a:moveTo>
                  <a:pt x="456131" y="0"/>
                </a:moveTo>
                <a:lnTo>
                  <a:pt x="456131" y="150649"/>
                </a:lnTo>
                <a:lnTo>
                  <a:pt x="0" y="150649"/>
                </a:lnTo>
                <a:lnTo>
                  <a:pt x="0" y="451949"/>
                </a:lnTo>
                <a:lnTo>
                  <a:pt x="456131" y="451949"/>
                </a:lnTo>
                <a:lnTo>
                  <a:pt x="456131" y="602599"/>
                </a:lnTo>
                <a:lnTo>
                  <a:pt x="648187" y="301299"/>
                </a:lnTo>
                <a:lnTo>
                  <a:pt x="456131" y="0"/>
                </a:lnTo>
                <a:close/>
              </a:path>
            </a:pathLst>
          </a:custGeom>
          <a:solidFill>
            <a:srgbClr val="CBCBCB"/>
          </a:solidFill>
        </p:spPr>
        <p:txBody>
          <a:bodyPr wrap="square" lIns="0" tIns="0" rIns="0" bIns="0" rtlCol="0"/>
          <a:lstStyle/>
          <a:p>
            <a:endParaRPr/>
          </a:p>
        </p:txBody>
      </p:sp>
      <p:sp>
        <p:nvSpPr>
          <p:cNvPr id="7" name="object 7"/>
          <p:cNvSpPr/>
          <p:nvPr/>
        </p:nvSpPr>
        <p:spPr>
          <a:xfrm>
            <a:off x="4025478" y="4722392"/>
            <a:ext cx="0" cy="301625"/>
          </a:xfrm>
          <a:custGeom>
            <a:avLst/>
            <a:gdLst/>
            <a:ahLst/>
            <a:cxnLst/>
            <a:rect l="l" t="t" r="r" b="b"/>
            <a:pathLst>
              <a:path h="301625">
                <a:moveTo>
                  <a:pt x="0" y="0"/>
                </a:moveTo>
                <a:lnTo>
                  <a:pt x="0" y="301299"/>
                </a:lnTo>
              </a:path>
            </a:pathLst>
          </a:custGeom>
          <a:ln w="48013">
            <a:solidFill>
              <a:srgbClr val="CBCBCB"/>
            </a:solidFill>
          </a:ln>
        </p:spPr>
        <p:txBody>
          <a:bodyPr wrap="square" lIns="0" tIns="0" rIns="0" bIns="0" rtlCol="0"/>
          <a:lstStyle/>
          <a:p>
            <a:endParaRPr/>
          </a:p>
        </p:txBody>
      </p:sp>
      <p:sp>
        <p:nvSpPr>
          <p:cNvPr id="8" name="object 8"/>
          <p:cNvSpPr/>
          <p:nvPr/>
        </p:nvSpPr>
        <p:spPr>
          <a:xfrm>
            <a:off x="3965461" y="4722392"/>
            <a:ext cx="0" cy="301625"/>
          </a:xfrm>
          <a:custGeom>
            <a:avLst/>
            <a:gdLst/>
            <a:ahLst/>
            <a:cxnLst/>
            <a:rect l="l" t="t" r="r" b="b"/>
            <a:pathLst>
              <a:path h="301625">
                <a:moveTo>
                  <a:pt x="0" y="0"/>
                </a:moveTo>
                <a:lnTo>
                  <a:pt x="0" y="301299"/>
                </a:lnTo>
              </a:path>
            </a:pathLst>
          </a:custGeom>
          <a:ln w="24008">
            <a:solidFill>
              <a:srgbClr val="CBCBCB"/>
            </a:solidFill>
          </a:ln>
        </p:spPr>
        <p:txBody>
          <a:bodyPr wrap="square" lIns="0" tIns="0" rIns="0" bIns="0" rtlCol="0"/>
          <a:lstStyle/>
          <a:p>
            <a:endParaRPr/>
          </a:p>
        </p:txBody>
      </p:sp>
      <p:sp>
        <p:nvSpPr>
          <p:cNvPr id="9" name="object 9"/>
          <p:cNvSpPr/>
          <p:nvPr/>
        </p:nvSpPr>
        <p:spPr>
          <a:xfrm>
            <a:off x="1486201" y="4227289"/>
            <a:ext cx="955675" cy="413384"/>
          </a:xfrm>
          <a:custGeom>
            <a:avLst/>
            <a:gdLst/>
            <a:ahLst/>
            <a:cxnLst/>
            <a:rect l="l" t="t" r="r" b="b"/>
            <a:pathLst>
              <a:path w="955675" h="413385">
                <a:moveTo>
                  <a:pt x="0" y="206671"/>
                </a:moveTo>
                <a:lnTo>
                  <a:pt x="477654" y="0"/>
                </a:lnTo>
                <a:lnTo>
                  <a:pt x="955308" y="206671"/>
                </a:lnTo>
                <a:lnTo>
                  <a:pt x="477654" y="413342"/>
                </a:lnTo>
                <a:lnTo>
                  <a:pt x="0" y="206671"/>
                </a:lnTo>
                <a:close/>
              </a:path>
            </a:pathLst>
          </a:custGeom>
          <a:ln w="19049">
            <a:solidFill>
              <a:srgbClr val="000000"/>
            </a:solidFill>
          </a:ln>
        </p:spPr>
        <p:txBody>
          <a:bodyPr wrap="square" lIns="0" tIns="0" rIns="0" bIns="0" rtlCol="0"/>
          <a:lstStyle/>
          <a:p>
            <a:endParaRPr/>
          </a:p>
        </p:txBody>
      </p:sp>
      <p:sp>
        <p:nvSpPr>
          <p:cNvPr id="10" name="object 10"/>
          <p:cNvSpPr/>
          <p:nvPr/>
        </p:nvSpPr>
        <p:spPr>
          <a:xfrm>
            <a:off x="1587304" y="5020218"/>
            <a:ext cx="751205" cy="344805"/>
          </a:xfrm>
          <a:custGeom>
            <a:avLst/>
            <a:gdLst/>
            <a:ahLst/>
            <a:cxnLst/>
            <a:rect l="l" t="t" r="r" b="b"/>
            <a:pathLst>
              <a:path w="751205" h="344804">
                <a:moveTo>
                  <a:pt x="0" y="0"/>
                </a:moveTo>
                <a:lnTo>
                  <a:pt x="750599" y="0"/>
                </a:lnTo>
                <a:lnTo>
                  <a:pt x="750599" y="344451"/>
                </a:lnTo>
                <a:lnTo>
                  <a:pt x="0" y="344451"/>
                </a:lnTo>
                <a:lnTo>
                  <a:pt x="0" y="0"/>
                </a:lnTo>
                <a:close/>
              </a:path>
            </a:pathLst>
          </a:custGeom>
          <a:ln w="19049">
            <a:solidFill>
              <a:srgbClr val="000000"/>
            </a:solidFill>
          </a:ln>
        </p:spPr>
        <p:txBody>
          <a:bodyPr wrap="square" lIns="0" tIns="0" rIns="0" bIns="0" rtlCol="0"/>
          <a:lstStyle/>
          <a:p>
            <a:endParaRPr/>
          </a:p>
        </p:txBody>
      </p:sp>
      <p:sp>
        <p:nvSpPr>
          <p:cNvPr id="11" name="object 11"/>
          <p:cNvSpPr/>
          <p:nvPr/>
        </p:nvSpPr>
        <p:spPr>
          <a:xfrm>
            <a:off x="1962687" y="4640632"/>
            <a:ext cx="1270" cy="354965"/>
          </a:xfrm>
          <a:custGeom>
            <a:avLst/>
            <a:gdLst/>
            <a:ahLst/>
            <a:cxnLst/>
            <a:rect l="l" t="t" r="r" b="b"/>
            <a:pathLst>
              <a:path w="1269" h="354964">
                <a:moveTo>
                  <a:pt x="1167" y="0"/>
                </a:moveTo>
                <a:lnTo>
                  <a:pt x="0" y="354382"/>
                </a:lnTo>
              </a:path>
            </a:pathLst>
          </a:custGeom>
          <a:ln w="19049">
            <a:solidFill>
              <a:srgbClr val="000000"/>
            </a:solidFill>
          </a:ln>
        </p:spPr>
        <p:txBody>
          <a:bodyPr wrap="square" lIns="0" tIns="0" rIns="0" bIns="0" rtlCol="0"/>
          <a:lstStyle/>
          <a:p>
            <a:endParaRPr/>
          </a:p>
        </p:txBody>
      </p:sp>
      <p:sp>
        <p:nvSpPr>
          <p:cNvPr id="12" name="object 12"/>
          <p:cNvSpPr/>
          <p:nvPr/>
        </p:nvSpPr>
        <p:spPr>
          <a:xfrm>
            <a:off x="1903984" y="4904162"/>
            <a:ext cx="117906" cy="116056"/>
          </a:xfrm>
          <a:prstGeom prst="rect">
            <a:avLst/>
          </a:prstGeom>
          <a:blipFill>
            <a:blip r:embed="rId3" cstate="print"/>
            <a:stretch>
              <a:fillRect/>
            </a:stretch>
          </a:blipFill>
        </p:spPr>
        <p:txBody>
          <a:bodyPr wrap="square" lIns="0" tIns="0" rIns="0" bIns="0" rtlCol="0"/>
          <a:lstStyle/>
          <a:p>
            <a:endParaRPr/>
          </a:p>
        </p:txBody>
      </p:sp>
      <p:sp>
        <p:nvSpPr>
          <p:cNvPr id="13" name="object 13"/>
          <p:cNvSpPr/>
          <p:nvPr/>
        </p:nvSpPr>
        <p:spPr>
          <a:xfrm>
            <a:off x="1961431" y="3818538"/>
            <a:ext cx="1270" cy="383540"/>
          </a:xfrm>
          <a:custGeom>
            <a:avLst/>
            <a:gdLst/>
            <a:ahLst/>
            <a:cxnLst/>
            <a:rect l="l" t="t" r="r" b="b"/>
            <a:pathLst>
              <a:path w="1269" h="383539">
                <a:moveTo>
                  <a:pt x="1173" y="0"/>
                </a:moveTo>
                <a:lnTo>
                  <a:pt x="0" y="383545"/>
                </a:lnTo>
              </a:path>
            </a:pathLst>
          </a:custGeom>
          <a:ln w="19049">
            <a:solidFill>
              <a:srgbClr val="000000"/>
            </a:solidFill>
          </a:ln>
        </p:spPr>
        <p:txBody>
          <a:bodyPr wrap="square" lIns="0" tIns="0" rIns="0" bIns="0" rtlCol="0"/>
          <a:lstStyle/>
          <a:p>
            <a:endParaRPr/>
          </a:p>
        </p:txBody>
      </p:sp>
      <p:sp>
        <p:nvSpPr>
          <p:cNvPr id="14" name="object 14"/>
          <p:cNvSpPr/>
          <p:nvPr/>
        </p:nvSpPr>
        <p:spPr>
          <a:xfrm>
            <a:off x="1902709" y="4111242"/>
            <a:ext cx="117908" cy="116046"/>
          </a:xfrm>
          <a:prstGeom prst="rect">
            <a:avLst/>
          </a:prstGeom>
          <a:blipFill>
            <a:blip r:embed="rId4" cstate="print"/>
            <a:stretch>
              <a:fillRect/>
            </a:stretch>
          </a:blipFill>
        </p:spPr>
        <p:txBody>
          <a:bodyPr wrap="square" lIns="0" tIns="0" rIns="0" bIns="0" rtlCol="0"/>
          <a:lstStyle/>
          <a:p>
            <a:endParaRPr/>
          </a:p>
        </p:txBody>
      </p:sp>
      <p:sp>
        <p:nvSpPr>
          <p:cNvPr id="15" name="object 15"/>
          <p:cNvSpPr/>
          <p:nvPr/>
        </p:nvSpPr>
        <p:spPr>
          <a:xfrm>
            <a:off x="1260677" y="4028989"/>
            <a:ext cx="708025" cy="1604645"/>
          </a:xfrm>
          <a:custGeom>
            <a:avLst/>
            <a:gdLst/>
            <a:ahLst/>
            <a:cxnLst/>
            <a:rect l="l" t="t" r="r" b="b"/>
            <a:pathLst>
              <a:path w="708025" h="1604645">
                <a:moveTo>
                  <a:pt x="707944" y="1341756"/>
                </a:moveTo>
                <a:lnTo>
                  <a:pt x="707944" y="1604231"/>
                </a:lnTo>
                <a:lnTo>
                  <a:pt x="0" y="1604231"/>
                </a:lnTo>
                <a:lnTo>
                  <a:pt x="0" y="0"/>
                </a:lnTo>
                <a:lnTo>
                  <a:pt x="670703" y="0"/>
                </a:lnTo>
              </a:path>
            </a:pathLst>
          </a:custGeom>
          <a:ln w="19049">
            <a:solidFill>
              <a:srgbClr val="000000"/>
            </a:solidFill>
          </a:ln>
        </p:spPr>
        <p:txBody>
          <a:bodyPr wrap="square" lIns="0" tIns="0" rIns="0" bIns="0" rtlCol="0"/>
          <a:lstStyle/>
          <a:p>
            <a:endParaRPr/>
          </a:p>
        </p:txBody>
      </p:sp>
      <p:sp>
        <p:nvSpPr>
          <p:cNvPr id="16" name="object 16"/>
          <p:cNvSpPr/>
          <p:nvPr/>
        </p:nvSpPr>
        <p:spPr>
          <a:xfrm>
            <a:off x="1840677" y="3970035"/>
            <a:ext cx="115909" cy="117908"/>
          </a:xfrm>
          <a:prstGeom prst="rect">
            <a:avLst/>
          </a:prstGeom>
          <a:blipFill>
            <a:blip r:embed="rId5" cstate="print"/>
            <a:stretch>
              <a:fillRect/>
            </a:stretch>
          </a:blipFill>
        </p:spPr>
        <p:txBody>
          <a:bodyPr wrap="square" lIns="0" tIns="0" rIns="0" bIns="0" rtlCol="0"/>
          <a:lstStyle/>
          <a:p>
            <a:endParaRPr/>
          </a:p>
        </p:txBody>
      </p:sp>
      <p:sp>
        <p:nvSpPr>
          <p:cNvPr id="17" name="object 17"/>
          <p:cNvSpPr/>
          <p:nvPr/>
        </p:nvSpPr>
        <p:spPr>
          <a:xfrm>
            <a:off x="2974321" y="4227289"/>
            <a:ext cx="751205" cy="344805"/>
          </a:xfrm>
          <a:custGeom>
            <a:avLst/>
            <a:gdLst/>
            <a:ahLst/>
            <a:cxnLst/>
            <a:rect l="l" t="t" r="r" b="b"/>
            <a:pathLst>
              <a:path w="751204" h="344804">
                <a:moveTo>
                  <a:pt x="0" y="0"/>
                </a:moveTo>
                <a:lnTo>
                  <a:pt x="750599" y="0"/>
                </a:lnTo>
                <a:lnTo>
                  <a:pt x="750599" y="344452"/>
                </a:lnTo>
                <a:lnTo>
                  <a:pt x="0" y="344452"/>
                </a:lnTo>
                <a:lnTo>
                  <a:pt x="0" y="0"/>
                </a:lnTo>
                <a:close/>
              </a:path>
            </a:pathLst>
          </a:custGeom>
          <a:ln w="19049">
            <a:solidFill>
              <a:srgbClr val="000000"/>
            </a:solidFill>
          </a:ln>
        </p:spPr>
        <p:txBody>
          <a:bodyPr wrap="square" lIns="0" tIns="0" rIns="0" bIns="0" rtlCol="0"/>
          <a:lstStyle/>
          <a:p>
            <a:endParaRPr/>
          </a:p>
        </p:txBody>
      </p:sp>
      <p:sp>
        <p:nvSpPr>
          <p:cNvPr id="18" name="object 18"/>
          <p:cNvSpPr/>
          <p:nvPr/>
        </p:nvSpPr>
        <p:spPr>
          <a:xfrm>
            <a:off x="2871617" y="4991054"/>
            <a:ext cx="955675" cy="413384"/>
          </a:xfrm>
          <a:custGeom>
            <a:avLst/>
            <a:gdLst/>
            <a:ahLst/>
            <a:cxnLst/>
            <a:rect l="l" t="t" r="r" b="b"/>
            <a:pathLst>
              <a:path w="955675" h="413385">
                <a:moveTo>
                  <a:pt x="0" y="206671"/>
                </a:moveTo>
                <a:lnTo>
                  <a:pt x="477654" y="0"/>
                </a:lnTo>
                <a:lnTo>
                  <a:pt x="955308" y="206671"/>
                </a:lnTo>
                <a:lnTo>
                  <a:pt x="477654" y="413342"/>
                </a:lnTo>
                <a:lnTo>
                  <a:pt x="0" y="206671"/>
                </a:lnTo>
                <a:close/>
              </a:path>
            </a:pathLst>
          </a:custGeom>
          <a:ln w="19049">
            <a:solidFill>
              <a:srgbClr val="000000"/>
            </a:solidFill>
          </a:ln>
        </p:spPr>
        <p:txBody>
          <a:bodyPr wrap="square" lIns="0" tIns="0" rIns="0" bIns="0" rtlCol="0"/>
          <a:lstStyle/>
          <a:p>
            <a:endParaRPr/>
          </a:p>
        </p:txBody>
      </p:sp>
      <p:sp>
        <p:nvSpPr>
          <p:cNvPr id="19" name="object 19"/>
          <p:cNvSpPr/>
          <p:nvPr/>
        </p:nvSpPr>
        <p:spPr>
          <a:xfrm>
            <a:off x="3349293" y="4571742"/>
            <a:ext cx="635" cy="394335"/>
          </a:xfrm>
          <a:custGeom>
            <a:avLst/>
            <a:gdLst/>
            <a:ahLst/>
            <a:cxnLst/>
            <a:rect l="l" t="t" r="r" b="b"/>
            <a:pathLst>
              <a:path w="635" h="394335">
                <a:moveTo>
                  <a:pt x="329" y="0"/>
                </a:moveTo>
                <a:lnTo>
                  <a:pt x="0" y="394108"/>
                </a:lnTo>
              </a:path>
            </a:pathLst>
          </a:custGeom>
          <a:ln w="19049">
            <a:solidFill>
              <a:srgbClr val="000000"/>
            </a:solidFill>
          </a:ln>
        </p:spPr>
        <p:txBody>
          <a:bodyPr wrap="square" lIns="0" tIns="0" rIns="0" bIns="0" rtlCol="0"/>
          <a:lstStyle/>
          <a:p>
            <a:endParaRPr/>
          </a:p>
        </p:txBody>
      </p:sp>
      <p:sp>
        <p:nvSpPr>
          <p:cNvPr id="20" name="object 20"/>
          <p:cNvSpPr/>
          <p:nvPr/>
        </p:nvSpPr>
        <p:spPr>
          <a:xfrm>
            <a:off x="3290402" y="4875108"/>
            <a:ext cx="117908" cy="115945"/>
          </a:xfrm>
          <a:prstGeom prst="rect">
            <a:avLst/>
          </a:prstGeom>
          <a:blipFill>
            <a:blip r:embed="rId6" cstate="print"/>
            <a:stretch>
              <a:fillRect/>
            </a:stretch>
          </a:blipFill>
        </p:spPr>
        <p:txBody>
          <a:bodyPr wrap="square" lIns="0" tIns="0" rIns="0" bIns="0" rtlCol="0"/>
          <a:lstStyle/>
          <a:p>
            <a:endParaRPr/>
          </a:p>
        </p:txBody>
      </p:sp>
      <p:sp>
        <p:nvSpPr>
          <p:cNvPr id="21" name="object 21"/>
          <p:cNvSpPr/>
          <p:nvPr/>
        </p:nvSpPr>
        <p:spPr>
          <a:xfrm>
            <a:off x="3348098" y="3824615"/>
            <a:ext cx="1270" cy="383540"/>
          </a:xfrm>
          <a:custGeom>
            <a:avLst/>
            <a:gdLst/>
            <a:ahLst/>
            <a:cxnLst/>
            <a:rect l="l" t="t" r="r" b="b"/>
            <a:pathLst>
              <a:path w="1270" h="383539">
                <a:moveTo>
                  <a:pt x="1173" y="0"/>
                </a:moveTo>
                <a:lnTo>
                  <a:pt x="0" y="383545"/>
                </a:lnTo>
              </a:path>
            </a:pathLst>
          </a:custGeom>
          <a:ln w="19049">
            <a:solidFill>
              <a:srgbClr val="000000"/>
            </a:solidFill>
          </a:ln>
        </p:spPr>
        <p:txBody>
          <a:bodyPr wrap="square" lIns="0" tIns="0" rIns="0" bIns="0" rtlCol="0"/>
          <a:lstStyle/>
          <a:p>
            <a:endParaRPr/>
          </a:p>
        </p:txBody>
      </p:sp>
      <p:sp>
        <p:nvSpPr>
          <p:cNvPr id="22" name="object 22"/>
          <p:cNvSpPr/>
          <p:nvPr/>
        </p:nvSpPr>
        <p:spPr>
          <a:xfrm>
            <a:off x="3289376" y="4117320"/>
            <a:ext cx="117908" cy="116044"/>
          </a:xfrm>
          <a:prstGeom prst="rect">
            <a:avLst/>
          </a:prstGeom>
          <a:blipFill>
            <a:blip r:embed="rId4" cstate="print"/>
            <a:stretch>
              <a:fillRect/>
            </a:stretch>
          </a:blipFill>
        </p:spPr>
        <p:txBody>
          <a:bodyPr wrap="square" lIns="0" tIns="0" rIns="0" bIns="0" rtlCol="0"/>
          <a:lstStyle/>
          <a:p>
            <a:endParaRPr/>
          </a:p>
        </p:txBody>
      </p:sp>
      <p:sp>
        <p:nvSpPr>
          <p:cNvPr id="23" name="object 23"/>
          <p:cNvSpPr/>
          <p:nvPr/>
        </p:nvSpPr>
        <p:spPr>
          <a:xfrm>
            <a:off x="2654393" y="4028990"/>
            <a:ext cx="695325" cy="1594485"/>
          </a:xfrm>
          <a:custGeom>
            <a:avLst/>
            <a:gdLst/>
            <a:ahLst/>
            <a:cxnLst/>
            <a:rect l="l" t="t" r="r" b="b"/>
            <a:pathLst>
              <a:path w="695325" h="1594485">
                <a:moveTo>
                  <a:pt x="694877" y="1375407"/>
                </a:moveTo>
                <a:lnTo>
                  <a:pt x="694877" y="1594138"/>
                </a:lnTo>
                <a:lnTo>
                  <a:pt x="0" y="1594138"/>
                </a:lnTo>
                <a:lnTo>
                  <a:pt x="0" y="0"/>
                </a:lnTo>
                <a:lnTo>
                  <a:pt x="670023" y="0"/>
                </a:lnTo>
              </a:path>
            </a:pathLst>
          </a:custGeom>
          <a:ln w="19049">
            <a:solidFill>
              <a:srgbClr val="000000"/>
            </a:solidFill>
          </a:ln>
        </p:spPr>
        <p:txBody>
          <a:bodyPr wrap="square" lIns="0" tIns="0" rIns="0" bIns="0" rtlCol="0"/>
          <a:lstStyle/>
          <a:p>
            <a:endParaRPr/>
          </a:p>
        </p:txBody>
      </p:sp>
      <p:sp>
        <p:nvSpPr>
          <p:cNvPr id="24" name="object 24"/>
          <p:cNvSpPr/>
          <p:nvPr/>
        </p:nvSpPr>
        <p:spPr>
          <a:xfrm>
            <a:off x="3233712" y="3970036"/>
            <a:ext cx="115909" cy="117908"/>
          </a:xfrm>
          <a:prstGeom prst="rect">
            <a:avLst/>
          </a:prstGeom>
          <a:blipFill>
            <a:blip r:embed="rId7" cstate="print"/>
            <a:stretch>
              <a:fillRect/>
            </a:stretch>
          </a:blipFill>
        </p:spPr>
        <p:txBody>
          <a:bodyPr wrap="square" lIns="0" tIns="0" rIns="0" bIns="0" rtlCol="0"/>
          <a:lstStyle/>
          <a:p>
            <a:endParaRPr/>
          </a:p>
        </p:txBody>
      </p:sp>
      <p:sp>
        <p:nvSpPr>
          <p:cNvPr id="25" name="object 25"/>
          <p:cNvSpPr/>
          <p:nvPr/>
        </p:nvSpPr>
        <p:spPr>
          <a:xfrm>
            <a:off x="5236704" y="4166466"/>
            <a:ext cx="955675" cy="413384"/>
          </a:xfrm>
          <a:custGeom>
            <a:avLst/>
            <a:gdLst/>
            <a:ahLst/>
            <a:cxnLst/>
            <a:rect l="l" t="t" r="r" b="b"/>
            <a:pathLst>
              <a:path w="955675" h="413385">
                <a:moveTo>
                  <a:pt x="0" y="206671"/>
                </a:moveTo>
                <a:lnTo>
                  <a:pt x="477654" y="0"/>
                </a:lnTo>
                <a:lnTo>
                  <a:pt x="955308" y="206671"/>
                </a:lnTo>
                <a:lnTo>
                  <a:pt x="477654" y="413342"/>
                </a:lnTo>
                <a:lnTo>
                  <a:pt x="0" y="206671"/>
                </a:lnTo>
                <a:close/>
              </a:path>
            </a:pathLst>
          </a:custGeom>
          <a:ln w="19049">
            <a:solidFill>
              <a:srgbClr val="000000"/>
            </a:solidFill>
          </a:ln>
        </p:spPr>
        <p:txBody>
          <a:bodyPr wrap="square" lIns="0" tIns="0" rIns="0" bIns="0" rtlCol="0"/>
          <a:lstStyle/>
          <a:p>
            <a:endParaRPr/>
          </a:p>
        </p:txBody>
      </p:sp>
      <p:sp>
        <p:nvSpPr>
          <p:cNvPr id="26" name="object 26"/>
          <p:cNvSpPr/>
          <p:nvPr/>
        </p:nvSpPr>
        <p:spPr>
          <a:xfrm>
            <a:off x="6192013" y="4774995"/>
            <a:ext cx="751205" cy="344805"/>
          </a:xfrm>
          <a:custGeom>
            <a:avLst/>
            <a:gdLst/>
            <a:ahLst/>
            <a:cxnLst/>
            <a:rect l="l" t="t" r="r" b="b"/>
            <a:pathLst>
              <a:path w="751204" h="344804">
                <a:moveTo>
                  <a:pt x="0" y="0"/>
                </a:moveTo>
                <a:lnTo>
                  <a:pt x="750599" y="0"/>
                </a:lnTo>
                <a:lnTo>
                  <a:pt x="750599" y="344453"/>
                </a:lnTo>
                <a:lnTo>
                  <a:pt x="0" y="344453"/>
                </a:lnTo>
                <a:lnTo>
                  <a:pt x="0" y="0"/>
                </a:lnTo>
                <a:close/>
              </a:path>
            </a:pathLst>
          </a:custGeom>
          <a:ln w="19049">
            <a:solidFill>
              <a:srgbClr val="000000"/>
            </a:solidFill>
          </a:ln>
        </p:spPr>
        <p:txBody>
          <a:bodyPr wrap="square" lIns="0" tIns="0" rIns="0" bIns="0" rtlCol="0"/>
          <a:lstStyle/>
          <a:p>
            <a:endParaRPr/>
          </a:p>
        </p:txBody>
      </p:sp>
      <p:sp>
        <p:nvSpPr>
          <p:cNvPr id="27" name="object 27"/>
          <p:cNvSpPr/>
          <p:nvPr/>
        </p:nvSpPr>
        <p:spPr>
          <a:xfrm>
            <a:off x="5711932" y="3757715"/>
            <a:ext cx="1270" cy="383540"/>
          </a:xfrm>
          <a:custGeom>
            <a:avLst/>
            <a:gdLst/>
            <a:ahLst/>
            <a:cxnLst/>
            <a:rect l="l" t="t" r="r" b="b"/>
            <a:pathLst>
              <a:path w="1270" h="383539">
                <a:moveTo>
                  <a:pt x="1173" y="0"/>
                </a:moveTo>
                <a:lnTo>
                  <a:pt x="0" y="383545"/>
                </a:lnTo>
              </a:path>
            </a:pathLst>
          </a:custGeom>
          <a:ln w="19049">
            <a:solidFill>
              <a:srgbClr val="000000"/>
            </a:solidFill>
          </a:ln>
        </p:spPr>
        <p:txBody>
          <a:bodyPr wrap="square" lIns="0" tIns="0" rIns="0" bIns="0" rtlCol="0"/>
          <a:lstStyle/>
          <a:p>
            <a:endParaRPr/>
          </a:p>
        </p:txBody>
      </p:sp>
      <p:sp>
        <p:nvSpPr>
          <p:cNvPr id="28" name="object 28"/>
          <p:cNvSpPr/>
          <p:nvPr/>
        </p:nvSpPr>
        <p:spPr>
          <a:xfrm>
            <a:off x="5653211" y="4050420"/>
            <a:ext cx="117908" cy="116046"/>
          </a:xfrm>
          <a:prstGeom prst="rect">
            <a:avLst/>
          </a:prstGeom>
          <a:blipFill>
            <a:blip r:embed="rId4" cstate="print"/>
            <a:stretch>
              <a:fillRect/>
            </a:stretch>
          </a:blipFill>
        </p:spPr>
        <p:txBody>
          <a:bodyPr wrap="square" lIns="0" tIns="0" rIns="0" bIns="0" rtlCol="0"/>
          <a:lstStyle/>
          <a:p>
            <a:endParaRPr/>
          </a:p>
        </p:txBody>
      </p:sp>
      <p:sp>
        <p:nvSpPr>
          <p:cNvPr id="29" name="object 29"/>
          <p:cNvSpPr/>
          <p:nvPr/>
        </p:nvSpPr>
        <p:spPr>
          <a:xfrm>
            <a:off x="5695108" y="5404397"/>
            <a:ext cx="1270" cy="383540"/>
          </a:xfrm>
          <a:custGeom>
            <a:avLst/>
            <a:gdLst/>
            <a:ahLst/>
            <a:cxnLst/>
            <a:rect l="l" t="t" r="r" b="b"/>
            <a:pathLst>
              <a:path w="1270" h="383539">
                <a:moveTo>
                  <a:pt x="1173" y="0"/>
                </a:moveTo>
                <a:lnTo>
                  <a:pt x="0" y="383545"/>
                </a:lnTo>
              </a:path>
            </a:pathLst>
          </a:custGeom>
          <a:ln w="19049">
            <a:solidFill>
              <a:srgbClr val="000000"/>
            </a:solidFill>
          </a:ln>
        </p:spPr>
        <p:txBody>
          <a:bodyPr wrap="square" lIns="0" tIns="0" rIns="0" bIns="0" rtlCol="0"/>
          <a:lstStyle/>
          <a:p>
            <a:endParaRPr/>
          </a:p>
        </p:txBody>
      </p:sp>
      <p:sp>
        <p:nvSpPr>
          <p:cNvPr id="30" name="object 30"/>
          <p:cNvSpPr/>
          <p:nvPr/>
        </p:nvSpPr>
        <p:spPr>
          <a:xfrm>
            <a:off x="5636387" y="5697102"/>
            <a:ext cx="117908" cy="116045"/>
          </a:xfrm>
          <a:prstGeom prst="rect">
            <a:avLst/>
          </a:prstGeom>
          <a:blipFill>
            <a:blip r:embed="rId4" cstate="print"/>
            <a:stretch>
              <a:fillRect/>
            </a:stretch>
          </a:blipFill>
        </p:spPr>
        <p:txBody>
          <a:bodyPr wrap="square" lIns="0" tIns="0" rIns="0" bIns="0" rtlCol="0"/>
          <a:lstStyle/>
          <a:p>
            <a:endParaRPr/>
          </a:p>
        </p:txBody>
      </p:sp>
      <p:sp>
        <p:nvSpPr>
          <p:cNvPr id="31" name="object 31"/>
          <p:cNvSpPr/>
          <p:nvPr/>
        </p:nvSpPr>
        <p:spPr>
          <a:xfrm>
            <a:off x="6192013" y="4373138"/>
            <a:ext cx="375920" cy="401955"/>
          </a:xfrm>
          <a:custGeom>
            <a:avLst/>
            <a:gdLst/>
            <a:ahLst/>
            <a:cxnLst/>
            <a:rect l="l" t="t" r="r" b="b"/>
            <a:pathLst>
              <a:path w="375920" h="401954">
                <a:moveTo>
                  <a:pt x="0" y="0"/>
                </a:moveTo>
                <a:lnTo>
                  <a:pt x="375299" y="0"/>
                </a:lnTo>
                <a:lnTo>
                  <a:pt x="375299" y="401856"/>
                </a:lnTo>
              </a:path>
            </a:pathLst>
          </a:custGeom>
          <a:ln w="19049">
            <a:solidFill>
              <a:srgbClr val="000000"/>
            </a:solidFill>
          </a:ln>
        </p:spPr>
        <p:txBody>
          <a:bodyPr wrap="square" lIns="0" tIns="0" rIns="0" bIns="0" rtlCol="0"/>
          <a:lstStyle/>
          <a:p>
            <a:endParaRPr/>
          </a:p>
        </p:txBody>
      </p:sp>
      <p:sp>
        <p:nvSpPr>
          <p:cNvPr id="32" name="object 32"/>
          <p:cNvSpPr/>
          <p:nvPr/>
        </p:nvSpPr>
        <p:spPr>
          <a:xfrm>
            <a:off x="4965566" y="4373137"/>
            <a:ext cx="1602105" cy="1020444"/>
          </a:xfrm>
          <a:custGeom>
            <a:avLst/>
            <a:gdLst/>
            <a:ahLst/>
            <a:cxnLst/>
            <a:rect l="l" t="t" r="r" b="b"/>
            <a:pathLst>
              <a:path w="1602104" h="1020445">
                <a:moveTo>
                  <a:pt x="271138" y="0"/>
                </a:moveTo>
                <a:lnTo>
                  <a:pt x="0" y="0"/>
                </a:lnTo>
                <a:lnTo>
                  <a:pt x="0" y="1020048"/>
                </a:lnTo>
                <a:lnTo>
                  <a:pt x="1601746" y="1020048"/>
                </a:lnTo>
                <a:lnTo>
                  <a:pt x="1601746" y="746309"/>
                </a:lnTo>
              </a:path>
            </a:pathLst>
          </a:custGeom>
          <a:ln w="19049">
            <a:solidFill>
              <a:srgbClr val="000000"/>
            </a:solidFill>
          </a:ln>
        </p:spPr>
        <p:txBody>
          <a:bodyPr wrap="square" lIns="0" tIns="0" rIns="0" bIns="0" rtlCol="0"/>
          <a:lstStyle/>
          <a:p>
            <a:endParaRPr/>
          </a:p>
        </p:txBody>
      </p:sp>
      <p:sp>
        <p:nvSpPr>
          <p:cNvPr id="33" name="灯片编号占位符 32"/>
          <p:cNvSpPr>
            <a:spLocks noGrp="1"/>
          </p:cNvSpPr>
          <p:nvPr>
            <p:ph type="sldNum" sz="quarter" idx="12"/>
          </p:nvPr>
        </p:nvSpPr>
        <p:spPr/>
        <p:txBody>
          <a:bodyPr/>
          <a:lstStyle/>
          <a:p>
            <a:fld id="{74D2AB8B-5816-41F2-8B4B-CA5C3E4E6A65}" type="slidenum">
              <a:rPr lang="zh-CN" altLang="en-US" smtClean="0"/>
              <a:t>48</a:t>
            </a:fld>
            <a:endParaRPr lang="zh-CN" altLang="en-US"/>
          </a:p>
        </p:txBody>
      </p:sp>
      <p:sp>
        <p:nvSpPr>
          <p:cNvPr id="35" name="标题 34"/>
          <p:cNvSpPr>
            <a:spLocks noGrp="1"/>
          </p:cNvSpPr>
          <p:nvPr>
            <p:ph type="title"/>
          </p:nvPr>
        </p:nvSpPr>
        <p:spPr/>
        <p:txBody>
          <a:bodyPr/>
          <a:lstStyle/>
          <a:p>
            <a:r>
              <a:rPr lang="zh-CN" altLang="en-US" dirty="0"/>
              <a:t>循环测试</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白盒测试是根据程序的（ ）来设计测试用例。</a:t>
            </a:r>
          </a:p>
        </p:txBody>
      </p:sp>
      <p:sp>
        <p:nvSpPr>
          <p:cNvPr id="5" name="文本框 4"/>
          <p:cNvSpPr txBox="1"/>
          <p:nvPr>
            <p:custDataLst>
              <p:tags r:id="rId3"/>
            </p:custDataLst>
          </p:nvPr>
        </p:nvSpPr>
        <p:spPr>
          <a:xfrm>
            <a:off x="2713821" y="231233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功能</a:t>
            </a:r>
          </a:p>
        </p:txBody>
      </p:sp>
      <p:sp>
        <p:nvSpPr>
          <p:cNvPr id="6" name="文本框 5"/>
          <p:cNvSpPr txBox="1"/>
          <p:nvPr>
            <p:custDataLst>
              <p:tags r:id="rId4"/>
            </p:custDataLst>
          </p:nvPr>
        </p:nvSpPr>
        <p:spPr>
          <a:xfrm>
            <a:off x="2713821" y="316958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性能</a:t>
            </a:r>
          </a:p>
        </p:txBody>
      </p:sp>
      <p:sp>
        <p:nvSpPr>
          <p:cNvPr id="7" name="文本框 6"/>
          <p:cNvSpPr txBox="1"/>
          <p:nvPr>
            <p:custDataLst>
              <p:tags r:id="rId5"/>
            </p:custDataLst>
          </p:nvPr>
        </p:nvSpPr>
        <p:spPr>
          <a:xfrm>
            <a:off x="2713821" y="402683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内部逻辑 </a:t>
            </a:r>
          </a:p>
        </p:txBody>
      </p:sp>
      <p:sp>
        <p:nvSpPr>
          <p:cNvPr id="8" name="文本框 7"/>
          <p:cNvSpPr txBox="1"/>
          <p:nvPr>
            <p:custDataLst>
              <p:tags r:id="rId6"/>
            </p:custDataLst>
          </p:nvPr>
        </p:nvSpPr>
        <p:spPr>
          <a:xfrm>
            <a:off x="2713821" y="488408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内部数据</a:t>
            </a:r>
          </a:p>
        </p:txBody>
      </p:sp>
      <p:sp>
        <p:nvSpPr>
          <p:cNvPr id="13" name="矩形: 圆角 12"/>
          <p:cNvSpPr/>
          <p:nvPr>
            <p:custDataLst>
              <p:tags r:id="rId7"/>
            </p:custDataLst>
          </p:nvPr>
        </p:nvSpPr>
        <p:spPr>
          <a:xfrm>
            <a:off x="8100152" y="1482241"/>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6">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C79D0F37-192A-5DA9-7836-2409641A5D88}"/>
              </a:ext>
            </a:extLst>
          </p:cNvPr>
          <p:cNvSpPr txBox="1"/>
          <p:nvPr/>
        </p:nvSpPr>
        <p:spPr>
          <a:xfrm>
            <a:off x="1753120" y="2454093"/>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p>
        </p:txBody>
      </p:sp>
    </p:spTree>
    <p:custDataLst>
      <p:tags r:id="rId1"/>
    </p:custDataLst>
    <p:extLst>
      <p:ext uri="{BB962C8B-B14F-4D97-AF65-F5344CB8AC3E}">
        <p14:creationId xmlns:p14="http://schemas.microsoft.com/office/powerpoint/2010/main" val="40415861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关于测试覆盖率，下面的（ ）说法是错误的。</a:t>
            </a:r>
          </a:p>
        </p:txBody>
      </p:sp>
      <p:sp>
        <p:nvSpPr>
          <p:cNvPr id="5" name="文本框 4"/>
          <p:cNvSpPr txBox="1"/>
          <p:nvPr>
            <p:custDataLst>
              <p:tags r:id="rId3"/>
            </p:custDataLst>
          </p:nvPr>
        </p:nvSpPr>
        <p:spPr>
          <a:xfrm>
            <a:off x="2392680" y="2312338"/>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测试覆盖率是度量代码质量的一种手段</a:t>
            </a:r>
          </a:p>
        </p:txBody>
      </p:sp>
      <p:sp>
        <p:nvSpPr>
          <p:cNvPr id="6" name="文本框 5"/>
          <p:cNvSpPr txBox="1"/>
          <p:nvPr>
            <p:custDataLst>
              <p:tags r:id="rId4"/>
            </p:custDataLst>
          </p:nvPr>
        </p:nvSpPr>
        <p:spPr>
          <a:xfrm>
            <a:off x="2392680" y="3169588"/>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测试覆盖率是度量测试完整性的一种手段</a:t>
            </a:r>
          </a:p>
        </p:txBody>
      </p:sp>
      <p:sp>
        <p:nvSpPr>
          <p:cNvPr id="7" name="文本框 6"/>
          <p:cNvSpPr txBox="1"/>
          <p:nvPr>
            <p:custDataLst>
              <p:tags r:id="rId5"/>
            </p:custDataLst>
          </p:nvPr>
        </p:nvSpPr>
        <p:spPr>
          <a:xfrm>
            <a:off x="2392680" y="4026838"/>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测试覆盖率意味着有多少代码经过测试</a:t>
            </a:r>
          </a:p>
        </p:txBody>
      </p:sp>
      <p:sp>
        <p:nvSpPr>
          <p:cNvPr id="8" name="文本框 7"/>
          <p:cNvSpPr txBox="1"/>
          <p:nvPr>
            <p:custDataLst>
              <p:tags r:id="rId6"/>
            </p:custDataLst>
          </p:nvPr>
        </p:nvSpPr>
        <p:spPr>
          <a:xfrm>
            <a:off x="2392680" y="4884088"/>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不要盲目地追求</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100%</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测试覆盖率</a:t>
            </a:r>
          </a:p>
        </p:txBody>
      </p:sp>
      <p:sp>
        <p:nvSpPr>
          <p:cNvPr id="13" name="矩形: 圆角 12"/>
          <p:cNvSpPr/>
          <p:nvPr>
            <p:custDataLst>
              <p:tags r:id="rId7"/>
            </p:custDataLst>
          </p:nvPr>
        </p:nvSpPr>
        <p:spPr>
          <a:xfrm>
            <a:off x="8144219" y="1482241"/>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1715A244-A36C-9B70-68E5-11CE4104D623}"/>
              </a:ext>
            </a:extLst>
          </p:cNvPr>
          <p:cNvSpPr txBox="1"/>
          <p:nvPr/>
        </p:nvSpPr>
        <p:spPr>
          <a:xfrm>
            <a:off x="1672042" y="2341365"/>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p>
        </p:txBody>
      </p:sp>
    </p:spTree>
    <p:custDataLst>
      <p:tags r:id="rId1"/>
    </p:custDataLst>
    <p:extLst>
      <p:ext uri="{BB962C8B-B14F-4D97-AF65-F5344CB8AC3E}">
        <p14:creationId xmlns:p14="http://schemas.microsoft.com/office/powerpoint/2010/main" val="168912856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在下面列举的测试覆盖中，（ ）是最强的逻辑覆盖准则。</a:t>
            </a:r>
          </a:p>
        </p:txBody>
      </p:sp>
      <p:sp>
        <p:nvSpPr>
          <p:cNvPr id="5" name="文本框 4"/>
          <p:cNvSpPr txBox="1"/>
          <p:nvPr>
            <p:custDataLst>
              <p:tags r:id="rId3"/>
            </p:custDataLst>
          </p:nvPr>
        </p:nvSpPr>
        <p:spPr>
          <a:xfrm>
            <a:off x="2614613" y="225725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语句覆盖</a:t>
            </a:r>
          </a:p>
        </p:txBody>
      </p:sp>
      <p:sp>
        <p:nvSpPr>
          <p:cNvPr id="6" name="文本框 5"/>
          <p:cNvSpPr txBox="1"/>
          <p:nvPr>
            <p:custDataLst>
              <p:tags r:id="rId4"/>
            </p:custDataLst>
          </p:nvPr>
        </p:nvSpPr>
        <p:spPr>
          <a:xfrm>
            <a:off x="2614613" y="311450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条件覆盖</a:t>
            </a:r>
          </a:p>
        </p:txBody>
      </p:sp>
      <p:sp>
        <p:nvSpPr>
          <p:cNvPr id="7" name="文本框 6"/>
          <p:cNvSpPr txBox="1"/>
          <p:nvPr>
            <p:custDataLst>
              <p:tags r:id="rId5"/>
            </p:custDataLst>
          </p:nvPr>
        </p:nvSpPr>
        <p:spPr>
          <a:xfrm>
            <a:off x="2614613" y="397175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判定覆盖</a:t>
            </a:r>
          </a:p>
        </p:txBody>
      </p:sp>
      <p:sp>
        <p:nvSpPr>
          <p:cNvPr id="8" name="文本框 7"/>
          <p:cNvSpPr txBox="1"/>
          <p:nvPr>
            <p:custDataLst>
              <p:tags r:id="rId6"/>
            </p:custDataLst>
          </p:nvPr>
        </p:nvSpPr>
        <p:spPr>
          <a:xfrm>
            <a:off x="2614613" y="482900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条件组合覆盖</a:t>
            </a:r>
          </a:p>
        </p:txBody>
      </p:sp>
      <p:sp>
        <p:nvSpPr>
          <p:cNvPr id="13" name="矩形: 圆角 12"/>
          <p:cNvSpPr/>
          <p:nvPr>
            <p:custDataLst>
              <p:tags r:id="rId7"/>
            </p:custDataLst>
          </p:nvPr>
        </p:nvSpPr>
        <p:spPr>
          <a:xfrm>
            <a:off x="8287439" y="2189791"/>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94191D02-A1EE-3E20-2F36-5B0857D1CCC5}"/>
              </a:ext>
            </a:extLst>
          </p:cNvPr>
          <p:cNvSpPr txBox="1"/>
          <p:nvPr/>
        </p:nvSpPr>
        <p:spPr>
          <a:xfrm>
            <a:off x="1672042" y="2341365"/>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p>
        </p:txBody>
      </p:sp>
    </p:spTree>
    <p:custDataLst>
      <p:tags r:id="rId1"/>
    </p:custDataLst>
    <p:extLst>
      <p:ext uri="{BB962C8B-B14F-4D97-AF65-F5344CB8AC3E}">
        <p14:creationId xmlns:p14="http://schemas.microsoft.com/office/powerpoint/2010/main" val="23626233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条件覆盖要求（ ）。</a:t>
            </a:r>
          </a:p>
        </p:txBody>
      </p:sp>
      <p:sp>
        <p:nvSpPr>
          <p:cNvPr id="5" name="文本框 4"/>
          <p:cNvSpPr txBox="1"/>
          <p:nvPr>
            <p:custDataLst>
              <p:tags r:id="rId3"/>
            </p:custDataLst>
          </p:nvPr>
        </p:nvSpPr>
        <p:spPr>
          <a:xfrm>
            <a:off x="2108200" y="227928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每个判定中每个条件的所有取值至少满足一次</a:t>
            </a:r>
          </a:p>
        </p:txBody>
      </p:sp>
      <p:sp>
        <p:nvSpPr>
          <p:cNvPr id="6" name="文本框 5"/>
          <p:cNvSpPr txBox="1"/>
          <p:nvPr>
            <p:custDataLst>
              <p:tags r:id="rId4"/>
            </p:custDataLst>
          </p:nvPr>
        </p:nvSpPr>
        <p:spPr>
          <a:xfrm>
            <a:off x="2108200" y="313653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每个判定至少取得一次“真”值和一次“假”值</a:t>
            </a:r>
          </a:p>
        </p:txBody>
      </p:sp>
      <p:sp>
        <p:nvSpPr>
          <p:cNvPr id="7" name="文本框 6"/>
          <p:cNvSpPr txBox="1"/>
          <p:nvPr>
            <p:custDataLst>
              <p:tags r:id="rId5"/>
            </p:custDataLst>
          </p:nvPr>
        </p:nvSpPr>
        <p:spPr>
          <a:xfrm>
            <a:off x="2108200" y="399378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每个判定中每个条件的所有可能取值组合至少满足一次</a:t>
            </a:r>
          </a:p>
        </p:txBody>
      </p:sp>
      <p:sp>
        <p:nvSpPr>
          <p:cNvPr id="8" name="文本框 7"/>
          <p:cNvSpPr txBox="1"/>
          <p:nvPr>
            <p:custDataLst>
              <p:tags r:id="rId6"/>
            </p:custDataLst>
          </p:nvPr>
        </p:nvSpPr>
        <p:spPr>
          <a:xfrm>
            <a:off x="2108200" y="485103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每个可执行语句至少执行一次</a:t>
            </a:r>
          </a:p>
        </p:txBody>
      </p:sp>
      <p:sp>
        <p:nvSpPr>
          <p:cNvPr id="13" name="矩形: 圆角 12"/>
          <p:cNvSpPr/>
          <p:nvPr>
            <p:custDataLst>
              <p:tags r:id="rId7"/>
            </p:custDataLst>
          </p:nvPr>
        </p:nvSpPr>
        <p:spPr>
          <a:xfrm>
            <a:off x="6375400" y="1574062"/>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C29DABA3-4AE4-A7E7-B709-44BC6063DD4E}"/>
              </a:ext>
            </a:extLst>
          </p:cNvPr>
          <p:cNvSpPr txBox="1"/>
          <p:nvPr/>
        </p:nvSpPr>
        <p:spPr>
          <a:xfrm>
            <a:off x="1525905" y="2439515"/>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p>
        </p:txBody>
      </p:sp>
    </p:spTree>
    <p:custDataLst>
      <p:tags r:id="rId1"/>
    </p:custDataLst>
    <p:extLst>
      <p:ext uri="{BB962C8B-B14F-4D97-AF65-F5344CB8AC3E}">
        <p14:creationId xmlns:p14="http://schemas.microsoft.com/office/powerpoint/2010/main" val="36986557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一个判定中的复合条件表达式为（</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A&gt;2</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or</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B≤1</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），为了达到</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100%</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条件覆盖率，至少需要设计（ ）测试用例。</a:t>
            </a:r>
          </a:p>
        </p:txBody>
      </p:sp>
      <p:sp>
        <p:nvSpPr>
          <p:cNvPr id="5" name="文本框 4"/>
          <p:cNvSpPr txBox="1"/>
          <p:nvPr>
            <p:custDataLst>
              <p:tags r:id="rId3"/>
            </p:custDataLst>
          </p:nvPr>
        </p:nvSpPr>
        <p:spPr>
          <a:xfrm>
            <a:off x="2823990" y="2576742"/>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1</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custDataLst>
              <p:tags r:id="rId4"/>
            </p:custDataLst>
          </p:nvPr>
        </p:nvSpPr>
        <p:spPr>
          <a:xfrm>
            <a:off x="2823990" y="3433992"/>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2</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custDataLst>
              <p:tags r:id="rId5"/>
            </p:custDataLst>
          </p:nvPr>
        </p:nvSpPr>
        <p:spPr>
          <a:xfrm>
            <a:off x="2823990" y="4291242"/>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3</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文本框 7"/>
          <p:cNvSpPr txBox="1"/>
          <p:nvPr>
            <p:custDataLst>
              <p:tags r:id="rId6"/>
            </p:custDataLst>
          </p:nvPr>
        </p:nvSpPr>
        <p:spPr>
          <a:xfrm>
            <a:off x="2823990" y="5148492"/>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4</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圆角 12"/>
          <p:cNvSpPr/>
          <p:nvPr>
            <p:custDataLst>
              <p:tags r:id="rId7"/>
            </p:custDataLst>
          </p:nvPr>
        </p:nvSpPr>
        <p:spPr>
          <a:xfrm>
            <a:off x="8639979" y="1993742"/>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48A0E745-B72B-4732-92A2-E57EC9C399F5}"/>
              </a:ext>
            </a:extLst>
          </p:cNvPr>
          <p:cNvSpPr txBox="1"/>
          <p:nvPr/>
        </p:nvSpPr>
        <p:spPr>
          <a:xfrm>
            <a:off x="1615715" y="2682887"/>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p>
        </p:txBody>
      </p:sp>
    </p:spTree>
    <p:custDataLst>
      <p:tags r:id="rId1"/>
    </p:custDataLst>
    <p:extLst>
      <p:ext uri="{BB962C8B-B14F-4D97-AF65-F5344CB8AC3E}">
        <p14:creationId xmlns:p14="http://schemas.microsoft.com/office/powerpoint/2010/main" val="38455990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）要求每个判定中所有条件的可能取值至少执行一次，而且每个判定的可能结果也至少执行一次。</a:t>
            </a:r>
          </a:p>
        </p:txBody>
      </p:sp>
      <p:sp>
        <p:nvSpPr>
          <p:cNvPr id="5" name="文本框 4"/>
          <p:cNvSpPr txBox="1"/>
          <p:nvPr>
            <p:custDataLst>
              <p:tags r:id="rId3"/>
            </p:custDataLst>
          </p:nvPr>
        </p:nvSpPr>
        <p:spPr>
          <a:xfrm>
            <a:off x="2614613" y="244454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判定覆盖</a:t>
            </a:r>
          </a:p>
        </p:txBody>
      </p:sp>
      <p:sp>
        <p:nvSpPr>
          <p:cNvPr id="6" name="文本框 5"/>
          <p:cNvSpPr txBox="1"/>
          <p:nvPr>
            <p:custDataLst>
              <p:tags r:id="rId4"/>
            </p:custDataLst>
          </p:nvPr>
        </p:nvSpPr>
        <p:spPr>
          <a:xfrm>
            <a:off x="2614613" y="330179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条件覆盖</a:t>
            </a:r>
          </a:p>
        </p:txBody>
      </p:sp>
      <p:sp>
        <p:nvSpPr>
          <p:cNvPr id="7" name="文本框 6"/>
          <p:cNvSpPr txBox="1"/>
          <p:nvPr>
            <p:custDataLst>
              <p:tags r:id="rId5"/>
            </p:custDataLst>
          </p:nvPr>
        </p:nvSpPr>
        <p:spPr>
          <a:xfrm>
            <a:off x="2614613" y="415904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判定条件覆盖</a:t>
            </a:r>
          </a:p>
        </p:txBody>
      </p:sp>
      <p:sp>
        <p:nvSpPr>
          <p:cNvPr id="8" name="文本框 7"/>
          <p:cNvSpPr txBox="1"/>
          <p:nvPr>
            <p:custDataLst>
              <p:tags r:id="rId6"/>
            </p:custDataLst>
          </p:nvPr>
        </p:nvSpPr>
        <p:spPr>
          <a:xfrm>
            <a:off x="2614613" y="5016290"/>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条件组合覆盖</a:t>
            </a:r>
          </a:p>
        </p:txBody>
      </p:sp>
      <p:sp>
        <p:nvSpPr>
          <p:cNvPr id="13" name="矩形: 圆角 12"/>
          <p:cNvSpPr/>
          <p:nvPr>
            <p:custDataLst>
              <p:tags r:id="rId7"/>
            </p:custDataLst>
          </p:nvPr>
        </p:nvSpPr>
        <p:spPr>
          <a:xfrm>
            <a:off x="7218802" y="1925904"/>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p>
        </p:txBody>
      </p:sp>
      <p:grpSp>
        <p:nvGrpSpPr>
          <p:cNvPr id="18" name="组合 17"/>
          <p:cNvGrpSpPr/>
          <p:nvPr>
            <p:custDataLst>
              <p:tags r:id="rId8"/>
            </p:custDataLst>
          </p:nvPr>
        </p:nvGrpSpPr>
        <p:grpSpPr>
          <a:xfrm>
            <a:off x="0" y="0"/>
            <a:ext cx="12192000" cy="635000"/>
            <a:chOff x="0" y="0"/>
            <a:chExt cx="12192000" cy="635000"/>
          </a:xfrm>
        </p:grpSpPr>
        <p:sp>
          <p:nvSpPr>
            <p:cNvPr id="14"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p>
          </p:txBody>
        </p:sp>
        <p:sp>
          <p:nvSpPr>
            <p:cNvPr id="17"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p>
          </p:txBody>
        </p:sp>
      </p:grpSp>
      <p:pic>
        <p:nvPicPr>
          <p:cNvPr id="3" name="图片 2"/>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
        <p:nvSpPr>
          <p:cNvPr id="2" name="文本框 1">
            <a:extLst>
              <a:ext uri="{FF2B5EF4-FFF2-40B4-BE49-F238E27FC236}">
                <a16:creationId xmlns:a16="http://schemas.microsoft.com/office/drawing/2014/main" id="{A4D52D91-DCF4-0582-C011-AB017F094CA4}"/>
              </a:ext>
            </a:extLst>
          </p:cNvPr>
          <p:cNvSpPr txBox="1"/>
          <p:nvPr/>
        </p:nvSpPr>
        <p:spPr>
          <a:xfrm>
            <a:off x="1753120" y="2601312"/>
            <a:ext cx="405880" cy="3108543"/>
          </a:xfrm>
          <a:prstGeom prst="rect">
            <a:avLst/>
          </a:prstGeom>
          <a:noFill/>
        </p:spPr>
        <p:txBody>
          <a:bodyPr wrap="none" rtlCol="0">
            <a:spAutoFit/>
          </a:bodyPr>
          <a:lstStyle/>
          <a:p>
            <a:r>
              <a:rPr lang="en-US" altLang="zh-CN" sz="2800" dirty="0"/>
              <a:t>A</a:t>
            </a:r>
          </a:p>
          <a:p>
            <a:endParaRPr lang="en-US" altLang="zh-CN" sz="2800" dirty="0"/>
          </a:p>
          <a:p>
            <a:r>
              <a:rPr lang="en-US" altLang="zh-CN" sz="2800" dirty="0"/>
              <a:t>B</a:t>
            </a:r>
          </a:p>
          <a:p>
            <a:endParaRPr lang="en-US" altLang="zh-CN" sz="2800" dirty="0"/>
          </a:p>
          <a:p>
            <a:r>
              <a:rPr lang="en-US" altLang="zh-CN" sz="2800" dirty="0"/>
              <a:t>C</a:t>
            </a:r>
          </a:p>
          <a:p>
            <a:endParaRPr lang="en-US" altLang="zh-CN" sz="2800" dirty="0"/>
          </a:p>
          <a:p>
            <a:r>
              <a:rPr lang="en-US" altLang="zh-CN" sz="2800" dirty="0"/>
              <a:t>D</a:t>
            </a:r>
          </a:p>
        </p:txBody>
      </p:sp>
    </p:spTree>
    <p:custDataLst>
      <p:tags r:id="rId1"/>
    </p:custDataLst>
    <p:extLst>
      <p:ext uri="{BB962C8B-B14F-4D97-AF65-F5344CB8AC3E}">
        <p14:creationId xmlns:p14="http://schemas.microsoft.com/office/powerpoint/2010/main" val="25024179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lstStyle/>
          <a:p>
            <a:pPr algn="ctr"/>
            <a:r>
              <a:rPr lang="en-US" altLang="zh-CN" dirty="0"/>
              <a:t>Python</a:t>
            </a:r>
            <a:r>
              <a:rPr lang="zh-CN" altLang="en-US" dirty="0"/>
              <a:t>单元测试工具</a:t>
            </a:r>
          </a:p>
        </p:txBody>
      </p:sp>
      <p:sp>
        <p:nvSpPr>
          <p:cNvPr id="3" name="文本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74D2AB8B-5816-41F2-8B4B-CA5C3E4E6A65}" type="slidenum">
              <a:rPr lang="zh-CN" altLang="en-US" smtClean="0"/>
              <a:t>55</a:t>
            </a:fld>
            <a:endParaRPr lang="zh-C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65307"/>
            <a:ext cx="4292600" cy="452120"/>
          </a:xfrm>
          <a:prstGeom prst="rect">
            <a:avLst/>
          </a:prstGeom>
        </p:spPr>
        <p:txBody>
          <a:bodyPr vert="horz" wrap="square" lIns="0" tIns="12700" rIns="0" bIns="0" rtlCol="0">
            <a:spAutoFit/>
          </a:bodyPr>
          <a:lstStyle/>
          <a:p>
            <a:pPr marL="12700">
              <a:lnSpc>
                <a:spcPct val="100000"/>
              </a:lnSpc>
              <a:spcBef>
                <a:spcPts val="100"/>
              </a:spcBef>
            </a:pPr>
            <a:r>
              <a:rPr sz="2800" b="1" spc="-5" dirty="0">
                <a:latin typeface="Arial" panose="020B0604020202020204"/>
                <a:cs typeface="Arial" panose="020B0604020202020204"/>
              </a:rPr>
              <a:t>Python</a:t>
            </a:r>
            <a:r>
              <a:rPr sz="2800" b="1" dirty="0">
                <a:latin typeface="微软雅黑" panose="020B0503020204020204" pitchFamily="34" charset="-122"/>
                <a:cs typeface="微软雅黑" panose="020B0503020204020204" pitchFamily="34" charset="-122"/>
              </a:rPr>
              <a:t>单元测试之</a:t>
            </a:r>
            <a:r>
              <a:rPr sz="2800" b="1" spc="-5" dirty="0">
                <a:latin typeface="Arial" panose="020B0604020202020204"/>
                <a:cs typeface="Arial" panose="020B0604020202020204"/>
              </a:rPr>
              <a:t>unittest</a:t>
            </a:r>
            <a:endParaRPr sz="2800">
              <a:latin typeface="Arial" panose="020B0604020202020204"/>
              <a:cs typeface="Arial" panose="020B0604020202020204"/>
            </a:endParaRPr>
          </a:p>
        </p:txBody>
      </p:sp>
      <p:sp>
        <p:nvSpPr>
          <p:cNvPr id="3" name="object 3"/>
          <p:cNvSpPr/>
          <p:nvPr/>
        </p:nvSpPr>
        <p:spPr>
          <a:xfrm>
            <a:off x="3513785" y="1195153"/>
            <a:ext cx="5882563" cy="4953290"/>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2567928" y="5082170"/>
            <a:ext cx="3526154" cy="914400"/>
          </a:xfrm>
          <a:prstGeom prst="rect">
            <a:avLst/>
          </a:prstGeom>
        </p:spPr>
        <p:txBody>
          <a:bodyPr vert="horz" wrap="square" lIns="0" tIns="6350" rIns="0" bIns="0" rtlCol="0">
            <a:spAutoFit/>
          </a:bodyPr>
          <a:lstStyle/>
          <a:p>
            <a:pPr marL="12700" marR="5080" algn="just">
              <a:lnSpc>
                <a:spcPct val="109000"/>
              </a:lnSpc>
              <a:spcBef>
                <a:spcPts val="50"/>
              </a:spcBef>
            </a:pPr>
            <a:r>
              <a:rPr sz="1800" spc="-190" dirty="0">
                <a:solidFill>
                  <a:srgbClr val="CC0000"/>
                </a:solidFill>
                <a:latin typeface="Arial" panose="020B0604020202020204"/>
                <a:cs typeface="Arial" panose="020B0604020202020204"/>
              </a:rPr>
              <a:t>T</a:t>
            </a:r>
            <a:r>
              <a:rPr sz="1800" spc="10" dirty="0">
                <a:solidFill>
                  <a:srgbClr val="CC0000"/>
                </a:solidFill>
                <a:latin typeface="Arial" panose="020B0604020202020204"/>
                <a:cs typeface="Arial" panose="020B0604020202020204"/>
              </a:rPr>
              <a:t>estCase</a:t>
            </a:r>
            <a:r>
              <a:rPr sz="1800" spc="10" dirty="0">
                <a:solidFill>
                  <a:srgbClr val="CC0000"/>
                </a:solidFill>
                <a:latin typeface="微软雅黑" panose="020B0503020204020204" pitchFamily="34" charset="-122"/>
                <a:cs typeface="微软雅黑" panose="020B0503020204020204" pitchFamily="34" charset="-122"/>
              </a:rPr>
              <a:t>类：</a:t>
            </a:r>
            <a:r>
              <a:rPr sz="1800" spc="10" dirty="0">
                <a:latin typeface="微软雅黑" panose="020B0503020204020204" pitchFamily="34" charset="-122"/>
                <a:cs typeface="微软雅黑" panose="020B0503020204020204" pitchFamily="34" charset="-122"/>
              </a:rPr>
              <a:t>测试用例类，最小的 </a:t>
            </a:r>
            <a:r>
              <a:rPr sz="1800" spc="35" dirty="0">
                <a:latin typeface="微软雅黑" panose="020B0503020204020204" pitchFamily="34" charset="-122"/>
                <a:cs typeface="微软雅黑" panose="020B0503020204020204" pitchFamily="34" charset="-122"/>
              </a:rPr>
              <a:t>完整测试单元，编写测试用例时需 </a:t>
            </a:r>
            <a:r>
              <a:rPr sz="1800" dirty="0">
                <a:latin typeface="微软雅黑" panose="020B0503020204020204" pitchFamily="34" charset="-122"/>
                <a:cs typeface="微软雅黑" panose="020B0503020204020204" pitchFamily="34" charset="-122"/>
              </a:rPr>
              <a:t>要继承该类来编写测试用例。</a:t>
            </a:r>
          </a:p>
        </p:txBody>
      </p:sp>
      <p:sp>
        <p:nvSpPr>
          <p:cNvPr id="5" name="object 5"/>
          <p:cNvSpPr txBox="1"/>
          <p:nvPr/>
        </p:nvSpPr>
        <p:spPr>
          <a:xfrm>
            <a:off x="8020463" y="3753535"/>
            <a:ext cx="3521710" cy="914400"/>
          </a:xfrm>
          <a:prstGeom prst="rect">
            <a:avLst/>
          </a:prstGeom>
        </p:spPr>
        <p:txBody>
          <a:bodyPr vert="horz" wrap="square" lIns="0" tIns="6350" rIns="0" bIns="0" rtlCol="0">
            <a:spAutoFit/>
          </a:bodyPr>
          <a:lstStyle/>
          <a:p>
            <a:pPr marL="12700" marR="5080" algn="just">
              <a:lnSpc>
                <a:spcPct val="109000"/>
              </a:lnSpc>
              <a:spcBef>
                <a:spcPts val="50"/>
              </a:spcBef>
            </a:pPr>
            <a:r>
              <a:rPr sz="1800" spc="-185" dirty="0">
                <a:solidFill>
                  <a:srgbClr val="CC0000"/>
                </a:solidFill>
                <a:latin typeface="Arial" panose="020B0604020202020204"/>
                <a:cs typeface="Arial" panose="020B0604020202020204"/>
              </a:rPr>
              <a:t>T</a:t>
            </a:r>
            <a:r>
              <a:rPr sz="1800" spc="15" dirty="0">
                <a:solidFill>
                  <a:srgbClr val="CC0000"/>
                </a:solidFill>
                <a:latin typeface="Arial" panose="020B0604020202020204"/>
                <a:cs typeface="Arial" panose="020B0604020202020204"/>
              </a:rPr>
              <a:t>estSuite</a:t>
            </a:r>
            <a:r>
              <a:rPr sz="1800" spc="15" dirty="0">
                <a:solidFill>
                  <a:srgbClr val="CC0000"/>
                </a:solidFill>
                <a:latin typeface="微软雅黑" panose="020B0503020204020204" pitchFamily="34" charset="-122"/>
                <a:cs typeface="微软雅黑" panose="020B0503020204020204" pitchFamily="34" charset="-122"/>
              </a:rPr>
              <a:t>类：</a:t>
            </a:r>
            <a:r>
              <a:rPr sz="1800" spc="15" dirty="0">
                <a:latin typeface="微软雅黑" panose="020B0503020204020204" pitchFamily="34" charset="-122"/>
                <a:cs typeface="微软雅黑" panose="020B0503020204020204" pitchFamily="34" charset="-122"/>
              </a:rPr>
              <a:t>测试套件类，可以将  </a:t>
            </a:r>
            <a:r>
              <a:rPr sz="1800" spc="-200" dirty="0">
                <a:latin typeface="Arial" panose="020B0604020202020204"/>
                <a:cs typeface="Arial" panose="020B0604020202020204"/>
              </a:rPr>
              <a:t>T</a:t>
            </a:r>
            <a:r>
              <a:rPr sz="1800" dirty="0">
                <a:latin typeface="Arial" panose="020B0604020202020204"/>
                <a:cs typeface="Arial" panose="020B0604020202020204"/>
              </a:rPr>
              <a:t>estCas</a:t>
            </a:r>
            <a:r>
              <a:rPr sz="1800" spc="-5" dirty="0">
                <a:latin typeface="Arial" panose="020B0604020202020204"/>
                <a:cs typeface="Arial" panose="020B0604020202020204"/>
              </a:rPr>
              <a:t>e</a:t>
            </a:r>
            <a:r>
              <a:rPr sz="1800" dirty="0">
                <a:latin typeface="微软雅黑" panose="020B0503020204020204" pitchFamily="34" charset="-122"/>
                <a:cs typeface="微软雅黑" panose="020B0503020204020204" pitchFamily="34" charset="-122"/>
              </a:rPr>
              <a:t>加入到</a:t>
            </a:r>
            <a:r>
              <a:rPr sz="1800" spc="-200" dirty="0">
                <a:latin typeface="Arial" panose="020B0604020202020204"/>
                <a:cs typeface="Arial" panose="020B0604020202020204"/>
              </a:rPr>
              <a:t>T</a:t>
            </a:r>
            <a:r>
              <a:rPr sz="1800" dirty="0">
                <a:latin typeface="Arial" panose="020B0604020202020204"/>
                <a:cs typeface="Arial" panose="020B0604020202020204"/>
              </a:rPr>
              <a:t>estSuit</a:t>
            </a:r>
            <a:r>
              <a:rPr sz="1800" spc="-5" dirty="0">
                <a:latin typeface="Arial" panose="020B0604020202020204"/>
                <a:cs typeface="Arial" panose="020B0604020202020204"/>
              </a:rPr>
              <a:t>e</a:t>
            </a:r>
            <a:r>
              <a:rPr sz="1800" dirty="0">
                <a:latin typeface="微软雅黑" panose="020B0503020204020204" pitchFamily="34" charset="-122"/>
                <a:cs typeface="微软雅黑" panose="020B0503020204020204" pitchFamily="34" charset="-122"/>
              </a:rPr>
              <a:t>中进行分 组，方便对测试进行管理。</a:t>
            </a:r>
            <a:endParaRPr sz="1800">
              <a:latin typeface="微软雅黑" panose="020B0503020204020204" pitchFamily="34" charset="-122"/>
              <a:cs typeface="微软雅黑" panose="020B0503020204020204" pitchFamily="34" charset="-122"/>
            </a:endParaRPr>
          </a:p>
        </p:txBody>
      </p:sp>
      <p:sp>
        <p:nvSpPr>
          <p:cNvPr id="6" name="object 6"/>
          <p:cNvSpPr txBox="1"/>
          <p:nvPr/>
        </p:nvSpPr>
        <p:spPr>
          <a:xfrm>
            <a:off x="7958668" y="5137835"/>
            <a:ext cx="3564254" cy="745490"/>
          </a:xfrm>
          <a:prstGeom prst="rect">
            <a:avLst/>
          </a:prstGeom>
          <a:solidFill>
            <a:srgbClr val="ECEBEB"/>
          </a:solidFill>
        </p:spPr>
        <p:txBody>
          <a:bodyPr vert="horz" wrap="square" lIns="0" tIns="50800" rIns="0" bIns="0" rtlCol="0">
            <a:spAutoFit/>
          </a:bodyPr>
          <a:lstStyle/>
          <a:p>
            <a:pPr marL="179705" marR="160655">
              <a:lnSpc>
                <a:spcPct val="107000"/>
              </a:lnSpc>
              <a:spcBef>
                <a:spcPts val="400"/>
              </a:spcBef>
            </a:pPr>
            <a:r>
              <a:rPr sz="1800" spc="40" dirty="0">
                <a:latin typeface="Arial" panose="020B0604020202020204"/>
                <a:cs typeface="Arial" panose="020B0604020202020204"/>
              </a:rPr>
              <a:t>main</a:t>
            </a:r>
            <a:r>
              <a:rPr sz="1800" spc="40" dirty="0">
                <a:latin typeface="微软雅黑" panose="020B0503020204020204" pitchFamily="34" charset="-122"/>
                <a:cs typeface="微软雅黑" panose="020B0503020204020204" pitchFamily="34" charset="-122"/>
              </a:rPr>
              <a:t>方法：</a:t>
            </a:r>
            <a:r>
              <a:rPr sz="1800" spc="40" dirty="0">
                <a:latin typeface="Arial" panose="020B0604020202020204"/>
                <a:cs typeface="Arial" panose="020B0604020202020204"/>
              </a:rPr>
              <a:t>unittest.main()</a:t>
            </a:r>
            <a:r>
              <a:rPr sz="1800" spc="40" dirty="0">
                <a:latin typeface="微软雅黑" panose="020B0503020204020204" pitchFamily="34" charset="-122"/>
                <a:cs typeface="微软雅黑" panose="020B0503020204020204" pitchFamily="34" charset="-122"/>
              </a:rPr>
              <a:t>可以 </a:t>
            </a:r>
            <a:r>
              <a:rPr sz="1800" dirty="0">
                <a:latin typeface="微软雅黑" panose="020B0503020204020204" pitchFamily="34" charset="-122"/>
                <a:cs typeface="微软雅黑" panose="020B0503020204020204" pitchFamily="34" charset="-122"/>
              </a:rPr>
              <a:t>自动运行当前文件中的所有测试</a:t>
            </a:r>
            <a:endParaRPr sz="1800">
              <a:latin typeface="微软雅黑" panose="020B0503020204020204" pitchFamily="34" charset="-122"/>
              <a:cs typeface="微软雅黑" panose="020B0503020204020204" pitchFamily="34" charset="-122"/>
            </a:endParaRPr>
          </a:p>
        </p:txBody>
      </p:sp>
      <p:sp>
        <p:nvSpPr>
          <p:cNvPr id="7" name="object 7"/>
          <p:cNvSpPr txBox="1"/>
          <p:nvPr/>
        </p:nvSpPr>
        <p:spPr>
          <a:xfrm>
            <a:off x="722203" y="2655900"/>
            <a:ext cx="2768600" cy="609600"/>
          </a:xfrm>
          <a:prstGeom prst="rect">
            <a:avLst/>
          </a:prstGeom>
        </p:spPr>
        <p:txBody>
          <a:bodyPr vert="horz" wrap="square" lIns="0" tIns="12700" rIns="0" bIns="0" rtlCol="0">
            <a:spAutoFit/>
          </a:bodyPr>
          <a:lstStyle/>
          <a:p>
            <a:pPr marL="12700" marR="5080">
              <a:lnSpc>
                <a:spcPct val="107000"/>
              </a:lnSpc>
              <a:spcBef>
                <a:spcPts val="100"/>
              </a:spcBef>
            </a:pPr>
            <a:r>
              <a:rPr sz="1800" spc="-10" dirty="0">
                <a:solidFill>
                  <a:srgbClr val="CC0000"/>
                </a:solidFill>
                <a:latin typeface="Arial" panose="020B0604020202020204"/>
                <a:cs typeface="Arial" panose="020B0604020202020204"/>
              </a:rPr>
              <a:t>TestLoader</a:t>
            </a:r>
            <a:r>
              <a:rPr sz="1800" spc="10" dirty="0">
                <a:solidFill>
                  <a:srgbClr val="CC0000"/>
                </a:solidFill>
                <a:latin typeface="微软雅黑" panose="020B0503020204020204" pitchFamily="34" charset="-122"/>
                <a:cs typeface="微软雅黑" panose="020B0503020204020204" pitchFamily="34" charset="-122"/>
              </a:rPr>
              <a:t>类：</a:t>
            </a:r>
            <a:r>
              <a:rPr sz="1800" spc="10" dirty="0">
                <a:latin typeface="微软雅黑" panose="020B0503020204020204" pitchFamily="34" charset="-122"/>
                <a:cs typeface="微软雅黑" panose="020B0503020204020204" pitchFamily="34" charset="-122"/>
              </a:rPr>
              <a:t>加载测试 </a:t>
            </a:r>
            <a:r>
              <a:rPr sz="1800" dirty="0">
                <a:latin typeface="微软雅黑" panose="020B0503020204020204" pitchFamily="34" charset="-122"/>
                <a:cs typeface="微软雅黑" panose="020B0503020204020204" pitchFamily="34" charset="-122"/>
              </a:rPr>
              <a:t>的类，通常无需手动创建。</a:t>
            </a:r>
            <a:endParaRPr sz="1800">
              <a:latin typeface="微软雅黑" panose="020B0503020204020204" pitchFamily="34" charset="-122"/>
              <a:cs typeface="微软雅黑" panose="020B0503020204020204" pitchFamily="34" charset="-122"/>
            </a:endParaRPr>
          </a:p>
        </p:txBody>
      </p:sp>
      <p:sp>
        <p:nvSpPr>
          <p:cNvPr id="8" name="object 8"/>
          <p:cNvSpPr txBox="1"/>
          <p:nvPr/>
        </p:nvSpPr>
        <p:spPr>
          <a:xfrm>
            <a:off x="3051221" y="1533220"/>
            <a:ext cx="3378835" cy="299720"/>
          </a:xfrm>
          <a:prstGeom prst="rect">
            <a:avLst/>
          </a:prstGeom>
        </p:spPr>
        <p:txBody>
          <a:bodyPr vert="horz" wrap="square" lIns="0" tIns="12700" rIns="0" bIns="0" rtlCol="0">
            <a:spAutoFit/>
          </a:bodyPr>
          <a:lstStyle/>
          <a:p>
            <a:pPr marL="12700">
              <a:lnSpc>
                <a:spcPct val="100000"/>
              </a:lnSpc>
              <a:spcBef>
                <a:spcPts val="100"/>
              </a:spcBef>
            </a:pPr>
            <a:r>
              <a:rPr sz="1800" spc="-25" dirty="0">
                <a:solidFill>
                  <a:srgbClr val="CC0000"/>
                </a:solidFill>
                <a:latin typeface="Arial" panose="020B0604020202020204"/>
                <a:cs typeface="Arial" panose="020B0604020202020204"/>
              </a:rPr>
              <a:t>TestResult</a:t>
            </a:r>
            <a:r>
              <a:rPr sz="1800" dirty="0">
                <a:solidFill>
                  <a:srgbClr val="CC0000"/>
                </a:solidFill>
                <a:latin typeface="微软雅黑" panose="020B0503020204020204" pitchFamily="34" charset="-122"/>
                <a:cs typeface="微软雅黑" panose="020B0503020204020204" pitchFamily="34" charset="-122"/>
              </a:rPr>
              <a:t>类</a:t>
            </a:r>
            <a:r>
              <a:rPr sz="1800" dirty="0">
                <a:solidFill>
                  <a:srgbClr val="D81E00"/>
                </a:solidFill>
                <a:latin typeface="微软雅黑" panose="020B0503020204020204" pitchFamily="34" charset="-122"/>
                <a:cs typeface="微软雅黑" panose="020B0503020204020204" pitchFamily="34" charset="-122"/>
              </a:rPr>
              <a:t>：</a:t>
            </a:r>
            <a:r>
              <a:rPr sz="1800" dirty="0">
                <a:latin typeface="微软雅黑" panose="020B0503020204020204" pitchFamily="34" charset="-122"/>
                <a:cs typeface="微软雅黑" panose="020B0503020204020204" pitchFamily="34" charset="-122"/>
              </a:rPr>
              <a:t>记录测试结果的类</a:t>
            </a:r>
            <a:endParaRPr sz="1800">
              <a:latin typeface="微软雅黑" panose="020B0503020204020204" pitchFamily="34" charset="-122"/>
              <a:cs typeface="微软雅黑" panose="020B0503020204020204" pitchFamily="34" charset="-122"/>
            </a:endParaRPr>
          </a:p>
        </p:txBody>
      </p:sp>
      <p:sp>
        <p:nvSpPr>
          <p:cNvPr id="9" name="object 9"/>
          <p:cNvSpPr txBox="1"/>
          <p:nvPr/>
        </p:nvSpPr>
        <p:spPr>
          <a:xfrm>
            <a:off x="8026958" y="2125890"/>
            <a:ext cx="3442970" cy="299720"/>
          </a:xfrm>
          <a:prstGeom prst="rect">
            <a:avLst/>
          </a:prstGeom>
        </p:spPr>
        <p:txBody>
          <a:bodyPr vert="horz" wrap="square" lIns="0" tIns="12700" rIns="0" bIns="0" rtlCol="0">
            <a:spAutoFit/>
          </a:bodyPr>
          <a:lstStyle/>
          <a:p>
            <a:pPr marL="12700">
              <a:lnSpc>
                <a:spcPct val="100000"/>
              </a:lnSpc>
              <a:spcBef>
                <a:spcPts val="100"/>
              </a:spcBef>
            </a:pPr>
            <a:r>
              <a:rPr sz="1800" spc="-200" dirty="0">
                <a:solidFill>
                  <a:srgbClr val="CC0000"/>
                </a:solidFill>
                <a:latin typeface="Arial" panose="020B0604020202020204"/>
                <a:cs typeface="Arial" panose="020B0604020202020204"/>
              </a:rPr>
              <a:t>T</a:t>
            </a:r>
            <a:r>
              <a:rPr sz="1800" dirty="0">
                <a:solidFill>
                  <a:srgbClr val="CC0000"/>
                </a:solidFill>
                <a:latin typeface="Arial" panose="020B0604020202020204"/>
                <a:cs typeface="Arial" panose="020B0604020202020204"/>
              </a:rPr>
              <a:t>ex</a:t>
            </a:r>
            <a:r>
              <a:rPr sz="1800" spc="-5" dirty="0">
                <a:solidFill>
                  <a:srgbClr val="CC0000"/>
                </a:solidFill>
                <a:latin typeface="Arial" panose="020B0604020202020204"/>
                <a:cs typeface="Arial" panose="020B0604020202020204"/>
              </a:rPr>
              <a:t>t</a:t>
            </a:r>
            <a:r>
              <a:rPr sz="1800" spc="-200" dirty="0">
                <a:solidFill>
                  <a:srgbClr val="CC0000"/>
                </a:solidFill>
                <a:latin typeface="Arial" panose="020B0604020202020204"/>
                <a:cs typeface="Arial" panose="020B0604020202020204"/>
              </a:rPr>
              <a:t>T</a:t>
            </a:r>
            <a:r>
              <a:rPr sz="1800" dirty="0">
                <a:solidFill>
                  <a:srgbClr val="CC0000"/>
                </a:solidFill>
                <a:latin typeface="Arial" panose="020B0604020202020204"/>
                <a:cs typeface="Arial" panose="020B0604020202020204"/>
              </a:rPr>
              <a:t>es</a:t>
            </a:r>
            <a:r>
              <a:rPr sz="1800" spc="-5" dirty="0">
                <a:solidFill>
                  <a:srgbClr val="CC0000"/>
                </a:solidFill>
                <a:latin typeface="Arial" panose="020B0604020202020204"/>
                <a:cs typeface="Arial" panose="020B0604020202020204"/>
              </a:rPr>
              <a:t>t</a:t>
            </a:r>
            <a:r>
              <a:rPr sz="1800" dirty="0">
                <a:solidFill>
                  <a:srgbClr val="CC0000"/>
                </a:solidFill>
                <a:latin typeface="Arial" panose="020B0604020202020204"/>
                <a:cs typeface="Arial" panose="020B0604020202020204"/>
              </a:rPr>
              <a:t>Runner</a:t>
            </a:r>
            <a:r>
              <a:rPr sz="1800" dirty="0">
                <a:solidFill>
                  <a:srgbClr val="CC0000"/>
                </a:solidFill>
                <a:latin typeface="微软雅黑" panose="020B0503020204020204" pitchFamily="34" charset="-122"/>
                <a:cs typeface="微软雅黑" panose="020B0503020204020204" pitchFamily="34" charset="-122"/>
              </a:rPr>
              <a:t>类</a:t>
            </a:r>
            <a:r>
              <a:rPr sz="1800" dirty="0">
                <a:solidFill>
                  <a:srgbClr val="D81E00"/>
                </a:solidFill>
                <a:latin typeface="微软雅黑" panose="020B0503020204020204" pitchFamily="34" charset="-122"/>
                <a:cs typeface="微软雅黑" panose="020B0503020204020204" pitchFamily="34" charset="-122"/>
              </a:rPr>
              <a:t>：</a:t>
            </a:r>
            <a:r>
              <a:rPr sz="1800" dirty="0">
                <a:latin typeface="微软雅黑" panose="020B0503020204020204" pitchFamily="34" charset="-122"/>
                <a:cs typeface="微软雅黑" panose="020B0503020204020204" pitchFamily="34" charset="-122"/>
              </a:rPr>
              <a:t>执行测试用例</a:t>
            </a:r>
            <a:endParaRPr sz="1800">
              <a:latin typeface="微软雅黑" panose="020B0503020204020204" pitchFamily="34" charset="-122"/>
              <a:cs typeface="微软雅黑" panose="020B0503020204020204" pitchFamily="34"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40932" y="1683465"/>
            <a:ext cx="9720580" cy="735965"/>
          </a:xfrm>
          <a:prstGeom prst="rect">
            <a:avLst/>
          </a:prstGeom>
          <a:solidFill>
            <a:srgbClr val="797BA9"/>
          </a:solidFill>
        </p:spPr>
        <p:txBody>
          <a:bodyPr vert="horz" wrap="square" lIns="0" tIns="191770" rIns="0" bIns="0" rtlCol="0">
            <a:spAutoFit/>
          </a:bodyPr>
          <a:lstStyle/>
          <a:p>
            <a:pPr marL="391795">
              <a:lnSpc>
                <a:spcPct val="100000"/>
              </a:lnSpc>
              <a:spcBef>
                <a:spcPts val="1510"/>
              </a:spcBef>
            </a:pPr>
            <a:r>
              <a:rPr sz="2200" dirty="0">
                <a:solidFill>
                  <a:srgbClr val="FFFFFF"/>
                </a:solidFill>
                <a:latin typeface="微软雅黑" panose="020B0503020204020204" pitchFamily="34" charset="-122"/>
                <a:cs typeface="微软雅黑" panose="020B0503020204020204" pitchFamily="34" charset="-122"/>
              </a:rPr>
              <a:t>测试过程中需要通过属性断言对结果进行判断，以验证结果是否满足需求。</a:t>
            </a:r>
            <a:endParaRPr sz="2200" dirty="0">
              <a:latin typeface="微软雅黑" panose="020B0503020204020204" pitchFamily="34" charset="-122"/>
              <a:cs typeface="微软雅黑" panose="020B0503020204020204" pitchFamily="34" charset="-122"/>
            </a:endParaRPr>
          </a:p>
        </p:txBody>
      </p:sp>
      <p:sp>
        <p:nvSpPr>
          <p:cNvPr id="4" name="object 4"/>
          <p:cNvSpPr txBox="1"/>
          <p:nvPr/>
        </p:nvSpPr>
        <p:spPr>
          <a:xfrm>
            <a:off x="1365677" y="2693723"/>
            <a:ext cx="9388475" cy="2895600"/>
          </a:xfrm>
          <a:prstGeom prst="rect">
            <a:avLst/>
          </a:prstGeom>
        </p:spPr>
        <p:txBody>
          <a:bodyPr vert="horz" wrap="square" lIns="0" tIns="12700" rIns="0" bIns="0" rtlCol="0">
            <a:spAutoFit/>
          </a:bodyPr>
          <a:lstStyle/>
          <a:p>
            <a:pPr marL="355600" marR="5080" indent="-342900">
              <a:lnSpc>
                <a:spcPct val="129000"/>
              </a:lnSpc>
              <a:spcBef>
                <a:spcPts val="100"/>
              </a:spcBef>
              <a:buChar char="•"/>
              <a:tabLst>
                <a:tab pos="354965" algn="l"/>
                <a:tab pos="355600" algn="l"/>
              </a:tabLst>
            </a:pPr>
            <a:r>
              <a:rPr sz="2000" spc="-30" dirty="0">
                <a:latin typeface="Arial" panose="020B0604020202020204"/>
                <a:cs typeface="Arial" panose="020B0604020202020204"/>
              </a:rPr>
              <a:t>TestCase</a:t>
            </a:r>
            <a:r>
              <a:rPr sz="2000" dirty="0">
                <a:latin typeface="微软雅黑" panose="020B0503020204020204" pitchFamily="34" charset="-122"/>
                <a:cs typeface="微软雅黑" panose="020B0503020204020204" pitchFamily="34" charset="-122"/>
              </a:rPr>
              <a:t>类提供了多种强大的断言方法，如</a:t>
            </a:r>
            <a:r>
              <a:rPr sz="2000" spc="-10" dirty="0">
                <a:latin typeface="Arial" panose="020B0604020202020204"/>
                <a:cs typeface="Arial" panose="020B0604020202020204"/>
              </a:rPr>
              <a:t>asserTrue,</a:t>
            </a:r>
            <a:r>
              <a:rPr sz="2000" spc="50" dirty="0">
                <a:latin typeface="Arial" panose="020B0604020202020204"/>
                <a:cs typeface="Arial" panose="020B0604020202020204"/>
              </a:rPr>
              <a:t> </a:t>
            </a:r>
            <a:r>
              <a:rPr sz="2000" spc="-5" dirty="0">
                <a:latin typeface="Arial" panose="020B0604020202020204"/>
                <a:cs typeface="Arial" panose="020B0604020202020204"/>
              </a:rPr>
              <a:t>assertFalse,</a:t>
            </a:r>
            <a:r>
              <a:rPr sz="2000" spc="50" dirty="0">
                <a:latin typeface="Arial" panose="020B0604020202020204"/>
                <a:cs typeface="Arial" panose="020B0604020202020204"/>
              </a:rPr>
              <a:t> </a:t>
            </a:r>
            <a:r>
              <a:rPr sz="2000" spc="-5" dirty="0">
                <a:latin typeface="Arial" panose="020B0604020202020204"/>
                <a:cs typeface="Arial" panose="020B0604020202020204"/>
              </a:rPr>
              <a:t>assertEqual,  assertNotEqual, assertIs</a:t>
            </a:r>
            <a:r>
              <a:rPr sz="2000" dirty="0">
                <a:latin typeface="微软雅黑" panose="020B0503020204020204" pitchFamily="34" charset="-122"/>
                <a:cs typeface="微软雅黑" panose="020B0503020204020204" pitchFamily="34" charset="-122"/>
              </a:rPr>
              <a:t>等。</a:t>
            </a:r>
          </a:p>
          <a:p>
            <a:pPr>
              <a:lnSpc>
                <a:spcPct val="100000"/>
              </a:lnSpc>
              <a:spcBef>
                <a:spcPts val="20"/>
              </a:spcBef>
              <a:buFont typeface="Arial" panose="020B0604020202020204"/>
              <a:buChar char="•"/>
            </a:pPr>
            <a:endParaRPr sz="2500" dirty="0">
              <a:latin typeface="Times New Roman" panose="02020603050405020304"/>
              <a:cs typeface="Times New Roman" panose="02020603050405020304"/>
            </a:endParaRPr>
          </a:p>
          <a:p>
            <a:pPr marL="365125">
              <a:lnSpc>
                <a:spcPct val="100000"/>
              </a:lnSpc>
              <a:spcBef>
                <a:spcPts val="5"/>
              </a:spcBef>
            </a:pPr>
            <a:r>
              <a:rPr sz="2000" dirty="0">
                <a:latin typeface="微软雅黑" panose="020B0503020204020204" pitchFamily="34" charset="-122"/>
                <a:cs typeface="微软雅黑" panose="020B0503020204020204" pitchFamily="34" charset="-122"/>
              </a:rPr>
              <a:t>参考文档见 </a:t>
            </a:r>
            <a:r>
              <a:rPr sz="2000" u="sng" spc="-5" dirty="0">
                <a:solidFill>
                  <a:srgbClr val="0563C1"/>
                </a:solidFill>
                <a:uFill>
                  <a:solidFill>
                    <a:srgbClr val="0079CD"/>
                  </a:solidFill>
                </a:uFill>
                <a:latin typeface="Arial" panose="020B0604020202020204"/>
                <a:cs typeface="Arial" panose="020B0604020202020204"/>
              </a:rPr>
              <a:t>https://docs.python.org/3/library/unittest.html</a:t>
            </a:r>
            <a:endParaRPr sz="2000" dirty="0">
              <a:latin typeface="Arial" panose="020B0604020202020204"/>
              <a:cs typeface="Arial" panose="020B0604020202020204"/>
            </a:endParaRPr>
          </a:p>
          <a:p>
            <a:pPr marL="355600" marR="2399030" indent="-342900">
              <a:lnSpc>
                <a:spcPct val="129000"/>
              </a:lnSpc>
              <a:spcBef>
                <a:spcPts val="1795"/>
              </a:spcBef>
              <a:buFont typeface="Arial" panose="020B0604020202020204"/>
              <a:buChar char="•"/>
              <a:tabLst>
                <a:tab pos="360045" algn="l"/>
                <a:tab pos="360680" algn="l"/>
              </a:tabLst>
            </a:pPr>
            <a:r>
              <a:rPr sz="2000" spc="75" dirty="0">
                <a:latin typeface="微软雅黑" panose="020B0503020204020204" pitchFamily="34" charset="-122"/>
                <a:cs typeface="微软雅黑" panose="020B0503020204020204" pitchFamily="34" charset="-122"/>
              </a:rPr>
              <a:t>这些断言方法可以在断言的同时加上一个</a:t>
            </a:r>
            <a:r>
              <a:rPr sz="2000" spc="75" dirty="0">
                <a:latin typeface="Arial" panose="020B0604020202020204"/>
                <a:cs typeface="Arial" panose="020B0604020202020204"/>
              </a:rPr>
              <a:t>message</a:t>
            </a:r>
            <a:r>
              <a:rPr sz="2000" spc="75" dirty="0">
                <a:latin typeface="微软雅黑" panose="020B0503020204020204" pitchFamily="34" charset="-122"/>
                <a:cs typeface="微软雅黑" panose="020B0503020204020204" pitchFamily="34" charset="-122"/>
              </a:rPr>
              <a:t>参</a:t>
            </a:r>
            <a:r>
              <a:rPr sz="2000" spc="-5" dirty="0">
                <a:latin typeface="微软雅黑" panose="020B0503020204020204" pitchFamily="34" charset="-122"/>
                <a:cs typeface="微软雅黑" panose="020B0503020204020204" pitchFamily="34" charset="-122"/>
              </a:rPr>
              <a:t>数</a:t>
            </a:r>
            <a:r>
              <a:rPr sz="2000" dirty="0">
                <a:latin typeface="微软雅黑" panose="020B0503020204020204" pitchFamily="34" charset="-122"/>
                <a:cs typeface="微软雅黑" panose="020B0503020204020204" pitchFamily="34" charset="-122"/>
              </a:rPr>
              <a:t>， </a:t>
            </a:r>
            <a:r>
              <a:rPr sz="2000" spc="5" dirty="0">
                <a:latin typeface="微软雅黑" panose="020B0503020204020204" pitchFamily="34" charset="-122"/>
                <a:cs typeface="微软雅黑" panose="020B0503020204020204" pitchFamily="34" charset="-122"/>
              </a:rPr>
              <a:t>这样可以使断言的意义明确而且方便维护，在测试失败时 </a:t>
            </a:r>
            <a:r>
              <a:rPr sz="2000" dirty="0">
                <a:latin typeface="微软雅黑" panose="020B0503020204020204" pitchFamily="34" charset="-122"/>
                <a:cs typeface="微软雅黑" panose="020B0503020204020204" pitchFamily="34" charset="-122"/>
              </a:rPr>
              <a:t>抛出可读的信息。</a:t>
            </a:r>
          </a:p>
        </p:txBody>
      </p:sp>
      <p:sp>
        <p:nvSpPr>
          <p:cNvPr id="5" name="object 5"/>
          <p:cNvSpPr/>
          <p:nvPr/>
        </p:nvSpPr>
        <p:spPr>
          <a:xfrm>
            <a:off x="8616850" y="3564464"/>
            <a:ext cx="2135813" cy="2125134"/>
          </a:xfrm>
          <a:prstGeom prst="rect">
            <a:avLst/>
          </a:prstGeom>
          <a:blipFill>
            <a:blip r:embed="rId3" cstate="print"/>
            <a:stretch>
              <a:fillRect/>
            </a:stretch>
          </a:blipFill>
        </p:spPr>
        <p:txBody>
          <a:bodyPr wrap="square" lIns="0" tIns="0" rIns="0" bIns="0" rtlCol="0"/>
          <a:lstStyle/>
          <a:p>
            <a:endParaRPr/>
          </a:p>
        </p:txBody>
      </p:sp>
      <p:sp>
        <p:nvSpPr>
          <p:cNvPr id="7" name="标题 6"/>
          <p:cNvSpPr>
            <a:spLocks noGrp="1"/>
          </p:cNvSpPr>
          <p:nvPr>
            <p:ph type="title"/>
          </p:nvPr>
        </p:nvSpPr>
        <p:spPr/>
        <p:txBody>
          <a:bodyPr/>
          <a:lstStyle/>
          <a:p>
            <a:r>
              <a:rPr lang="en-US" altLang="zh-CN" dirty="0"/>
              <a:t>Python</a:t>
            </a:r>
            <a:r>
              <a:rPr lang="zh-CN" altLang="en-US" dirty="0"/>
              <a:t>单元测试之</a:t>
            </a:r>
            <a:r>
              <a:rPr lang="en-US" altLang="zh-CN" dirty="0" err="1"/>
              <a:t>unittest</a:t>
            </a:r>
            <a:endParaRPr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76204" y="1278531"/>
            <a:ext cx="10384790" cy="4470400"/>
          </a:xfrm>
          <a:prstGeom prst="rect">
            <a:avLst/>
          </a:prstGeom>
        </p:spPr>
        <p:txBody>
          <a:bodyPr vert="horz" wrap="square" lIns="0" tIns="185420" rIns="0" bIns="0" rtlCol="0">
            <a:spAutoFit/>
          </a:bodyPr>
          <a:lstStyle/>
          <a:p>
            <a:pPr marL="12700">
              <a:lnSpc>
                <a:spcPct val="100000"/>
              </a:lnSpc>
              <a:spcBef>
                <a:spcPts val="1460"/>
              </a:spcBef>
              <a:tabLst>
                <a:tab pos="469265" algn="l"/>
              </a:tabLst>
            </a:pPr>
            <a:r>
              <a:rPr sz="2200" dirty="0">
                <a:latin typeface="微软雅黑" panose="020B0503020204020204" pitchFamily="34" charset="-122"/>
                <a:cs typeface="微软雅黑" panose="020B0503020204020204" pitchFamily="34" charset="-122"/>
              </a:rPr>
              <a:t>①	</a:t>
            </a:r>
            <a:r>
              <a:rPr sz="2200" dirty="0">
                <a:latin typeface="Arial" panose="020B0604020202020204"/>
                <a:cs typeface="Arial" panose="020B0604020202020204"/>
              </a:rPr>
              <a:t>import</a:t>
            </a:r>
            <a:r>
              <a:rPr sz="2200" spc="-10" dirty="0">
                <a:latin typeface="Arial" panose="020B0604020202020204"/>
                <a:cs typeface="Arial" panose="020B0604020202020204"/>
              </a:rPr>
              <a:t> </a:t>
            </a:r>
            <a:r>
              <a:rPr sz="2200" spc="-5" dirty="0">
                <a:latin typeface="Arial" panose="020B0604020202020204"/>
                <a:cs typeface="Arial" panose="020B0604020202020204"/>
              </a:rPr>
              <a:t>unittest</a:t>
            </a:r>
            <a:endParaRPr sz="2200">
              <a:latin typeface="Arial" panose="020B0604020202020204"/>
              <a:cs typeface="Arial" panose="020B0604020202020204"/>
            </a:endParaRPr>
          </a:p>
          <a:p>
            <a:pPr marL="12700">
              <a:lnSpc>
                <a:spcPct val="100000"/>
              </a:lnSpc>
              <a:spcBef>
                <a:spcPts val="1360"/>
              </a:spcBef>
              <a:tabLst>
                <a:tab pos="469265" algn="l"/>
              </a:tabLst>
            </a:pPr>
            <a:r>
              <a:rPr sz="2200" dirty="0">
                <a:latin typeface="微软雅黑" panose="020B0503020204020204" pitchFamily="34" charset="-122"/>
                <a:cs typeface="微软雅黑" panose="020B0503020204020204" pitchFamily="34" charset="-122"/>
              </a:rPr>
              <a:t>②	定义一个继承自</a:t>
            </a:r>
            <a:r>
              <a:rPr sz="2200" spc="-20" dirty="0">
                <a:latin typeface="Arial" panose="020B0604020202020204"/>
                <a:cs typeface="Arial" panose="020B0604020202020204"/>
              </a:rPr>
              <a:t>unittest.TestCase</a:t>
            </a:r>
            <a:r>
              <a:rPr sz="2200" dirty="0">
                <a:latin typeface="微软雅黑" panose="020B0503020204020204" pitchFamily="34" charset="-122"/>
                <a:cs typeface="微软雅黑" panose="020B0503020204020204" pitchFamily="34" charset="-122"/>
              </a:rPr>
              <a:t>的测试用例类</a:t>
            </a:r>
            <a:endParaRPr sz="2200">
              <a:latin typeface="微软雅黑" panose="020B0503020204020204" pitchFamily="34" charset="-122"/>
              <a:cs typeface="微软雅黑" panose="020B0503020204020204" pitchFamily="34" charset="-122"/>
            </a:endParaRPr>
          </a:p>
          <a:p>
            <a:pPr marL="12700">
              <a:lnSpc>
                <a:spcPct val="100000"/>
              </a:lnSpc>
              <a:spcBef>
                <a:spcPts val="1360"/>
              </a:spcBef>
              <a:tabLst>
                <a:tab pos="469265" algn="l"/>
              </a:tabLst>
            </a:pPr>
            <a:r>
              <a:rPr sz="2200" dirty="0">
                <a:latin typeface="微软雅黑" panose="020B0503020204020204" pitchFamily="34" charset="-122"/>
                <a:cs typeface="微软雅黑" panose="020B0503020204020204" pitchFamily="34" charset="-122"/>
              </a:rPr>
              <a:t>③	定义</a:t>
            </a:r>
            <a:r>
              <a:rPr sz="2200" spc="-5" dirty="0">
                <a:latin typeface="Arial" panose="020B0604020202020204"/>
                <a:cs typeface="Arial" panose="020B0604020202020204"/>
              </a:rPr>
              <a:t>setUp</a:t>
            </a:r>
            <a:r>
              <a:rPr sz="2200" dirty="0">
                <a:latin typeface="微软雅黑" panose="020B0503020204020204" pitchFamily="34" charset="-122"/>
                <a:cs typeface="微软雅黑" panose="020B0503020204020204" pitchFamily="34" charset="-122"/>
              </a:rPr>
              <a:t>和</a:t>
            </a:r>
            <a:r>
              <a:rPr sz="2200" spc="-5" dirty="0">
                <a:latin typeface="Arial" panose="020B0604020202020204"/>
                <a:cs typeface="Arial" panose="020B0604020202020204"/>
              </a:rPr>
              <a:t>tearDown</a:t>
            </a:r>
            <a:r>
              <a:rPr sz="2200" spc="-5" dirty="0">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在每个测试用例前后做一些辅助工作</a:t>
            </a:r>
            <a:endParaRPr sz="2200">
              <a:latin typeface="微软雅黑" panose="020B0503020204020204" pitchFamily="34" charset="-122"/>
              <a:cs typeface="微软雅黑" panose="020B0503020204020204" pitchFamily="34" charset="-122"/>
            </a:endParaRPr>
          </a:p>
          <a:p>
            <a:pPr marL="12700">
              <a:lnSpc>
                <a:spcPct val="100000"/>
              </a:lnSpc>
              <a:spcBef>
                <a:spcPts val="1360"/>
              </a:spcBef>
              <a:tabLst>
                <a:tab pos="469265" algn="l"/>
              </a:tabLst>
            </a:pPr>
            <a:r>
              <a:rPr sz="2200" dirty="0">
                <a:latin typeface="微软雅黑" panose="020B0503020204020204" pitchFamily="34" charset="-122"/>
                <a:cs typeface="微软雅黑" panose="020B0503020204020204" pitchFamily="34" charset="-122"/>
              </a:rPr>
              <a:t>④	定义测试用例，名字以</a:t>
            </a:r>
            <a:r>
              <a:rPr sz="2200" spc="-5" dirty="0">
                <a:latin typeface="Arial" panose="020B0604020202020204"/>
                <a:cs typeface="Arial" panose="020B0604020202020204"/>
              </a:rPr>
              <a:t>test</a:t>
            </a:r>
            <a:r>
              <a:rPr sz="2200" dirty="0">
                <a:latin typeface="微软雅黑" panose="020B0503020204020204" pitchFamily="34" charset="-122"/>
                <a:cs typeface="微软雅黑" panose="020B0503020204020204" pitchFamily="34" charset="-122"/>
              </a:rPr>
              <a:t>开头</a:t>
            </a:r>
            <a:endParaRPr sz="2200">
              <a:latin typeface="微软雅黑" panose="020B0503020204020204" pitchFamily="34" charset="-122"/>
              <a:cs typeface="微软雅黑" panose="020B0503020204020204" pitchFamily="34" charset="-122"/>
            </a:endParaRPr>
          </a:p>
          <a:p>
            <a:pPr marL="12700">
              <a:lnSpc>
                <a:spcPct val="100000"/>
              </a:lnSpc>
              <a:spcBef>
                <a:spcPts val="1460"/>
              </a:spcBef>
              <a:tabLst>
                <a:tab pos="471170" algn="l"/>
              </a:tabLst>
            </a:pPr>
            <a:r>
              <a:rPr sz="2200" dirty="0">
                <a:latin typeface="微软雅黑" panose="020B0503020204020204" pitchFamily="34" charset="-122"/>
                <a:cs typeface="微软雅黑" panose="020B0503020204020204" pitchFamily="34" charset="-122"/>
              </a:rPr>
              <a:t>⑤	</a:t>
            </a:r>
            <a:r>
              <a:rPr sz="2200" spc="25" dirty="0">
                <a:latin typeface="微软雅黑" panose="020B0503020204020204" pitchFamily="34" charset="-122"/>
                <a:cs typeface="微软雅黑" panose="020B0503020204020204" pitchFamily="34" charset="-122"/>
              </a:rPr>
              <a:t>一个测试用例应该只测试一个方面，测试目的和测试内容应很明确。主要是调用</a:t>
            </a:r>
            <a:endParaRPr sz="2200">
              <a:latin typeface="微软雅黑" panose="020B0503020204020204" pitchFamily="34" charset="-122"/>
              <a:cs typeface="微软雅黑" panose="020B0503020204020204" pitchFamily="34" charset="-122"/>
            </a:endParaRPr>
          </a:p>
          <a:p>
            <a:pPr marL="469265">
              <a:lnSpc>
                <a:spcPct val="100000"/>
              </a:lnSpc>
              <a:spcBef>
                <a:spcPts val="760"/>
              </a:spcBef>
            </a:pPr>
            <a:r>
              <a:rPr sz="2200" spc="-5" dirty="0">
                <a:latin typeface="Arial" panose="020B0604020202020204"/>
                <a:cs typeface="Arial" panose="020B0604020202020204"/>
              </a:rPr>
              <a:t>assertEqual</a:t>
            </a:r>
            <a:r>
              <a:rPr sz="2200" dirty="0">
                <a:latin typeface="微软雅黑" panose="020B0503020204020204" pitchFamily="34" charset="-122"/>
                <a:cs typeface="微软雅黑" panose="020B0503020204020204" pitchFamily="34" charset="-122"/>
              </a:rPr>
              <a:t>、</a:t>
            </a:r>
            <a:r>
              <a:rPr sz="2200" spc="-5" dirty="0">
                <a:latin typeface="Arial" panose="020B0604020202020204"/>
                <a:cs typeface="Arial" panose="020B0604020202020204"/>
              </a:rPr>
              <a:t>assertRaises</a:t>
            </a:r>
            <a:r>
              <a:rPr sz="2200" dirty="0">
                <a:latin typeface="微软雅黑" panose="020B0503020204020204" pitchFamily="34" charset="-122"/>
                <a:cs typeface="微软雅黑" panose="020B0503020204020204" pitchFamily="34" charset="-122"/>
              </a:rPr>
              <a:t>等断言方法判断程序执行结果和预期值是否相符</a:t>
            </a:r>
            <a:endParaRPr sz="2200">
              <a:latin typeface="微软雅黑" panose="020B0503020204020204" pitchFamily="34" charset="-122"/>
              <a:cs typeface="微软雅黑" panose="020B0503020204020204" pitchFamily="34" charset="-122"/>
            </a:endParaRPr>
          </a:p>
          <a:p>
            <a:pPr marL="12700">
              <a:lnSpc>
                <a:spcPct val="100000"/>
              </a:lnSpc>
              <a:spcBef>
                <a:spcPts val="1360"/>
              </a:spcBef>
              <a:tabLst>
                <a:tab pos="469265" algn="l"/>
              </a:tabLst>
            </a:pPr>
            <a:r>
              <a:rPr sz="2200" dirty="0">
                <a:latin typeface="微软雅黑" panose="020B0503020204020204" pitchFamily="34" charset="-122"/>
                <a:cs typeface="微软雅黑" panose="020B0503020204020204" pitchFamily="34" charset="-122"/>
              </a:rPr>
              <a:t>⑥	调用</a:t>
            </a:r>
            <a:r>
              <a:rPr sz="2200" spc="-5" dirty="0">
                <a:latin typeface="Arial" panose="020B0604020202020204"/>
                <a:cs typeface="Arial" panose="020B0604020202020204"/>
              </a:rPr>
              <a:t>unittest.main()</a:t>
            </a:r>
            <a:r>
              <a:rPr sz="2200" dirty="0">
                <a:latin typeface="微软雅黑" panose="020B0503020204020204" pitchFamily="34" charset="-122"/>
                <a:cs typeface="微软雅黑" panose="020B0503020204020204" pitchFamily="34" charset="-122"/>
              </a:rPr>
              <a:t>启动测试</a:t>
            </a:r>
            <a:endParaRPr sz="2200">
              <a:latin typeface="微软雅黑" panose="020B0503020204020204" pitchFamily="34" charset="-122"/>
              <a:cs typeface="微软雅黑" panose="020B0503020204020204" pitchFamily="34" charset="-122"/>
            </a:endParaRPr>
          </a:p>
          <a:p>
            <a:pPr marL="469265" marR="5080" indent="-457200">
              <a:lnSpc>
                <a:spcPct val="129000"/>
              </a:lnSpc>
              <a:spcBef>
                <a:spcPts val="700"/>
              </a:spcBef>
              <a:tabLst>
                <a:tab pos="471805" algn="l"/>
              </a:tabLst>
            </a:pPr>
            <a:r>
              <a:rPr sz="2200" dirty="0">
                <a:latin typeface="微软雅黑" panose="020B0503020204020204" pitchFamily="34" charset="-122"/>
                <a:cs typeface="微软雅黑" panose="020B0503020204020204" pitchFamily="34" charset="-122"/>
              </a:rPr>
              <a:t>⑦		</a:t>
            </a:r>
            <a:r>
              <a:rPr sz="2200" spc="30" dirty="0">
                <a:latin typeface="微软雅黑" panose="020B0503020204020204" pitchFamily="34" charset="-122"/>
                <a:cs typeface="微软雅黑" panose="020B0503020204020204" pitchFamily="34" charset="-122"/>
              </a:rPr>
              <a:t>如果测试未通过，会输出相应的错误提示；如果测试全部通过则显示</a:t>
            </a:r>
            <a:r>
              <a:rPr sz="2200" spc="30" dirty="0">
                <a:latin typeface="Arial" panose="020B0604020202020204"/>
                <a:cs typeface="Arial" panose="020B0604020202020204"/>
              </a:rPr>
              <a:t>ok</a:t>
            </a:r>
            <a:r>
              <a:rPr sz="2200" spc="30" dirty="0">
                <a:latin typeface="微软雅黑" panose="020B0503020204020204" pitchFamily="34" charset="-122"/>
                <a:cs typeface="微软雅黑" panose="020B0503020204020204" pitchFamily="34" charset="-122"/>
              </a:rPr>
              <a:t>，添加</a:t>
            </a:r>
            <a:r>
              <a:rPr sz="2200" spc="30" dirty="0">
                <a:latin typeface="Arial" panose="020B0604020202020204"/>
                <a:cs typeface="Arial" panose="020B0604020202020204"/>
              </a:rPr>
              <a:t>-v </a:t>
            </a:r>
            <a:r>
              <a:rPr sz="2200" dirty="0">
                <a:latin typeface="微软雅黑" panose="020B0503020204020204" pitchFamily="34" charset="-122"/>
                <a:cs typeface="微软雅黑" panose="020B0503020204020204" pitchFamily="34" charset="-122"/>
              </a:rPr>
              <a:t>参数显示详细信息。</a:t>
            </a:r>
            <a:endParaRPr sz="2200">
              <a:latin typeface="微软雅黑" panose="020B0503020204020204" pitchFamily="34" charset="-122"/>
              <a:cs typeface="微软雅黑" panose="020B0503020204020204" pitchFamily="34" charset="-122"/>
            </a:endParaRPr>
          </a:p>
        </p:txBody>
      </p:sp>
      <p:sp>
        <p:nvSpPr>
          <p:cNvPr id="5" name="标题 4"/>
          <p:cNvSpPr>
            <a:spLocks noGrp="1"/>
          </p:cNvSpPr>
          <p:nvPr>
            <p:ph type="title"/>
          </p:nvPr>
        </p:nvSpPr>
        <p:spPr/>
        <p:txBody>
          <a:bodyPr/>
          <a:lstStyle/>
          <a:p>
            <a:r>
              <a:rPr lang="en-US" altLang="zh-CN" dirty="0"/>
              <a:t>Python</a:t>
            </a:r>
            <a:r>
              <a:rPr lang="zh-CN" altLang="en-US" dirty="0"/>
              <a:t>单元测试之</a:t>
            </a:r>
            <a:r>
              <a:rPr lang="en-US" altLang="zh-CN" dirty="0" err="1"/>
              <a:t>unittest</a:t>
            </a:r>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219199" y="2895598"/>
            <a:ext cx="3689207" cy="2573864"/>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1094742" y="1654014"/>
            <a:ext cx="10337800" cy="3801745"/>
          </a:xfrm>
          <a:prstGeom prst="rect">
            <a:avLst/>
          </a:prstGeom>
        </p:spPr>
        <p:txBody>
          <a:bodyPr vert="horz" wrap="square" lIns="0" tIns="12700" rIns="0" bIns="0" rtlCol="0">
            <a:spAutoFit/>
          </a:bodyPr>
          <a:lstStyle/>
          <a:p>
            <a:pPr marL="12700" marR="5080">
              <a:lnSpc>
                <a:spcPct val="117000"/>
              </a:lnSpc>
              <a:spcBef>
                <a:spcPts val="100"/>
              </a:spcBef>
              <a:tabLst>
                <a:tab pos="1025525" algn="l"/>
              </a:tabLst>
            </a:pPr>
            <a:r>
              <a:rPr sz="2200" dirty="0">
                <a:latin typeface="Arial" panose="020B0604020202020204"/>
                <a:cs typeface="Arial" panose="020B0604020202020204"/>
              </a:rPr>
              <a:t>Py</a:t>
            </a:r>
            <a:r>
              <a:rPr sz="2200" spc="-5" dirty="0">
                <a:latin typeface="Arial" panose="020B0604020202020204"/>
                <a:cs typeface="Arial" panose="020B0604020202020204"/>
              </a:rPr>
              <a:t>t</a:t>
            </a:r>
            <a:r>
              <a:rPr sz="2200" dirty="0">
                <a:latin typeface="Arial" panose="020B0604020202020204"/>
                <a:cs typeface="Arial" panose="020B0604020202020204"/>
              </a:rPr>
              <a:t>hon	3.</a:t>
            </a:r>
            <a:r>
              <a:rPr sz="2200" spc="-5" dirty="0">
                <a:latin typeface="Arial" panose="020B0604020202020204"/>
                <a:cs typeface="Arial" panose="020B0604020202020204"/>
              </a:rPr>
              <a:t>3</a:t>
            </a:r>
            <a:r>
              <a:rPr sz="2200" dirty="0">
                <a:latin typeface="微软雅黑" panose="020B0503020204020204" pitchFamily="34" charset="-122"/>
                <a:cs typeface="微软雅黑" panose="020B0503020204020204" pitchFamily="34" charset="-122"/>
              </a:rPr>
              <a:t>开始内置了</a:t>
            </a:r>
            <a:r>
              <a:rPr sz="2200" dirty="0">
                <a:latin typeface="Arial" panose="020B0604020202020204"/>
                <a:cs typeface="Arial" panose="020B0604020202020204"/>
              </a:rPr>
              <a:t>Moc</a:t>
            </a:r>
            <a:r>
              <a:rPr sz="2200" spc="-5" dirty="0">
                <a:latin typeface="Arial" panose="020B0604020202020204"/>
                <a:cs typeface="Arial" panose="020B0604020202020204"/>
              </a:rPr>
              <a:t>k</a:t>
            </a:r>
            <a:r>
              <a:rPr sz="2200" dirty="0">
                <a:latin typeface="微软雅黑" panose="020B0503020204020204" pitchFamily="34" charset="-122"/>
                <a:cs typeface="微软雅黑" panose="020B0503020204020204" pitchFamily="34" charset="-122"/>
              </a:rPr>
              <a:t>工具包，可以使用</a:t>
            </a:r>
            <a:r>
              <a:rPr sz="2200" dirty="0">
                <a:latin typeface="Arial" panose="020B0604020202020204"/>
                <a:cs typeface="Arial" panose="020B0604020202020204"/>
              </a:rPr>
              <a:t>moc</a:t>
            </a:r>
            <a:r>
              <a:rPr sz="2200" spc="-5" dirty="0">
                <a:latin typeface="Arial" panose="020B0604020202020204"/>
                <a:cs typeface="Arial" panose="020B0604020202020204"/>
              </a:rPr>
              <a:t>k</a:t>
            </a:r>
            <a:r>
              <a:rPr sz="2200" dirty="0">
                <a:latin typeface="微软雅黑" panose="020B0503020204020204" pitchFamily="34" charset="-122"/>
                <a:cs typeface="微软雅黑" panose="020B0503020204020204" pitchFamily="34" charset="-122"/>
              </a:rPr>
              <a:t>对象替代掉指定的</a:t>
            </a:r>
            <a:r>
              <a:rPr sz="2200" dirty="0">
                <a:latin typeface="Arial" panose="020B0604020202020204"/>
                <a:cs typeface="Arial" panose="020B0604020202020204"/>
              </a:rPr>
              <a:t>Py</a:t>
            </a:r>
            <a:r>
              <a:rPr sz="2200" spc="-5" dirty="0">
                <a:latin typeface="Arial" panose="020B0604020202020204"/>
                <a:cs typeface="Arial" panose="020B0604020202020204"/>
              </a:rPr>
              <a:t>t</a:t>
            </a:r>
            <a:r>
              <a:rPr sz="2200" dirty="0">
                <a:latin typeface="Arial" panose="020B0604020202020204"/>
                <a:cs typeface="Arial" panose="020B0604020202020204"/>
              </a:rPr>
              <a:t>hon</a:t>
            </a:r>
            <a:r>
              <a:rPr sz="2200" dirty="0">
                <a:latin typeface="微软雅黑" panose="020B0503020204020204" pitchFamily="34" charset="-122"/>
                <a:cs typeface="微软雅黑" panose="020B0503020204020204" pitchFamily="34" charset="-122"/>
              </a:rPr>
              <a:t>对象， 以达到模拟对象的行为。</a:t>
            </a:r>
            <a:endParaRPr sz="2200">
              <a:latin typeface="微软雅黑" panose="020B0503020204020204" pitchFamily="34" charset="-122"/>
              <a:cs typeface="微软雅黑" panose="020B0503020204020204" pitchFamily="34" charset="-122"/>
            </a:endParaRPr>
          </a:p>
          <a:p>
            <a:pPr marL="4588510" marR="351155" indent="-342900">
              <a:lnSpc>
                <a:spcPct val="129000"/>
              </a:lnSpc>
              <a:spcBef>
                <a:spcPts val="2435"/>
              </a:spcBef>
              <a:buChar char="•"/>
              <a:tabLst>
                <a:tab pos="4588510" algn="l"/>
                <a:tab pos="4589780" algn="l"/>
              </a:tabLst>
            </a:pPr>
            <a:r>
              <a:rPr sz="2000" dirty="0">
                <a:solidFill>
                  <a:srgbClr val="CC0000"/>
                </a:solidFill>
                <a:latin typeface="Arial" panose="020B0604020202020204"/>
                <a:cs typeface="Arial" panose="020B0604020202020204"/>
              </a:rPr>
              <a:t>Mock</a:t>
            </a:r>
            <a:r>
              <a:rPr sz="2000" dirty="0">
                <a:solidFill>
                  <a:srgbClr val="CC0000"/>
                </a:solidFill>
                <a:latin typeface="微软雅黑" panose="020B0503020204020204" pitchFamily="34" charset="-122"/>
                <a:cs typeface="微软雅黑" panose="020B0503020204020204" pitchFamily="34" charset="-122"/>
              </a:rPr>
              <a:t>类</a:t>
            </a:r>
            <a:r>
              <a:rPr sz="2000" dirty="0">
                <a:solidFill>
                  <a:srgbClr val="D81E00"/>
                </a:solidFill>
                <a:latin typeface="微软雅黑" panose="020B0503020204020204" pitchFamily="34" charset="-122"/>
                <a:cs typeface="微软雅黑" panose="020B0503020204020204" pitchFamily="34" charset="-122"/>
              </a:rPr>
              <a:t>：</a:t>
            </a:r>
            <a:r>
              <a:rPr sz="2000" dirty="0">
                <a:latin typeface="微软雅黑" panose="020B0503020204020204" pitchFamily="34" charset="-122"/>
                <a:cs typeface="微软雅黑" panose="020B0503020204020204" pitchFamily="34" charset="-122"/>
              </a:rPr>
              <a:t>用于创建</a:t>
            </a:r>
            <a:r>
              <a:rPr sz="2000" dirty="0">
                <a:latin typeface="Arial" panose="020B0604020202020204"/>
                <a:cs typeface="Arial" panose="020B0604020202020204"/>
              </a:rPr>
              <a:t>mock</a:t>
            </a:r>
            <a:r>
              <a:rPr sz="2000" dirty="0">
                <a:latin typeface="微软雅黑" panose="020B0503020204020204" pitchFamily="34" charset="-122"/>
                <a:cs typeface="微软雅黑" panose="020B0503020204020204" pitchFamily="34" charset="-122"/>
              </a:rPr>
              <a:t>对象，当访问</a:t>
            </a:r>
            <a:r>
              <a:rPr sz="2000" dirty="0">
                <a:latin typeface="Arial" panose="020B0604020202020204"/>
                <a:cs typeface="Arial" panose="020B0604020202020204"/>
              </a:rPr>
              <a:t>mock</a:t>
            </a:r>
            <a:r>
              <a:rPr sz="2000" dirty="0">
                <a:latin typeface="微软雅黑" panose="020B0503020204020204" pitchFamily="34" charset="-122"/>
                <a:cs typeface="微软雅黑" panose="020B0503020204020204" pitchFamily="34" charset="-122"/>
              </a:rPr>
              <a:t>对象 的某个属性时</a:t>
            </a:r>
            <a:r>
              <a:rPr sz="2000" spc="-5" dirty="0">
                <a:latin typeface="微软雅黑" panose="020B0503020204020204" pitchFamily="34" charset="-122"/>
                <a:cs typeface="微软雅黑" panose="020B0503020204020204" pitchFamily="34" charset="-122"/>
              </a:rPr>
              <a:t>，</a:t>
            </a:r>
            <a:r>
              <a:rPr sz="2000" spc="-5" dirty="0">
                <a:latin typeface="Arial" panose="020B0604020202020204"/>
                <a:cs typeface="Arial" panose="020B0604020202020204"/>
              </a:rPr>
              <a:t>mock</a:t>
            </a:r>
            <a:r>
              <a:rPr sz="2000" dirty="0">
                <a:latin typeface="微软雅黑" panose="020B0503020204020204" pitchFamily="34" charset="-122"/>
                <a:cs typeface="微软雅黑" panose="020B0503020204020204" pitchFamily="34" charset="-122"/>
              </a:rPr>
              <a:t>对象会自动创建该属性。</a:t>
            </a:r>
            <a:endParaRPr sz="2000">
              <a:latin typeface="微软雅黑" panose="020B0503020204020204" pitchFamily="34" charset="-122"/>
              <a:cs typeface="微软雅黑" panose="020B0503020204020204" pitchFamily="34" charset="-122"/>
            </a:endParaRPr>
          </a:p>
          <a:p>
            <a:pPr marL="4588510" marR="343535" indent="-342900">
              <a:lnSpc>
                <a:spcPct val="129000"/>
              </a:lnSpc>
              <a:spcBef>
                <a:spcPts val="1195"/>
              </a:spcBef>
              <a:buChar char="•"/>
              <a:tabLst>
                <a:tab pos="4592320" algn="l"/>
                <a:tab pos="4592955" algn="l"/>
                <a:tab pos="6111240" algn="l"/>
                <a:tab pos="6508115" algn="l"/>
                <a:tab pos="6881495" algn="l"/>
                <a:tab pos="7452995" algn="l"/>
              </a:tabLst>
            </a:pPr>
            <a:r>
              <a:rPr sz="2000" spc="60" dirty="0">
                <a:solidFill>
                  <a:srgbClr val="CC0000"/>
                </a:solidFill>
                <a:latin typeface="Arial" panose="020B0604020202020204"/>
                <a:cs typeface="Arial" panose="020B0604020202020204"/>
              </a:rPr>
              <a:t>MagicMock</a:t>
            </a:r>
            <a:r>
              <a:rPr sz="2000" spc="60" dirty="0">
                <a:solidFill>
                  <a:srgbClr val="CC0000"/>
                </a:solidFill>
                <a:latin typeface="微软雅黑" panose="020B0503020204020204" pitchFamily="34" charset="-122"/>
                <a:cs typeface="微软雅黑" panose="020B0503020204020204" pitchFamily="34" charset="-122"/>
              </a:rPr>
              <a:t>类</a:t>
            </a:r>
            <a:r>
              <a:rPr sz="2000" spc="60" dirty="0">
                <a:solidFill>
                  <a:srgbClr val="D81E00"/>
                </a:solidFill>
                <a:latin typeface="微软雅黑" panose="020B0503020204020204" pitchFamily="34" charset="-122"/>
                <a:cs typeface="微软雅黑" panose="020B0503020204020204" pitchFamily="34" charset="-122"/>
              </a:rPr>
              <a:t>：</a:t>
            </a:r>
            <a:r>
              <a:rPr sz="2000" spc="60" dirty="0">
                <a:latin typeface="Arial" panose="020B0604020202020204"/>
                <a:cs typeface="Arial" panose="020B0604020202020204"/>
              </a:rPr>
              <a:t>Mock</a:t>
            </a:r>
            <a:r>
              <a:rPr sz="2000" spc="60" dirty="0">
                <a:latin typeface="微软雅黑" panose="020B0503020204020204" pitchFamily="34" charset="-122"/>
                <a:cs typeface="微软雅黑" panose="020B0503020204020204" pitchFamily="34" charset="-122"/>
              </a:rPr>
              <a:t>对象的子类，预先定义了 </a:t>
            </a:r>
            <a:r>
              <a:rPr sz="2000" dirty="0">
                <a:latin typeface="微软雅黑" panose="020B0503020204020204" pitchFamily="34" charset="-122"/>
                <a:cs typeface="微软雅黑" panose="020B0503020204020204" pitchFamily="34" charset="-122"/>
              </a:rPr>
              <a:t>操作符（如</a:t>
            </a:r>
            <a:r>
              <a:rPr sz="2000" u="heavy" dirty="0">
                <a:uFill>
                  <a:solidFill>
                    <a:srgbClr val="000000"/>
                  </a:solidFill>
                </a:uFill>
                <a:latin typeface="微软雅黑" panose="020B0503020204020204" pitchFamily="34" charset="-122"/>
                <a:cs typeface="微软雅黑" panose="020B0503020204020204" pitchFamily="34" charset="-122"/>
              </a:rPr>
              <a:t> 	</a:t>
            </a:r>
            <a:r>
              <a:rPr sz="2000" dirty="0">
                <a:latin typeface="Calibri" panose="020F0502020204030204"/>
                <a:cs typeface="Calibri" panose="020F0502020204030204"/>
              </a:rPr>
              <a:t>lt</a:t>
            </a:r>
            <a:r>
              <a:rPr sz="2000" u="heavy" dirty="0">
                <a:uFill>
                  <a:solidFill>
                    <a:srgbClr val="000000"/>
                  </a:solidFill>
                </a:uFill>
                <a:latin typeface="Calibri" panose="020F0502020204030204"/>
                <a:cs typeface="Calibri" panose="020F0502020204030204"/>
              </a:rPr>
              <a:t> 	</a:t>
            </a:r>
            <a:r>
              <a:rPr sz="2000" dirty="0">
                <a:latin typeface="Calibri" panose="020F0502020204030204"/>
                <a:cs typeface="Calibri" panose="020F0502020204030204"/>
              </a:rPr>
              <a:t>,</a:t>
            </a:r>
            <a:r>
              <a:rPr sz="2000" u="heavy" dirty="0">
                <a:uFill>
                  <a:solidFill>
                    <a:srgbClr val="000000"/>
                  </a:solidFill>
                </a:uFill>
                <a:latin typeface="Calibri" panose="020F0502020204030204"/>
                <a:cs typeface="Calibri" panose="020F0502020204030204"/>
              </a:rPr>
              <a:t> 	</a:t>
            </a:r>
            <a:r>
              <a:rPr sz="2000" spc="-5" dirty="0">
                <a:latin typeface="Calibri" panose="020F0502020204030204"/>
                <a:cs typeface="Calibri" panose="020F0502020204030204"/>
              </a:rPr>
              <a:t>len</a:t>
            </a:r>
            <a:r>
              <a:rPr sz="2000" u="heavy" spc="-5" dirty="0">
                <a:uFill>
                  <a:solidFill>
                    <a:srgbClr val="000000"/>
                  </a:solidFill>
                </a:uFill>
                <a:latin typeface="Calibri" panose="020F0502020204030204"/>
                <a:cs typeface="Calibri" panose="020F0502020204030204"/>
              </a:rPr>
              <a:t> 	</a:t>
            </a:r>
            <a:r>
              <a:rPr sz="2000" dirty="0">
                <a:latin typeface="微软雅黑" panose="020B0503020204020204" pitchFamily="34" charset="-122"/>
                <a:cs typeface="微软雅黑" panose="020B0503020204020204" pitchFamily="34" charset="-122"/>
              </a:rPr>
              <a:t>）。</a:t>
            </a:r>
            <a:endParaRPr sz="2000">
              <a:latin typeface="微软雅黑" panose="020B0503020204020204" pitchFamily="34" charset="-122"/>
              <a:cs typeface="微软雅黑" panose="020B0503020204020204" pitchFamily="34" charset="-122"/>
            </a:endParaRPr>
          </a:p>
          <a:p>
            <a:pPr marL="4588510" marR="307975" indent="-342900">
              <a:lnSpc>
                <a:spcPct val="133000"/>
              </a:lnSpc>
              <a:spcBef>
                <a:spcPts val="1105"/>
              </a:spcBef>
              <a:buChar char="•"/>
              <a:tabLst>
                <a:tab pos="4592955" algn="l"/>
                <a:tab pos="4593590" algn="l"/>
              </a:tabLst>
            </a:pPr>
            <a:r>
              <a:rPr sz="2000" spc="65" dirty="0">
                <a:solidFill>
                  <a:srgbClr val="CC0000"/>
                </a:solidFill>
                <a:latin typeface="Arial" panose="020B0604020202020204"/>
                <a:cs typeface="Arial" panose="020B0604020202020204"/>
              </a:rPr>
              <a:t>patch</a:t>
            </a:r>
            <a:r>
              <a:rPr sz="2000" spc="65" dirty="0">
                <a:solidFill>
                  <a:srgbClr val="CC0000"/>
                </a:solidFill>
                <a:latin typeface="微软雅黑" panose="020B0503020204020204" pitchFamily="34" charset="-122"/>
                <a:cs typeface="微软雅黑" panose="020B0503020204020204" pitchFamily="34" charset="-122"/>
              </a:rPr>
              <a:t>装饰器</a:t>
            </a:r>
            <a:r>
              <a:rPr sz="2000" spc="65" dirty="0">
                <a:solidFill>
                  <a:srgbClr val="D81E00"/>
                </a:solidFill>
                <a:latin typeface="微软雅黑" panose="020B0503020204020204" pitchFamily="34" charset="-122"/>
                <a:cs typeface="微软雅黑" panose="020B0503020204020204" pitchFamily="34" charset="-122"/>
              </a:rPr>
              <a:t>：</a:t>
            </a:r>
            <a:r>
              <a:rPr sz="2000" spc="65" dirty="0">
                <a:latin typeface="微软雅黑" panose="020B0503020204020204" pitchFamily="34" charset="-122"/>
                <a:cs typeface="微软雅黑" panose="020B0503020204020204" pitchFamily="34" charset="-122"/>
              </a:rPr>
              <a:t>可以将其作用在测试方法上，</a:t>
            </a:r>
            <a:r>
              <a:rPr sz="2000" dirty="0">
                <a:latin typeface="微软雅黑" panose="020B0503020204020204" pitchFamily="34" charset="-122"/>
                <a:cs typeface="微软雅黑" panose="020B0503020204020204" pitchFamily="34" charset="-122"/>
              </a:rPr>
              <a:t>限 定在当前测试方法中使用</a:t>
            </a:r>
            <a:r>
              <a:rPr sz="2000" dirty="0">
                <a:latin typeface="Arial" panose="020B0604020202020204"/>
                <a:cs typeface="Arial" panose="020B0604020202020204"/>
              </a:rPr>
              <a:t>moc</a:t>
            </a:r>
            <a:r>
              <a:rPr sz="2000" spc="-5" dirty="0">
                <a:latin typeface="Arial" panose="020B0604020202020204"/>
                <a:cs typeface="Arial" panose="020B0604020202020204"/>
              </a:rPr>
              <a:t>k</a:t>
            </a:r>
            <a:r>
              <a:rPr sz="2000" dirty="0">
                <a:latin typeface="微软雅黑" panose="020B0503020204020204" pitchFamily="34" charset="-122"/>
                <a:cs typeface="微软雅黑" panose="020B0503020204020204" pitchFamily="34" charset="-122"/>
              </a:rPr>
              <a:t>来替换真实对象。</a:t>
            </a:r>
            <a:endParaRPr sz="2000">
              <a:latin typeface="微软雅黑" panose="020B0503020204020204" pitchFamily="34" charset="-122"/>
              <a:cs typeface="微软雅黑" panose="020B0503020204020204" pitchFamily="34" charset="-122"/>
            </a:endParaRPr>
          </a:p>
        </p:txBody>
      </p:sp>
      <p:sp>
        <p:nvSpPr>
          <p:cNvPr id="6" name="标题 5"/>
          <p:cNvSpPr>
            <a:spLocks noGrp="1"/>
          </p:cNvSpPr>
          <p:nvPr>
            <p:ph type="title"/>
          </p:nvPr>
        </p:nvSpPr>
        <p:spPr/>
        <p:txBody>
          <a:bodyPr/>
          <a:lstStyle/>
          <a:p>
            <a:r>
              <a:rPr lang="en-US" altLang="zh-CN" dirty="0"/>
              <a:t>Python</a:t>
            </a:r>
            <a:r>
              <a:rPr lang="zh-CN" altLang="en-US" dirty="0"/>
              <a:t>单元测试之</a:t>
            </a:r>
            <a:r>
              <a:rPr lang="en-US" altLang="zh-CN" dirty="0"/>
              <a:t>mock</a:t>
            </a:r>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94742" y="1654014"/>
            <a:ext cx="10064115" cy="3818890"/>
          </a:xfrm>
          <a:prstGeom prst="rect">
            <a:avLst/>
          </a:prstGeom>
        </p:spPr>
        <p:txBody>
          <a:bodyPr vert="horz" wrap="square" lIns="0" tIns="71120" rIns="0" bIns="0" rtlCol="0">
            <a:spAutoFit/>
          </a:bodyPr>
          <a:lstStyle/>
          <a:p>
            <a:pPr marL="12700">
              <a:lnSpc>
                <a:spcPct val="100000"/>
              </a:lnSpc>
              <a:spcBef>
                <a:spcPts val="560"/>
              </a:spcBef>
            </a:pPr>
            <a:r>
              <a:rPr sz="2200" spc="40" dirty="0">
                <a:solidFill>
                  <a:srgbClr val="CC0000"/>
                </a:solidFill>
                <a:latin typeface="微软雅黑" panose="020B0503020204020204" pitchFamily="34" charset="-122"/>
                <a:cs typeface="微软雅黑" panose="020B0503020204020204" pitchFamily="34" charset="-122"/>
              </a:rPr>
              <a:t>属性断言</a:t>
            </a:r>
            <a:r>
              <a:rPr sz="2200" spc="40" dirty="0">
                <a:solidFill>
                  <a:srgbClr val="D81E00"/>
                </a:solidFill>
                <a:latin typeface="微软雅黑" panose="020B0503020204020204" pitchFamily="34" charset="-122"/>
                <a:cs typeface="微软雅黑" panose="020B0503020204020204" pitchFamily="34" charset="-122"/>
              </a:rPr>
              <a:t>：</a:t>
            </a:r>
            <a:r>
              <a:rPr sz="2200" spc="40" dirty="0">
                <a:latin typeface="Calibri" panose="020F0502020204030204"/>
                <a:cs typeface="Calibri" panose="020F0502020204030204"/>
              </a:rPr>
              <a:t>mock</a:t>
            </a:r>
            <a:r>
              <a:rPr sz="2200" spc="40" dirty="0">
                <a:latin typeface="微软雅黑" panose="020B0503020204020204" pitchFamily="34" charset="-122"/>
                <a:cs typeface="微软雅黑" panose="020B0503020204020204" pitchFamily="34" charset="-122"/>
              </a:rPr>
              <a:t>对象提供了一系列断言方法，可以在使用属性断言时判断程序对</a:t>
            </a:r>
            <a:endParaRPr sz="2200" dirty="0">
              <a:latin typeface="微软雅黑" panose="020B0503020204020204" pitchFamily="34" charset="-122"/>
              <a:cs typeface="微软雅黑" panose="020B0503020204020204" pitchFamily="34" charset="-122"/>
            </a:endParaRPr>
          </a:p>
          <a:p>
            <a:pPr marL="12700">
              <a:lnSpc>
                <a:spcPct val="100000"/>
              </a:lnSpc>
              <a:spcBef>
                <a:spcPts val="460"/>
              </a:spcBef>
            </a:pPr>
            <a:r>
              <a:rPr sz="2200" spc="-5" dirty="0">
                <a:latin typeface="Calibri" panose="020F0502020204030204"/>
                <a:cs typeface="Calibri" panose="020F0502020204030204"/>
              </a:rPr>
              <a:t>mock</a:t>
            </a:r>
            <a:r>
              <a:rPr sz="2200" dirty="0">
                <a:latin typeface="微软雅黑" panose="020B0503020204020204" pitchFamily="34" charset="-122"/>
                <a:cs typeface="微软雅黑" panose="020B0503020204020204" pitchFamily="34" charset="-122"/>
              </a:rPr>
              <a:t>对象的调用是否符合预期。</a:t>
            </a:r>
          </a:p>
          <a:p>
            <a:pPr marL="447675" indent="-372110">
              <a:lnSpc>
                <a:spcPct val="100000"/>
              </a:lnSpc>
              <a:spcBef>
                <a:spcPts val="1120"/>
              </a:spcBef>
              <a:buChar char="•"/>
              <a:tabLst>
                <a:tab pos="447040" algn="l"/>
                <a:tab pos="447675" algn="l"/>
              </a:tabLst>
            </a:pPr>
            <a:r>
              <a:rPr sz="2000" spc="-5" dirty="0">
                <a:latin typeface="Arial" panose="020B0604020202020204"/>
                <a:cs typeface="Arial" panose="020B0604020202020204"/>
              </a:rPr>
              <a:t>assert_called_with</a:t>
            </a:r>
            <a:r>
              <a:rPr sz="2000" spc="-5" dirty="0">
                <a:latin typeface="微软雅黑" panose="020B0503020204020204" pitchFamily="34" charset="-122"/>
                <a:cs typeface="微软雅黑" panose="020B0503020204020204" pitchFamily="34" charset="-122"/>
              </a:rPr>
              <a:t>， </a:t>
            </a:r>
            <a:r>
              <a:rPr sz="2000" spc="-5" dirty="0">
                <a:latin typeface="Arial" panose="020B0604020202020204"/>
                <a:cs typeface="Arial" panose="020B0604020202020204"/>
              </a:rPr>
              <a:t>assert_called_once_with</a:t>
            </a:r>
            <a:r>
              <a:rPr sz="2000" spc="-5" dirty="0">
                <a:latin typeface="微软雅黑" panose="020B0503020204020204" pitchFamily="34" charset="-122"/>
                <a:cs typeface="微软雅黑" panose="020B0503020204020204" pitchFamily="34" charset="-122"/>
              </a:rPr>
              <a:t>， </a:t>
            </a:r>
            <a:r>
              <a:rPr sz="2000" spc="-5" dirty="0">
                <a:latin typeface="Arial" panose="020B0604020202020204"/>
                <a:cs typeface="Arial" panose="020B0604020202020204"/>
              </a:rPr>
              <a:t>assert_any_call</a:t>
            </a:r>
            <a:r>
              <a:rPr sz="2000" spc="-5" dirty="0">
                <a:latin typeface="微软雅黑" panose="020B0503020204020204" pitchFamily="34" charset="-122"/>
                <a:cs typeface="微软雅黑" panose="020B0503020204020204" pitchFamily="34" charset="-122"/>
              </a:rPr>
              <a:t>，</a:t>
            </a:r>
            <a:r>
              <a:rPr sz="2000" spc="165" dirty="0">
                <a:latin typeface="微软雅黑" panose="020B0503020204020204" pitchFamily="34" charset="-122"/>
                <a:cs typeface="微软雅黑" panose="020B0503020204020204" pitchFamily="34" charset="-122"/>
              </a:rPr>
              <a:t> </a:t>
            </a:r>
            <a:r>
              <a:rPr sz="2000" spc="-5" dirty="0">
                <a:latin typeface="Arial" panose="020B0604020202020204"/>
                <a:cs typeface="Arial" panose="020B0604020202020204"/>
              </a:rPr>
              <a:t>assert_has_calls</a:t>
            </a:r>
            <a:endParaRPr sz="2000" dirty="0">
              <a:latin typeface="Arial" panose="020B0604020202020204"/>
              <a:cs typeface="Arial" panose="020B0604020202020204"/>
            </a:endParaRPr>
          </a:p>
          <a:p>
            <a:pPr marL="447675" indent="-372110">
              <a:lnSpc>
                <a:spcPct val="100000"/>
              </a:lnSpc>
              <a:spcBef>
                <a:spcPts val="500"/>
              </a:spcBef>
              <a:buClr>
                <a:srgbClr val="000000"/>
              </a:buClr>
              <a:buChar char="•"/>
              <a:tabLst>
                <a:tab pos="447040" algn="l"/>
                <a:tab pos="447675" algn="l"/>
              </a:tabLst>
            </a:pPr>
            <a:r>
              <a:rPr sz="2000" u="sng" spc="-5" dirty="0">
                <a:solidFill>
                  <a:srgbClr val="0563C1"/>
                </a:solidFill>
                <a:uFill>
                  <a:solidFill>
                    <a:srgbClr val="0079CD"/>
                  </a:solidFill>
                </a:uFill>
                <a:latin typeface="Arial" panose="020B0604020202020204"/>
                <a:cs typeface="Arial" panose="020B0604020202020204"/>
              </a:rPr>
              <a:t>https://docs.python.org/3/library/unittest.mock.html#the-mock-class</a:t>
            </a:r>
            <a:endParaRPr sz="2000" dirty="0">
              <a:latin typeface="Arial" panose="020B0604020202020204"/>
              <a:cs typeface="Arial" panose="020B0604020202020204"/>
            </a:endParaRPr>
          </a:p>
          <a:p>
            <a:pPr>
              <a:lnSpc>
                <a:spcPct val="100000"/>
              </a:lnSpc>
              <a:buChar char="•"/>
            </a:pPr>
            <a:endParaRPr sz="2200" dirty="0">
              <a:latin typeface="Times New Roman" panose="02020603050405020304"/>
              <a:cs typeface="Times New Roman" panose="02020603050405020304"/>
            </a:endParaRPr>
          </a:p>
          <a:p>
            <a:pPr marL="12700" marR="5080">
              <a:lnSpc>
                <a:spcPct val="117000"/>
              </a:lnSpc>
              <a:spcBef>
                <a:spcPts val="1515"/>
              </a:spcBef>
            </a:pPr>
            <a:r>
              <a:rPr sz="2200" spc="40" dirty="0">
                <a:solidFill>
                  <a:srgbClr val="CC0000"/>
                </a:solidFill>
                <a:latin typeface="微软雅黑" panose="020B0503020204020204" pitchFamily="34" charset="-122"/>
                <a:cs typeface="微软雅黑" panose="020B0503020204020204" pitchFamily="34" charset="-122"/>
              </a:rPr>
              <a:t>行为控制</a:t>
            </a:r>
            <a:r>
              <a:rPr sz="2200" spc="40" dirty="0">
                <a:solidFill>
                  <a:srgbClr val="0033CC"/>
                </a:solidFill>
                <a:latin typeface="微软雅黑" panose="020B0503020204020204" pitchFamily="34" charset="-122"/>
                <a:cs typeface="微软雅黑" panose="020B0503020204020204" pitchFamily="34" charset="-122"/>
              </a:rPr>
              <a:t>：</a:t>
            </a:r>
            <a:r>
              <a:rPr sz="2200" spc="40" dirty="0">
                <a:latin typeface="微软雅黑" panose="020B0503020204020204" pitchFamily="34" charset="-122"/>
                <a:cs typeface="微软雅黑" panose="020B0503020204020204" pitchFamily="34" charset="-122"/>
              </a:rPr>
              <a:t>通常程序需要从依赖对象的方法上取得返回值，</a:t>
            </a:r>
            <a:r>
              <a:rPr sz="2200" spc="40" dirty="0">
                <a:latin typeface="Calibri" panose="020F0502020204030204"/>
                <a:cs typeface="Calibri" panose="020F0502020204030204"/>
              </a:rPr>
              <a:t>m</a:t>
            </a:r>
            <a:r>
              <a:rPr sz="2200" spc="45" dirty="0">
                <a:latin typeface="Calibri" panose="020F0502020204030204"/>
                <a:cs typeface="Calibri" panose="020F0502020204030204"/>
              </a:rPr>
              <a:t>o</a:t>
            </a:r>
            <a:r>
              <a:rPr sz="2200" spc="40" dirty="0">
                <a:latin typeface="Calibri" panose="020F0502020204030204"/>
                <a:cs typeface="Calibri" panose="020F0502020204030204"/>
              </a:rPr>
              <a:t>ck</a:t>
            </a:r>
            <a:r>
              <a:rPr sz="2200" spc="40" dirty="0">
                <a:latin typeface="微软雅黑" panose="020B0503020204020204" pitchFamily="34" charset="-122"/>
                <a:cs typeface="微软雅黑" panose="020B0503020204020204" pitchFamily="34" charset="-122"/>
              </a:rPr>
              <a:t>对象也提供了一 </a:t>
            </a:r>
            <a:r>
              <a:rPr sz="2200" dirty="0">
                <a:latin typeface="微软雅黑" panose="020B0503020204020204" pitchFamily="34" charset="-122"/>
                <a:cs typeface="微软雅黑" panose="020B0503020204020204" pitchFamily="34" charset="-122"/>
              </a:rPr>
              <a:t>些途径对返回值进行控制。</a:t>
            </a:r>
          </a:p>
          <a:p>
            <a:pPr marL="447675" indent="-372110">
              <a:lnSpc>
                <a:spcPct val="100000"/>
              </a:lnSpc>
              <a:spcBef>
                <a:spcPts val="1160"/>
              </a:spcBef>
              <a:buChar char="•"/>
              <a:tabLst>
                <a:tab pos="447040" algn="l"/>
                <a:tab pos="447675" algn="l"/>
              </a:tabLst>
            </a:pPr>
            <a:r>
              <a:rPr sz="2200" spc="-5" dirty="0">
                <a:latin typeface="Arial" panose="020B0604020202020204"/>
                <a:cs typeface="Arial" panose="020B0604020202020204"/>
              </a:rPr>
              <a:t>return_value: </a:t>
            </a:r>
            <a:r>
              <a:rPr sz="2200" dirty="0">
                <a:latin typeface="微软雅黑" panose="020B0503020204020204" pitchFamily="34" charset="-122"/>
                <a:cs typeface="微软雅黑" panose="020B0503020204020204" pitchFamily="34" charset="-122"/>
              </a:rPr>
              <a:t>固定返回值</a:t>
            </a:r>
          </a:p>
          <a:p>
            <a:pPr marL="447675" indent="-372110">
              <a:lnSpc>
                <a:spcPct val="100000"/>
              </a:lnSpc>
              <a:spcBef>
                <a:spcPts val="560"/>
              </a:spcBef>
              <a:buChar char="•"/>
              <a:tabLst>
                <a:tab pos="447040" algn="l"/>
                <a:tab pos="447675" algn="l"/>
              </a:tabLst>
            </a:pPr>
            <a:r>
              <a:rPr sz="2200" spc="-5" dirty="0">
                <a:latin typeface="Arial" panose="020B0604020202020204"/>
                <a:cs typeface="Arial" panose="020B0604020202020204"/>
              </a:rPr>
              <a:t>side_effects:</a:t>
            </a:r>
            <a:r>
              <a:rPr sz="2200" spc="30" dirty="0">
                <a:latin typeface="Arial" panose="020B0604020202020204"/>
                <a:cs typeface="Arial" panose="020B0604020202020204"/>
              </a:rPr>
              <a:t> </a:t>
            </a:r>
            <a:r>
              <a:rPr sz="2200" dirty="0">
                <a:latin typeface="微软雅黑" panose="020B0503020204020204" pitchFamily="34" charset="-122"/>
                <a:cs typeface="微软雅黑" panose="020B0503020204020204" pitchFamily="34" charset="-122"/>
              </a:rPr>
              <a:t>返回值的序列或自定义方法</a:t>
            </a:r>
          </a:p>
        </p:txBody>
      </p:sp>
      <p:sp>
        <p:nvSpPr>
          <p:cNvPr id="5" name="标题 4"/>
          <p:cNvSpPr>
            <a:spLocks noGrp="1"/>
          </p:cNvSpPr>
          <p:nvPr>
            <p:ph type="title"/>
          </p:nvPr>
        </p:nvSpPr>
        <p:spPr/>
        <p:txBody>
          <a:bodyPr/>
          <a:lstStyle/>
          <a:p>
            <a:r>
              <a:rPr lang="en-US" altLang="zh-CN" dirty="0"/>
              <a:t>Python</a:t>
            </a:r>
            <a:r>
              <a:rPr lang="zh-CN" altLang="en-US" dirty="0"/>
              <a:t>单元测试之</a:t>
            </a:r>
            <a:r>
              <a:rPr lang="en-US" altLang="zh-CN" dirty="0"/>
              <a:t>mock</a:t>
            </a:r>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439335" y="2336808"/>
            <a:ext cx="1236345" cy="593090"/>
          </a:xfrm>
          <a:custGeom>
            <a:avLst/>
            <a:gdLst/>
            <a:ahLst/>
            <a:cxnLst/>
            <a:rect l="l" t="t" r="r" b="b"/>
            <a:pathLst>
              <a:path w="1236345" h="593089">
                <a:moveTo>
                  <a:pt x="1137352" y="0"/>
                </a:moveTo>
                <a:lnTo>
                  <a:pt x="98779" y="0"/>
                </a:lnTo>
                <a:lnTo>
                  <a:pt x="60330" y="7762"/>
                </a:lnTo>
                <a:lnTo>
                  <a:pt x="28931" y="28932"/>
                </a:lnTo>
                <a:lnTo>
                  <a:pt x="7762" y="60330"/>
                </a:lnTo>
                <a:lnTo>
                  <a:pt x="0" y="98780"/>
                </a:lnTo>
                <a:lnTo>
                  <a:pt x="0" y="493887"/>
                </a:lnTo>
                <a:lnTo>
                  <a:pt x="7762" y="532337"/>
                </a:lnTo>
                <a:lnTo>
                  <a:pt x="28931" y="563735"/>
                </a:lnTo>
                <a:lnTo>
                  <a:pt x="60330" y="584904"/>
                </a:lnTo>
                <a:lnTo>
                  <a:pt x="98779" y="592667"/>
                </a:lnTo>
                <a:lnTo>
                  <a:pt x="1137352" y="592667"/>
                </a:lnTo>
                <a:lnTo>
                  <a:pt x="1175801" y="584904"/>
                </a:lnTo>
                <a:lnTo>
                  <a:pt x="1207199" y="563735"/>
                </a:lnTo>
                <a:lnTo>
                  <a:pt x="1228369" y="532337"/>
                </a:lnTo>
                <a:lnTo>
                  <a:pt x="1236131" y="493887"/>
                </a:lnTo>
                <a:lnTo>
                  <a:pt x="1236131" y="98780"/>
                </a:lnTo>
                <a:lnTo>
                  <a:pt x="1228369" y="60330"/>
                </a:lnTo>
                <a:lnTo>
                  <a:pt x="1207199" y="28932"/>
                </a:lnTo>
                <a:lnTo>
                  <a:pt x="1175801" y="7762"/>
                </a:lnTo>
                <a:lnTo>
                  <a:pt x="1137352" y="0"/>
                </a:lnTo>
                <a:close/>
              </a:path>
            </a:pathLst>
          </a:custGeom>
          <a:solidFill>
            <a:srgbClr val="919191"/>
          </a:solidFill>
        </p:spPr>
        <p:txBody>
          <a:bodyPr wrap="square" lIns="0" tIns="0" rIns="0" bIns="0" rtlCol="0"/>
          <a:lstStyle/>
          <a:p>
            <a:endParaRPr/>
          </a:p>
        </p:txBody>
      </p:sp>
      <p:sp>
        <p:nvSpPr>
          <p:cNvPr id="4" name="object 4"/>
          <p:cNvSpPr/>
          <p:nvPr/>
        </p:nvSpPr>
        <p:spPr>
          <a:xfrm>
            <a:off x="2795289" y="2528644"/>
            <a:ext cx="236537" cy="193675"/>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1439335" y="2997211"/>
            <a:ext cx="1236345" cy="593090"/>
          </a:xfrm>
          <a:custGeom>
            <a:avLst/>
            <a:gdLst/>
            <a:ahLst/>
            <a:cxnLst/>
            <a:rect l="l" t="t" r="r" b="b"/>
            <a:pathLst>
              <a:path w="1236345" h="593089">
                <a:moveTo>
                  <a:pt x="1137352" y="0"/>
                </a:moveTo>
                <a:lnTo>
                  <a:pt x="98779" y="0"/>
                </a:lnTo>
                <a:lnTo>
                  <a:pt x="60330" y="7762"/>
                </a:lnTo>
                <a:lnTo>
                  <a:pt x="28931" y="28931"/>
                </a:lnTo>
                <a:lnTo>
                  <a:pt x="7762" y="60330"/>
                </a:lnTo>
                <a:lnTo>
                  <a:pt x="0" y="98779"/>
                </a:lnTo>
                <a:lnTo>
                  <a:pt x="0" y="493886"/>
                </a:lnTo>
                <a:lnTo>
                  <a:pt x="7762" y="532336"/>
                </a:lnTo>
                <a:lnTo>
                  <a:pt x="28931" y="563735"/>
                </a:lnTo>
                <a:lnTo>
                  <a:pt x="60330" y="584904"/>
                </a:lnTo>
                <a:lnTo>
                  <a:pt x="98779" y="592667"/>
                </a:lnTo>
                <a:lnTo>
                  <a:pt x="1137352" y="592667"/>
                </a:lnTo>
                <a:lnTo>
                  <a:pt x="1175801" y="584904"/>
                </a:lnTo>
                <a:lnTo>
                  <a:pt x="1207199" y="563735"/>
                </a:lnTo>
                <a:lnTo>
                  <a:pt x="1228369" y="532336"/>
                </a:lnTo>
                <a:lnTo>
                  <a:pt x="1236131" y="493886"/>
                </a:lnTo>
                <a:lnTo>
                  <a:pt x="1236131" y="98779"/>
                </a:lnTo>
                <a:lnTo>
                  <a:pt x="1228369" y="60330"/>
                </a:lnTo>
                <a:lnTo>
                  <a:pt x="1207199" y="28931"/>
                </a:lnTo>
                <a:lnTo>
                  <a:pt x="1175801" y="7762"/>
                </a:lnTo>
                <a:lnTo>
                  <a:pt x="1137352" y="0"/>
                </a:lnTo>
                <a:close/>
              </a:path>
            </a:pathLst>
          </a:custGeom>
          <a:solidFill>
            <a:srgbClr val="919191"/>
          </a:solidFill>
        </p:spPr>
        <p:txBody>
          <a:bodyPr wrap="square" lIns="0" tIns="0" rIns="0" bIns="0" rtlCol="0"/>
          <a:lstStyle/>
          <a:p>
            <a:endParaRPr/>
          </a:p>
        </p:txBody>
      </p:sp>
      <p:sp>
        <p:nvSpPr>
          <p:cNvPr id="6" name="object 6"/>
          <p:cNvSpPr txBox="1"/>
          <p:nvPr/>
        </p:nvSpPr>
        <p:spPr>
          <a:xfrm>
            <a:off x="1077804" y="1287552"/>
            <a:ext cx="10271125" cy="2162810"/>
          </a:xfrm>
          <a:prstGeom prst="rect">
            <a:avLst/>
          </a:prstGeom>
        </p:spPr>
        <p:txBody>
          <a:bodyPr vert="horz" wrap="square" lIns="0" tIns="12700" rIns="0" bIns="0" rtlCol="0">
            <a:spAutoFit/>
          </a:bodyPr>
          <a:lstStyle/>
          <a:p>
            <a:pPr marL="12700" marR="5080">
              <a:lnSpc>
                <a:spcPct val="117000"/>
              </a:lnSpc>
              <a:spcBef>
                <a:spcPts val="100"/>
              </a:spcBef>
            </a:pPr>
            <a:r>
              <a:rPr sz="2200" spc="10" dirty="0">
                <a:latin typeface="Arial" panose="020B0604020202020204"/>
                <a:cs typeface="Arial" panose="020B0604020202020204"/>
              </a:rPr>
              <a:t>coverage.py</a:t>
            </a:r>
            <a:r>
              <a:rPr sz="2200" spc="10" dirty="0">
                <a:latin typeface="微软雅黑" panose="020B0503020204020204" pitchFamily="34" charset="-122"/>
                <a:cs typeface="微软雅黑" panose="020B0503020204020204" pitchFamily="34" charset="-122"/>
              </a:rPr>
              <a:t>是一个用来统计</a:t>
            </a:r>
            <a:r>
              <a:rPr sz="2200" spc="10" dirty="0">
                <a:latin typeface="Arial" panose="020B0604020202020204"/>
                <a:cs typeface="Arial" panose="020B0604020202020204"/>
              </a:rPr>
              <a:t>python</a:t>
            </a:r>
            <a:r>
              <a:rPr sz="2200" spc="10" dirty="0">
                <a:latin typeface="微软雅黑" panose="020B0503020204020204" pitchFamily="34" charset="-122"/>
                <a:cs typeface="微软雅黑" panose="020B0503020204020204" pitchFamily="34" charset="-122"/>
              </a:rPr>
              <a:t>程序代码覆盖率的工具，它使用起来非常简</a:t>
            </a:r>
            <a:r>
              <a:rPr sz="2200" dirty="0">
                <a:latin typeface="微软雅黑" panose="020B0503020204020204" pitchFamily="34" charset="-122"/>
                <a:cs typeface="微软雅黑" panose="020B0503020204020204" pitchFamily="34" charset="-122"/>
              </a:rPr>
              <a:t>单， 并且支持最终生成界面友好的</a:t>
            </a:r>
            <a:r>
              <a:rPr sz="2200" spc="-5" dirty="0">
                <a:latin typeface="Arial" panose="020B0604020202020204"/>
                <a:cs typeface="Arial" panose="020B0604020202020204"/>
              </a:rPr>
              <a:t>html</a:t>
            </a:r>
            <a:r>
              <a:rPr sz="2200" dirty="0">
                <a:latin typeface="微软雅黑" panose="020B0503020204020204" pitchFamily="34" charset="-122"/>
                <a:cs typeface="微软雅黑" panose="020B0503020204020204" pitchFamily="34" charset="-122"/>
              </a:rPr>
              <a:t>报告。</a:t>
            </a:r>
            <a:endParaRPr sz="2200">
              <a:latin typeface="微软雅黑" panose="020B0503020204020204" pitchFamily="34" charset="-122"/>
              <a:cs typeface="微软雅黑" panose="020B0503020204020204" pitchFamily="34" charset="-122"/>
            </a:endParaRPr>
          </a:p>
          <a:p>
            <a:pPr>
              <a:lnSpc>
                <a:spcPct val="100000"/>
              </a:lnSpc>
              <a:spcBef>
                <a:spcPts val="25"/>
              </a:spcBef>
            </a:pPr>
            <a:endParaRPr sz="2400">
              <a:latin typeface="Times New Roman" panose="02020603050405020304"/>
              <a:cs typeface="Times New Roman" panose="02020603050405020304"/>
            </a:endParaRPr>
          </a:p>
          <a:p>
            <a:pPr marL="702945">
              <a:lnSpc>
                <a:spcPct val="100000"/>
              </a:lnSpc>
              <a:tabLst>
                <a:tab pos="2398395" algn="l"/>
              </a:tabLst>
            </a:pPr>
            <a:r>
              <a:rPr sz="2200" dirty="0">
                <a:solidFill>
                  <a:srgbClr val="FFFFFF"/>
                </a:solidFill>
                <a:latin typeface="微软雅黑" panose="020B0503020204020204" pitchFamily="34" charset="-122"/>
                <a:cs typeface="微软雅黑" panose="020B0503020204020204" pitchFamily="34" charset="-122"/>
              </a:rPr>
              <a:t>安装	</a:t>
            </a:r>
            <a:r>
              <a:rPr sz="2200" dirty="0">
                <a:latin typeface="Arial" panose="020B0604020202020204"/>
                <a:cs typeface="Arial" panose="020B0604020202020204"/>
              </a:rPr>
              <a:t>pip </a:t>
            </a:r>
            <a:r>
              <a:rPr sz="2200" spc="-5" dirty="0">
                <a:latin typeface="Arial" panose="020B0604020202020204"/>
                <a:cs typeface="Arial" panose="020B0604020202020204"/>
              </a:rPr>
              <a:t>install </a:t>
            </a:r>
            <a:r>
              <a:rPr sz="2200" dirty="0">
                <a:latin typeface="Arial" panose="020B0604020202020204"/>
                <a:cs typeface="Arial" panose="020B0604020202020204"/>
              </a:rPr>
              <a:t>-U</a:t>
            </a:r>
            <a:r>
              <a:rPr sz="2200" spc="-5" dirty="0">
                <a:latin typeface="Arial" panose="020B0604020202020204"/>
                <a:cs typeface="Arial" panose="020B0604020202020204"/>
              </a:rPr>
              <a:t> coverage.py</a:t>
            </a:r>
            <a:endParaRPr sz="2200">
              <a:latin typeface="Arial" panose="020B0604020202020204"/>
              <a:cs typeface="Arial" panose="020B0604020202020204"/>
            </a:endParaRPr>
          </a:p>
          <a:p>
            <a:pPr marL="702945">
              <a:lnSpc>
                <a:spcPct val="100000"/>
              </a:lnSpc>
              <a:spcBef>
                <a:spcPts val="2560"/>
              </a:spcBef>
            </a:pPr>
            <a:r>
              <a:rPr sz="2200" dirty="0">
                <a:solidFill>
                  <a:srgbClr val="FFFFFF"/>
                </a:solidFill>
                <a:latin typeface="微软雅黑" panose="020B0503020204020204" pitchFamily="34" charset="-122"/>
                <a:cs typeface="微软雅黑" panose="020B0503020204020204" pitchFamily="34" charset="-122"/>
              </a:rPr>
              <a:t>使用</a:t>
            </a:r>
            <a:endParaRPr sz="2200">
              <a:latin typeface="微软雅黑" panose="020B0503020204020204" pitchFamily="34" charset="-122"/>
              <a:cs typeface="微软雅黑" panose="020B0503020204020204" pitchFamily="34" charset="-122"/>
            </a:endParaRPr>
          </a:p>
        </p:txBody>
      </p:sp>
      <p:sp>
        <p:nvSpPr>
          <p:cNvPr id="7" name="object 7"/>
          <p:cNvSpPr/>
          <p:nvPr/>
        </p:nvSpPr>
        <p:spPr>
          <a:xfrm>
            <a:off x="3301996" y="2982741"/>
            <a:ext cx="4758267" cy="844203"/>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2795289" y="3205980"/>
            <a:ext cx="236537" cy="193675"/>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3318927" y="3838836"/>
            <a:ext cx="7315200" cy="2438401"/>
          </a:xfrm>
          <a:prstGeom prst="rect">
            <a:avLst/>
          </a:prstGeom>
          <a:blipFill>
            <a:blip r:embed="rId5" cstate="print"/>
            <a:stretch>
              <a:fillRect/>
            </a:stretch>
          </a:blipFill>
        </p:spPr>
        <p:txBody>
          <a:bodyPr wrap="square" lIns="0" tIns="0" rIns="0" bIns="0" rtlCol="0"/>
          <a:lstStyle/>
          <a:p>
            <a:endParaRPr/>
          </a:p>
        </p:txBody>
      </p:sp>
      <p:sp>
        <p:nvSpPr>
          <p:cNvPr id="10" name="object 10"/>
          <p:cNvSpPr/>
          <p:nvPr/>
        </p:nvSpPr>
        <p:spPr>
          <a:xfrm>
            <a:off x="3314165" y="3834074"/>
            <a:ext cx="7324725" cy="2447925"/>
          </a:xfrm>
          <a:custGeom>
            <a:avLst/>
            <a:gdLst/>
            <a:ahLst/>
            <a:cxnLst/>
            <a:rect l="l" t="t" r="r" b="b"/>
            <a:pathLst>
              <a:path w="7324725" h="2447925">
                <a:moveTo>
                  <a:pt x="0" y="0"/>
                </a:moveTo>
                <a:lnTo>
                  <a:pt x="7324722" y="0"/>
                </a:lnTo>
                <a:lnTo>
                  <a:pt x="7324722" y="2447923"/>
                </a:lnTo>
                <a:lnTo>
                  <a:pt x="0" y="2447923"/>
                </a:lnTo>
                <a:lnTo>
                  <a:pt x="0" y="0"/>
                </a:lnTo>
                <a:close/>
              </a:path>
            </a:pathLst>
          </a:custGeom>
          <a:ln w="9524">
            <a:solidFill>
              <a:srgbClr val="919191"/>
            </a:solidFill>
          </a:ln>
        </p:spPr>
        <p:txBody>
          <a:bodyPr wrap="square" lIns="0" tIns="0" rIns="0" bIns="0" rtlCol="0"/>
          <a:lstStyle/>
          <a:p>
            <a:endParaRPr/>
          </a:p>
        </p:txBody>
      </p:sp>
      <p:sp>
        <p:nvSpPr>
          <p:cNvPr id="11" name="object 11"/>
          <p:cNvSpPr/>
          <p:nvPr/>
        </p:nvSpPr>
        <p:spPr>
          <a:xfrm>
            <a:off x="8077197" y="3124200"/>
            <a:ext cx="2573865" cy="651715"/>
          </a:xfrm>
          <a:prstGeom prst="rect">
            <a:avLst/>
          </a:prstGeom>
          <a:blipFill>
            <a:blip r:embed="rId6" cstate="print"/>
            <a:stretch>
              <a:fillRect/>
            </a:stretch>
          </a:blipFill>
        </p:spPr>
        <p:txBody>
          <a:bodyPr wrap="square" lIns="0" tIns="0" rIns="0" bIns="0" rtlCol="0"/>
          <a:lstStyle/>
          <a:p>
            <a:endParaRPr/>
          </a:p>
        </p:txBody>
      </p:sp>
      <p:sp>
        <p:nvSpPr>
          <p:cNvPr id="13" name="标题 12"/>
          <p:cNvSpPr>
            <a:spLocks noGrp="1"/>
          </p:cNvSpPr>
          <p:nvPr>
            <p:ph type="title"/>
          </p:nvPr>
        </p:nvSpPr>
        <p:spPr/>
        <p:txBody>
          <a:bodyPr/>
          <a:lstStyle/>
          <a:p>
            <a:r>
              <a:rPr lang="en-US" altLang="zh-CN" dirty="0"/>
              <a:t>Python</a:t>
            </a:r>
            <a:r>
              <a:rPr lang="zh-CN" altLang="en-US" dirty="0"/>
              <a:t>单元测试之覆盖分析</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933581" y="1341968"/>
            <a:ext cx="7092540" cy="3602560"/>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7636933" y="2099733"/>
            <a:ext cx="3082290" cy="2946400"/>
          </a:xfrm>
          <a:prstGeom prst="rect">
            <a:avLst/>
          </a:prstGeom>
          <a:solidFill>
            <a:srgbClr val="D9D7D7"/>
          </a:solidFill>
          <a:ln w="6349">
            <a:solidFill>
              <a:srgbClr val="6C6C6C"/>
            </a:solidFill>
          </a:ln>
        </p:spPr>
        <p:txBody>
          <a:bodyPr vert="horz" wrap="square" lIns="0" tIns="0" rIns="0" bIns="0" rtlCol="0">
            <a:spAutoFit/>
          </a:bodyPr>
          <a:lstStyle/>
          <a:p>
            <a:pPr>
              <a:lnSpc>
                <a:spcPct val="100000"/>
              </a:lnSpc>
            </a:pPr>
            <a:endParaRPr sz="3650">
              <a:latin typeface="Times New Roman" panose="02020603050405020304"/>
              <a:cs typeface="Times New Roman" panose="02020603050405020304"/>
            </a:endParaRPr>
          </a:p>
          <a:p>
            <a:pPr marL="481965">
              <a:lnSpc>
                <a:spcPct val="100000"/>
              </a:lnSpc>
            </a:pPr>
            <a:r>
              <a:rPr sz="2400" dirty="0">
                <a:latin typeface="Arial" panose="020B0604020202020204"/>
                <a:cs typeface="Arial" panose="020B0604020202020204"/>
              </a:rPr>
              <a:t>Py</a:t>
            </a:r>
            <a:r>
              <a:rPr sz="2400" spc="-5" dirty="0">
                <a:latin typeface="Arial" panose="020B0604020202020204"/>
                <a:cs typeface="Arial" panose="020B0604020202020204"/>
              </a:rPr>
              <a:t>t</a:t>
            </a:r>
            <a:r>
              <a:rPr sz="2400" dirty="0">
                <a:latin typeface="Arial" panose="020B0604020202020204"/>
                <a:cs typeface="Arial" panose="020B0604020202020204"/>
              </a:rPr>
              <a:t>hon</a:t>
            </a:r>
            <a:r>
              <a:rPr sz="2400" dirty="0">
                <a:latin typeface="微软雅黑" panose="020B0503020204020204" pitchFamily="34" charset="-122"/>
                <a:cs typeface="微软雅黑" panose="020B0503020204020204" pitchFamily="34" charset="-122"/>
              </a:rPr>
              <a:t>单元测试</a:t>
            </a:r>
            <a:endParaRPr sz="2400">
              <a:latin typeface="微软雅黑" panose="020B0503020204020204" pitchFamily="34" charset="-122"/>
              <a:cs typeface="微软雅黑" panose="020B0503020204020204" pitchFamily="34" charset="-122"/>
            </a:endParaRPr>
          </a:p>
          <a:p>
            <a:pPr marL="824865" indent="-343535">
              <a:lnSpc>
                <a:spcPct val="100000"/>
              </a:lnSpc>
              <a:spcBef>
                <a:spcPts val="1120"/>
              </a:spcBef>
              <a:buChar char="•"/>
              <a:tabLst>
                <a:tab pos="824230" algn="l"/>
                <a:tab pos="825500" algn="l"/>
              </a:tabLst>
            </a:pPr>
            <a:r>
              <a:rPr sz="2400" spc="-5" dirty="0">
                <a:latin typeface="Arial" panose="020B0604020202020204"/>
                <a:cs typeface="Arial" panose="020B0604020202020204"/>
              </a:rPr>
              <a:t>unittest</a:t>
            </a:r>
            <a:endParaRPr sz="2400">
              <a:latin typeface="Arial" panose="020B0604020202020204"/>
              <a:cs typeface="Arial" panose="020B0604020202020204"/>
            </a:endParaRPr>
          </a:p>
          <a:p>
            <a:pPr marL="824865" indent="-343535">
              <a:lnSpc>
                <a:spcPct val="100000"/>
              </a:lnSpc>
              <a:spcBef>
                <a:spcPts val="1120"/>
              </a:spcBef>
              <a:buChar char="•"/>
              <a:tabLst>
                <a:tab pos="824230" algn="l"/>
                <a:tab pos="825500" algn="l"/>
              </a:tabLst>
            </a:pPr>
            <a:r>
              <a:rPr sz="2400" dirty="0">
                <a:latin typeface="Arial" panose="020B0604020202020204"/>
                <a:cs typeface="Arial" panose="020B0604020202020204"/>
              </a:rPr>
              <a:t>mock</a:t>
            </a:r>
            <a:endParaRPr sz="2400">
              <a:latin typeface="Arial" panose="020B0604020202020204"/>
              <a:cs typeface="Arial" panose="020B0604020202020204"/>
            </a:endParaRPr>
          </a:p>
          <a:p>
            <a:pPr marL="824865" indent="-343535">
              <a:lnSpc>
                <a:spcPct val="100000"/>
              </a:lnSpc>
              <a:spcBef>
                <a:spcPts val="1120"/>
              </a:spcBef>
              <a:buChar char="•"/>
              <a:tabLst>
                <a:tab pos="824230" algn="l"/>
                <a:tab pos="825500" algn="l"/>
              </a:tabLst>
            </a:pPr>
            <a:r>
              <a:rPr sz="2400" spc="-5" dirty="0">
                <a:latin typeface="Arial" panose="020B0604020202020204"/>
                <a:cs typeface="Arial" panose="020B0604020202020204"/>
              </a:rPr>
              <a:t>coverage.py</a:t>
            </a:r>
            <a:endParaRPr sz="2400">
              <a:latin typeface="Arial" panose="020B0604020202020204"/>
              <a:cs typeface="Arial" panose="020B0604020202020204"/>
            </a:endParaRPr>
          </a:p>
        </p:txBody>
      </p:sp>
      <p:sp>
        <p:nvSpPr>
          <p:cNvPr id="6" name="标题 5"/>
          <p:cNvSpPr>
            <a:spLocks noGrp="1"/>
          </p:cNvSpPr>
          <p:nvPr>
            <p:ph type="title"/>
          </p:nvPr>
        </p:nvSpPr>
        <p:spPr/>
        <p:txBody>
          <a:bodyPr/>
          <a:lstStyle/>
          <a:p>
            <a:r>
              <a:rPr lang="zh-CN" altLang="en-US" dirty="0"/>
              <a:t>案例：生命游戏</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435594" y="2015067"/>
            <a:ext cx="2066289" cy="643890"/>
          </a:xfrm>
          <a:prstGeom prst="rect">
            <a:avLst/>
          </a:prstGeom>
          <a:solidFill>
            <a:srgbClr val="6C6C6C"/>
          </a:solidFill>
        </p:spPr>
        <p:txBody>
          <a:bodyPr vert="horz" wrap="square" lIns="0" tIns="114935" rIns="0" bIns="0" rtlCol="0">
            <a:spAutoFit/>
          </a:bodyPr>
          <a:lstStyle/>
          <a:p>
            <a:pPr marL="5715" algn="ctr">
              <a:lnSpc>
                <a:spcPct val="100000"/>
              </a:lnSpc>
              <a:spcBef>
                <a:spcPts val="905"/>
              </a:spcBef>
            </a:pPr>
            <a:r>
              <a:rPr sz="2400" spc="-5" dirty="0">
                <a:solidFill>
                  <a:srgbClr val="FFFFFF"/>
                </a:solidFill>
                <a:latin typeface="Calibri" panose="020F0502020204030204"/>
                <a:cs typeface="Calibri" panose="020F0502020204030204"/>
              </a:rPr>
              <a:t>main</a:t>
            </a:r>
            <a:endParaRPr sz="2400">
              <a:latin typeface="Calibri" panose="020F0502020204030204"/>
              <a:cs typeface="Calibri" panose="020F0502020204030204"/>
            </a:endParaRPr>
          </a:p>
        </p:txBody>
      </p:sp>
      <p:sp>
        <p:nvSpPr>
          <p:cNvPr id="4" name="object 4"/>
          <p:cNvSpPr txBox="1"/>
          <p:nvPr/>
        </p:nvSpPr>
        <p:spPr>
          <a:xfrm>
            <a:off x="7281330" y="3335866"/>
            <a:ext cx="2066289" cy="643890"/>
          </a:xfrm>
          <a:prstGeom prst="rect">
            <a:avLst/>
          </a:prstGeom>
          <a:solidFill>
            <a:srgbClr val="6C6C6C"/>
          </a:solidFill>
        </p:spPr>
        <p:txBody>
          <a:bodyPr vert="horz" wrap="square" lIns="0" tIns="114935" rIns="0" bIns="0" rtlCol="0">
            <a:spAutoFit/>
          </a:bodyPr>
          <a:lstStyle/>
          <a:p>
            <a:pPr marL="281940">
              <a:lnSpc>
                <a:spcPct val="100000"/>
              </a:lnSpc>
              <a:spcBef>
                <a:spcPts val="905"/>
              </a:spcBef>
            </a:pPr>
            <a:r>
              <a:rPr sz="2400" spc="-5" dirty="0">
                <a:solidFill>
                  <a:srgbClr val="FFFFFF"/>
                </a:solidFill>
                <a:latin typeface="Calibri" panose="020F0502020204030204"/>
                <a:cs typeface="Calibri" panose="020F0502020204030204"/>
              </a:rPr>
              <a:t>game_timer</a:t>
            </a:r>
            <a:endParaRPr sz="2400">
              <a:latin typeface="Calibri" panose="020F0502020204030204"/>
              <a:cs typeface="Calibri" panose="020F0502020204030204"/>
            </a:endParaRPr>
          </a:p>
        </p:txBody>
      </p:sp>
      <p:sp>
        <p:nvSpPr>
          <p:cNvPr id="5" name="object 5"/>
          <p:cNvSpPr/>
          <p:nvPr/>
        </p:nvSpPr>
        <p:spPr>
          <a:xfrm>
            <a:off x="4750266" y="2675465"/>
            <a:ext cx="1447800" cy="648970"/>
          </a:xfrm>
          <a:custGeom>
            <a:avLst/>
            <a:gdLst/>
            <a:ahLst/>
            <a:cxnLst/>
            <a:rect l="l" t="t" r="r" b="b"/>
            <a:pathLst>
              <a:path w="1447800" h="648970">
                <a:moveTo>
                  <a:pt x="1447333" y="0"/>
                </a:moveTo>
                <a:lnTo>
                  <a:pt x="0" y="648802"/>
                </a:lnTo>
              </a:path>
            </a:pathLst>
          </a:custGeom>
          <a:ln w="28574">
            <a:solidFill>
              <a:srgbClr val="919191"/>
            </a:solidFill>
          </a:ln>
        </p:spPr>
        <p:txBody>
          <a:bodyPr wrap="square" lIns="0" tIns="0" rIns="0" bIns="0" rtlCol="0"/>
          <a:lstStyle/>
          <a:p>
            <a:endParaRPr/>
          </a:p>
        </p:txBody>
      </p:sp>
      <p:sp>
        <p:nvSpPr>
          <p:cNvPr id="6" name="object 6"/>
          <p:cNvSpPr/>
          <p:nvPr/>
        </p:nvSpPr>
        <p:spPr>
          <a:xfrm>
            <a:off x="4724391" y="3227360"/>
            <a:ext cx="139600" cy="122519"/>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6773329" y="2658532"/>
            <a:ext cx="1515110" cy="666115"/>
          </a:xfrm>
          <a:custGeom>
            <a:avLst/>
            <a:gdLst/>
            <a:ahLst/>
            <a:cxnLst/>
            <a:rect l="l" t="t" r="r" b="b"/>
            <a:pathLst>
              <a:path w="1515109" h="666114">
                <a:moveTo>
                  <a:pt x="0" y="0"/>
                </a:moveTo>
                <a:lnTo>
                  <a:pt x="1514708" y="665660"/>
                </a:lnTo>
              </a:path>
            </a:pathLst>
          </a:custGeom>
          <a:ln w="28574">
            <a:solidFill>
              <a:srgbClr val="919191"/>
            </a:solidFill>
          </a:ln>
        </p:spPr>
        <p:txBody>
          <a:bodyPr wrap="square" lIns="0" tIns="0" rIns="0" bIns="0" rtlCol="0"/>
          <a:lstStyle/>
          <a:p>
            <a:endParaRPr/>
          </a:p>
        </p:txBody>
      </p:sp>
      <p:sp>
        <p:nvSpPr>
          <p:cNvPr id="8" name="object 8"/>
          <p:cNvSpPr/>
          <p:nvPr/>
        </p:nvSpPr>
        <p:spPr>
          <a:xfrm>
            <a:off x="8174347" y="3227726"/>
            <a:ext cx="139651" cy="122849"/>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4658068" y="4458533"/>
            <a:ext cx="132646" cy="130398"/>
          </a:xfrm>
          <a:prstGeom prst="rect">
            <a:avLst/>
          </a:prstGeom>
          <a:blipFill>
            <a:blip r:embed="rId5" cstate="print"/>
            <a:stretch>
              <a:fillRect/>
            </a:stretch>
          </a:blipFill>
        </p:spPr>
        <p:txBody>
          <a:bodyPr wrap="square" lIns="0" tIns="0" rIns="0" bIns="0" rtlCol="0"/>
          <a:lstStyle/>
          <a:p>
            <a:endParaRPr/>
          </a:p>
        </p:txBody>
      </p:sp>
      <p:graphicFrame>
        <p:nvGraphicFramePr>
          <p:cNvPr id="10" name="object 10"/>
          <p:cNvGraphicFramePr>
            <a:graphicFrameLocks noGrp="1"/>
          </p:cNvGraphicFramePr>
          <p:nvPr/>
        </p:nvGraphicFramePr>
        <p:xfrm>
          <a:off x="3691458" y="3335866"/>
          <a:ext cx="2066288" cy="1896529"/>
        </p:xfrm>
        <a:graphic>
          <a:graphicData uri="http://schemas.openxmlformats.org/drawingml/2006/table">
            <a:tbl>
              <a:tblPr firstRow="1" bandRow="1">
                <a:tableStyleId>{2D5ABB26-0587-4C30-8999-92F81FD0307C}</a:tableStyleId>
              </a:tblPr>
              <a:tblGrid>
                <a:gridCol w="1033144">
                  <a:extLst>
                    <a:ext uri="{9D8B030D-6E8A-4147-A177-3AD203B41FA5}">
                      <a16:colId xmlns:a16="http://schemas.microsoft.com/office/drawing/2014/main" val="20000"/>
                    </a:ext>
                  </a:extLst>
                </a:gridCol>
                <a:gridCol w="1033144">
                  <a:extLst>
                    <a:ext uri="{9D8B030D-6E8A-4147-A177-3AD203B41FA5}">
                      <a16:colId xmlns:a16="http://schemas.microsoft.com/office/drawing/2014/main" val="20001"/>
                    </a:ext>
                  </a:extLst>
                </a:gridCol>
              </a:tblGrid>
              <a:tr h="643464">
                <a:tc gridSpan="2">
                  <a:txBody>
                    <a:bodyPr/>
                    <a:lstStyle/>
                    <a:p>
                      <a:pPr marL="425450">
                        <a:lnSpc>
                          <a:spcPct val="100000"/>
                        </a:lnSpc>
                        <a:spcBef>
                          <a:spcPts val="905"/>
                        </a:spcBef>
                      </a:pPr>
                      <a:r>
                        <a:rPr sz="2400" spc="-5" dirty="0">
                          <a:solidFill>
                            <a:srgbClr val="FFFFFF"/>
                          </a:solidFill>
                          <a:latin typeface="Calibri" panose="020F0502020204030204"/>
                          <a:cs typeface="Calibri" panose="020F0502020204030204"/>
                        </a:rPr>
                        <a:t>life_game</a:t>
                      </a:r>
                      <a:endParaRPr sz="2400">
                        <a:latin typeface="Calibri" panose="020F0502020204030204"/>
                        <a:cs typeface="Calibri" panose="020F0502020204030204"/>
                      </a:endParaRPr>
                    </a:p>
                  </a:txBody>
                  <a:tcPr marL="0" marR="0" marT="114935" marB="0">
                    <a:solidFill>
                      <a:srgbClr val="6C6C6C"/>
                    </a:solidFill>
                  </a:tcPr>
                </a:tc>
                <a:tc hMerge="1">
                  <a:txBody>
                    <a:bodyPr/>
                    <a:lstStyle/>
                    <a:p>
                      <a:endParaRPr lang="zh-CN"/>
                    </a:p>
                  </a:txBody>
                  <a:tcPr marL="0" marR="0" marT="0" marB="0"/>
                </a:tc>
                <a:extLst>
                  <a:ext uri="{0D108BD9-81ED-4DB2-BD59-A6C34878D82A}">
                    <a16:rowId xmlns:a16="http://schemas.microsoft.com/office/drawing/2014/main" val="10000"/>
                  </a:ext>
                </a:extLst>
              </a:tr>
              <a:tr h="609602">
                <a:tc>
                  <a:txBody>
                    <a:bodyPr/>
                    <a:lstStyle/>
                    <a:p>
                      <a:pPr>
                        <a:lnSpc>
                          <a:spcPct val="100000"/>
                        </a:lnSpc>
                        <a:spcBef>
                          <a:spcPts val="1170"/>
                        </a:spcBef>
                      </a:pPr>
                      <a:r>
                        <a:rPr sz="2000" dirty="0">
                          <a:latin typeface="微软雅黑" panose="020B0503020204020204" pitchFamily="34" charset="-122"/>
                          <a:cs typeface="微软雅黑" panose="020B0503020204020204" pitchFamily="34" charset="-122"/>
                        </a:rPr>
                        <a:t>执行输出</a:t>
                      </a:r>
                      <a:endParaRPr sz="2000">
                        <a:latin typeface="微软雅黑" panose="020B0503020204020204" pitchFamily="34" charset="-122"/>
                        <a:cs typeface="微软雅黑" panose="020B0503020204020204" pitchFamily="34" charset="-122"/>
                      </a:endParaRPr>
                    </a:p>
                  </a:txBody>
                  <a:tcPr marL="0" marR="0" marT="148590" marB="0">
                    <a:lnR w="28575">
                      <a:solidFill>
                        <a:srgbClr val="919191"/>
                      </a:solidFill>
                      <a:prstDash val="solid"/>
                    </a:lnR>
                  </a:tcPr>
                </a:tc>
                <a:tc>
                  <a:txBody>
                    <a:bodyPr/>
                    <a:lstStyle/>
                    <a:p>
                      <a:pPr>
                        <a:lnSpc>
                          <a:spcPct val="100000"/>
                        </a:lnSpc>
                      </a:pPr>
                      <a:endParaRPr sz="2100">
                        <a:latin typeface="Times New Roman" panose="02020603050405020304"/>
                        <a:cs typeface="Times New Roman" panose="02020603050405020304"/>
                      </a:endParaRPr>
                    </a:p>
                  </a:txBody>
                  <a:tcPr marL="0" marR="0" marT="0" marB="0">
                    <a:lnL w="28575">
                      <a:solidFill>
                        <a:srgbClr val="919191"/>
                      </a:solidFill>
                      <a:prstDash val="solid"/>
                    </a:lnL>
                  </a:tcPr>
                </a:tc>
                <a:extLst>
                  <a:ext uri="{0D108BD9-81ED-4DB2-BD59-A6C34878D82A}">
                    <a16:rowId xmlns:a16="http://schemas.microsoft.com/office/drawing/2014/main" val="10001"/>
                  </a:ext>
                </a:extLst>
              </a:tr>
              <a:tr h="643463">
                <a:tc gridSpan="2">
                  <a:txBody>
                    <a:bodyPr/>
                    <a:lstStyle/>
                    <a:p>
                      <a:pPr marL="342900">
                        <a:lnSpc>
                          <a:spcPct val="100000"/>
                        </a:lnSpc>
                        <a:spcBef>
                          <a:spcPts val="905"/>
                        </a:spcBef>
                      </a:pPr>
                      <a:r>
                        <a:rPr sz="2400" spc="-5" dirty="0">
                          <a:solidFill>
                            <a:srgbClr val="FFFFFF"/>
                          </a:solidFill>
                          <a:latin typeface="Calibri" panose="020F0502020204030204"/>
                          <a:cs typeface="Calibri" panose="020F0502020204030204"/>
                        </a:rPr>
                        <a:t>game_map</a:t>
                      </a:r>
                      <a:endParaRPr sz="2400">
                        <a:latin typeface="Calibri" panose="020F0502020204030204"/>
                        <a:cs typeface="Calibri" panose="020F0502020204030204"/>
                      </a:endParaRPr>
                    </a:p>
                  </a:txBody>
                  <a:tcPr marL="0" marR="0" marT="114935" marB="0">
                    <a:solidFill>
                      <a:srgbClr val="6C6C6C"/>
                    </a:solidFill>
                  </a:tcPr>
                </a:tc>
                <a:tc hMerge="1">
                  <a:txBody>
                    <a:bodyPr/>
                    <a:lstStyle/>
                    <a:p>
                      <a:endParaRPr lang="zh-CN"/>
                    </a:p>
                  </a:txBody>
                  <a:tcPr marL="0" marR="0" marT="0" marB="0"/>
                </a:tc>
                <a:extLst>
                  <a:ext uri="{0D108BD9-81ED-4DB2-BD59-A6C34878D82A}">
                    <a16:rowId xmlns:a16="http://schemas.microsoft.com/office/drawing/2014/main" val="10002"/>
                  </a:ext>
                </a:extLst>
              </a:tr>
            </a:tbl>
          </a:graphicData>
        </a:graphic>
      </p:graphicFrame>
      <p:sp>
        <p:nvSpPr>
          <p:cNvPr id="11" name="object 11"/>
          <p:cNvSpPr txBox="1"/>
          <p:nvPr/>
        </p:nvSpPr>
        <p:spPr>
          <a:xfrm>
            <a:off x="3726348" y="1507820"/>
            <a:ext cx="5233035" cy="330200"/>
          </a:xfrm>
          <a:prstGeom prst="rect">
            <a:avLst/>
          </a:prstGeom>
        </p:spPr>
        <p:txBody>
          <a:bodyPr vert="horz" wrap="square" lIns="0" tIns="12700" rIns="0" bIns="0" rtlCol="0">
            <a:spAutoFit/>
          </a:bodyPr>
          <a:lstStyle/>
          <a:p>
            <a:pPr marL="12700">
              <a:lnSpc>
                <a:spcPct val="100000"/>
              </a:lnSpc>
              <a:spcBef>
                <a:spcPts val="100"/>
              </a:spcBef>
            </a:pPr>
            <a:r>
              <a:rPr sz="2000" spc="-5" dirty="0">
                <a:solidFill>
                  <a:srgbClr val="3300CC"/>
                </a:solidFill>
                <a:latin typeface="Arial" panose="020B0604020202020204"/>
                <a:cs typeface="Arial" panose="020B0604020202020204"/>
              </a:rPr>
              <a:t>main.py</a:t>
            </a:r>
            <a:r>
              <a:rPr sz="2000" spc="-5" dirty="0">
                <a:solidFill>
                  <a:srgbClr val="3300CC"/>
                </a:solidFill>
                <a:latin typeface="微软雅黑" panose="020B0503020204020204" pitchFamily="34" charset="-122"/>
                <a:cs typeface="微软雅黑" panose="020B0503020204020204" pitchFamily="34" charset="-122"/>
              </a:rPr>
              <a:t>：</a:t>
            </a:r>
            <a:r>
              <a:rPr sz="2000" dirty="0">
                <a:latin typeface="微软雅黑" panose="020B0503020204020204" pitchFamily="34" charset="-122"/>
                <a:cs typeface="微软雅黑" panose="020B0503020204020204" pitchFamily="34" charset="-122"/>
              </a:rPr>
              <a:t>生命游戏的主程序，用户使用的入口</a:t>
            </a:r>
            <a:endParaRPr sz="2000">
              <a:latin typeface="微软雅黑" panose="020B0503020204020204" pitchFamily="34" charset="-122"/>
              <a:cs typeface="微软雅黑" panose="020B0503020204020204" pitchFamily="34" charset="-122"/>
            </a:endParaRPr>
          </a:p>
        </p:txBody>
      </p:sp>
      <p:sp>
        <p:nvSpPr>
          <p:cNvPr id="12" name="object 12"/>
          <p:cNvSpPr txBox="1"/>
          <p:nvPr/>
        </p:nvSpPr>
        <p:spPr>
          <a:xfrm>
            <a:off x="896691" y="4115550"/>
            <a:ext cx="2565400" cy="330200"/>
          </a:xfrm>
          <a:prstGeom prst="rect">
            <a:avLst/>
          </a:prstGeom>
        </p:spPr>
        <p:txBody>
          <a:bodyPr vert="horz" wrap="square" lIns="0" tIns="12700" rIns="0" bIns="0" rtlCol="0">
            <a:spAutoFit/>
          </a:bodyPr>
          <a:lstStyle/>
          <a:p>
            <a:pPr marL="12700">
              <a:lnSpc>
                <a:spcPct val="100000"/>
              </a:lnSpc>
              <a:spcBef>
                <a:spcPts val="100"/>
              </a:spcBef>
            </a:pPr>
            <a:r>
              <a:rPr sz="2000" spc="-5" dirty="0">
                <a:solidFill>
                  <a:srgbClr val="3300CC"/>
                </a:solidFill>
                <a:latin typeface="微软雅黑" panose="020B0503020204020204" pitchFamily="34" charset="-122"/>
                <a:cs typeface="微软雅黑" panose="020B0503020204020204" pitchFamily="34" charset="-122"/>
              </a:rPr>
              <a:t>life_game.py：</a:t>
            </a:r>
            <a:r>
              <a:rPr sz="2000" dirty="0">
                <a:latin typeface="微软雅黑" panose="020B0503020204020204" pitchFamily="34" charset="-122"/>
                <a:cs typeface="微软雅黑" panose="020B0503020204020204" pitchFamily="34" charset="-122"/>
              </a:rPr>
              <a:t>游戏的</a:t>
            </a:r>
            <a:endParaRPr sz="2000">
              <a:latin typeface="微软雅黑" panose="020B0503020204020204" pitchFamily="34" charset="-122"/>
              <a:cs typeface="微软雅黑" panose="020B0503020204020204" pitchFamily="34" charset="-122"/>
            </a:endParaRPr>
          </a:p>
        </p:txBody>
      </p:sp>
      <p:sp>
        <p:nvSpPr>
          <p:cNvPr id="13" name="object 13"/>
          <p:cNvSpPr txBox="1"/>
          <p:nvPr/>
        </p:nvSpPr>
        <p:spPr>
          <a:xfrm>
            <a:off x="7361414" y="4090154"/>
            <a:ext cx="397764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3300CC"/>
                </a:solidFill>
                <a:latin typeface="Arial" panose="020B0604020202020204"/>
                <a:cs typeface="Arial" panose="020B0604020202020204"/>
              </a:rPr>
              <a:t>game_</a:t>
            </a:r>
            <a:r>
              <a:rPr sz="2000" spc="-5" dirty="0">
                <a:solidFill>
                  <a:srgbClr val="3300CC"/>
                </a:solidFill>
                <a:latin typeface="Arial" panose="020B0604020202020204"/>
                <a:cs typeface="Arial" panose="020B0604020202020204"/>
              </a:rPr>
              <a:t>t</a:t>
            </a:r>
            <a:r>
              <a:rPr sz="2000" dirty="0">
                <a:solidFill>
                  <a:srgbClr val="3300CC"/>
                </a:solidFill>
                <a:latin typeface="Arial" panose="020B0604020202020204"/>
                <a:cs typeface="Arial" panose="020B0604020202020204"/>
              </a:rPr>
              <a:t>ime</a:t>
            </a:r>
            <a:r>
              <a:rPr sz="2000" spc="-114" dirty="0">
                <a:solidFill>
                  <a:srgbClr val="3300CC"/>
                </a:solidFill>
                <a:latin typeface="Arial" panose="020B0604020202020204"/>
                <a:cs typeface="Arial" panose="020B0604020202020204"/>
              </a:rPr>
              <a:t>r</a:t>
            </a:r>
            <a:r>
              <a:rPr sz="2000" spc="-5" dirty="0">
                <a:solidFill>
                  <a:srgbClr val="3300CC"/>
                </a:solidFill>
                <a:latin typeface="Arial" panose="020B0604020202020204"/>
                <a:cs typeface="Arial" panose="020B0604020202020204"/>
              </a:rPr>
              <a:t>.</a:t>
            </a:r>
            <a:r>
              <a:rPr sz="2000" dirty="0">
                <a:solidFill>
                  <a:srgbClr val="3300CC"/>
                </a:solidFill>
                <a:latin typeface="Arial" panose="020B0604020202020204"/>
                <a:cs typeface="Arial" panose="020B0604020202020204"/>
              </a:rPr>
              <a:t>p</a:t>
            </a:r>
            <a:r>
              <a:rPr sz="2000" spc="-5" dirty="0">
                <a:solidFill>
                  <a:srgbClr val="3300CC"/>
                </a:solidFill>
                <a:latin typeface="Arial" panose="020B0604020202020204"/>
                <a:cs typeface="Arial" panose="020B0604020202020204"/>
              </a:rPr>
              <a:t>y</a:t>
            </a:r>
            <a:r>
              <a:rPr sz="2000" dirty="0">
                <a:solidFill>
                  <a:srgbClr val="3300CC"/>
                </a:solidFill>
                <a:latin typeface="微软雅黑" panose="020B0503020204020204" pitchFamily="34" charset="-122"/>
                <a:cs typeface="微软雅黑" panose="020B0503020204020204" pitchFamily="34" charset="-122"/>
              </a:rPr>
              <a:t>：</a:t>
            </a:r>
            <a:r>
              <a:rPr sz="2000" dirty="0">
                <a:latin typeface="微软雅黑" panose="020B0503020204020204" pitchFamily="34" charset="-122"/>
                <a:cs typeface="微软雅黑" panose="020B0503020204020204" pitchFamily="34" charset="-122"/>
              </a:rPr>
              <a:t>定时器，定时触发</a:t>
            </a:r>
            <a:endParaRPr sz="2000">
              <a:latin typeface="微软雅黑" panose="020B0503020204020204" pitchFamily="34" charset="-122"/>
              <a:cs typeface="微软雅黑" panose="020B0503020204020204" pitchFamily="34" charset="-122"/>
            </a:endParaRPr>
          </a:p>
        </p:txBody>
      </p:sp>
      <p:sp>
        <p:nvSpPr>
          <p:cNvPr id="14" name="object 14"/>
          <p:cNvSpPr txBox="1"/>
          <p:nvPr/>
        </p:nvSpPr>
        <p:spPr>
          <a:xfrm>
            <a:off x="3744036" y="5368618"/>
            <a:ext cx="6207125" cy="330200"/>
          </a:xfrm>
          <a:prstGeom prst="rect">
            <a:avLst/>
          </a:prstGeom>
        </p:spPr>
        <p:txBody>
          <a:bodyPr vert="horz" wrap="square" lIns="0" tIns="12700" rIns="0" bIns="0" rtlCol="0">
            <a:spAutoFit/>
          </a:bodyPr>
          <a:lstStyle/>
          <a:p>
            <a:pPr marL="12700">
              <a:lnSpc>
                <a:spcPct val="100000"/>
              </a:lnSpc>
              <a:spcBef>
                <a:spcPts val="100"/>
              </a:spcBef>
            </a:pPr>
            <a:r>
              <a:rPr sz="2000" spc="-5" dirty="0">
                <a:solidFill>
                  <a:srgbClr val="3300CC"/>
                </a:solidFill>
                <a:latin typeface="Arial" panose="020B0604020202020204"/>
                <a:cs typeface="Arial" panose="020B0604020202020204"/>
              </a:rPr>
              <a:t>game_map.py</a:t>
            </a:r>
            <a:r>
              <a:rPr sz="2000" spc="-5" dirty="0">
                <a:solidFill>
                  <a:srgbClr val="3300CC"/>
                </a:solidFill>
                <a:latin typeface="微软雅黑" panose="020B0503020204020204" pitchFamily="34" charset="-122"/>
                <a:cs typeface="微软雅黑" panose="020B0503020204020204" pitchFamily="34" charset="-122"/>
              </a:rPr>
              <a:t>：</a:t>
            </a:r>
            <a:r>
              <a:rPr sz="2000" dirty="0">
                <a:latin typeface="微软雅黑" panose="020B0503020204020204" pitchFamily="34" charset="-122"/>
                <a:cs typeface="微软雅黑" panose="020B0503020204020204" pitchFamily="34" charset="-122"/>
              </a:rPr>
              <a:t>生命游戏地图，包含了所需的底层操作</a:t>
            </a:r>
            <a:endParaRPr sz="2000">
              <a:latin typeface="微软雅黑" panose="020B0503020204020204" pitchFamily="34" charset="-122"/>
              <a:cs typeface="微软雅黑" panose="020B0503020204020204" pitchFamily="34" charset="-122"/>
            </a:endParaRPr>
          </a:p>
        </p:txBody>
      </p:sp>
      <p:sp>
        <p:nvSpPr>
          <p:cNvPr id="16" name="标题 15"/>
          <p:cNvSpPr>
            <a:spLocks noGrp="1"/>
          </p:cNvSpPr>
          <p:nvPr>
            <p:ph type="title"/>
          </p:nvPr>
        </p:nvSpPr>
        <p:spPr/>
        <p:txBody>
          <a:bodyPr/>
          <a:lstStyle/>
          <a:p>
            <a:r>
              <a:rPr lang="zh-CN" altLang="en-US" dirty="0"/>
              <a:t>案例：生命游戏</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652997" y="1820637"/>
            <a:ext cx="7467596" cy="4327244"/>
          </a:xfrm>
          <a:custGeom>
            <a:avLst/>
            <a:gdLst/>
            <a:ahLst/>
            <a:cxnLst/>
            <a:rect l="l" t="t" r="r" b="b"/>
            <a:pathLst>
              <a:path w="7349490" h="3589654">
                <a:moveTo>
                  <a:pt x="0" y="0"/>
                </a:moveTo>
                <a:lnTo>
                  <a:pt x="7349051" y="0"/>
                </a:lnTo>
                <a:lnTo>
                  <a:pt x="7349051" y="3589316"/>
                </a:lnTo>
                <a:lnTo>
                  <a:pt x="0" y="3589316"/>
                </a:lnTo>
                <a:lnTo>
                  <a:pt x="0" y="0"/>
                </a:lnTo>
                <a:close/>
              </a:path>
            </a:pathLst>
          </a:custGeom>
          <a:ln w="19049">
            <a:solidFill>
              <a:srgbClr val="919191"/>
            </a:solidFill>
          </a:ln>
        </p:spPr>
        <p:txBody>
          <a:bodyPr wrap="square" lIns="0" tIns="0" rIns="0" bIns="0" rtlCol="0"/>
          <a:lstStyle/>
          <a:p>
            <a:endParaRPr/>
          </a:p>
        </p:txBody>
      </p:sp>
      <p:sp>
        <p:nvSpPr>
          <p:cNvPr id="4" name="object 4"/>
          <p:cNvSpPr txBox="1">
            <a:spLocks noGrp="1"/>
          </p:cNvSpPr>
          <p:nvPr>
            <p:ph type="body" idx="1"/>
          </p:nvPr>
        </p:nvSpPr>
        <p:spPr>
          <a:xfrm>
            <a:off x="838200" y="1825625"/>
            <a:ext cx="10515600" cy="4142160"/>
          </a:xfrm>
          <a:prstGeom prst="rect">
            <a:avLst/>
          </a:prstGeom>
        </p:spPr>
        <p:txBody>
          <a:bodyPr vert="horz" wrap="square" lIns="0" tIns="172720" rIns="0" bIns="0" rtlCol="0">
            <a:spAutoFit/>
          </a:bodyPr>
          <a:lstStyle/>
          <a:p>
            <a:pPr marL="3212465" indent="-355600">
              <a:lnSpc>
                <a:spcPct val="100000"/>
              </a:lnSpc>
              <a:spcBef>
                <a:spcPts val="1360"/>
              </a:spcBef>
              <a:buChar char="•"/>
              <a:tabLst>
                <a:tab pos="3211830" algn="l"/>
                <a:tab pos="3212465" algn="l"/>
              </a:tabLst>
            </a:pPr>
            <a:r>
              <a:rPr sz="2400" spc="-5" dirty="0">
                <a:cs typeface="Arial" panose="020B0604020202020204"/>
              </a:rPr>
              <a:t>rows</a:t>
            </a:r>
            <a:r>
              <a:rPr sz="2400" spc="-5" dirty="0"/>
              <a:t>，</a:t>
            </a:r>
            <a:r>
              <a:rPr sz="2400" spc="-5" dirty="0">
                <a:cs typeface="Arial" panose="020B0604020202020204"/>
              </a:rPr>
              <a:t>cols</a:t>
            </a:r>
            <a:r>
              <a:rPr sz="2400" spc="-5" dirty="0"/>
              <a:t>：</a:t>
            </a:r>
            <a:r>
              <a:rPr sz="2400" dirty="0"/>
              <a:t>表示地图的行数和列数</a:t>
            </a:r>
          </a:p>
          <a:p>
            <a:pPr marL="3212465" indent="-355600">
              <a:lnSpc>
                <a:spcPct val="100000"/>
              </a:lnSpc>
              <a:spcBef>
                <a:spcPts val="1260"/>
              </a:spcBef>
              <a:buChar char="•"/>
              <a:tabLst>
                <a:tab pos="3211830" algn="l"/>
                <a:tab pos="3212465" algn="l"/>
              </a:tabLst>
            </a:pPr>
            <a:r>
              <a:rPr sz="2400" spc="-5" dirty="0">
                <a:cs typeface="Arial" panose="020B0604020202020204"/>
              </a:rPr>
              <a:t>reset</a:t>
            </a:r>
            <a:r>
              <a:rPr sz="2400" spc="-5" dirty="0"/>
              <a:t>：</a:t>
            </a:r>
            <a:r>
              <a:rPr sz="2400" dirty="0"/>
              <a:t>以一定的概率设置地图的每个格子的状态</a:t>
            </a:r>
          </a:p>
          <a:p>
            <a:pPr marL="3212465" indent="-355600">
              <a:lnSpc>
                <a:spcPct val="100000"/>
              </a:lnSpc>
              <a:spcBef>
                <a:spcPts val="1260"/>
              </a:spcBef>
              <a:buChar char="•"/>
              <a:tabLst>
                <a:tab pos="3211830" algn="l"/>
                <a:tab pos="3212465" algn="l"/>
              </a:tabLst>
            </a:pPr>
            <a:r>
              <a:rPr sz="2400" spc="-5" dirty="0">
                <a:cs typeface="Arial" panose="020B0604020202020204"/>
              </a:rPr>
              <a:t>get/set</a:t>
            </a:r>
            <a:r>
              <a:rPr sz="2400" spc="-5" dirty="0"/>
              <a:t>：</a:t>
            </a:r>
            <a:r>
              <a:rPr sz="2400" dirty="0"/>
              <a:t>获取、设置地图的某个格子的状态</a:t>
            </a:r>
          </a:p>
          <a:p>
            <a:pPr marL="3212465" indent="-355600">
              <a:lnSpc>
                <a:spcPct val="100000"/>
              </a:lnSpc>
              <a:spcBef>
                <a:spcPts val="1260"/>
              </a:spcBef>
              <a:buChar char="•"/>
              <a:tabLst>
                <a:tab pos="3211830" algn="l"/>
                <a:tab pos="3212465" algn="l"/>
              </a:tabLst>
            </a:pPr>
            <a:r>
              <a:rPr sz="2400" spc="-5" dirty="0">
                <a:cs typeface="Arial" panose="020B0604020202020204"/>
              </a:rPr>
              <a:t>get_neighbor_count</a:t>
            </a:r>
            <a:r>
              <a:rPr sz="2400" spc="-5" dirty="0"/>
              <a:t>：</a:t>
            </a:r>
            <a:r>
              <a:rPr sz="2400" dirty="0"/>
              <a:t>获取一个格子的邻居数量</a:t>
            </a:r>
          </a:p>
          <a:p>
            <a:pPr marL="3212465" indent="-355600">
              <a:lnSpc>
                <a:spcPct val="100000"/>
              </a:lnSpc>
              <a:spcBef>
                <a:spcPts val="1360"/>
              </a:spcBef>
              <a:buChar char="•"/>
              <a:tabLst>
                <a:tab pos="3211830" algn="l"/>
                <a:tab pos="3212465" algn="l"/>
              </a:tabLst>
            </a:pPr>
            <a:r>
              <a:rPr sz="2400" spc="-5" dirty="0">
                <a:cs typeface="Arial" panose="020B0604020202020204"/>
              </a:rPr>
              <a:t>get_neighbor_count_map</a:t>
            </a:r>
            <a:r>
              <a:rPr sz="2400" spc="-5" dirty="0"/>
              <a:t>：</a:t>
            </a:r>
            <a:r>
              <a:rPr sz="2400" dirty="0"/>
              <a:t>获取每个格子的邻居数量</a:t>
            </a:r>
          </a:p>
          <a:p>
            <a:pPr marL="3212465" indent="-355600">
              <a:lnSpc>
                <a:spcPct val="100000"/>
              </a:lnSpc>
              <a:spcBef>
                <a:spcPts val="1260"/>
              </a:spcBef>
              <a:buChar char="•"/>
              <a:tabLst>
                <a:tab pos="3211830" algn="l"/>
                <a:tab pos="3212465" algn="l"/>
              </a:tabLst>
            </a:pPr>
            <a:r>
              <a:rPr sz="2400" spc="-5" dirty="0">
                <a:cs typeface="Arial" panose="020B0604020202020204"/>
              </a:rPr>
              <a:t>set_map</a:t>
            </a:r>
            <a:r>
              <a:rPr sz="2400" spc="-5" dirty="0"/>
              <a:t>：</a:t>
            </a:r>
            <a:r>
              <a:rPr sz="2400" dirty="0"/>
              <a:t>设置地图</a:t>
            </a:r>
          </a:p>
          <a:p>
            <a:pPr marL="3212465" indent="-355600">
              <a:lnSpc>
                <a:spcPct val="100000"/>
              </a:lnSpc>
              <a:spcBef>
                <a:spcPts val="1260"/>
              </a:spcBef>
              <a:buChar char="•"/>
              <a:tabLst>
                <a:tab pos="3211830" algn="l"/>
                <a:tab pos="3212465" algn="l"/>
              </a:tabLst>
            </a:pPr>
            <a:r>
              <a:rPr sz="2400" spc="-5" dirty="0">
                <a:cs typeface="Arial" panose="020B0604020202020204"/>
              </a:rPr>
              <a:t>print_map</a:t>
            </a:r>
            <a:r>
              <a:rPr sz="2400" spc="-5" dirty="0"/>
              <a:t>：</a:t>
            </a:r>
            <a:r>
              <a:rPr sz="2400" dirty="0"/>
              <a:t>打印地图</a:t>
            </a:r>
          </a:p>
        </p:txBody>
      </p:sp>
      <p:sp>
        <p:nvSpPr>
          <p:cNvPr id="5" name="object 5"/>
          <p:cNvSpPr txBox="1"/>
          <p:nvPr/>
        </p:nvSpPr>
        <p:spPr>
          <a:xfrm>
            <a:off x="1066809" y="3301997"/>
            <a:ext cx="2066289" cy="643890"/>
          </a:xfrm>
          <a:prstGeom prst="rect">
            <a:avLst/>
          </a:prstGeom>
          <a:solidFill>
            <a:srgbClr val="6C6C6C"/>
          </a:solidFill>
        </p:spPr>
        <p:txBody>
          <a:bodyPr vert="horz" wrap="square" lIns="0" tIns="114935" rIns="0" bIns="0" rtlCol="0">
            <a:spAutoFit/>
          </a:bodyPr>
          <a:lstStyle/>
          <a:p>
            <a:pPr marL="342900">
              <a:lnSpc>
                <a:spcPct val="100000"/>
              </a:lnSpc>
              <a:spcBef>
                <a:spcPts val="905"/>
              </a:spcBef>
            </a:pPr>
            <a:r>
              <a:rPr sz="2400" spc="-5" dirty="0">
                <a:solidFill>
                  <a:srgbClr val="FFFFFF"/>
                </a:solidFill>
                <a:latin typeface="Calibri" panose="020F0502020204030204"/>
                <a:cs typeface="Calibri" panose="020F0502020204030204"/>
              </a:rPr>
              <a:t>game_map</a:t>
            </a:r>
            <a:endParaRPr sz="2400">
              <a:latin typeface="Calibri" panose="020F0502020204030204"/>
              <a:cs typeface="Calibri" panose="020F0502020204030204"/>
            </a:endParaRPr>
          </a:p>
        </p:txBody>
      </p:sp>
      <p:sp>
        <p:nvSpPr>
          <p:cNvPr id="6" name="object 6"/>
          <p:cNvSpPr/>
          <p:nvPr/>
        </p:nvSpPr>
        <p:spPr>
          <a:xfrm>
            <a:off x="3302017" y="3437463"/>
            <a:ext cx="389890" cy="339090"/>
          </a:xfrm>
          <a:custGeom>
            <a:avLst/>
            <a:gdLst/>
            <a:ahLst/>
            <a:cxnLst/>
            <a:rect l="l" t="t" r="r" b="b"/>
            <a:pathLst>
              <a:path w="389889" h="339089">
                <a:moveTo>
                  <a:pt x="220132" y="0"/>
                </a:moveTo>
                <a:lnTo>
                  <a:pt x="220132" y="84667"/>
                </a:lnTo>
                <a:lnTo>
                  <a:pt x="0" y="84667"/>
                </a:lnTo>
                <a:lnTo>
                  <a:pt x="0" y="254000"/>
                </a:lnTo>
                <a:lnTo>
                  <a:pt x="220132" y="254000"/>
                </a:lnTo>
                <a:lnTo>
                  <a:pt x="220132" y="338665"/>
                </a:lnTo>
                <a:lnTo>
                  <a:pt x="389467" y="169332"/>
                </a:lnTo>
                <a:lnTo>
                  <a:pt x="220132" y="0"/>
                </a:lnTo>
                <a:close/>
              </a:path>
            </a:pathLst>
          </a:custGeom>
          <a:solidFill>
            <a:srgbClr val="919191"/>
          </a:solidFill>
        </p:spPr>
        <p:txBody>
          <a:bodyPr wrap="square" lIns="0" tIns="0" rIns="0" bIns="0" rtlCol="0"/>
          <a:lstStyle/>
          <a:p>
            <a:endParaRPr/>
          </a:p>
        </p:txBody>
      </p:sp>
      <p:sp>
        <p:nvSpPr>
          <p:cNvPr id="8" name="标题 7"/>
          <p:cNvSpPr>
            <a:spLocks noGrp="1"/>
          </p:cNvSpPr>
          <p:nvPr>
            <p:ph type="title"/>
          </p:nvPr>
        </p:nvSpPr>
        <p:spPr/>
        <p:txBody>
          <a:bodyPr/>
          <a:lstStyle/>
          <a:p>
            <a:r>
              <a:rPr lang="zh-CN" altLang="en-US" dirty="0"/>
              <a:t>案例：生命游戏</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556002" y="804340"/>
            <a:ext cx="7840130" cy="5150115"/>
          </a:xfrm>
          <a:prstGeom prst="rect">
            <a:avLst/>
          </a:prstGeom>
          <a:blipFill>
            <a:blip r:embed="rId3" cstate="print"/>
            <a:stretch>
              <a:fillRect/>
            </a:stretch>
          </a:blipFill>
        </p:spPr>
        <p:txBody>
          <a:bodyPr wrap="square" lIns="0" tIns="0" rIns="0" bIns="0" rtlCol="0"/>
          <a:lstStyle/>
          <a:p>
            <a:endParaRPr/>
          </a:p>
        </p:txBody>
      </p:sp>
      <p:sp>
        <p:nvSpPr>
          <p:cNvPr id="3" name="object 3"/>
          <p:cNvSpPr/>
          <p:nvPr/>
        </p:nvSpPr>
        <p:spPr>
          <a:xfrm>
            <a:off x="3551239" y="799577"/>
            <a:ext cx="7849870" cy="5160010"/>
          </a:xfrm>
          <a:custGeom>
            <a:avLst/>
            <a:gdLst/>
            <a:ahLst/>
            <a:cxnLst/>
            <a:rect l="l" t="t" r="r" b="b"/>
            <a:pathLst>
              <a:path w="7849870" h="5160010">
                <a:moveTo>
                  <a:pt x="0" y="0"/>
                </a:moveTo>
                <a:lnTo>
                  <a:pt x="7849788" y="0"/>
                </a:lnTo>
                <a:lnTo>
                  <a:pt x="7849788" y="5159771"/>
                </a:lnTo>
                <a:lnTo>
                  <a:pt x="0" y="5159771"/>
                </a:lnTo>
                <a:lnTo>
                  <a:pt x="0" y="0"/>
                </a:lnTo>
                <a:close/>
              </a:path>
            </a:pathLst>
          </a:custGeom>
          <a:ln w="9524">
            <a:solidFill>
              <a:srgbClr val="919191"/>
            </a:solidFill>
          </a:ln>
        </p:spPr>
        <p:txBody>
          <a:bodyPr wrap="square" lIns="0" tIns="0" rIns="0" bIns="0" rtlCol="0"/>
          <a:lstStyle/>
          <a:p>
            <a:endParaRPr/>
          </a:p>
        </p:txBody>
      </p:sp>
      <p:sp>
        <p:nvSpPr>
          <p:cNvPr id="4" name="object 4"/>
          <p:cNvSpPr/>
          <p:nvPr/>
        </p:nvSpPr>
        <p:spPr>
          <a:xfrm>
            <a:off x="897479" y="3081868"/>
            <a:ext cx="2066289" cy="643890"/>
          </a:xfrm>
          <a:custGeom>
            <a:avLst/>
            <a:gdLst/>
            <a:ahLst/>
            <a:cxnLst/>
            <a:rect l="l" t="t" r="r" b="b"/>
            <a:pathLst>
              <a:path w="2066289" h="643889">
                <a:moveTo>
                  <a:pt x="0" y="0"/>
                </a:moveTo>
                <a:lnTo>
                  <a:pt x="2065866" y="0"/>
                </a:lnTo>
                <a:lnTo>
                  <a:pt x="2065866" y="643464"/>
                </a:lnTo>
                <a:lnTo>
                  <a:pt x="0" y="643464"/>
                </a:lnTo>
                <a:lnTo>
                  <a:pt x="0" y="0"/>
                </a:lnTo>
                <a:close/>
              </a:path>
            </a:pathLst>
          </a:custGeom>
          <a:solidFill>
            <a:srgbClr val="6C6C6C"/>
          </a:solidFill>
        </p:spPr>
        <p:txBody>
          <a:bodyPr wrap="square" lIns="0" tIns="0" rIns="0" bIns="0" rtlCol="0"/>
          <a:lstStyle/>
          <a:p>
            <a:endParaRPr/>
          </a:p>
        </p:txBody>
      </p:sp>
      <p:sp>
        <p:nvSpPr>
          <p:cNvPr id="5" name="object 5"/>
          <p:cNvSpPr txBox="1">
            <a:spLocks noGrp="1"/>
          </p:cNvSpPr>
          <p:nvPr>
            <p:ph type="title"/>
          </p:nvPr>
        </p:nvSpPr>
        <p:spPr>
          <a:xfrm>
            <a:off x="1361982" y="3199320"/>
            <a:ext cx="1143000" cy="360680"/>
          </a:xfrm>
          <a:prstGeom prst="rect">
            <a:avLst/>
          </a:prstGeom>
        </p:spPr>
        <p:txBody>
          <a:bodyPr vert="horz" wrap="square" lIns="0" tIns="12700" rIns="0" bIns="0" rtlCol="0">
            <a:spAutoFit/>
          </a:bodyPr>
          <a:lstStyle/>
          <a:p>
            <a:pPr marL="12700">
              <a:lnSpc>
                <a:spcPct val="100000"/>
              </a:lnSpc>
              <a:spcBef>
                <a:spcPts val="100"/>
              </a:spcBef>
            </a:pPr>
            <a:r>
              <a:rPr dirty="0">
                <a:solidFill>
                  <a:srgbClr val="FFFFFF"/>
                </a:solidFill>
                <a:latin typeface="微软雅黑" panose="020B0503020204020204" pitchFamily="34" charset="-122"/>
                <a:cs typeface="微软雅黑" panose="020B0503020204020204" pitchFamily="34" charset="-122"/>
              </a:rPr>
              <a:t>创建测试</a:t>
            </a:r>
          </a:p>
        </p:txBody>
      </p:sp>
      <p:sp>
        <p:nvSpPr>
          <p:cNvPr id="6" name="object 6"/>
          <p:cNvSpPr/>
          <p:nvPr/>
        </p:nvSpPr>
        <p:spPr>
          <a:xfrm>
            <a:off x="3048022" y="3217334"/>
            <a:ext cx="389890" cy="339090"/>
          </a:xfrm>
          <a:custGeom>
            <a:avLst/>
            <a:gdLst/>
            <a:ahLst/>
            <a:cxnLst/>
            <a:rect l="l" t="t" r="r" b="b"/>
            <a:pathLst>
              <a:path w="389889" h="339089">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7479" y="3081868"/>
            <a:ext cx="2066289" cy="643890"/>
          </a:xfrm>
          <a:custGeom>
            <a:avLst/>
            <a:gdLst/>
            <a:ahLst/>
            <a:cxnLst/>
            <a:rect l="l" t="t" r="r" b="b"/>
            <a:pathLst>
              <a:path w="2066289" h="643889">
                <a:moveTo>
                  <a:pt x="0" y="0"/>
                </a:moveTo>
                <a:lnTo>
                  <a:pt x="2065866" y="0"/>
                </a:lnTo>
                <a:lnTo>
                  <a:pt x="2065866" y="643464"/>
                </a:lnTo>
                <a:lnTo>
                  <a:pt x="0" y="643464"/>
                </a:lnTo>
                <a:lnTo>
                  <a:pt x="0" y="0"/>
                </a:lnTo>
                <a:close/>
              </a:path>
            </a:pathLst>
          </a:custGeom>
          <a:solidFill>
            <a:srgbClr val="6C6C6C"/>
          </a:solidFill>
        </p:spPr>
        <p:txBody>
          <a:bodyPr wrap="square" lIns="0" tIns="0" rIns="0" bIns="0" rtlCol="0"/>
          <a:lstStyle/>
          <a:p>
            <a:endParaRPr/>
          </a:p>
        </p:txBody>
      </p:sp>
      <p:sp>
        <p:nvSpPr>
          <p:cNvPr id="3" name="object 3"/>
          <p:cNvSpPr txBox="1">
            <a:spLocks noGrp="1"/>
          </p:cNvSpPr>
          <p:nvPr>
            <p:ph type="title"/>
          </p:nvPr>
        </p:nvSpPr>
        <p:spPr>
          <a:xfrm>
            <a:off x="1361982" y="3199320"/>
            <a:ext cx="1143000" cy="360680"/>
          </a:xfrm>
          <a:prstGeom prst="rect">
            <a:avLst/>
          </a:prstGeom>
        </p:spPr>
        <p:txBody>
          <a:bodyPr vert="horz" wrap="square" lIns="0" tIns="12700" rIns="0" bIns="0" rtlCol="0">
            <a:spAutoFit/>
          </a:bodyPr>
          <a:lstStyle/>
          <a:p>
            <a:pPr marL="12700">
              <a:lnSpc>
                <a:spcPct val="100000"/>
              </a:lnSpc>
              <a:spcBef>
                <a:spcPts val="100"/>
              </a:spcBef>
            </a:pPr>
            <a:r>
              <a:rPr dirty="0">
                <a:solidFill>
                  <a:srgbClr val="FFFFFF"/>
                </a:solidFill>
                <a:latin typeface="微软雅黑" panose="020B0503020204020204" pitchFamily="34" charset="-122"/>
                <a:cs typeface="微软雅黑" panose="020B0503020204020204" pitchFamily="34" charset="-122"/>
              </a:rPr>
              <a:t>创建测试</a:t>
            </a:r>
          </a:p>
        </p:txBody>
      </p:sp>
      <p:sp>
        <p:nvSpPr>
          <p:cNvPr id="4" name="object 4"/>
          <p:cNvSpPr/>
          <p:nvPr/>
        </p:nvSpPr>
        <p:spPr>
          <a:xfrm>
            <a:off x="3048022" y="3217334"/>
            <a:ext cx="389890" cy="339090"/>
          </a:xfrm>
          <a:custGeom>
            <a:avLst/>
            <a:gdLst/>
            <a:ahLst/>
            <a:cxnLst/>
            <a:rect l="l" t="t" r="r" b="b"/>
            <a:pathLst>
              <a:path w="389889" h="339089">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5" name="object 5"/>
          <p:cNvSpPr/>
          <p:nvPr/>
        </p:nvSpPr>
        <p:spPr>
          <a:xfrm>
            <a:off x="3721102" y="1341963"/>
            <a:ext cx="6948924" cy="4059767"/>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3716339" y="1337200"/>
            <a:ext cx="6958965" cy="4069715"/>
          </a:xfrm>
          <a:custGeom>
            <a:avLst/>
            <a:gdLst/>
            <a:ahLst/>
            <a:cxnLst/>
            <a:rect l="l" t="t" r="r" b="b"/>
            <a:pathLst>
              <a:path w="6958965" h="4069715">
                <a:moveTo>
                  <a:pt x="0" y="0"/>
                </a:moveTo>
                <a:lnTo>
                  <a:pt x="6958407" y="0"/>
                </a:lnTo>
                <a:lnTo>
                  <a:pt x="6958407" y="4069158"/>
                </a:lnTo>
                <a:lnTo>
                  <a:pt x="0" y="4069158"/>
                </a:lnTo>
                <a:lnTo>
                  <a:pt x="0" y="0"/>
                </a:lnTo>
                <a:close/>
              </a:path>
            </a:pathLst>
          </a:custGeom>
          <a:ln w="9524">
            <a:solidFill>
              <a:srgbClr val="919191"/>
            </a:solidFill>
          </a:ln>
        </p:spPr>
        <p:txBody>
          <a:bodyPr wrap="square" lIns="0" tIns="0" rIns="0" bIns="0" rtlCol="0"/>
          <a:lstStyle/>
          <a:p>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7479" y="3081868"/>
            <a:ext cx="2066289" cy="643890"/>
          </a:xfrm>
          <a:custGeom>
            <a:avLst/>
            <a:gdLst/>
            <a:ahLst/>
            <a:cxnLst/>
            <a:rect l="l" t="t" r="r" b="b"/>
            <a:pathLst>
              <a:path w="2066289" h="643889">
                <a:moveTo>
                  <a:pt x="0" y="0"/>
                </a:moveTo>
                <a:lnTo>
                  <a:pt x="2065866" y="0"/>
                </a:lnTo>
                <a:lnTo>
                  <a:pt x="2065866" y="643464"/>
                </a:lnTo>
                <a:lnTo>
                  <a:pt x="0" y="643464"/>
                </a:lnTo>
                <a:lnTo>
                  <a:pt x="0" y="0"/>
                </a:lnTo>
                <a:close/>
              </a:path>
            </a:pathLst>
          </a:custGeom>
          <a:solidFill>
            <a:srgbClr val="6C6C6C"/>
          </a:solidFill>
        </p:spPr>
        <p:txBody>
          <a:bodyPr wrap="square" lIns="0" tIns="0" rIns="0" bIns="0" rtlCol="0"/>
          <a:lstStyle/>
          <a:p>
            <a:endParaRPr/>
          </a:p>
        </p:txBody>
      </p:sp>
      <p:sp>
        <p:nvSpPr>
          <p:cNvPr id="3" name="object 3"/>
          <p:cNvSpPr txBox="1">
            <a:spLocks noGrp="1"/>
          </p:cNvSpPr>
          <p:nvPr>
            <p:ph type="title"/>
          </p:nvPr>
        </p:nvSpPr>
        <p:spPr>
          <a:xfrm>
            <a:off x="1361982" y="3199320"/>
            <a:ext cx="1143000" cy="360680"/>
          </a:xfrm>
          <a:prstGeom prst="rect">
            <a:avLst/>
          </a:prstGeom>
        </p:spPr>
        <p:txBody>
          <a:bodyPr vert="horz" wrap="square" lIns="0" tIns="12700" rIns="0" bIns="0" rtlCol="0">
            <a:spAutoFit/>
          </a:bodyPr>
          <a:lstStyle/>
          <a:p>
            <a:pPr marL="12700">
              <a:lnSpc>
                <a:spcPct val="100000"/>
              </a:lnSpc>
              <a:spcBef>
                <a:spcPts val="100"/>
              </a:spcBef>
            </a:pPr>
            <a:r>
              <a:rPr dirty="0">
                <a:solidFill>
                  <a:srgbClr val="FFFFFF"/>
                </a:solidFill>
                <a:latin typeface="微软雅黑" panose="020B0503020204020204" pitchFamily="34" charset="-122"/>
                <a:cs typeface="微软雅黑" panose="020B0503020204020204" pitchFamily="34" charset="-122"/>
              </a:rPr>
              <a:t>创建测试</a:t>
            </a:r>
          </a:p>
        </p:txBody>
      </p:sp>
      <p:sp>
        <p:nvSpPr>
          <p:cNvPr id="4" name="object 4"/>
          <p:cNvSpPr/>
          <p:nvPr/>
        </p:nvSpPr>
        <p:spPr>
          <a:xfrm>
            <a:off x="3048022" y="3217334"/>
            <a:ext cx="389890" cy="339090"/>
          </a:xfrm>
          <a:custGeom>
            <a:avLst/>
            <a:gdLst/>
            <a:ahLst/>
            <a:cxnLst/>
            <a:rect l="l" t="t" r="r" b="b"/>
            <a:pathLst>
              <a:path w="389889" h="339089">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5" name="object 5"/>
          <p:cNvSpPr/>
          <p:nvPr/>
        </p:nvSpPr>
        <p:spPr>
          <a:xfrm>
            <a:off x="3630228" y="254002"/>
            <a:ext cx="5073507" cy="6308165"/>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3625466" y="249240"/>
            <a:ext cx="5083175" cy="6318250"/>
          </a:xfrm>
          <a:custGeom>
            <a:avLst/>
            <a:gdLst/>
            <a:ahLst/>
            <a:cxnLst/>
            <a:rect l="l" t="t" r="r" b="b"/>
            <a:pathLst>
              <a:path w="5083175" h="6318250">
                <a:moveTo>
                  <a:pt x="0" y="0"/>
                </a:moveTo>
                <a:lnTo>
                  <a:pt x="5083173" y="0"/>
                </a:lnTo>
                <a:lnTo>
                  <a:pt x="5083173" y="6317850"/>
                </a:lnTo>
                <a:lnTo>
                  <a:pt x="0" y="6317850"/>
                </a:lnTo>
                <a:lnTo>
                  <a:pt x="0" y="0"/>
                </a:lnTo>
                <a:close/>
              </a:path>
            </a:pathLst>
          </a:custGeom>
          <a:ln w="9524">
            <a:solidFill>
              <a:srgbClr val="919191"/>
            </a:solidFill>
          </a:ln>
        </p:spPr>
        <p:txBody>
          <a:bodyPr wrap="square" lIns="0" tIns="0" rIns="0" bIns="0" rtlCol="0"/>
          <a:lstStyle/>
          <a:p>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7479" y="3081868"/>
            <a:ext cx="2066289" cy="643890"/>
          </a:xfrm>
          <a:custGeom>
            <a:avLst/>
            <a:gdLst/>
            <a:ahLst/>
            <a:cxnLst/>
            <a:rect l="l" t="t" r="r" b="b"/>
            <a:pathLst>
              <a:path w="2066289" h="643889">
                <a:moveTo>
                  <a:pt x="0" y="0"/>
                </a:moveTo>
                <a:lnTo>
                  <a:pt x="2065866" y="0"/>
                </a:lnTo>
                <a:lnTo>
                  <a:pt x="2065866" y="643464"/>
                </a:lnTo>
                <a:lnTo>
                  <a:pt x="0" y="643464"/>
                </a:lnTo>
                <a:lnTo>
                  <a:pt x="0" y="0"/>
                </a:lnTo>
                <a:close/>
              </a:path>
            </a:pathLst>
          </a:custGeom>
          <a:solidFill>
            <a:srgbClr val="6C6C6C"/>
          </a:solidFill>
        </p:spPr>
        <p:txBody>
          <a:bodyPr wrap="square" lIns="0" tIns="0" rIns="0" bIns="0" rtlCol="0"/>
          <a:lstStyle/>
          <a:p>
            <a:endParaRPr/>
          </a:p>
        </p:txBody>
      </p:sp>
      <p:sp>
        <p:nvSpPr>
          <p:cNvPr id="3" name="object 3"/>
          <p:cNvSpPr txBox="1">
            <a:spLocks noGrp="1"/>
          </p:cNvSpPr>
          <p:nvPr>
            <p:ph type="title"/>
          </p:nvPr>
        </p:nvSpPr>
        <p:spPr>
          <a:xfrm>
            <a:off x="1361982" y="3199320"/>
            <a:ext cx="1143000" cy="360680"/>
          </a:xfrm>
          <a:prstGeom prst="rect">
            <a:avLst/>
          </a:prstGeom>
        </p:spPr>
        <p:txBody>
          <a:bodyPr vert="horz" wrap="square" lIns="0" tIns="12700" rIns="0" bIns="0" rtlCol="0">
            <a:spAutoFit/>
          </a:bodyPr>
          <a:lstStyle/>
          <a:p>
            <a:pPr marL="12700">
              <a:lnSpc>
                <a:spcPct val="100000"/>
              </a:lnSpc>
              <a:spcBef>
                <a:spcPts val="100"/>
              </a:spcBef>
            </a:pPr>
            <a:r>
              <a:rPr dirty="0">
                <a:solidFill>
                  <a:srgbClr val="FFFFFF"/>
                </a:solidFill>
                <a:latin typeface="微软雅黑" panose="020B0503020204020204" pitchFamily="34" charset="-122"/>
                <a:cs typeface="微软雅黑" panose="020B0503020204020204" pitchFamily="34" charset="-122"/>
              </a:rPr>
              <a:t>创建测试</a:t>
            </a:r>
          </a:p>
        </p:txBody>
      </p:sp>
      <p:sp>
        <p:nvSpPr>
          <p:cNvPr id="4" name="object 4"/>
          <p:cNvSpPr/>
          <p:nvPr/>
        </p:nvSpPr>
        <p:spPr>
          <a:xfrm>
            <a:off x="3048022" y="3217334"/>
            <a:ext cx="389890" cy="339090"/>
          </a:xfrm>
          <a:custGeom>
            <a:avLst/>
            <a:gdLst/>
            <a:ahLst/>
            <a:cxnLst/>
            <a:rect l="l" t="t" r="r" b="b"/>
            <a:pathLst>
              <a:path w="389889" h="339089">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5" name="object 5"/>
          <p:cNvSpPr/>
          <p:nvPr/>
        </p:nvSpPr>
        <p:spPr>
          <a:xfrm>
            <a:off x="3627966" y="255600"/>
            <a:ext cx="5068295" cy="6335999"/>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3623204" y="250837"/>
            <a:ext cx="5078095" cy="6346190"/>
          </a:xfrm>
          <a:custGeom>
            <a:avLst/>
            <a:gdLst/>
            <a:ahLst/>
            <a:cxnLst/>
            <a:rect l="l" t="t" r="r" b="b"/>
            <a:pathLst>
              <a:path w="5078095" h="6346190">
                <a:moveTo>
                  <a:pt x="0" y="0"/>
                </a:moveTo>
                <a:lnTo>
                  <a:pt x="5078013" y="0"/>
                </a:lnTo>
                <a:lnTo>
                  <a:pt x="5078013" y="6345632"/>
                </a:lnTo>
                <a:lnTo>
                  <a:pt x="0" y="6345632"/>
                </a:lnTo>
                <a:lnTo>
                  <a:pt x="0" y="0"/>
                </a:lnTo>
                <a:close/>
              </a:path>
            </a:pathLst>
          </a:custGeom>
          <a:ln w="9524">
            <a:solidFill>
              <a:srgbClr val="919191"/>
            </a:solidFill>
          </a:ln>
        </p:spPr>
        <p:txBody>
          <a:bodyPr wrap="square" lIns="0" tIns="0" rIns="0" bIns="0" rtlCol="0"/>
          <a:lstStyle/>
          <a:p>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7479" y="3081868"/>
            <a:ext cx="2066289" cy="643890"/>
          </a:xfrm>
          <a:custGeom>
            <a:avLst/>
            <a:gdLst/>
            <a:ahLst/>
            <a:cxnLst/>
            <a:rect l="l" t="t" r="r" b="b"/>
            <a:pathLst>
              <a:path w="2066289" h="643889">
                <a:moveTo>
                  <a:pt x="0" y="0"/>
                </a:moveTo>
                <a:lnTo>
                  <a:pt x="2065866" y="0"/>
                </a:lnTo>
                <a:lnTo>
                  <a:pt x="2065866" y="643464"/>
                </a:lnTo>
                <a:lnTo>
                  <a:pt x="0" y="643464"/>
                </a:lnTo>
                <a:lnTo>
                  <a:pt x="0" y="0"/>
                </a:lnTo>
                <a:close/>
              </a:path>
            </a:pathLst>
          </a:custGeom>
          <a:solidFill>
            <a:srgbClr val="6C6C6C"/>
          </a:solidFill>
        </p:spPr>
        <p:txBody>
          <a:bodyPr wrap="square" lIns="0" tIns="0" rIns="0" bIns="0" rtlCol="0"/>
          <a:lstStyle/>
          <a:p>
            <a:endParaRPr/>
          </a:p>
        </p:txBody>
      </p:sp>
      <p:sp>
        <p:nvSpPr>
          <p:cNvPr id="3" name="object 3"/>
          <p:cNvSpPr txBox="1">
            <a:spLocks noGrp="1"/>
          </p:cNvSpPr>
          <p:nvPr>
            <p:ph type="title"/>
          </p:nvPr>
        </p:nvSpPr>
        <p:spPr>
          <a:xfrm>
            <a:off x="1361982" y="3199320"/>
            <a:ext cx="1143000" cy="360680"/>
          </a:xfrm>
          <a:prstGeom prst="rect">
            <a:avLst/>
          </a:prstGeom>
        </p:spPr>
        <p:txBody>
          <a:bodyPr vert="horz" wrap="square" lIns="0" tIns="12700" rIns="0" bIns="0" rtlCol="0">
            <a:spAutoFit/>
          </a:bodyPr>
          <a:lstStyle/>
          <a:p>
            <a:pPr marL="12700">
              <a:lnSpc>
                <a:spcPct val="100000"/>
              </a:lnSpc>
              <a:spcBef>
                <a:spcPts val="100"/>
              </a:spcBef>
            </a:pPr>
            <a:r>
              <a:rPr dirty="0">
                <a:solidFill>
                  <a:srgbClr val="FFFFFF"/>
                </a:solidFill>
                <a:latin typeface="微软雅黑" panose="020B0503020204020204" pitchFamily="34" charset="-122"/>
                <a:cs typeface="微软雅黑" panose="020B0503020204020204" pitchFamily="34" charset="-122"/>
              </a:rPr>
              <a:t>创建测试</a:t>
            </a:r>
          </a:p>
        </p:txBody>
      </p:sp>
      <p:sp>
        <p:nvSpPr>
          <p:cNvPr id="4" name="object 4"/>
          <p:cNvSpPr/>
          <p:nvPr/>
        </p:nvSpPr>
        <p:spPr>
          <a:xfrm>
            <a:off x="3048022" y="3217334"/>
            <a:ext cx="389890" cy="339090"/>
          </a:xfrm>
          <a:custGeom>
            <a:avLst/>
            <a:gdLst/>
            <a:ahLst/>
            <a:cxnLst/>
            <a:rect l="l" t="t" r="r" b="b"/>
            <a:pathLst>
              <a:path w="389889" h="339089">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5" name="object 5"/>
          <p:cNvSpPr/>
          <p:nvPr/>
        </p:nvSpPr>
        <p:spPr>
          <a:xfrm>
            <a:off x="3793066" y="406400"/>
            <a:ext cx="5093394" cy="6075445"/>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3788304" y="401637"/>
            <a:ext cx="5103495" cy="6085205"/>
          </a:xfrm>
          <a:custGeom>
            <a:avLst/>
            <a:gdLst/>
            <a:ahLst/>
            <a:cxnLst/>
            <a:rect l="l" t="t" r="r" b="b"/>
            <a:pathLst>
              <a:path w="5103495" h="6085205">
                <a:moveTo>
                  <a:pt x="0" y="0"/>
                </a:moveTo>
                <a:lnTo>
                  <a:pt x="5103017" y="0"/>
                </a:lnTo>
                <a:lnTo>
                  <a:pt x="5103017" y="6084885"/>
                </a:lnTo>
                <a:lnTo>
                  <a:pt x="0" y="6084885"/>
                </a:lnTo>
                <a:lnTo>
                  <a:pt x="0" y="0"/>
                </a:lnTo>
                <a:close/>
              </a:path>
            </a:pathLst>
          </a:custGeom>
          <a:ln w="9524">
            <a:solidFill>
              <a:srgbClr val="919191"/>
            </a:solidFill>
          </a:ln>
        </p:spPr>
        <p:txBody>
          <a:bodyPr wrap="square" lIns="0" tIns="0" rIns="0" bIns="0" rtlCol="0"/>
          <a:lstStyle/>
          <a:p>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7479" y="3081868"/>
            <a:ext cx="2066289" cy="643890"/>
          </a:xfrm>
          <a:custGeom>
            <a:avLst/>
            <a:gdLst/>
            <a:ahLst/>
            <a:cxnLst/>
            <a:rect l="l" t="t" r="r" b="b"/>
            <a:pathLst>
              <a:path w="2066289" h="643889">
                <a:moveTo>
                  <a:pt x="0" y="0"/>
                </a:moveTo>
                <a:lnTo>
                  <a:pt x="2065866" y="0"/>
                </a:lnTo>
                <a:lnTo>
                  <a:pt x="2065866" y="643464"/>
                </a:lnTo>
                <a:lnTo>
                  <a:pt x="0" y="643464"/>
                </a:lnTo>
                <a:lnTo>
                  <a:pt x="0" y="0"/>
                </a:lnTo>
                <a:close/>
              </a:path>
            </a:pathLst>
          </a:custGeom>
          <a:solidFill>
            <a:srgbClr val="6C6C6C"/>
          </a:solidFill>
        </p:spPr>
        <p:txBody>
          <a:bodyPr wrap="square" lIns="0" tIns="0" rIns="0" bIns="0" rtlCol="0"/>
          <a:lstStyle/>
          <a:p>
            <a:endParaRPr/>
          </a:p>
        </p:txBody>
      </p:sp>
      <p:sp>
        <p:nvSpPr>
          <p:cNvPr id="3" name="object 3"/>
          <p:cNvSpPr txBox="1">
            <a:spLocks noGrp="1"/>
          </p:cNvSpPr>
          <p:nvPr>
            <p:ph type="title"/>
          </p:nvPr>
        </p:nvSpPr>
        <p:spPr>
          <a:xfrm>
            <a:off x="1361982" y="3199320"/>
            <a:ext cx="1143000" cy="360680"/>
          </a:xfrm>
          <a:prstGeom prst="rect">
            <a:avLst/>
          </a:prstGeom>
        </p:spPr>
        <p:txBody>
          <a:bodyPr vert="horz" wrap="square" lIns="0" tIns="12700" rIns="0" bIns="0" rtlCol="0">
            <a:spAutoFit/>
          </a:bodyPr>
          <a:lstStyle/>
          <a:p>
            <a:pPr marL="12700">
              <a:lnSpc>
                <a:spcPct val="100000"/>
              </a:lnSpc>
              <a:spcBef>
                <a:spcPts val="100"/>
              </a:spcBef>
            </a:pPr>
            <a:r>
              <a:rPr dirty="0">
                <a:solidFill>
                  <a:srgbClr val="FFFFFF"/>
                </a:solidFill>
                <a:latin typeface="微软雅黑" panose="020B0503020204020204" pitchFamily="34" charset="-122"/>
                <a:cs typeface="微软雅黑" panose="020B0503020204020204" pitchFamily="34" charset="-122"/>
              </a:rPr>
              <a:t>运行测试</a:t>
            </a:r>
          </a:p>
        </p:txBody>
      </p:sp>
      <p:sp>
        <p:nvSpPr>
          <p:cNvPr id="4" name="object 4"/>
          <p:cNvSpPr/>
          <p:nvPr/>
        </p:nvSpPr>
        <p:spPr>
          <a:xfrm>
            <a:off x="3048022" y="3217334"/>
            <a:ext cx="389890" cy="339090"/>
          </a:xfrm>
          <a:custGeom>
            <a:avLst/>
            <a:gdLst/>
            <a:ahLst/>
            <a:cxnLst/>
            <a:rect l="l" t="t" r="r" b="b"/>
            <a:pathLst>
              <a:path w="389889" h="339089">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5" name="object 5"/>
          <p:cNvSpPr/>
          <p:nvPr/>
        </p:nvSpPr>
        <p:spPr>
          <a:xfrm>
            <a:off x="3683472" y="247651"/>
            <a:ext cx="6547888" cy="6373282"/>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3678709" y="242889"/>
            <a:ext cx="6557645" cy="6383020"/>
          </a:xfrm>
          <a:custGeom>
            <a:avLst/>
            <a:gdLst/>
            <a:ahLst/>
            <a:cxnLst/>
            <a:rect l="l" t="t" r="r" b="b"/>
            <a:pathLst>
              <a:path w="6557645" h="6383020">
                <a:moveTo>
                  <a:pt x="0" y="0"/>
                </a:moveTo>
                <a:lnTo>
                  <a:pt x="6557563" y="0"/>
                </a:lnTo>
                <a:lnTo>
                  <a:pt x="6557563" y="6382938"/>
                </a:lnTo>
                <a:lnTo>
                  <a:pt x="0" y="6382938"/>
                </a:lnTo>
                <a:lnTo>
                  <a:pt x="0" y="0"/>
                </a:lnTo>
                <a:close/>
              </a:path>
            </a:pathLst>
          </a:custGeom>
          <a:ln w="9524">
            <a:solidFill>
              <a:srgbClr val="919191"/>
            </a:solidFill>
          </a:ln>
        </p:spPr>
        <p:txBody>
          <a:bodyPr wrap="square" lIns="0" tIns="0" rIns="0" bIns="0" rtlCol="0"/>
          <a:lstStyle/>
          <a:p>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92405" y="4621955"/>
            <a:ext cx="5111750" cy="391160"/>
          </a:xfrm>
          <a:prstGeom prst="rect">
            <a:avLst/>
          </a:prstGeom>
        </p:spPr>
        <p:txBody>
          <a:bodyPr vert="horz" wrap="square" lIns="0" tIns="12700" rIns="0" bIns="0" rtlCol="0">
            <a:spAutoFit/>
          </a:bodyPr>
          <a:lstStyle/>
          <a:p>
            <a:pPr marL="12700">
              <a:lnSpc>
                <a:spcPct val="100000"/>
              </a:lnSpc>
              <a:spcBef>
                <a:spcPts val="100"/>
              </a:spcBef>
            </a:pPr>
            <a:r>
              <a:rPr sz="2400" spc="-20" dirty="0">
                <a:latin typeface="Arial" panose="020B0604020202020204"/>
                <a:cs typeface="Arial" panose="020B0604020202020204"/>
              </a:rPr>
              <a:t>TestCase.fail()</a:t>
            </a:r>
            <a:r>
              <a:rPr sz="2400" spc="-40" dirty="0">
                <a:latin typeface="Arial" panose="020B0604020202020204"/>
                <a:cs typeface="Arial" panose="020B0604020202020204"/>
              </a:rPr>
              <a:t> </a:t>
            </a:r>
            <a:r>
              <a:rPr sz="2400" dirty="0">
                <a:latin typeface="微软雅黑" panose="020B0503020204020204" pitchFamily="34" charset="-122"/>
                <a:cs typeface="微软雅黑" panose="020B0503020204020204" pitchFamily="34" charset="-122"/>
              </a:rPr>
              <a:t>无条件使当前测试失败</a:t>
            </a:r>
            <a:endParaRPr sz="2400">
              <a:latin typeface="微软雅黑" panose="020B0503020204020204" pitchFamily="34" charset="-122"/>
              <a:cs typeface="微软雅黑" panose="020B0503020204020204" pitchFamily="34" charset="-122"/>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490965"/>
            <a:ext cx="12065527" cy="313099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7479" y="3081868"/>
            <a:ext cx="2066289" cy="643890"/>
          </a:xfrm>
          <a:custGeom>
            <a:avLst/>
            <a:gdLst/>
            <a:ahLst/>
            <a:cxnLst/>
            <a:rect l="l" t="t" r="r" b="b"/>
            <a:pathLst>
              <a:path w="2066289" h="643889">
                <a:moveTo>
                  <a:pt x="0" y="0"/>
                </a:moveTo>
                <a:lnTo>
                  <a:pt x="2065866" y="0"/>
                </a:lnTo>
                <a:lnTo>
                  <a:pt x="2065866" y="643464"/>
                </a:lnTo>
                <a:lnTo>
                  <a:pt x="0" y="643464"/>
                </a:lnTo>
                <a:lnTo>
                  <a:pt x="0" y="0"/>
                </a:lnTo>
                <a:close/>
              </a:path>
            </a:pathLst>
          </a:custGeom>
          <a:solidFill>
            <a:srgbClr val="6C6C6C"/>
          </a:solidFill>
        </p:spPr>
        <p:txBody>
          <a:bodyPr wrap="square" lIns="0" tIns="0" rIns="0" bIns="0" rtlCol="0"/>
          <a:lstStyle/>
          <a:p>
            <a:endParaRPr/>
          </a:p>
        </p:txBody>
      </p:sp>
      <p:sp>
        <p:nvSpPr>
          <p:cNvPr id="3" name="object 3"/>
          <p:cNvSpPr txBox="1">
            <a:spLocks noGrp="1"/>
          </p:cNvSpPr>
          <p:nvPr>
            <p:ph type="title"/>
          </p:nvPr>
        </p:nvSpPr>
        <p:spPr>
          <a:xfrm>
            <a:off x="1361982" y="3199320"/>
            <a:ext cx="1143000" cy="360680"/>
          </a:xfrm>
          <a:prstGeom prst="rect">
            <a:avLst/>
          </a:prstGeom>
        </p:spPr>
        <p:txBody>
          <a:bodyPr vert="horz" wrap="square" lIns="0" tIns="12700" rIns="0" bIns="0" rtlCol="0">
            <a:spAutoFit/>
          </a:bodyPr>
          <a:lstStyle/>
          <a:p>
            <a:pPr marL="12700">
              <a:lnSpc>
                <a:spcPct val="100000"/>
              </a:lnSpc>
              <a:spcBef>
                <a:spcPts val="100"/>
              </a:spcBef>
            </a:pPr>
            <a:r>
              <a:rPr dirty="0">
                <a:solidFill>
                  <a:srgbClr val="FFFFFF"/>
                </a:solidFill>
                <a:latin typeface="微软雅黑" panose="020B0503020204020204" pitchFamily="34" charset="-122"/>
                <a:cs typeface="微软雅黑" panose="020B0503020204020204" pitchFamily="34" charset="-122"/>
              </a:rPr>
              <a:t>创建测试</a:t>
            </a:r>
          </a:p>
        </p:txBody>
      </p:sp>
      <p:sp>
        <p:nvSpPr>
          <p:cNvPr id="4" name="object 4"/>
          <p:cNvSpPr/>
          <p:nvPr/>
        </p:nvSpPr>
        <p:spPr>
          <a:xfrm>
            <a:off x="3048022" y="3217334"/>
            <a:ext cx="389890" cy="339090"/>
          </a:xfrm>
          <a:custGeom>
            <a:avLst/>
            <a:gdLst/>
            <a:ahLst/>
            <a:cxnLst/>
            <a:rect l="l" t="t" r="r" b="b"/>
            <a:pathLst>
              <a:path w="389889" h="339089">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5" name="object 5"/>
          <p:cNvSpPr/>
          <p:nvPr/>
        </p:nvSpPr>
        <p:spPr>
          <a:xfrm>
            <a:off x="3793066" y="406400"/>
            <a:ext cx="5093394" cy="6075445"/>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3788304" y="401637"/>
            <a:ext cx="5103495" cy="6085205"/>
          </a:xfrm>
          <a:custGeom>
            <a:avLst/>
            <a:gdLst/>
            <a:ahLst/>
            <a:cxnLst/>
            <a:rect l="l" t="t" r="r" b="b"/>
            <a:pathLst>
              <a:path w="5103495" h="6085205">
                <a:moveTo>
                  <a:pt x="0" y="0"/>
                </a:moveTo>
                <a:lnTo>
                  <a:pt x="5103017" y="0"/>
                </a:lnTo>
                <a:lnTo>
                  <a:pt x="5103017" y="6084885"/>
                </a:lnTo>
                <a:lnTo>
                  <a:pt x="0" y="6084885"/>
                </a:lnTo>
                <a:lnTo>
                  <a:pt x="0" y="0"/>
                </a:lnTo>
                <a:close/>
              </a:path>
            </a:pathLst>
          </a:custGeom>
          <a:ln w="9524">
            <a:solidFill>
              <a:srgbClr val="919191"/>
            </a:solidFill>
          </a:ln>
        </p:spPr>
        <p:txBody>
          <a:bodyPr wrap="square" lIns="0" tIns="0" rIns="0" bIns="0" rtlCol="0"/>
          <a:lstStyle/>
          <a:p>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723104" y="1978802"/>
            <a:ext cx="11468896" cy="4071802"/>
            <a:chOff x="1047352" y="2017713"/>
            <a:chExt cx="10149621" cy="3235967"/>
          </a:xfrm>
        </p:grpSpPr>
        <p:sp>
          <p:nvSpPr>
            <p:cNvPr id="3" name="object 3"/>
            <p:cNvSpPr txBox="1"/>
            <p:nvPr/>
          </p:nvSpPr>
          <p:spPr>
            <a:xfrm>
              <a:off x="1047352" y="3516006"/>
              <a:ext cx="2455545" cy="643890"/>
            </a:xfrm>
            <a:prstGeom prst="rect">
              <a:avLst/>
            </a:prstGeom>
            <a:solidFill>
              <a:srgbClr val="6C6C6C"/>
            </a:solidFill>
          </p:spPr>
          <p:txBody>
            <a:bodyPr vert="horz" wrap="square" lIns="0" tIns="130175" rIns="0" bIns="0" rtlCol="0">
              <a:spAutoFit/>
            </a:bodyPr>
            <a:lstStyle/>
            <a:p>
              <a:pPr marL="290830">
                <a:lnSpc>
                  <a:spcPct val="100000"/>
                </a:lnSpc>
                <a:spcBef>
                  <a:spcPts val="1025"/>
                </a:spcBef>
              </a:pPr>
              <a:r>
                <a:rPr sz="2200" dirty="0">
                  <a:solidFill>
                    <a:srgbClr val="FFFFFF"/>
                  </a:solidFill>
                  <a:latin typeface="微软雅黑" panose="020B0503020204020204" pitchFamily="34" charset="-122"/>
                  <a:cs typeface="微软雅黑" panose="020B0503020204020204" pitchFamily="34" charset="-122"/>
                </a:rPr>
                <a:t>创建测试</a:t>
              </a:r>
              <a:r>
                <a:rPr sz="2200" spc="-5" dirty="0">
                  <a:solidFill>
                    <a:srgbClr val="FFFFFF"/>
                  </a:solidFill>
                  <a:latin typeface="Arial" panose="020B0604020202020204"/>
                  <a:cs typeface="Arial" panose="020B0604020202020204"/>
                </a:rPr>
                <a:t>fixture</a:t>
              </a:r>
              <a:endParaRPr sz="2200">
                <a:latin typeface="Arial" panose="020B0604020202020204"/>
                <a:cs typeface="Arial" panose="020B0604020202020204"/>
              </a:endParaRPr>
            </a:p>
          </p:txBody>
        </p:sp>
        <p:sp>
          <p:nvSpPr>
            <p:cNvPr id="4" name="object 4"/>
            <p:cNvSpPr/>
            <p:nvPr/>
          </p:nvSpPr>
          <p:spPr>
            <a:xfrm>
              <a:off x="3672019" y="3651472"/>
              <a:ext cx="389890" cy="339090"/>
            </a:xfrm>
            <a:custGeom>
              <a:avLst/>
              <a:gdLst/>
              <a:ahLst/>
              <a:cxnLst/>
              <a:rect l="l" t="t" r="r" b="b"/>
              <a:pathLst>
                <a:path w="389889" h="339089">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5" name="object 5"/>
            <p:cNvSpPr txBox="1"/>
            <p:nvPr/>
          </p:nvSpPr>
          <p:spPr>
            <a:xfrm>
              <a:off x="4264691" y="2017713"/>
              <a:ext cx="6316345" cy="1390015"/>
            </a:xfrm>
            <a:prstGeom prst="rect">
              <a:avLst/>
            </a:prstGeom>
            <a:ln w="19049">
              <a:solidFill>
                <a:srgbClr val="919191"/>
              </a:solidFill>
            </a:ln>
          </p:spPr>
          <p:txBody>
            <a:bodyPr vert="horz" wrap="square" lIns="0" tIns="121920" rIns="0" bIns="0" rtlCol="0">
              <a:spAutoFit/>
            </a:bodyPr>
            <a:lstStyle/>
            <a:p>
              <a:pPr marL="624840" indent="-355600">
                <a:lnSpc>
                  <a:spcPct val="100000"/>
                </a:lnSpc>
                <a:spcBef>
                  <a:spcPts val="960"/>
                </a:spcBef>
                <a:buChar char="•"/>
                <a:tabLst>
                  <a:tab pos="624205" algn="l"/>
                  <a:tab pos="624840" algn="l"/>
                </a:tabLst>
              </a:pPr>
              <a:r>
                <a:rPr sz="2000" spc="-5" dirty="0">
                  <a:latin typeface="Arial" panose="020B0604020202020204"/>
                  <a:cs typeface="Arial" panose="020B0604020202020204"/>
                </a:rPr>
                <a:t>setUp</a:t>
              </a:r>
              <a:r>
                <a:rPr sz="2000" dirty="0">
                  <a:latin typeface="微软雅黑" panose="020B0503020204020204" pitchFamily="34" charset="-122"/>
                  <a:cs typeface="微软雅黑" panose="020B0503020204020204" pitchFamily="34" charset="-122"/>
                </a:rPr>
                <a:t>方法：创建每个测试方法都需要的公共对象</a:t>
              </a:r>
              <a:endParaRPr sz="2000">
                <a:latin typeface="微软雅黑" panose="020B0503020204020204" pitchFamily="34" charset="-122"/>
                <a:cs typeface="微软雅黑" panose="020B0503020204020204" pitchFamily="34" charset="-122"/>
              </a:endParaRPr>
            </a:p>
            <a:p>
              <a:pPr marL="624840" marR="24130" indent="-355600">
                <a:lnSpc>
                  <a:spcPct val="129000"/>
                </a:lnSpc>
                <a:spcBef>
                  <a:spcPts val="500"/>
                </a:spcBef>
                <a:buChar char="•"/>
                <a:tabLst>
                  <a:tab pos="624205" algn="l"/>
                  <a:tab pos="624840" algn="l"/>
                </a:tabLst>
              </a:pPr>
              <a:r>
                <a:rPr sz="2000" spc="-5" dirty="0">
                  <a:latin typeface="Arial" panose="020B0604020202020204"/>
                  <a:cs typeface="Arial" panose="020B0604020202020204"/>
                </a:rPr>
                <a:t>t</a:t>
              </a:r>
              <a:r>
                <a:rPr sz="2000" dirty="0">
                  <a:latin typeface="Arial" panose="020B0604020202020204"/>
                  <a:cs typeface="Arial" panose="020B0604020202020204"/>
                </a:rPr>
                <a:t>earDow</a:t>
              </a:r>
              <a:r>
                <a:rPr sz="2000" spc="-5" dirty="0">
                  <a:latin typeface="Arial" panose="020B0604020202020204"/>
                  <a:cs typeface="Arial" panose="020B0604020202020204"/>
                </a:rPr>
                <a:t>n</a:t>
              </a:r>
              <a:r>
                <a:rPr sz="2000" dirty="0">
                  <a:latin typeface="微软雅黑" panose="020B0503020204020204" pitchFamily="34" charset="-122"/>
                  <a:cs typeface="微软雅黑" panose="020B0503020204020204" pitchFamily="34" charset="-122"/>
                </a:rPr>
                <a:t>方法：销毁公共对象（如果需要的话）， 如数据库断开连接等</a:t>
              </a:r>
              <a:endParaRPr sz="2000">
                <a:latin typeface="微软雅黑" panose="020B0503020204020204" pitchFamily="34" charset="-122"/>
                <a:cs typeface="微软雅黑" panose="020B0503020204020204" pitchFamily="34" charset="-122"/>
              </a:endParaRPr>
            </a:p>
          </p:txBody>
        </p:sp>
        <p:sp>
          <p:nvSpPr>
            <p:cNvPr id="6" name="object 6"/>
            <p:cNvSpPr txBox="1"/>
            <p:nvPr/>
          </p:nvSpPr>
          <p:spPr>
            <a:xfrm>
              <a:off x="4241818" y="3623798"/>
              <a:ext cx="6955155"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微软雅黑" panose="020B0503020204020204" pitchFamily="34" charset="-122"/>
                  <a:cs typeface="微软雅黑" panose="020B0503020204020204" pitchFamily="34" charset="-122"/>
                </a:rPr>
                <a:t>这里只需要</a:t>
              </a:r>
              <a:r>
                <a:rPr sz="2000" spc="-5" dirty="0">
                  <a:latin typeface="Arial" panose="020B0604020202020204"/>
                  <a:cs typeface="Arial" panose="020B0604020202020204"/>
                </a:rPr>
                <a:t>setUp</a:t>
              </a:r>
              <a:r>
                <a:rPr sz="2000" dirty="0">
                  <a:latin typeface="微软雅黑" panose="020B0503020204020204" pitchFamily="34" charset="-122"/>
                  <a:cs typeface="微软雅黑" panose="020B0503020204020204" pitchFamily="34" charset="-122"/>
                </a:rPr>
                <a:t>方法，并在其中创建一个</a:t>
              </a:r>
              <a:r>
                <a:rPr sz="2000" spc="-5" dirty="0">
                  <a:latin typeface="Arial" panose="020B0604020202020204"/>
                  <a:cs typeface="Arial" panose="020B0604020202020204"/>
                </a:rPr>
                <a:t>GameMap</a:t>
              </a:r>
              <a:r>
                <a:rPr sz="2000" dirty="0">
                  <a:latin typeface="微软雅黑" panose="020B0503020204020204" pitchFamily="34" charset="-122"/>
                  <a:cs typeface="微软雅黑" panose="020B0503020204020204" pitchFamily="34" charset="-122"/>
                </a:rPr>
                <a:t>待测对象</a:t>
              </a:r>
              <a:endParaRPr sz="2000">
                <a:latin typeface="微软雅黑" panose="020B0503020204020204" pitchFamily="34" charset="-122"/>
                <a:cs typeface="微软雅黑" panose="020B0503020204020204" pitchFamily="34" charset="-122"/>
              </a:endParaRPr>
            </a:p>
          </p:txBody>
        </p:sp>
        <p:sp>
          <p:nvSpPr>
            <p:cNvPr id="7" name="object 7"/>
            <p:cNvSpPr/>
            <p:nvPr/>
          </p:nvSpPr>
          <p:spPr>
            <a:xfrm>
              <a:off x="4266797" y="4229742"/>
              <a:ext cx="5131566" cy="1018821"/>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4262035" y="4224980"/>
              <a:ext cx="5358765" cy="1028700"/>
            </a:xfrm>
            <a:custGeom>
              <a:avLst/>
              <a:gdLst/>
              <a:ahLst/>
              <a:cxnLst/>
              <a:rect l="l" t="t" r="r" b="b"/>
              <a:pathLst>
                <a:path w="5358765" h="1028700">
                  <a:moveTo>
                    <a:pt x="0" y="0"/>
                  </a:moveTo>
                  <a:lnTo>
                    <a:pt x="5358206" y="0"/>
                  </a:lnTo>
                  <a:lnTo>
                    <a:pt x="5358206" y="1028303"/>
                  </a:lnTo>
                  <a:lnTo>
                    <a:pt x="0" y="1028303"/>
                  </a:lnTo>
                  <a:lnTo>
                    <a:pt x="0" y="0"/>
                  </a:lnTo>
                  <a:close/>
                </a:path>
              </a:pathLst>
            </a:custGeom>
            <a:ln w="9524">
              <a:solidFill>
                <a:srgbClr val="919191"/>
              </a:solidFill>
            </a:ln>
          </p:spPr>
          <p:txBody>
            <a:bodyPr wrap="square" lIns="0" tIns="0" rIns="0" bIns="0" rtlCol="0"/>
            <a:lstStyle/>
            <a:p>
              <a:endParaRPr/>
            </a:p>
          </p:txBody>
        </p:sp>
      </p:grpSp>
      <p:sp>
        <p:nvSpPr>
          <p:cNvPr id="10" name="标题 9"/>
          <p:cNvSpPr>
            <a:spLocks noGrp="1"/>
          </p:cNvSpPr>
          <p:nvPr>
            <p:ph type="title"/>
          </p:nvPr>
        </p:nvSpPr>
        <p:spPr/>
        <p:txBody>
          <a:bodyPr/>
          <a:lstStyle/>
          <a:p>
            <a:r>
              <a:rPr lang="zh-CN" altLang="en-US" dirty="0"/>
              <a:t>案例：生命游戏</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749694" y="2425390"/>
            <a:ext cx="2199005" cy="360680"/>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CC0000"/>
                </a:solidFill>
                <a:latin typeface="微软雅黑" panose="020B0503020204020204" pitchFamily="34" charset="-122"/>
                <a:cs typeface="微软雅黑" panose="020B0503020204020204" pitchFamily="34" charset="-122"/>
              </a:rPr>
              <a:t>测试</a:t>
            </a:r>
            <a:r>
              <a:rPr sz="2200" spc="-35" dirty="0">
                <a:solidFill>
                  <a:srgbClr val="CC0000"/>
                </a:solidFill>
                <a:latin typeface="微软雅黑" panose="020B0503020204020204" pitchFamily="34" charset="-122"/>
                <a:cs typeface="微软雅黑" panose="020B0503020204020204" pitchFamily="34" charset="-122"/>
              </a:rPr>
              <a:t> </a:t>
            </a:r>
            <a:r>
              <a:rPr sz="2200" dirty="0">
                <a:solidFill>
                  <a:srgbClr val="CC0000"/>
                </a:solidFill>
                <a:latin typeface="Arial" panose="020B0604020202020204"/>
                <a:cs typeface="Arial" panose="020B0604020202020204"/>
              </a:rPr>
              <a:t>rows</a:t>
            </a:r>
            <a:r>
              <a:rPr sz="2200" spc="5" dirty="0">
                <a:solidFill>
                  <a:srgbClr val="CC0000"/>
                </a:solidFill>
                <a:latin typeface="Arial" panose="020B0604020202020204"/>
                <a:cs typeface="Arial" panose="020B0604020202020204"/>
              </a:rPr>
              <a:t> </a:t>
            </a:r>
            <a:r>
              <a:rPr sz="2200" dirty="0">
                <a:solidFill>
                  <a:srgbClr val="CC0000"/>
                </a:solidFill>
                <a:latin typeface="微软雅黑" panose="020B0503020204020204" pitchFamily="34" charset="-122"/>
                <a:cs typeface="微软雅黑" panose="020B0503020204020204" pitchFamily="34" charset="-122"/>
              </a:rPr>
              <a:t>和</a:t>
            </a:r>
            <a:r>
              <a:rPr sz="2200" spc="-30" dirty="0">
                <a:solidFill>
                  <a:srgbClr val="CC0000"/>
                </a:solidFill>
                <a:latin typeface="微软雅黑" panose="020B0503020204020204" pitchFamily="34" charset="-122"/>
                <a:cs typeface="微软雅黑" panose="020B0503020204020204" pitchFamily="34" charset="-122"/>
              </a:rPr>
              <a:t> </a:t>
            </a:r>
            <a:r>
              <a:rPr sz="2200" dirty="0">
                <a:solidFill>
                  <a:srgbClr val="CC0000"/>
                </a:solidFill>
                <a:latin typeface="Arial" panose="020B0604020202020204"/>
                <a:cs typeface="Arial" panose="020B0604020202020204"/>
              </a:rPr>
              <a:t>cols</a:t>
            </a:r>
            <a:endParaRPr sz="2200">
              <a:latin typeface="Arial" panose="020B0604020202020204"/>
              <a:cs typeface="Arial" panose="020B0604020202020204"/>
            </a:endParaRPr>
          </a:p>
        </p:txBody>
      </p:sp>
      <p:sp>
        <p:nvSpPr>
          <p:cNvPr id="4" name="object 4"/>
          <p:cNvSpPr/>
          <p:nvPr/>
        </p:nvSpPr>
        <p:spPr>
          <a:xfrm>
            <a:off x="1645219" y="3261176"/>
            <a:ext cx="8128316" cy="1159337"/>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1485015" y="3146309"/>
            <a:ext cx="8662670" cy="1499235"/>
          </a:xfrm>
          <a:custGeom>
            <a:avLst/>
            <a:gdLst/>
            <a:ahLst/>
            <a:cxnLst/>
            <a:rect l="l" t="t" r="r" b="b"/>
            <a:pathLst>
              <a:path w="8662670" h="1499235">
                <a:moveTo>
                  <a:pt x="0" y="0"/>
                </a:moveTo>
                <a:lnTo>
                  <a:pt x="8662588" y="0"/>
                </a:lnTo>
                <a:lnTo>
                  <a:pt x="8662588" y="1498996"/>
                </a:lnTo>
                <a:lnTo>
                  <a:pt x="0" y="1498996"/>
                </a:lnTo>
                <a:lnTo>
                  <a:pt x="0" y="0"/>
                </a:lnTo>
                <a:close/>
              </a:path>
            </a:pathLst>
          </a:custGeom>
          <a:ln w="9524">
            <a:solidFill>
              <a:srgbClr val="919191"/>
            </a:solidFill>
          </a:ln>
        </p:spPr>
        <p:txBody>
          <a:bodyPr wrap="square" lIns="0" tIns="0" rIns="0" bIns="0" rtlCol="0"/>
          <a:lstStyle/>
          <a:p>
            <a:endParaRPr/>
          </a:p>
        </p:txBody>
      </p:sp>
      <p:sp>
        <p:nvSpPr>
          <p:cNvPr id="6" name="object 6"/>
          <p:cNvSpPr txBox="1"/>
          <p:nvPr/>
        </p:nvSpPr>
        <p:spPr>
          <a:xfrm>
            <a:off x="1455914" y="2314564"/>
            <a:ext cx="2455545" cy="643890"/>
          </a:xfrm>
          <a:prstGeom prst="rect">
            <a:avLst/>
          </a:prstGeom>
          <a:solidFill>
            <a:srgbClr val="6C6C6C"/>
          </a:solidFill>
        </p:spPr>
        <p:txBody>
          <a:bodyPr vert="horz" wrap="square" lIns="0" tIns="130175" rIns="0" bIns="0" rtlCol="0">
            <a:spAutoFit/>
          </a:bodyPr>
          <a:lstStyle/>
          <a:p>
            <a:pPr marL="671195">
              <a:lnSpc>
                <a:spcPct val="100000"/>
              </a:lnSpc>
              <a:spcBef>
                <a:spcPts val="1025"/>
              </a:spcBef>
            </a:pPr>
            <a:r>
              <a:rPr sz="2200" dirty="0">
                <a:solidFill>
                  <a:srgbClr val="FFFFFF"/>
                </a:solidFill>
                <a:latin typeface="微软雅黑" panose="020B0503020204020204" pitchFamily="34" charset="-122"/>
                <a:cs typeface="微软雅黑" panose="020B0503020204020204" pitchFamily="34" charset="-122"/>
              </a:rPr>
              <a:t>属性测试</a:t>
            </a:r>
            <a:endParaRPr sz="2200">
              <a:latin typeface="微软雅黑" panose="020B0503020204020204" pitchFamily="34" charset="-122"/>
              <a:cs typeface="微软雅黑" panose="020B0503020204020204" pitchFamily="34" charset="-122"/>
            </a:endParaRPr>
          </a:p>
        </p:txBody>
      </p:sp>
      <p:sp>
        <p:nvSpPr>
          <p:cNvPr id="7" name="object 7"/>
          <p:cNvSpPr/>
          <p:nvPr/>
        </p:nvSpPr>
        <p:spPr>
          <a:xfrm>
            <a:off x="4080581" y="2450030"/>
            <a:ext cx="389890" cy="339090"/>
          </a:xfrm>
          <a:custGeom>
            <a:avLst/>
            <a:gdLst/>
            <a:ahLst/>
            <a:cxnLst/>
            <a:rect l="l" t="t" r="r" b="b"/>
            <a:pathLst>
              <a:path w="389889" h="339089">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9" name="标题 8"/>
          <p:cNvSpPr>
            <a:spLocks noGrp="1"/>
          </p:cNvSpPr>
          <p:nvPr>
            <p:ph type="title"/>
          </p:nvPr>
        </p:nvSpPr>
        <p:spPr/>
        <p:txBody>
          <a:bodyPr/>
          <a:lstStyle/>
          <a:p>
            <a:r>
              <a:rPr lang="zh-CN" altLang="en-US" dirty="0"/>
              <a:t>案例：生命游戏</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263742" y="1801514"/>
            <a:ext cx="1841500" cy="360680"/>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CC0000"/>
                </a:solidFill>
                <a:latin typeface="微软雅黑" panose="020B0503020204020204" pitchFamily="34" charset="-122"/>
                <a:cs typeface="微软雅黑" panose="020B0503020204020204" pitchFamily="34" charset="-122"/>
              </a:rPr>
              <a:t>测试</a:t>
            </a:r>
            <a:r>
              <a:rPr sz="2200" spc="-35" dirty="0">
                <a:solidFill>
                  <a:srgbClr val="CC0000"/>
                </a:solidFill>
                <a:latin typeface="微软雅黑" panose="020B0503020204020204" pitchFamily="34" charset="-122"/>
                <a:cs typeface="微软雅黑" panose="020B0503020204020204" pitchFamily="34" charset="-122"/>
              </a:rPr>
              <a:t> </a:t>
            </a:r>
            <a:r>
              <a:rPr sz="2200" dirty="0">
                <a:solidFill>
                  <a:srgbClr val="CC0000"/>
                </a:solidFill>
                <a:latin typeface="Arial" panose="020B0604020202020204"/>
                <a:cs typeface="Arial" panose="020B0604020202020204"/>
              </a:rPr>
              <a:t>rows</a:t>
            </a:r>
            <a:r>
              <a:rPr sz="2200" spc="5" dirty="0">
                <a:solidFill>
                  <a:srgbClr val="CC0000"/>
                </a:solidFill>
                <a:latin typeface="Arial" panose="020B0604020202020204"/>
                <a:cs typeface="Arial" panose="020B0604020202020204"/>
              </a:rPr>
              <a:t> </a:t>
            </a:r>
            <a:r>
              <a:rPr sz="2200" dirty="0">
                <a:solidFill>
                  <a:srgbClr val="CC0000"/>
                </a:solidFill>
                <a:latin typeface="微软雅黑" panose="020B0503020204020204" pitchFamily="34" charset="-122"/>
                <a:cs typeface="微软雅黑" panose="020B0503020204020204" pitchFamily="34" charset="-122"/>
              </a:rPr>
              <a:t>和</a:t>
            </a:r>
            <a:r>
              <a:rPr sz="2200" spc="-30" dirty="0">
                <a:solidFill>
                  <a:srgbClr val="CC0000"/>
                </a:solidFill>
                <a:latin typeface="微软雅黑" panose="020B0503020204020204" pitchFamily="34" charset="-122"/>
                <a:cs typeface="微软雅黑" panose="020B0503020204020204" pitchFamily="34" charset="-122"/>
              </a:rPr>
              <a:t> </a:t>
            </a:r>
            <a:r>
              <a:rPr sz="2200" dirty="0">
                <a:solidFill>
                  <a:srgbClr val="CC0000"/>
                </a:solidFill>
                <a:latin typeface="Arial" panose="020B0604020202020204"/>
                <a:cs typeface="Arial" panose="020B0604020202020204"/>
              </a:rPr>
              <a:t>c</a:t>
            </a:r>
            <a:endParaRPr sz="2200">
              <a:latin typeface="Arial" panose="020B0604020202020204"/>
              <a:cs typeface="Arial" panose="020B0604020202020204"/>
            </a:endParaRPr>
          </a:p>
        </p:txBody>
      </p:sp>
      <p:sp>
        <p:nvSpPr>
          <p:cNvPr id="4" name="object 4"/>
          <p:cNvSpPr txBox="1"/>
          <p:nvPr/>
        </p:nvSpPr>
        <p:spPr>
          <a:xfrm>
            <a:off x="6092269" y="1840681"/>
            <a:ext cx="357505" cy="312420"/>
          </a:xfrm>
          <a:prstGeom prst="rect">
            <a:avLst/>
          </a:prstGeom>
        </p:spPr>
        <p:txBody>
          <a:bodyPr vert="horz" wrap="square" lIns="0" tIns="0" rIns="0" bIns="0" rtlCol="0">
            <a:spAutoFit/>
          </a:bodyPr>
          <a:lstStyle/>
          <a:p>
            <a:pPr>
              <a:lnSpc>
                <a:spcPts val="2430"/>
              </a:lnSpc>
            </a:pPr>
            <a:r>
              <a:rPr sz="2200" dirty="0">
                <a:solidFill>
                  <a:srgbClr val="CC0000"/>
                </a:solidFill>
                <a:latin typeface="Arial" panose="020B0604020202020204"/>
                <a:cs typeface="Arial" panose="020B0604020202020204"/>
              </a:rPr>
              <a:t>ols</a:t>
            </a:r>
            <a:endParaRPr sz="2200">
              <a:latin typeface="Arial" panose="020B0604020202020204"/>
              <a:cs typeface="Arial" panose="020B0604020202020204"/>
            </a:endParaRPr>
          </a:p>
        </p:txBody>
      </p:sp>
      <p:sp>
        <p:nvSpPr>
          <p:cNvPr id="5" name="object 5"/>
          <p:cNvSpPr/>
          <p:nvPr/>
        </p:nvSpPr>
        <p:spPr>
          <a:xfrm>
            <a:off x="1159267" y="2637300"/>
            <a:ext cx="8128316" cy="1159337"/>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999063" y="2522433"/>
            <a:ext cx="8662670" cy="1499235"/>
          </a:xfrm>
          <a:custGeom>
            <a:avLst/>
            <a:gdLst/>
            <a:ahLst/>
            <a:cxnLst/>
            <a:rect l="l" t="t" r="r" b="b"/>
            <a:pathLst>
              <a:path w="8662670" h="1499235">
                <a:moveTo>
                  <a:pt x="0" y="0"/>
                </a:moveTo>
                <a:lnTo>
                  <a:pt x="8662588" y="0"/>
                </a:lnTo>
                <a:lnTo>
                  <a:pt x="8662588" y="1498996"/>
                </a:lnTo>
                <a:lnTo>
                  <a:pt x="0" y="1498996"/>
                </a:lnTo>
                <a:lnTo>
                  <a:pt x="0" y="0"/>
                </a:lnTo>
                <a:close/>
              </a:path>
            </a:pathLst>
          </a:custGeom>
          <a:ln w="9524">
            <a:solidFill>
              <a:srgbClr val="919191"/>
            </a:solidFill>
          </a:ln>
        </p:spPr>
        <p:txBody>
          <a:bodyPr wrap="square" lIns="0" tIns="0" rIns="0" bIns="0" rtlCol="0"/>
          <a:lstStyle/>
          <a:p>
            <a:endParaRPr/>
          </a:p>
        </p:txBody>
      </p:sp>
      <p:sp>
        <p:nvSpPr>
          <p:cNvPr id="7" name="object 7"/>
          <p:cNvSpPr txBox="1"/>
          <p:nvPr/>
        </p:nvSpPr>
        <p:spPr>
          <a:xfrm>
            <a:off x="969962" y="1690688"/>
            <a:ext cx="2455545" cy="643890"/>
          </a:xfrm>
          <a:prstGeom prst="rect">
            <a:avLst/>
          </a:prstGeom>
          <a:solidFill>
            <a:srgbClr val="6C6C6C"/>
          </a:solidFill>
        </p:spPr>
        <p:txBody>
          <a:bodyPr vert="horz" wrap="square" lIns="0" tIns="130175" rIns="0" bIns="0" rtlCol="0">
            <a:spAutoFit/>
          </a:bodyPr>
          <a:lstStyle/>
          <a:p>
            <a:pPr marL="671195">
              <a:lnSpc>
                <a:spcPct val="100000"/>
              </a:lnSpc>
              <a:spcBef>
                <a:spcPts val="1025"/>
              </a:spcBef>
            </a:pPr>
            <a:r>
              <a:rPr sz="2200" dirty="0">
                <a:solidFill>
                  <a:srgbClr val="FFFFFF"/>
                </a:solidFill>
                <a:latin typeface="微软雅黑" panose="020B0503020204020204" pitchFamily="34" charset="-122"/>
                <a:cs typeface="微软雅黑" panose="020B0503020204020204" pitchFamily="34" charset="-122"/>
              </a:rPr>
              <a:t>属性测试</a:t>
            </a:r>
            <a:endParaRPr sz="2200">
              <a:latin typeface="微软雅黑" panose="020B0503020204020204" pitchFamily="34" charset="-122"/>
              <a:cs typeface="微软雅黑" panose="020B0503020204020204" pitchFamily="34" charset="-122"/>
            </a:endParaRPr>
          </a:p>
        </p:txBody>
      </p:sp>
      <p:sp>
        <p:nvSpPr>
          <p:cNvPr id="8" name="object 8"/>
          <p:cNvSpPr/>
          <p:nvPr/>
        </p:nvSpPr>
        <p:spPr>
          <a:xfrm>
            <a:off x="3594629" y="1826154"/>
            <a:ext cx="389890" cy="339090"/>
          </a:xfrm>
          <a:custGeom>
            <a:avLst/>
            <a:gdLst/>
            <a:ahLst/>
            <a:cxnLst/>
            <a:rect l="l" t="t" r="r" b="b"/>
            <a:pathLst>
              <a:path w="389889" h="339089">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9" name="object 9"/>
          <p:cNvSpPr/>
          <p:nvPr/>
        </p:nvSpPr>
        <p:spPr>
          <a:xfrm>
            <a:off x="6100764" y="1716204"/>
            <a:ext cx="4758264" cy="4006960"/>
          </a:xfrm>
          <a:prstGeom prst="rect">
            <a:avLst/>
          </a:prstGeom>
          <a:blipFill>
            <a:blip r:embed="rId4" cstate="print"/>
            <a:stretch>
              <a:fillRect/>
            </a:stretch>
          </a:blipFill>
        </p:spPr>
        <p:txBody>
          <a:bodyPr wrap="square" lIns="0" tIns="0" rIns="0" bIns="0" rtlCol="0"/>
          <a:lstStyle/>
          <a:p>
            <a:endParaRPr/>
          </a:p>
        </p:txBody>
      </p:sp>
      <p:sp>
        <p:nvSpPr>
          <p:cNvPr id="10" name="object 10"/>
          <p:cNvSpPr/>
          <p:nvPr/>
        </p:nvSpPr>
        <p:spPr>
          <a:xfrm>
            <a:off x="6096000" y="1711441"/>
            <a:ext cx="4768215" cy="4016375"/>
          </a:xfrm>
          <a:custGeom>
            <a:avLst/>
            <a:gdLst/>
            <a:ahLst/>
            <a:cxnLst/>
            <a:rect l="l" t="t" r="r" b="b"/>
            <a:pathLst>
              <a:path w="4768215" h="4016375">
                <a:moveTo>
                  <a:pt x="0" y="0"/>
                </a:moveTo>
                <a:lnTo>
                  <a:pt x="4767657" y="0"/>
                </a:lnTo>
                <a:lnTo>
                  <a:pt x="4767657" y="4016374"/>
                </a:lnTo>
                <a:lnTo>
                  <a:pt x="0" y="4016374"/>
                </a:lnTo>
                <a:lnTo>
                  <a:pt x="0" y="0"/>
                </a:lnTo>
                <a:close/>
              </a:path>
            </a:pathLst>
          </a:custGeom>
          <a:ln w="9524">
            <a:solidFill>
              <a:srgbClr val="919191"/>
            </a:solidFill>
          </a:ln>
        </p:spPr>
        <p:txBody>
          <a:bodyPr wrap="square" lIns="0" tIns="0" rIns="0" bIns="0" rtlCol="0"/>
          <a:lstStyle/>
          <a:p>
            <a:endParaRPr/>
          </a:p>
        </p:txBody>
      </p:sp>
      <p:sp>
        <p:nvSpPr>
          <p:cNvPr id="12" name="标题 11"/>
          <p:cNvSpPr>
            <a:spLocks noGrp="1"/>
          </p:cNvSpPr>
          <p:nvPr>
            <p:ph type="title"/>
          </p:nvPr>
        </p:nvSpPr>
        <p:spPr/>
        <p:txBody>
          <a:bodyPr/>
          <a:lstStyle/>
          <a:p>
            <a:r>
              <a:rPr lang="zh-CN" altLang="en-US" dirty="0"/>
              <a:t>案例：生命游戏</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87244" y="1690688"/>
            <a:ext cx="2455545" cy="643890"/>
          </a:xfrm>
          <a:prstGeom prst="rect">
            <a:avLst/>
          </a:prstGeom>
          <a:solidFill>
            <a:srgbClr val="6C6C6C"/>
          </a:solidFill>
        </p:spPr>
        <p:txBody>
          <a:bodyPr vert="horz" wrap="square" lIns="0" tIns="130175" rIns="0" bIns="0" rtlCol="0">
            <a:spAutoFit/>
          </a:bodyPr>
          <a:lstStyle/>
          <a:p>
            <a:pPr marL="671195">
              <a:lnSpc>
                <a:spcPct val="100000"/>
              </a:lnSpc>
              <a:spcBef>
                <a:spcPts val="1025"/>
              </a:spcBef>
            </a:pPr>
            <a:r>
              <a:rPr sz="2200" dirty="0">
                <a:solidFill>
                  <a:srgbClr val="FFFFFF"/>
                </a:solidFill>
                <a:latin typeface="微软雅黑" panose="020B0503020204020204" pitchFamily="34" charset="-122"/>
                <a:cs typeface="微软雅黑" panose="020B0503020204020204" pitchFamily="34" charset="-122"/>
              </a:rPr>
              <a:t>方法测试</a:t>
            </a:r>
            <a:endParaRPr sz="2200">
              <a:latin typeface="微软雅黑" panose="020B0503020204020204" pitchFamily="34" charset="-122"/>
              <a:cs typeface="微软雅黑" panose="020B0503020204020204" pitchFamily="34" charset="-122"/>
            </a:endParaRPr>
          </a:p>
        </p:txBody>
      </p:sp>
      <p:sp>
        <p:nvSpPr>
          <p:cNvPr id="4" name="object 4"/>
          <p:cNvSpPr/>
          <p:nvPr/>
        </p:nvSpPr>
        <p:spPr>
          <a:xfrm>
            <a:off x="3711911" y="1826154"/>
            <a:ext cx="389890" cy="339090"/>
          </a:xfrm>
          <a:custGeom>
            <a:avLst/>
            <a:gdLst/>
            <a:ahLst/>
            <a:cxnLst/>
            <a:rect l="l" t="t" r="r" b="b"/>
            <a:pathLst>
              <a:path w="389889" h="339089">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5" name="object 5"/>
          <p:cNvSpPr txBox="1"/>
          <p:nvPr/>
        </p:nvSpPr>
        <p:spPr>
          <a:xfrm>
            <a:off x="4296357" y="1801514"/>
            <a:ext cx="5614035" cy="360680"/>
          </a:xfrm>
          <a:prstGeom prst="rect">
            <a:avLst/>
          </a:prstGeom>
        </p:spPr>
        <p:txBody>
          <a:bodyPr vert="horz" wrap="square" lIns="0" tIns="12700" rIns="0" bIns="0" rtlCol="0">
            <a:spAutoFit/>
          </a:bodyPr>
          <a:lstStyle/>
          <a:p>
            <a:pPr marL="12700">
              <a:lnSpc>
                <a:spcPct val="100000"/>
              </a:lnSpc>
              <a:spcBef>
                <a:spcPts val="100"/>
              </a:spcBef>
            </a:pPr>
            <a:r>
              <a:rPr sz="2200" spc="-5" dirty="0">
                <a:solidFill>
                  <a:srgbClr val="CC0000"/>
                </a:solidFill>
                <a:latin typeface="Arial" panose="020B0604020202020204"/>
                <a:cs typeface="Arial" panose="020B0604020202020204"/>
              </a:rPr>
              <a:t>get/set</a:t>
            </a:r>
            <a:r>
              <a:rPr sz="2200" spc="-5" dirty="0">
                <a:solidFill>
                  <a:srgbClr val="CC0000"/>
                </a:solidFill>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两个方法相互联系，合并为一个测试</a:t>
            </a:r>
            <a:endParaRPr sz="2200">
              <a:latin typeface="微软雅黑" panose="020B0503020204020204" pitchFamily="34" charset="-122"/>
              <a:cs typeface="微软雅黑" panose="020B0503020204020204" pitchFamily="34" charset="-122"/>
            </a:endParaRPr>
          </a:p>
        </p:txBody>
      </p:sp>
      <p:sp>
        <p:nvSpPr>
          <p:cNvPr id="6" name="object 6"/>
          <p:cNvSpPr/>
          <p:nvPr/>
        </p:nvSpPr>
        <p:spPr>
          <a:xfrm>
            <a:off x="1346795" y="2583297"/>
            <a:ext cx="9691024" cy="978866"/>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1116342" y="2557999"/>
            <a:ext cx="10220325" cy="1091565"/>
          </a:xfrm>
          <a:custGeom>
            <a:avLst/>
            <a:gdLst/>
            <a:ahLst/>
            <a:cxnLst/>
            <a:rect l="l" t="t" r="r" b="b"/>
            <a:pathLst>
              <a:path w="10220325" h="1091564">
                <a:moveTo>
                  <a:pt x="0" y="0"/>
                </a:moveTo>
                <a:lnTo>
                  <a:pt x="10220321" y="0"/>
                </a:lnTo>
                <a:lnTo>
                  <a:pt x="10220321" y="1091008"/>
                </a:lnTo>
                <a:lnTo>
                  <a:pt x="0" y="1091008"/>
                </a:lnTo>
                <a:lnTo>
                  <a:pt x="0" y="0"/>
                </a:lnTo>
                <a:close/>
              </a:path>
            </a:pathLst>
          </a:custGeom>
          <a:ln w="9524">
            <a:solidFill>
              <a:srgbClr val="919191"/>
            </a:solidFill>
          </a:ln>
        </p:spPr>
        <p:txBody>
          <a:bodyPr wrap="square" lIns="0" tIns="0" rIns="0" bIns="0" rtlCol="0"/>
          <a:lstStyle/>
          <a:p>
            <a:endParaRPr/>
          </a:p>
        </p:txBody>
      </p:sp>
      <p:sp>
        <p:nvSpPr>
          <p:cNvPr id="8" name="object 8"/>
          <p:cNvSpPr/>
          <p:nvPr/>
        </p:nvSpPr>
        <p:spPr>
          <a:xfrm>
            <a:off x="6762434" y="2812527"/>
            <a:ext cx="4586395" cy="3196165"/>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6757670" y="2807765"/>
            <a:ext cx="4596130" cy="3206115"/>
          </a:xfrm>
          <a:custGeom>
            <a:avLst/>
            <a:gdLst/>
            <a:ahLst/>
            <a:cxnLst/>
            <a:rect l="l" t="t" r="r" b="b"/>
            <a:pathLst>
              <a:path w="4596130" h="3206115">
                <a:moveTo>
                  <a:pt x="0" y="0"/>
                </a:moveTo>
                <a:lnTo>
                  <a:pt x="4595811" y="0"/>
                </a:lnTo>
                <a:lnTo>
                  <a:pt x="4595811" y="3205558"/>
                </a:lnTo>
                <a:lnTo>
                  <a:pt x="0" y="3205558"/>
                </a:lnTo>
                <a:lnTo>
                  <a:pt x="0" y="0"/>
                </a:lnTo>
                <a:close/>
              </a:path>
            </a:pathLst>
          </a:custGeom>
          <a:ln w="9524">
            <a:solidFill>
              <a:srgbClr val="919191"/>
            </a:solidFill>
          </a:ln>
        </p:spPr>
        <p:txBody>
          <a:bodyPr wrap="square" lIns="0" tIns="0" rIns="0" bIns="0" rtlCol="0"/>
          <a:lstStyle/>
          <a:p>
            <a:endParaRPr/>
          </a:p>
        </p:txBody>
      </p:sp>
      <p:sp>
        <p:nvSpPr>
          <p:cNvPr id="11" name="标题 10"/>
          <p:cNvSpPr>
            <a:spLocks noGrp="1"/>
          </p:cNvSpPr>
          <p:nvPr>
            <p:ph type="title"/>
          </p:nvPr>
        </p:nvSpPr>
        <p:spPr/>
        <p:txBody>
          <a:bodyPr/>
          <a:lstStyle/>
          <a:p>
            <a:r>
              <a:rPr lang="zh-CN" altLang="en-US" dirty="0"/>
              <a:t>案例：生命游戏</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61361" y="1998491"/>
            <a:ext cx="2455545" cy="643890"/>
          </a:xfrm>
          <a:prstGeom prst="rect">
            <a:avLst/>
          </a:prstGeom>
          <a:solidFill>
            <a:srgbClr val="6C6C6C"/>
          </a:solidFill>
        </p:spPr>
        <p:txBody>
          <a:bodyPr vert="horz" wrap="square" lIns="0" tIns="130175" rIns="0" bIns="0" rtlCol="0">
            <a:spAutoFit/>
          </a:bodyPr>
          <a:lstStyle/>
          <a:p>
            <a:pPr marL="671195">
              <a:lnSpc>
                <a:spcPct val="100000"/>
              </a:lnSpc>
              <a:spcBef>
                <a:spcPts val="1025"/>
              </a:spcBef>
            </a:pPr>
            <a:r>
              <a:rPr sz="2200" dirty="0">
                <a:solidFill>
                  <a:srgbClr val="FFFFFF"/>
                </a:solidFill>
                <a:latin typeface="微软雅黑" panose="020B0503020204020204" pitchFamily="34" charset="-122"/>
                <a:cs typeface="微软雅黑" panose="020B0503020204020204" pitchFamily="34" charset="-122"/>
              </a:rPr>
              <a:t>方法测试</a:t>
            </a:r>
            <a:endParaRPr sz="2200">
              <a:latin typeface="微软雅黑" panose="020B0503020204020204" pitchFamily="34" charset="-122"/>
              <a:cs typeface="微软雅黑" panose="020B0503020204020204" pitchFamily="34" charset="-122"/>
            </a:endParaRPr>
          </a:p>
        </p:txBody>
      </p:sp>
      <p:sp>
        <p:nvSpPr>
          <p:cNvPr id="4" name="object 4"/>
          <p:cNvSpPr/>
          <p:nvPr/>
        </p:nvSpPr>
        <p:spPr>
          <a:xfrm>
            <a:off x="3886028" y="2133957"/>
            <a:ext cx="389890" cy="339090"/>
          </a:xfrm>
          <a:custGeom>
            <a:avLst/>
            <a:gdLst/>
            <a:ahLst/>
            <a:cxnLst/>
            <a:rect l="l" t="t" r="r" b="b"/>
            <a:pathLst>
              <a:path w="389889" h="339089">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5" name="object 5"/>
          <p:cNvSpPr txBox="1"/>
          <p:nvPr/>
        </p:nvSpPr>
        <p:spPr>
          <a:xfrm>
            <a:off x="4470474" y="2109317"/>
            <a:ext cx="4108450" cy="360680"/>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CC0000"/>
                </a:solidFill>
                <a:latin typeface="Arial" panose="020B0604020202020204"/>
                <a:cs typeface="Arial" panose="020B0604020202020204"/>
              </a:rPr>
              <a:t>rese</a:t>
            </a:r>
            <a:r>
              <a:rPr sz="2200" spc="-5" dirty="0">
                <a:solidFill>
                  <a:srgbClr val="CC0000"/>
                </a:solidFill>
                <a:latin typeface="Arial" panose="020B0604020202020204"/>
                <a:cs typeface="Arial" panose="020B0604020202020204"/>
              </a:rPr>
              <a:t>t</a:t>
            </a:r>
            <a:r>
              <a:rPr sz="2200" dirty="0">
                <a:solidFill>
                  <a:srgbClr val="CC0000"/>
                </a:solidFill>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依赖概率，需要进行</a:t>
            </a:r>
            <a:r>
              <a:rPr sz="2200" dirty="0">
                <a:latin typeface="Arial" panose="020B0604020202020204"/>
                <a:cs typeface="Arial" panose="020B0604020202020204"/>
              </a:rPr>
              <a:t>mock</a:t>
            </a:r>
            <a:endParaRPr sz="2200">
              <a:latin typeface="Arial" panose="020B0604020202020204"/>
              <a:cs typeface="Arial" panose="020B0604020202020204"/>
            </a:endParaRPr>
          </a:p>
        </p:txBody>
      </p:sp>
      <p:sp>
        <p:nvSpPr>
          <p:cNvPr id="6" name="object 6"/>
          <p:cNvSpPr/>
          <p:nvPr/>
        </p:nvSpPr>
        <p:spPr>
          <a:xfrm>
            <a:off x="1436089" y="2892801"/>
            <a:ext cx="8225853" cy="1688216"/>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1296807" y="2800601"/>
            <a:ext cx="8605520" cy="1839595"/>
          </a:xfrm>
          <a:custGeom>
            <a:avLst/>
            <a:gdLst/>
            <a:ahLst/>
            <a:cxnLst/>
            <a:rect l="l" t="t" r="r" b="b"/>
            <a:pathLst>
              <a:path w="8605520" h="1839595">
                <a:moveTo>
                  <a:pt x="0" y="0"/>
                </a:moveTo>
                <a:lnTo>
                  <a:pt x="8605438" y="0"/>
                </a:lnTo>
                <a:lnTo>
                  <a:pt x="8605438" y="1839117"/>
                </a:lnTo>
                <a:lnTo>
                  <a:pt x="0" y="1839117"/>
                </a:lnTo>
                <a:lnTo>
                  <a:pt x="0" y="0"/>
                </a:lnTo>
                <a:close/>
              </a:path>
            </a:pathLst>
          </a:custGeom>
          <a:ln w="9524">
            <a:solidFill>
              <a:srgbClr val="919191"/>
            </a:solidFill>
          </a:ln>
        </p:spPr>
        <p:txBody>
          <a:bodyPr wrap="square" lIns="0" tIns="0" rIns="0" bIns="0" rtlCol="0"/>
          <a:lstStyle/>
          <a:p>
            <a:endParaRPr/>
          </a:p>
        </p:txBody>
      </p:sp>
      <p:sp>
        <p:nvSpPr>
          <p:cNvPr id="9" name="标题 8"/>
          <p:cNvSpPr>
            <a:spLocks noGrp="1"/>
          </p:cNvSpPr>
          <p:nvPr>
            <p:ph type="title"/>
          </p:nvPr>
        </p:nvSpPr>
        <p:spPr/>
        <p:txBody>
          <a:bodyPr/>
          <a:lstStyle/>
          <a:p>
            <a:r>
              <a:rPr lang="zh-CN" altLang="en-US" dirty="0"/>
              <a:t>案例：生命游戏</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66808" y="1473197"/>
            <a:ext cx="2455545" cy="643890"/>
          </a:xfrm>
          <a:prstGeom prst="rect">
            <a:avLst/>
          </a:prstGeom>
          <a:solidFill>
            <a:srgbClr val="6C6C6C"/>
          </a:solidFill>
        </p:spPr>
        <p:txBody>
          <a:bodyPr vert="horz" wrap="square" lIns="0" tIns="130175" rIns="0" bIns="0" rtlCol="0">
            <a:spAutoFit/>
          </a:bodyPr>
          <a:lstStyle/>
          <a:p>
            <a:pPr marL="671195">
              <a:lnSpc>
                <a:spcPct val="100000"/>
              </a:lnSpc>
              <a:spcBef>
                <a:spcPts val="1025"/>
              </a:spcBef>
            </a:pPr>
            <a:r>
              <a:rPr sz="2200" dirty="0">
                <a:solidFill>
                  <a:srgbClr val="FFFFFF"/>
                </a:solidFill>
                <a:latin typeface="微软雅黑" panose="020B0503020204020204" pitchFamily="34" charset="-122"/>
                <a:cs typeface="微软雅黑" panose="020B0503020204020204" pitchFamily="34" charset="-122"/>
              </a:rPr>
              <a:t>方法测试</a:t>
            </a:r>
            <a:endParaRPr sz="2200">
              <a:latin typeface="微软雅黑" panose="020B0503020204020204" pitchFamily="34" charset="-122"/>
              <a:cs typeface="微软雅黑" panose="020B0503020204020204" pitchFamily="34" charset="-122"/>
            </a:endParaRPr>
          </a:p>
        </p:txBody>
      </p:sp>
      <p:sp>
        <p:nvSpPr>
          <p:cNvPr id="4" name="object 4"/>
          <p:cNvSpPr/>
          <p:nvPr/>
        </p:nvSpPr>
        <p:spPr>
          <a:xfrm>
            <a:off x="3691475" y="1608663"/>
            <a:ext cx="389890" cy="339090"/>
          </a:xfrm>
          <a:custGeom>
            <a:avLst/>
            <a:gdLst/>
            <a:ahLst/>
            <a:cxnLst/>
            <a:rect l="l" t="t" r="r" b="b"/>
            <a:pathLst>
              <a:path w="389889" h="339089">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5" name="object 5"/>
          <p:cNvSpPr txBox="1"/>
          <p:nvPr/>
        </p:nvSpPr>
        <p:spPr>
          <a:xfrm>
            <a:off x="4275921" y="1584023"/>
            <a:ext cx="4108450" cy="360680"/>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CC0000"/>
                </a:solidFill>
                <a:latin typeface="Arial" panose="020B0604020202020204"/>
                <a:cs typeface="Arial" panose="020B0604020202020204"/>
              </a:rPr>
              <a:t>rese</a:t>
            </a:r>
            <a:r>
              <a:rPr sz="2200" spc="-5" dirty="0">
                <a:solidFill>
                  <a:srgbClr val="CC0000"/>
                </a:solidFill>
                <a:latin typeface="Arial" panose="020B0604020202020204"/>
                <a:cs typeface="Arial" panose="020B0604020202020204"/>
              </a:rPr>
              <a:t>t</a:t>
            </a:r>
            <a:r>
              <a:rPr sz="2200" dirty="0">
                <a:solidFill>
                  <a:srgbClr val="CC0000"/>
                </a:solidFill>
                <a:latin typeface="微软雅黑" panose="020B0503020204020204" pitchFamily="34" charset="-122"/>
                <a:cs typeface="微软雅黑" panose="020B0503020204020204" pitchFamily="34" charset="-122"/>
              </a:rPr>
              <a:t>：</a:t>
            </a:r>
            <a:r>
              <a:rPr sz="2200" dirty="0">
                <a:latin typeface="微软雅黑" panose="020B0503020204020204" pitchFamily="34" charset="-122"/>
                <a:cs typeface="微软雅黑" panose="020B0503020204020204" pitchFamily="34" charset="-122"/>
              </a:rPr>
              <a:t>依赖概率，需要进行</a:t>
            </a:r>
            <a:r>
              <a:rPr sz="2200" dirty="0">
                <a:latin typeface="Arial" panose="020B0604020202020204"/>
                <a:cs typeface="Arial" panose="020B0604020202020204"/>
              </a:rPr>
              <a:t>mock</a:t>
            </a:r>
            <a:endParaRPr sz="2200">
              <a:latin typeface="Arial" panose="020B0604020202020204"/>
              <a:cs typeface="Arial" panose="020B0604020202020204"/>
            </a:endParaRPr>
          </a:p>
        </p:txBody>
      </p:sp>
      <p:sp>
        <p:nvSpPr>
          <p:cNvPr id="6" name="object 6"/>
          <p:cNvSpPr/>
          <p:nvPr/>
        </p:nvSpPr>
        <p:spPr>
          <a:xfrm>
            <a:off x="1241536" y="2367507"/>
            <a:ext cx="8225853" cy="1688216"/>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1102254" y="2275307"/>
            <a:ext cx="8605520" cy="1839595"/>
          </a:xfrm>
          <a:custGeom>
            <a:avLst/>
            <a:gdLst/>
            <a:ahLst/>
            <a:cxnLst/>
            <a:rect l="l" t="t" r="r" b="b"/>
            <a:pathLst>
              <a:path w="8605520" h="1839595">
                <a:moveTo>
                  <a:pt x="0" y="0"/>
                </a:moveTo>
                <a:lnTo>
                  <a:pt x="8605438" y="0"/>
                </a:lnTo>
                <a:lnTo>
                  <a:pt x="8605438" y="1839117"/>
                </a:lnTo>
                <a:lnTo>
                  <a:pt x="0" y="1839117"/>
                </a:lnTo>
                <a:lnTo>
                  <a:pt x="0" y="0"/>
                </a:lnTo>
                <a:close/>
              </a:path>
            </a:pathLst>
          </a:custGeom>
          <a:ln w="9524">
            <a:solidFill>
              <a:srgbClr val="919191"/>
            </a:solidFill>
          </a:ln>
        </p:spPr>
        <p:txBody>
          <a:bodyPr wrap="square" lIns="0" tIns="0" rIns="0" bIns="0" rtlCol="0"/>
          <a:lstStyle/>
          <a:p>
            <a:endParaRPr/>
          </a:p>
        </p:txBody>
      </p:sp>
      <p:sp>
        <p:nvSpPr>
          <p:cNvPr id="8" name="object 8"/>
          <p:cNvSpPr/>
          <p:nvPr/>
        </p:nvSpPr>
        <p:spPr>
          <a:xfrm>
            <a:off x="1117599" y="4249717"/>
            <a:ext cx="9448798" cy="1712511"/>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1112837" y="4211637"/>
            <a:ext cx="9458325" cy="1755775"/>
          </a:xfrm>
          <a:custGeom>
            <a:avLst/>
            <a:gdLst/>
            <a:ahLst/>
            <a:cxnLst/>
            <a:rect l="l" t="t" r="r" b="b"/>
            <a:pathLst>
              <a:path w="9458325" h="1755775">
                <a:moveTo>
                  <a:pt x="0" y="0"/>
                </a:moveTo>
                <a:lnTo>
                  <a:pt x="9458322" y="0"/>
                </a:lnTo>
                <a:lnTo>
                  <a:pt x="9458322" y="1755378"/>
                </a:lnTo>
                <a:lnTo>
                  <a:pt x="0" y="1755378"/>
                </a:lnTo>
                <a:lnTo>
                  <a:pt x="0" y="0"/>
                </a:lnTo>
                <a:close/>
              </a:path>
            </a:pathLst>
          </a:custGeom>
          <a:ln w="9524">
            <a:solidFill>
              <a:srgbClr val="919191"/>
            </a:solidFill>
          </a:ln>
        </p:spPr>
        <p:txBody>
          <a:bodyPr wrap="square" lIns="0" tIns="0" rIns="0" bIns="0" rtlCol="0"/>
          <a:lstStyle/>
          <a:p>
            <a:endParaRPr/>
          </a:p>
        </p:txBody>
      </p:sp>
      <p:sp>
        <p:nvSpPr>
          <p:cNvPr id="10" name="object 10"/>
          <p:cNvSpPr/>
          <p:nvPr/>
        </p:nvSpPr>
        <p:spPr>
          <a:xfrm>
            <a:off x="6318248" y="2963333"/>
            <a:ext cx="4624913" cy="3064933"/>
          </a:xfrm>
          <a:prstGeom prst="rect">
            <a:avLst/>
          </a:prstGeom>
          <a:blipFill>
            <a:blip r:embed="rId6" cstate="print"/>
            <a:stretch>
              <a:fillRect/>
            </a:stretch>
          </a:blipFill>
        </p:spPr>
        <p:txBody>
          <a:bodyPr wrap="square" lIns="0" tIns="0" rIns="0" bIns="0" rtlCol="0"/>
          <a:lstStyle/>
          <a:p>
            <a:endParaRPr/>
          </a:p>
        </p:txBody>
      </p:sp>
      <p:sp>
        <p:nvSpPr>
          <p:cNvPr id="11" name="object 11"/>
          <p:cNvSpPr/>
          <p:nvPr/>
        </p:nvSpPr>
        <p:spPr>
          <a:xfrm>
            <a:off x="6313485" y="2958570"/>
            <a:ext cx="4634865" cy="3074670"/>
          </a:xfrm>
          <a:custGeom>
            <a:avLst/>
            <a:gdLst/>
            <a:ahLst/>
            <a:cxnLst/>
            <a:rect l="l" t="t" r="r" b="b"/>
            <a:pathLst>
              <a:path w="4634865" h="3074670">
                <a:moveTo>
                  <a:pt x="0" y="0"/>
                </a:moveTo>
                <a:lnTo>
                  <a:pt x="4634308" y="0"/>
                </a:lnTo>
                <a:lnTo>
                  <a:pt x="4634308" y="3074589"/>
                </a:lnTo>
                <a:lnTo>
                  <a:pt x="0" y="3074589"/>
                </a:lnTo>
                <a:lnTo>
                  <a:pt x="0" y="0"/>
                </a:lnTo>
                <a:close/>
              </a:path>
            </a:pathLst>
          </a:custGeom>
          <a:ln w="9524">
            <a:solidFill>
              <a:srgbClr val="919191"/>
            </a:solidFill>
          </a:ln>
        </p:spPr>
        <p:txBody>
          <a:bodyPr wrap="square" lIns="0" tIns="0" rIns="0" bIns="0" rtlCol="0"/>
          <a:lstStyle/>
          <a:p>
            <a:endParaRPr/>
          </a:p>
        </p:txBody>
      </p:sp>
      <p:sp>
        <p:nvSpPr>
          <p:cNvPr id="13" name="标题 12"/>
          <p:cNvSpPr>
            <a:spLocks noGrp="1"/>
          </p:cNvSpPr>
          <p:nvPr>
            <p:ph type="title"/>
          </p:nvPr>
        </p:nvSpPr>
        <p:spPr/>
        <p:txBody>
          <a:bodyPr/>
          <a:lstStyle/>
          <a:p>
            <a:r>
              <a:rPr lang="zh-CN" altLang="en-US" dirty="0"/>
              <a:t>案例：生命游戏</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32942" y="474131"/>
            <a:ext cx="2455545" cy="643890"/>
          </a:xfrm>
          <a:prstGeom prst="rect">
            <a:avLst/>
          </a:prstGeom>
          <a:solidFill>
            <a:srgbClr val="6C6C6C"/>
          </a:solidFill>
        </p:spPr>
        <p:txBody>
          <a:bodyPr vert="horz" wrap="square" lIns="0" tIns="130175" rIns="0" bIns="0" rtlCol="0">
            <a:spAutoFit/>
          </a:bodyPr>
          <a:lstStyle/>
          <a:p>
            <a:pPr marL="671195">
              <a:lnSpc>
                <a:spcPct val="100000"/>
              </a:lnSpc>
              <a:spcBef>
                <a:spcPts val="1025"/>
              </a:spcBef>
            </a:pPr>
            <a:r>
              <a:rPr sz="2200" dirty="0">
                <a:solidFill>
                  <a:srgbClr val="FFFFFF"/>
                </a:solidFill>
                <a:latin typeface="微软雅黑" panose="020B0503020204020204" pitchFamily="34" charset="-122"/>
                <a:cs typeface="微软雅黑" panose="020B0503020204020204" pitchFamily="34" charset="-122"/>
              </a:rPr>
              <a:t>方法测试</a:t>
            </a:r>
            <a:endParaRPr sz="2200">
              <a:latin typeface="微软雅黑" panose="020B0503020204020204" pitchFamily="34" charset="-122"/>
              <a:cs typeface="微软雅黑" panose="020B0503020204020204" pitchFamily="34" charset="-122"/>
            </a:endParaRPr>
          </a:p>
        </p:txBody>
      </p:sp>
      <p:sp>
        <p:nvSpPr>
          <p:cNvPr id="3" name="object 3"/>
          <p:cNvSpPr/>
          <p:nvPr/>
        </p:nvSpPr>
        <p:spPr>
          <a:xfrm>
            <a:off x="3691475" y="609597"/>
            <a:ext cx="389890" cy="339090"/>
          </a:xfrm>
          <a:custGeom>
            <a:avLst/>
            <a:gdLst/>
            <a:ahLst/>
            <a:cxnLst/>
            <a:rect l="l" t="t" r="r" b="b"/>
            <a:pathLst>
              <a:path w="389889" h="339090">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4" name="object 4"/>
          <p:cNvSpPr txBox="1">
            <a:spLocks noGrp="1"/>
          </p:cNvSpPr>
          <p:nvPr>
            <p:ph type="title"/>
          </p:nvPr>
        </p:nvSpPr>
        <p:spPr>
          <a:xfrm>
            <a:off x="4275921" y="584958"/>
            <a:ext cx="2496185" cy="360680"/>
          </a:xfrm>
          <a:prstGeom prst="rect">
            <a:avLst/>
          </a:prstGeom>
        </p:spPr>
        <p:txBody>
          <a:bodyPr vert="horz" wrap="square" lIns="0" tIns="12700" rIns="0" bIns="0" rtlCol="0">
            <a:spAutoFit/>
          </a:bodyPr>
          <a:lstStyle/>
          <a:p>
            <a:pPr marL="12700">
              <a:lnSpc>
                <a:spcPct val="100000"/>
              </a:lnSpc>
              <a:spcBef>
                <a:spcPts val="100"/>
              </a:spcBef>
            </a:pPr>
            <a:r>
              <a:rPr spc="-5" dirty="0">
                <a:solidFill>
                  <a:srgbClr val="CC0000"/>
                </a:solidFill>
              </a:rPr>
              <a:t>get_neighbor_count</a:t>
            </a:r>
          </a:p>
        </p:txBody>
      </p:sp>
      <p:sp>
        <p:nvSpPr>
          <p:cNvPr id="5" name="object 5"/>
          <p:cNvSpPr/>
          <p:nvPr/>
        </p:nvSpPr>
        <p:spPr>
          <a:xfrm>
            <a:off x="4491842" y="1246613"/>
            <a:ext cx="4540510" cy="5054021"/>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4346540" y="1095905"/>
            <a:ext cx="4950460" cy="5241925"/>
          </a:xfrm>
          <a:custGeom>
            <a:avLst/>
            <a:gdLst/>
            <a:ahLst/>
            <a:cxnLst/>
            <a:rect l="l" t="t" r="r" b="b"/>
            <a:pathLst>
              <a:path w="4950459" h="5241925">
                <a:moveTo>
                  <a:pt x="0" y="0"/>
                </a:moveTo>
                <a:lnTo>
                  <a:pt x="4950221" y="0"/>
                </a:lnTo>
                <a:lnTo>
                  <a:pt x="4950221" y="5241923"/>
                </a:lnTo>
                <a:lnTo>
                  <a:pt x="0" y="5241923"/>
                </a:lnTo>
                <a:lnTo>
                  <a:pt x="0" y="0"/>
                </a:lnTo>
                <a:close/>
              </a:path>
            </a:pathLst>
          </a:custGeom>
          <a:ln w="9524">
            <a:solidFill>
              <a:srgbClr val="919191"/>
            </a:solidFill>
          </a:ln>
        </p:spPr>
        <p:txBody>
          <a:bodyPr wrap="square" lIns="0" tIns="0" rIns="0" bIns="0" rtlCol="0"/>
          <a:lstStyle/>
          <a:p>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32942" y="474131"/>
            <a:ext cx="2455545" cy="643890"/>
          </a:xfrm>
          <a:prstGeom prst="rect">
            <a:avLst/>
          </a:prstGeom>
          <a:solidFill>
            <a:srgbClr val="6C6C6C"/>
          </a:solidFill>
        </p:spPr>
        <p:txBody>
          <a:bodyPr vert="horz" wrap="square" lIns="0" tIns="130175" rIns="0" bIns="0" rtlCol="0">
            <a:spAutoFit/>
          </a:bodyPr>
          <a:lstStyle/>
          <a:p>
            <a:pPr marL="671195">
              <a:lnSpc>
                <a:spcPct val="100000"/>
              </a:lnSpc>
              <a:spcBef>
                <a:spcPts val="1025"/>
              </a:spcBef>
            </a:pPr>
            <a:r>
              <a:rPr sz="2200" dirty="0">
                <a:solidFill>
                  <a:srgbClr val="FFFFFF"/>
                </a:solidFill>
                <a:latin typeface="微软雅黑" panose="020B0503020204020204" pitchFamily="34" charset="-122"/>
                <a:cs typeface="微软雅黑" panose="020B0503020204020204" pitchFamily="34" charset="-122"/>
              </a:rPr>
              <a:t>方法测试</a:t>
            </a:r>
            <a:endParaRPr sz="2200">
              <a:latin typeface="微软雅黑" panose="020B0503020204020204" pitchFamily="34" charset="-122"/>
              <a:cs typeface="微软雅黑" panose="020B0503020204020204" pitchFamily="34" charset="-122"/>
            </a:endParaRPr>
          </a:p>
        </p:txBody>
      </p:sp>
      <p:sp>
        <p:nvSpPr>
          <p:cNvPr id="3" name="object 3"/>
          <p:cNvSpPr/>
          <p:nvPr/>
        </p:nvSpPr>
        <p:spPr>
          <a:xfrm>
            <a:off x="3691475" y="609597"/>
            <a:ext cx="389890" cy="339090"/>
          </a:xfrm>
          <a:custGeom>
            <a:avLst/>
            <a:gdLst/>
            <a:ahLst/>
            <a:cxnLst/>
            <a:rect l="l" t="t" r="r" b="b"/>
            <a:pathLst>
              <a:path w="389889" h="339090">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4" name="object 4"/>
          <p:cNvSpPr txBox="1">
            <a:spLocks noGrp="1"/>
          </p:cNvSpPr>
          <p:nvPr>
            <p:ph type="title"/>
          </p:nvPr>
        </p:nvSpPr>
        <p:spPr>
          <a:xfrm>
            <a:off x="4275921" y="584958"/>
            <a:ext cx="2496185" cy="360680"/>
          </a:xfrm>
          <a:prstGeom prst="rect">
            <a:avLst/>
          </a:prstGeom>
        </p:spPr>
        <p:txBody>
          <a:bodyPr vert="horz" wrap="square" lIns="0" tIns="12700" rIns="0" bIns="0" rtlCol="0">
            <a:spAutoFit/>
          </a:bodyPr>
          <a:lstStyle/>
          <a:p>
            <a:pPr marL="12700">
              <a:lnSpc>
                <a:spcPct val="100000"/>
              </a:lnSpc>
              <a:spcBef>
                <a:spcPts val="100"/>
              </a:spcBef>
            </a:pPr>
            <a:r>
              <a:rPr spc="-5" dirty="0">
                <a:solidFill>
                  <a:srgbClr val="CC0000"/>
                </a:solidFill>
              </a:rPr>
              <a:t>get_neighbor_count</a:t>
            </a:r>
          </a:p>
        </p:txBody>
      </p:sp>
      <p:sp>
        <p:nvSpPr>
          <p:cNvPr id="5" name="object 5"/>
          <p:cNvSpPr/>
          <p:nvPr/>
        </p:nvSpPr>
        <p:spPr>
          <a:xfrm>
            <a:off x="1170213" y="1377617"/>
            <a:ext cx="9991808" cy="1059523"/>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1062036" y="1308791"/>
            <a:ext cx="10248265" cy="1202690"/>
          </a:xfrm>
          <a:custGeom>
            <a:avLst/>
            <a:gdLst/>
            <a:ahLst/>
            <a:cxnLst/>
            <a:rect l="l" t="t" r="r" b="b"/>
            <a:pathLst>
              <a:path w="10248265" h="1202689">
                <a:moveTo>
                  <a:pt x="0" y="0"/>
                </a:moveTo>
                <a:lnTo>
                  <a:pt x="10247705" y="0"/>
                </a:lnTo>
                <a:lnTo>
                  <a:pt x="10247705" y="1202133"/>
                </a:lnTo>
                <a:lnTo>
                  <a:pt x="0" y="1202133"/>
                </a:lnTo>
                <a:lnTo>
                  <a:pt x="0" y="0"/>
                </a:lnTo>
                <a:close/>
              </a:path>
            </a:pathLst>
          </a:custGeom>
          <a:ln w="9524">
            <a:solidFill>
              <a:srgbClr val="919191"/>
            </a:solidFill>
          </a:ln>
        </p:spPr>
        <p:txBody>
          <a:bodyPr wrap="square" lIns="0" tIns="0" rIns="0" bIns="0" rtlCol="0"/>
          <a:lstStyle/>
          <a:p>
            <a:endParaRPr/>
          </a:p>
        </p:txBody>
      </p:sp>
      <p:sp>
        <p:nvSpPr>
          <p:cNvPr id="7" name="object 7"/>
          <p:cNvSpPr/>
          <p:nvPr/>
        </p:nvSpPr>
        <p:spPr>
          <a:xfrm>
            <a:off x="1077382" y="2698750"/>
            <a:ext cx="10216236" cy="3380316"/>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1072620" y="2693987"/>
            <a:ext cx="10226040" cy="3390265"/>
          </a:xfrm>
          <a:custGeom>
            <a:avLst/>
            <a:gdLst/>
            <a:ahLst/>
            <a:cxnLst/>
            <a:rect l="l" t="t" r="r" b="b"/>
            <a:pathLst>
              <a:path w="10226040" h="3390265">
                <a:moveTo>
                  <a:pt x="0" y="0"/>
                </a:moveTo>
                <a:lnTo>
                  <a:pt x="10225877" y="0"/>
                </a:lnTo>
                <a:lnTo>
                  <a:pt x="10225877" y="3389708"/>
                </a:lnTo>
                <a:lnTo>
                  <a:pt x="0" y="3389708"/>
                </a:lnTo>
                <a:lnTo>
                  <a:pt x="0" y="0"/>
                </a:lnTo>
                <a:close/>
              </a:path>
            </a:pathLst>
          </a:custGeom>
          <a:ln w="9524">
            <a:solidFill>
              <a:srgbClr val="919191"/>
            </a:solidFill>
          </a:ln>
        </p:spPr>
        <p:txBody>
          <a:bodyPr wrap="square" lIns="0" tIns="0" rIns="0" bIns="0" rtlCol="0"/>
          <a:lstStyle/>
          <a:p>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32942" y="474131"/>
            <a:ext cx="2455545" cy="643890"/>
          </a:xfrm>
          <a:prstGeom prst="rect">
            <a:avLst/>
          </a:prstGeom>
          <a:solidFill>
            <a:srgbClr val="6C6C6C"/>
          </a:solidFill>
        </p:spPr>
        <p:txBody>
          <a:bodyPr vert="horz" wrap="square" lIns="0" tIns="130175" rIns="0" bIns="0" rtlCol="0">
            <a:spAutoFit/>
          </a:bodyPr>
          <a:lstStyle/>
          <a:p>
            <a:pPr marL="671195">
              <a:lnSpc>
                <a:spcPct val="100000"/>
              </a:lnSpc>
              <a:spcBef>
                <a:spcPts val="1025"/>
              </a:spcBef>
            </a:pPr>
            <a:r>
              <a:rPr sz="2200" dirty="0">
                <a:solidFill>
                  <a:srgbClr val="FFFFFF"/>
                </a:solidFill>
                <a:latin typeface="微软雅黑" panose="020B0503020204020204" pitchFamily="34" charset="-122"/>
                <a:cs typeface="微软雅黑" panose="020B0503020204020204" pitchFamily="34" charset="-122"/>
              </a:rPr>
              <a:t>方法测试</a:t>
            </a:r>
            <a:endParaRPr sz="2200">
              <a:latin typeface="微软雅黑" panose="020B0503020204020204" pitchFamily="34" charset="-122"/>
              <a:cs typeface="微软雅黑" panose="020B0503020204020204" pitchFamily="34" charset="-122"/>
            </a:endParaRPr>
          </a:p>
        </p:txBody>
      </p:sp>
      <p:sp>
        <p:nvSpPr>
          <p:cNvPr id="3" name="object 3"/>
          <p:cNvSpPr/>
          <p:nvPr/>
        </p:nvSpPr>
        <p:spPr>
          <a:xfrm>
            <a:off x="3691475" y="609597"/>
            <a:ext cx="389890" cy="339090"/>
          </a:xfrm>
          <a:custGeom>
            <a:avLst/>
            <a:gdLst/>
            <a:ahLst/>
            <a:cxnLst/>
            <a:rect l="l" t="t" r="r" b="b"/>
            <a:pathLst>
              <a:path w="389889" h="339090">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4" name="object 4"/>
          <p:cNvSpPr txBox="1">
            <a:spLocks noGrp="1"/>
          </p:cNvSpPr>
          <p:nvPr>
            <p:ph type="title"/>
          </p:nvPr>
        </p:nvSpPr>
        <p:spPr>
          <a:xfrm>
            <a:off x="4275921" y="584958"/>
            <a:ext cx="2496185" cy="360680"/>
          </a:xfrm>
          <a:prstGeom prst="rect">
            <a:avLst/>
          </a:prstGeom>
        </p:spPr>
        <p:txBody>
          <a:bodyPr vert="horz" wrap="square" lIns="0" tIns="12700" rIns="0" bIns="0" rtlCol="0">
            <a:spAutoFit/>
          </a:bodyPr>
          <a:lstStyle/>
          <a:p>
            <a:pPr marL="12700">
              <a:lnSpc>
                <a:spcPct val="100000"/>
              </a:lnSpc>
              <a:spcBef>
                <a:spcPts val="100"/>
              </a:spcBef>
            </a:pPr>
            <a:r>
              <a:rPr spc="-5" dirty="0">
                <a:solidFill>
                  <a:srgbClr val="CC0000"/>
                </a:solidFill>
              </a:rPr>
              <a:t>get_neighbor_count</a:t>
            </a:r>
          </a:p>
        </p:txBody>
      </p:sp>
      <p:sp>
        <p:nvSpPr>
          <p:cNvPr id="5" name="object 5"/>
          <p:cNvSpPr/>
          <p:nvPr/>
        </p:nvSpPr>
        <p:spPr>
          <a:xfrm>
            <a:off x="1308590" y="1354420"/>
            <a:ext cx="4321261" cy="2281940"/>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1087437" y="1290642"/>
            <a:ext cx="5098415" cy="2514600"/>
          </a:xfrm>
          <a:custGeom>
            <a:avLst/>
            <a:gdLst/>
            <a:ahLst/>
            <a:cxnLst/>
            <a:rect l="l" t="t" r="r" b="b"/>
            <a:pathLst>
              <a:path w="5098415" h="2514600">
                <a:moveTo>
                  <a:pt x="0" y="0"/>
                </a:moveTo>
                <a:lnTo>
                  <a:pt x="5097858" y="0"/>
                </a:lnTo>
                <a:lnTo>
                  <a:pt x="5097858" y="2514599"/>
                </a:lnTo>
                <a:lnTo>
                  <a:pt x="0" y="2514599"/>
                </a:lnTo>
                <a:lnTo>
                  <a:pt x="0" y="0"/>
                </a:lnTo>
                <a:close/>
              </a:path>
            </a:pathLst>
          </a:custGeom>
          <a:ln w="9524">
            <a:solidFill>
              <a:srgbClr val="919191"/>
            </a:solidFill>
          </a:ln>
        </p:spPr>
        <p:txBody>
          <a:bodyPr wrap="square" lIns="0" tIns="0" rIns="0" bIns="0" rtlCol="0"/>
          <a:lstStyle/>
          <a:p>
            <a:endParaRPr/>
          </a:p>
        </p:txBody>
      </p:sp>
      <p:sp>
        <p:nvSpPr>
          <p:cNvPr id="7" name="object 7"/>
          <p:cNvSpPr/>
          <p:nvPr/>
        </p:nvSpPr>
        <p:spPr>
          <a:xfrm>
            <a:off x="1092192" y="4055457"/>
            <a:ext cx="2600765" cy="1331946"/>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1087430" y="4038070"/>
            <a:ext cx="2610485" cy="1436370"/>
          </a:xfrm>
          <a:custGeom>
            <a:avLst/>
            <a:gdLst/>
            <a:ahLst/>
            <a:cxnLst/>
            <a:rect l="l" t="t" r="r" b="b"/>
            <a:pathLst>
              <a:path w="2610485" h="1436370">
                <a:moveTo>
                  <a:pt x="0" y="0"/>
                </a:moveTo>
                <a:lnTo>
                  <a:pt x="2610245" y="0"/>
                </a:lnTo>
                <a:lnTo>
                  <a:pt x="2610245" y="1436290"/>
                </a:lnTo>
                <a:lnTo>
                  <a:pt x="0" y="1436290"/>
                </a:lnTo>
                <a:lnTo>
                  <a:pt x="0" y="0"/>
                </a:lnTo>
                <a:close/>
              </a:path>
            </a:pathLst>
          </a:custGeom>
          <a:ln w="9524">
            <a:solidFill>
              <a:srgbClr val="919191"/>
            </a:solidFill>
          </a:ln>
        </p:spPr>
        <p:txBody>
          <a:bodyPr wrap="square" lIns="0" tIns="0" rIns="0" bIns="0" rtlCol="0"/>
          <a:lstStyle/>
          <a:p>
            <a:endParaRPr/>
          </a:p>
        </p:txBody>
      </p:sp>
      <p:sp>
        <p:nvSpPr>
          <p:cNvPr id="9" name="object 9"/>
          <p:cNvSpPr/>
          <p:nvPr/>
        </p:nvSpPr>
        <p:spPr>
          <a:xfrm>
            <a:off x="3912887" y="4568044"/>
            <a:ext cx="242570" cy="325755"/>
          </a:xfrm>
          <a:custGeom>
            <a:avLst/>
            <a:gdLst/>
            <a:ahLst/>
            <a:cxnLst/>
            <a:rect l="l" t="t" r="r" b="b"/>
            <a:pathLst>
              <a:path w="242570" h="325754">
                <a:moveTo>
                  <a:pt x="0" y="0"/>
                </a:moveTo>
                <a:lnTo>
                  <a:pt x="0" y="325690"/>
                </a:lnTo>
                <a:lnTo>
                  <a:pt x="241966" y="162844"/>
                </a:lnTo>
                <a:lnTo>
                  <a:pt x="0" y="0"/>
                </a:lnTo>
                <a:close/>
              </a:path>
            </a:pathLst>
          </a:custGeom>
          <a:solidFill>
            <a:srgbClr val="919191"/>
          </a:solidFill>
        </p:spPr>
        <p:txBody>
          <a:bodyPr wrap="square" lIns="0" tIns="0" rIns="0" bIns="0" rtlCol="0"/>
          <a:lstStyle/>
          <a:p>
            <a:endParaRPr/>
          </a:p>
        </p:txBody>
      </p:sp>
      <p:sp>
        <p:nvSpPr>
          <p:cNvPr id="10" name="object 10"/>
          <p:cNvSpPr/>
          <p:nvPr/>
        </p:nvSpPr>
        <p:spPr>
          <a:xfrm>
            <a:off x="4025228" y="4560642"/>
            <a:ext cx="242570" cy="325755"/>
          </a:xfrm>
          <a:custGeom>
            <a:avLst/>
            <a:gdLst/>
            <a:ahLst/>
            <a:cxnLst/>
            <a:rect l="l" t="t" r="r" b="b"/>
            <a:pathLst>
              <a:path w="242570" h="325754">
                <a:moveTo>
                  <a:pt x="0" y="0"/>
                </a:moveTo>
                <a:lnTo>
                  <a:pt x="0" y="325688"/>
                </a:lnTo>
                <a:lnTo>
                  <a:pt x="241968" y="162844"/>
                </a:lnTo>
                <a:lnTo>
                  <a:pt x="0" y="0"/>
                </a:lnTo>
                <a:close/>
              </a:path>
            </a:pathLst>
          </a:custGeom>
          <a:solidFill>
            <a:srgbClr val="919191"/>
          </a:solidFill>
        </p:spPr>
        <p:txBody>
          <a:bodyPr wrap="square" lIns="0" tIns="0" rIns="0" bIns="0" rtlCol="0"/>
          <a:lstStyle/>
          <a:p>
            <a:endParaRPr/>
          </a:p>
        </p:txBody>
      </p:sp>
      <p:sp>
        <p:nvSpPr>
          <p:cNvPr id="11" name="object 11"/>
          <p:cNvSpPr/>
          <p:nvPr/>
        </p:nvSpPr>
        <p:spPr>
          <a:xfrm>
            <a:off x="4970352" y="4051302"/>
            <a:ext cx="1563338" cy="2279649"/>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4438121" y="4046540"/>
            <a:ext cx="2679065" cy="2320925"/>
          </a:xfrm>
          <a:custGeom>
            <a:avLst/>
            <a:gdLst/>
            <a:ahLst/>
            <a:cxnLst/>
            <a:rect l="l" t="t" r="r" b="b"/>
            <a:pathLst>
              <a:path w="2679065" h="2320925">
                <a:moveTo>
                  <a:pt x="0" y="0"/>
                </a:moveTo>
                <a:lnTo>
                  <a:pt x="2678508" y="0"/>
                </a:lnTo>
                <a:lnTo>
                  <a:pt x="2678508" y="2320923"/>
                </a:lnTo>
                <a:lnTo>
                  <a:pt x="0" y="2320923"/>
                </a:lnTo>
                <a:lnTo>
                  <a:pt x="0" y="0"/>
                </a:lnTo>
                <a:close/>
              </a:path>
            </a:pathLst>
          </a:custGeom>
          <a:ln w="9524">
            <a:solidFill>
              <a:srgbClr val="919191"/>
            </a:solidFill>
          </a:ln>
        </p:spPr>
        <p:txBody>
          <a:bodyPr wrap="square" lIns="0" tIns="0" rIns="0" bIns="0" rtlCol="0"/>
          <a:lstStyle/>
          <a:p>
            <a:endParaRPr/>
          </a:p>
        </p:txBody>
      </p:sp>
      <p:sp>
        <p:nvSpPr>
          <p:cNvPr id="13" name="object 13"/>
          <p:cNvSpPr/>
          <p:nvPr/>
        </p:nvSpPr>
        <p:spPr>
          <a:xfrm>
            <a:off x="7287697" y="3333751"/>
            <a:ext cx="3853788" cy="3033183"/>
          </a:xfrm>
          <a:prstGeom prst="rect">
            <a:avLst/>
          </a:prstGeom>
          <a:blipFill>
            <a:blip r:embed="rId6" cstate="print"/>
            <a:stretch>
              <a:fillRect/>
            </a:stretch>
          </a:blipFill>
        </p:spPr>
        <p:txBody>
          <a:bodyPr wrap="square" lIns="0" tIns="0" rIns="0" bIns="0" rtlCol="0"/>
          <a:lstStyle/>
          <a:p>
            <a:endParaRPr/>
          </a:p>
        </p:txBody>
      </p:sp>
      <p:sp>
        <p:nvSpPr>
          <p:cNvPr id="14" name="object 14"/>
          <p:cNvSpPr/>
          <p:nvPr/>
        </p:nvSpPr>
        <p:spPr>
          <a:xfrm>
            <a:off x="7282934" y="3328989"/>
            <a:ext cx="3863340" cy="3042920"/>
          </a:xfrm>
          <a:custGeom>
            <a:avLst/>
            <a:gdLst/>
            <a:ahLst/>
            <a:cxnLst/>
            <a:rect l="l" t="t" r="r" b="b"/>
            <a:pathLst>
              <a:path w="3863340" h="3042920">
                <a:moveTo>
                  <a:pt x="0" y="0"/>
                </a:moveTo>
                <a:lnTo>
                  <a:pt x="3863179" y="0"/>
                </a:lnTo>
                <a:lnTo>
                  <a:pt x="3863179" y="3042839"/>
                </a:lnTo>
                <a:lnTo>
                  <a:pt x="0" y="3042839"/>
                </a:lnTo>
                <a:lnTo>
                  <a:pt x="0" y="0"/>
                </a:lnTo>
                <a:close/>
              </a:path>
            </a:pathLst>
          </a:custGeom>
          <a:ln w="9524">
            <a:solidFill>
              <a:srgbClr val="919191"/>
            </a:solidFill>
          </a:ln>
        </p:spPr>
        <p:txBody>
          <a:bodyPr wrap="square" lIns="0" tIns="0" rIns="0" bIns="0" rtlCol="0"/>
          <a:lstStyle/>
          <a:p>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220747"/>
            <a:ext cx="10515600" cy="1325563"/>
          </a:xfrm>
          <a:prstGeom prst="rect">
            <a:avLst/>
          </a:prstGeom>
        </p:spPr>
        <p:txBody>
          <a:bodyPr vert="horz" wrap="square" lIns="0" tIns="12700" rIns="0" bIns="0" rtlCol="0">
            <a:spAutoFit/>
          </a:bodyPr>
          <a:lstStyle/>
          <a:p>
            <a:pPr marL="3101975" marR="5080">
              <a:lnSpc>
                <a:spcPct val="110000"/>
              </a:lnSpc>
              <a:spcBef>
                <a:spcPts val="100"/>
              </a:spcBef>
            </a:pPr>
            <a:r>
              <a:rPr spc="-5" dirty="0">
                <a:solidFill>
                  <a:srgbClr val="CC0000"/>
                </a:solidFill>
              </a:rPr>
              <a:t>get_neighbor_count_map</a:t>
            </a:r>
            <a:r>
              <a:rPr spc="-5" dirty="0">
                <a:solidFill>
                  <a:srgbClr val="CC0000"/>
                </a:solidFill>
                <a:latin typeface="微软雅黑" panose="020B0503020204020204" pitchFamily="34" charset="-122"/>
                <a:cs typeface="微软雅黑" panose="020B0503020204020204" pitchFamily="34" charset="-122"/>
              </a:rPr>
              <a:t>：</a:t>
            </a:r>
            <a:r>
              <a:rPr dirty="0">
                <a:latin typeface="微软雅黑" panose="020B0503020204020204" pitchFamily="34" charset="-122"/>
                <a:cs typeface="微软雅黑" panose="020B0503020204020204" pitchFamily="34" charset="-122"/>
              </a:rPr>
              <a:t>依赖</a:t>
            </a:r>
            <a:r>
              <a:rPr spc="80" dirty="0">
                <a:latin typeface="微软雅黑" panose="020B0503020204020204" pitchFamily="34" charset="-122"/>
                <a:cs typeface="微软雅黑" panose="020B0503020204020204" pitchFamily="34" charset="-122"/>
              </a:rPr>
              <a:t> </a:t>
            </a:r>
            <a:r>
              <a:rPr spc="-5" dirty="0"/>
              <a:t>get_neighbor_count</a:t>
            </a:r>
            <a:r>
              <a:rPr spc="-5" dirty="0">
                <a:latin typeface="微软雅黑" panose="020B0503020204020204" pitchFamily="34" charset="-122"/>
                <a:cs typeface="微软雅黑" panose="020B0503020204020204" pitchFamily="34" charset="-122"/>
              </a:rPr>
              <a:t>，  </a:t>
            </a:r>
            <a:r>
              <a:rPr dirty="0">
                <a:latin typeface="微软雅黑" panose="020B0503020204020204" pitchFamily="34" charset="-122"/>
                <a:cs typeface="微软雅黑" panose="020B0503020204020204" pitchFamily="34" charset="-122"/>
              </a:rPr>
              <a:t>测试时对依赖方法进行</a:t>
            </a:r>
            <a:r>
              <a:rPr spc="-5" dirty="0"/>
              <a:t>mock</a:t>
            </a:r>
            <a:r>
              <a:rPr spc="-5" dirty="0">
                <a:latin typeface="微软雅黑" panose="020B0503020204020204" pitchFamily="34" charset="-122"/>
                <a:cs typeface="微软雅黑" panose="020B0503020204020204" pitchFamily="34" charset="-122"/>
              </a:rPr>
              <a:t>，</a:t>
            </a:r>
            <a:r>
              <a:rPr dirty="0">
                <a:latin typeface="微软雅黑" panose="020B0503020204020204" pitchFamily="34" charset="-122"/>
                <a:cs typeface="微软雅黑" panose="020B0503020204020204" pitchFamily="34" charset="-122"/>
              </a:rPr>
              <a:t>保持测试的独立性。</a:t>
            </a:r>
          </a:p>
        </p:txBody>
      </p:sp>
      <p:sp>
        <p:nvSpPr>
          <p:cNvPr id="3" name="object 3"/>
          <p:cNvSpPr/>
          <p:nvPr/>
        </p:nvSpPr>
        <p:spPr>
          <a:xfrm>
            <a:off x="1068914" y="1577730"/>
            <a:ext cx="10005483" cy="1051351"/>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1064152" y="1495351"/>
            <a:ext cx="10015220" cy="1139190"/>
          </a:xfrm>
          <a:custGeom>
            <a:avLst/>
            <a:gdLst/>
            <a:ahLst/>
            <a:cxnLst/>
            <a:rect l="l" t="t" r="r" b="b"/>
            <a:pathLst>
              <a:path w="10015220" h="1139189">
                <a:moveTo>
                  <a:pt x="0" y="0"/>
                </a:moveTo>
                <a:lnTo>
                  <a:pt x="10015137" y="0"/>
                </a:lnTo>
                <a:lnTo>
                  <a:pt x="10015137" y="1138634"/>
                </a:lnTo>
                <a:lnTo>
                  <a:pt x="0" y="1138634"/>
                </a:lnTo>
                <a:lnTo>
                  <a:pt x="0" y="0"/>
                </a:lnTo>
                <a:close/>
              </a:path>
            </a:pathLst>
          </a:custGeom>
          <a:ln w="9524">
            <a:solidFill>
              <a:srgbClr val="919191"/>
            </a:solidFill>
          </a:ln>
        </p:spPr>
        <p:txBody>
          <a:bodyPr wrap="square" lIns="0" tIns="0" rIns="0" bIns="0" rtlCol="0"/>
          <a:lstStyle/>
          <a:p>
            <a:endParaRPr/>
          </a:p>
        </p:txBody>
      </p:sp>
      <p:sp>
        <p:nvSpPr>
          <p:cNvPr id="5" name="object 5"/>
          <p:cNvSpPr/>
          <p:nvPr/>
        </p:nvSpPr>
        <p:spPr>
          <a:xfrm>
            <a:off x="3793958" y="2979726"/>
            <a:ext cx="4797590" cy="3469195"/>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3789195" y="2974963"/>
            <a:ext cx="4806950" cy="3479165"/>
          </a:xfrm>
          <a:custGeom>
            <a:avLst/>
            <a:gdLst/>
            <a:ahLst/>
            <a:cxnLst/>
            <a:rect l="l" t="t" r="r" b="b"/>
            <a:pathLst>
              <a:path w="4806950" h="3479165">
                <a:moveTo>
                  <a:pt x="0" y="0"/>
                </a:moveTo>
                <a:lnTo>
                  <a:pt x="4806948" y="0"/>
                </a:lnTo>
                <a:lnTo>
                  <a:pt x="4806948" y="3478608"/>
                </a:lnTo>
                <a:lnTo>
                  <a:pt x="0" y="3478608"/>
                </a:lnTo>
                <a:lnTo>
                  <a:pt x="0" y="0"/>
                </a:lnTo>
                <a:close/>
              </a:path>
            </a:pathLst>
          </a:custGeom>
          <a:ln w="9524">
            <a:solidFill>
              <a:srgbClr val="919191"/>
            </a:solidFill>
          </a:ln>
        </p:spPr>
        <p:txBody>
          <a:bodyPr wrap="square" lIns="0" tIns="0" rIns="0" bIns="0" rtlCol="0"/>
          <a:lstStyle/>
          <a:p>
            <a:endParaRPr/>
          </a:p>
        </p:txBody>
      </p:sp>
      <p:sp>
        <p:nvSpPr>
          <p:cNvPr id="7" name="object 7"/>
          <p:cNvSpPr txBox="1"/>
          <p:nvPr/>
        </p:nvSpPr>
        <p:spPr>
          <a:xfrm>
            <a:off x="728144" y="490173"/>
            <a:ext cx="2455545" cy="643890"/>
          </a:xfrm>
          <a:prstGeom prst="rect">
            <a:avLst/>
          </a:prstGeom>
          <a:solidFill>
            <a:srgbClr val="6C6C6C"/>
          </a:solidFill>
        </p:spPr>
        <p:txBody>
          <a:bodyPr vert="horz" wrap="square" lIns="0" tIns="130175" rIns="0" bIns="0" rtlCol="0">
            <a:spAutoFit/>
          </a:bodyPr>
          <a:lstStyle/>
          <a:p>
            <a:pPr marL="671195">
              <a:lnSpc>
                <a:spcPct val="100000"/>
              </a:lnSpc>
              <a:spcBef>
                <a:spcPts val="1025"/>
              </a:spcBef>
            </a:pPr>
            <a:r>
              <a:rPr sz="2200" dirty="0">
                <a:solidFill>
                  <a:srgbClr val="FFFFFF"/>
                </a:solidFill>
                <a:latin typeface="微软雅黑" panose="020B0503020204020204" pitchFamily="34" charset="-122"/>
                <a:cs typeface="微软雅黑" panose="020B0503020204020204" pitchFamily="34" charset="-122"/>
              </a:rPr>
              <a:t>方法测试</a:t>
            </a:r>
            <a:endParaRPr sz="2200">
              <a:latin typeface="微软雅黑" panose="020B0503020204020204" pitchFamily="34" charset="-122"/>
              <a:cs typeface="微软雅黑" panose="020B0503020204020204" pitchFamily="34" charset="-122"/>
            </a:endParaRPr>
          </a:p>
        </p:txBody>
      </p:sp>
      <p:sp>
        <p:nvSpPr>
          <p:cNvPr id="8" name="object 8"/>
          <p:cNvSpPr/>
          <p:nvPr/>
        </p:nvSpPr>
        <p:spPr>
          <a:xfrm>
            <a:off x="3386677" y="625639"/>
            <a:ext cx="389890" cy="339090"/>
          </a:xfrm>
          <a:custGeom>
            <a:avLst/>
            <a:gdLst/>
            <a:ahLst/>
            <a:cxnLst/>
            <a:rect l="l" t="t" r="r" b="b"/>
            <a:pathLst>
              <a:path w="389889" h="339090">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65307"/>
            <a:ext cx="2514600" cy="452120"/>
          </a:xfrm>
          <a:prstGeom prst="rect">
            <a:avLst/>
          </a:prstGeom>
        </p:spPr>
        <p:txBody>
          <a:bodyPr vert="horz" wrap="square" lIns="0" tIns="12700" rIns="0" bIns="0" rtlCol="0">
            <a:spAutoFit/>
          </a:bodyPr>
          <a:lstStyle/>
          <a:p>
            <a:pPr marL="12700">
              <a:lnSpc>
                <a:spcPct val="100000"/>
              </a:lnSpc>
              <a:spcBef>
                <a:spcPts val="100"/>
              </a:spcBef>
            </a:pPr>
            <a:r>
              <a:rPr sz="2800" b="1" dirty="0">
                <a:latin typeface="微软雅黑" panose="020B0503020204020204" pitchFamily="34" charset="-122"/>
                <a:cs typeface="微软雅黑" panose="020B0503020204020204" pitchFamily="34" charset="-122"/>
              </a:rPr>
              <a:t>案例：生命游戏</a:t>
            </a:r>
            <a:endParaRPr sz="2800" dirty="0">
              <a:latin typeface="微软雅黑" panose="020B0503020204020204" pitchFamily="34" charset="-122"/>
              <a:cs typeface="微软雅黑" panose="020B0503020204020204" pitchFamily="34" charset="-122"/>
            </a:endParaRPr>
          </a:p>
        </p:txBody>
      </p:sp>
      <p:sp>
        <p:nvSpPr>
          <p:cNvPr id="3" name="object 3"/>
          <p:cNvSpPr txBox="1"/>
          <p:nvPr/>
        </p:nvSpPr>
        <p:spPr>
          <a:xfrm>
            <a:off x="1066808" y="1473197"/>
            <a:ext cx="2455545" cy="643890"/>
          </a:xfrm>
          <a:prstGeom prst="rect">
            <a:avLst/>
          </a:prstGeom>
          <a:solidFill>
            <a:srgbClr val="6C6C6C"/>
          </a:solidFill>
        </p:spPr>
        <p:txBody>
          <a:bodyPr vert="horz" wrap="square" lIns="0" tIns="130175" rIns="0" bIns="0" rtlCol="0">
            <a:spAutoFit/>
          </a:bodyPr>
          <a:lstStyle/>
          <a:p>
            <a:pPr marL="671195">
              <a:lnSpc>
                <a:spcPct val="100000"/>
              </a:lnSpc>
              <a:spcBef>
                <a:spcPts val="1025"/>
              </a:spcBef>
            </a:pPr>
            <a:r>
              <a:rPr sz="2200" dirty="0">
                <a:solidFill>
                  <a:srgbClr val="FFFFFF"/>
                </a:solidFill>
                <a:latin typeface="微软雅黑" panose="020B0503020204020204" pitchFamily="34" charset="-122"/>
                <a:cs typeface="微软雅黑" panose="020B0503020204020204" pitchFamily="34" charset="-122"/>
              </a:rPr>
              <a:t>方法测试</a:t>
            </a:r>
            <a:endParaRPr sz="2200">
              <a:latin typeface="微软雅黑" panose="020B0503020204020204" pitchFamily="34" charset="-122"/>
              <a:cs typeface="微软雅黑" panose="020B0503020204020204" pitchFamily="34" charset="-122"/>
            </a:endParaRPr>
          </a:p>
        </p:txBody>
      </p:sp>
      <p:sp>
        <p:nvSpPr>
          <p:cNvPr id="4" name="object 4"/>
          <p:cNvSpPr/>
          <p:nvPr/>
        </p:nvSpPr>
        <p:spPr>
          <a:xfrm>
            <a:off x="3691475" y="1608663"/>
            <a:ext cx="389890" cy="339090"/>
          </a:xfrm>
          <a:custGeom>
            <a:avLst/>
            <a:gdLst/>
            <a:ahLst/>
            <a:cxnLst/>
            <a:rect l="l" t="t" r="r" b="b"/>
            <a:pathLst>
              <a:path w="389889" h="339089">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5" name="object 5"/>
          <p:cNvSpPr txBox="1"/>
          <p:nvPr/>
        </p:nvSpPr>
        <p:spPr>
          <a:xfrm>
            <a:off x="4275922" y="1544234"/>
            <a:ext cx="1097280" cy="360680"/>
          </a:xfrm>
          <a:prstGeom prst="rect">
            <a:avLst/>
          </a:prstGeom>
        </p:spPr>
        <p:txBody>
          <a:bodyPr vert="horz" wrap="square" lIns="0" tIns="12700" rIns="0" bIns="0" rtlCol="0">
            <a:spAutoFit/>
          </a:bodyPr>
          <a:lstStyle/>
          <a:p>
            <a:pPr marL="12700">
              <a:lnSpc>
                <a:spcPct val="100000"/>
              </a:lnSpc>
              <a:spcBef>
                <a:spcPts val="100"/>
              </a:spcBef>
            </a:pPr>
            <a:r>
              <a:rPr sz="2200" spc="-5" dirty="0">
                <a:solidFill>
                  <a:srgbClr val="CC0000"/>
                </a:solidFill>
                <a:latin typeface="Arial" panose="020B0604020202020204"/>
                <a:cs typeface="Arial" panose="020B0604020202020204"/>
              </a:rPr>
              <a:t>set_map</a:t>
            </a:r>
            <a:endParaRPr sz="2200">
              <a:latin typeface="Arial" panose="020B0604020202020204"/>
              <a:cs typeface="Arial" panose="020B0604020202020204"/>
            </a:endParaRPr>
          </a:p>
        </p:txBody>
      </p:sp>
      <p:sp>
        <p:nvSpPr>
          <p:cNvPr id="6" name="object 6"/>
          <p:cNvSpPr/>
          <p:nvPr/>
        </p:nvSpPr>
        <p:spPr>
          <a:xfrm>
            <a:off x="1109129" y="2392787"/>
            <a:ext cx="9118601" cy="338178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1104367" y="2251604"/>
            <a:ext cx="9128125" cy="3528060"/>
          </a:xfrm>
          <a:custGeom>
            <a:avLst/>
            <a:gdLst/>
            <a:ahLst/>
            <a:cxnLst/>
            <a:rect l="l" t="t" r="r" b="b"/>
            <a:pathLst>
              <a:path w="9128125" h="3528060">
                <a:moveTo>
                  <a:pt x="0" y="0"/>
                </a:moveTo>
                <a:lnTo>
                  <a:pt x="9128122" y="0"/>
                </a:lnTo>
                <a:lnTo>
                  <a:pt x="9128122" y="3527821"/>
                </a:lnTo>
                <a:lnTo>
                  <a:pt x="0" y="3527821"/>
                </a:lnTo>
                <a:lnTo>
                  <a:pt x="0" y="0"/>
                </a:lnTo>
                <a:close/>
              </a:path>
            </a:pathLst>
          </a:custGeom>
          <a:ln w="9524">
            <a:solidFill>
              <a:srgbClr val="919191"/>
            </a:solidFill>
          </a:ln>
        </p:spPr>
        <p:txBody>
          <a:bodyPr wrap="square" lIns="0" tIns="0" rIns="0" bIns="0" rtlCol="0"/>
          <a:lstStyle/>
          <a:p>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65307"/>
            <a:ext cx="2514600" cy="452120"/>
          </a:xfrm>
          <a:prstGeom prst="rect">
            <a:avLst/>
          </a:prstGeom>
        </p:spPr>
        <p:txBody>
          <a:bodyPr vert="horz" wrap="square" lIns="0" tIns="12700" rIns="0" bIns="0" rtlCol="0">
            <a:spAutoFit/>
          </a:bodyPr>
          <a:lstStyle/>
          <a:p>
            <a:pPr marL="12700">
              <a:lnSpc>
                <a:spcPct val="100000"/>
              </a:lnSpc>
              <a:spcBef>
                <a:spcPts val="100"/>
              </a:spcBef>
            </a:pPr>
            <a:r>
              <a:rPr sz="2800" b="1" dirty="0">
                <a:latin typeface="微软雅黑" panose="020B0503020204020204" pitchFamily="34" charset="-122"/>
                <a:cs typeface="微软雅黑" panose="020B0503020204020204" pitchFamily="34" charset="-122"/>
              </a:rPr>
              <a:t>案例：生命游戏</a:t>
            </a:r>
            <a:endParaRPr sz="2800">
              <a:latin typeface="微软雅黑" panose="020B0503020204020204" pitchFamily="34" charset="-122"/>
              <a:cs typeface="微软雅黑" panose="020B0503020204020204" pitchFamily="34" charset="-122"/>
            </a:endParaRPr>
          </a:p>
        </p:txBody>
      </p:sp>
      <p:sp>
        <p:nvSpPr>
          <p:cNvPr id="3" name="object 3"/>
          <p:cNvSpPr txBox="1"/>
          <p:nvPr/>
        </p:nvSpPr>
        <p:spPr>
          <a:xfrm>
            <a:off x="1066808" y="1473197"/>
            <a:ext cx="2455545" cy="643890"/>
          </a:xfrm>
          <a:prstGeom prst="rect">
            <a:avLst/>
          </a:prstGeom>
          <a:solidFill>
            <a:srgbClr val="6C6C6C"/>
          </a:solidFill>
        </p:spPr>
        <p:txBody>
          <a:bodyPr vert="horz" wrap="square" lIns="0" tIns="130175" rIns="0" bIns="0" rtlCol="0">
            <a:spAutoFit/>
          </a:bodyPr>
          <a:lstStyle/>
          <a:p>
            <a:pPr marL="671195">
              <a:lnSpc>
                <a:spcPct val="100000"/>
              </a:lnSpc>
              <a:spcBef>
                <a:spcPts val="1025"/>
              </a:spcBef>
            </a:pPr>
            <a:r>
              <a:rPr sz="2200" dirty="0">
                <a:solidFill>
                  <a:srgbClr val="FFFFFF"/>
                </a:solidFill>
                <a:latin typeface="微软雅黑" panose="020B0503020204020204" pitchFamily="34" charset="-122"/>
                <a:cs typeface="微软雅黑" panose="020B0503020204020204" pitchFamily="34" charset="-122"/>
              </a:rPr>
              <a:t>方法测试</a:t>
            </a:r>
            <a:endParaRPr sz="2200">
              <a:latin typeface="微软雅黑" panose="020B0503020204020204" pitchFamily="34" charset="-122"/>
              <a:cs typeface="微软雅黑" panose="020B0503020204020204" pitchFamily="34" charset="-122"/>
            </a:endParaRPr>
          </a:p>
        </p:txBody>
      </p:sp>
      <p:sp>
        <p:nvSpPr>
          <p:cNvPr id="4" name="object 4"/>
          <p:cNvSpPr/>
          <p:nvPr/>
        </p:nvSpPr>
        <p:spPr>
          <a:xfrm>
            <a:off x="3691475" y="1608663"/>
            <a:ext cx="389890" cy="339090"/>
          </a:xfrm>
          <a:custGeom>
            <a:avLst/>
            <a:gdLst/>
            <a:ahLst/>
            <a:cxnLst/>
            <a:rect l="l" t="t" r="r" b="b"/>
            <a:pathLst>
              <a:path w="389889" h="339089">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5" name="object 5"/>
          <p:cNvSpPr txBox="1"/>
          <p:nvPr/>
        </p:nvSpPr>
        <p:spPr>
          <a:xfrm>
            <a:off x="4275922" y="1544234"/>
            <a:ext cx="1097280" cy="360680"/>
          </a:xfrm>
          <a:prstGeom prst="rect">
            <a:avLst/>
          </a:prstGeom>
        </p:spPr>
        <p:txBody>
          <a:bodyPr vert="horz" wrap="square" lIns="0" tIns="12700" rIns="0" bIns="0" rtlCol="0">
            <a:spAutoFit/>
          </a:bodyPr>
          <a:lstStyle/>
          <a:p>
            <a:pPr marL="12700">
              <a:lnSpc>
                <a:spcPct val="100000"/>
              </a:lnSpc>
              <a:spcBef>
                <a:spcPts val="100"/>
              </a:spcBef>
            </a:pPr>
            <a:r>
              <a:rPr sz="2200" spc="-5" dirty="0">
                <a:solidFill>
                  <a:srgbClr val="CC0000"/>
                </a:solidFill>
                <a:latin typeface="Arial" panose="020B0604020202020204"/>
                <a:cs typeface="Arial" panose="020B0604020202020204"/>
              </a:rPr>
              <a:t>set_map</a:t>
            </a:r>
            <a:endParaRPr sz="2200">
              <a:latin typeface="Arial" panose="020B0604020202020204"/>
              <a:cs typeface="Arial" panose="020B0604020202020204"/>
            </a:endParaRPr>
          </a:p>
        </p:txBody>
      </p:sp>
      <p:sp>
        <p:nvSpPr>
          <p:cNvPr id="6" name="object 6"/>
          <p:cNvSpPr/>
          <p:nvPr/>
        </p:nvSpPr>
        <p:spPr>
          <a:xfrm>
            <a:off x="1096432" y="2369186"/>
            <a:ext cx="10045698" cy="1999454"/>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1091669" y="2232972"/>
            <a:ext cx="10055225" cy="2140585"/>
          </a:xfrm>
          <a:custGeom>
            <a:avLst/>
            <a:gdLst/>
            <a:ahLst/>
            <a:cxnLst/>
            <a:rect l="l" t="t" r="r" b="b"/>
            <a:pathLst>
              <a:path w="10055225" h="2140585">
                <a:moveTo>
                  <a:pt x="0" y="0"/>
                </a:moveTo>
                <a:lnTo>
                  <a:pt x="10055221" y="0"/>
                </a:lnTo>
                <a:lnTo>
                  <a:pt x="10055221" y="2140346"/>
                </a:lnTo>
                <a:lnTo>
                  <a:pt x="0" y="2140346"/>
                </a:lnTo>
                <a:lnTo>
                  <a:pt x="0" y="0"/>
                </a:lnTo>
                <a:close/>
              </a:path>
            </a:pathLst>
          </a:custGeom>
          <a:ln w="9524">
            <a:solidFill>
              <a:srgbClr val="919191"/>
            </a:solidFill>
          </a:ln>
        </p:spPr>
        <p:txBody>
          <a:bodyPr wrap="square" lIns="0" tIns="0" rIns="0" bIns="0" rtlCol="0"/>
          <a:lstStyle/>
          <a:p>
            <a:endParaRPr/>
          </a:p>
        </p:txBody>
      </p:sp>
      <p:sp>
        <p:nvSpPr>
          <p:cNvPr id="8" name="object 8"/>
          <p:cNvSpPr/>
          <p:nvPr/>
        </p:nvSpPr>
        <p:spPr>
          <a:xfrm>
            <a:off x="4963583" y="2229265"/>
            <a:ext cx="4878915" cy="3599398"/>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4958820" y="2224502"/>
            <a:ext cx="4888865" cy="3609340"/>
          </a:xfrm>
          <a:custGeom>
            <a:avLst/>
            <a:gdLst/>
            <a:ahLst/>
            <a:cxnLst/>
            <a:rect l="l" t="t" r="r" b="b"/>
            <a:pathLst>
              <a:path w="4888865" h="3609340">
                <a:moveTo>
                  <a:pt x="0" y="0"/>
                </a:moveTo>
                <a:lnTo>
                  <a:pt x="4888308" y="0"/>
                </a:lnTo>
                <a:lnTo>
                  <a:pt x="4888308" y="3608783"/>
                </a:lnTo>
                <a:lnTo>
                  <a:pt x="0" y="3608783"/>
                </a:lnTo>
                <a:lnTo>
                  <a:pt x="0" y="0"/>
                </a:lnTo>
                <a:close/>
              </a:path>
            </a:pathLst>
          </a:custGeom>
          <a:ln w="9524">
            <a:solidFill>
              <a:srgbClr val="919191"/>
            </a:solidFill>
          </a:ln>
        </p:spPr>
        <p:txBody>
          <a:bodyPr wrap="square" lIns="0" tIns="0" rIns="0" bIns="0" rtlCol="0"/>
          <a:lstStyle/>
          <a:p>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65307"/>
            <a:ext cx="2514600" cy="452120"/>
          </a:xfrm>
          <a:prstGeom prst="rect">
            <a:avLst/>
          </a:prstGeom>
        </p:spPr>
        <p:txBody>
          <a:bodyPr vert="horz" wrap="square" lIns="0" tIns="12700" rIns="0" bIns="0" rtlCol="0">
            <a:spAutoFit/>
          </a:bodyPr>
          <a:lstStyle/>
          <a:p>
            <a:pPr marL="12700">
              <a:lnSpc>
                <a:spcPct val="100000"/>
              </a:lnSpc>
              <a:spcBef>
                <a:spcPts val="100"/>
              </a:spcBef>
            </a:pPr>
            <a:r>
              <a:rPr sz="2800" b="1" dirty="0">
                <a:latin typeface="微软雅黑" panose="020B0503020204020204" pitchFamily="34" charset="-122"/>
                <a:cs typeface="微软雅黑" panose="020B0503020204020204" pitchFamily="34" charset="-122"/>
              </a:rPr>
              <a:t>案例：生命游戏</a:t>
            </a:r>
            <a:endParaRPr sz="2800">
              <a:latin typeface="微软雅黑" panose="020B0503020204020204" pitchFamily="34" charset="-122"/>
              <a:cs typeface="微软雅黑" panose="020B0503020204020204" pitchFamily="34" charset="-122"/>
            </a:endParaRPr>
          </a:p>
        </p:txBody>
      </p:sp>
      <p:sp>
        <p:nvSpPr>
          <p:cNvPr id="3" name="object 3"/>
          <p:cNvSpPr txBox="1"/>
          <p:nvPr/>
        </p:nvSpPr>
        <p:spPr>
          <a:xfrm>
            <a:off x="1066808" y="1473197"/>
            <a:ext cx="2455545" cy="643890"/>
          </a:xfrm>
          <a:prstGeom prst="rect">
            <a:avLst/>
          </a:prstGeom>
          <a:solidFill>
            <a:srgbClr val="6C6C6C"/>
          </a:solidFill>
        </p:spPr>
        <p:txBody>
          <a:bodyPr vert="horz" wrap="square" lIns="0" tIns="130175" rIns="0" bIns="0" rtlCol="0">
            <a:spAutoFit/>
          </a:bodyPr>
          <a:lstStyle/>
          <a:p>
            <a:pPr marL="671195">
              <a:lnSpc>
                <a:spcPct val="100000"/>
              </a:lnSpc>
              <a:spcBef>
                <a:spcPts val="1025"/>
              </a:spcBef>
            </a:pPr>
            <a:r>
              <a:rPr sz="2200" dirty="0">
                <a:solidFill>
                  <a:srgbClr val="FFFFFF"/>
                </a:solidFill>
                <a:latin typeface="微软雅黑" panose="020B0503020204020204" pitchFamily="34" charset="-122"/>
                <a:cs typeface="微软雅黑" panose="020B0503020204020204" pitchFamily="34" charset="-122"/>
              </a:rPr>
              <a:t>方法测试</a:t>
            </a:r>
            <a:endParaRPr sz="2200">
              <a:latin typeface="微软雅黑" panose="020B0503020204020204" pitchFamily="34" charset="-122"/>
              <a:cs typeface="微软雅黑" panose="020B0503020204020204" pitchFamily="34" charset="-122"/>
            </a:endParaRPr>
          </a:p>
        </p:txBody>
      </p:sp>
      <p:sp>
        <p:nvSpPr>
          <p:cNvPr id="4" name="object 4"/>
          <p:cNvSpPr/>
          <p:nvPr/>
        </p:nvSpPr>
        <p:spPr>
          <a:xfrm>
            <a:off x="3691475" y="1608663"/>
            <a:ext cx="389890" cy="339090"/>
          </a:xfrm>
          <a:custGeom>
            <a:avLst/>
            <a:gdLst/>
            <a:ahLst/>
            <a:cxnLst/>
            <a:rect l="l" t="t" r="r" b="b"/>
            <a:pathLst>
              <a:path w="389889" h="339089">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5" name="object 5"/>
          <p:cNvSpPr txBox="1"/>
          <p:nvPr/>
        </p:nvSpPr>
        <p:spPr>
          <a:xfrm>
            <a:off x="4275922" y="1544234"/>
            <a:ext cx="1268095" cy="360680"/>
          </a:xfrm>
          <a:prstGeom prst="rect">
            <a:avLst/>
          </a:prstGeom>
        </p:spPr>
        <p:txBody>
          <a:bodyPr vert="horz" wrap="square" lIns="0" tIns="12700" rIns="0" bIns="0" rtlCol="0">
            <a:spAutoFit/>
          </a:bodyPr>
          <a:lstStyle/>
          <a:p>
            <a:pPr marL="12700">
              <a:lnSpc>
                <a:spcPct val="100000"/>
              </a:lnSpc>
              <a:spcBef>
                <a:spcPts val="100"/>
              </a:spcBef>
            </a:pPr>
            <a:r>
              <a:rPr sz="2200" spc="-5" dirty="0">
                <a:solidFill>
                  <a:srgbClr val="CC0000"/>
                </a:solidFill>
                <a:latin typeface="Arial" panose="020B0604020202020204"/>
                <a:cs typeface="Arial" panose="020B0604020202020204"/>
              </a:rPr>
              <a:t>print_map</a:t>
            </a:r>
            <a:endParaRPr sz="2200">
              <a:latin typeface="Arial" panose="020B0604020202020204"/>
              <a:cs typeface="Arial" panose="020B0604020202020204"/>
            </a:endParaRPr>
          </a:p>
        </p:txBody>
      </p:sp>
      <p:sp>
        <p:nvSpPr>
          <p:cNvPr id="6" name="object 6"/>
          <p:cNvSpPr/>
          <p:nvPr/>
        </p:nvSpPr>
        <p:spPr>
          <a:xfrm>
            <a:off x="1100664" y="2286000"/>
            <a:ext cx="9736665" cy="2461515"/>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1095902" y="2281237"/>
            <a:ext cx="9746615" cy="2471420"/>
          </a:xfrm>
          <a:custGeom>
            <a:avLst/>
            <a:gdLst/>
            <a:ahLst/>
            <a:cxnLst/>
            <a:rect l="l" t="t" r="r" b="b"/>
            <a:pathLst>
              <a:path w="9746615" h="2471420">
                <a:moveTo>
                  <a:pt x="0" y="0"/>
                </a:moveTo>
                <a:lnTo>
                  <a:pt x="9746056" y="0"/>
                </a:lnTo>
                <a:lnTo>
                  <a:pt x="9746056" y="2470942"/>
                </a:lnTo>
                <a:lnTo>
                  <a:pt x="0" y="2470942"/>
                </a:lnTo>
                <a:lnTo>
                  <a:pt x="0" y="0"/>
                </a:lnTo>
                <a:close/>
              </a:path>
            </a:pathLst>
          </a:custGeom>
          <a:ln w="9524">
            <a:solidFill>
              <a:srgbClr val="919191"/>
            </a:solidFill>
          </a:ln>
        </p:spPr>
        <p:txBody>
          <a:bodyPr wrap="square" lIns="0" tIns="0" rIns="0" bIns="0" rtlCol="0"/>
          <a:lstStyle/>
          <a:p>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65307"/>
            <a:ext cx="2514600" cy="452120"/>
          </a:xfrm>
          <a:prstGeom prst="rect">
            <a:avLst/>
          </a:prstGeom>
        </p:spPr>
        <p:txBody>
          <a:bodyPr vert="horz" wrap="square" lIns="0" tIns="12700" rIns="0" bIns="0" rtlCol="0">
            <a:spAutoFit/>
          </a:bodyPr>
          <a:lstStyle/>
          <a:p>
            <a:pPr marL="12700">
              <a:lnSpc>
                <a:spcPct val="100000"/>
              </a:lnSpc>
              <a:spcBef>
                <a:spcPts val="100"/>
              </a:spcBef>
            </a:pPr>
            <a:r>
              <a:rPr sz="2800" b="1" dirty="0">
                <a:latin typeface="微软雅黑" panose="020B0503020204020204" pitchFamily="34" charset="-122"/>
                <a:cs typeface="微软雅黑" panose="020B0503020204020204" pitchFamily="34" charset="-122"/>
              </a:rPr>
              <a:t>案例：生命游戏</a:t>
            </a:r>
            <a:endParaRPr sz="2800">
              <a:latin typeface="微软雅黑" panose="020B0503020204020204" pitchFamily="34" charset="-122"/>
              <a:cs typeface="微软雅黑" panose="020B0503020204020204" pitchFamily="34" charset="-122"/>
            </a:endParaRPr>
          </a:p>
        </p:txBody>
      </p:sp>
      <p:sp>
        <p:nvSpPr>
          <p:cNvPr id="3" name="object 3"/>
          <p:cNvSpPr txBox="1"/>
          <p:nvPr/>
        </p:nvSpPr>
        <p:spPr>
          <a:xfrm>
            <a:off x="1066808" y="1473197"/>
            <a:ext cx="2455545" cy="643890"/>
          </a:xfrm>
          <a:prstGeom prst="rect">
            <a:avLst/>
          </a:prstGeom>
          <a:solidFill>
            <a:srgbClr val="6C6C6C"/>
          </a:solidFill>
        </p:spPr>
        <p:txBody>
          <a:bodyPr vert="horz" wrap="square" lIns="0" tIns="130175" rIns="0" bIns="0" rtlCol="0">
            <a:spAutoFit/>
          </a:bodyPr>
          <a:lstStyle/>
          <a:p>
            <a:pPr marL="671195">
              <a:lnSpc>
                <a:spcPct val="100000"/>
              </a:lnSpc>
              <a:spcBef>
                <a:spcPts val="1025"/>
              </a:spcBef>
            </a:pPr>
            <a:r>
              <a:rPr sz="2200" dirty="0">
                <a:solidFill>
                  <a:srgbClr val="FFFFFF"/>
                </a:solidFill>
                <a:latin typeface="微软雅黑" panose="020B0503020204020204" pitchFamily="34" charset="-122"/>
                <a:cs typeface="微软雅黑" panose="020B0503020204020204" pitchFamily="34" charset="-122"/>
              </a:rPr>
              <a:t>方法测试</a:t>
            </a:r>
            <a:endParaRPr sz="2200">
              <a:latin typeface="微软雅黑" panose="020B0503020204020204" pitchFamily="34" charset="-122"/>
              <a:cs typeface="微软雅黑" panose="020B0503020204020204" pitchFamily="34" charset="-122"/>
            </a:endParaRPr>
          </a:p>
        </p:txBody>
      </p:sp>
      <p:sp>
        <p:nvSpPr>
          <p:cNvPr id="4" name="object 4"/>
          <p:cNvSpPr/>
          <p:nvPr/>
        </p:nvSpPr>
        <p:spPr>
          <a:xfrm>
            <a:off x="3691475" y="1608663"/>
            <a:ext cx="389890" cy="339090"/>
          </a:xfrm>
          <a:custGeom>
            <a:avLst/>
            <a:gdLst/>
            <a:ahLst/>
            <a:cxnLst/>
            <a:rect l="l" t="t" r="r" b="b"/>
            <a:pathLst>
              <a:path w="389889" h="339089">
                <a:moveTo>
                  <a:pt x="220134" y="0"/>
                </a:moveTo>
                <a:lnTo>
                  <a:pt x="220134" y="84667"/>
                </a:lnTo>
                <a:lnTo>
                  <a:pt x="0" y="84667"/>
                </a:lnTo>
                <a:lnTo>
                  <a:pt x="0" y="254000"/>
                </a:lnTo>
                <a:lnTo>
                  <a:pt x="220134" y="254000"/>
                </a:lnTo>
                <a:lnTo>
                  <a:pt x="220134" y="338665"/>
                </a:lnTo>
                <a:lnTo>
                  <a:pt x="389467" y="169332"/>
                </a:lnTo>
                <a:lnTo>
                  <a:pt x="220134" y="0"/>
                </a:lnTo>
                <a:close/>
              </a:path>
            </a:pathLst>
          </a:custGeom>
          <a:solidFill>
            <a:srgbClr val="919191"/>
          </a:solidFill>
        </p:spPr>
        <p:txBody>
          <a:bodyPr wrap="square" lIns="0" tIns="0" rIns="0" bIns="0" rtlCol="0"/>
          <a:lstStyle/>
          <a:p>
            <a:endParaRPr/>
          </a:p>
        </p:txBody>
      </p:sp>
      <p:sp>
        <p:nvSpPr>
          <p:cNvPr id="5" name="object 5"/>
          <p:cNvSpPr txBox="1"/>
          <p:nvPr/>
        </p:nvSpPr>
        <p:spPr>
          <a:xfrm>
            <a:off x="4275922" y="1544234"/>
            <a:ext cx="1268095" cy="360680"/>
          </a:xfrm>
          <a:prstGeom prst="rect">
            <a:avLst/>
          </a:prstGeom>
        </p:spPr>
        <p:txBody>
          <a:bodyPr vert="horz" wrap="square" lIns="0" tIns="12700" rIns="0" bIns="0" rtlCol="0">
            <a:spAutoFit/>
          </a:bodyPr>
          <a:lstStyle/>
          <a:p>
            <a:pPr marL="12700">
              <a:lnSpc>
                <a:spcPct val="100000"/>
              </a:lnSpc>
              <a:spcBef>
                <a:spcPts val="100"/>
              </a:spcBef>
            </a:pPr>
            <a:r>
              <a:rPr sz="2200" spc="-5" dirty="0">
                <a:solidFill>
                  <a:srgbClr val="CC0000"/>
                </a:solidFill>
                <a:latin typeface="Arial" panose="020B0604020202020204"/>
                <a:cs typeface="Arial" panose="020B0604020202020204"/>
              </a:rPr>
              <a:t>print_map</a:t>
            </a:r>
            <a:endParaRPr sz="2200">
              <a:latin typeface="Arial" panose="020B0604020202020204"/>
              <a:cs typeface="Arial" panose="020B0604020202020204"/>
            </a:endParaRPr>
          </a:p>
        </p:txBody>
      </p:sp>
      <p:sp>
        <p:nvSpPr>
          <p:cNvPr id="6" name="object 6"/>
          <p:cNvSpPr/>
          <p:nvPr/>
        </p:nvSpPr>
        <p:spPr>
          <a:xfrm>
            <a:off x="1092196" y="2212332"/>
            <a:ext cx="5257801" cy="3640017"/>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1087434" y="2207570"/>
            <a:ext cx="5267325" cy="3649979"/>
          </a:xfrm>
          <a:custGeom>
            <a:avLst/>
            <a:gdLst/>
            <a:ahLst/>
            <a:cxnLst/>
            <a:rect l="l" t="t" r="r" b="b"/>
            <a:pathLst>
              <a:path w="5267325" h="3649979">
                <a:moveTo>
                  <a:pt x="0" y="0"/>
                </a:moveTo>
                <a:lnTo>
                  <a:pt x="5267323" y="0"/>
                </a:lnTo>
                <a:lnTo>
                  <a:pt x="5267323" y="3649661"/>
                </a:lnTo>
                <a:lnTo>
                  <a:pt x="0" y="3649661"/>
                </a:lnTo>
                <a:lnTo>
                  <a:pt x="0" y="0"/>
                </a:lnTo>
                <a:close/>
              </a:path>
            </a:pathLst>
          </a:custGeom>
          <a:ln w="9524">
            <a:solidFill>
              <a:srgbClr val="919191"/>
            </a:solidFill>
          </a:ln>
        </p:spPr>
        <p:txBody>
          <a:bodyPr wrap="square" lIns="0" tIns="0" rIns="0" bIns="0" rtlCol="0"/>
          <a:lstStyle/>
          <a:p>
            <a:endParaRPr/>
          </a:p>
        </p:txBody>
      </p:sp>
      <p:sp>
        <p:nvSpPr>
          <p:cNvPr id="8" name="object 8"/>
          <p:cNvSpPr/>
          <p:nvPr/>
        </p:nvSpPr>
        <p:spPr>
          <a:xfrm>
            <a:off x="6477006" y="2622543"/>
            <a:ext cx="4626957" cy="3219449"/>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6472243" y="2617781"/>
            <a:ext cx="4636770" cy="3228975"/>
          </a:xfrm>
          <a:custGeom>
            <a:avLst/>
            <a:gdLst/>
            <a:ahLst/>
            <a:cxnLst/>
            <a:rect l="l" t="t" r="r" b="b"/>
            <a:pathLst>
              <a:path w="4636770" h="3228975">
                <a:moveTo>
                  <a:pt x="0" y="0"/>
                </a:moveTo>
                <a:lnTo>
                  <a:pt x="4636293" y="0"/>
                </a:lnTo>
                <a:lnTo>
                  <a:pt x="4636293" y="3228974"/>
                </a:lnTo>
                <a:lnTo>
                  <a:pt x="0" y="3228974"/>
                </a:lnTo>
                <a:lnTo>
                  <a:pt x="0" y="0"/>
                </a:lnTo>
                <a:close/>
              </a:path>
            </a:pathLst>
          </a:custGeom>
          <a:ln w="9524">
            <a:solidFill>
              <a:srgbClr val="919191"/>
            </a:solidFill>
          </a:ln>
        </p:spPr>
        <p:txBody>
          <a:bodyPr wrap="square" lIns="0" tIns="0" rIns="0" bIns="0" rtlCol="0"/>
          <a:lstStyle/>
          <a:p>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66808" y="558797"/>
            <a:ext cx="2455545" cy="643890"/>
          </a:xfrm>
          <a:custGeom>
            <a:avLst/>
            <a:gdLst/>
            <a:ahLst/>
            <a:cxnLst/>
            <a:rect l="l" t="t" r="r" b="b"/>
            <a:pathLst>
              <a:path w="2455545" h="643890">
                <a:moveTo>
                  <a:pt x="0" y="0"/>
                </a:moveTo>
                <a:lnTo>
                  <a:pt x="2455322" y="0"/>
                </a:lnTo>
                <a:lnTo>
                  <a:pt x="2455322" y="643464"/>
                </a:lnTo>
                <a:lnTo>
                  <a:pt x="0" y="643464"/>
                </a:lnTo>
                <a:lnTo>
                  <a:pt x="0" y="0"/>
                </a:lnTo>
                <a:close/>
              </a:path>
            </a:pathLst>
          </a:custGeom>
          <a:solidFill>
            <a:srgbClr val="6C6C6C"/>
          </a:solidFill>
        </p:spPr>
        <p:txBody>
          <a:bodyPr wrap="square" lIns="0" tIns="0" rIns="0" bIns="0" rtlCol="0"/>
          <a:lstStyle/>
          <a:p>
            <a:endParaRPr/>
          </a:p>
        </p:txBody>
      </p:sp>
      <p:sp>
        <p:nvSpPr>
          <p:cNvPr id="3" name="object 3"/>
          <p:cNvSpPr txBox="1">
            <a:spLocks noGrp="1"/>
          </p:cNvSpPr>
          <p:nvPr>
            <p:ph type="title"/>
          </p:nvPr>
        </p:nvSpPr>
        <p:spPr>
          <a:xfrm>
            <a:off x="1586079" y="676249"/>
            <a:ext cx="1422400" cy="360680"/>
          </a:xfrm>
          <a:prstGeom prst="rect">
            <a:avLst/>
          </a:prstGeom>
        </p:spPr>
        <p:txBody>
          <a:bodyPr vert="horz" wrap="square" lIns="0" tIns="12700" rIns="0" bIns="0" rtlCol="0">
            <a:spAutoFit/>
          </a:bodyPr>
          <a:lstStyle/>
          <a:p>
            <a:pPr marL="12700">
              <a:lnSpc>
                <a:spcPct val="100000"/>
              </a:lnSpc>
              <a:spcBef>
                <a:spcPts val="100"/>
              </a:spcBef>
            </a:pPr>
            <a:r>
              <a:rPr dirty="0">
                <a:solidFill>
                  <a:srgbClr val="FFFFFF"/>
                </a:solidFill>
                <a:latin typeface="微软雅黑" panose="020B0503020204020204" pitchFamily="34" charset="-122"/>
                <a:cs typeface="微软雅黑" panose="020B0503020204020204" pitchFamily="34" charset="-122"/>
              </a:rPr>
              <a:t>覆盖率分析</a:t>
            </a:r>
          </a:p>
        </p:txBody>
      </p:sp>
      <p:sp>
        <p:nvSpPr>
          <p:cNvPr id="4" name="object 4"/>
          <p:cNvSpPr/>
          <p:nvPr/>
        </p:nvSpPr>
        <p:spPr>
          <a:xfrm>
            <a:off x="3691475" y="694263"/>
            <a:ext cx="389890" cy="339090"/>
          </a:xfrm>
          <a:custGeom>
            <a:avLst/>
            <a:gdLst/>
            <a:ahLst/>
            <a:cxnLst/>
            <a:rect l="l" t="t" r="r" b="b"/>
            <a:pathLst>
              <a:path w="389889" h="339090">
                <a:moveTo>
                  <a:pt x="220134" y="0"/>
                </a:moveTo>
                <a:lnTo>
                  <a:pt x="220134" y="84667"/>
                </a:lnTo>
                <a:lnTo>
                  <a:pt x="0" y="84667"/>
                </a:lnTo>
                <a:lnTo>
                  <a:pt x="0" y="254000"/>
                </a:lnTo>
                <a:lnTo>
                  <a:pt x="220134" y="254000"/>
                </a:lnTo>
                <a:lnTo>
                  <a:pt x="220134" y="338665"/>
                </a:lnTo>
                <a:lnTo>
                  <a:pt x="389467" y="169334"/>
                </a:lnTo>
                <a:lnTo>
                  <a:pt x="220134" y="0"/>
                </a:lnTo>
                <a:close/>
              </a:path>
            </a:pathLst>
          </a:custGeom>
          <a:solidFill>
            <a:srgbClr val="919191"/>
          </a:solidFill>
        </p:spPr>
        <p:txBody>
          <a:bodyPr wrap="square" lIns="0" tIns="0" rIns="0" bIns="0" rtlCol="0"/>
          <a:lstStyle/>
          <a:p>
            <a:endParaRPr/>
          </a:p>
        </p:txBody>
      </p:sp>
      <p:sp>
        <p:nvSpPr>
          <p:cNvPr id="5" name="object 5"/>
          <p:cNvSpPr/>
          <p:nvPr/>
        </p:nvSpPr>
        <p:spPr>
          <a:xfrm>
            <a:off x="4205819" y="660400"/>
            <a:ext cx="6663376" cy="389465"/>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1100667" y="1303872"/>
            <a:ext cx="7007262" cy="1183568"/>
          </a:xfrm>
          <a:prstGeom prst="rect">
            <a:avLst/>
          </a:prstGeom>
          <a:blipFill>
            <a:blip r:embed="rId4" cstate="print"/>
            <a:stretch>
              <a:fillRect/>
            </a:stretch>
          </a:blipFill>
        </p:spPr>
        <p:txBody>
          <a:bodyPr wrap="square" lIns="0" tIns="0" rIns="0" bIns="0" rtlCol="0"/>
          <a:lstStyle/>
          <a:p>
            <a:endParaRPr/>
          </a:p>
        </p:txBody>
      </p:sp>
      <p:sp>
        <p:nvSpPr>
          <p:cNvPr id="7" name="object 7"/>
          <p:cNvSpPr/>
          <p:nvPr/>
        </p:nvSpPr>
        <p:spPr>
          <a:xfrm>
            <a:off x="1095905" y="1299109"/>
            <a:ext cx="8829675" cy="1193165"/>
          </a:xfrm>
          <a:custGeom>
            <a:avLst/>
            <a:gdLst/>
            <a:ahLst/>
            <a:cxnLst/>
            <a:rect l="l" t="t" r="r" b="b"/>
            <a:pathLst>
              <a:path w="8829675" h="1193164">
                <a:moveTo>
                  <a:pt x="0" y="0"/>
                </a:moveTo>
                <a:lnTo>
                  <a:pt x="8829672" y="0"/>
                </a:lnTo>
                <a:lnTo>
                  <a:pt x="8829672" y="1193005"/>
                </a:lnTo>
                <a:lnTo>
                  <a:pt x="0" y="1193005"/>
                </a:lnTo>
                <a:lnTo>
                  <a:pt x="0" y="0"/>
                </a:lnTo>
                <a:close/>
              </a:path>
            </a:pathLst>
          </a:custGeom>
          <a:ln w="9524">
            <a:solidFill>
              <a:srgbClr val="919191"/>
            </a:solidFill>
          </a:ln>
        </p:spPr>
        <p:txBody>
          <a:bodyPr wrap="square" lIns="0" tIns="0" rIns="0" bIns="0" rtlCol="0"/>
          <a:lstStyle/>
          <a:p>
            <a:endParaRPr/>
          </a:p>
        </p:txBody>
      </p:sp>
      <p:sp>
        <p:nvSpPr>
          <p:cNvPr id="8" name="object 8"/>
          <p:cNvSpPr/>
          <p:nvPr/>
        </p:nvSpPr>
        <p:spPr>
          <a:xfrm>
            <a:off x="1104903" y="2576404"/>
            <a:ext cx="8303414" cy="694564"/>
          </a:xfrm>
          <a:prstGeom prst="rect">
            <a:avLst/>
          </a:prstGeom>
          <a:blipFill>
            <a:blip r:embed="rId5" cstate="print"/>
            <a:stretch>
              <a:fillRect/>
            </a:stretch>
          </a:blipFill>
        </p:spPr>
        <p:txBody>
          <a:bodyPr wrap="square" lIns="0" tIns="0" rIns="0" bIns="0" rtlCol="0"/>
          <a:lstStyle/>
          <a:p>
            <a:endParaRPr/>
          </a:p>
        </p:txBody>
      </p:sp>
      <p:sp>
        <p:nvSpPr>
          <p:cNvPr id="9" name="object 9"/>
          <p:cNvSpPr/>
          <p:nvPr/>
        </p:nvSpPr>
        <p:spPr>
          <a:xfrm>
            <a:off x="1100140" y="2571642"/>
            <a:ext cx="8829675" cy="704215"/>
          </a:xfrm>
          <a:custGeom>
            <a:avLst/>
            <a:gdLst/>
            <a:ahLst/>
            <a:cxnLst/>
            <a:rect l="l" t="t" r="r" b="b"/>
            <a:pathLst>
              <a:path w="8829675" h="704214">
                <a:moveTo>
                  <a:pt x="0" y="0"/>
                </a:moveTo>
                <a:lnTo>
                  <a:pt x="8829672" y="0"/>
                </a:lnTo>
                <a:lnTo>
                  <a:pt x="8829672" y="704056"/>
                </a:lnTo>
                <a:lnTo>
                  <a:pt x="0" y="704056"/>
                </a:lnTo>
                <a:lnTo>
                  <a:pt x="0" y="0"/>
                </a:lnTo>
                <a:close/>
              </a:path>
            </a:pathLst>
          </a:custGeom>
          <a:ln w="9524">
            <a:solidFill>
              <a:srgbClr val="919191"/>
            </a:solidFill>
          </a:ln>
        </p:spPr>
        <p:txBody>
          <a:bodyPr wrap="square" lIns="0" tIns="0" rIns="0" bIns="0" rtlCol="0"/>
          <a:lstStyle/>
          <a:p>
            <a:endParaRPr/>
          </a:p>
        </p:txBody>
      </p:sp>
      <p:sp>
        <p:nvSpPr>
          <p:cNvPr id="10" name="object 10"/>
          <p:cNvSpPr/>
          <p:nvPr/>
        </p:nvSpPr>
        <p:spPr>
          <a:xfrm>
            <a:off x="1100668" y="3364735"/>
            <a:ext cx="7018616" cy="1230772"/>
          </a:xfrm>
          <a:prstGeom prst="rect">
            <a:avLst/>
          </a:prstGeom>
          <a:blipFill>
            <a:blip r:embed="rId6" cstate="print"/>
            <a:stretch>
              <a:fillRect/>
            </a:stretch>
          </a:blipFill>
        </p:spPr>
        <p:txBody>
          <a:bodyPr wrap="square" lIns="0" tIns="0" rIns="0" bIns="0" rtlCol="0"/>
          <a:lstStyle/>
          <a:p>
            <a:endParaRPr/>
          </a:p>
        </p:txBody>
      </p:sp>
      <p:sp>
        <p:nvSpPr>
          <p:cNvPr id="11" name="object 11"/>
          <p:cNvSpPr/>
          <p:nvPr/>
        </p:nvSpPr>
        <p:spPr>
          <a:xfrm>
            <a:off x="1095906" y="3359972"/>
            <a:ext cx="8829675" cy="1240790"/>
          </a:xfrm>
          <a:custGeom>
            <a:avLst/>
            <a:gdLst/>
            <a:ahLst/>
            <a:cxnLst/>
            <a:rect l="l" t="t" r="r" b="b"/>
            <a:pathLst>
              <a:path w="8829675" h="1240789">
                <a:moveTo>
                  <a:pt x="0" y="0"/>
                </a:moveTo>
                <a:lnTo>
                  <a:pt x="8829672" y="0"/>
                </a:lnTo>
                <a:lnTo>
                  <a:pt x="8829672" y="1240234"/>
                </a:lnTo>
                <a:lnTo>
                  <a:pt x="0" y="1240234"/>
                </a:lnTo>
                <a:lnTo>
                  <a:pt x="0" y="0"/>
                </a:lnTo>
                <a:close/>
              </a:path>
            </a:pathLst>
          </a:custGeom>
          <a:ln w="9524">
            <a:solidFill>
              <a:srgbClr val="919191"/>
            </a:solidFill>
          </a:ln>
        </p:spPr>
        <p:txBody>
          <a:bodyPr wrap="square" lIns="0" tIns="0" rIns="0" bIns="0" rtlCol="0"/>
          <a:lstStyle/>
          <a:p>
            <a:endParaRPr/>
          </a:p>
        </p:txBody>
      </p:sp>
      <p:sp>
        <p:nvSpPr>
          <p:cNvPr id="12" name="object 12"/>
          <p:cNvSpPr/>
          <p:nvPr/>
        </p:nvSpPr>
        <p:spPr>
          <a:xfrm>
            <a:off x="1100665" y="4690534"/>
            <a:ext cx="7110478" cy="1589694"/>
          </a:xfrm>
          <a:prstGeom prst="rect">
            <a:avLst/>
          </a:prstGeom>
          <a:blipFill>
            <a:blip r:embed="rId7" cstate="print"/>
            <a:stretch>
              <a:fillRect/>
            </a:stretch>
          </a:blipFill>
        </p:spPr>
        <p:txBody>
          <a:bodyPr wrap="square" lIns="0" tIns="0" rIns="0" bIns="0" rtlCol="0"/>
          <a:lstStyle/>
          <a:p>
            <a:endParaRPr/>
          </a:p>
        </p:txBody>
      </p:sp>
      <p:sp>
        <p:nvSpPr>
          <p:cNvPr id="13" name="object 13"/>
          <p:cNvSpPr/>
          <p:nvPr/>
        </p:nvSpPr>
        <p:spPr>
          <a:xfrm>
            <a:off x="1095903" y="4685771"/>
            <a:ext cx="8832215" cy="1599565"/>
          </a:xfrm>
          <a:custGeom>
            <a:avLst/>
            <a:gdLst/>
            <a:ahLst/>
            <a:cxnLst/>
            <a:rect l="l" t="t" r="r" b="b"/>
            <a:pathLst>
              <a:path w="8832215" h="1599564">
                <a:moveTo>
                  <a:pt x="0" y="0"/>
                </a:moveTo>
                <a:lnTo>
                  <a:pt x="8831656" y="0"/>
                </a:lnTo>
                <a:lnTo>
                  <a:pt x="8831656" y="1599406"/>
                </a:lnTo>
                <a:lnTo>
                  <a:pt x="0" y="1599406"/>
                </a:lnTo>
                <a:lnTo>
                  <a:pt x="0" y="0"/>
                </a:lnTo>
                <a:close/>
              </a:path>
            </a:pathLst>
          </a:custGeom>
          <a:ln w="9524">
            <a:solidFill>
              <a:srgbClr val="919191"/>
            </a:solidFill>
          </a:ln>
        </p:spPr>
        <p:txBody>
          <a:bodyPr wrap="square" lIns="0" tIns="0" rIns="0" bIns="0" rtlCol="0"/>
          <a:lstStyle/>
          <a:p>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65307"/>
            <a:ext cx="1447800" cy="452120"/>
          </a:xfrm>
          <a:prstGeom prst="rect">
            <a:avLst/>
          </a:prstGeom>
        </p:spPr>
        <p:txBody>
          <a:bodyPr vert="horz" wrap="square" lIns="0" tIns="12700" rIns="0" bIns="0" rtlCol="0">
            <a:spAutoFit/>
          </a:bodyPr>
          <a:lstStyle/>
          <a:p>
            <a:pPr marL="12700">
              <a:lnSpc>
                <a:spcPct val="100000"/>
              </a:lnSpc>
              <a:spcBef>
                <a:spcPts val="100"/>
              </a:spcBef>
            </a:pPr>
            <a:r>
              <a:rPr sz="2800" b="1" dirty="0">
                <a:latin typeface="微软雅黑" panose="020B0503020204020204" pitchFamily="34" charset="-122"/>
                <a:cs typeface="微软雅黑" panose="020B0503020204020204" pitchFamily="34" charset="-122"/>
              </a:rPr>
              <a:t>其他工具</a:t>
            </a:r>
            <a:endParaRPr sz="2800">
              <a:latin typeface="微软雅黑" panose="020B0503020204020204" pitchFamily="34" charset="-122"/>
              <a:cs typeface="微软雅黑" panose="020B0503020204020204" pitchFamily="34" charset="-122"/>
            </a:endParaRPr>
          </a:p>
        </p:txBody>
      </p:sp>
      <p:sp>
        <p:nvSpPr>
          <p:cNvPr id="3" name="object 3"/>
          <p:cNvSpPr txBox="1"/>
          <p:nvPr/>
        </p:nvSpPr>
        <p:spPr>
          <a:xfrm>
            <a:off x="916939" y="1340272"/>
            <a:ext cx="8355330" cy="4279900"/>
          </a:xfrm>
          <a:prstGeom prst="rect">
            <a:avLst/>
          </a:prstGeom>
        </p:spPr>
        <p:txBody>
          <a:bodyPr vert="horz" wrap="square" lIns="0" tIns="172720" rIns="0" bIns="0" rtlCol="0">
            <a:spAutoFit/>
          </a:bodyPr>
          <a:lstStyle/>
          <a:p>
            <a:pPr marL="368300" indent="-355600">
              <a:lnSpc>
                <a:spcPct val="100000"/>
              </a:lnSpc>
              <a:spcBef>
                <a:spcPts val="1360"/>
              </a:spcBef>
              <a:buFont typeface="Arial" panose="020B0604020202020204"/>
              <a:buChar char="•"/>
              <a:tabLst>
                <a:tab pos="367665" algn="l"/>
                <a:tab pos="368300" algn="l"/>
              </a:tabLst>
            </a:pPr>
            <a:r>
              <a:rPr sz="2200" dirty="0">
                <a:latin typeface="微软雅黑" panose="020B0503020204020204" pitchFamily="34" charset="-122"/>
                <a:cs typeface="微软雅黑" panose="020B0503020204020204" pitchFamily="34" charset="-122"/>
              </a:rPr>
              <a:t>其他测试框架</a:t>
            </a:r>
          </a:p>
          <a:p>
            <a:pPr marL="825500" marR="1090930">
              <a:lnSpc>
                <a:spcPct val="133000"/>
              </a:lnSpc>
              <a:spcBef>
                <a:spcPts val="400"/>
              </a:spcBef>
            </a:pPr>
            <a:r>
              <a:rPr sz="2200" spc="-5" dirty="0">
                <a:latin typeface="Arial" panose="020B0604020202020204"/>
                <a:cs typeface="Arial" panose="020B0604020202020204"/>
              </a:rPr>
              <a:t>python </a:t>
            </a:r>
            <a:r>
              <a:rPr sz="2200" dirty="0">
                <a:latin typeface="Arial" panose="020B0604020202020204"/>
                <a:cs typeface="Arial" panose="020B0604020202020204"/>
              </a:rPr>
              <a:t>nose: </a:t>
            </a:r>
            <a:r>
              <a:rPr sz="2200" u="sng" spc="-5" dirty="0">
                <a:solidFill>
                  <a:srgbClr val="0563C1"/>
                </a:solidFill>
                <a:uFill>
                  <a:solidFill>
                    <a:srgbClr val="0079CD"/>
                  </a:solidFill>
                </a:uFill>
                <a:latin typeface="Arial" panose="020B0604020202020204"/>
                <a:cs typeface="Arial" panose="020B0604020202020204"/>
              </a:rPr>
              <a:t>https://nose.readthedocs.org/en/latest/ </a:t>
            </a:r>
            <a:r>
              <a:rPr sz="2200" spc="-5" dirty="0">
                <a:solidFill>
                  <a:srgbClr val="0563C1"/>
                </a:solidFill>
                <a:latin typeface="Arial" panose="020B0604020202020204"/>
                <a:cs typeface="Arial" panose="020B0604020202020204"/>
              </a:rPr>
              <a:t> </a:t>
            </a:r>
            <a:r>
              <a:rPr sz="2200" spc="-5" dirty="0">
                <a:latin typeface="Arial" panose="020B0604020202020204"/>
                <a:cs typeface="Arial" panose="020B0604020202020204"/>
              </a:rPr>
              <a:t>pytest:</a:t>
            </a:r>
            <a:r>
              <a:rPr sz="2200" dirty="0">
                <a:latin typeface="Arial" panose="020B0604020202020204"/>
                <a:cs typeface="Arial" panose="020B0604020202020204"/>
              </a:rPr>
              <a:t> </a:t>
            </a:r>
            <a:r>
              <a:rPr sz="2200" u="sng" spc="-5" dirty="0">
                <a:solidFill>
                  <a:srgbClr val="0563C1"/>
                </a:solidFill>
                <a:uFill>
                  <a:solidFill>
                    <a:srgbClr val="0079CD"/>
                  </a:solidFill>
                </a:uFill>
                <a:latin typeface="Arial" panose="020B0604020202020204"/>
                <a:cs typeface="Arial" panose="020B0604020202020204"/>
                <a:hlinkClick r:id="rId3"/>
              </a:rPr>
              <a:t>http://pytest.org/latest/</a:t>
            </a:r>
            <a:endParaRPr sz="2200" dirty="0">
              <a:latin typeface="Arial" panose="020B0604020202020204"/>
              <a:cs typeface="Arial" panose="020B0604020202020204"/>
            </a:endParaRPr>
          </a:p>
          <a:p>
            <a:pPr>
              <a:lnSpc>
                <a:spcPct val="100000"/>
              </a:lnSpc>
            </a:pPr>
            <a:endParaRPr sz="2400" dirty="0">
              <a:latin typeface="Times New Roman" panose="02020603050405020304"/>
              <a:cs typeface="Times New Roman" panose="02020603050405020304"/>
            </a:endParaRPr>
          </a:p>
          <a:p>
            <a:pPr>
              <a:lnSpc>
                <a:spcPct val="100000"/>
              </a:lnSpc>
              <a:spcBef>
                <a:spcPts val="40"/>
              </a:spcBef>
            </a:pPr>
            <a:endParaRPr sz="2050" dirty="0">
              <a:latin typeface="Times New Roman" panose="02020603050405020304"/>
              <a:cs typeface="Times New Roman" panose="02020603050405020304"/>
            </a:endParaRPr>
          </a:p>
          <a:p>
            <a:pPr marL="368300" indent="-355600">
              <a:lnSpc>
                <a:spcPct val="100000"/>
              </a:lnSpc>
              <a:buFont typeface="Arial" panose="020B0604020202020204"/>
              <a:buChar char="•"/>
              <a:tabLst>
                <a:tab pos="367665" algn="l"/>
                <a:tab pos="368300" algn="l"/>
              </a:tabLst>
            </a:pPr>
            <a:r>
              <a:rPr sz="2200" dirty="0">
                <a:latin typeface="微软雅黑" panose="020B0503020204020204" pitchFamily="34" charset="-122"/>
                <a:cs typeface="微软雅黑" panose="020B0503020204020204" pitchFamily="34" charset="-122"/>
              </a:rPr>
              <a:t>其他</a:t>
            </a:r>
            <a:r>
              <a:rPr sz="2200" spc="-5" dirty="0">
                <a:latin typeface="Arial" panose="020B0604020202020204"/>
                <a:cs typeface="Arial" panose="020B0604020202020204"/>
              </a:rPr>
              <a:t>Mock</a:t>
            </a:r>
            <a:r>
              <a:rPr sz="2200" dirty="0">
                <a:latin typeface="微软雅黑" panose="020B0503020204020204" pitchFamily="34" charset="-122"/>
                <a:cs typeface="微软雅黑" panose="020B0503020204020204" pitchFamily="34" charset="-122"/>
              </a:rPr>
              <a:t>框架</a:t>
            </a:r>
          </a:p>
          <a:p>
            <a:pPr marL="825500">
              <a:lnSpc>
                <a:spcPct val="100000"/>
              </a:lnSpc>
              <a:spcBef>
                <a:spcPts val="860"/>
              </a:spcBef>
            </a:pPr>
            <a:r>
              <a:rPr sz="2200" u="sng" spc="-5" dirty="0">
                <a:solidFill>
                  <a:srgbClr val="0563C1"/>
                </a:solidFill>
                <a:uFill>
                  <a:solidFill>
                    <a:srgbClr val="0079CD"/>
                  </a:solidFill>
                </a:uFill>
                <a:latin typeface="Arial" panose="020B0604020202020204"/>
                <a:cs typeface="Arial" panose="020B0604020202020204"/>
                <a:hlinkClick r:id="rId4"/>
              </a:rPr>
              <a:t>http://garybernhardt.github.io/python-mock-comparison/</a:t>
            </a:r>
            <a:endParaRPr sz="2200" dirty="0">
              <a:latin typeface="Arial" panose="020B0604020202020204"/>
              <a:cs typeface="Arial" panose="020B0604020202020204"/>
            </a:endParaRPr>
          </a:p>
          <a:p>
            <a:pPr>
              <a:lnSpc>
                <a:spcPct val="100000"/>
              </a:lnSpc>
              <a:spcBef>
                <a:spcPts val="45"/>
              </a:spcBef>
            </a:pPr>
            <a:endParaRPr sz="3350" dirty="0">
              <a:latin typeface="Times New Roman" panose="02020603050405020304"/>
              <a:cs typeface="Times New Roman" panose="02020603050405020304"/>
            </a:endParaRPr>
          </a:p>
          <a:p>
            <a:pPr marL="367665" marR="5080" indent="-367665">
              <a:lnSpc>
                <a:spcPct val="133000"/>
              </a:lnSpc>
              <a:spcBef>
                <a:spcPts val="5"/>
              </a:spcBef>
              <a:buChar char="•"/>
              <a:tabLst>
                <a:tab pos="367665" algn="l"/>
                <a:tab pos="368300" algn="l"/>
              </a:tabLst>
            </a:pPr>
            <a:r>
              <a:rPr sz="2200" dirty="0">
                <a:latin typeface="Arial" panose="020B0604020202020204"/>
                <a:cs typeface="Arial" panose="020B0604020202020204"/>
              </a:rPr>
              <a:t>Py</a:t>
            </a:r>
            <a:r>
              <a:rPr sz="2200" spc="-5" dirty="0">
                <a:latin typeface="Arial" panose="020B0604020202020204"/>
                <a:cs typeface="Arial" panose="020B0604020202020204"/>
              </a:rPr>
              <a:t>t</a:t>
            </a:r>
            <a:r>
              <a:rPr sz="2200" dirty="0">
                <a:latin typeface="Arial" panose="020B0604020202020204"/>
                <a:cs typeface="Arial" panose="020B0604020202020204"/>
              </a:rPr>
              <a:t>hon</a:t>
            </a:r>
            <a:r>
              <a:rPr sz="2200" dirty="0">
                <a:latin typeface="微软雅黑" panose="020B0503020204020204" pitchFamily="34" charset="-122"/>
                <a:cs typeface="微软雅黑" panose="020B0503020204020204" pitchFamily="34" charset="-122"/>
              </a:rPr>
              <a:t>测试工具大全（测试框架、</a:t>
            </a:r>
            <a:r>
              <a:rPr sz="2200" dirty="0">
                <a:latin typeface="Arial" panose="020B0604020202020204"/>
                <a:cs typeface="Arial" panose="020B0604020202020204"/>
              </a:rPr>
              <a:t>Moc</a:t>
            </a:r>
            <a:r>
              <a:rPr sz="2200" spc="-5" dirty="0">
                <a:latin typeface="Arial" panose="020B0604020202020204"/>
                <a:cs typeface="Arial" panose="020B0604020202020204"/>
              </a:rPr>
              <a:t>k</a:t>
            </a:r>
            <a:r>
              <a:rPr sz="2200" dirty="0">
                <a:latin typeface="微软雅黑" panose="020B0503020204020204" pitchFamily="34" charset="-122"/>
                <a:cs typeface="微软雅黑" panose="020B0503020204020204" pitchFamily="34" charset="-122"/>
              </a:rPr>
              <a:t>框架、</a:t>
            </a:r>
            <a:r>
              <a:rPr sz="2200" spc="-40" dirty="0">
                <a:latin typeface="Arial" panose="020B0604020202020204"/>
                <a:cs typeface="Arial" panose="020B0604020202020204"/>
              </a:rPr>
              <a:t>W</a:t>
            </a:r>
            <a:r>
              <a:rPr sz="2200" spc="-5" dirty="0">
                <a:latin typeface="Arial" panose="020B0604020202020204"/>
                <a:cs typeface="Arial" panose="020B0604020202020204"/>
              </a:rPr>
              <a:t>e</a:t>
            </a:r>
            <a:r>
              <a:rPr sz="2200" dirty="0">
                <a:latin typeface="Arial" panose="020B0604020202020204"/>
                <a:cs typeface="Arial" panose="020B0604020202020204"/>
              </a:rPr>
              <a:t>b</a:t>
            </a:r>
            <a:r>
              <a:rPr sz="2200" dirty="0">
                <a:latin typeface="微软雅黑" panose="020B0503020204020204" pitchFamily="34" charset="-122"/>
                <a:cs typeface="微软雅黑" panose="020B0503020204020204" pitchFamily="34" charset="-122"/>
              </a:rPr>
              <a:t>测试工具等）  </a:t>
            </a:r>
            <a:r>
              <a:rPr sz="2200" u="heavy" spc="-15" dirty="0">
                <a:solidFill>
                  <a:srgbClr val="0563C1"/>
                </a:solidFill>
                <a:uFill>
                  <a:solidFill>
                    <a:srgbClr val="0079CD"/>
                  </a:solidFill>
                </a:uFill>
                <a:latin typeface="Arial" panose="020B0604020202020204"/>
                <a:cs typeface="Arial" panose="020B0604020202020204"/>
              </a:rPr>
              <a:t>https://wiki.python.org/moin/PythonTestingToolsTaxonomy</a:t>
            </a:r>
            <a:endParaRPr sz="2200" dirty="0">
              <a:latin typeface="Arial" panose="020B0604020202020204"/>
              <a:cs typeface="Arial" panose="020B0604020202020204"/>
            </a:endParaRPr>
          </a:p>
        </p:txBody>
      </p:sp>
      <p:sp>
        <p:nvSpPr>
          <p:cNvPr id="4" name="object 4"/>
          <p:cNvSpPr/>
          <p:nvPr/>
        </p:nvSpPr>
        <p:spPr>
          <a:xfrm>
            <a:off x="9032973" y="1574797"/>
            <a:ext cx="1783076" cy="1842330"/>
          </a:xfrm>
          <a:prstGeom prst="rect">
            <a:avLst/>
          </a:prstGeom>
          <a:blipFill>
            <a:blip r:embed="rId5" cstate="print"/>
            <a:stretch>
              <a:fillRect/>
            </a:stretch>
          </a:blipFill>
        </p:spPr>
        <p:txBody>
          <a:bodyPr wrap="square" lIns="0" tIns="0" rIns="0" bIns="0" rtlCol="0"/>
          <a:lstStyle/>
          <a:p>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谢谢大家！</a:t>
            </a:r>
          </a:p>
        </p:txBody>
      </p:sp>
      <p:sp>
        <p:nvSpPr>
          <p:cNvPr id="3" name="内容占位符 2"/>
          <p:cNvSpPr>
            <a:spLocks noGrp="1"/>
          </p:cNvSpPr>
          <p:nvPr>
            <p:ph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74D2AB8B-5816-41F2-8B4B-CA5C3E4E6A65}" type="slidenum">
              <a:rPr lang="zh-CN" altLang="en-US" smtClean="0"/>
              <a:t>89</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4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3.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5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6.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6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8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8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8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2.xml><?xml version="1.0" encoding="utf-8"?>
<p:tagLst xmlns:a="http://schemas.openxmlformats.org/drawingml/2006/main" xmlns:r="http://schemas.openxmlformats.org/officeDocument/2006/relationships" xmlns:p="http://schemas.openxmlformats.org/presentationml/2006/main">
  <p:tag name="TIMING" val="|31.3"/>
</p:tagLst>
</file>

<file path=ppt/tags/tag93.xml><?xml version="1.0" encoding="utf-8"?>
<p:tagLst xmlns:a="http://schemas.openxmlformats.org/drawingml/2006/main" xmlns:r="http://schemas.openxmlformats.org/officeDocument/2006/relationships" xmlns:p="http://schemas.openxmlformats.org/presentationml/2006/main">
  <p:tag name="TIMING" val="|49.1"/>
</p:tagLst>
</file>

<file path=ppt/tags/tag94.xml><?xml version="1.0" encoding="utf-8"?>
<p:tagLst xmlns:a="http://schemas.openxmlformats.org/drawingml/2006/main" xmlns:r="http://schemas.openxmlformats.org/officeDocument/2006/relationships" xmlns:p="http://schemas.openxmlformats.org/presentationml/2006/main">
  <p:tag name="TIMING" val="|10.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4802</TotalTime>
  <Words>11280</Words>
  <Application>Microsoft Macintosh PowerPoint</Application>
  <PresentationFormat>宽屏</PresentationFormat>
  <Paragraphs>1223</Paragraphs>
  <Slides>89</Slides>
  <Notes>82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89</vt:i4>
      </vt:variant>
    </vt:vector>
  </HeadingPairs>
  <TitlesOfParts>
    <vt:vector size="100" baseType="lpstr">
      <vt:lpstr>等线</vt:lpstr>
      <vt:lpstr>华文楷体</vt:lpstr>
      <vt:lpstr>微软雅黑</vt:lpstr>
      <vt:lpstr>Arial</vt:lpstr>
      <vt:lpstr>Calibri</vt:lpstr>
      <vt:lpstr>Calibri Light</vt:lpstr>
      <vt:lpstr>Consolas</vt:lpstr>
      <vt:lpstr>Courier New</vt:lpstr>
      <vt:lpstr>Times New Roman</vt:lpstr>
      <vt:lpstr>Wingdings</vt:lpstr>
      <vt:lpstr>Office 主题</vt:lpstr>
      <vt:lpstr>黑盒测试方法</vt:lpstr>
      <vt:lpstr>等价类划分</vt:lpstr>
      <vt:lpstr>等价类类型</vt:lpstr>
      <vt:lpstr>变量的等价类</vt:lpstr>
      <vt:lpstr>举例：判断三角形类型</vt:lpstr>
      <vt:lpstr>举例：判断三角形类型</vt:lpstr>
      <vt:lpstr>举例：判断三角形类型</vt:lpstr>
      <vt:lpstr>边界值分析</vt:lpstr>
      <vt:lpstr>边界值分析</vt:lpstr>
      <vt:lpstr>健壮性测试</vt:lpstr>
      <vt:lpstr>健壮性测试</vt:lpstr>
      <vt:lpstr>举例：判断三角形类型 边界值分析？</vt:lpstr>
      <vt:lpstr>举例：判断三角形类型</vt:lpstr>
      <vt:lpstr>举例：判断三角形类型</vt:lpstr>
      <vt:lpstr>举例：判断三角形类型</vt:lpstr>
      <vt:lpstr>错误推测法</vt:lpstr>
      <vt:lpstr>PowerPoint 演示文稿</vt:lpstr>
      <vt:lpstr>测试覆盖标准</vt:lpstr>
      <vt:lpstr>测试覆盖标准</vt:lpstr>
      <vt:lpstr>白盒测试方法</vt:lpstr>
      <vt:lpstr>白盒测试技术</vt:lpstr>
      <vt:lpstr>控制流图</vt:lpstr>
      <vt:lpstr>PowerPoint 演示文稿</vt:lpstr>
      <vt:lpstr>FindMean(float *mean, FILE *fp)</vt:lpstr>
      <vt:lpstr>PowerPoint 演示文稿</vt:lpstr>
      <vt:lpstr>基于控制流的测试</vt:lpstr>
      <vt:lpstr>代码覆盖标准</vt:lpstr>
      <vt:lpstr>示例描述</vt:lpstr>
      <vt:lpstr>语句覆盖</vt:lpstr>
      <vt:lpstr>语句覆盖</vt:lpstr>
      <vt:lpstr>判定覆盖（分支覆盖）</vt:lpstr>
      <vt:lpstr>判定覆盖（分支覆盖）</vt:lpstr>
      <vt:lpstr>条件覆盖</vt:lpstr>
      <vt:lpstr>条件覆盖</vt:lpstr>
      <vt:lpstr>判定条件覆盖</vt:lpstr>
      <vt:lpstr>条件组合覆盖</vt:lpstr>
      <vt:lpstr>条件组合覆盖</vt:lpstr>
      <vt:lpstr>路径覆盖</vt:lpstr>
      <vt:lpstr>路径覆盖</vt:lpstr>
      <vt:lpstr>如何看待测试覆盖率</vt:lpstr>
      <vt:lpstr>基本路径测试</vt:lpstr>
      <vt:lpstr>PowerPoint 演示文稿</vt:lpstr>
      <vt:lpstr>PowerPoint 演示文稿</vt:lpstr>
      <vt:lpstr>PowerPoint 演示文稿</vt:lpstr>
      <vt:lpstr>示例：基本路径测试</vt:lpstr>
      <vt:lpstr>循环测试</vt:lpstr>
      <vt:lpstr>循环测试</vt:lpstr>
      <vt:lpstr>循环测试</vt:lpstr>
      <vt:lpstr>PowerPoint 演示文稿</vt:lpstr>
      <vt:lpstr>PowerPoint 演示文稿</vt:lpstr>
      <vt:lpstr>PowerPoint 演示文稿</vt:lpstr>
      <vt:lpstr>PowerPoint 演示文稿</vt:lpstr>
      <vt:lpstr>PowerPoint 演示文稿</vt:lpstr>
      <vt:lpstr>PowerPoint 演示文稿</vt:lpstr>
      <vt:lpstr>Python单元测试工具</vt:lpstr>
      <vt:lpstr>Python单元测试之unittest</vt:lpstr>
      <vt:lpstr>Python单元测试之unittest</vt:lpstr>
      <vt:lpstr>Python单元测试之unittest</vt:lpstr>
      <vt:lpstr>Python单元测试之mock</vt:lpstr>
      <vt:lpstr>Python单元测试之mock</vt:lpstr>
      <vt:lpstr>Python单元测试之覆盖分析</vt:lpstr>
      <vt:lpstr>案例：生命游戏</vt:lpstr>
      <vt:lpstr>案例：生命游戏</vt:lpstr>
      <vt:lpstr>案例：生命游戏</vt:lpstr>
      <vt:lpstr>创建测试</vt:lpstr>
      <vt:lpstr>创建测试</vt:lpstr>
      <vt:lpstr>创建测试</vt:lpstr>
      <vt:lpstr>创建测试</vt:lpstr>
      <vt:lpstr>创建测试</vt:lpstr>
      <vt:lpstr>运行测试</vt:lpstr>
      <vt:lpstr>PowerPoint 演示文稿</vt:lpstr>
      <vt:lpstr>创建测试</vt:lpstr>
      <vt:lpstr>案例：生命游戏</vt:lpstr>
      <vt:lpstr>案例：生命游戏</vt:lpstr>
      <vt:lpstr>案例：生命游戏</vt:lpstr>
      <vt:lpstr>案例：生命游戏</vt:lpstr>
      <vt:lpstr>案例：生命游戏</vt:lpstr>
      <vt:lpstr>案例：生命游戏</vt:lpstr>
      <vt:lpstr>get_neighbor_count</vt:lpstr>
      <vt:lpstr>get_neighbor_count</vt:lpstr>
      <vt:lpstr>get_neighbor_count</vt:lpstr>
      <vt:lpstr>get_neighbor_count_map：依赖 get_neighbor_count，  测试时对依赖方法进行mock，保持测试的独立性。</vt:lpstr>
      <vt:lpstr>案例：生命游戏</vt:lpstr>
      <vt:lpstr>案例：生命游戏</vt:lpstr>
      <vt:lpstr>案例：生命游戏</vt:lpstr>
      <vt:lpstr>案例：生命游戏</vt:lpstr>
      <vt:lpstr>覆盖率分析</vt:lpstr>
      <vt:lpstr>其他工具</vt:lpstr>
      <vt:lpstr>谢谢大家！</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软件工程</dc:title>
  <dc:creator>CAI Xiangrui</dc:creator>
  <cp:lastModifiedBy>Microsoft Office User</cp:lastModifiedBy>
  <cp:revision>2317</cp:revision>
  <dcterms:created xsi:type="dcterms:W3CDTF">2020-02-05T07:10:00Z</dcterms:created>
  <dcterms:modified xsi:type="dcterms:W3CDTF">2025-05-19T04:03:32Z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2052-11.1.0.9914</vt:lpwstr>
  </property>
</Properties>
</file>