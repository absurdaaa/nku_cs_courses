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notesMasterIdLst>
    <p:notesMasterId r:id="rId77"/>
  </p:notesMasterIdLst>
  <p:sldIdLst>
    <p:sldId id="564" r:id="rId2"/>
    <p:sldId id="565" r:id="rId3"/>
    <p:sldId id="566" r:id="rId4"/>
    <p:sldId id="567" r:id="rId5"/>
    <p:sldId id="568" r:id="rId6"/>
    <p:sldId id="569" r:id="rId7"/>
    <p:sldId id="575" r:id="rId8"/>
    <p:sldId id="570" r:id="rId9"/>
    <p:sldId id="571" r:id="rId10"/>
    <p:sldId id="572" r:id="rId11"/>
    <p:sldId id="573" r:id="rId12"/>
    <p:sldId id="574" r:id="rId13"/>
    <p:sldId id="577" r:id="rId14"/>
    <p:sldId id="578" r:id="rId15"/>
    <p:sldId id="579" r:id="rId16"/>
    <p:sldId id="580" r:id="rId17"/>
    <p:sldId id="581" r:id="rId18"/>
    <p:sldId id="582" r:id="rId19"/>
    <p:sldId id="583" r:id="rId20"/>
    <p:sldId id="584" r:id="rId21"/>
    <p:sldId id="661" r:id="rId22"/>
    <p:sldId id="662" r:id="rId23"/>
    <p:sldId id="663" r:id="rId24"/>
    <p:sldId id="664" r:id="rId25"/>
    <p:sldId id="665" r:id="rId26"/>
    <p:sldId id="585" r:id="rId27"/>
    <p:sldId id="586" r:id="rId28"/>
    <p:sldId id="587" r:id="rId29"/>
    <p:sldId id="588" r:id="rId30"/>
    <p:sldId id="589" r:id="rId31"/>
    <p:sldId id="590" r:id="rId32"/>
    <p:sldId id="591" r:id="rId33"/>
    <p:sldId id="592" r:id="rId34"/>
    <p:sldId id="593" r:id="rId35"/>
    <p:sldId id="594" r:id="rId36"/>
    <p:sldId id="595" r:id="rId37"/>
    <p:sldId id="596" r:id="rId38"/>
    <p:sldId id="599" r:id="rId39"/>
    <p:sldId id="600" r:id="rId40"/>
    <p:sldId id="601" r:id="rId41"/>
    <p:sldId id="602" r:id="rId42"/>
    <p:sldId id="603" r:id="rId43"/>
    <p:sldId id="604" r:id="rId44"/>
    <p:sldId id="606" r:id="rId45"/>
    <p:sldId id="607" r:id="rId46"/>
    <p:sldId id="608" r:id="rId47"/>
    <p:sldId id="609" r:id="rId48"/>
    <p:sldId id="610" r:id="rId49"/>
    <p:sldId id="668" r:id="rId50"/>
    <p:sldId id="669" r:id="rId51"/>
    <p:sldId id="670" r:id="rId52"/>
    <p:sldId id="672" r:id="rId53"/>
    <p:sldId id="611" r:id="rId54"/>
    <p:sldId id="612" r:id="rId55"/>
    <p:sldId id="613" r:id="rId56"/>
    <p:sldId id="615" r:id="rId57"/>
    <p:sldId id="616" r:id="rId58"/>
    <p:sldId id="617" r:id="rId59"/>
    <p:sldId id="618" r:id="rId60"/>
    <p:sldId id="619" r:id="rId61"/>
    <p:sldId id="620" r:id="rId62"/>
    <p:sldId id="621" r:id="rId63"/>
    <p:sldId id="622" r:id="rId64"/>
    <p:sldId id="623" r:id="rId65"/>
    <p:sldId id="624" r:id="rId66"/>
    <p:sldId id="626" r:id="rId67"/>
    <p:sldId id="627" r:id="rId68"/>
    <p:sldId id="628" r:id="rId69"/>
    <p:sldId id="629" r:id="rId70"/>
    <p:sldId id="631" r:id="rId71"/>
    <p:sldId id="632" r:id="rId72"/>
    <p:sldId id="633" r:id="rId73"/>
    <p:sldId id="634" r:id="rId74"/>
    <p:sldId id="635" r:id="rId75"/>
    <p:sldId id="636" r:id="rId7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724" autoAdjust="0"/>
    <p:restoredTop sz="81026" autoAdjust="0"/>
  </p:normalViewPr>
  <p:slideViewPr>
    <p:cSldViewPr snapToGrid="0">
      <p:cViewPr varScale="1">
        <p:scale>
          <a:sx n="84" d="100"/>
          <a:sy n="84" d="100"/>
        </p:scale>
        <p:origin x="140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9BE61A-20D5-44F6-BDBB-DE619E4648AD}" type="datetimeFigureOut">
              <a:rPr lang="zh-CN" altLang="en-US" smtClean="0"/>
              <a:t>2026/3/23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D0D237-D228-4839-ACE5-3AE42E56DC32}"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下面我们介绍需求工程过程和需求的主要来源</a:t>
            </a:r>
          </a:p>
        </p:txBody>
      </p:sp>
      <p:sp>
        <p:nvSpPr>
          <p:cNvPr id="4" name="灯片编号占位符 3"/>
          <p:cNvSpPr>
            <a:spLocks noGrp="1"/>
          </p:cNvSpPr>
          <p:nvPr>
            <p:ph type="sldNum" sz="quarter" idx="10"/>
          </p:nvPr>
        </p:nvSpPr>
        <p:spPr/>
        <p:txBody>
          <a:bodyPr/>
          <a:lstStyle/>
          <a:p>
            <a:fld id="{64308F8E-A66F-462A-B457-A69A741C093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在需求工程过程中，最重要的工程活动包括需求抽取。。。</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其中，需求抽取的主要目标是主动。。。这项活动的实质，就是要了解。。。我们要。。。我们来看右边的这个漫画，需求抽取的过程就很像小男孩儿向他妈妈提出的四个问题，他妈妈让他打扫房间，他问的第一个问题就是，我为什么要打扫房间，这是对需求的顶层目标的提问然后，他又问，当前打扫房间的流程是什么样子的，这是对当前业务流程的一个抽取过程；他还问了，难道做作业不比打扫房间更有意义吗，这是在问做作业和打扫房间这两条需求，哪条需求更高的问题；最后，他问妈妈的是，那我怎么知道我的房间算是干净还是不干净呢，这是在问他妈妈需求验收的标准。</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目前有很多种需求抽取方法供大家使用。根据参与人员的能力、偏好、待抽取需求的内容，以及应用领域的特性，我们可以选择协同工作、面谈、。。、概念建模、角色扮演、建立非功能性需求列表等多种形式的抽取方法，并且可以方法混用。</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这幅图是对上百家软件企业的需求获取方法的调研结果，从这幅图中可以看出，最受欢迎的需求抽取方法是焦点会议，除此以外，原型、文档分析、问卷调查、参与设计、被动观察等方法也广受欢迎。</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抽取需求之后，就进入需求分析阶段。在这一阶段，最主要的目标就是对。。需求分析的实质就是概念建模，需求分析最关键的问题就是要实现体系结构设计与需求的适配，通过评估需求的满足度来评价体系结构设计的质量。</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需求获取的过程中，我们要考虑来自多个方面的限制和约束条件。我们看这幅图，这是一个四世界模型，帮助我们识别来自不同维度的问题。这个模型将问题领域分为四个世界，包括主题。。。通过对四个世界的分别的处理，我们能够考虑到来自这四个方面的待解决的问题。其中，主题世界主要关注的是系统的主题内容，比如对于一个银行系统来说，我们关注的是顾客、账号和各类交易，这是关于主题世界对象的探讨。应用世界关注的是系统未来的操作环境，在应用世界中，我们要关注的主要是人和企业的流程，关注经理、职员、顾客、存款、取款等活动。而系统世界关注的是在操作环境下系统所有的内部操作，包括系统要将交易数据保存在数据库中，要对指定的账号、交易进行报告，给出账户的明细等等。最后开发世界关注的是软件开发过程，项目的团队、人员、进度、安全、性能等质量要求。例如，系统要在</a:t>
            </a:r>
            <a:r>
              <a:rPr lang="en-US" altLang="zh-CN" dirty="0"/>
              <a:t>12</a:t>
            </a:r>
            <a:r>
              <a:rPr lang="zh-CN" altLang="en-US" dirty="0"/>
              <a:t>个月内交付使用，这是开发世界所关注的问题。有了这个四世界模型，我们可以很好的对问题的本质、关注的对象进行分别处理。</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调研结果反应，目前在工业界最广发使用的需求建模方法包括非</a:t>
            </a:r>
            <a:r>
              <a:rPr lang="en-US" altLang="zh-CN" dirty="0"/>
              <a:t>UML</a:t>
            </a:r>
            <a:r>
              <a:rPr lang="zh-CN" altLang="en-US" dirty="0"/>
              <a:t>得图形建模模型、</a:t>
            </a:r>
            <a:r>
              <a:rPr lang="en-US" altLang="zh-CN" dirty="0"/>
              <a:t>UML</a:t>
            </a:r>
            <a:r>
              <a:rPr lang="zh-CN" altLang="en-US" dirty="0"/>
              <a:t>模型、表结构、用户故事和自然语言文档。其中用户故事咱们上节课已经通过一个例子简单介绍了一下。概念建模方法的选择，首先取决于它的表达能力，也就是是否能将需求表达得足够清楚；其次取决于它的沟通效率，即尽量减少需求建模的时间和人力成本，同时提高沟通质量。因此，在我们选择需求建模语言时，自然倾向于选择学习成本较低、而沟通效率较高的语言。</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需求验证是对。。它通过。。。常见的需求验证方法包括评审。。。等方法。</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对比分析这几种需求验证方法的错误识别、时间开销和工作成本，我们发现其中原型验证和测试验证的对错误的识别率较高，测试验证的工作成本较低、原型和测试验证的时间成本也相对较低、因此，这二者是首选。</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求管理贯穿。。。，它涉及。。等多个方面。需求追踪主要是描述和。。。建立需求的跟踪矩阵，是管理需求跟踪关系的一个有效手段。变更。。目前已经成为软件过程管理的一个必不可少的环节，有系统化的工具和方法学的支持，是现在实践中被广泛应用的一个活动。需求属性管理是对需求项的细化管理，其中最主要的属性包括需求的优先级、需求的状态等等。</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需求定义。。。不明确的。。。。首先是客户不满或产生纠纷，还有不切实际。。。。精疲力竭等等。在需求过程中，常见的问题包括产品涉及目标不明确。。。需求定义画蛇添足。。。。等等。</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求内容的获取来源包括干系人。。。和组织的规章制度，以及现有的系统。针对这几个来源，我们通常采用的获取手段是不一样的。干系人我们主要是通过沟通和交流的方式；业务过程主要是采用建模和分析的方法；组织。。主要是通过文本阅读、文档处理等等；对现有的系统，我们可以通过。。。对现有参照物的分析和差异性的比较来获取需求。</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干系人一次来自英文</a:t>
            </a:r>
            <a:r>
              <a:rPr lang="en-US" altLang="zh-CN" dirty="0"/>
              <a:t>stakeholder</a:t>
            </a:r>
            <a:r>
              <a:rPr lang="zh-CN" altLang="en-US" dirty="0"/>
              <a:t>，意思是对一件事儿有决策权的人。这里干系人指的是对一个软件项目有话语权、有决策影响的人。找出所有的干系人对于项目的成功有重要的意义。然后我们可以通过四世界模型去分析他属于哪个世界，从而推导出他关注的是哪些问题。举个例子，用户关注的是新系统的功能和它的特征；设计师关注的是。。。系统分析师想要。。。从以上我们可以看出干系人识别，最主要就是要强调和用户之间的联络关系，要保证与系统设计息息相关的人，他们的意愿能够体现在需求中来。</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干系人指的是任何和系统有关的人，包括资方、客户、系统用户、。。项目研发团队。我们可以看出，干系人可以来自四世界模型中的任何一个世界我们可以通过回答以下问题来识别干系人，包括。。。。</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召集一个或一组干系人来定义系统细节，我们可以达到以下三个目的：首先，我们知道从用户或客户的角度来看，什么是一个可接受的、高质量的系统；其次，我们可以通过这件事，提高。。。，通过。达到。。。从下面两个示意图我们可以看出，在有用户参与的需求获取结果中，原始需求和真实需求的差异更小。</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总之，干系人的参与，是项目成功的必要因素。他们的参与，丰富了我们系统信息和内容的获取。。。</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求获取的另一个来源，是业务过程，它是对现有业务过程的分析。这样有助于识别业务问题，并加以改进。主要内容包括，首先我们要找出。。。，然后分析。。是由于遗漏、还是。。之后分析改进的机会和空间，并给出改进的实质，是在完成自动化过程，还是在优化和改进现有流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求的另一个来源来自于组织。。。通常。。定义了。。。分析。。。其中，业务规则描述的是。。。。行为效果等等。约束则是对系统。。涉及。。。组织规章中往往。。。等内容，总之组织规章制度为我们提供了一个客观的、可参照的依据。</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分析。。。包括数据。。现有系统与未来系统共享工作环境和工作对象，因此从现有系统的了解，我们能够构想未来系统的雏形，并且找出差异的需求，从而更好地对未来系统进行规划。</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4308F8E-A66F-462A-B457-A69A741C0933}" type="slidenum">
              <a:rPr lang="zh-CN" altLang="en-US" smtClean="0"/>
              <a:t>26</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下面我们讨论需求获取技术。需求获取过程中，最困难的。。。。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27</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我们列出了几种最常用的需求获取技术，接下来大致介绍一下他们，并给出了他们的使用场景。比如面谈更适合在一样的。。有少量。。的场景。问卷调查则是针对不同。。。但是有广泛的大量的人参与。。。的场景。群体。。。适用于在相同或不同的地点。。。参与调查，则适用于在同样时间、同样地点，由分析师参与，由被调查者驱动的需求获取活动。除了这四种需求获取技术外，其它常用的需求获取技术还包括文档分析、头脑。。。。和需求讨论会等等。后面我们会逐一介绍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28</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面谈，说到底，就是问问题、听答案，那么什么时候安排面谈比较合适呢？首先，我们得可以见到。。。，然后，应该是很少。。。，即干系人就是领域专家时，此外，应该是干系人不能被聚到一起，进行群体诱导，同时我们也不需要干系人进行交互，来得到最终解答。这样的情况，我们就非常适合使用跟干系人面谈的方法来获取需求。</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29</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面谈，按照形式，可以分为有组织面谈和自由面谈两类。有组织的。。。自由。。。可以是面谈这和访谈对象在现场即兴安排。面谈的优点时可以获得。。有助于。。。个人感受，发现目标。。。第二个优点是面谈过程中可以深入探讨，根据。。。。动态的调整和补充后续的问题。面谈的缺点是面谈获取的数据大多是定性的。。而且也难以对。。，除此以外，面谈的技巧也难以掌握。在面谈过程中，我们要注意的是，不要问无法回答的问题，比如如何打蝴蝶结，无法用语言来描述；以及基于隐含知识的问题和脱离了环境和上下文的问题。另外，面谈者的态度，也可能使回答者产生有偏见的回答。</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30</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下面给大家介绍一些简单的面谈技巧。在面谈开始时。。。在询问。。。先问。。。将开放性的问题放在最后。</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31</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安排基于访谈地用户需求获取过程时，我们要完成以下几个步骤：首先，我们要明确访谈地目的，确定我们要通过访谈获得什么信息？什么情况下我们能够确定目的已经达到？然后设计。。。界定。。。邀请。。进行。。整理。。刚刚我们说的几个技巧，主要是在进行访谈的过程中，要轻松开场，注意抽丝、挖掘，注意把控整个访谈的节奏。对访谈数据的之后也要进行反馈和讨论，规范化访谈的输出。在访谈过程中，我们要注意避免问一组。。要优先。。。避免。。。成为我们自己系统的设计师，避免。。避免。。鼓励用户讲故事，讲他个人的观点。</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32</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来简单介绍问卷调查的方法。问卷调查的使用场景是，我们有大基数的。。。面对广泛涉众；除此以外，我们有基于良好定义的。。，并且我们能够验证有限次面谈的出的结论是否正确，最后，当我们需要特定结果时，我们也可以采用问卷调查的方法。问卷调查首先是要定义一组问题，问卷的结果收上来之后采用统计学的分析方法，使问卷调查显得更科学。</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33</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卷调查的有点就是我们可以快速获得大量的反馈、可。。。可以。。快速搜集。。。它的缺点也非常明显，由于问卷中问题时简单的分类，因此对上下文的考虑较少、留给。。相对较小，更多是用选择题的方式。问卷调查的注意事项包括，在选择。。。要注意尽量减少偏见，自愿的。。。另外，也要避免样本规模。。除此以外，自由。。对答案。。。问题设计的妥当性和问题的含户型都会影响问卷调查的数据采集质量。问卷调查也需要原型化的方法和测试，在设计好问卷之后，可以寻找几个受访对象，对问卷进行测试，看其效果是否如预期。</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34</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群体诱导技术，在执行的时候往往是在同一个会议地点中聚集。。。每一个人都。。。这个时候群体的答案往往比个体提供的答案更全面。那么，在什么时候。。。那就是当每个人都只知道关于整体的一小部分时，人们需要彼此交互从而优化答案，同时，我们也需要能够客观上在同一时间把一群人聚集到一起。如果需要匿名的话，我们可以采用一些工具让他们彼此之间相互隔离或者在不同的地方进行。</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35</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群体。。技术按期组织形式可以分为两类，。。一类是。。一类是。。。在群体诱导过程中，人们的交互。。。人们之间可以互相启发、抛砖引玉。实体模型和故事板的运用可以使群体。。技术更为有趣，成果也更明显。它的缺点是分组时可能会让某些。。。容易出现少数服从多数的问题，对技术。。。没有面谈来的深入。群体。。技术的执行需要训练。。。引导着。在群体诱导的过程中需要注意的几种情况，一个是样本选择的偏见，二就是在群体有道过程中可能出现统治。。当群体诱导活动由少数几个人。。引导人需要站出来，为每个人分配</a:t>
            </a:r>
            <a:r>
              <a:rPr lang="en-US" altLang="zh-CN" dirty="0"/>
              <a:t>5</a:t>
            </a:r>
            <a:r>
              <a:rPr lang="zh-CN" altLang="en-US" dirty="0"/>
              <a:t>分钟的规定时长来陈述他们的观点，以确保每个人都有说话的机会。当发现某些人参与度不够时，引导着需要站出来，激励人们参与。当出现无理取闹的参与者时，要惩罚发言不够严肃的人。</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36</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求研讨会的目标是介绍。。。收集。。。在会议。。。。它的指导原则是由主持人。。。，给。。。保持。。。定义每条需求的属性，记录新需求的发现，并在最后总结所获得的需求，并就需求给出大家的决策和结论性的意见。</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37</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头脑风暴的目标是要通过。。的新想法。它在。。进行头脑风暴的指导性方针包括要采用。。做到百花齐放。。。不受。。新观点。。大家彼此之间抛砖引玉、互相启发，其目的就是为了获取尽可能多的新观点，是一个思维发散的过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38</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参与观察法是让分析师深入到干系人的日常工作环境中来，从侧面观察干系人的行为。在这个过程中，分析师的角色越。。，观察的效果越好。我们需要注意的是，分析师从旁观察的动作，可能已经影响到了干系人的行为，也就是说所观察到的结果，与干系人的日常行为可能是有一些差异的。观察参与者时，要进行相应的动作研究，那么，什么时候应该采取观察法呢，那就是当有人或者事物需要通过观察才能获得相关信息的时候，或者是当干系人的知识很难言表，是行为知识的时候，此时采用观察法是比较有效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39</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参与观察法，是一种面向纵深的调查方法，由于观察者参与。。。因此带来了上下文相关的优点，能够。。。它的缺点是时间。。。而且获取。。难以讲无关细节剔除，也无法就改进建议所带来的结果给出。。这里值得注意的是，观察者由于参与到环境中，过于深入，到有被同化的危险，失去了客观的立场。</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40</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亲身实践与参与观察法有一定的相似性，但又不尽相同。参与观察过程中，分析师是从旁观看，而亲身实践是通过观察、提问，甚至亲自操作，来更精确的了解工作内容。他建议</a:t>
            </a:r>
            <a:r>
              <a:rPr lang="zh-CN" altLang="en-US" sz="1200" dirty="0">
                <a:latin typeface="微软雅黑" panose="020B0503020204020204" pitchFamily="34" charset="-122"/>
                <a:ea typeface="微软雅黑" panose="020B0503020204020204" pitchFamily="34" charset="-122"/>
                <a:cs typeface="华文细黑" panose="02010600040101010101" charset="-122"/>
              </a:rPr>
              <a:t>实时实地地开展实践工作，并获得干系人地及时反馈。亲身实践地使用场景，是当用户太忙。。。时，可以由分析师到用户地工作场景中，亲自实践任务的流程。另外一种情况，就是人们往往只是在既定的流程中完成相关工作，并没有意识到每天的工作实际上是在做什么，也就是他是下意识地完成工作任务时，通过亲身实践，能够更好地恢复出工作的流程和动作。实践者能够反复。。并且学习该。。让用户确定他所做的步骤是否正确，从而获得最准确的实践知识和任务相关描述，这也有利于与用户。。。为后续的工作奠定好的交流基础。</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41</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文档分析是一个非常好的入手点，它的目标是为了理解。。可以作为。。。进行文档分析地指导方针包括要确定。。找出。。。从。。</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42</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原型仿真是用户最偏爱的需求获取手段之一，它的目标是为了明确那些含糊。。。简化。。确认。。能够尽早。。。它主要有以下功能：首先它主要用于需求确认，能够提供需求评估的数据。。尤其是可以用来评估不同。。帮助。。。是一种只管。。</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43</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概念建模是我们课程要重点探讨的另外一项研究内容。它的目标是用图形化的手段。。现实世界的问题，建立。。。对未来系统进行抽象表示、在建模过程中。。，得到清楚。。。的需求描述。它主要是对系统进行不同角度的抽象，建立不同类型的模型。例如对系统分而治之，从而对子系统的结构进行描述的分解模型、对数据进行描述的</a:t>
            </a:r>
            <a:r>
              <a:rPr lang="en-US" altLang="zh-CN" dirty="0"/>
              <a:t>ER</a:t>
            </a:r>
            <a:r>
              <a:rPr lang="zh-CN" altLang="en-US" dirty="0"/>
              <a:t>模型，以及面向对象模型、以描述行为为中心的用例模型、过程模型和活动模型等等。</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44</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在软件产品的设计过程中，其实是有两种创新的程度。一类演化型的产品设计，还有一类是设计全新的产品。那么在设计全新产品时，我们首先要对它进行系统分析和评估。这里我们给出一种基于竞争性需求分析的框架。该框架为我们提供了五个思维基点，让我们能够在策划全新产品时，进行可行性评估。首先，我们要了解的是，我们新的产品创意是否解决了用户的需求，解决了哪方面的需求，这个明确需求的过程，就是我们获得市场认可的基础。另一个方面，就是在方法上，我们找到需求之后，下一步该怎么办呢，我们是否有独特的方法来解决用户的问题，这些新鲜的方法、做法，可以不仅仅是技术上的，也可以是商业模式上的，是关于这个产品的运行地域、使用人、行业或者成本方面，只要在任何一个方面我们有了独特之处，那么该产品就有可能在市场上立足。现在，我们既有了用户的需求，又有了独特的做法，我们还要思考这个产品能够给用户带来了什么真正好处，如果这个好处已经有现有解决方案的话，那我们能够用什么方法，让用户离开现有的产品，来使用我们的产品，这是一个关于用户迁移成本和用户代价的权衡过程。其次，我们还要评估这个产品的竞争力有多大、市场有多大、有多少竞争者在瓜分这个市场，我们的新产品如果不是第一个进入市场的，那么有没有取得成功的可能性。这里就涉及到先发优势和后发优势两个方面。所以竞争性的需求分析最核心的问题就是看清新产品的优势和劣势在哪里。最后一项，就是我们产品研发完成后，如何进行交付和推广，交付和推广实际上在新品的成功中也扮演了非常重要的角色。一个好的产品，如果无法推广到用户的面前，那么他也是很难得到广泛应用和市场成功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45</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许多互联网公司都在使用</a:t>
            </a:r>
            <a:r>
              <a:rPr lang="en-US" altLang="zh-CN" dirty="0"/>
              <a:t>AB</a:t>
            </a:r>
            <a:r>
              <a:rPr lang="zh-CN" altLang="en-US" dirty="0"/>
              <a:t>测试的方法，很多研究人员也在使用这种方法进行研究。</a:t>
            </a:r>
            <a:r>
              <a:rPr lang="en-US" altLang="zh-CN" dirty="0"/>
              <a:t>AB</a:t>
            </a:r>
            <a:r>
              <a:rPr lang="zh-CN" altLang="en-US" dirty="0"/>
              <a:t>测试看起来很简单，如果你的产品已经有用户在用，但是你想对用户界面进行一些改进，但又不确定用户是否会欢迎这样的改进时，就可以配置这样的</a:t>
            </a:r>
            <a:r>
              <a:rPr lang="en-US" altLang="zh-CN" dirty="0"/>
              <a:t>AB</a:t>
            </a:r>
            <a:r>
              <a:rPr lang="zh-CN" altLang="en-US" dirty="0"/>
              <a:t>测试环境。首先，就是要确定要试验哪两种用户界面，确定衡量界面的标准、确定数据。。。确定试验运行的时间和人数，通常我们选择。的用户，然后通过技术实现</a:t>
            </a:r>
            <a:r>
              <a:rPr lang="en-US" altLang="zh-CN" dirty="0"/>
              <a:t>AB</a:t>
            </a:r>
            <a:r>
              <a:rPr lang="zh-CN" altLang="en-US" dirty="0"/>
              <a:t>测试环境的搭建，之后收集用户的行为数据、分析数据，得到我们想了解的试验结论。在</a:t>
            </a:r>
            <a:r>
              <a:rPr lang="en-US" altLang="zh-CN" dirty="0"/>
              <a:t>AB</a:t>
            </a:r>
            <a:r>
              <a:rPr lang="zh-CN" altLang="en-US" dirty="0"/>
              <a:t>测试的过程中，我们最主要的是要获得系统和用户之间的交互反馈。比如在右边的图种，</a:t>
            </a:r>
            <a:r>
              <a:rPr lang="en-US" altLang="zh-CN" dirty="0"/>
              <a:t>AB</a:t>
            </a:r>
            <a:r>
              <a:rPr lang="zh-CN" altLang="en-US" dirty="0"/>
              <a:t>两种方案，我们最终得到</a:t>
            </a:r>
            <a:r>
              <a:rPr lang="en-US" altLang="zh-CN" dirty="0"/>
              <a:t>B</a:t>
            </a:r>
            <a:r>
              <a:rPr lang="zh-CN" altLang="en-US" dirty="0"/>
              <a:t>方案获得更多用户的正面反馈，因此在这个测试中我们得到结论，</a:t>
            </a:r>
            <a:r>
              <a:rPr lang="en-US" altLang="zh-CN" dirty="0"/>
              <a:t>B</a:t>
            </a:r>
            <a:r>
              <a:rPr lang="zh-CN" altLang="en-US" dirty="0"/>
              <a:t>方案优于</a:t>
            </a:r>
            <a:r>
              <a:rPr lang="en-US" altLang="zh-CN" dirty="0"/>
              <a:t>A</a:t>
            </a:r>
            <a:r>
              <a:rPr lang="zh-CN" altLang="en-US" dirty="0"/>
              <a:t>方案。</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46</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互联网平台目前成为软件运行的基础平台，这使得用户行为数据的采集成为可能，许多软件提供商，都在线地将用户的访问数据进行分析和统计，由此得出对下一步新产品设计的启示。能够访问到的用户数据包括交互。。。等。基于平时的日常交互数据的采集结果，我们可以对操作数据进行统计分析，包括用户所偏爱的厂商、版本、用户访问的</a:t>
            </a:r>
            <a:r>
              <a:rPr lang="en-US" altLang="zh-CN" dirty="0"/>
              <a:t>IP</a:t>
            </a:r>
            <a:r>
              <a:rPr lang="zh-CN" altLang="en-US" dirty="0"/>
              <a:t>地址和所来自的地域，产品的日访问量、访问频次、用户的身份、平均访问市场以及用户的打分等等。通过对这些数据的分析，我们能够得到一些关于用户的偏好以及产品现在表现的数据和证据，由此推断出下一步应该如何改进产品。</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47</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目前为止，我们介绍了很多需求获取技术和方法，在选用这些方法时，我们要根据待获取需求的具体内容来有效选择。例如，获取界面需求时，原型法、情景法和建模法是比较有效的，在获取业务逻辑时，参与观察法、亲身实践、。。和情景的方法，有利于业务逻辑的精确理解和描述。对未来系统的信息和数据结构进行获取时，面谈和现有系统分析是最行之有效的。要建立完整精确的需求模型很困难，建立完整的原型也。。因此我们要根据。。，灵活搭配、组织运用，具体问题具体分析，形成一个针对具体问题的最有效的获取方案。</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48</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接下来又有几个注意事项要说明一下。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53</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首先，用户。。。也就是说，在需求获取中，我们更要关注的是引导干系人，让他们回答出更多有价值的信息，需求分析师的作用就是协助。。。</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54</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什么是足够好的需求管理呢，就是能够完成用户预期的功能，让用户满意，但是又没有消耗过多的时间，导致项目。。。正如买人寿保险，买的足够多，使得我们可以安心，但我们不会买过多的保险，使得我们担心支付不了保险金。</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55</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其次，实践经验表明很大一部分。。。所以我们需要维护一个术语表。确定术语表时，我们要针对关键的术语思考，该术语的含义是什么，并且把所有取得大家共识的术语定义明确的写出来，这样为后续的阅读者和参照提供依据。例如，当围绕一个关键术语存在多个定义，那么就需要花费更多时间去给出取得共识，给出关于这个术语的准确定义。</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56</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最后，需要注意的是，我们要灵活采取需求获取技术。在需求获取过程中，只采用。。技术的选择与项目的参与人相关、与。。。与。。。</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57</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下面我们介绍需求获取的信息来源。</a:t>
            </a:r>
          </a:p>
        </p:txBody>
      </p:sp>
      <p:sp>
        <p:nvSpPr>
          <p:cNvPr id="4" name="灯片编号占位符 3"/>
          <p:cNvSpPr>
            <a:spLocks noGrp="1"/>
          </p:cNvSpPr>
          <p:nvPr>
            <p:ph type="sldNum" sz="quarter" idx="10"/>
          </p:nvPr>
        </p:nvSpPr>
        <p:spPr/>
        <p:txBody>
          <a:bodyPr/>
          <a:lstStyle/>
          <a:p>
            <a:fld id="{64308F8E-A66F-462A-B457-A69A741C0933}" type="slidenum">
              <a:rPr lang="zh-CN" altLang="en-US" smtClean="0"/>
              <a:t>58</a:t>
            </a:fld>
            <a:endParaRPr lang="zh-CN" altLang="en-US"/>
          </a:p>
        </p:txBody>
      </p:sp>
    </p:spTree>
    <p:extLst>
      <p:ext uri="{BB962C8B-B14F-4D97-AF65-F5344CB8AC3E}">
        <p14:creationId xmlns:p14="http://schemas.microsoft.com/office/powerpoint/2010/main" val="183707033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撰写软件需求。。的目标是为了围绕应用领域和待开发的系统进行沟通，形成一个具有。。。定义供需双方就系统的内容所达成的共识，清楚地。。。通过定义系统的输入输出，以及从输入到。。。，描述。。。及其评估指标，我们一般可以参考。。。定义的模板，覆盖。。并将需求作为后续。。。</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59</a:t>
            </a:fld>
            <a:endParaRPr lang="zh-CN" altLang="en-US"/>
          </a:p>
        </p:txBody>
      </p:sp>
    </p:spTree>
    <p:extLst>
      <p:ext uri="{BB962C8B-B14F-4D97-AF65-F5344CB8AC3E}">
        <p14:creationId xmlns:p14="http://schemas.microsoft.com/office/powerpoint/2010/main" val="55947902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需求文档需要有一定的逻辑组织结构，目前</a:t>
            </a:r>
            <a:r>
              <a:rPr lang="en-US" altLang="zh-CN" dirty="0"/>
              <a:t>IEEE</a:t>
            </a:r>
            <a:r>
              <a:rPr lang="zh-CN" altLang="en-US" dirty="0"/>
              <a:t>提供的模板是被最广泛应用的文档组织形式之一。除此以外，典型的需求文档组织形式还包括：可以按照。。比如对于一个飞机着陆管理系统来说，按照飞机着陆时的环境条件，如风速、燃料余量、跑道长度等来组织需求的撰写。也可以按照系统的功能特征来组织，比如对一个电话系统来说，可以根据它的呼叫转移、来点屏蔽、电话会议等提供给客户的功能特征来组织文档需求的撰写。也可以按照系统对外部请求的响应方式来组织，比如一个公司管理系统，其请求有工资条生成请求、成本计算、打印税单等。也可以按照所管理的。。。的类型来组织。比如对图书管理系统，按照所管理的书籍类型来组织需求的撰写。也可以按照用户的类型来组织，比如一个项目管理系统，可以按照经理人、技术人员、管理人员，来组织撰写需求文档。按可以按照软件的。。。，比如对于一个文档编辑器，可以按照文档编辑时的页面布局，包括大纲模式、分页模式、普通文档编辑模式等，按照不同模式来组织需求文档。最后，还可以按照子系统。。对于一个飞行器管理系统，我们可以分为命令控制子系统、数据处理子系统、通信子系统、设备管理子系统等，通过划分不同子系统来组织需求文档。总结来说，需求文档的组织形式，应该是根据待设计的软件系统其本身的需要，用一种合理的、有逻辑地方式来组织。</a:t>
            </a:r>
            <a:endParaRPr lang="en-US" altLang="zh-CN"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60</a:t>
            </a:fld>
            <a:endParaRPr lang="zh-CN" altLang="en-US"/>
          </a:p>
        </p:txBody>
      </p:sp>
    </p:spTree>
    <p:extLst>
      <p:ext uri="{BB962C8B-B14F-4D97-AF65-F5344CB8AC3E}">
        <p14:creationId xmlns:p14="http://schemas.microsoft.com/office/powerpoint/2010/main" val="85026292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软件需求规格说明的风格，主要包括描述性的自然语言文本、用例模型，以及从需求数据库种生成的方式。其中，描述性的自然语言文本，最常见的就是之前我们介绍过的敏捷方法中的用户故事，它目前是最流行的描述性的手段之一。需求规格说明也可以从用例模型产生，从用例到需求规格说明之间的关系，可以看成一个双向的可逆的过程。也就是说，我们既可以用用例来表示需求模型，也可以使用工具从用例模型中得到完整的需求集合。在商业的数据库中，也有部分内置的功能，通过对需求的列表进行筛选，生成我们想要的需求规格说明文档，尤其是我们可以通过数据库对一个产品线或者产品线家族进行需求管理，根据其需求规格说明数据库中的选项，我们可以生成特定产品的需求规格说明。此外我们还可以混合多种模型，比如将特征模型和用例模型相结合，生成需求规格说明。后面我们说到的两种，往往都要通过内嵌模板和特定工具来完成。</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61</a:t>
            </a:fld>
            <a:endParaRPr lang="zh-CN" altLang="en-US"/>
          </a:p>
        </p:txBody>
      </p:sp>
    </p:spTree>
    <p:extLst>
      <p:ext uri="{BB962C8B-B14F-4D97-AF65-F5344CB8AC3E}">
        <p14:creationId xmlns:p14="http://schemas.microsoft.com/office/powerpoint/2010/main" val="134866001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对不同规格的软件开发项目，</a:t>
            </a:r>
            <a:r>
              <a:rPr lang="en-US" altLang="zh-CN" dirty="0"/>
              <a:t>	</a:t>
            </a:r>
            <a:r>
              <a:rPr lang="zh-CN" altLang="en-US" dirty="0"/>
              <a:t>需求规格说明的方式可以是不同的。考虑。。对以一个小型项目，即只有</a:t>
            </a:r>
            <a:r>
              <a:rPr lang="en-US" altLang="zh-CN" dirty="0"/>
              <a:t>1</a:t>
            </a:r>
            <a:r>
              <a:rPr lang="zh-CN" altLang="en-US" dirty="0"/>
              <a:t>名。。经过</a:t>
            </a:r>
            <a:r>
              <a:rPr lang="en-US" altLang="zh-CN" dirty="0"/>
              <a:t>2</a:t>
            </a:r>
            <a:r>
              <a:rPr lang="zh-CN" altLang="en-US" dirty="0"/>
              <a:t>个月的开发完成的项目，往往程序员可以直接跟用户对话，写两页纸的备忘录供查，就已经足以支持项目的开发任务了。而对一个大型项目，由。。。就需要专门的团队。。撰写详尽的需求规格说明。仔细分析两个项目的差别，我们就会发现，撰写需求的目的、管理的视角和读者都是不同的。对于小型项目来说，撰写需求规格说明的目的，是为了提升程序员对问题领域的了解，并反馈给用户、而对大型项目来说，撰写。。的目的，是为了把所有相关细节沟通给参与项目的所有研发人员，因此项目的规模决定了人们对问题理解的精确性和详细程度。从管理的角度来看，项目</a:t>
            </a:r>
            <a:r>
              <a:rPr lang="en-US" altLang="zh-CN" dirty="0"/>
              <a:t>A</a:t>
            </a:r>
            <a:r>
              <a:rPr lang="zh-CN" altLang="en-US" dirty="0"/>
              <a:t>的资源是固定的，无论如何撰写需求规格说明，资源都不会改变；但对项目</a:t>
            </a:r>
            <a:r>
              <a:rPr lang="en-US" altLang="zh-CN" dirty="0"/>
              <a:t>B</a:t>
            </a:r>
            <a:r>
              <a:rPr lang="zh-CN" altLang="en-US" dirty="0"/>
              <a:t>来说，需要根据项目需求的工作点、工作量来分配人员和时间，对项目进行规划，因此文档变得非常重要，是很多后续工作的参照一句。从读者来看，项目</a:t>
            </a:r>
            <a:r>
              <a:rPr lang="en-US" altLang="zh-CN" dirty="0"/>
              <a:t>A</a:t>
            </a:r>
            <a:r>
              <a:rPr lang="zh-CN" altLang="en-US" dirty="0"/>
              <a:t>的参与人较少，因此第一个项目的需求文档的读者仅仅是撰写备忘录的作者自身，以及需要和他确认的客户，而客户通常只需要了解工作的要点就可以了，两者遇到任何问题可以随时沟通。而对项目</a:t>
            </a:r>
            <a:r>
              <a:rPr lang="en-US" altLang="zh-CN" dirty="0"/>
              <a:t>B</a:t>
            </a:r>
            <a:r>
              <a:rPr lang="zh-CN" altLang="en-US" dirty="0"/>
              <a:t>来说则大不相同，因为团队人数较多，后续的测试人员，相关的管理人员，都需要随时参考需求规格说明，对项目的进度进行控制，对项目的质量进行把控，因此需求规格说明可能是整个团队唯一的共同沟通媒介和共识，它的地位不同，因此我们需要更谨慎地撰写和管理需求规格说明。</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62</a:t>
            </a:fld>
            <a:endParaRPr lang="zh-CN" altLang="en-US"/>
          </a:p>
        </p:txBody>
      </p:sp>
    </p:spTree>
    <p:extLst>
      <p:ext uri="{BB962C8B-B14F-4D97-AF65-F5344CB8AC3E}">
        <p14:creationId xmlns:p14="http://schemas.microsoft.com/office/powerpoint/2010/main" val="381923408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软件需求规格说明的撰写者，可以是项目的招标方，也可以是项目的投标方，或者部分系统研发人员，当然也可以由多方共同商讨完成。不同类型的需求规格说明适合不同类型的项目。小型的项目采用描述性的文本描述就已经足够，它适合微型、小型产品的非正规的描述性说明，它所需要的是由良好。。。需求分析师；对大中型项目来说，我们既可以采用用例建模的方法，也可以通过需求数据库生成，它适合具有产品线的软件系统的正式的需求规格说明。对用例模型的使用者，分析师需要有建模能力，有支持的建模工具，也要有一定的过程规约；对于需求数据库的使用者，需要有具备数据库管理能力的需求分析师；对中小型项目，可以采用混合模型，它适合对单个产品进行定义，采用混合模型，需要分析师有良好的协作能力，具备数据库管理和一定的需求工程基础知识和建模能力，也就是需求分析师需要具备该混合模型中所涉及的各个模型相应的能力。</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63</a:t>
            </a:fld>
            <a:endParaRPr lang="zh-CN" altLang="en-US"/>
          </a:p>
        </p:txBody>
      </p:sp>
    </p:spTree>
    <p:extLst>
      <p:ext uri="{BB962C8B-B14F-4D97-AF65-F5344CB8AC3E}">
        <p14:creationId xmlns:p14="http://schemas.microsoft.com/office/powerpoint/2010/main" val="214852339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Fred Brooks</a:t>
            </a:r>
            <a:r>
              <a:rPr lang="zh-CN" altLang="en-US" dirty="0"/>
              <a:t>在著名的“人月神话”中描述了。。的做法，在苹果的第一台。。。据说用户手册就已经写好了。这些早期的成功故事，说明用户手册作为需求规格说明，是一种性价比较高的，一箭双雕的做法。通过撰写用户手册，我们同时获得了需求规格说明书和用户手册两种制品。而且用户手册作为需求规格说明，对于和用户交互较强的软件类型是非常有效的。这样的系统往往是由人机交互来驱动的。好的用户手册也描述了所有相关用例的场景，但是用户手册作为需求规格说明，也存在一定的局限性。首先，用户手册中往往不会提到非功能性的需求，那些不和。。的功能也很难被体现，比如背后的函数计算、过滤器、翻译工具等等，虽然是功能需求，但无法被用户体验到。</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64</a:t>
            </a:fld>
            <a:endParaRPr lang="zh-CN" altLang="en-US"/>
          </a:p>
        </p:txBody>
      </p:sp>
    </p:spTree>
    <p:extLst>
      <p:ext uri="{BB962C8B-B14F-4D97-AF65-F5344CB8AC3E}">
        <p14:creationId xmlns:p14="http://schemas.microsoft.com/office/powerpoint/2010/main" val="12755710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先来看看常见的用户手册的大纲，在用户手册中首先我们要介绍产品总览。。给出术语和基本的产品特征，给出其展示或者报表格式的总览，并介绍用户手册的大概。之后我们就开始介绍具体的使用场景，从开始使用系统，到样例运行，再到帮助菜单，系统的操作模式，最后介绍系统的高级特性，然后给出系统命令的文法和可能选项。</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65</a:t>
            </a:fld>
            <a:endParaRPr lang="zh-CN" altLang="en-US"/>
          </a:p>
        </p:txBody>
      </p:sp>
    </p:spTree>
    <p:extLst>
      <p:ext uri="{BB962C8B-B14F-4D97-AF65-F5344CB8AC3E}">
        <p14:creationId xmlns:p14="http://schemas.microsoft.com/office/powerpoint/2010/main" val="53632838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求规格说明要覆盖软件产品的功能、外部接口、性能、质量属性、设计约束，一个高质量的需求。。是所有需求的集合，它描述。。，是软件。。是测试计划的参考依据，他需要定义。。。是后续产品需求。。它会影响。。计划，但是在需求规格说明中不可以包括项目的开发计划、产品的质量保证计划和具体的设计方案。</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66</a:t>
            </a:fld>
            <a:endParaRPr lang="zh-CN" altLang="en-US"/>
          </a:p>
        </p:txBody>
      </p:sp>
    </p:spTree>
    <p:extLst>
      <p:ext uri="{BB962C8B-B14F-4D97-AF65-F5344CB8AC3E}">
        <p14:creationId xmlns:p14="http://schemas.microsoft.com/office/powerpoint/2010/main" val="149309365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求规格说明的质量，应该从以下几个方面进行评价，正确性、无。。完整性。。。以及有序性等。需求规格的正确性是指它真正表达了干系人的需求，也没有引入不必要的噪声需求。无歧义性是指对每一个需求项都只有一种合理的解释，不会导致误解，需求的完整性是指它涵盖了所有必要的功能，也给出了系统不应该具有的行为，在概念上具有完整性，覆盖了所有可能的输入情况，在结构上也具有完整性，没有尚未添加的部分。需求的可测试性是指每条需求都是可证明的，有一个测试其满足程度的依据。需求的可跟踪性是指需求的来源清楚，每条需求都有唯一的索引号，以便未来引用。需求的可修改性，是指其结构和相互的引用逻辑上有清晰的条理，确保需求项的修改不会面临太大的困难，引入新的问题。需求的易理解性，是指它可以被非专业人士阅读理解，需求的一致性是指需求不会存在自相矛盾的情况，术语的使用和引用也是一致的、连贯的。需求的有序性，是指需求之间，在重要程度或者稳定性上有优先级的次序。建立高质量的需求规格说明，是未来项目成功的必要保证之一，但是，建立完美的需求规格说明也是不必要、不现实的，从右边的途中我们可以看到，这些评价指标之间其实存在一定的相互制约和平衡关系，比如如果我们追求极致的无歧义性，就很有可能引入重复的冗余的术语。</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67</a:t>
            </a:fld>
            <a:endParaRPr lang="zh-CN" altLang="en-US"/>
          </a:p>
        </p:txBody>
      </p:sp>
    </p:spTree>
    <p:extLst>
      <p:ext uri="{BB962C8B-B14F-4D97-AF65-F5344CB8AC3E}">
        <p14:creationId xmlns:p14="http://schemas.microsoft.com/office/powerpoint/2010/main" val="167699182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除了前面提到的几个规约的评价指标之外，我们还应该注意保持需求规约的简洁性。那么，什么样的需求描述是简洁的呢，首先，每一条需求只描述系统的一个独立特征，除了必要的信息。。不包含其他的信息，要用清晰。。，避免使用。。之类的不确定的模糊词汇。例如，再急救电话的需求描述中，有以下两种说法，第一个是急救电话的。。。还有一个说法是，急救电话应该。。。。这二者，前者相对简洁，容易理解，建议使用。</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68</a:t>
            </a:fld>
            <a:endParaRPr lang="zh-CN" altLang="en-US"/>
          </a:p>
        </p:txBody>
      </p:sp>
    </p:spTree>
    <p:extLst>
      <p:ext uri="{BB962C8B-B14F-4D97-AF65-F5344CB8AC3E}">
        <p14:creationId xmlns:p14="http://schemas.microsoft.com/office/powerpoint/2010/main" val="261106250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还有一个需要注意的是，使用需求数据库时，创建任何。。。都应该优先通过。。。来生成，所有的修改都不要直接在规格说明上进行，而是首先修改。。。需求相关数据，然后重新。。</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69</a:t>
            </a:fld>
            <a:endParaRPr lang="zh-CN" altLang="en-US"/>
          </a:p>
        </p:txBody>
      </p:sp>
    </p:spTree>
    <p:extLst>
      <p:ext uri="{BB962C8B-B14F-4D97-AF65-F5344CB8AC3E}">
        <p14:creationId xmlns:p14="http://schemas.microsoft.com/office/powerpoint/2010/main" val="182381789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求规格说明可以按照预先定义好的模板来组织章节的内容，模板的存在使得撰写统一标准的需求规格说明变得很简单，也有利于质量保证人员定义需求。。的评估指标。模板既可以用于撰写业务需求，也可以撰写系统需求，当我们把模板嵌入到需求工程的工具中时，就可以自动或者半自动地从需求。。生成。。</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70</a:t>
            </a:fld>
            <a:endParaRPr lang="zh-CN" altLang="en-US"/>
          </a:p>
        </p:txBody>
      </p:sp>
    </p:spTree>
    <p:extLst>
      <p:ext uri="{BB962C8B-B14F-4D97-AF65-F5344CB8AC3E}">
        <p14:creationId xmlns:p14="http://schemas.microsoft.com/office/powerpoint/2010/main" val="313214092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最后给大家介绍一下</a:t>
            </a:r>
            <a:r>
              <a:rPr lang="en-US" altLang="zh-CN" dirty="0"/>
              <a:t>IEEE</a:t>
            </a:r>
            <a:r>
              <a:rPr lang="zh-CN" altLang="en-US" dirty="0"/>
              <a:t>的需求规格说明模板。从右边的文档结构中可以看出，在</a:t>
            </a:r>
            <a:r>
              <a:rPr lang="en-US" altLang="zh-CN" dirty="0"/>
              <a:t>IEEE</a:t>
            </a:r>
            <a:r>
              <a:rPr lang="zh-CN" altLang="en-US" dirty="0"/>
              <a:t>建议的需求规格说明模板中，我们首先第一章要介绍项目的基本范围和目标，给出术语的定义，然后第二章从总体上描述一下系统的外部接口、相关的用户、软硬件平台，以及操作和节点的要求。在</a:t>
            </a:r>
            <a:r>
              <a:rPr lang="en-US" altLang="zh-CN" dirty="0"/>
              <a:t>IEEE</a:t>
            </a:r>
            <a:r>
              <a:rPr lang="zh-CN" altLang="en-US" dirty="0"/>
              <a:t>模板中，最关键的内容是第三章，对系统的功能性和非功能性需求给出具体详细的描述</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71</a:t>
            </a:fld>
            <a:endParaRPr lang="zh-CN" altLang="en-US"/>
          </a:p>
        </p:txBody>
      </p:sp>
    </p:spTree>
    <p:extLst>
      <p:ext uri="{BB962C8B-B14F-4D97-AF65-F5344CB8AC3E}">
        <p14:creationId xmlns:p14="http://schemas.microsoft.com/office/powerpoint/2010/main" val="45086587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三部分又需分为，为外部接口需求、功能性需求、性能需求、设计约束以及软件系统的属性等等。其中外部接口需求包括用户接口、硬件接口、软件接口和通信接口，而功能性的需求可以根据系统的操作模式，比如这个例子中，按照模式</a:t>
            </a:r>
            <a:r>
              <a:rPr lang="en-US" altLang="zh-CN" dirty="0"/>
              <a:t>1</a:t>
            </a:r>
            <a:r>
              <a:rPr lang="zh-CN" altLang="en-US" dirty="0"/>
              <a:t>，模式</a:t>
            </a:r>
            <a:r>
              <a:rPr lang="en-US" altLang="zh-CN" dirty="0"/>
              <a:t>2</a:t>
            </a:r>
            <a:r>
              <a:rPr lang="zh-CN" altLang="en-US" dirty="0"/>
              <a:t>来组织功能需求，也可以按照用户分类、特征分类来组织，我们应该根据待开发软件的特性，决定如何组织撰写系统的功能需求。而性能需求主要是定义那些可以度量的性能指标，如响应时间、并发数等。除了外部接口、功能需求和非功能性需求之外，我们还应该在第三部分写出系统的设计约束，设计约束主要是从系统的标准依从性（如法律法规和当地政策等），以及硬件的客观限制等等出发，给出在系统设计过程中需要注意的，来自外部环境的约束条件。软件系统的属性，则是给出了质量相关的属性，比如可靠性。。。等方面。</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72</a:t>
            </a:fld>
            <a:endParaRPr lang="zh-CN" altLang="en-US"/>
          </a:p>
        </p:txBody>
      </p:sp>
    </p:spTree>
    <p:extLst>
      <p:ext uri="{BB962C8B-B14F-4D97-AF65-F5344CB8AC3E}">
        <p14:creationId xmlns:p14="http://schemas.microsoft.com/office/powerpoint/2010/main" val="99407575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需求规格说明模板的运用，能够提高需求撰写的效率，在有。。。我们相当于有了一个完整的检查大纲，不容易。。 但模板的直接运用也有一定的缺点，比如它并非对所有的系统都适用，而如果我们仅仅为了满足标准的要求，而填写。。，在一些不相关的章节，我们就会加入。。而读者在阅读时，很难。。</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73</a:t>
            </a:fld>
            <a:endParaRPr lang="zh-CN" altLang="en-US"/>
          </a:p>
        </p:txBody>
      </p:sp>
    </p:spTree>
    <p:extLst>
      <p:ext uri="{BB962C8B-B14F-4D97-AF65-F5344CB8AC3E}">
        <p14:creationId xmlns:p14="http://schemas.microsoft.com/office/powerpoint/2010/main" val="312556626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总结一下，需求撰写主要是出于以下的目标，首先是在干系人之间沟通需求，其次是建立合同约定，为后续的验证提供基准，为后面提出的需求变更提供参考，需求的规约可一个技术和非技术用户使用，因此我们应该尽快。。产生一个初始版本来获取用户反馈，确定哪些属性可以用于进一步分类和细化需求，将其定义到需求的列表之中，在遇到问题时，直接询问用户网袜关闭咨询场外的专家更加有用。在撰写需求时要遵循以下法则，首先，使用。。。让非技术人员能够读懂；其次，撰写可。。为需求的验证提供帮助；使用定义好。。，一次。。，保持需求项之间的独立性。由于不同项目的需求有很大的不同，因此投放在需求撰写中的代价和时间应该是和需求可能造成的影响成正比。</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74</a:t>
            </a:fld>
            <a:endParaRPr lang="zh-CN" altLang="en-US"/>
          </a:p>
        </p:txBody>
      </p:sp>
    </p:spTree>
    <p:extLst>
      <p:ext uri="{BB962C8B-B14F-4D97-AF65-F5344CB8AC3E}">
        <p14:creationId xmlns:p14="http://schemas.microsoft.com/office/powerpoint/2010/main" val="176463644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获取到原始需求之后，我们应该随时准备迎接需求的变化，由于越多的。。，我们就获取越多的。。但是我们不能。。。因为干系人代表着一个独特的视角，而且干系人有。。我们不要总是追问。。我们应该把变化看作是改进系统的机会，而不是一个项目的威胁，做好随时迎接需求变化的准备。</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75</a:t>
            </a:fld>
            <a:endParaRPr lang="zh-CN" altLang="en-US"/>
          </a:p>
        </p:txBody>
      </p:sp>
    </p:spTree>
    <p:extLst>
      <p:ext uri="{BB962C8B-B14F-4D97-AF65-F5344CB8AC3E}">
        <p14:creationId xmlns:p14="http://schemas.microsoft.com/office/powerpoint/2010/main" val="19884143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a:xfrm>
            <a:off x="9677398" y="6538912"/>
            <a:ext cx="910773" cy="365125"/>
          </a:xfrm>
        </p:spPr>
        <p:txBody>
          <a:bodyPr/>
          <a:lstStyle>
            <a:lvl1pPr>
              <a:defRPr>
                <a:solidFill>
                  <a:schemeClr val="tx1"/>
                </a:solidFill>
              </a:defRPr>
            </a:lvl1pPr>
          </a:lstStyle>
          <a:p>
            <a:fld id="{FC8D7E35-14AB-4286-AB5D-2E468617D2DA}" type="datetime1">
              <a:rPr lang="en-US" altLang="zh-CN" smtClean="0"/>
              <a:t>3/23/26</a:t>
            </a:fld>
            <a:endParaRPr lang="zh-CN" altLang="en-US"/>
          </a:p>
        </p:txBody>
      </p:sp>
      <p:sp>
        <p:nvSpPr>
          <p:cNvPr id="6" name="灯片编号占位符 5"/>
          <p:cNvSpPr>
            <a:spLocks noGrp="1"/>
          </p:cNvSpPr>
          <p:nvPr>
            <p:ph type="sldNum" sz="quarter" idx="12"/>
          </p:nvPr>
        </p:nvSpPr>
        <p:spPr>
          <a:xfrm>
            <a:off x="10588171" y="6538912"/>
            <a:ext cx="809172" cy="365125"/>
          </a:xfrm>
        </p:spPr>
        <p:txBody>
          <a:bodyPr/>
          <a:lstStyle>
            <a:lvl1pPr>
              <a:defRPr>
                <a:solidFill>
                  <a:schemeClr val="tx1"/>
                </a:solidFill>
              </a:defRPr>
            </a:lvl1pPr>
          </a:lstStyle>
          <a:p>
            <a:fld id="{74D2AB8B-5816-41F2-8B4B-CA5C3E4E6A65}" type="slidenum">
              <a:rPr lang="zh-CN" altLang="en-US" smtClean="0"/>
              <a:t>‹#›</a:t>
            </a:fld>
            <a:endParaRPr lang="zh-CN" altLang="en-US"/>
          </a:p>
        </p:txBody>
      </p:sp>
      <p:sp>
        <p:nvSpPr>
          <p:cNvPr id="5" name="页脚占位符 4"/>
          <p:cNvSpPr>
            <a:spLocks noGrp="1"/>
          </p:cNvSpPr>
          <p:nvPr>
            <p:ph type="ftr" sz="quarter" idx="11"/>
          </p:nvPr>
        </p:nvSpPr>
        <p:spPr>
          <a:xfrm>
            <a:off x="4038600" y="6538911"/>
            <a:ext cx="4114800" cy="365125"/>
          </a:xfrm>
        </p:spPr>
        <p:txBody>
          <a:bodyPr/>
          <a:lstStyle>
            <a:lvl1pPr>
              <a:defRPr>
                <a:solidFill>
                  <a:schemeClr val="tx1"/>
                </a:solidFill>
              </a:defRPr>
            </a:lvl1pPr>
          </a:lstStyle>
          <a:p>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C1E7A69-DDFF-413C-9336-B8D91472E3AC}" type="datetime1">
              <a:rPr lang="en-US" altLang="zh-CN" smtClean="0"/>
              <a:t>3/23/26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cxnSp>
        <p:nvCxnSpPr>
          <p:cNvPr id="13" name="直接连接符 12"/>
          <p:cNvCxnSpPr/>
          <p:nvPr userDrawn="1"/>
        </p:nvCxnSpPr>
        <p:spPr>
          <a:xfrm>
            <a:off x="0" y="1379220"/>
            <a:ext cx="7719060" cy="0"/>
          </a:xfrm>
          <a:prstGeom prst="line">
            <a:avLst/>
          </a:prstGeom>
          <a:ln w="38100">
            <a:solidFill>
              <a:srgbClr val="C00000"/>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99A68FE-20F4-4661-BA45-66B4176BE55C}" type="datetime1">
              <a:rPr lang="en-US" altLang="zh-CN" smtClean="0"/>
              <a:t>3/23/26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AA107BC-441F-4C3C-9EAC-BA7FA89A5994}" type="datetime1">
              <a:rPr lang="en-US" altLang="zh-CN" smtClean="0"/>
              <a:t>3/23/26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7CDD21A-F1E1-4C6F-851D-5EBDD7996622}" type="datetime1">
              <a:rPr lang="en-US" altLang="zh-CN" smtClean="0"/>
              <a:t>3/23/26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5A0A8AB-20D5-46BF-971F-D7FE3E7EA34B}" type="datetime1">
              <a:rPr lang="en-US" altLang="zh-CN" smtClean="0"/>
              <a:t>3/23/26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70D0E3C-BF58-4837-BC97-E00745F23985}" type="datetime1">
              <a:rPr lang="en-US" altLang="zh-CN" smtClean="0"/>
              <a:t>3/23/26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076F10A-DF1E-4CD3-B4E7-9CFB706F9E96}" type="datetime1">
              <a:rPr lang="en-US" altLang="zh-CN" smtClean="0"/>
              <a:t>3/23/26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6975EE-127E-4B79-B83D-BB03355D1ED6}" type="datetime1">
              <a:rPr lang="en-US" altLang="zh-CN" smtClean="0"/>
              <a:t>3/23/26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6F4F94D-B085-4DCE-B4E7-2E13B14F99D5}" type="datetime1">
              <a:rPr lang="en-US" altLang="zh-CN" smtClean="0"/>
              <a:t>3/23/26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54B8D91-31B8-422B-BBA0-393421232005}" type="datetime1">
              <a:rPr lang="en-US" altLang="zh-CN" smtClean="0"/>
              <a:t>3/23/26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813676" y="6248725"/>
            <a:ext cx="1060619" cy="365125"/>
          </a:xfrm>
          <a:prstGeom prst="rect">
            <a:avLst/>
          </a:prstGeom>
        </p:spPr>
        <p:txBody>
          <a:bodyPr vert="horz" lIns="91440" tIns="45720" rIns="91440" bIns="45720" rtlCol="0" anchor="ctr"/>
          <a:lstStyle>
            <a:lvl1pPr algn="l">
              <a:defRPr sz="1200">
                <a:solidFill>
                  <a:schemeClr val="tx1"/>
                </a:solidFill>
              </a:defRPr>
            </a:lvl1pPr>
          </a:lstStyle>
          <a:p>
            <a:fld id="{D1997228-EB34-4757-AD03-B11217C381AA}" type="datetime1">
              <a:rPr lang="en-US" altLang="zh-CN" smtClean="0"/>
              <a:t>3/23/26</a:t>
            </a:fld>
            <a:endParaRPr lang="zh-CN" altLang="en-US"/>
          </a:p>
        </p:txBody>
      </p:sp>
      <p:sp>
        <p:nvSpPr>
          <p:cNvPr id="6" name="灯片编号占位符 5"/>
          <p:cNvSpPr>
            <a:spLocks noGrp="1"/>
          </p:cNvSpPr>
          <p:nvPr>
            <p:ph type="sldNum" sz="quarter" idx="4"/>
          </p:nvPr>
        </p:nvSpPr>
        <p:spPr>
          <a:xfrm>
            <a:off x="10406617" y="6382978"/>
            <a:ext cx="997857" cy="365125"/>
          </a:xfrm>
          <a:prstGeom prst="rect">
            <a:avLst/>
          </a:prstGeom>
        </p:spPr>
        <p:txBody>
          <a:bodyPr vert="horz" lIns="91440" tIns="45720" rIns="91440" bIns="45720" rtlCol="0" anchor="ctr"/>
          <a:lstStyle>
            <a:lvl1pPr algn="r">
              <a:defRPr sz="1200">
                <a:solidFill>
                  <a:schemeClr val="tx1"/>
                </a:solidFill>
              </a:defRPr>
            </a:lvl1pPr>
          </a:lstStyle>
          <a:p>
            <a:fld id="{74D2AB8B-5816-41F2-8B4B-CA5C3E4E6A65}" type="slidenum">
              <a:rPr lang="zh-CN" altLang="en-US" smtClean="0"/>
              <a:t>‹#›</a:t>
            </a:fld>
            <a:endParaRPr lang="zh-CN" altLang="en-US"/>
          </a:p>
        </p:txBody>
      </p:sp>
      <p:sp>
        <p:nvSpPr>
          <p:cNvPr id="5" name="页脚占位符 4"/>
          <p:cNvSpPr>
            <a:spLocks noGrp="1"/>
          </p:cNvSpPr>
          <p:nvPr>
            <p:ph type="ftr" sz="quarter" idx="3"/>
          </p:nvPr>
        </p:nvSpPr>
        <p:spPr>
          <a:xfrm>
            <a:off x="4038600" y="6248725"/>
            <a:ext cx="4114800" cy="365125"/>
          </a:xfrm>
          <a:prstGeom prst="rect">
            <a:avLst/>
          </a:prstGeom>
        </p:spPr>
        <p:txBody>
          <a:bodyPr vert="horz" lIns="91440" tIns="45720" rIns="91440" bIns="45720" rtlCol="0" anchor="ctr"/>
          <a:lstStyle>
            <a:lvl1pPr algn="ctr">
              <a:defRPr sz="1200">
                <a:solidFill>
                  <a:schemeClr val="tx1"/>
                </a:solidFill>
              </a:defRPr>
            </a:lvl1pPr>
          </a:lstStyle>
          <a:p>
            <a:endParaRPr lang="zh-CN" altLang="en-US" dirty="0"/>
          </a:p>
        </p:txBody>
      </p:sp>
      <p:cxnSp>
        <p:nvCxnSpPr>
          <p:cNvPr id="13" name="直接连接符 12"/>
          <p:cNvCxnSpPr/>
          <p:nvPr userDrawn="1"/>
        </p:nvCxnSpPr>
        <p:spPr>
          <a:xfrm>
            <a:off x="2" y="6649001"/>
            <a:ext cx="10925173" cy="0"/>
          </a:xfrm>
          <a:prstGeom prst="line">
            <a:avLst/>
          </a:prstGeom>
          <a:ln w="19050">
            <a:solidFill>
              <a:srgbClr val="7030A0"/>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4" name="矩形 13"/>
          <p:cNvSpPr/>
          <p:nvPr userDrawn="1"/>
        </p:nvSpPr>
        <p:spPr>
          <a:xfrm>
            <a:off x="1" y="6512379"/>
            <a:ext cx="10925174" cy="79698"/>
          </a:xfrm>
          <a:prstGeom prst="rect">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968965" y="6321759"/>
            <a:ext cx="1600200" cy="487561"/>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image" Target="../media/image23.png"/></Relationships>
</file>

<file path=ppt/slides/_rels/slide22.xml.rels><?xml version="1.0" encoding="UTF-8" standalone="yes"?>
<Relationships xmlns="http://schemas.openxmlformats.org/package/2006/relationships"><Relationship Id="rId13" Type="http://schemas.openxmlformats.org/officeDocument/2006/relationships/tags" Target="../tags/tag41.xml"/><Relationship Id="rId18" Type="http://schemas.openxmlformats.org/officeDocument/2006/relationships/tags" Target="../tags/tag46.xml"/><Relationship Id="rId26" Type="http://schemas.openxmlformats.org/officeDocument/2006/relationships/tags" Target="../tags/tag54.xml"/><Relationship Id="rId3" Type="http://schemas.openxmlformats.org/officeDocument/2006/relationships/tags" Target="../tags/tag31.xml"/><Relationship Id="rId21" Type="http://schemas.openxmlformats.org/officeDocument/2006/relationships/tags" Target="../tags/tag49.xml"/><Relationship Id="rId7" Type="http://schemas.openxmlformats.org/officeDocument/2006/relationships/tags" Target="../tags/tag35.xml"/><Relationship Id="rId12" Type="http://schemas.openxmlformats.org/officeDocument/2006/relationships/tags" Target="../tags/tag40.xml"/><Relationship Id="rId17" Type="http://schemas.openxmlformats.org/officeDocument/2006/relationships/tags" Target="../tags/tag45.xml"/><Relationship Id="rId25" Type="http://schemas.openxmlformats.org/officeDocument/2006/relationships/tags" Target="../tags/tag53.xml"/><Relationship Id="rId33" Type="http://schemas.openxmlformats.org/officeDocument/2006/relationships/image" Target="../media/image23.png"/><Relationship Id="rId2" Type="http://schemas.openxmlformats.org/officeDocument/2006/relationships/tags" Target="../tags/tag30.xml"/><Relationship Id="rId16" Type="http://schemas.openxmlformats.org/officeDocument/2006/relationships/tags" Target="../tags/tag44.xml"/><Relationship Id="rId20" Type="http://schemas.openxmlformats.org/officeDocument/2006/relationships/tags" Target="../tags/tag48.xml"/><Relationship Id="rId29" Type="http://schemas.openxmlformats.org/officeDocument/2006/relationships/tags" Target="../tags/tag57.xml"/><Relationship Id="rId1" Type="http://schemas.openxmlformats.org/officeDocument/2006/relationships/tags" Target="../tags/tag29.xml"/><Relationship Id="rId6" Type="http://schemas.openxmlformats.org/officeDocument/2006/relationships/tags" Target="../tags/tag34.xml"/><Relationship Id="rId11" Type="http://schemas.openxmlformats.org/officeDocument/2006/relationships/tags" Target="../tags/tag39.xml"/><Relationship Id="rId24" Type="http://schemas.openxmlformats.org/officeDocument/2006/relationships/tags" Target="../tags/tag52.xml"/><Relationship Id="rId32" Type="http://schemas.openxmlformats.org/officeDocument/2006/relationships/slideLayout" Target="../slideLayouts/slideLayout7.xml"/><Relationship Id="rId5" Type="http://schemas.openxmlformats.org/officeDocument/2006/relationships/tags" Target="../tags/tag33.xml"/><Relationship Id="rId15" Type="http://schemas.openxmlformats.org/officeDocument/2006/relationships/tags" Target="../tags/tag43.xml"/><Relationship Id="rId23" Type="http://schemas.openxmlformats.org/officeDocument/2006/relationships/tags" Target="../tags/tag51.xml"/><Relationship Id="rId28" Type="http://schemas.openxmlformats.org/officeDocument/2006/relationships/tags" Target="../tags/tag56.xml"/><Relationship Id="rId10" Type="http://schemas.openxmlformats.org/officeDocument/2006/relationships/tags" Target="../tags/tag38.xml"/><Relationship Id="rId19" Type="http://schemas.openxmlformats.org/officeDocument/2006/relationships/tags" Target="../tags/tag47.xml"/><Relationship Id="rId31" Type="http://schemas.openxmlformats.org/officeDocument/2006/relationships/tags" Target="../tags/tag59.xml"/><Relationship Id="rId4" Type="http://schemas.openxmlformats.org/officeDocument/2006/relationships/tags" Target="../tags/tag32.xml"/><Relationship Id="rId9" Type="http://schemas.openxmlformats.org/officeDocument/2006/relationships/tags" Target="../tags/tag37.xml"/><Relationship Id="rId14" Type="http://schemas.openxmlformats.org/officeDocument/2006/relationships/tags" Target="../tags/tag42.xml"/><Relationship Id="rId22" Type="http://schemas.openxmlformats.org/officeDocument/2006/relationships/tags" Target="../tags/tag50.xml"/><Relationship Id="rId27" Type="http://schemas.openxmlformats.org/officeDocument/2006/relationships/tags" Target="../tags/tag55.xml"/><Relationship Id="rId30" Type="http://schemas.openxmlformats.org/officeDocument/2006/relationships/tags" Target="../tags/tag58.xml"/><Relationship Id="rId8" Type="http://schemas.openxmlformats.org/officeDocument/2006/relationships/tags" Target="../tags/tag36.xml"/></Relationships>
</file>

<file path=ppt/slides/_rels/slide23.xml.rels><?xml version="1.0" encoding="UTF-8" standalone="yes"?>
<Relationships xmlns="http://schemas.openxmlformats.org/package/2006/relationships"><Relationship Id="rId13" Type="http://schemas.openxmlformats.org/officeDocument/2006/relationships/tags" Target="../tags/tag72.xml"/><Relationship Id="rId18" Type="http://schemas.openxmlformats.org/officeDocument/2006/relationships/tags" Target="../tags/tag77.xml"/><Relationship Id="rId26" Type="http://schemas.openxmlformats.org/officeDocument/2006/relationships/tags" Target="../tags/tag85.xml"/><Relationship Id="rId3" Type="http://schemas.openxmlformats.org/officeDocument/2006/relationships/tags" Target="../tags/tag62.xml"/><Relationship Id="rId21" Type="http://schemas.openxmlformats.org/officeDocument/2006/relationships/tags" Target="../tags/tag80.xml"/><Relationship Id="rId7" Type="http://schemas.openxmlformats.org/officeDocument/2006/relationships/tags" Target="../tags/tag66.xml"/><Relationship Id="rId12" Type="http://schemas.openxmlformats.org/officeDocument/2006/relationships/tags" Target="../tags/tag71.xml"/><Relationship Id="rId17" Type="http://schemas.openxmlformats.org/officeDocument/2006/relationships/tags" Target="../tags/tag76.xml"/><Relationship Id="rId25" Type="http://schemas.openxmlformats.org/officeDocument/2006/relationships/tags" Target="../tags/tag84.xml"/><Relationship Id="rId33" Type="http://schemas.openxmlformats.org/officeDocument/2006/relationships/image" Target="../media/image23.png"/><Relationship Id="rId2" Type="http://schemas.openxmlformats.org/officeDocument/2006/relationships/tags" Target="../tags/tag61.xml"/><Relationship Id="rId16" Type="http://schemas.openxmlformats.org/officeDocument/2006/relationships/tags" Target="../tags/tag75.xml"/><Relationship Id="rId20" Type="http://schemas.openxmlformats.org/officeDocument/2006/relationships/tags" Target="../tags/tag79.xml"/><Relationship Id="rId29" Type="http://schemas.openxmlformats.org/officeDocument/2006/relationships/tags" Target="../tags/tag88.xml"/><Relationship Id="rId1" Type="http://schemas.openxmlformats.org/officeDocument/2006/relationships/tags" Target="../tags/tag60.xml"/><Relationship Id="rId6" Type="http://schemas.openxmlformats.org/officeDocument/2006/relationships/tags" Target="../tags/tag65.xml"/><Relationship Id="rId11" Type="http://schemas.openxmlformats.org/officeDocument/2006/relationships/tags" Target="../tags/tag70.xml"/><Relationship Id="rId24" Type="http://schemas.openxmlformats.org/officeDocument/2006/relationships/tags" Target="../tags/tag83.xml"/><Relationship Id="rId32" Type="http://schemas.openxmlformats.org/officeDocument/2006/relationships/slideLayout" Target="../slideLayouts/slideLayout7.xml"/><Relationship Id="rId5" Type="http://schemas.openxmlformats.org/officeDocument/2006/relationships/tags" Target="../tags/tag64.xml"/><Relationship Id="rId15" Type="http://schemas.openxmlformats.org/officeDocument/2006/relationships/tags" Target="../tags/tag74.xml"/><Relationship Id="rId23" Type="http://schemas.openxmlformats.org/officeDocument/2006/relationships/tags" Target="../tags/tag82.xml"/><Relationship Id="rId28" Type="http://schemas.openxmlformats.org/officeDocument/2006/relationships/tags" Target="../tags/tag87.xml"/><Relationship Id="rId10" Type="http://schemas.openxmlformats.org/officeDocument/2006/relationships/tags" Target="../tags/tag69.xml"/><Relationship Id="rId19" Type="http://schemas.openxmlformats.org/officeDocument/2006/relationships/tags" Target="../tags/tag78.xml"/><Relationship Id="rId31" Type="http://schemas.openxmlformats.org/officeDocument/2006/relationships/tags" Target="../tags/tag90.xml"/><Relationship Id="rId4" Type="http://schemas.openxmlformats.org/officeDocument/2006/relationships/tags" Target="../tags/tag63.xml"/><Relationship Id="rId9" Type="http://schemas.openxmlformats.org/officeDocument/2006/relationships/tags" Target="../tags/tag68.xml"/><Relationship Id="rId14" Type="http://schemas.openxmlformats.org/officeDocument/2006/relationships/tags" Target="../tags/tag73.xml"/><Relationship Id="rId22" Type="http://schemas.openxmlformats.org/officeDocument/2006/relationships/tags" Target="../tags/tag81.xml"/><Relationship Id="rId27" Type="http://schemas.openxmlformats.org/officeDocument/2006/relationships/tags" Target="../tags/tag86.xml"/><Relationship Id="rId30" Type="http://schemas.openxmlformats.org/officeDocument/2006/relationships/tags" Target="../tags/tag89.xml"/><Relationship Id="rId8" Type="http://schemas.openxmlformats.org/officeDocument/2006/relationships/tags" Target="../tags/tag67.xml"/></Relationships>
</file>

<file path=ppt/slides/_rels/slide24.xml.rels><?xml version="1.0" encoding="UTF-8" standalone="yes"?>
<Relationships xmlns="http://schemas.openxmlformats.org/package/2006/relationships"><Relationship Id="rId13" Type="http://schemas.openxmlformats.org/officeDocument/2006/relationships/tags" Target="../tags/tag103.xml"/><Relationship Id="rId18" Type="http://schemas.openxmlformats.org/officeDocument/2006/relationships/tags" Target="../tags/tag108.xml"/><Relationship Id="rId26" Type="http://schemas.openxmlformats.org/officeDocument/2006/relationships/tags" Target="../tags/tag116.xml"/><Relationship Id="rId3" Type="http://schemas.openxmlformats.org/officeDocument/2006/relationships/tags" Target="../tags/tag93.xml"/><Relationship Id="rId21" Type="http://schemas.openxmlformats.org/officeDocument/2006/relationships/tags" Target="../tags/tag111.xml"/><Relationship Id="rId7" Type="http://schemas.openxmlformats.org/officeDocument/2006/relationships/tags" Target="../tags/tag97.xml"/><Relationship Id="rId12" Type="http://schemas.openxmlformats.org/officeDocument/2006/relationships/tags" Target="../tags/tag102.xml"/><Relationship Id="rId17" Type="http://schemas.openxmlformats.org/officeDocument/2006/relationships/tags" Target="../tags/tag107.xml"/><Relationship Id="rId25" Type="http://schemas.openxmlformats.org/officeDocument/2006/relationships/tags" Target="../tags/tag115.xml"/><Relationship Id="rId33" Type="http://schemas.openxmlformats.org/officeDocument/2006/relationships/image" Target="../media/image23.png"/><Relationship Id="rId2" Type="http://schemas.openxmlformats.org/officeDocument/2006/relationships/tags" Target="../tags/tag92.xml"/><Relationship Id="rId16" Type="http://schemas.openxmlformats.org/officeDocument/2006/relationships/tags" Target="../tags/tag106.xml"/><Relationship Id="rId20" Type="http://schemas.openxmlformats.org/officeDocument/2006/relationships/tags" Target="../tags/tag110.xml"/><Relationship Id="rId29" Type="http://schemas.openxmlformats.org/officeDocument/2006/relationships/tags" Target="../tags/tag119.xml"/><Relationship Id="rId1" Type="http://schemas.openxmlformats.org/officeDocument/2006/relationships/tags" Target="../tags/tag91.xml"/><Relationship Id="rId6" Type="http://schemas.openxmlformats.org/officeDocument/2006/relationships/tags" Target="../tags/tag96.xml"/><Relationship Id="rId11" Type="http://schemas.openxmlformats.org/officeDocument/2006/relationships/tags" Target="../tags/tag101.xml"/><Relationship Id="rId24" Type="http://schemas.openxmlformats.org/officeDocument/2006/relationships/tags" Target="../tags/tag114.xml"/><Relationship Id="rId32" Type="http://schemas.openxmlformats.org/officeDocument/2006/relationships/slideLayout" Target="../slideLayouts/slideLayout7.xml"/><Relationship Id="rId5" Type="http://schemas.openxmlformats.org/officeDocument/2006/relationships/tags" Target="../tags/tag95.xml"/><Relationship Id="rId15" Type="http://schemas.openxmlformats.org/officeDocument/2006/relationships/tags" Target="../tags/tag105.xml"/><Relationship Id="rId23" Type="http://schemas.openxmlformats.org/officeDocument/2006/relationships/tags" Target="../tags/tag113.xml"/><Relationship Id="rId28" Type="http://schemas.openxmlformats.org/officeDocument/2006/relationships/tags" Target="../tags/tag118.xml"/><Relationship Id="rId10" Type="http://schemas.openxmlformats.org/officeDocument/2006/relationships/tags" Target="../tags/tag100.xml"/><Relationship Id="rId19" Type="http://schemas.openxmlformats.org/officeDocument/2006/relationships/tags" Target="../tags/tag109.xml"/><Relationship Id="rId31" Type="http://schemas.openxmlformats.org/officeDocument/2006/relationships/tags" Target="../tags/tag121.xml"/><Relationship Id="rId4" Type="http://schemas.openxmlformats.org/officeDocument/2006/relationships/tags" Target="../tags/tag94.xml"/><Relationship Id="rId9" Type="http://schemas.openxmlformats.org/officeDocument/2006/relationships/tags" Target="../tags/tag99.xml"/><Relationship Id="rId14" Type="http://schemas.openxmlformats.org/officeDocument/2006/relationships/tags" Target="../tags/tag104.xml"/><Relationship Id="rId22" Type="http://schemas.openxmlformats.org/officeDocument/2006/relationships/tags" Target="../tags/tag112.xml"/><Relationship Id="rId27" Type="http://schemas.openxmlformats.org/officeDocument/2006/relationships/tags" Target="../tags/tag117.xml"/><Relationship Id="rId30" Type="http://schemas.openxmlformats.org/officeDocument/2006/relationships/tags" Target="../tags/tag120.xml"/><Relationship Id="rId8" Type="http://schemas.openxmlformats.org/officeDocument/2006/relationships/tags" Target="../tags/tag98.xml"/></Relationships>
</file>

<file path=ppt/slides/_rels/slide25.xml.rels><?xml version="1.0" encoding="UTF-8" standalone="yes"?>
<Relationships xmlns="http://schemas.openxmlformats.org/package/2006/relationships"><Relationship Id="rId8" Type="http://schemas.openxmlformats.org/officeDocument/2006/relationships/tags" Target="../tags/tag129.xml"/><Relationship Id="rId13" Type="http://schemas.openxmlformats.org/officeDocument/2006/relationships/tags" Target="../tags/tag134.xml"/><Relationship Id="rId3" Type="http://schemas.openxmlformats.org/officeDocument/2006/relationships/tags" Target="../tags/tag124.xml"/><Relationship Id="rId7" Type="http://schemas.openxmlformats.org/officeDocument/2006/relationships/tags" Target="../tags/tag128.xml"/><Relationship Id="rId12" Type="http://schemas.openxmlformats.org/officeDocument/2006/relationships/tags" Target="../tags/tag133.xml"/><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tags" Target="../tags/tag127.xml"/><Relationship Id="rId11" Type="http://schemas.openxmlformats.org/officeDocument/2006/relationships/tags" Target="../tags/tag132.xml"/><Relationship Id="rId5" Type="http://schemas.openxmlformats.org/officeDocument/2006/relationships/tags" Target="../tags/tag126.xml"/><Relationship Id="rId15" Type="http://schemas.openxmlformats.org/officeDocument/2006/relationships/image" Target="../media/image23.png"/><Relationship Id="rId10" Type="http://schemas.openxmlformats.org/officeDocument/2006/relationships/tags" Target="../tags/tag131.xml"/><Relationship Id="rId4" Type="http://schemas.openxmlformats.org/officeDocument/2006/relationships/tags" Target="../tags/tag125.xml"/><Relationship Id="rId9" Type="http://schemas.openxmlformats.org/officeDocument/2006/relationships/tags" Target="../tags/tag130.xml"/><Relationship Id="rId14"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43.jpeg"/><Relationship Id="rId4" Type="http://schemas.openxmlformats.org/officeDocument/2006/relationships/image" Target="../media/image42.jpe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tags" Target="../tags/tag142.xml"/><Relationship Id="rId13" Type="http://schemas.openxmlformats.org/officeDocument/2006/relationships/tags" Target="../tags/tag147.xml"/><Relationship Id="rId18" Type="http://schemas.openxmlformats.org/officeDocument/2006/relationships/tags" Target="../tags/tag152.xml"/><Relationship Id="rId26" Type="http://schemas.openxmlformats.org/officeDocument/2006/relationships/image" Target="../media/image23.png"/><Relationship Id="rId3" Type="http://schemas.openxmlformats.org/officeDocument/2006/relationships/tags" Target="../tags/tag137.xml"/><Relationship Id="rId21" Type="http://schemas.openxmlformats.org/officeDocument/2006/relationships/tags" Target="../tags/tag155.xml"/><Relationship Id="rId7" Type="http://schemas.openxmlformats.org/officeDocument/2006/relationships/tags" Target="../tags/tag141.xml"/><Relationship Id="rId12" Type="http://schemas.openxmlformats.org/officeDocument/2006/relationships/tags" Target="../tags/tag146.xml"/><Relationship Id="rId17" Type="http://schemas.openxmlformats.org/officeDocument/2006/relationships/tags" Target="../tags/tag151.xml"/><Relationship Id="rId25" Type="http://schemas.openxmlformats.org/officeDocument/2006/relationships/slideLayout" Target="../slideLayouts/slideLayout7.xml"/><Relationship Id="rId2" Type="http://schemas.openxmlformats.org/officeDocument/2006/relationships/tags" Target="../tags/tag136.xml"/><Relationship Id="rId16" Type="http://schemas.openxmlformats.org/officeDocument/2006/relationships/tags" Target="../tags/tag150.xml"/><Relationship Id="rId20" Type="http://schemas.openxmlformats.org/officeDocument/2006/relationships/tags" Target="../tags/tag154.xml"/><Relationship Id="rId1" Type="http://schemas.openxmlformats.org/officeDocument/2006/relationships/tags" Target="../tags/tag135.xml"/><Relationship Id="rId6" Type="http://schemas.openxmlformats.org/officeDocument/2006/relationships/tags" Target="../tags/tag140.xml"/><Relationship Id="rId11" Type="http://schemas.openxmlformats.org/officeDocument/2006/relationships/tags" Target="../tags/tag145.xml"/><Relationship Id="rId24" Type="http://schemas.openxmlformats.org/officeDocument/2006/relationships/tags" Target="../tags/tag158.xml"/><Relationship Id="rId5" Type="http://schemas.openxmlformats.org/officeDocument/2006/relationships/tags" Target="../tags/tag139.xml"/><Relationship Id="rId15" Type="http://schemas.openxmlformats.org/officeDocument/2006/relationships/tags" Target="../tags/tag149.xml"/><Relationship Id="rId23" Type="http://schemas.openxmlformats.org/officeDocument/2006/relationships/tags" Target="../tags/tag157.xml"/><Relationship Id="rId10" Type="http://schemas.openxmlformats.org/officeDocument/2006/relationships/tags" Target="../tags/tag144.xml"/><Relationship Id="rId19" Type="http://schemas.openxmlformats.org/officeDocument/2006/relationships/tags" Target="../tags/tag153.xml"/><Relationship Id="rId4" Type="http://schemas.openxmlformats.org/officeDocument/2006/relationships/tags" Target="../tags/tag138.xml"/><Relationship Id="rId9" Type="http://schemas.openxmlformats.org/officeDocument/2006/relationships/tags" Target="../tags/tag143.xml"/><Relationship Id="rId14" Type="http://schemas.openxmlformats.org/officeDocument/2006/relationships/tags" Target="../tags/tag148.xml"/><Relationship Id="rId22" Type="http://schemas.openxmlformats.org/officeDocument/2006/relationships/tags" Target="../tags/tag156.xml"/></Relationships>
</file>

<file path=ppt/slides/_rels/slide50.xml.rels><?xml version="1.0" encoding="UTF-8" standalone="yes"?>
<Relationships xmlns="http://schemas.openxmlformats.org/package/2006/relationships"><Relationship Id="rId8" Type="http://schemas.openxmlformats.org/officeDocument/2006/relationships/tags" Target="../tags/tag166.xml"/><Relationship Id="rId13" Type="http://schemas.openxmlformats.org/officeDocument/2006/relationships/tags" Target="../tags/tag171.xml"/><Relationship Id="rId3" Type="http://schemas.openxmlformats.org/officeDocument/2006/relationships/tags" Target="../tags/tag161.xml"/><Relationship Id="rId7" Type="http://schemas.openxmlformats.org/officeDocument/2006/relationships/tags" Target="../tags/tag165.xml"/><Relationship Id="rId12" Type="http://schemas.openxmlformats.org/officeDocument/2006/relationships/tags" Target="../tags/tag170.xml"/><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tags" Target="../tags/tag164.xml"/><Relationship Id="rId11" Type="http://schemas.openxmlformats.org/officeDocument/2006/relationships/tags" Target="../tags/tag169.xml"/><Relationship Id="rId5" Type="http://schemas.openxmlformats.org/officeDocument/2006/relationships/tags" Target="../tags/tag163.xml"/><Relationship Id="rId15" Type="http://schemas.openxmlformats.org/officeDocument/2006/relationships/image" Target="../media/image23.png"/><Relationship Id="rId10" Type="http://schemas.openxmlformats.org/officeDocument/2006/relationships/tags" Target="../tags/tag168.xml"/><Relationship Id="rId4" Type="http://schemas.openxmlformats.org/officeDocument/2006/relationships/tags" Target="../tags/tag162.xml"/><Relationship Id="rId9" Type="http://schemas.openxmlformats.org/officeDocument/2006/relationships/tags" Target="../tags/tag167.xml"/><Relationship Id="rId14"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8" Type="http://schemas.openxmlformats.org/officeDocument/2006/relationships/tags" Target="../tags/tag179.xml"/><Relationship Id="rId13" Type="http://schemas.openxmlformats.org/officeDocument/2006/relationships/tags" Target="../tags/tag184.xml"/><Relationship Id="rId3" Type="http://schemas.openxmlformats.org/officeDocument/2006/relationships/tags" Target="../tags/tag174.xml"/><Relationship Id="rId7" Type="http://schemas.openxmlformats.org/officeDocument/2006/relationships/tags" Target="../tags/tag178.xml"/><Relationship Id="rId12" Type="http://schemas.openxmlformats.org/officeDocument/2006/relationships/tags" Target="../tags/tag183.xml"/><Relationship Id="rId2" Type="http://schemas.openxmlformats.org/officeDocument/2006/relationships/tags" Target="../tags/tag173.xml"/><Relationship Id="rId1" Type="http://schemas.openxmlformats.org/officeDocument/2006/relationships/tags" Target="../tags/tag172.xml"/><Relationship Id="rId6" Type="http://schemas.openxmlformats.org/officeDocument/2006/relationships/tags" Target="../tags/tag177.xml"/><Relationship Id="rId11" Type="http://schemas.openxmlformats.org/officeDocument/2006/relationships/tags" Target="../tags/tag182.xml"/><Relationship Id="rId5" Type="http://schemas.openxmlformats.org/officeDocument/2006/relationships/tags" Target="../tags/tag176.xml"/><Relationship Id="rId15" Type="http://schemas.openxmlformats.org/officeDocument/2006/relationships/image" Target="../media/image23.png"/><Relationship Id="rId10" Type="http://schemas.openxmlformats.org/officeDocument/2006/relationships/tags" Target="../tags/tag181.xml"/><Relationship Id="rId4" Type="http://schemas.openxmlformats.org/officeDocument/2006/relationships/tags" Target="../tags/tag175.xml"/><Relationship Id="rId9" Type="http://schemas.openxmlformats.org/officeDocument/2006/relationships/tags" Target="../tags/tag180.xml"/><Relationship Id="rId14"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8" Type="http://schemas.openxmlformats.org/officeDocument/2006/relationships/tags" Target="../tags/tag192.xml"/><Relationship Id="rId3" Type="http://schemas.openxmlformats.org/officeDocument/2006/relationships/tags" Target="../tags/tag187.xml"/><Relationship Id="rId7" Type="http://schemas.openxmlformats.org/officeDocument/2006/relationships/tags" Target="../tags/tag191.xml"/><Relationship Id="rId12" Type="http://schemas.openxmlformats.org/officeDocument/2006/relationships/image" Target="../media/image23.png"/><Relationship Id="rId2" Type="http://schemas.openxmlformats.org/officeDocument/2006/relationships/tags" Target="../tags/tag186.xml"/><Relationship Id="rId1" Type="http://schemas.openxmlformats.org/officeDocument/2006/relationships/tags" Target="../tags/tag185.xml"/><Relationship Id="rId6" Type="http://schemas.openxmlformats.org/officeDocument/2006/relationships/tags" Target="../tags/tag190.xml"/><Relationship Id="rId11" Type="http://schemas.openxmlformats.org/officeDocument/2006/relationships/slideLayout" Target="../slideLayouts/slideLayout7.xml"/><Relationship Id="rId5" Type="http://schemas.openxmlformats.org/officeDocument/2006/relationships/tags" Target="../tags/tag189.xml"/><Relationship Id="rId10" Type="http://schemas.openxmlformats.org/officeDocument/2006/relationships/tags" Target="../tags/tag194.xml"/><Relationship Id="rId4" Type="http://schemas.openxmlformats.org/officeDocument/2006/relationships/tags" Target="../tags/tag188.xml"/><Relationship Id="rId9" Type="http://schemas.openxmlformats.org/officeDocument/2006/relationships/tags" Target="../tags/tag193.xml"/></Relationships>
</file>

<file path=ppt/slides/_rels/slide5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5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png"/><Relationship Id="rId18" Type="http://schemas.openxmlformats.org/officeDocument/2006/relationships/image" Target="../media/image70.png"/><Relationship Id="rId3" Type="http://schemas.openxmlformats.org/officeDocument/2006/relationships/image" Target="../media/image55.png"/><Relationship Id="rId7" Type="http://schemas.openxmlformats.org/officeDocument/2006/relationships/image" Target="../media/image59.png"/><Relationship Id="rId12" Type="http://schemas.openxmlformats.org/officeDocument/2006/relationships/image" Target="../media/image64.png"/><Relationship Id="rId17" Type="http://schemas.openxmlformats.org/officeDocument/2006/relationships/image" Target="../media/image69.png"/><Relationship Id="rId2" Type="http://schemas.openxmlformats.org/officeDocument/2006/relationships/notesSlide" Target="../notesSlides/notesSlide58.xml"/><Relationship Id="rId16" Type="http://schemas.openxmlformats.org/officeDocument/2006/relationships/image" Target="../media/image68.png"/><Relationship Id="rId20"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7.png"/><Relationship Id="rId15" Type="http://schemas.openxmlformats.org/officeDocument/2006/relationships/image" Target="../media/image67.png"/><Relationship Id="rId10" Type="http://schemas.openxmlformats.org/officeDocument/2006/relationships/image" Target="../media/image62.png"/><Relationship Id="rId19" Type="http://schemas.openxmlformats.org/officeDocument/2006/relationships/image" Target="../media/image71.png"/><Relationship Id="rId4" Type="http://schemas.openxmlformats.org/officeDocument/2006/relationships/image" Target="../media/image56.png"/><Relationship Id="rId9" Type="http://schemas.openxmlformats.org/officeDocument/2006/relationships/image" Target="../media/image61.png"/><Relationship Id="rId14" Type="http://schemas.openxmlformats.org/officeDocument/2006/relationships/image" Target="../media/image66.png"/></Relationships>
</file>

<file path=ppt/slides/_rels/slide68.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7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124607" y="1604293"/>
            <a:ext cx="9942786" cy="2387600"/>
          </a:xfrm>
        </p:spPr>
        <p:txBody>
          <a:bodyPr>
            <a:normAutofit fontScale="90000"/>
          </a:bodyPr>
          <a:lstStyle/>
          <a:p>
            <a:r>
              <a:rPr lang="zh-CN" altLang="en-US" dirty="0"/>
              <a:t>需求过程和需求来源</a:t>
            </a:r>
            <a:br>
              <a:rPr lang="en-US" altLang="zh-CN" dirty="0"/>
            </a:br>
            <a:r>
              <a:rPr lang="en-US" altLang="zh-CN" dirty="0"/>
              <a:t>Requirements Process and Sources</a:t>
            </a:r>
            <a:endParaRPr lang="zh-CN" altLang="en-US" dirty="0"/>
          </a:p>
        </p:txBody>
      </p:sp>
      <p:sp>
        <p:nvSpPr>
          <p:cNvPr id="3" name="副标题 2"/>
          <p:cNvSpPr>
            <a:spLocks noGrp="1"/>
          </p:cNvSpPr>
          <p:nvPr>
            <p:ph type="subTitle" idx="1"/>
          </p:nvPr>
        </p:nvSpPr>
        <p:spPr>
          <a:xfrm>
            <a:off x="1524000" y="4211637"/>
            <a:ext cx="9144000" cy="2130577"/>
          </a:xfrm>
        </p:spPr>
        <p:txBody>
          <a:bodyPr anchor="ctr">
            <a:normAutofit fontScale="92500" lnSpcReduction="20000"/>
          </a:bodyPr>
          <a:lstStyle/>
          <a:p>
            <a:r>
              <a:rPr lang="zh-CN" altLang="en-US" dirty="0"/>
              <a:t>李起成</a:t>
            </a:r>
            <a:endParaRPr lang="en-US" altLang="zh-CN" dirty="0"/>
          </a:p>
          <a:p>
            <a:r>
              <a:rPr lang="en-US" altLang="zh-CN" dirty="0"/>
              <a:t>College of</a:t>
            </a:r>
            <a:r>
              <a:rPr lang="zh-CN" altLang="en-US" dirty="0"/>
              <a:t> </a:t>
            </a:r>
            <a:r>
              <a:rPr lang="en-US" altLang="zh-CN" dirty="0"/>
              <a:t>Computer</a:t>
            </a:r>
            <a:r>
              <a:rPr lang="zh-CN" altLang="en-US" dirty="0"/>
              <a:t> </a:t>
            </a:r>
            <a:r>
              <a:rPr lang="en-US" altLang="zh-CN" dirty="0"/>
              <a:t>Science</a:t>
            </a:r>
          </a:p>
          <a:p>
            <a:r>
              <a:rPr lang="en-US" altLang="zh-CN" dirty="0"/>
              <a:t>Nankai</a:t>
            </a:r>
            <a:r>
              <a:rPr lang="zh-CN" altLang="en-US" dirty="0"/>
              <a:t> </a:t>
            </a:r>
            <a:r>
              <a:rPr lang="en-US" altLang="zh-CN" dirty="0"/>
              <a:t>University</a:t>
            </a:r>
          </a:p>
          <a:p>
            <a:endParaRPr lang="en-US" altLang="zh-CN" dirty="0"/>
          </a:p>
          <a:p>
            <a:r>
              <a:rPr lang="en-US" altLang="zh-CN" i="1" dirty="0"/>
              <a:t>Slides adapted from materials by Prof. </a:t>
            </a:r>
            <a:r>
              <a:rPr lang="en-US" altLang="zh-CN" i="1" dirty="0" err="1"/>
              <a:t>Qiang</a:t>
            </a:r>
            <a:r>
              <a:rPr lang="en-US" altLang="zh-CN" i="1" dirty="0"/>
              <a:t> Liu (Tsing Hua University) and </a:t>
            </a:r>
            <a:r>
              <a:rPr lang="en-US" altLang="en-US" i="1" dirty="0"/>
              <a:t>Ivan </a:t>
            </a:r>
            <a:r>
              <a:rPr lang="en-US" altLang="en-US" i="1" dirty="0" err="1"/>
              <a:t>Marsic</a:t>
            </a:r>
            <a:r>
              <a:rPr lang="en-US" altLang="en-US" i="1" dirty="0"/>
              <a:t> (</a:t>
            </a:r>
            <a:r>
              <a:rPr lang="en-US" altLang="en-US" i="1" dirty="0" err="1"/>
              <a:t>Rugers</a:t>
            </a:r>
            <a:r>
              <a:rPr lang="en-US" altLang="en-US" i="1" dirty="0"/>
              <a:t> University)</a:t>
            </a:r>
            <a:endParaRPr lang="zh-CN" altLang="en-US" i="1" dirty="0"/>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72729" y="225854"/>
            <a:ext cx="1846542" cy="18003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advTm="7157"/>
    </mc:Choice>
    <mc:Fallback xmlns="">
      <p:transition spd="slow" advTm="7157"/>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16939" y="1516063"/>
            <a:ext cx="4142104" cy="2311400"/>
          </a:xfrm>
          <a:prstGeom prst="rect">
            <a:avLst/>
          </a:prstGeom>
        </p:spPr>
        <p:txBody>
          <a:bodyPr vert="horz" wrap="square" lIns="0" tIns="104140" rIns="0" bIns="0" rtlCol="0">
            <a:spAutoFit/>
          </a:bodyPr>
          <a:lstStyle/>
          <a:p>
            <a:pPr marL="241300" indent="-228600">
              <a:lnSpc>
                <a:spcPct val="100000"/>
              </a:lnSpc>
              <a:spcBef>
                <a:spcPts val="8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需求抽取</a:t>
            </a:r>
            <a:r>
              <a:rPr sz="2400" spc="-5" dirty="0">
                <a:latin typeface="微软雅黑" panose="020B0503020204020204" pitchFamily="34" charset="-122"/>
                <a:ea typeface="微软雅黑" panose="020B0503020204020204" pitchFamily="34" charset="-122"/>
                <a:cs typeface="华文细黑" panose="02010600040101010101" charset="-122"/>
              </a:rPr>
              <a:t>（Elicitation）</a:t>
            </a:r>
            <a:endParaRPr sz="24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需求分析</a:t>
            </a:r>
            <a:r>
              <a:rPr sz="2400" spc="-5" dirty="0">
                <a:latin typeface="微软雅黑" panose="020B0503020204020204" pitchFamily="34" charset="-122"/>
                <a:ea typeface="微软雅黑" panose="020B0503020204020204" pitchFamily="34" charset="-122"/>
                <a:cs typeface="华文细黑" panose="02010600040101010101" charset="-122"/>
              </a:rPr>
              <a:t>（Analysis）</a:t>
            </a:r>
            <a:endParaRPr sz="24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需求规约</a:t>
            </a:r>
            <a:r>
              <a:rPr sz="2400" spc="-5" dirty="0">
                <a:latin typeface="微软雅黑" panose="020B0503020204020204" pitchFamily="34" charset="-122"/>
                <a:ea typeface="微软雅黑" panose="020B0503020204020204" pitchFamily="34" charset="-122"/>
                <a:cs typeface="华文细黑" panose="02010600040101010101" charset="-122"/>
              </a:rPr>
              <a:t>（Specification）</a:t>
            </a:r>
            <a:endParaRPr sz="24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需求管理</a:t>
            </a:r>
            <a:r>
              <a:rPr sz="2400" spc="-5" dirty="0">
                <a:latin typeface="微软雅黑" panose="020B0503020204020204" pitchFamily="34" charset="-122"/>
                <a:ea typeface="微软雅黑" panose="020B0503020204020204" pitchFamily="34" charset="-122"/>
                <a:cs typeface="华文细黑" panose="02010600040101010101" charset="-122"/>
              </a:rPr>
              <a:t>（Management）</a:t>
            </a:r>
            <a:endParaRPr sz="24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需求验证</a:t>
            </a:r>
            <a:r>
              <a:rPr sz="2400" spc="-5" dirty="0">
                <a:latin typeface="微软雅黑" panose="020B0503020204020204" pitchFamily="34" charset="-122"/>
                <a:ea typeface="微软雅黑" panose="020B0503020204020204" pitchFamily="34" charset="-122"/>
                <a:cs typeface="华文细黑" panose="02010600040101010101" charset="-122"/>
              </a:rPr>
              <a:t>（Validation）</a:t>
            </a:r>
            <a:endParaRPr sz="2400" dirty="0">
              <a:latin typeface="微软雅黑" panose="020B0503020204020204" pitchFamily="34" charset="-122"/>
              <a:ea typeface="微软雅黑" panose="020B0503020204020204" pitchFamily="34" charset="-122"/>
              <a:cs typeface="华文细黑" panose="02010600040101010101" charset="-122"/>
            </a:endParaRPr>
          </a:p>
        </p:txBody>
      </p:sp>
      <p:sp>
        <p:nvSpPr>
          <p:cNvPr id="8" name="object 8"/>
          <p:cNvSpPr/>
          <p:nvPr/>
        </p:nvSpPr>
        <p:spPr>
          <a:xfrm>
            <a:off x="1747837" y="4124325"/>
            <a:ext cx="1676400" cy="1854199"/>
          </a:xfrm>
          <a:prstGeom prst="rect">
            <a:avLst/>
          </a:prstGeom>
          <a:blipFill>
            <a:blip r:embed="rId3" cstate="print"/>
            <a:stretch>
              <a:fillRect/>
            </a:stretch>
          </a:blipFill>
        </p:spPr>
        <p:txBody>
          <a:bodyPr wrap="square" lIns="0" tIns="0" rIns="0" bIns="0" rtlCol="0"/>
          <a:lstStyle/>
          <a:p>
            <a:endParaRPr/>
          </a:p>
        </p:txBody>
      </p:sp>
      <p:sp>
        <p:nvSpPr>
          <p:cNvPr id="11" name="标题 10"/>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需求工程活动</a:t>
            </a:r>
          </a:p>
        </p:txBody>
      </p:sp>
      <p:pic>
        <p:nvPicPr>
          <p:cNvPr id="14" name="图片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90949" y="1690688"/>
            <a:ext cx="5430944" cy="4503330"/>
          </a:xfrm>
          <a:prstGeom prst="rect">
            <a:avLst/>
          </a:prstGeom>
        </p:spPr>
      </p:pic>
      <p:sp>
        <p:nvSpPr>
          <p:cNvPr id="2" name="灯片编号占位符 1"/>
          <p:cNvSpPr>
            <a:spLocks noGrp="1"/>
          </p:cNvSpPr>
          <p:nvPr>
            <p:ph type="sldNum" sz="quarter" idx="12"/>
          </p:nvPr>
        </p:nvSpPr>
        <p:spPr/>
        <p:txBody>
          <a:bodyPr/>
          <a:lstStyle/>
          <a:p>
            <a:fld id="{74D2AB8B-5816-41F2-8B4B-CA5C3E4E6A65}" type="slidenum">
              <a:rPr lang="zh-CN" altLang="en-US" smtClean="0"/>
              <a:t>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5750"/>
    </mc:Choice>
    <mc:Fallback xmlns="">
      <p:transition spd="slow" advTm="3575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6877054" y="1490659"/>
            <a:ext cx="4476746" cy="4759323"/>
          </a:xfrm>
          <a:prstGeom prst="rect">
            <a:avLst/>
          </a:prstGeom>
          <a:blipFill>
            <a:blip r:embed="rId3" cstate="print"/>
            <a:stretch>
              <a:fillRect/>
            </a:stretch>
          </a:blipFill>
        </p:spPr>
        <p:txBody>
          <a:bodyPr wrap="square" lIns="0" tIns="0" rIns="0" bIns="0" rtlCol="0"/>
          <a:lstStyle/>
          <a:p>
            <a:endParaRPr/>
          </a:p>
        </p:txBody>
      </p:sp>
      <p:sp>
        <p:nvSpPr>
          <p:cNvPr id="7" name="标题 6"/>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需求抽取</a:t>
            </a:r>
          </a:p>
        </p:txBody>
      </p:sp>
      <p:sp>
        <p:nvSpPr>
          <p:cNvPr id="8" name="矩形 7"/>
          <p:cNvSpPr/>
          <p:nvPr/>
        </p:nvSpPr>
        <p:spPr>
          <a:xfrm>
            <a:off x="781054" y="2013306"/>
            <a:ext cx="6096000" cy="3714030"/>
          </a:xfrm>
          <a:prstGeom prst="rect">
            <a:avLst/>
          </a:prstGeom>
        </p:spPr>
        <p:txBody>
          <a:bodyPr>
            <a:spAutoFit/>
          </a:bodyPr>
          <a:lstStyle/>
          <a:p>
            <a:pPr marL="12700" marR="5080" algn="just">
              <a:lnSpc>
                <a:spcPct val="118000"/>
              </a:lnSpc>
              <a:spcBef>
                <a:spcPts val="95"/>
              </a:spcBef>
            </a:pPr>
            <a:r>
              <a:rPr lang="zh-CN" altLang="en-US" sz="2400" dirty="0">
                <a:solidFill>
                  <a:srgbClr val="990000"/>
                </a:solidFill>
                <a:latin typeface="微软雅黑" panose="020B0503020204020204" pitchFamily="34" charset="-122"/>
                <a:ea typeface="微软雅黑" panose="020B0503020204020204" pitchFamily="34" charset="-122"/>
                <a:cs typeface="华文细黑" panose="02010600040101010101" charset="-122"/>
              </a:rPr>
              <a:t>目标</a:t>
            </a:r>
            <a:r>
              <a:rPr lang="zh-CN" altLang="en-US" sz="2400" dirty="0">
                <a:solidFill>
                  <a:srgbClr val="AB1500"/>
                </a:solidFill>
                <a:latin typeface="微软雅黑" panose="020B0503020204020204" pitchFamily="34" charset="-122"/>
                <a:ea typeface="微软雅黑" panose="020B0503020204020204" pitchFamily="34" charset="-122"/>
                <a:cs typeface="华文细黑" panose="02010600040101010101" charset="-122"/>
              </a:rPr>
              <a:t>：</a:t>
            </a:r>
            <a:r>
              <a:rPr lang="zh-CN" altLang="en-US" sz="2400" dirty="0">
                <a:latin typeface="微软雅黑" panose="020B0503020204020204" pitchFamily="34" charset="-122"/>
                <a:ea typeface="微软雅黑" panose="020B0503020204020204" pitchFamily="34" charset="-122"/>
                <a:cs typeface="华文细黑" panose="02010600040101010101" charset="-122"/>
              </a:rPr>
              <a:t>主动与干系人协同工作，找出他们的需求，识别潜在的冲突，磋商解决矛盾，定义系统范围与边界</a:t>
            </a:r>
          </a:p>
          <a:p>
            <a:pPr marL="12700" marR="1301115" algn="just">
              <a:lnSpc>
                <a:spcPts val="4500"/>
              </a:lnSpc>
              <a:spcBef>
                <a:spcPts val="320"/>
              </a:spcBef>
            </a:pPr>
            <a:r>
              <a:rPr lang="zh-CN" altLang="en-US" sz="2400" dirty="0">
                <a:solidFill>
                  <a:srgbClr val="990000"/>
                </a:solidFill>
                <a:latin typeface="微软雅黑" panose="020B0503020204020204" pitchFamily="34" charset="-122"/>
                <a:ea typeface="微软雅黑" panose="020B0503020204020204" pitchFamily="34" charset="-122"/>
                <a:cs typeface="华文细黑" panose="02010600040101010101" charset="-122"/>
              </a:rPr>
              <a:t>实质</a:t>
            </a:r>
            <a:r>
              <a:rPr lang="zh-CN" altLang="en-US" sz="2400" dirty="0">
                <a:solidFill>
                  <a:srgbClr val="AB1500"/>
                </a:solidFill>
                <a:latin typeface="微软雅黑" panose="020B0503020204020204" pitchFamily="34" charset="-122"/>
                <a:ea typeface="微软雅黑" panose="020B0503020204020204" pitchFamily="34" charset="-122"/>
                <a:cs typeface="华文细黑" panose="02010600040101010101" charset="-122"/>
              </a:rPr>
              <a:t>：</a:t>
            </a:r>
            <a:r>
              <a:rPr lang="zh-CN" altLang="en-US" sz="2400" dirty="0">
                <a:latin typeface="微软雅黑" panose="020B0503020204020204" pitchFamily="34" charset="-122"/>
                <a:ea typeface="微软雅黑" panose="020B0503020204020204" pitchFamily="34" charset="-122"/>
                <a:cs typeface="华文细黑" panose="02010600040101010101" charset="-122"/>
              </a:rPr>
              <a:t>了解待解决的问题及其所属领域</a:t>
            </a:r>
            <a:endParaRPr lang="zh-CN" altLang="en-US" sz="2400" dirty="0">
              <a:solidFill>
                <a:srgbClr val="990000"/>
              </a:solidFill>
              <a:latin typeface="微软雅黑" panose="020B0503020204020204" pitchFamily="34" charset="-122"/>
              <a:ea typeface="微软雅黑" panose="020B0503020204020204" pitchFamily="34" charset="-122"/>
              <a:cs typeface="华文细黑" panose="02010600040101010101" charset="-122"/>
            </a:endParaRPr>
          </a:p>
          <a:p>
            <a:pPr marL="12700" marR="1301115" algn="just">
              <a:lnSpc>
                <a:spcPts val="4500"/>
              </a:lnSpc>
              <a:spcBef>
                <a:spcPts val="320"/>
              </a:spcBef>
            </a:pPr>
            <a:r>
              <a:rPr lang="zh-CN" altLang="en-US" sz="2400" dirty="0">
                <a:solidFill>
                  <a:srgbClr val="990000"/>
                </a:solidFill>
                <a:latin typeface="微软雅黑" panose="020B0503020204020204" pitchFamily="34" charset="-122"/>
                <a:ea typeface="微软雅黑" panose="020B0503020204020204" pitchFamily="34" charset="-122"/>
                <a:cs typeface="华文细黑" panose="02010600040101010101" charset="-122"/>
              </a:rPr>
              <a:t>关键</a:t>
            </a:r>
            <a:r>
              <a:rPr lang="zh-CN" altLang="en-US" sz="2400" dirty="0">
                <a:solidFill>
                  <a:srgbClr val="AB1500"/>
                </a:solidFill>
                <a:latin typeface="微软雅黑" panose="020B0503020204020204" pitchFamily="34" charset="-122"/>
                <a:ea typeface="微软雅黑" panose="020B0503020204020204" pitchFamily="34" charset="-122"/>
                <a:cs typeface="华文细黑" panose="02010600040101010101" charset="-122"/>
              </a:rPr>
              <a:t>：</a:t>
            </a:r>
            <a:r>
              <a:rPr lang="zh-CN" altLang="en-US" sz="2400" dirty="0">
                <a:latin typeface="微软雅黑" panose="020B0503020204020204" pitchFamily="34" charset="-122"/>
                <a:ea typeface="微软雅黑" panose="020B0503020204020204" pitchFamily="34" charset="-122"/>
                <a:cs typeface="华文细黑" panose="02010600040101010101" charset="-122"/>
              </a:rPr>
              <a:t>确保该问题的解决是有商业价值的</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12577"/>
    </mc:Choice>
    <mc:Fallback xmlns="">
      <p:transition spd="slow" advTm="112577"/>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15682" y="1601154"/>
            <a:ext cx="6038850" cy="1654810"/>
          </a:xfrm>
          <a:prstGeom prst="rect">
            <a:avLst/>
          </a:prstGeom>
        </p:spPr>
        <p:txBody>
          <a:bodyPr vert="horz" wrap="square" lIns="0" tIns="39369" rIns="0" bIns="0" rtlCol="0">
            <a:spAutoFit/>
          </a:bodyPr>
          <a:lstStyle/>
          <a:p>
            <a:pPr marL="241300" indent="-228600">
              <a:lnSpc>
                <a:spcPct val="100000"/>
              </a:lnSpc>
              <a:spcBef>
                <a:spcPts val="31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细黑" panose="02010600040101010101" charset="-122"/>
              </a:rPr>
              <a:t>抽取技术</a:t>
            </a:r>
          </a:p>
          <a:p>
            <a:pPr marL="698500" lvl="1" indent="-228600">
              <a:lnSpc>
                <a:spcPct val="100000"/>
              </a:lnSpc>
              <a:spcBef>
                <a:spcPts val="18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细黑" panose="02010600040101010101" charset="-122"/>
              </a:rPr>
              <a:t>协同工作（Collaborative</a:t>
            </a:r>
            <a:r>
              <a:rPr sz="2400" spc="-15" dirty="0">
                <a:latin typeface="微软雅黑" panose="020B0503020204020204" pitchFamily="34" charset="-122"/>
                <a:ea typeface="微软雅黑" panose="020B0503020204020204" pitchFamily="34" charset="-122"/>
                <a:cs typeface="华文细黑" panose="02010600040101010101" charset="-122"/>
              </a:rPr>
              <a:t> </a:t>
            </a:r>
            <a:r>
              <a:rPr sz="2400" spc="-5" dirty="0">
                <a:latin typeface="微软雅黑" panose="020B0503020204020204" pitchFamily="34" charset="-122"/>
                <a:ea typeface="微软雅黑" panose="020B0503020204020204" pitchFamily="34" charset="-122"/>
                <a:cs typeface="华文细黑" panose="02010600040101010101" charset="-122"/>
              </a:rPr>
              <a:t>sessions）</a:t>
            </a:r>
            <a:endParaRPr sz="2400" dirty="0">
              <a:latin typeface="微软雅黑" panose="020B0503020204020204" pitchFamily="34" charset="-122"/>
              <a:ea typeface="微软雅黑" panose="020B0503020204020204" pitchFamily="34" charset="-122"/>
              <a:cs typeface="华文细黑" panose="02010600040101010101" charset="-122"/>
            </a:endParaRPr>
          </a:p>
          <a:p>
            <a:pPr marL="698500" lvl="1" indent="-228600">
              <a:lnSpc>
                <a:spcPct val="100000"/>
              </a:lnSpc>
              <a:spcBef>
                <a:spcPts val="220"/>
              </a:spcBef>
              <a:buFont typeface="Arial" panose="020B0604020202020204"/>
              <a:buChar char="•"/>
              <a:tabLst>
                <a:tab pos="698500" algn="l"/>
                <a:tab pos="1916430" algn="l"/>
              </a:tabLst>
            </a:pPr>
            <a:r>
              <a:rPr sz="2400" dirty="0">
                <a:latin typeface="微软雅黑" panose="020B0503020204020204" pitchFamily="34" charset="-122"/>
                <a:ea typeface="微软雅黑" panose="020B0503020204020204" pitchFamily="34" charset="-122"/>
                <a:cs typeface="华文细黑" panose="02010600040101010101" charset="-122"/>
              </a:rPr>
              <a:t>面谈	（Interviewing</a:t>
            </a:r>
            <a:r>
              <a:rPr sz="2400" spc="-45" dirty="0">
                <a:latin typeface="微软雅黑" panose="020B0503020204020204" pitchFamily="34" charset="-122"/>
                <a:ea typeface="微软雅黑" panose="020B0503020204020204" pitchFamily="34" charset="-122"/>
                <a:cs typeface="华文细黑" panose="02010600040101010101" charset="-122"/>
              </a:rPr>
              <a:t> </a:t>
            </a:r>
            <a:r>
              <a:rPr sz="2400" spc="-5" dirty="0">
                <a:latin typeface="微软雅黑" panose="020B0503020204020204" pitchFamily="34" charset="-122"/>
                <a:ea typeface="微软雅黑" panose="020B0503020204020204" pitchFamily="34" charset="-122"/>
                <a:cs typeface="华文细黑" panose="02010600040101010101" charset="-122"/>
              </a:rPr>
              <a:t>techniques）</a:t>
            </a:r>
            <a:endParaRPr sz="2400" dirty="0">
              <a:latin typeface="微软雅黑" panose="020B0503020204020204" pitchFamily="34" charset="-122"/>
              <a:ea typeface="微软雅黑" panose="020B0503020204020204" pitchFamily="34" charset="-122"/>
              <a:cs typeface="华文细黑" panose="02010600040101010101" charset="-122"/>
            </a:endParaRPr>
          </a:p>
          <a:p>
            <a:pPr marL="698500" lvl="1" indent="-228600">
              <a:lnSpc>
                <a:spcPct val="100000"/>
              </a:lnSpc>
              <a:spcBef>
                <a:spcPts val="2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细黑" panose="02010600040101010101" charset="-122"/>
              </a:rPr>
              <a:t>问卷调查</a:t>
            </a:r>
            <a:r>
              <a:rPr sz="2400" spc="-5" dirty="0">
                <a:latin typeface="微软雅黑" panose="020B0503020204020204" pitchFamily="34" charset="-122"/>
                <a:ea typeface="微软雅黑" panose="020B0503020204020204" pitchFamily="34" charset="-122"/>
                <a:cs typeface="华文细黑" panose="02010600040101010101" charset="-122"/>
              </a:rPr>
              <a:t>（Questionnaires）</a:t>
            </a:r>
            <a:endParaRPr sz="2400" dirty="0">
              <a:latin typeface="微软雅黑" panose="020B0503020204020204" pitchFamily="34" charset="-122"/>
              <a:ea typeface="微软雅黑" panose="020B0503020204020204" pitchFamily="34" charset="-122"/>
              <a:cs typeface="华文细黑" panose="02010600040101010101" charset="-122"/>
            </a:endParaRPr>
          </a:p>
        </p:txBody>
      </p:sp>
      <p:sp>
        <p:nvSpPr>
          <p:cNvPr id="4" name="object 4"/>
          <p:cNvSpPr txBox="1"/>
          <p:nvPr/>
        </p:nvSpPr>
        <p:spPr>
          <a:xfrm>
            <a:off x="1472882" y="3258503"/>
            <a:ext cx="1168400" cy="772160"/>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观察法</a:t>
            </a:r>
          </a:p>
          <a:p>
            <a:pPr marL="241300" indent="-228600">
              <a:lnSpc>
                <a:spcPct val="100000"/>
              </a:lnSpc>
              <a:spcBef>
                <a:spcPts val="1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原型法</a:t>
            </a:r>
          </a:p>
        </p:txBody>
      </p:sp>
      <p:sp>
        <p:nvSpPr>
          <p:cNvPr id="5" name="object 5"/>
          <p:cNvSpPr txBox="1"/>
          <p:nvPr/>
        </p:nvSpPr>
        <p:spPr>
          <a:xfrm>
            <a:off x="2920682" y="3258503"/>
            <a:ext cx="2535555" cy="772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微软雅黑" panose="020B0503020204020204" pitchFamily="34" charset="-122"/>
                <a:ea typeface="微软雅黑" panose="020B0503020204020204" pitchFamily="34" charset="-122"/>
                <a:cs typeface="华文细黑" panose="02010600040101010101" charset="-122"/>
              </a:rPr>
              <a:t>（Ethnography）</a:t>
            </a:r>
            <a:endParaRPr sz="2400">
              <a:latin typeface="微软雅黑" panose="020B0503020204020204" pitchFamily="34" charset="-122"/>
              <a:ea typeface="微软雅黑" panose="020B0503020204020204" pitchFamily="34" charset="-122"/>
              <a:cs typeface="华文细黑" panose="02010600040101010101" charset="-122"/>
            </a:endParaRPr>
          </a:p>
          <a:p>
            <a:pPr marL="12700">
              <a:lnSpc>
                <a:spcPct val="100000"/>
              </a:lnSpc>
              <a:spcBef>
                <a:spcPts val="120"/>
              </a:spcBef>
            </a:pPr>
            <a:r>
              <a:rPr sz="2400" spc="-5" dirty="0">
                <a:latin typeface="微软雅黑" panose="020B0503020204020204" pitchFamily="34" charset="-122"/>
                <a:ea typeface="微软雅黑" panose="020B0503020204020204" pitchFamily="34" charset="-122"/>
                <a:cs typeface="华文细黑" panose="02010600040101010101" charset="-122"/>
              </a:rPr>
              <a:t>（Prototyping）</a:t>
            </a:r>
            <a:endParaRPr sz="2400">
              <a:latin typeface="微软雅黑" panose="020B0503020204020204" pitchFamily="34" charset="-122"/>
              <a:ea typeface="微软雅黑" panose="020B0503020204020204" pitchFamily="34" charset="-122"/>
              <a:cs typeface="华文细黑" panose="02010600040101010101" charset="-122"/>
            </a:endParaRPr>
          </a:p>
        </p:txBody>
      </p:sp>
      <p:sp>
        <p:nvSpPr>
          <p:cNvPr id="6" name="object 6"/>
          <p:cNvSpPr txBox="1"/>
          <p:nvPr/>
        </p:nvSpPr>
        <p:spPr>
          <a:xfrm>
            <a:off x="1015682" y="4005263"/>
            <a:ext cx="10160635" cy="2113280"/>
          </a:xfrm>
          <a:prstGeom prst="rect">
            <a:avLst/>
          </a:prstGeom>
        </p:spPr>
        <p:txBody>
          <a:bodyPr vert="horz" wrap="square" lIns="0" tIns="40640" rIns="0" bIns="0" rtlCol="0">
            <a:spAutoFit/>
          </a:bodyPr>
          <a:lstStyle/>
          <a:p>
            <a:pPr marL="698500" indent="-228600">
              <a:lnSpc>
                <a:spcPct val="100000"/>
              </a:lnSpc>
              <a:spcBef>
                <a:spcPts val="3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细黑" panose="02010600040101010101" charset="-122"/>
              </a:rPr>
              <a:t>文档分析</a:t>
            </a:r>
            <a:r>
              <a:rPr sz="2400" spc="-5" dirty="0">
                <a:latin typeface="微软雅黑" panose="020B0503020204020204" pitchFamily="34" charset="-122"/>
                <a:ea typeface="微软雅黑" panose="020B0503020204020204" pitchFamily="34" charset="-122"/>
                <a:cs typeface="华文细黑" panose="02010600040101010101" charset="-122"/>
              </a:rPr>
              <a:t>（Documentation）</a:t>
            </a:r>
            <a:endParaRPr sz="2400" dirty="0">
              <a:latin typeface="微软雅黑" panose="020B0503020204020204" pitchFamily="34" charset="-122"/>
              <a:ea typeface="微软雅黑" panose="020B0503020204020204" pitchFamily="34" charset="-122"/>
              <a:cs typeface="华文细黑" panose="02010600040101010101" charset="-122"/>
            </a:endParaRPr>
          </a:p>
          <a:p>
            <a:pPr marL="698500" indent="-228600">
              <a:lnSpc>
                <a:spcPct val="100000"/>
              </a:lnSpc>
              <a:spcBef>
                <a:spcPts val="220"/>
              </a:spcBef>
              <a:buFont typeface="Arial" panose="020B0604020202020204"/>
              <a:buChar char="•"/>
              <a:tabLst>
                <a:tab pos="698500" algn="l"/>
                <a:tab pos="1916430" algn="l"/>
              </a:tabLst>
            </a:pPr>
            <a:r>
              <a:rPr sz="2400" dirty="0">
                <a:latin typeface="微软雅黑" panose="020B0503020204020204" pitchFamily="34" charset="-122"/>
                <a:ea typeface="微软雅黑" panose="020B0503020204020204" pitchFamily="34" charset="-122"/>
                <a:cs typeface="华文细黑" panose="02010600040101010101" charset="-122"/>
              </a:rPr>
              <a:t>建模	</a:t>
            </a:r>
            <a:r>
              <a:rPr sz="2400" spc="-5" dirty="0">
                <a:latin typeface="微软雅黑" panose="020B0503020204020204" pitchFamily="34" charset="-122"/>
                <a:ea typeface="微软雅黑" panose="020B0503020204020204" pitchFamily="34" charset="-122"/>
                <a:cs typeface="华文细黑" panose="02010600040101010101" charset="-122"/>
              </a:rPr>
              <a:t>（Modeling）</a:t>
            </a:r>
            <a:endParaRPr sz="2400" dirty="0">
              <a:latin typeface="微软雅黑" panose="020B0503020204020204" pitchFamily="34" charset="-122"/>
              <a:ea typeface="微软雅黑" panose="020B0503020204020204" pitchFamily="34" charset="-122"/>
              <a:cs typeface="华文细黑" panose="02010600040101010101" charset="-122"/>
            </a:endParaRPr>
          </a:p>
          <a:p>
            <a:pPr marL="698500" indent="-228600">
              <a:lnSpc>
                <a:spcPct val="100000"/>
              </a:lnSpc>
              <a:spcBef>
                <a:spcPts val="2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细黑" panose="02010600040101010101" charset="-122"/>
              </a:rPr>
              <a:t>角色扮演</a:t>
            </a:r>
            <a:r>
              <a:rPr sz="2400" spc="-5" dirty="0">
                <a:latin typeface="微软雅黑" panose="020B0503020204020204" pitchFamily="34" charset="-122"/>
                <a:ea typeface="微软雅黑" panose="020B0503020204020204" pitchFamily="34" charset="-122"/>
                <a:cs typeface="华文细黑" panose="02010600040101010101" charset="-122"/>
              </a:rPr>
              <a:t>（Roleplaying）</a:t>
            </a:r>
            <a:endParaRPr sz="2400" dirty="0">
              <a:latin typeface="微软雅黑" panose="020B0503020204020204" pitchFamily="34" charset="-122"/>
              <a:ea typeface="微软雅黑" panose="020B0503020204020204" pitchFamily="34" charset="-122"/>
              <a:cs typeface="华文细黑" panose="02010600040101010101" charset="-122"/>
            </a:endParaRPr>
          </a:p>
          <a:p>
            <a:pPr marL="698500" indent="-228600">
              <a:lnSpc>
                <a:spcPct val="100000"/>
              </a:lnSpc>
              <a:spcBef>
                <a:spcPts val="2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细黑" panose="02010600040101010101" charset="-122"/>
              </a:rPr>
              <a:t>非功能性需求列表（Checklists</a:t>
            </a:r>
            <a:r>
              <a:rPr sz="2400" spc="-5" dirty="0">
                <a:latin typeface="微软雅黑" panose="020B0503020204020204" pitchFamily="34" charset="-122"/>
                <a:ea typeface="微软雅黑" panose="020B0503020204020204" pitchFamily="34" charset="-122"/>
                <a:cs typeface="华文细黑" panose="02010600040101010101" charset="-122"/>
              </a:rPr>
              <a:t> </a:t>
            </a:r>
            <a:r>
              <a:rPr sz="2400" dirty="0">
                <a:latin typeface="微软雅黑" panose="020B0503020204020204" pitchFamily="34" charset="-122"/>
                <a:ea typeface="微软雅黑" panose="020B0503020204020204" pitchFamily="34" charset="-122"/>
                <a:cs typeface="华文细黑" panose="02010600040101010101" charset="-122"/>
              </a:rPr>
              <a:t>of </a:t>
            </a:r>
            <a:r>
              <a:rPr sz="2400" spc="-5" dirty="0">
                <a:latin typeface="微软雅黑" panose="020B0503020204020204" pitchFamily="34" charset="-122"/>
                <a:ea typeface="微软雅黑" panose="020B0503020204020204" pitchFamily="34" charset="-122"/>
                <a:cs typeface="华文细黑" panose="02010600040101010101" charset="-122"/>
              </a:rPr>
              <a:t>NFRs）</a:t>
            </a:r>
            <a:endParaRPr sz="24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68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细黑" panose="02010600040101010101" charset="-122"/>
              </a:rPr>
              <a:t>冲突识别与磋商</a:t>
            </a:r>
            <a:r>
              <a:rPr sz="2800" spc="-15" dirty="0">
                <a:latin typeface="微软雅黑" panose="020B0503020204020204" pitchFamily="34" charset="-122"/>
                <a:ea typeface="微软雅黑" panose="020B0503020204020204" pitchFamily="34" charset="-122"/>
                <a:cs typeface="华文细黑" panose="02010600040101010101" charset="-122"/>
              </a:rPr>
              <a:t> </a:t>
            </a:r>
            <a:r>
              <a:rPr sz="2800" dirty="0">
                <a:latin typeface="微软雅黑" panose="020B0503020204020204" pitchFamily="34" charset="-122"/>
                <a:ea typeface="微软雅黑" panose="020B0503020204020204" pitchFamily="34" charset="-122"/>
                <a:cs typeface="华文细黑" panose="02010600040101010101" charset="-122"/>
              </a:rPr>
              <a:t>（Conflict</a:t>
            </a:r>
            <a:r>
              <a:rPr sz="2800" spc="-10" dirty="0">
                <a:latin typeface="微软雅黑" panose="020B0503020204020204" pitchFamily="34" charset="-122"/>
                <a:ea typeface="微软雅黑" panose="020B0503020204020204" pitchFamily="34" charset="-122"/>
                <a:cs typeface="华文细黑" panose="02010600040101010101" charset="-122"/>
              </a:rPr>
              <a:t> </a:t>
            </a:r>
            <a:r>
              <a:rPr sz="2800" dirty="0">
                <a:latin typeface="微软雅黑" panose="020B0503020204020204" pitchFamily="34" charset="-122"/>
                <a:ea typeface="微软雅黑" panose="020B0503020204020204" pitchFamily="34" charset="-122"/>
                <a:cs typeface="华文细黑" panose="02010600040101010101" charset="-122"/>
              </a:rPr>
              <a:t>Identification</a:t>
            </a:r>
            <a:r>
              <a:rPr sz="2800" spc="-10" dirty="0">
                <a:latin typeface="微软雅黑" panose="020B0503020204020204" pitchFamily="34" charset="-122"/>
                <a:ea typeface="微软雅黑" panose="020B0503020204020204" pitchFamily="34" charset="-122"/>
                <a:cs typeface="华文细黑" panose="02010600040101010101" charset="-122"/>
              </a:rPr>
              <a:t> </a:t>
            </a:r>
            <a:r>
              <a:rPr sz="2800" dirty="0">
                <a:latin typeface="微软雅黑" panose="020B0503020204020204" pitchFamily="34" charset="-122"/>
                <a:ea typeface="微软雅黑" panose="020B0503020204020204" pitchFamily="34" charset="-122"/>
                <a:cs typeface="华文细黑" panose="02010600040101010101" charset="-122"/>
              </a:rPr>
              <a:t>and</a:t>
            </a:r>
            <a:r>
              <a:rPr sz="2800" spc="-10" dirty="0">
                <a:latin typeface="微软雅黑" panose="020B0503020204020204" pitchFamily="34" charset="-122"/>
                <a:ea typeface="微软雅黑" panose="020B0503020204020204" pitchFamily="34" charset="-122"/>
                <a:cs typeface="华文细黑" panose="02010600040101010101" charset="-122"/>
              </a:rPr>
              <a:t> </a:t>
            </a:r>
            <a:r>
              <a:rPr sz="2800" spc="-5" dirty="0">
                <a:latin typeface="微软雅黑" panose="020B0503020204020204" pitchFamily="34" charset="-122"/>
                <a:ea typeface="微软雅黑" panose="020B0503020204020204" pitchFamily="34" charset="-122"/>
                <a:cs typeface="华文细黑" panose="02010600040101010101" charset="-122"/>
              </a:rPr>
              <a:t>Negotiation）</a:t>
            </a:r>
            <a:endParaRPr sz="2800" dirty="0">
              <a:latin typeface="微软雅黑" panose="020B0503020204020204" pitchFamily="34" charset="-122"/>
              <a:ea typeface="微软雅黑" panose="020B0503020204020204" pitchFamily="34" charset="-122"/>
              <a:cs typeface="华文细黑" panose="02010600040101010101" charset="-122"/>
            </a:endParaRPr>
          </a:p>
        </p:txBody>
      </p:sp>
      <p:sp>
        <p:nvSpPr>
          <p:cNvPr id="8" name="object 8"/>
          <p:cNvSpPr/>
          <p:nvPr/>
        </p:nvSpPr>
        <p:spPr>
          <a:xfrm>
            <a:off x="8700003" y="2304535"/>
            <a:ext cx="2432048" cy="2465386"/>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0" name="标题 9"/>
          <p:cNvSpPr>
            <a:spLocks noGrp="1"/>
          </p:cNvSpPr>
          <p:nvPr>
            <p:ph type="title"/>
          </p:nvPr>
        </p:nvSpPr>
        <p:spPr/>
        <p:txBody>
          <a:bodyPr/>
          <a:lstStyle/>
          <a:p>
            <a:r>
              <a:rPr lang="zh-CN" altLang="en-US" dirty="0"/>
              <a:t>需求抽取</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4</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8396"/>
    </mc:Choice>
    <mc:Fallback xmlns="">
      <p:transition spd="slow" advTm="3839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29639" y="428245"/>
            <a:ext cx="2133600" cy="355600"/>
          </a:xfrm>
          <a:prstGeom prst="rect">
            <a:avLst/>
          </a:prstGeom>
        </p:spPr>
        <p:txBody>
          <a:bodyPr vert="horz" wrap="square" lIns="0" tIns="0" rIns="0" bIns="0" rtlCol="0">
            <a:spAutoFit/>
          </a:bodyPr>
          <a:lstStyle/>
          <a:p>
            <a:pPr>
              <a:lnSpc>
                <a:spcPts val="2800"/>
              </a:lnSpc>
            </a:pPr>
            <a:r>
              <a:rPr sz="2800" b="1" spc="-5" dirty="0">
                <a:latin typeface="华文细黑" panose="02010600040101010101" charset="-122"/>
                <a:cs typeface="华文细黑" panose="02010600040101010101" charset="-122"/>
              </a:rPr>
              <a:t>需求获取方法</a:t>
            </a:r>
            <a:endParaRPr sz="2800">
              <a:latin typeface="华文细黑" panose="02010600040101010101" charset="-122"/>
              <a:cs typeface="华文细黑" panose="02010600040101010101" charset="-122"/>
            </a:endParaRPr>
          </a:p>
        </p:txBody>
      </p:sp>
      <p:sp>
        <p:nvSpPr>
          <p:cNvPr id="3" name="object 3"/>
          <p:cNvSpPr/>
          <p:nvPr/>
        </p:nvSpPr>
        <p:spPr>
          <a:xfrm>
            <a:off x="901655" y="190501"/>
            <a:ext cx="10388689" cy="6121400"/>
          </a:xfrm>
          <a:prstGeom prst="rect">
            <a:avLst/>
          </a:prstGeom>
          <a:blipFill>
            <a:blip r:embed="rId3" cstate="print"/>
            <a:stretch>
              <a:fillRect/>
            </a:stretch>
          </a:blipFill>
        </p:spPr>
        <p:txBody>
          <a:bodyPr wrap="square" lIns="0" tIns="0" rIns="0" bIns="0" rtlCol="0"/>
          <a:lstStyle/>
          <a:p>
            <a:endParaRPr/>
          </a:p>
        </p:txBody>
      </p:sp>
      <p:sp>
        <p:nvSpPr>
          <p:cNvPr id="4" name="灯片编号占位符 3"/>
          <p:cNvSpPr>
            <a:spLocks noGrp="1"/>
          </p:cNvSpPr>
          <p:nvPr>
            <p:ph type="sldNum" sz="quarter" idx="7"/>
          </p:nvPr>
        </p:nvSpPr>
        <p:spPr/>
        <p:txBody>
          <a:bodyPr/>
          <a:lstStyle/>
          <a:p>
            <a:fld id="{B6F15528-21DE-4FAA-801E-634DDDAF4B2B}" type="slidenum">
              <a:rPr lang="en-US" altLang="zh-CN" smtClean="0"/>
              <a:t>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6796"/>
    </mc:Choice>
    <mc:Fallback xmlns="">
      <p:transition spd="slow" advTm="26796"/>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42338" y="1384301"/>
            <a:ext cx="10220961" cy="2915920"/>
          </a:xfrm>
          <a:prstGeom prst="rect">
            <a:avLst/>
          </a:prstGeom>
        </p:spPr>
        <p:txBody>
          <a:bodyPr vert="horz" wrap="square" lIns="0" tIns="12700" rIns="0" bIns="0" rtlCol="0">
            <a:spAutoFit/>
          </a:bodyPr>
          <a:lstStyle/>
          <a:p>
            <a:pPr marL="12700" marR="5080" algn="just">
              <a:lnSpc>
                <a:spcPct val="139000"/>
              </a:lnSpc>
              <a:spcBef>
                <a:spcPts val="100"/>
              </a:spcBef>
            </a:pPr>
            <a:r>
              <a:rPr sz="2400" b="1" spc="-5" dirty="0">
                <a:solidFill>
                  <a:srgbClr val="990000"/>
                </a:solidFill>
                <a:latin typeface="微软雅黑" panose="020B0503020204020204" pitchFamily="34" charset="-122"/>
                <a:ea typeface="微软雅黑" panose="020B0503020204020204" pitchFamily="34" charset="-122"/>
                <a:cs typeface="华文细黑" panose="02010600040101010101" charset="-122"/>
              </a:rPr>
              <a:t>目标</a:t>
            </a:r>
            <a:r>
              <a:rPr sz="2400" b="1" spc="-5" dirty="0">
                <a:solidFill>
                  <a:srgbClr val="AB1500"/>
                </a:solidFill>
                <a:latin typeface="微软雅黑" panose="020B0503020204020204" pitchFamily="34" charset="-122"/>
                <a:ea typeface="微软雅黑" panose="020B0503020204020204" pitchFamily="34" charset="-122"/>
                <a:cs typeface="华文细黑" panose="02010600040101010101" charset="-122"/>
              </a:rPr>
              <a:t>：</a:t>
            </a:r>
            <a:r>
              <a:rPr sz="2400" spc="-5" dirty="0">
                <a:latin typeface="微软雅黑" panose="020B0503020204020204" pitchFamily="34" charset="-122"/>
                <a:ea typeface="微软雅黑" panose="020B0503020204020204" pitchFamily="34" charset="-122"/>
                <a:cs typeface="华文细黑" panose="02010600040101010101" charset="-122"/>
              </a:rPr>
              <a:t>对产品及其与环境的交互进行更深入的了解，识别</a:t>
            </a:r>
            <a:r>
              <a:rPr sz="2400" b="1" spc="-5" dirty="0">
                <a:solidFill>
                  <a:srgbClr val="FF0000"/>
                </a:solidFill>
                <a:latin typeface="微软雅黑" panose="020B0503020204020204" pitchFamily="34" charset="-122"/>
                <a:ea typeface="微软雅黑" panose="020B0503020204020204" pitchFamily="34" charset="-122"/>
                <a:cs typeface="华文细黑" panose="02010600040101010101" charset="-122"/>
              </a:rPr>
              <a:t>系统需求</a:t>
            </a:r>
            <a:r>
              <a:rPr sz="2400" spc="-5" dirty="0">
                <a:latin typeface="微软雅黑" panose="020B0503020204020204" pitchFamily="34" charset="-122"/>
                <a:ea typeface="微软雅黑" panose="020B0503020204020204" pitchFamily="34" charset="-122"/>
                <a:cs typeface="华文细黑" panose="02010600040101010101" charset="-122"/>
              </a:rPr>
              <a:t>，设计软 件体系结构，建立需求与体系结构组件间的关联，在体系结构设计实现过程 中进一步识别矛盾冲突，并通过干系人之间的协调磋商解决问题。</a:t>
            </a:r>
            <a:endParaRPr sz="2400" dirty="0">
              <a:latin typeface="微软雅黑" panose="020B0503020204020204" pitchFamily="34" charset="-122"/>
              <a:ea typeface="微软雅黑" panose="020B0503020204020204" pitchFamily="34" charset="-122"/>
              <a:cs typeface="华文细黑" panose="02010600040101010101" charset="-122"/>
            </a:endParaRPr>
          </a:p>
          <a:p>
            <a:pPr marL="12700" marR="614680">
              <a:lnSpc>
                <a:spcPts val="5100"/>
              </a:lnSpc>
              <a:spcBef>
                <a:spcPts val="440"/>
              </a:spcBef>
            </a:pPr>
            <a:r>
              <a:rPr sz="2400" b="1" spc="-5" dirty="0">
                <a:solidFill>
                  <a:srgbClr val="990000"/>
                </a:solidFill>
                <a:latin typeface="微软雅黑" panose="020B0503020204020204" pitchFamily="34" charset="-122"/>
                <a:ea typeface="微软雅黑" panose="020B0503020204020204" pitchFamily="34" charset="-122"/>
                <a:cs typeface="华文细黑" panose="02010600040101010101" charset="-122"/>
              </a:rPr>
              <a:t>实质</a:t>
            </a:r>
            <a:r>
              <a:rPr sz="2400" b="1" spc="-5" dirty="0">
                <a:solidFill>
                  <a:srgbClr val="AB1500"/>
                </a:solidFill>
                <a:latin typeface="微软雅黑" panose="020B0503020204020204" pitchFamily="34" charset="-122"/>
                <a:ea typeface="微软雅黑" panose="020B0503020204020204" pitchFamily="34" charset="-122"/>
                <a:cs typeface="华文细黑" panose="02010600040101010101" charset="-122"/>
              </a:rPr>
              <a:t>：</a:t>
            </a:r>
            <a:r>
              <a:rPr sz="2400" spc="-5" dirty="0">
                <a:latin typeface="微软雅黑" panose="020B0503020204020204" pitchFamily="34" charset="-122"/>
                <a:ea typeface="微软雅黑" panose="020B0503020204020204" pitchFamily="34" charset="-122"/>
                <a:cs typeface="华文细黑" panose="02010600040101010101" charset="-122"/>
              </a:rPr>
              <a:t>概念建模———选择常用的建模语言，进行功能建模和信息建模 </a:t>
            </a:r>
            <a:r>
              <a:rPr sz="2400" b="1" spc="-5" dirty="0">
                <a:solidFill>
                  <a:srgbClr val="990000"/>
                </a:solidFill>
                <a:latin typeface="微软雅黑" panose="020B0503020204020204" pitchFamily="34" charset="-122"/>
                <a:ea typeface="微软雅黑" panose="020B0503020204020204" pitchFamily="34" charset="-122"/>
                <a:cs typeface="华文细黑" panose="02010600040101010101" charset="-122"/>
              </a:rPr>
              <a:t>关键</a:t>
            </a:r>
            <a:r>
              <a:rPr sz="2400" b="1" spc="-5" dirty="0">
                <a:solidFill>
                  <a:srgbClr val="AB1500"/>
                </a:solidFill>
                <a:latin typeface="微软雅黑" panose="020B0503020204020204" pitchFamily="34" charset="-122"/>
                <a:ea typeface="微软雅黑" panose="020B0503020204020204" pitchFamily="34" charset="-122"/>
                <a:cs typeface="华文细黑" panose="02010600040101010101" charset="-122"/>
              </a:rPr>
              <a:t>：</a:t>
            </a:r>
            <a:r>
              <a:rPr sz="2400" dirty="0">
                <a:latin typeface="微软雅黑" panose="020B0503020204020204" pitchFamily="34" charset="-122"/>
                <a:ea typeface="微软雅黑" panose="020B0503020204020204" pitchFamily="34" charset="-122"/>
                <a:cs typeface="华文细黑" panose="02010600040101010101" charset="-122"/>
              </a:rPr>
              <a:t>体系结构设计与需求分配</a:t>
            </a:r>
          </a:p>
        </p:txBody>
      </p:sp>
      <p:sp>
        <p:nvSpPr>
          <p:cNvPr id="4" name="object 4"/>
          <p:cNvSpPr txBox="1"/>
          <p:nvPr/>
        </p:nvSpPr>
        <p:spPr>
          <a:xfrm>
            <a:off x="1471612" y="4745038"/>
            <a:ext cx="8083550" cy="498213"/>
          </a:xfrm>
          <a:prstGeom prst="rect">
            <a:avLst/>
          </a:prstGeom>
          <a:solidFill>
            <a:srgbClr val="C1D2EC"/>
          </a:solidFill>
        </p:spPr>
        <p:txBody>
          <a:bodyPr vert="horz" wrap="square" lIns="0" tIns="66675" rIns="0" bIns="0" rtlCol="0">
            <a:spAutoFit/>
          </a:bodyPr>
          <a:lstStyle/>
          <a:p>
            <a:pPr marL="91440">
              <a:lnSpc>
                <a:spcPct val="100000"/>
              </a:lnSpc>
              <a:spcBef>
                <a:spcPts val="525"/>
              </a:spcBef>
            </a:pPr>
            <a:r>
              <a:rPr sz="2800" spc="-125" dirty="0" err="1">
                <a:solidFill>
                  <a:srgbClr val="CC3300"/>
                </a:solidFill>
                <a:latin typeface="Arial Unicode MS"/>
                <a:cs typeface="Arial Unicode MS"/>
              </a:rPr>
              <a:t>通过评估需求的满足度来评价体系结构设计的质量</a:t>
            </a:r>
            <a:endParaRPr sz="2800" dirty="0">
              <a:latin typeface="Arial Unicode MS"/>
              <a:cs typeface="Arial Unicode MS"/>
            </a:endParaRPr>
          </a:p>
        </p:txBody>
      </p:sp>
      <p:sp>
        <p:nvSpPr>
          <p:cNvPr id="5" name="object 5"/>
          <p:cNvSpPr/>
          <p:nvPr/>
        </p:nvSpPr>
        <p:spPr>
          <a:xfrm>
            <a:off x="9977439" y="4740275"/>
            <a:ext cx="1777997" cy="1752600"/>
          </a:xfrm>
          <a:prstGeom prst="rect">
            <a:avLst/>
          </a:prstGeom>
          <a:blipFill>
            <a:blip r:embed="rId3" cstate="print"/>
            <a:stretch>
              <a:fillRect/>
            </a:stretch>
          </a:blipFill>
        </p:spPr>
        <p:txBody>
          <a:bodyPr wrap="square" lIns="0" tIns="0" rIns="0" bIns="0" rtlCol="0"/>
          <a:lstStyle/>
          <a:p>
            <a:endParaRPr/>
          </a:p>
        </p:txBody>
      </p:sp>
      <p:sp>
        <p:nvSpPr>
          <p:cNvPr id="8" name="标题 7"/>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需求分析</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6</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3837"/>
    </mc:Choice>
    <mc:Fallback xmlns="">
      <p:transition spd="slow" advTm="53837"/>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116793" y="6094411"/>
            <a:ext cx="5721985" cy="299720"/>
          </a:xfrm>
          <a:prstGeom prst="rect">
            <a:avLst/>
          </a:prstGeom>
        </p:spPr>
        <p:txBody>
          <a:bodyPr vert="horz" wrap="square" lIns="0" tIns="12700" rIns="0" bIns="0" rtlCol="0">
            <a:spAutoFit/>
          </a:bodyPr>
          <a:lstStyle/>
          <a:p>
            <a:pPr marL="12700" algn="ctr">
              <a:lnSpc>
                <a:spcPct val="100000"/>
              </a:lnSpc>
              <a:spcBef>
                <a:spcPts val="100"/>
              </a:spcBef>
            </a:pPr>
            <a:r>
              <a:rPr sz="1800" b="1" spc="-5" dirty="0">
                <a:latin typeface="Times New Roman" panose="02020603050405020304" pitchFamily="18" charset="0"/>
                <a:cs typeface="Times New Roman" panose="02020603050405020304" pitchFamily="18" charset="0"/>
              </a:rPr>
              <a:t>Adapted from Loucopoulos &amp; Karakostas, 1995,</a:t>
            </a:r>
            <a:r>
              <a:rPr sz="1800" b="1" spc="20" dirty="0">
                <a:latin typeface="Times New Roman" panose="02020603050405020304" pitchFamily="18" charset="0"/>
                <a:cs typeface="Times New Roman" panose="02020603050405020304" pitchFamily="18" charset="0"/>
              </a:rPr>
              <a:t> </a:t>
            </a:r>
            <a:r>
              <a:rPr sz="1800" b="1" spc="-5" dirty="0">
                <a:latin typeface="Times New Roman" panose="02020603050405020304" pitchFamily="18" charset="0"/>
                <a:cs typeface="Times New Roman" panose="02020603050405020304" pitchFamily="18" charset="0"/>
              </a:rPr>
              <a:t>p73</a:t>
            </a:r>
            <a:endParaRPr sz="1800" dirty="0">
              <a:latin typeface="Times New Roman" panose="02020603050405020304" pitchFamily="18" charset="0"/>
              <a:cs typeface="Times New Roman" panose="02020603050405020304" pitchFamily="18" charset="0"/>
            </a:endParaRPr>
          </a:p>
        </p:txBody>
      </p:sp>
      <p:grpSp>
        <p:nvGrpSpPr>
          <p:cNvPr id="20" name="组合 19"/>
          <p:cNvGrpSpPr/>
          <p:nvPr/>
        </p:nvGrpSpPr>
        <p:grpSpPr>
          <a:xfrm>
            <a:off x="1591524" y="1503363"/>
            <a:ext cx="8501583" cy="4332604"/>
            <a:chOff x="1219200" y="1465263"/>
            <a:chExt cx="8501583" cy="4332604"/>
          </a:xfrm>
        </p:grpSpPr>
        <p:sp>
          <p:nvSpPr>
            <p:cNvPr id="4" name="object 4"/>
            <p:cNvSpPr/>
            <p:nvPr/>
          </p:nvSpPr>
          <p:spPr>
            <a:xfrm>
              <a:off x="1219200" y="1465263"/>
              <a:ext cx="8467192" cy="4292598"/>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 name="object 5"/>
            <p:cNvSpPr txBox="1"/>
            <p:nvPr/>
          </p:nvSpPr>
          <p:spPr>
            <a:xfrm>
              <a:off x="4589142" y="2760663"/>
              <a:ext cx="2134235" cy="336631"/>
            </a:xfrm>
            <a:prstGeom prst="rect">
              <a:avLst/>
            </a:prstGeom>
            <a:solidFill>
              <a:srgbClr val="FFFFFF"/>
            </a:solidFill>
          </p:spPr>
          <p:txBody>
            <a:bodyPr vert="horz" wrap="square" lIns="0" tIns="59055" rIns="0" bIns="0" rtlCol="0">
              <a:spAutoFit/>
            </a:bodyPr>
            <a:lstStyle/>
            <a:p>
              <a:pPr marL="611505">
                <a:lnSpc>
                  <a:spcPct val="100000"/>
                </a:lnSpc>
                <a:spcBef>
                  <a:spcPts val="465"/>
                </a:spcBef>
              </a:pPr>
              <a:r>
                <a:rPr sz="1800" dirty="0">
                  <a:solidFill>
                    <a:srgbClr val="FF3300"/>
                  </a:solidFill>
                  <a:latin typeface="微软雅黑" panose="020B0503020204020204" pitchFamily="34" charset="-122"/>
                  <a:ea typeface="微软雅黑" panose="020B0503020204020204" pitchFamily="34" charset="-122"/>
                  <a:cs typeface="Arial Unicode MS"/>
                </a:rPr>
                <a:t>主题世界</a:t>
              </a:r>
              <a:endParaRPr sz="1800">
                <a:latin typeface="微软雅黑" panose="020B0503020204020204" pitchFamily="34" charset="-122"/>
                <a:ea typeface="微软雅黑" panose="020B0503020204020204" pitchFamily="34" charset="-122"/>
                <a:cs typeface="Arial Unicode MS"/>
              </a:endParaRPr>
            </a:p>
          </p:txBody>
        </p:sp>
        <p:sp>
          <p:nvSpPr>
            <p:cNvPr id="6" name="object 6"/>
            <p:cNvSpPr/>
            <p:nvPr/>
          </p:nvSpPr>
          <p:spPr>
            <a:xfrm>
              <a:off x="7891348" y="3989388"/>
              <a:ext cx="1829435" cy="367030"/>
            </a:xfrm>
            <a:custGeom>
              <a:avLst/>
              <a:gdLst/>
              <a:ahLst/>
              <a:cxnLst/>
              <a:rect l="l" t="t" r="r" b="b"/>
              <a:pathLst>
                <a:path w="1829434" h="367029">
                  <a:moveTo>
                    <a:pt x="0" y="0"/>
                  </a:moveTo>
                  <a:lnTo>
                    <a:pt x="1828913" y="0"/>
                  </a:lnTo>
                  <a:lnTo>
                    <a:pt x="1828913" y="366711"/>
                  </a:lnTo>
                  <a:lnTo>
                    <a:pt x="0" y="366711"/>
                  </a:lnTo>
                  <a:lnTo>
                    <a:pt x="0" y="0"/>
                  </a:lnTo>
                  <a:close/>
                </a:path>
              </a:pathLst>
            </a:custGeom>
            <a:solidFill>
              <a:srgbClr val="FFFFFF"/>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 name="object 7"/>
            <p:cNvSpPr txBox="1"/>
            <p:nvPr/>
          </p:nvSpPr>
          <p:spPr>
            <a:xfrm>
              <a:off x="8338387" y="4036124"/>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3300"/>
                  </a:solidFill>
                  <a:latin typeface="微软雅黑" panose="020B0503020204020204" pitchFamily="34" charset="-122"/>
                  <a:ea typeface="微软雅黑" panose="020B0503020204020204" pitchFamily="34" charset="-122"/>
                  <a:cs typeface="Arial Unicode MS"/>
                </a:rPr>
                <a:t>系统世界</a:t>
              </a:r>
              <a:endParaRPr sz="1800">
                <a:latin typeface="微软雅黑" panose="020B0503020204020204" pitchFamily="34" charset="-122"/>
                <a:ea typeface="微软雅黑" panose="020B0503020204020204" pitchFamily="34" charset="-122"/>
                <a:cs typeface="Arial Unicode MS"/>
              </a:endParaRPr>
            </a:p>
          </p:txBody>
        </p:sp>
        <p:sp>
          <p:nvSpPr>
            <p:cNvPr id="8" name="object 8"/>
            <p:cNvSpPr/>
            <p:nvPr/>
          </p:nvSpPr>
          <p:spPr>
            <a:xfrm>
              <a:off x="4572208" y="5427662"/>
              <a:ext cx="2421890" cy="370205"/>
            </a:xfrm>
            <a:custGeom>
              <a:avLst/>
              <a:gdLst/>
              <a:ahLst/>
              <a:cxnLst/>
              <a:rect l="l" t="t" r="r" b="b"/>
              <a:pathLst>
                <a:path w="2421890" h="370204">
                  <a:moveTo>
                    <a:pt x="0" y="0"/>
                  </a:moveTo>
                  <a:lnTo>
                    <a:pt x="2421616" y="0"/>
                  </a:lnTo>
                  <a:lnTo>
                    <a:pt x="2421616" y="369887"/>
                  </a:lnTo>
                  <a:lnTo>
                    <a:pt x="0" y="369887"/>
                  </a:lnTo>
                  <a:lnTo>
                    <a:pt x="0" y="0"/>
                  </a:lnTo>
                  <a:close/>
                </a:path>
              </a:pathLst>
            </a:custGeom>
            <a:solidFill>
              <a:srgbClr val="FFFFFF"/>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9" name="object 9"/>
            <p:cNvSpPr txBox="1"/>
            <p:nvPr/>
          </p:nvSpPr>
          <p:spPr>
            <a:xfrm>
              <a:off x="5316110" y="5474398"/>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3300"/>
                  </a:solidFill>
                  <a:latin typeface="微软雅黑" panose="020B0503020204020204" pitchFamily="34" charset="-122"/>
                  <a:ea typeface="微软雅黑" panose="020B0503020204020204" pitchFamily="34" charset="-122"/>
                  <a:cs typeface="Arial Unicode MS"/>
                </a:rPr>
                <a:t>开发世界</a:t>
              </a:r>
              <a:endParaRPr sz="1800">
                <a:latin typeface="微软雅黑" panose="020B0503020204020204" pitchFamily="34" charset="-122"/>
                <a:ea typeface="微软雅黑" panose="020B0503020204020204" pitchFamily="34" charset="-122"/>
                <a:cs typeface="Arial Unicode MS"/>
              </a:endParaRPr>
            </a:p>
          </p:txBody>
        </p:sp>
        <p:sp>
          <p:nvSpPr>
            <p:cNvPr id="10" name="object 10"/>
            <p:cNvSpPr txBox="1"/>
            <p:nvPr/>
          </p:nvSpPr>
          <p:spPr>
            <a:xfrm>
              <a:off x="1574821" y="4117975"/>
              <a:ext cx="1626235" cy="336631"/>
            </a:xfrm>
            <a:prstGeom prst="rect">
              <a:avLst/>
            </a:prstGeom>
            <a:solidFill>
              <a:srgbClr val="FFFFFF"/>
            </a:solidFill>
          </p:spPr>
          <p:txBody>
            <a:bodyPr vert="horz" wrap="square" lIns="0" tIns="59055" rIns="0" bIns="0" rtlCol="0">
              <a:spAutoFit/>
            </a:bodyPr>
            <a:lstStyle/>
            <a:p>
              <a:pPr marL="357505">
                <a:lnSpc>
                  <a:spcPct val="100000"/>
                </a:lnSpc>
                <a:spcBef>
                  <a:spcPts val="465"/>
                </a:spcBef>
              </a:pPr>
              <a:r>
                <a:rPr lang="zh-CN" altLang="en-US" sz="1800" dirty="0">
                  <a:solidFill>
                    <a:srgbClr val="FF3300"/>
                  </a:solidFill>
                  <a:latin typeface="微软雅黑" panose="020B0503020204020204" pitchFamily="34" charset="-122"/>
                  <a:ea typeface="微软雅黑" panose="020B0503020204020204" pitchFamily="34" charset="-122"/>
                  <a:cs typeface="Arial Unicode MS"/>
                </a:rPr>
                <a:t>应用世界</a:t>
              </a:r>
              <a:endParaRPr sz="1800" dirty="0">
                <a:latin typeface="微软雅黑" panose="020B0503020204020204" pitchFamily="34" charset="-122"/>
                <a:ea typeface="微软雅黑" panose="020B0503020204020204" pitchFamily="34" charset="-122"/>
                <a:cs typeface="Arial Unicode MS"/>
              </a:endParaRPr>
            </a:p>
          </p:txBody>
        </p:sp>
        <p:sp>
          <p:nvSpPr>
            <p:cNvPr id="11" name="object 11"/>
            <p:cNvSpPr txBox="1"/>
            <p:nvPr/>
          </p:nvSpPr>
          <p:spPr>
            <a:xfrm>
              <a:off x="4792662" y="3287713"/>
              <a:ext cx="1625600" cy="336631"/>
            </a:xfrm>
            <a:prstGeom prst="rect">
              <a:avLst/>
            </a:prstGeom>
            <a:solidFill>
              <a:srgbClr val="FFFFFF"/>
            </a:solidFill>
          </p:spPr>
          <p:txBody>
            <a:bodyPr vert="horz" wrap="square" lIns="0" tIns="59055" rIns="0" bIns="0" rtlCol="0">
              <a:spAutoFit/>
            </a:bodyPr>
            <a:lstStyle/>
            <a:p>
              <a:pPr marL="5080" algn="ctr">
                <a:lnSpc>
                  <a:spcPct val="100000"/>
                </a:lnSpc>
                <a:spcBef>
                  <a:spcPts val="465"/>
                </a:spcBef>
              </a:pPr>
              <a:r>
                <a:rPr sz="1800" dirty="0" err="1">
                  <a:latin typeface="微软雅黑" panose="020B0503020204020204" pitchFamily="34" charset="-122"/>
                  <a:ea typeface="微软雅黑" panose="020B0503020204020204" pitchFamily="34" charset="-122"/>
                  <a:cs typeface="Arial Unicode MS"/>
                </a:rPr>
                <a:t>使用</a:t>
              </a:r>
              <a:endParaRPr sz="1800" dirty="0">
                <a:latin typeface="微软雅黑" panose="020B0503020204020204" pitchFamily="34" charset="-122"/>
                <a:ea typeface="微软雅黑" panose="020B0503020204020204" pitchFamily="34" charset="-122"/>
                <a:cs typeface="Arial Unicode MS"/>
              </a:endParaRPr>
            </a:p>
          </p:txBody>
        </p:sp>
        <p:sp>
          <p:nvSpPr>
            <p:cNvPr id="12" name="object 12"/>
            <p:cNvSpPr txBox="1"/>
            <p:nvPr/>
          </p:nvSpPr>
          <p:spPr>
            <a:xfrm>
              <a:off x="7602535" y="4808537"/>
              <a:ext cx="1371600" cy="336631"/>
            </a:xfrm>
            <a:prstGeom prst="rect">
              <a:avLst/>
            </a:prstGeom>
            <a:solidFill>
              <a:srgbClr val="FFFFFF"/>
            </a:solidFill>
          </p:spPr>
          <p:txBody>
            <a:bodyPr vert="horz" wrap="square" lIns="0" tIns="59055" rIns="0" bIns="0" rtlCol="0">
              <a:spAutoFit/>
            </a:bodyPr>
            <a:lstStyle/>
            <a:p>
              <a:pPr marL="459740">
                <a:lnSpc>
                  <a:spcPct val="100000"/>
                </a:lnSpc>
                <a:spcBef>
                  <a:spcPts val="465"/>
                </a:spcBef>
              </a:pPr>
              <a:r>
                <a:rPr sz="1800" dirty="0">
                  <a:latin typeface="微软雅黑" panose="020B0503020204020204" pitchFamily="34" charset="-122"/>
                  <a:ea typeface="微软雅黑" panose="020B0503020204020204" pitchFamily="34" charset="-122"/>
                  <a:cs typeface="Arial Unicode MS"/>
                </a:rPr>
                <a:t>构造</a:t>
              </a:r>
              <a:endParaRPr sz="1800">
                <a:latin typeface="微软雅黑" panose="020B0503020204020204" pitchFamily="34" charset="-122"/>
                <a:ea typeface="微软雅黑" panose="020B0503020204020204" pitchFamily="34" charset="-122"/>
                <a:cs typeface="Arial Unicode MS"/>
              </a:endParaRPr>
            </a:p>
          </p:txBody>
        </p:sp>
        <p:sp>
          <p:nvSpPr>
            <p:cNvPr id="13" name="object 13"/>
            <p:cNvSpPr txBox="1"/>
            <p:nvPr/>
          </p:nvSpPr>
          <p:spPr>
            <a:xfrm>
              <a:off x="2252662" y="4778375"/>
              <a:ext cx="1574800" cy="336631"/>
            </a:xfrm>
            <a:prstGeom prst="rect">
              <a:avLst/>
            </a:prstGeom>
            <a:solidFill>
              <a:srgbClr val="FFFFFF"/>
            </a:solidFill>
          </p:spPr>
          <p:txBody>
            <a:bodyPr vert="horz" wrap="square" lIns="0" tIns="59055" rIns="0" bIns="0" rtlCol="0">
              <a:spAutoFit/>
            </a:bodyPr>
            <a:lstStyle/>
            <a:p>
              <a:pPr marL="5080" algn="ctr">
                <a:lnSpc>
                  <a:spcPct val="100000"/>
                </a:lnSpc>
                <a:spcBef>
                  <a:spcPts val="465"/>
                </a:spcBef>
              </a:pPr>
              <a:r>
                <a:rPr sz="1800" dirty="0">
                  <a:latin typeface="微软雅黑" panose="020B0503020204020204" pitchFamily="34" charset="-122"/>
                  <a:ea typeface="微软雅黑" panose="020B0503020204020204" pitchFamily="34" charset="-122"/>
                  <a:cs typeface="Arial Unicode MS"/>
                </a:rPr>
                <a:t>委托</a:t>
              </a:r>
              <a:endParaRPr sz="1800">
                <a:latin typeface="微软雅黑" panose="020B0503020204020204" pitchFamily="34" charset="-122"/>
                <a:ea typeface="微软雅黑" panose="020B0503020204020204" pitchFamily="34" charset="-122"/>
                <a:cs typeface="Arial Unicode MS"/>
              </a:endParaRPr>
            </a:p>
          </p:txBody>
        </p:sp>
        <p:sp>
          <p:nvSpPr>
            <p:cNvPr id="14" name="object 14"/>
            <p:cNvSpPr txBox="1"/>
            <p:nvPr/>
          </p:nvSpPr>
          <p:spPr>
            <a:xfrm>
              <a:off x="1795462" y="1781175"/>
              <a:ext cx="1574800" cy="784225"/>
            </a:xfrm>
            <a:prstGeom prst="rect">
              <a:avLst/>
            </a:prstGeom>
            <a:solidFill>
              <a:srgbClr val="FFFFFF"/>
            </a:solidFill>
          </p:spPr>
          <p:txBody>
            <a:bodyPr vert="horz" wrap="square" lIns="0" tIns="0" rIns="0" bIns="0" rtlCol="0">
              <a:spAutoFit/>
            </a:bodyPr>
            <a:lstStyle/>
            <a:p>
              <a:pPr>
                <a:lnSpc>
                  <a:spcPct val="100000"/>
                </a:lnSpc>
              </a:pPr>
              <a:endParaRPr sz="1800">
                <a:latin typeface="微软雅黑" panose="020B0503020204020204" pitchFamily="34" charset="-122"/>
                <a:ea typeface="微软雅黑" panose="020B0503020204020204" pitchFamily="34" charset="-122"/>
                <a:cs typeface="Times New Roman" panose="02020603050405020304"/>
              </a:endParaRPr>
            </a:p>
            <a:p>
              <a:pPr marL="332105">
                <a:lnSpc>
                  <a:spcPct val="100000"/>
                </a:lnSpc>
                <a:spcBef>
                  <a:spcPts val="1575"/>
                </a:spcBef>
              </a:pPr>
              <a:r>
                <a:rPr sz="1800" dirty="0">
                  <a:latin typeface="微软雅黑" panose="020B0503020204020204" pitchFamily="34" charset="-122"/>
                  <a:ea typeface="微软雅黑" panose="020B0503020204020204" pitchFamily="34" charset="-122"/>
                  <a:cs typeface="Arial Unicode MS"/>
                </a:rPr>
                <a:t>获取信息</a:t>
              </a:r>
              <a:endParaRPr sz="1800">
                <a:latin typeface="微软雅黑" panose="020B0503020204020204" pitchFamily="34" charset="-122"/>
                <a:ea typeface="微软雅黑" panose="020B0503020204020204" pitchFamily="34" charset="-122"/>
                <a:cs typeface="Arial Unicode MS"/>
              </a:endParaRPr>
            </a:p>
          </p:txBody>
        </p:sp>
        <p:sp>
          <p:nvSpPr>
            <p:cNvPr id="15" name="object 15"/>
            <p:cNvSpPr txBox="1"/>
            <p:nvPr/>
          </p:nvSpPr>
          <p:spPr>
            <a:xfrm>
              <a:off x="7434262" y="1730376"/>
              <a:ext cx="1844675" cy="784225"/>
            </a:xfrm>
            <a:prstGeom prst="rect">
              <a:avLst/>
            </a:prstGeom>
            <a:solidFill>
              <a:srgbClr val="FFFFFF"/>
            </a:solidFill>
          </p:spPr>
          <p:txBody>
            <a:bodyPr vert="horz" wrap="square" lIns="0" tIns="0" rIns="0" bIns="0" rtlCol="0">
              <a:spAutoFit/>
            </a:bodyPr>
            <a:lstStyle/>
            <a:p>
              <a:pPr>
                <a:lnSpc>
                  <a:spcPct val="100000"/>
                </a:lnSpc>
              </a:pPr>
              <a:endParaRPr sz="1800">
                <a:latin typeface="微软雅黑" panose="020B0503020204020204" pitchFamily="34" charset="-122"/>
                <a:ea typeface="微软雅黑" panose="020B0503020204020204" pitchFamily="34" charset="-122"/>
                <a:cs typeface="Times New Roman" panose="02020603050405020304"/>
              </a:endParaRPr>
            </a:p>
            <a:p>
              <a:pPr marL="467360">
                <a:lnSpc>
                  <a:spcPct val="100000"/>
                </a:lnSpc>
                <a:spcBef>
                  <a:spcPts val="1575"/>
                </a:spcBef>
              </a:pPr>
              <a:r>
                <a:rPr sz="1800" dirty="0">
                  <a:latin typeface="微软雅黑" panose="020B0503020204020204" pitchFamily="34" charset="-122"/>
                  <a:ea typeface="微软雅黑" panose="020B0503020204020204" pitchFamily="34" charset="-122"/>
                  <a:cs typeface="Arial Unicode MS"/>
                </a:rPr>
                <a:t>维护信息</a:t>
              </a:r>
              <a:endParaRPr sz="1800">
                <a:latin typeface="微软雅黑" panose="020B0503020204020204" pitchFamily="34" charset="-122"/>
                <a:ea typeface="微软雅黑" panose="020B0503020204020204" pitchFamily="34" charset="-122"/>
                <a:cs typeface="Arial Unicode MS"/>
              </a:endParaRPr>
            </a:p>
          </p:txBody>
        </p:sp>
      </p:grpSp>
      <p:sp>
        <p:nvSpPr>
          <p:cNvPr id="19" name="标题 18"/>
          <p:cNvSpPr>
            <a:spLocks noGrp="1"/>
          </p:cNvSpPr>
          <p:nvPr>
            <p:ph type="title"/>
          </p:nvPr>
        </p:nvSpPr>
        <p:spPr/>
        <p:txBody>
          <a:bodyPr/>
          <a:lstStyle/>
          <a:p>
            <a:r>
              <a:rPr lang="zh-CN" altLang="en-US" spc="-5" dirty="0"/>
              <a:t>四世界模型</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25444"/>
    </mc:Choice>
    <mc:Fallback xmlns="">
      <p:transition spd="slow" advTm="12544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需求建模方法</a:t>
            </a:r>
          </a:p>
        </p:txBody>
      </p:sp>
      <p:sp>
        <p:nvSpPr>
          <p:cNvPr id="5" name="object 2"/>
          <p:cNvSpPr/>
          <p:nvPr/>
        </p:nvSpPr>
        <p:spPr>
          <a:xfrm>
            <a:off x="1816867" y="1938397"/>
            <a:ext cx="8558265" cy="3612011"/>
          </a:xfrm>
          <a:prstGeom prst="rect">
            <a:avLst/>
          </a:prstGeom>
          <a:blipFill>
            <a:blip r:embed="rId3" cstate="print"/>
            <a:stretch>
              <a:fillRect/>
            </a:stretch>
          </a:blipFill>
        </p:spPr>
        <p:txBody>
          <a:bodyPr wrap="square" lIns="0" tIns="0" rIns="0" bIns="0" rtlCol="0"/>
          <a:lstStyle/>
          <a:p>
            <a:endParaRPr/>
          </a:p>
        </p:txBody>
      </p:sp>
      <p:sp>
        <p:nvSpPr>
          <p:cNvPr id="3" name="灯片编号占位符 2"/>
          <p:cNvSpPr>
            <a:spLocks noGrp="1"/>
          </p:cNvSpPr>
          <p:nvPr>
            <p:ph type="sldNum" sz="quarter" idx="12"/>
          </p:nvPr>
        </p:nvSpPr>
        <p:spPr/>
        <p:txBody>
          <a:bodyPr/>
          <a:lstStyle/>
          <a:p>
            <a:fld id="{74D2AB8B-5816-41F2-8B4B-CA5C3E4E6A65}" type="slidenum">
              <a:rPr lang="zh-CN" altLang="en-US" smtClean="0"/>
              <a:t>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8317"/>
    </mc:Choice>
    <mc:Fallback xmlns="">
      <p:transition spd="slow" advTm="58317"/>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39800" y="1690688"/>
            <a:ext cx="10312400" cy="3195955"/>
          </a:xfrm>
          <a:prstGeom prst="rect">
            <a:avLst/>
          </a:prstGeom>
        </p:spPr>
        <p:txBody>
          <a:bodyPr vert="horz" wrap="square" lIns="0" tIns="12065" rIns="0" bIns="0" rtlCol="0">
            <a:spAutoFit/>
          </a:bodyPr>
          <a:lstStyle/>
          <a:p>
            <a:pPr marL="240665" marR="5080" indent="-228600">
              <a:lnSpc>
                <a:spcPct val="118000"/>
              </a:lnSpc>
              <a:spcBef>
                <a:spcPts val="95"/>
              </a:spcBef>
              <a:buFont typeface="Arial" panose="020B0604020202020204"/>
              <a:buChar char="•"/>
              <a:tabLst>
                <a:tab pos="241300" algn="l"/>
              </a:tabLst>
            </a:pPr>
            <a:r>
              <a:rPr sz="2400" dirty="0" err="1">
                <a:latin typeface="微软雅黑" panose="020B0503020204020204" pitchFamily="34" charset="-122"/>
                <a:ea typeface="微软雅黑" panose="020B0503020204020204" pitchFamily="34" charset="-122"/>
                <a:cs typeface="华文细黑" panose="02010600040101010101" charset="-122"/>
              </a:rPr>
              <a:t>对其需求工程活动的质量的保证。通过数学的形式化工具或工程化的测试</a:t>
            </a:r>
            <a:r>
              <a:rPr sz="2400" dirty="0">
                <a:latin typeface="微软雅黑" panose="020B0503020204020204" pitchFamily="34" charset="-122"/>
                <a:ea typeface="微软雅黑" panose="020B0503020204020204" pitchFamily="34" charset="-122"/>
                <a:cs typeface="华文细黑" panose="02010600040101010101" charset="-122"/>
              </a:rPr>
              <a:t> 过程来确保系统满足干系人的要求。</a:t>
            </a:r>
          </a:p>
          <a:p>
            <a:pPr marL="241300" indent="-228600">
              <a:lnSpc>
                <a:spcPct val="100000"/>
              </a:lnSpc>
              <a:spcBef>
                <a:spcPts val="1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验证方法</a:t>
            </a:r>
          </a:p>
          <a:p>
            <a:pPr marL="698500" lvl="1" indent="-228600">
              <a:lnSpc>
                <a:spcPct val="100000"/>
              </a:lnSpc>
              <a:spcBef>
                <a:spcPts val="94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评审</a:t>
            </a:r>
            <a:r>
              <a:rPr sz="2000" spc="-5" dirty="0">
                <a:latin typeface="微软雅黑" panose="020B0503020204020204" pitchFamily="34" charset="-122"/>
                <a:ea typeface="微软雅黑" panose="020B0503020204020204" pitchFamily="34" charset="-122"/>
                <a:cs typeface="华文细黑" panose="02010600040101010101" charset="-122"/>
              </a:rPr>
              <a:t>（Review）</a:t>
            </a:r>
            <a:endParaRPr sz="2000" dirty="0">
              <a:latin typeface="微软雅黑" panose="020B0503020204020204" pitchFamily="34" charset="-122"/>
              <a:ea typeface="微软雅黑" panose="020B0503020204020204" pitchFamily="34" charset="-122"/>
              <a:cs typeface="华文细黑" panose="02010600040101010101" charset="-122"/>
            </a:endParaRP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原型化</a:t>
            </a:r>
            <a:r>
              <a:rPr sz="2000" spc="-5" dirty="0">
                <a:latin typeface="微软雅黑" panose="020B0503020204020204" pitchFamily="34" charset="-122"/>
                <a:ea typeface="微软雅黑" panose="020B0503020204020204" pitchFamily="34" charset="-122"/>
                <a:cs typeface="华文细黑" panose="02010600040101010101" charset="-122"/>
              </a:rPr>
              <a:t>（Prototyping）</a:t>
            </a:r>
            <a:endParaRPr sz="2000" dirty="0">
              <a:latin typeface="微软雅黑" panose="020B0503020204020204" pitchFamily="34" charset="-122"/>
              <a:ea typeface="微软雅黑" panose="020B0503020204020204" pitchFamily="34" charset="-122"/>
              <a:cs typeface="华文细黑" panose="02010600040101010101" charset="-122"/>
            </a:endParaRP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模型验证（Model</a:t>
            </a:r>
            <a:r>
              <a:rPr sz="2000" spc="-5" dirty="0">
                <a:latin typeface="微软雅黑" panose="020B0503020204020204" pitchFamily="34" charset="-122"/>
                <a:ea typeface="微软雅黑" panose="020B0503020204020204" pitchFamily="34" charset="-122"/>
                <a:cs typeface="华文细黑" panose="02010600040101010101" charset="-122"/>
              </a:rPr>
              <a:t> validation）</a:t>
            </a:r>
            <a:endParaRPr sz="2000" dirty="0">
              <a:latin typeface="微软雅黑" panose="020B0503020204020204" pitchFamily="34" charset="-122"/>
              <a:ea typeface="微软雅黑" panose="020B0503020204020204" pitchFamily="34" charset="-122"/>
              <a:cs typeface="华文细黑" panose="02010600040101010101" charset="-122"/>
            </a:endParaRP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确认测试（Acceptance</a:t>
            </a:r>
            <a:r>
              <a:rPr sz="2000" spc="-5" dirty="0">
                <a:latin typeface="微软雅黑" panose="020B0503020204020204" pitchFamily="34" charset="-122"/>
                <a:ea typeface="微软雅黑" panose="020B0503020204020204" pitchFamily="34" charset="-122"/>
                <a:cs typeface="华文细黑" panose="02010600040101010101" charset="-122"/>
              </a:rPr>
              <a:t> Tests）</a:t>
            </a:r>
            <a:endParaRPr sz="2000" dirty="0">
              <a:latin typeface="微软雅黑" panose="020B0503020204020204" pitchFamily="34" charset="-122"/>
              <a:ea typeface="微软雅黑" panose="020B0503020204020204" pitchFamily="34" charset="-122"/>
              <a:cs typeface="华文细黑" panose="02010600040101010101" charset="-122"/>
            </a:endParaRPr>
          </a:p>
        </p:txBody>
      </p:sp>
      <p:sp>
        <p:nvSpPr>
          <p:cNvPr id="4" name="object 4"/>
          <p:cNvSpPr/>
          <p:nvPr/>
        </p:nvSpPr>
        <p:spPr>
          <a:xfrm>
            <a:off x="7026273" y="2206626"/>
            <a:ext cx="3940173" cy="4146549"/>
          </a:xfrm>
          <a:prstGeom prst="rect">
            <a:avLst/>
          </a:prstGeom>
          <a:blipFill>
            <a:blip r:embed="rId3" cstate="print"/>
            <a:stretch>
              <a:fillRect/>
            </a:stretch>
          </a:blipFill>
        </p:spPr>
        <p:txBody>
          <a:bodyPr wrap="square" lIns="0" tIns="0" rIns="0" bIns="0" rtlCol="0"/>
          <a:lstStyle/>
          <a:p>
            <a:endParaRPr/>
          </a:p>
        </p:txBody>
      </p:sp>
      <p:sp>
        <p:nvSpPr>
          <p:cNvPr id="7" name="标题 6"/>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需求验证</a:t>
            </a:r>
          </a:p>
        </p:txBody>
      </p:sp>
      <p:sp>
        <p:nvSpPr>
          <p:cNvPr id="5" name="灯片编号占位符 4"/>
          <p:cNvSpPr>
            <a:spLocks noGrp="1"/>
          </p:cNvSpPr>
          <p:nvPr>
            <p:ph type="sldNum" sz="quarter" idx="12"/>
          </p:nvPr>
        </p:nvSpPr>
        <p:spPr/>
        <p:txBody>
          <a:bodyPr/>
          <a:lstStyle/>
          <a:p>
            <a:fld id="{74D2AB8B-5816-41F2-8B4B-CA5C3E4E6A65}" type="slidenum">
              <a:rPr lang="zh-CN" altLang="en-US" smtClean="0"/>
              <a:t>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170"/>
    </mc:Choice>
    <mc:Fallback xmlns="">
      <p:transition spd="slow" advTm="3017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需求验证方法</a:t>
            </a:r>
          </a:p>
        </p:txBody>
      </p:sp>
      <p:sp>
        <p:nvSpPr>
          <p:cNvPr id="6" name="object 2"/>
          <p:cNvSpPr/>
          <p:nvPr/>
        </p:nvSpPr>
        <p:spPr>
          <a:xfrm>
            <a:off x="2335821" y="1690688"/>
            <a:ext cx="7520358" cy="4434530"/>
          </a:xfrm>
          <a:prstGeom prst="rect">
            <a:avLst/>
          </a:prstGeom>
          <a:blipFill>
            <a:blip r:embed="rId3" cstate="print"/>
            <a:stretch>
              <a:fillRect/>
            </a:stretch>
          </a:blipFill>
        </p:spPr>
        <p:txBody>
          <a:bodyPr wrap="square" lIns="0" tIns="0" rIns="0" bIns="0" rtlCol="0"/>
          <a:lstStyle/>
          <a:p>
            <a:endParaRPr/>
          </a:p>
        </p:txBody>
      </p:sp>
      <p:sp>
        <p:nvSpPr>
          <p:cNvPr id="3" name="灯片编号占位符 2"/>
          <p:cNvSpPr>
            <a:spLocks noGrp="1"/>
          </p:cNvSpPr>
          <p:nvPr>
            <p:ph type="sldNum" sz="quarter" idx="12"/>
          </p:nvPr>
        </p:nvSpPr>
        <p:spPr/>
        <p:txBody>
          <a:bodyPr/>
          <a:lstStyle/>
          <a:p>
            <a:fld id="{74D2AB8B-5816-41F2-8B4B-CA5C3E4E6A65}" type="slidenum">
              <a:rPr lang="zh-CN" altLang="en-US" smtClean="0"/>
              <a:t>10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293"/>
    </mc:Choice>
    <mc:Fallback xmlns="">
      <p:transition spd="slow" advTm="30293"/>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1599486"/>
            <a:ext cx="10236200" cy="4025900"/>
          </a:xfrm>
          <a:prstGeom prst="rect">
            <a:avLst/>
          </a:prstGeom>
        </p:spPr>
        <p:txBody>
          <a:bodyPr vert="horz" wrap="square" lIns="0" tIns="12065" rIns="0" bIns="0" rtlCol="0">
            <a:spAutoFit/>
          </a:bodyPr>
          <a:lstStyle/>
          <a:p>
            <a:pPr marL="12700" marR="157480">
              <a:lnSpc>
                <a:spcPct val="118000"/>
              </a:lnSpc>
              <a:spcBef>
                <a:spcPts val="95"/>
              </a:spcBef>
            </a:pPr>
            <a:r>
              <a:rPr sz="2400" dirty="0">
                <a:latin typeface="微软雅黑" panose="020B0503020204020204" pitchFamily="34" charset="-122"/>
                <a:ea typeface="微软雅黑" panose="020B0503020204020204" pitchFamily="34" charset="-122"/>
                <a:cs typeface="华文细黑" panose="02010600040101010101" charset="-122"/>
              </a:rPr>
              <a:t>贯穿从需求获取到软件系统下线的全过程。需求管理涉及软件配置管理、需 求跟踪、影响分析和版本控制</a:t>
            </a:r>
          </a:p>
          <a:p>
            <a:pPr marL="241300" indent="-228600">
              <a:lnSpc>
                <a:spcPct val="100000"/>
              </a:lnSpc>
              <a:spcBef>
                <a:spcPts val="1620"/>
              </a:spcBef>
              <a:buClr>
                <a:srgbClr val="FF0000"/>
              </a:buClr>
              <a:buFont typeface="Arial" panose="020B0604020202020204"/>
              <a:buChar char="•"/>
              <a:tabLst>
                <a:tab pos="241300" algn="l"/>
              </a:tabLst>
            </a:pPr>
            <a:r>
              <a:rPr sz="2400" dirty="0">
                <a:solidFill>
                  <a:srgbClr val="FF2600"/>
                </a:solidFill>
                <a:latin typeface="微软雅黑" panose="020B0503020204020204" pitchFamily="34" charset="-122"/>
                <a:ea typeface="微软雅黑" panose="020B0503020204020204" pitchFamily="34" charset="-122"/>
                <a:cs typeface="华文细黑" panose="02010600040101010101" charset="-122"/>
              </a:rPr>
              <a:t>需求跟踪</a:t>
            </a:r>
            <a:r>
              <a:rPr sz="2400" spc="-5" dirty="0">
                <a:solidFill>
                  <a:srgbClr val="FF2600"/>
                </a:solidFill>
                <a:latin typeface="微软雅黑" panose="020B0503020204020204" pitchFamily="34" charset="-122"/>
                <a:ea typeface="微软雅黑" panose="020B0503020204020204" pitchFamily="34" charset="-122"/>
                <a:cs typeface="华文细黑" panose="02010600040101010101" charset="-122"/>
              </a:rPr>
              <a:t> </a:t>
            </a:r>
            <a:r>
              <a:rPr sz="2400" dirty="0">
                <a:latin typeface="微软雅黑" panose="020B0503020204020204" pitchFamily="34" charset="-122"/>
                <a:ea typeface="微软雅黑" panose="020B0503020204020204" pitchFamily="34" charset="-122"/>
                <a:cs typeface="华文细黑" panose="02010600040101010101" charset="-122"/>
              </a:rPr>
              <a:t>（Requirements </a:t>
            </a:r>
            <a:r>
              <a:rPr sz="2400" spc="-5" dirty="0">
                <a:latin typeface="微软雅黑" panose="020B0503020204020204" pitchFamily="34" charset="-122"/>
                <a:ea typeface="微软雅黑" panose="020B0503020204020204" pitchFamily="34" charset="-122"/>
                <a:cs typeface="华文细黑" panose="02010600040101010101" charset="-122"/>
              </a:rPr>
              <a:t>traceability）</a:t>
            </a:r>
            <a:endParaRPr sz="2400" dirty="0">
              <a:latin typeface="微软雅黑" panose="020B0503020204020204" pitchFamily="34" charset="-122"/>
              <a:ea typeface="微软雅黑" panose="020B0503020204020204" pitchFamily="34" charset="-122"/>
              <a:cs typeface="华文细黑" panose="02010600040101010101" charset="-122"/>
            </a:endParaRPr>
          </a:p>
          <a:p>
            <a:pPr marL="469900" marR="5080">
              <a:lnSpc>
                <a:spcPct val="122000"/>
              </a:lnSpc>
              <a:spcBef>
                <a:spcPts val="405"/>
              </a:spcBef>
            </a:pPr>
            <a:r>
              <a:rPr sz="2400" dirty="0">
                <a:latin typeface="微软雅黑" panose="020B0503020204020204" pitchFamily="34" charset="-122"/>
                <a:ea typeface="微软雅黑" panose="020B0503020204020204" pitchFamily="34" charset="-122"/>
                <a:cs typeface="华文细黑" panose="02010600040101010101" charset="-122"/>
              </a:rPr>
              <a:t>描述和追踪一条需求的来龙去脉的能力，包括向前追踪到软件制品，向后 追踪到需求来源</a:t>
            </a:r>
          </a:p>
          <a:p>
            <a:pPr marL="241300" marR="4850765" indent="-241300">
              <a:lnSpc>
                <a:spcPct val="139000"/>
              </a:lnSpc>
              <a:spcBef>
                <a:spcPts val="400"/>
              </a:spcBef>
              <a:buClr>
                <a:srgbClr val="FF0000"/>
              </a:buClr>
              <a:buFont typeface="Arial" panose="020B0604020202020204"/>
              <a:buChar char="•"/>
              <a:tabLst>
                <a:tab pos="241300" algn="l"/>
              </a:tabLst>
            </a:pPr>
            <a:r>
              <a:rPr sz="2400" dirty="0">
                <a:solidFill>
                  <a:srgbClr val="FF2600"/>
                </a:solidFill>
                <a:latin typeface="微软雅黑" panose="020B0503020204020204" pitchFamily="34" charset="-122"/>
                <a:ea typeface="微软雅黑" panose="020B0503020204020204" pitchFamily="34" charset="-122"/>
                <a:cs typeface="华文细黑" panose="02010600040101010101" charset="-122"/>
              </a:rPr>
              <a:t>变更请求管理</a:t>
            </a:r>
            <a:r>
              <a:rPr sz="2400" spc="-30" dirty="0">
                <a:solidFill>
                  <a:srgbClr val="FF2600"/>
                </a:solidFill>
                <a:latin typeface="微软雅黑" panose="020B0503020204020204" pitchFamily="34" charset="-122"/>
                <a:ea typeface="微软雅黑" panose="020B0503020204020204" pitchFamily="34" charset="-122"/>
                <a:cs typeface="华文细黑" panose="02010600040101010101" charset="-122"/>
              </a:rPr>
              <a:t> </a:t>
            </a:r>
            <a:r>
              <a:rPr sz="2400" dirty="0">
                <a:latin typeface="微软雅黑" panose="020B0503020204020204" pitchFamily="34" charset="-122"/>
                <a:ea typeface="微软雅黑" panose="020B0503020204020204" pitchFamily="34" charset="-122"/>
                <a:cs typeface="华文细黑" panose="02010600040101010101" charset="-122"/>
              </a:rPr>
              <a:t>（Change</a:t>
            </a:r>
            <a:r>
              <a:rPr sz="2400" spc="-30" dirty="0">
                <a:latin typeface="微软雅黑" panose="020B0503020204020204" pitchFamily="34" charset="-122"/>
                <a:ea typeface="微软雅黑" panose="020B0503020204020204" pitchFamily="34" charset="-122"/>
                <a:cs typeface="华文细黑" panose="02010600040101010101" charset="-122"/>
              </a:rPr>
              <a:t> </a:t>
            </a:r>
            <a:r>
              <a:rPr sz="2400" spc="-5" dirty="0">
                <a:latin typeface="微软雅黑" panose="020B0503020204020204" pitchFamily="34" charset="-122"/>
                <a:ea typeface="微软雅黑" panose="020B0503020204020204" pitchFamily="34" charset="-122"/>
                <a:cs typeface="华文细黑" panose="02010600040101010101" charset="-122"/>
              </a:rPr>
              <a:t>Requests）  </a:t>
            </a:r>
            <a:r>
              <a:rPr sz="2400" dirty="0">
                <a:latin typeface="微软雅黑" panose="020B0503020204020204" pitchFamily="34" charset="-122"/>
                <a:ea typeface="微软雅黑" panose="020B0503020204020204" pitchFamily="34" charset="-122"/>
                <a:cs typeface="华文细黑" panose="02010600040101010101" charset="-122"/>
              </a:rPr>
              <a:t>系统化的变更管理</a:t>
            </a:r>
          </a:p>
          <a:p>
            <a:pPr marL="241300" indent="-228600">
              <a:lnSpc>
                <a:spcPct val="100000"/>
              </a:lnSpc>
              <a:spcBef>
                <a:spcPts val="1520"/>
              </a:spcBef>
              <a:buClr>
                <a:srgbClr val="FF0000"/>
              </a:buClr>
              <a:buFont typeface="Arial" panose="020B0604020202020204"/>
              <a:buChar char="•"/>
              <a:tabLst>
                <a:tab pos="241300" algn="l"/>
              </a:tabLst>
            </a:pPr>
            <a:r>
              <a:rPr sz="2400" dirty="0">
                <a:solidFill>
                  <a:srgbClr val="FF2600"/>
                </a:solidFill>
                <a:latin typeface="微软雅黑" panose="020B0503020204020204" pitchFamily="34" charset="-122"/>
                <a:ea typeface="微软雅黑" panose="020B0503020204020204" pitchFamily="34" charset="-122"/>
                <a:cs typeface="华文细黑" panose="02010600040101010101" charset="-122"/>
              </a:rPr>
              <a:t>需求属性管理</a:t>
            </a:r>
            <a:r>
              <a:rPr sz="2400" spc="-5" dirty="0">
                <a:solidFill>
                  <a:srgbClr val="FF2600"/>
                </a:solidFill>
                <a:latin typeface="微软雅黑" panose="020B0503020204020204" pitchFamily="34" charset="-122"/>
                <a:ea typeface="微软雅黑" panose="020B0503020204020204" pitchFamily="34" charset="-122"/>
                <a:cs typeface="华文细黑" panose="02010600040101010101" charset="-122"/>
              </a:rPr>
              <a:t> </a:t>
            </a:r>
            <a:r>
              <a:rPr sz="2400" dirty="0">
                <a:latin typeface="微软雅黑" panose="020B0503020204020204" pitchFamily="34" charset="-122"/>
                <a:ea typeface="微软雅黑" panose="020B0503020204020204" pitchFamily="34" charset="-122"/>
                <a:cs typeface="华文细黑" panose="02010600040101010101" charset="-122"/>
              </a:rPr>
              <a:t>（Requirements </a:t>
            </a:r>
            <a:r>
              <a:rPr sz="2400" spc="-5" dirty="0">
                <a:latin typeface="微软雅黑" panose="020B0503020204020204" pitchFamily="34" charset="-122"/>
                <a:ea typeface="微软雅黑" panose="020B0503020204020204" pitchFamily="34" charset="-122"/>
                <a:cs typeface="华文细黑" panose="02010600040101010101" charset="-122"/>
              </a:rPr>
              <a:t>attributes）</a:t>
            </a:r>
            <a:endParaRPr sz="2400" dirty="0">
              <a:latin typeface="微软雅黑" panose="020B0503020204020204" pitchFamily="34" charset="-122"/>
              <a:ea typeface="微软雅黑" panose="020B0503020204020204" pitchFamily="34" charset="-122"/>
              <a:cs typeface="华文细黑" panose="02010600040101010101" charset="-122"/>
            </a:endParaRPr>
          </a:p>
        </p:txBody>
      </p:sp>
      <p:sp>
        <p:nvSpPr>
          <p:cNvPr id="4" name="object 4"/>
          <p:cNvSpPr/>
          <p:nvPr/>
        </p:nvSpPr>
        <p:spPr>
          <a:xfrm>
            <a:off x="7105653" y="3701336"/>
            <a:ext cx="3968747" cy="2646362"/>
          </a:xfrm>
          <a:prstGeom prst="rect">
            <a:avLst/>
          </a:prstGeom>
          <a:blipFill>
            <a:blip r:embed="rId3" cstate="print"/>
            <a:stretch>
              <a:fillRect/>
            </a:stretch>
          </a:blipFill>
        </p:spPr>
        <p:txBody>
          <a:bodyPr wrap="square" lIns="0" tIns="0" rIns="0" bIns="0" rtlCol="0"/>
          <a:lstStyle/>
          <a:p>
            <a:endParaRPr/>
          </a:p>
        </p:txBody>
      </p:sp>
      <p:sp>
        <p:nvSpPr>
          <p:cNvPr id="7" name="标题 6"/>
          <p:cNvSpPr>
            <a:spLocks noGrp="1"/>
          </p:cNvSpPr>
          <p:nvPr>
            <p:ph type="title"/>
          </p:nvPr>
        </p:nvSpPr>
        <p:spPr/>
        <p:txBody>
          <a:bodyPr/>
          <a:lstStyle/>
          <a:p>
            <a:r>
              <a:rPr lang="zh-CN" altLang="en-US" spc="-5" dirty="0"/>
              <a:t>需求管理</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11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79657"/>
    </mc:Choice>
    <mc:Fallback xmlns="">
      <p:transition spd="slow" advTm="79657"/>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1310323"/>
            <a:ext cx="8432800" cy="1295400"/>
          </a:xfrm>
          <a:prstGeom prst="rect">
            <a:avLst/>
          </a:prstGeom>
        </p:spPr>
        <p:txBody>
          <a:bodyPr vert="horz" wrap="square" lIns="0" tIns="220980" rIns="0" bIns="0" rtlCol="0">
            <a:spAutoFit/>
          </a:bodyPr>
          <a:lstStyle/>
          <a:p>
            <a:pPr marL="241300" indent="-228600">
              <a:lnSpc>
                <a:spcPct val="100000"/>
              </a:lnSpc>
              <a:spcBef>
                <a:spcPts val="17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细黑" panose="02010600040101010101" charset="-122"/>
              </a:rPr>
              <a:t>需求定义过程中，客户与干系人的参与是至关重要的</a:t>
            </a:r>
          </a:p>
          <a:p>
            <a:pPr marL="241300" indent="-228600">
              <a:lnSpc>
                <a:spcPct val="100000"/>
              </a:lnSpc>
              <a:spcBef>
                <a:spcPts val="1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细黑" panose="02010600040101010101" charset="-122"/>
              </a:rPr>
              <a:t>不明确的需求定义及随意的需求变更会产生以下问题</a:t>
            </a:r>
          </a:p>
        </p:txBody>
      </p:sp>
      <p:sp>
        <p:nvSpPr>
          <p:cNvPr id="4" name="object 4"/>
          <p:cNvSpPr txBox="1"/>
          <p:nvPr/>
        </p:nvSpPr>
        <p:spPr>
          <a:xfrm>
            <a:off x="1333500" y="2844955"/>
            <a:ext cx="3810000" cy="2895600"/>
          </a:xfrm>
          <a:prstGeom prst="rect">
            <a:avLst/>
          </a:prstGeom>
        </p:spPr>
        <p:txBody>
          <a:bodyPr vert="horz" wrap="square" lIns="0" tIns="157480" rIns="0" bIns="0" rtlCol="0">
            <a:spAutoFit/>
          </a:bodyPr>
          <a:lstStyle/>
          <a:p>
            <a:pPr marL="241300" indent="-228600">
              <a:lnSpc>
                <a:spcPct val="100000"/>
              </a:lnSpc>
              <a:spcBef>
                <a:spcPts val="1240"/>
              </a:spcBef>
              <a:buClr>
                <a:srgbClr val="1F4E79"/>
              </a:buClr>
              <a:buFont typeface="Arial" panose="020B0604020202020204"/>
              <a:buChar char="•"/>
              <a:tabLst>
                <a:tab pos="241300" algn="l"/>
              </a:tabLst>
            </a:pPr>
            <a:r>
              <a:rPr sz="2800" b="1" spc="-5" dirty="0">
                <a:solidFill>
                  <a:srgbClr val="27628C"/>
                </a:solidFill>
                <a:latin typeface="微软雅黑" panose="020B0503020204020204" pitchFamily="34" charset="-122"/>
                <a:ea typeface="微软雅黑" panose="020B0503020204020204" pitchFamily="34" charset="-122"/>
                <a:cs typeface="华文细黑" panose="02010600040101010101" charset="-122"/>
              </a:rPr>
              <a:t>客户不满、纠纷</a:t>
            </a:r>
            <a:endParaRPr sz="28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1140"/>
              </a:spcBef>
              <a:buClr>
                <a:srgbClr val="1F4E79"/>
              </a:buClr>
              <a:buFont typeface="Arial" panose="020B0604020202020204"/>
              <a:buChar char="•"/>
              <a:tabLst>
                <a:tab pos="241300" algn="l"/>
              </a:tabLst>
            </a:pPr>
            <a:r>
              <a:rPr sz="2800" b="1" spc="-5" dirty="0">
                <a:solidFill>
                  <a:srgbClr val="27628C"/>
                </a:solidFill>
                <a:latin typeface="微软雅黑" panose="020B0503020204020204" pitchFamily="34" charset="-122"/>
                <a:ea typeface="微软雅黑" panose="020B0503020204020204" pitchFamily="34" charset="-122"/>
                <a:cs typeface="华文细黑" panose="02010600040101010101" charset="-122"/>
              </a:rPr>
              <a:t>不切实际的估算、承诺</a:t>
            </a:r>
            <a:endParaRPr sz="28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1240"/>
              </a:spcBef>
              <a:buClr>
                <a:srgbClr val="1F4E79"/>
              </a:buClr>
              <a:buFont typeface="Arial" panose="020B0604020202020204"/>
              <a:buChar char="•"/>
              <a:tabLst>
                <a:tab pos="241300" algn="l"/>
              </a:tabLst>
            </a:pPr>
            <a:r>
              <a:rPr sz="2800" b="1" spc="-5" dirty="0">
                <a:solidFill>
                  <a:srgbClr val="27628C"/>
                </a:solidFill>
                <a:latin typeface="微软雅黑" panose="020B0503020204020204" pitchFamily="34" charset="-122"/>
                <a:ea typeface="微软雅黑" panose="020B0503020204020204" pitchFamily="34" charset="-122"/>
                <a:cs typeface="华文细黑" panose="02010600040101010101" charset="-122"/>
              </a:rPr>
              <a:t>项目延期、超支</a:t>
            </a:r>
            <a:endParaRPr sz="28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1140"/>
              </a:spcBef>
              <a:buClr>
                <a:srgbClr val="1F4E79"/>
              </a:buClr>
              <a:buFont typeface="Arial" panose="020B0604020202020204"/>
              <a:buChar char="•"/>
              <a:tabLst>
                <a:tab pos="241300" algn="l"/>
              </a:tabLst>
            </a:pPr>
            <a:r>
              <a:rPr sz="2800" b="1" spc="-5" dirty="0">
                <a:solidFill>
                  <a:srgbClr val="27628C"/>
                </a:solidFill>
                <a:latin typeface="微软雅黑" panose="020B0503020204020204" pitchFamily="34" charset="-122"/>
                <a:ea typeface="微软雅黑" panose="020B0503020204020204" pitchFamily="34" charset="-122"/>
                <a:cs typeface="华文细黑" panose="02010600040101010101" charset="-122"/>
              </a:rPr>
              <a:t>项目结束遥遥无期</a:t>
            </a:r>
            <a:endParaRPr sz="28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1140"/>
              </a:spcBef>
              <a:buClr>
                <a:srgbClr val="1F4E79"/>
              </a:buClr>
              <a:buFont typeface="Arial" panose="020B0604020202020204"/>
              <a:buChar char="•"/>
              <a:tabLst>
                <a:tab pos="241300" algn="l"/>
              </a:tabLst>
            </a:pPr>
            <a:r>
              <a:rPr sz="2800" b="1" spc="-5" dirty="0">
                <a:solidFill>
                  <a:srgbClr val="27628C"/>
                </a:solidFill>
                <a:latin typeface="微软雅黑" panose="020B0503020204020204" pitchFamily="34" charset="-122"/>
                <a:ea typeface="微软雅黑" panose="020B0503020204020204" pitchFamily="34" charset="-122"/>
                <a:cs typeface="华文细黑" panose="02010600040101010101" charset="-122"/>
              </a:rPr>
              <a:t>项目团队精疲力竭</a:t>
            </a:r>
            <a:endParaRPr sz="2800" dirty="0">
              <a:latin typeface="微软雅黑" panose="020B0503020204020204" pitchFamily="34" charset="-122"/>
              <a:ea typeface="微软雅黑" panose="020B0503020204020204" pitchFamily="34" charset="-122"/>
              <a:cs typeface="华文细黑" panose="02010600040101010101" charset="-122"/>
            </a:endParaRPr>
          </a:p>
        </p:txBody>
      </p:sp>
      <p:sp>
        <p:nvSpPr>
          <p:cNvPr id="5" name="object 5"/>
          <p:cNvSpPr/>
          <p:nvPr/>
        </p:nvSpPr>
        <p:spPr>
          <a:xfrm>
            <a:off x="6723379" y="2635886"/>
            <a:ext cx="4360024" cy="3948545"/>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 name="object 6"/>
          <p:cNvSpPr txBox="1"/>
          <p:nvPr/>
        </p:nvSpPr>
        <p:spPr>
          <a:xfrm>
            <a:off x="6899842" y="2758278"/>
            <a:ext cx="3568700" cy="3594100"/>
          </a:xfrm>
          <a:prstGeom prst="rect">
            <a:avLst/>
          </a:prstGeom>
        </p:spPr>
        <p:txBody>
          <a:bodyPr vert="horz" wrap="square" lIns="0" tIns="93980" rIns="0" bIns="0" rtlCol="0">
            <a:spAutoFit/>
          </a:bodyPr>
          <a:lstStyle/>
          <a:p>
            <a:pPr marL="355600" indent="-342900">
              <a:lnSpc>
                <a:spcPct val="100000"/>
              </a:lnSpc>
              <a:spcBef>
                <a:spcPts val="740"/>
              </a:spcBef>
              <a:buFont typeface="Arial" panose="020B0604020202020204"/>
              <a:buChar char="•"/>
              <a:tabLst>
                <a:tab pos="354965" algn="l"/>
                <a:tab pos="355600" algn="l"/>
              </a:tabLst>
            </a:pPr>
            <a:r>
              <a:rPr sz="2800" dirty="0">
                <a:latin typeface="微软雅黑" panose="020B0503020204020204" pitchFamily="34" charset="-122"/>
                <a:ea typeface="微软雅黑" panose="020B0503020204020204" pitchFamily="34" charset="-122"/>
                <a:cs typeface="华文细黑" panose="02010600040101010101" charset="-122"/>
              </a:rPr>
              <a:t>产品设计目标不明确</a:t>
            </a:r>
            <a:endParaRPr sz="2800">
              <a:latin typeface="微软雅黑" panose="020B0503020204020204" pitchFamily="34" charset="-122"/>
              <a:ea typeface="微软雅黑" panose="020B0503020204020204" pitchFamily="34" charset="-122"/>
              <a:cs typeface="华文细黑" panose="02010600040101010101" charset="-122"/>
            </a:endParaRPr>
          </a:p>
          <a:p>
            <a:pPr marL="355600" indent="-342900">
              <a:lnSpc>
                <a:spcPct val="100000"/>
              </a:lnSpc>
              <a:spcBef>
                <a:spcPts val="640"/>
              </a:spcBef>
              <a:buFont typeface="Arial" panose="020B0604020202020204"/>
              <a:buChar char="•"/>
              <a:tabLst>
                <a:tab pos="354965" algn="l"/>
                <a:tab pos="355600" algn="l"/>
              </a:tabLst>
            </a:pPr>
            <a:r>
              <a:rPr sz="2800" dirty="0">
                <a:latin typeface="微软雅黑" panose="020B0503020204020204" pitchFamily="34" charset="-122"/>
                <a:ea typeface="微软雅黑" panose="020B0503020204020204" pitchFamily="34" charset="-122"/>
                <a:cs typeface="华文细黑" panose="02010600040101010101" charset="-122"/>
              </a:rPr>
              <a:t>干系人参与不足</a:t>
            </a:r>
            <a:endParaRPr sz="2800">
              <a:latin typeface="微软雅黑" panose="020B0503020204020204" pitchFamily="34" charset="-122"/>
              <a:ea typeface="微软雅黑" panose="020B0503020204020204" pitchFamily="34" charset="-122"/>
              <a:cs typeface="华文细黑" panose="02010600040101010101" charset="-122"/>
            </a:endParaRPr>
          </a:p>
          <a:p>
            <a:pPr marL="355600" indent="-342900">
              <a:lnSpc>
                <a:spcPct val="100000"/>
              </a:lnSpc>
              <a:spcBef>
                <a:spcPts val="640"/>
              </a:spcBef>
              <a:buFont typeface="Arial" panose="020B0604020202020204"/>
              <a:buChar char="•"/>
              <a:tabLst>
                <a:tab pos="354965" algn="l"/>
                <a:tab pos="355600" algn="l"/>
              </a:tabLst>
            </a:pPr>
            <a:r>
              <a:rPr sz="2800" dirty="0">
                <a:latin typeface="微软雅黑" panose="020B0503020204020204" pitchFamily="34" charset="-122"/>
                <a:ea typeface="微软雅黑" panose="020B0503020204020204" pitchFamily="34" charset="-122"/>
                <a:cs typeface="华文细黑" panose="02010600040101010101" charset="-122"/>
              </a:rPr>
              <a:t>干系人之间缺少共识</a:t>
            </a:r>
            <a:endParaRPr sz="2800">
              <a:latin typeface="微软雅黑" panose="020B0503020204020204" pitchFamily="34" charset="-122"/>
              <a:ea typeface="微软雅黑" panose="020B0503020204020204" pitchFamily="34" charset="-122"/>
              <a:cs typeface="华文细黑" panose="02010600040101010101" charset="-122"/>
            </a:endParaRPr>
          </a:p>
          <a:p>
            <a:pPr marL="355600" indent="-342900">
              <a:lnSpc>
                <a:spcPct val="100000"/>
              </a:lnSpc>
              <a:spcBef>
                <a:spcPts val="640"/>
              </a:spcBef>
              <a:buFont typeface="Arial" panose="020B0604020202020204"/>
              <a:buChar char="•"/>
              <a:tabLst>
                <a:tab pos="354965" algn="l"/>
                <a:tab pos="355600" algn="l"/>
              </a:tabLst>
            </a:pPr>
            <a:r>
              <a:rPr sz="2800" dirty="0">
                <a:latin typeface="微软雅黑" panose="020B0503020204020204" pitchFamily="34" charset="-122"/>
                <a:ea typeface="微软雅黑" panose="020B0503020204020204" pitchFamily="34" charset="-122"/>
                <a:cs typeface="华文细黑" panose="02010600040101010101" charset="-122"/>
              </a:rPr>
              <a:t>画蛇添足</a:t>
            </a:r>
            <a:endParaRPr sz="2800">
              <a:latin typeface="微软雅黑" panose="020B0503020204020204" pitchFamily="34" charset="-122"/>
              <a:ea typeface="微软雅黑" panose="020B0503020204020204" pitchFamily="34" charset="-122"/>
              <a:cs typeface="华文细黑" panose="02010600040101010101" charset="-122"/>
            </a:endParaRPr>
          </a:p>
          <a:p>
            <a:pPr marL="355600" indent="-342900">
              <a:lnSpc>
                <a:spcPct val="100000"/>
              </a:lnSpc>
              <a:spcBef>
                <a:spcPts val="740"/>
              </a:spcBef>
              <a:buFont typeface="Arial" panose="020B0604020202020204"/>
              <a:buChar char="•"/>
              <a:tabLst>
                <a:tab pos="354965" algn="l"/>
                <a:tab pos="355600" algn="l"/>
              </a:tabLst>
            </a:pPr>
            <a:r>
              <a:rPr sz="2800" dirty="0">
                <a:latin typeface="微软雅黑" panose="020B0503020204020204" pitchFamily="34" charset="-122"/>
                <a:ea typeface="微软雅黑" panose="020B0503020204020204" pitchFamily="34" charset="-122"/>
                <a:cs typeface="华文细黑" panose="02010600040101010101" charset="-122"/>
              </a:rPr>
              <a:t>需求快速变化</a:t>
            </a:r>
            <a:endParaRPr sz="2800">
              <a:latin typeface="微软雅黑" panose="020B0503020204020204" pitchFamily="34" charset="-122"/>
              <a:ea typeface="微软雅黑" panose="020B0503020204020204" pitchFamily="34" charset="-122"/>
              <a:cs typeface="华文细黑" panose="02010600040101010101" charset="-122"/>
            </a:endParaRPr>
          </a:p>
          <a:p>
            <a:pPr marL="355600" indent="-342900">
              <a:lnSpc>
                <a:spcPct val="100000"/>
              </a:lnSpc>
              <a:spcBef>
                <a:spcPts val="640"/>
              </a:spcBef>
              <a:buFont typeface="Arial" panose="020B0604020202020204"/>
              <a:buChar char="•"/>
              <a:tabLst>
                <a:tab pos="354965" algn="l"/>
                <a:tab pos="355600" algn="l"/>
              </a:tabLst>
            </a:pPr>
            <a:r>
              <a:rPr sz="2800" dirty="0">
                <a:latin typeface="微软雅黑" panose="020B0503020204020204" pitchFamily="34" charset="-122"/>
                <a:ea typeface="微软雅黑" panose="020B0503020204020204" pitchFamily="34" charset="-122"/>
                <a:cs typeface="华文细黑" panose="02010600040101010101" charset="-122"/>
              </a:rPr>
              <a:t>变更管理不足</a:t>
            </a:r>
            <a:endParaRPr sz="2800">
              <a:latin typeface="微软雅黑" panose="020B0503020204020204" pitchFamily="34" charset="-122"/>
              <a:ea typeface="微软雅黑" panose="020B0503020204020204" pitchFamily="34" charset="-122"/>
              <a:cs typeface="华文细黑" panose="02010600040101010101" charset="-122"/>
            </a:endParaRPr>
          </a:p>
          <a:p>
            <a:pPr marL="355600" indent="-342900">
              <a:lnSpc>
                <a:spcPct val="100000"/>
              </a:lnSpc>
              <a:spcBef>
                <a:spcPts val="640"/>
              </a:spcBef>
              <a:buFont typeface="Arial" panose="020B0604020202020204"/>
              <a:buChar char="•"/>
              <a:tabLst>
                <a:tab pos="354965" algn="l"/>
                <a:tab pos="355600" algn="l"/>
              </a:tabLst>
            </a:pPr>
            <a:r>
              <a:rPr sz="2800" dirty="0">
                <a:latin typeface="微软雅黑" panose="020B0503020204020204" pitchFamily="34" charset="-122"/>
                <a:ea typeface="微软雅黑" panose="020B0503020204020204" pitchFamily="34" charset="-122"/>
                <a:cs typeface="华文细黑" panose="02010600040101010101" charset="-122"/>
              </a:rPr>
              <a:t>需求分析不足</a:t>
            </a:r>
            <a:endParaRPr sz="2800">
              <a:latin typeface="微软雅黑" panose="020B0503020204020204" pitchFamily="34" charset="-122"/>
              <a:ea typeface="微软雅黑" panose="020B0503020204020204" pitchFamily="34" charset="-122"/>
              <a:cs typeface="华文细黑" panose="02010600040101010101" charset="-122"/>
            </a:endParaRPr>
          </a:p>
        </p:txBody>
      </p:sp>
      <p:sp>
        <p:nvSpPr>
          <p:cNvPr id="9" name="标题 8"/>
          <p:cNvSpPr>
            <a:spLocks noGrp="1"/>
          </p:cNvSpPr>
          <p:nvPr>
            <p:ph type="title"/>
          </p:nvPr>
        </p:nvSpPr>
        <p:spPr/>
        <p:txBody>
          <a:bodyPr/>
          <a:lstStyle/>
          <a:p>
            <a:r>
              <a:rPr lang="zh-CN" altLang="en-US" spc="-5" dirty="0"/>
              <a:t>需求管理的必要性</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12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1156"/>
    </mc:Choice>
    <mc:Fallback xmlns="">
      <p:transition spd="slow" advTm="51156"/>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795956" y="1426210"/>
            <a:ext cx="3530600" cy="4856480"/>
          </a:xfrm>
          <a:prstGeom prst="rect">
            <a:avLst/>
          </a:prstGeom>
        </p:spPr>
        <p:txBody>
          <a:bodyPr vert="horz" wrap="square" lIns="0" tIns="205740" rIns="0" bIns="0" rtlCol="0">
            <a:spAutoFit/>
          </a:bodyPr>
          <a:lstStyle/>
          <a:p>
            <a:pPr marL="241300" indent="-228600">
              <a:lnSpc>
                <a:spcPct val="100000"/>
              </a:lnSpc>
              <a:spcBef>
                <a:spcPts val="1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干系人</a:t>
            </a:r>
          </a:p>
          <a:p>
            <a:pPr marL="241300" indent="-228600">
              <a:lnSpc>
                <a:spcPct val="100000"/>
              </a:lnSpc>
              <a:spcBef>
                <a:spcPts val="15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业务过程</a:t>
            </a:r>
          </a:p>
          <a:p>
            <a:pPr marL="241300" indent="-228600">
              <a:lnSpc>
                <a:spcPct val="100000"/>
              </a:lnSpc>
              <a:spcBef>
                <a:spcPts val="1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组织规章制度</a:t>
            </a:r>
          </a:p>
          <a:p>
            <a:pPr marL="457200" algn="ctr">
              <a:lnSpc>
                <a:spcPct val="100000"/>
              </a:lnSpc>
              <a:spcBef>
                <a:spcPts val="940"/>
              </a:spcBef>
            </a:pPr>
            <a:r>
              <a:rPr sz="2000" dirty="0">
                <a:latin typeface="微软雅黑" panose="020B0503020204020204" pitchFamily="34" charset="-122"/>
                <a:ea typeface="微软雅黑" panose="020B0503020204020204" pitchFamily="34" charset="-122"/>
                <a:cs typeface="华文细黑" panose="02010600040101010101" charset="-122"/>
              </a:rPr>
              <a:t>组织规范、协议、技术标准</a:t>
            </a:r>
          </a:p>
          <a:p>
            <a:pPr marL="241300" indent="-228600">
              <a:lnSpc>
                <a:spcPct val="100000"/>
              </a:lnSpc>
              <a:spcBef>
                <a:spcPts val="158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现有系统</a:t>
            </a:r>
          </a:p>
          <a:p>
            <a:pPr marL="559435" lvl="1" indent="-90170">
              <a:lnSpc>
                <a:spcPct val="100000"/>
              </a:lnSpc>
              <a:spcBef>
                <a:spcPts val="1040"/>
              </a:spcBef>
              <a:buSzPct val="95000"/>
              <a:buFont typeface="Arial" panose="020B0604020202020204"/>
              <a:buChar char="•"/>
              <a:tabLst>
                <a:tab pos="560070" algn="l"/>
              </a:tabLst>
            </a:pPr>
            <a:r>
              <a:rPr sz="2000" dirty="0">
                <a:latin typeface="微软雅黑" panose="020B0503020204020204" pitchFamily="34" charset="-122"/>
                <a:ea typeface="微软雅黑" panose="020B0503020204020204" pitchFamily="34" charset="-122"/>
                <a:cs typeface="华文细黑" panose="02010600040101010101" charset="-122"/>
              </a:rPr>
              <a:t>用户手册</a:t>
            </a:r>
          </a:p>
          <a:p>
            <a:pPr marL="559435" lvl="1" indent="-90170">
              <a:lnSpc>
                <a:spcPct val="100000"/>
              </a:lnSpc>
              <a:spcBef>
                <a:spcPts val="900"/>
              </a:spcBef>
              <a:buSzPct val="95000"/>
              <a:buFont typeface="Arial" panose="020B0604020202020204"/>
              <a:buChar char="•"/>
              <a:tabLst>
                <a:tab pos="560070" algn="l"/>
              </a:tabLst>
            </a:pPr>
            <a:r>
              <a:rPr sz="2000" dirty="0">
                <a:latin typeface="微软雅黑" panose="020B0503020204020204" pitchFamily="34" charset="-122"/>
                <a:ea typeface="微软雅黑" panose="020B0503020204020204" pitchFamily="34" charset="-122"/>
                <a:cs typeface="华文细黑" panose="02010600040101010101" charset="-122"/>
              </a:rPr>
              <a:t>数据样本</a:t>
            </a:r>
          </a:p>
          <a:p>
            <a:pPr marL="559435" lvl="1" indent="-90170">
              <a:lnSpc>
                <a:spcPct val="100000"/>
              </a:lnSpc>
              <a:spcBef>
                <a:spcPts val="1000"/>
              </a:spcBef>
              <a:buSzPct val="95000"/>
              <a:buFont typeface="Arial" panose="020B0604020202020204"/>
              <a:buChar char="•"/>
              <a:tabLst>
                <a:tab pos="560070" algn="l"/>
              </a:tabLst>
            </a:pPr>
            <a:r>
              <a:rPr sz="2000" dirty="0">
                <a:latin typeface="微软雅黑" panose="020B0503020204020204" pitchFamily="34" charset="-122"/>
                <a:ea typeface="微软雅黑" panose="020B0503020204020204" pitchFamily="34" charset="-122"/>
                <a:cs typeface="华文细黑" panose="02010600040101010101" charset="-122"/>
              </a:rPr>
              <a:t>界面描述</a:t>
            </a:r>
          </a:p>
          <a:p>
            <a:pPr marL="559435" lvl="1" indent="-90170">
              <a:lnSpc>
                <a:spcPct val="100000"/>
              </a:lnSpc>
              <a:spcBef>
                <a:spcPts val="1000"/>
              </a:spcBef>
              <a:buSzPct val="95000"/>
              <a:buFont typeface="Arial" panose="020B0604020202020204"/>
              <a:buChar char="•"/>
              <a:tabLst>
                <a:tab pos="560070" algn="l"/>
              </a:tabLst>
            </a:pPr>
            <a:r>
              <a:rPr sz="2000" dirty="0">
                <a:latin typeface="微软雅黑" panose="020B0503020204020204" pitchFamily="34" charset="-122"/>
                <a:ea typeface="微软雅黑" panose="020B0503020204020204" pitchFamily="34" charset="-122"/>
                <a:cs typeface="华文细黑" panose="02010600040101010101" charset="-122"/>
              </a:rPr>
              <a:t>报告样本</a:t>
            </a:r>
          </a:p>
          <a:p>
            <a:pPr marL="559435" lvl="1" indent="-90170">
              <a:lnSpc>
                <a:spcPct val="100000"/>
              </a:lnSpc>
              <a:spcBef>
                <a:spcPts val="1000"/>
              </a:spcBef>
              <a:buSzPct val="95000"/>
              <a:buFont typeface="Arial" panose="020B0604020202020204"/>
              <a:buChar char="•"/>
              <a:tabLst>
                <a:tab pos="560070" algn="l"/>
              </a:tabLst>
            </a:pPr>
            <a:r>
              <a:rPr sz="2000" dirty="0">
                <a:latin typeface="微软雅黑" panose="020B0503020204020204" pitchFamily="34" charset="-122"/>
                <a:ea typeface="微软雅黑" panose="020B0503020204020204" pitchFamily="34" charset="-122"/>
                <a:cs typeface="华文细黑" panose="02010600040101010101" charset="-122"/>
              </a:rPr>
              <a:t>屏幕截图</a:t>
            </a:r>
          </a:p>
        </p:txBody>
      </p:sp>
      <p:sp>
        <p:nvSpPr>
          <p:cNvPr id="4" name="object 4"/>
          <p:cNvSpPr/>
          <p:nvPr/>
        </p:nvSpPr>
        <p:spPr>
          <a:xfrm>
            <a:off x="6096000" y="2404745"/>
            <a:ext cx="4225923" cy="3100387"/>
          </a:xfrm>
          <a:prstGeom prst="rect">
            <a:avLst/>
          </a:prstGeom>
          <a:blipFill>
            <a:blip r:embed="rId3" cstate="print"/>
            <a:stretch>
              <a:fillRect/>
            </a:stretch>
          </a:blipFill>
        </p:spPr>
        <p:txBody>
          <a:bodyPr wrap="square" lIns="0" tIns="0" rIns="0" bIns="0" rtlCol="0"/>
          <a:lstStyle/>
          <a:p>
            <a:endParaRPr/>
          </a:p>
        </p:txBody>
      </p:sp>
      <p:sp>
        <p:nvSpPr>
          <p:cNvPr id="6" name="object 6"/>
          <p:cNvSpPr txBox="1"/>
          <p:nvPr/>
        </p:nvSpPr>
        <p:spPr>
          <a:xfrm>
            <a:off x="5326556" y="6499214"/>
            <a:ext cx="1544320" cy="211454"/>
          </a:xfrm>
          <a:prstGeom prst="rect">
            <a:avLst/>
          </a:prstGeom>
        </p:spPr>
        <p:txBody>
          <a:bodyPr vert="horz" wrap="square" lIns="0" tIns="5080" rIns="0" bIns="0" rtlCol="0">
            <a:spAutoFit/>
          </a:bodyPr>
          <a:lstStyle/>
          <a:p>
            <a:pPr marL="12700">
              <a:lnSpc>
                <a:spcPct val="100000"/>
              </a:lnSpc>
              <a:spcBef>
                <a:spcPts val="40"/>
              </a:spcBef>
            </a:pPr>
            <a:r>
              <a:rPr sz="1200" spc="-5" dirty="0">
                <a:solidFill>
                  <a:srgbClr val="898989"/>
                </a:solidFill>
                <a:latin typeface="Calibri" panose="020F0502020204030204"/>
                <a:cs typeface="Calibri" panose="020F0502020204030204"/>
              </a:rPr>
              <a:t>Requirements Elicitation</a:t>
            </a:r>
            <a:endParaRPr sz="1200">
              <a:latin typeface="Calibri" panose="020F0502020204030204"/>
              <a:cs typeface="Calibri" panose="020F0502020204030204"/>
            </a:endParaRPr>
          </a:p>
        </p:txBody>
      </p:sp>
      <p:sp>
        <p:nvSpPr>
          <p:cNvPr id="8" name="标题 7"/>
          <p:cNvSpPr>
            <a:spLocks noGrp="1"/>
          </p:cNvSpPr>
          <p:nvPr>
            <p:ph type="title"/>
          </p:nvPr>
        </p:nvSpPr>
        <p:spPr/>
        <p:txBody>
          <a:bodyPr/>
          <a:lstStyle/>
          <a:p>
            <a:r>
              <a:rPr lang="zh-CN" altLang="en-US" spc="-5" dirty="0"/>
              <a:t>需求内容来源</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13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9499"/>
    </mc:Choice>
    <mc:Fallback xmlns="">
      <p:transition spd="slow" advTm="49499"/>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1547092"/>
            <a:ext cx="6291389" cy="4664097"/>
          </a:xfrm>
          <a:prstGeom prst="rect">
            <a:avLst/>
          </a:prstGeom>
        </p:spPr>
        <p:txBody>
          <a:bodyPr vert="horz" wrap="square" lIns="0" tIns="115570" rIns="0" bIns="0" rtlCol="0">
            <a:spAutoFit/>
          </a:bodyPr>
          <a:lstStyle/>
          <a:p>
            <a:pPr marL="241300" indent="-228600">
              <a:lnSpc>
                <a:spcPct val="100000"/>
              </a:lnSpc>
              <a:spcBef>
                <a:spcPts val="910"/>
              </a:spcBef>
              <a:buFont typeface="Arial" panose="020B0604020202020204"/>
              <a:buChar char="•"/>
              <a:tabLst>
                <a:tab pos="240665" algn="l"/>
                <a:tab pos="241300" algn="l"/>
              </a:tabLst>
            </a:pPr>
            <a:r>
              <a:rPr sz="2200" dirty="0">
                <a:latin typeface="微软雅黑" panose="020B0503020204020204" pitchFamily="34" charset="-122"/>
                <a:ea typeface="微软雅黑" panose="020B0503020204020204" pitchFamily="34" charset="-122"/>
                <a:cs typeface="华文细黑" panose="02010600040101010101" charset="-122"/>
              </a:rPr>
              <a:t>干系人分析</a:t>
            </a:r>
          </a:p>
          <a:p>
            <a:pPr marL="698500" lvl="1" indent="-228600">
              <a:lnSpc>
                <a:spcPct val="100000"/>
              </a:lnSpc>
              <a:spcBef>
                <a:spcPts val="74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找出所有干系人</a:t>
            </a:r>
          </a:p>
          <a:p>
            <a:pPr marL="698500" lvl="1" indent="-228600">
              <a:lnSpc>
                <a:spcPct val="100000"/>
              </a:lnSpc>
              <a:spcBef>
                <a:spcPts val="7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分析其隶属于哪个世界</a:t>
            </a:r>
          </a:p>
          <a:p>
            <a:pPr marL="241300" indent="-228600">
              <a:lnSpc>
                <a:spcPct val="100000"/>
              </a:lnSpc>
              <a:spcBef>
                <a:spcPts val="1220"/>
              </a:spcBef>
              <a:buFont typeface="Arial" panose="020B0604020202020204"/>
              <a:buChar char="•"/>
              <a:tabLst>
                <a:tab pos="240665" algn="l"/>
                <a:tab pos="241300" algn="l"/>
              </a:tabLst>
            </a:pPr>
            <a:r>
              <a:rPr sz="2200" dirty="0">
                <a:latin typeface="微软雅黑" panose="020B0503020204020204" pitchFamily="34" charset="-122"/>
                <a:ea typeface="微软雅黑" panose="020B0503020204020204" pitchFamily="34" charset="-122"/>
                <a:cs typeface="华文细黑" panose="02010600040101010101" charset="-122"/>
              </a:rPr>
              <a:t>干系人举例</a:t>
            </a:r>
          </a:p>
          <a:p>
            <a:pPr marL="698500" lvl="1" indent="-228600">
              <a:lnSpc>
                <a:spcPct val="100000"/>
              </a:lnSpc>
              <a:spcBef>
                <a:spcPts val="720"/>
              </a:spcBef>
              <a:buClr>
                <a:srgbClr val="990000"/>
              </a:buClr>
              <a:buFont typeface="Arial" panose="020B0604020202020204"/>
              <a:buChar char="•"/>
              <a:tabLst>
                <a:tab pos="697865" algn="l"/>
                <a:tab pos="698500" algn="l"/>
              </a:tabLst>
            </a:pPr>
            <a:r>
              <a:rPr sz="1800" b="1" spc="-5" dirty="0">
                <a:solidFill>
                  <a:srgbClr val="AB1500"/>
                </a:solidFill>
                <a:latin typeface="微软雅黑" panose="020B0503020204020204" pitchFamily="34" charset="-122"/>
                <a:ea typeface="微软雅黑" panose="020B0503020204020204" pitchFamily="34" charset="-122"/>
                <a:cs typeface="华文细黑" panose="02010600040101010101" charset="-122"/>
              </a:rPr>
              <a:t>用户</a:t>
            </a:r>
            <a:r>
              <a:rPr sz="1800" dirty="0">
                <a:latin typeface="微软雅黑" panose="020B0503020204020204" pitchFamily="34" charset="-122"/>
                <a:ea typeface="微软雅黑" panose="020B0503020204020204" pitchFamily="34" charset="-122"/>
                <a:cs typeface="华文细黑" panose="02010600040101010101" charset="-122"/>
              </a:rPr>
              <a:t>—关心新系统特征和功能</a:t>
            </a:r>
          </a:p>
          <a:p>
            <a:pPr marL="698500" lvl="1" indent="-228600">
              <a:lnSpc>
                <a:spcPct val="100000"/>
              </a:lnSpc>
              <a:spcBef>
                <a:spcPts val="740"/>
              </a:spcBef>
              <a:buClr>
                <a:srgbClr val="990000"/>
              </a:buClr>
              <a:buFont typeface="Arial" panose="020B0604020202020204"/>
              <a:buChar char="•"/>
              <a:tabLst>
                <a:tab pos="697865" algn="l"/>
                <a:tab pos="698500" algn="l"/>
              </a:tabLst>
            </a:pPr>
            <a:r>
              <a:rPr sz="1800" b="1" spc="-5" dirty="0">
                <a:solidFill>
                  <a:srgbClr val="AB1500"/>
                </a:solidFill>
                <a:latin typeface="微软雅黑" panose="020B0503020204020204" pitchFamily="34" charset="-122"/>
                <a:ea typeface="微软雅黑" panose="020B0503020204020204" pitchFamily="34" charset="-122"/>
                <a:cs typeface="华文细黑" panose="02010600040101010101" charset="-122"/>
              </a:rPr>
              <a:t>设计师</a:t>
            </a:r>
            <a:r>
              <a:rPr sz="1800" dirty="0">
                <a:latin typeface="微软雅黑" panose="020B0503020204020204" pitchFamily="34" charset="-122"/>
                <a:ea typeface="微软雅黑" panose="020B0503020204020204" pitchFamily="34" charset="-122"/>
                <a:cs typeface="华文细黑" panose="02010600040101010101" charset="-122"/>
              </a:rPr>
              <a:t>—想要构造完美的系统，尽量重用已有的代码</a:t>
            </a:r>
          </a:p>
          <a:p>
            <a:pPr marL="698500" lvl="1" indent="-228600">
              <a:lnSpc>
                <a:spcPct val="100000"/>
              </a:lnSpc>
              <a:spcBef>
                <a:spcPts val="740"/>
              </a:spcBef>
              <a:buClr>
                <a:srgbClr val="990000"/>
              </a:buClr>
              <a:buFont typeface="Arial" panose="020B0604020202020204"/>
              <a:buChar char="•"/>
              <a:tabLst>
                <a:tab pos="697865" algn="l"/>
                <a:tab pos="698500" algn="l"/>
              </a:tabLst>
            </a:pPr>
            <a:r>
              <a:rPr sz="1800" b="1" spc="-5" dirty="0">
                <a:solidFill>
                  <a:srgbClr val="AB1500"/>
                </a:solidFill>
                <a:latin typeface="微软雅黑" panose="020B0503020204020204" pitchFamily="34" charset="-122"/>
                <a:ea typeface="微软雅黑" panose="020B0503020204020204" pitchFamily="34" charset="-122"/>
                <a:cs typeface="华文细黑" panose="02010600040101010101" charset="-122"/>
              </a:rPr>
              <a:t>系统分析师</a:t>
            </a:r>
            <a:r>
              <a:rPr sz="1800" dirty="0">
                <a:latin typeface="微软雅黑" panose="020B0503020204020204" pitchFamily="34" charset="-122"/>
                <a:ea typeface="微软雅黑" panose="020B0503020204020204" pitchFamily="34" charset="-122"/>
                <a:cs typeface="华文细黑" panose="02010600040101010101" charset="-122"/>
              </a:rPr>
              <a:t>—想要获取正确的需求</a:t>
            </a:r>
          </a:p>
          <a:p>
            <a:pPr marL="698500" lvl="1" indent="-228600">
              <a:lnSpc>
                <a:spcPct val="100000"/>
              </a:lnSpc>
              <a:spcBef>
                <a:spcPts val="740"/>
              </a:spcBef>
              <a:buClr>
                <a:srgbClr val="990000"/>
              </a:buClr>
              <a:buFont typeface="Arial" panose="020B0604020202020204"/>
              <a:buChar char="•"/>
              <a:tabLst>
                <a:tab pos="697865" algn="l"/>
                <a:tab pos="698500" algn="l"/>
              </a:tabLst>
            </a:pPr>
            <a:r>
              <a:rPr sz="1800" b="1" spc="-5" dirty="0">
                <a:solidFill>
                  <a:srgbClr val="AB1500"/>
                </a:solidFill>
                <a:latin typeface="微软雅黑" panose="020B0503020204020204" pitchFamily="34" charset="-122"/>
                <a:ea typeface="微软雅黑" panose="020B0503020204020204" pitchFamily="34" charset="-122"/>
                <a:cs typeface="华文细黑" panose="02010600040101010101" charset="-122"/>
              </a:rPr>
              <a:t>培训与用户支持人员</a:t>
            </a:r>
            <a:r>
              <a:rPr sz="1800" dirty="0">
                <a:latin typeface="微软雅黑" panose="020B0503020204020204" pitchFamily="34" charset="-122"/>
                <a:ea typeface="微软雅黑" panose="020B0503020204020204" pitchFamily="34" charset="-122"/>
                <a:cs typeface="华文细黑" panose="02010600040101010101" charset="-122"/>
              </a:rPr>
              <a:t>—确保系统可用和可管理</a:t>
            </a:r>
          </a:p>
          <a:p>
            <a:pPr marL="698500" lvl="1" indent="-228600">
              <a:lnSpc>
                <a:spcPct val="100000"/>
              </a:lnSpc>
              <a:spcBef>
                <a:spcPts val="640"/>
              </a:spcBef>
              <a:buClr>
                <a:srgbClr val="990000"/>
              </a:buClr>
              <a:buFont typeface="Arial" panose="020B0604020202020204"/>
              <a:buChar char="•"/>
              <a:tabLst>
                <a:tab pos="697865" algn="l"/>
                <a:tab pos="698500" algn="l"/>
              </a:tabLst>
            </a:pPr>
            <a:r>
              <a:rPr sz="1800" b="1" spc="-5" dirty="0">
                <a:solidFill>
                  <a:srgbClr val="AB1500"/>
                </a:solidFill>
                <a:latin typeface="微软雅黑" panose="020B0503020204020204" pitchFamily="34" charset="-122"/>
                <a:ea typeface="微软雅黑" panose="020B0503020204020204" pitchFamily="34" charset="-122"/>
                <a:cs typeface="华文细黑" panose="02010600040101010101" charset="-122"/>
              </a:rPr>
              <a:t>业务分析师</a:t>
            </a:r>
            <a:r>
              <a:rPr sz="1800" dirty="0">
                <a:latin typeface="微软雅黑" panose="020B0503020204020204" pitchFamily="34" charset="-122"/>
                <a:ea typeface="微软雅黑" panose="020B0503020204020204" pitchFamily="34" charset="-122"/>
                <a:cs typeface="华文细黑" panose="02010600040101010101" charset="-122"/>
              </a:rPr>
              <a:t>—想确保“我们做得比竞争对手好”</a:t>
            </a:r>
          </a:p>
          <a:p>
            <a:pPr marL="698500" lvl="1" indent="-228600">
              <a:lnSpc>
                <a:spcPct val="100000"/>
              </a:lnSpc>
              <a:spcBef>
                <a:spcPts val="740"/>
              </a:spcBef>
              <a:buClr>
                <a:srgbClr val="990000"/>
              </a:buClr>
              <a:buFont typeface="Arial" panose="020B0604020202020204"/>
              <a:buChar char="•"/>
              <a:tabLst>
                <a:tab pos="697865" algn="l"/>
                <a:tab pos="698500" algn="l"/>
              </a:tabLst>
            </a:pPr>
            <a:r>
              <a:rPr sz="1800" b="1" spc="-5" dirty="0">
                <a:solidFill>
                  <a:srgbClr val="AB1500"/>
                </a:solidFill>
                <a:latin typeface="微软雅黑" panose="020B0503020204020204" pitchFamily="34" charset="-122"/>
                <a:ea typeface="微软雅黑" panose="020B0503020204020204" pitchFamily="34" charset="-122"/>
                <a:cs typeface="华文细黑" panose="02010600040101010101" charset="-122"/>
              </a:rPr>
              <a:t>技术文档作者</a:t>
            </a:r>
            <a:r>
              <a:rPr sz="1800" dirty="0">
                <a:latin typeface="微软雅黑" panose="020B0503020204020204" pitchFamily="34" charset="-122"/>
                <a:ea typeface="微软雅黑" panose="020B0503020204020204" pitchFamily="34" charset="-122"/>
                <a:cs typeface="华文细黑" panose="02010600040101010101" charset="-122"/>
              </a:rPr>
              <a:t>—</a:t>
            </a:r>
            <a:r>
              <a:rPr sz="1800" spc="-70" dirty="0">
                <a:latin typeface="微软雅黑" panose="020B0503020204020204" pitchFamily="34" charset="-122"/>
                <a:ea typeface="微软雅黑" panose="020B0503020204020204" pitchFamily="34" charset="-122"/>
                <a:cs typeface="华文细黑" panose="02010600040101010101" charset="-122"/>
              </a:rPr>
              <a:t> </a:t>
            </a:r>
            <a:r>
              <a:rPr sz="1800" dirty="0">
                <a:latin typeface="微软雅黑" panose="020B0503020204020204" pitchFamily="34" charset="-122"/>
                <a:ea typeface="微软雅黑" panose="020B0503020204020204" pitchFamily="34" charset="-122"/>
                <a:cs typeface="华文细黑" panose="02010600040101010101" charset="-122"/>
              </a:rPr>
              <a:t>为系统准备用户手册及其他相关文档</a:t>
            </a:r>
          </a:p>
          <a:p>
            <a:pPr marL="698500" lvl="1" indent="-228600">
              <a:lnSpc>
                <a:spcPct val="100000"/>
              </a:lnSpc>
              <a:spcBef>
                <a:spcPts val="740"/>
              </a:spcBef>
              <a:buClr>
                <a:srgbClr val="990000"/>
              </a:buClr>
              <a:buFont typeface="Arial" panose="020B0604020202020204"/>
              <a:buChar char="•"/>
              <a:tabLst>
                <a:tab pos="697865" algn="l"/>
                <a:tab pos="698500" algn="l"/>
              </a:tabLst>
            </a:pPr>
            <a:r>
              <a:rPr sz="1800" b="1" spc="-5" dirty="0">
                <a:solidFill>
                  <a:srgbClr val="AB1500"/>
                </a:solidFill>
                <a:latin typeface="微软雅黑" panose="020B0503020204020204" pitchFamily="34" charset="-122"/>
                <a:ea typeface="微软雅黑" panose="020B0503020204020204" pitchFamily="34" charset="-122"/>
                <a:cs typeface="华文细黑" panose="02010600040101010101" charset="-122"/>
              </a:rPr>
              <a:t>项目经理</a:t>
            </a:r>
            <a:r>
              <a:rPr sz="1800" dirty="0">
                <a:latin typeface="微软雅黑" panose="020B0503020204020204" pitchFamily="34" charset="-122"/>
                <a:ea typeface="微软雅黑" panose="020B0503020204020204" pitchFamily="34" charset="-122"/>
                <a:cs typeface="华文细黑" panose="02010600040101010101" charset="-122"/>
              </a:rPr>
              <a:t>—希望按时、按预算、按目标完成项目</a:t>
            </a:r>
          </a:p>
          <a:p>
            <a:pPr marL="698500" lvl="1" indent="-228600">
              <a:lnSpc>
                <a:spcPct val="100000"/>
              </a:lnSpc>
              <a:spcBef>
                <a:spcPts val="740"/>
              </a:spcBef>
              <a:buClr>
                <a:srgbClr val="990000"/>
              </a:buClr>
              <a:buFont typeface="Arial" panose="020B0604020202020204"/>
              <a:buChar char="•"/>
              <a:tabLst>
                <a:tab pos="697865" algn="l"/>
                <a:tab pos="698500" algn="l"/>
              </a:tabLst>
            </a:pPr>
            <a:r>
              <a:rPr sz="1800" b="1" spc="-5" dirty="0">
                <a:solidFill>
                  <a:srgbClr val="AB1500"/>
                </a:solidFill>
                <a:latin typeface="微软雅黑" panose="020B0503020204020204" pitchFamily="34" charset="-122"/>
                <a:ea typeface="微软雅黑" panose="020B0503020204020204" pitchFamily="34" charset="-122"/>
                <a:cs typeface="华文细黑" panose="02010600040101010101" charset="-122"/>
              </a:rPr>
              <a:t>客户</a:t>
            </a:r>
            <a:r>
              <a:rPr sz="1800" dirty="0">
                <a:latin typeface="微软雅黑" panose="020B0503020204020204" pitchFamily="34" charset="-122"/>
                <a:ea typeface="微软雅黑" panose="020B0503020204020204" pitchFamily="34" charset="-122"/>
                <a:cs typeface="华文细黑" panose="02010600040101010101" charset="-122"/>
              </a:rPr>
              <a:t>—为新系统买单的人</a:t>
            </a:r>
          </a:p>
        </p:txBody>
      </p:sp>
      <p:sp>
        <p:nvSpPr>
          <p:cNvPr id="4" name="object 4"/>
          <p:cNvSpPr/>
          <p:nvPr/>
        </p:nvSpPr>
        <p:spPr>
          <a:xfrm>
            <a:off x="7957408" y="2279650"/>
            <a:ext cx="2974973" cy="2973387"/>
          </a:xfrm>
          <a:prstGeom prst="rect">
            <a:avLst/>
          </a:prstGeom>
          <a:blipFill>
            <a:blip r:embed="rId3" cstate="print"/>
            <a:stretch>
              <a:fillRect/>
            </a:stretch>
          </a:blipFill>
        </p:spPr>
        <p:txBody>
          <a:bodyPr wrap="square" lIns="0" tIns="0" rIns="0" bIns="0" rtlCol="0"/>
          <a:lstStyle/>
          <a:p>
            <a:endParaRPr/>
          </a:p>
        </p:txBody>
      </p:sp>
      <p:sp>
        <p:nvSpPr>
          <p:cNvPr id="8" name="标题 7"/>
          <p:cNvSpPr>
            <a:spLocks noGrp="1"/>
          </p:cNvSpPr>
          <p:nvPr>
            <p:ph type="title"/>
          </p:nvPr>
        </p:nvSpPr>
        <p:spPr/>
        <p:txBody>
          <a:bodyPr/>
          <a:lstStyle/>
          <a:p>
            <a:r>
              <a:rPr lang="zh-CN" altLang="en-US" spc="-5" dirty="0"/>
              <a:t>干系人 </a:t>
            </a:r>
            <a:r>
              <a:rPr lang="en-US" altLang="zh-CN" spc="-5" dirty="0"/>
              <a:t>Stakeholder</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14</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71320"/>
    </mc:Choice>
    <mc:Fallback xmlns="">
      <p:transition spd="slow" advTm="7132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6470826" y="2820988"/>
            <a:ext cx="4482924" cy="3055938"/>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 name="object 4"/>
          <p:cNvSpPr txBox="1"/>
          <p:nvPr/>
        </p:nvSpPr>
        <p:spPr>
          <a:xfrm>
            <a:off x="1028700" y="1495425"/>
            <a:ext cx="9525000" cy="4793620"/>
          </a:xfrm>
          <a:prstGeom prst="rect">
            <a:avLst/>
          </a:prstGeom>
        </p:spPr>
        <p:txBody>
          <a:bodyPr vert="horz" wrap="square" lIns="0" tIns="12700" rIns="0" bIns="0" rtlCol="0">
            <a:spAutoFit/>
          </a:bodyPr>
          <a:lstStyle/>
          <a:p>
            <a:pPr marL="241300" indent="-228600">
              <a:spcBef>
                <a:spcPts val="100"/>
              </a:spcBef>
              <a:buFont typeface="Arial" panose="020B0604020202020204"/>
              <a:buChar char="•"/>
              <a:tabLst>
                <a:tab pos="240665" algn="l"/>
                <a:tab pos="241300" algn="l"/>
              </a:tabLst>
            </a:pPr>
            <a:r>
              <a:rPr sz="2400" dirty="0" err="1">
                <a:latin typeface="微软雅黑" panose="020B0503020204020204" pitchFamily="34" charset="-122"/>
                <a:ea typeface="微软雅黑" panose="020B0503020204020204" pitchFamily="34" charset="-122"/>
                <a:cs typeface="Arial Unicode MS"/>
              </a:rPr>
              <a:t>干系人是任何和系统有关的人</a:t>
            </a:r>
            <a:r>
              <a:rPr lang="zh-CN" altLang="en-US" sz="2400" dirty="0">
                <a:latin typeface="微软雅黑" panose="020B0503020204020204" pitchFamily="34" charset="-122"/>
                <a:ea typeface="微软雅黑" panose="020B0503020204020204" pitchFamily="34" charset="-122"/>
                <a:cs typeface="Times New Roman" panose="02020603050405020304"/>
              </a:rPr>
              <a:t>，</a:t>
            </a:r>
            <a:r>
              <a:rPr lang="zh-CN" altLang="en-US" sz="2400" dirty="0">
                <a:latin typeface="微软雅黑" panose="020B0503020204020204" pitchFamily="34" charset="-122"/>
                <a:ea typeface="微软雅黑" panose="020B0503020204020204" pitchFamily="34" charset="-122"/>
                <a:cs typeface="Arial Unicode MS"/>
              </a:rPr>
              <a:t>包括：</a:t>
            </a:r>
            <a:endParaRPr lang="en-US" altLang="zh-CN" sz="2400" dirty="0">
              <a:latin typeface="微软雅黑" panose="020B0503020204020204" pitchFamily="34" charset="-122"/>
              <a:ea typeface="微软雅黑" panose="020B0503020204020204" pitchFamily="34" charset="-122"/>
              <a:cs typeface="Arial Unicode MS"/>
            </a:endParaRPr>
          </a:p>
          <a:p>
            <a:pPr marL="469900" lvl="1">
              <a:spcBef>
                <a:spcPts val="100"/>
              </a:spcBef>
              <a:tabLst>
                <a:tab pos="240665" algn="l"/>
                <a:tab pos="241300" algn="l"/>
              </a:tabLst>
            </a:pPr>
            <a:r>
              <a:rPr sz="2400" dirty="0" err="1">
                <a:solidFill>
                  <a:srgbClr val="FF0000"/>
                </a:solidFill>
                <a:latin typeface="微软雅黑" panose="020B0503020204020204" pitchFamily="34" charset="-122"/>
                <a:ea typeface="微软雅黑" panose="020B0503020204020204" pitchFamily="34" charset="-122"/>
                <a:cs typeface="Arial Unicode MS"/>
              </a:rPr>
              <a:t>资方、客户、系统用户、领域专家、项目研发团队</a:t>
            </a:r>
            <a:endParaRPr lang="en-US" altLang="zh-CN" sz="2400" dirty="0">
              <a:solidFill>
                <a:srgbClr val="FF0000"/>
              </a:solidFill>
              <a:latin typeface="微软雅黑" panose="020B0503020204020204" pitchFamily="34" charset="-122"/>
              <a:ea typeface="微软雅黑" panose="020B0503020204020204" pitchFamily="34" charset="-122"/>
              <a:cs typeface="Arial Unicode MS"/>
            </a:endParaRPr>
          </a:p>
          <a:p>
            <a:pPr marL="469900" lvl="1">
              <a:spcBef>
                <a:spcPts val="100"/>
              </a:spcBef>
              <a:tabLst>
                <a:tab pos="240665" algn="l"/>
                <a:tab pos="241300" algn="l"/>
              </a:tabLst>
            </a:pPr>
            <a:endParaRPr sz="2400" dirty="0">
              <a:latin typeface="微软雅黑" panose="020B0503020204020204" pitchFamily="34" charset="-122"/>
              <a:ea typeface="微软雅黑" panose="020B0503020204020204" pitchFamily="34" charset="-122"/>
              <a:cs typeface="Times New Roman" panose="02020603050405020304"/>
            </a:endParaRPr>
          </a:p>
          <a:p>
            <a:pPr marL="241300" indent="-228600">
              <a:buFont typeface="Arial" panose="020B0604020202020204"/>
              <a:buChar char="•"/>
              <a:tabLst>
                <a:tab pos="240665" algn="l"/>
                <a:tab pos="241300" algn="l"/>
              </a:tabLst>
            </a:pPr>
            <a:r>
              <a:rPr sz="2400" dirty="0" err="1">
                <a:latin typeface="微软雅黑" panose="020B0503020204020204" pitchFamily="34" charset="-122"/>
                <a:ea typeface="微软雅黑" panose="020B0503020204020204" pitchFamily="34" charset="-122"/>
                <a:cs typeface="Arial Unicode MS"/>
              </a:rPr>
              <a:t>识别干系人的问题</a:t>
            </a:r>
            <a:endParaRPr sz="2400" dirty="0">
              <a:latin typeface="微软雅黑" panose="020B0503020204020204" pitchFamily="34" charset="-122"/>
              <a:ea typeface="微软雅黑" panose="020B0503020204020204" pitchFamily="34" charset="-122"/>
              <a:cs typeface="Arial Unicode MS"/>
            </a:endParaRPr>
          </a:p>
          <a:p>
            <a:pPr marL="568325" lvl="1" indent="-99060">
              <a:spcBef>
                <a:spcPts val="620"/>
              </a:spcBef>
              <a:buSzPct val="95000"/>
              <a:buFont typeface="Arial" panose="020B0604020202020204"/>
              <a:buChar char="•"/>
              <a:tabLst>
                <a:tab pos="568960" algn="l"/>
              </a:tabLst>
            </a:pPr>
            <a:r>
              <a:rPr sz="2400" dirty="0" err="1">
                <a:latin typeface="微软雅黑" panose="020B0503020204020204" pitchFamily="34" charset="-122"/>
                <a:ea typeface="微软雅黑" panose="020B0503020204020204" pitchFamily="34" charset="-122"/>
                <a:cs typeface="Arial Unicode MS"/>
              </a:rPr>
              <a:t>产品谁来用</a:t>
            </a:r>
            <a:r>
              <a:rPr sz="2400" baseline="4000" dirty="0">
                <a:latin typeface="微软雅黑" panose="020B0503020204020204" pitchFamily="34" charset="-122"/>
                <a:ea typeface="微软雅黑" panose="020B0503020204020204" pitchFamily="34" charset="-122"/>
                <a:cs typeface="Calibri" panose="020F0502020204030204"/>
              </a:rPr>
              <a:t>?</a:t>
            </a:r>
          </a:p>
          <a:p>
            <a:pPr marL="568325" lvl="1" indent="-99060">
              <a:spcBef>
                <a:spcPts val="760"/>
              </a:spcBef>
              <a:buSzPct val="95000"/>
              <a:buFont typeface="Arial" panose="020B0604020202020204"/>
              <a:buChar char="•"/>
              <a:tabLst>
                <a:tab pos="568960" algn="l"/>
              </a:tabLst>
            </a:pPr>
            <a:r>
              <a:rPr sz="2400" dirty="0" err="1">
                <a:latin typeface="微软雅黑" panose="020B0503020204020204" pitchFamily="34" charset="-122"/>
                <a:ea typeface="微软雅黑" panose="020B0503020204020204" pitchFamily="34" charset="-122"/>
                <a:cs typeface="Arial Unicode MS"/>
              </a:rPr>
              <a:t>输入谁提供</a:t>
            </a:r>
            <a:r>
              <a:rPr sz="2400" baseline="4000" dirty="0">
                <a:latin typeface="微软雅黑" panose="020B0503020204020204" pitchFamily="34" charset="-122"/>
                <a:ea typeface="微软雅黑" panose="020B0503020204020204" pitchFamily="34" charset="-122"/>
                <a:cs typeface="Calibri" panose="020F0502020204030204"/>
              </a:rPr>
              <a:t>?</a:t>
            </a:r>
          </a:p>
          <a:p>
            <a:pPr marL="568325" lvl="1" indent="-99060">
              <a:spcBef>
                <a:spcPts val="760"/>
              </a:spcBef>
              <a:buSzPct val="95000"/>
              <a:buFont typeface="Arial" panose="020B0604020202020204"/>
              <a:buChar char="•"/>
              <a:tabLst>
                <a:tab pos="568960" algn="l"/>
              </a:tabLst>
            </a:pPr>
            <a:r>
              <a:rPr sz="2400" dirty="0">
                <a:latin typeface="微软雅黑" panose="020B0503020204020204" pitchFamily="34" charset="-122"/>
                <a:ea typeface="微软雅黑" panose="020B0503020204020204" pitchFamily="34" charset="-122"/>
                <a:cs typeface="Arial Unicode MS"/>
              </a:rPr>
              <a:t>输出谁要</a:t>
            </a:r>
            <a:r>
              <a:rPr sz="2400" baseline="4000" dirty="0">
                <a:latin typeface="微软雅黑" panose="020B0503020204020204" pitchFamily="34" charset="-122"/>
                <a:ea typeface="微软雅黑" panose="020B0503020204020204" pitchFamily="34" charset="-122"/>
                <a:cs typeface="Calibri" panose="020F0502020204030204"/>
              </a:rPr>
              <a:t>?</a:t>
            </a:r>
          </a:p>
          <a:p>
            <a:pPr marL="568325" lvl="1" indent="-99060">
              <a:spcBef>
                <a:spcPts val="760"/>
              </a:spcBef>
              <a:buSzPct val="95000"/>
              <a:buFont typeface="Arial" panose="020B0604020202020204"/>
              <a:buChar char="•"/>
              <a:tabLst>
                <a:tab pos="568960" algn="l"/>
              </a:tabLst>
            </a:pPr>
            <a:r>
              <a:rPr sz="2400" dirty="0">
                <a:latin typeface="微软雅黑" panose="020B0503020204020204" pitchFamily="34" charset="-122"/>
                <a:ea typeface="微软雅黑" panose="020B0503020204020204" pitchFamily="34" charset="-122"/>
                <a:cs typeface="Arial Unicode MS"/>
              </a:rPr>
              <a:t>谁监管</a:t>
            </a:r>
            <a:r>
              <a:rPr sz="2400" baseline="4000" dirty="0">
                <a:latin typeface="微软雅黑" panose="020B0503020204020204" pitchFamily="34" charset="-122"/>
                <a:ea typeface="微软雅黑" panose="020B0503020204020204" pitchFamily="34" charset="-122"/>
                <a:cs typeface="Calibri" panose="020F0502020204030204"/>
              </a:rPr>
              <a:t>?</a:t>
            </a:r>
          </a:p>
          <a:p>
            <a:pPr marL="568325" lvl="1" indent="-99060">
              <a:spcBef>
                <a:spcPts val="760"/>
              </a:spcBef>
              <a:buSzPct val="95000"/>
              <a:buFont typeface="Arial" panose="020B0604020202020204"/>
              <a:buChar char="•"/>
              <a:tabLst>
                <a:tab pos="568960" algn="l"/>
              </a:tabLst>
            </a:pPr>
            <a:r>
              <a:rPr sz="2400" dirty="0">
                <a:latin typeface="微软雅黑" panose="020B0503020204020204" pitchFamily="34" charset="-122"/>
                <a:ea typeface="微软雅黑" panose="020B0503020204020204" pitchFamily="34" charset="-122"/>
                <a:cs typeface="Arial Unicode MS"/>
              </a:rPr>
              <a:t>影响谁</a:t>
            </a:r>
            <a:r>
              <a:rPr sz="2400" baseline="4000" dirty="0">
                <a:latin typeface="微软雅黑" panose="020B0503020204020204" pitchFamily="34" charset="-122"/>
                <a:ea typeface="微软雅黑" panose="020B0503020204020204" pitchFamily="34" charset="-122"/>
                <a:cs typeface="Calibri" panose="020F0502020204030204"/>
              </a:rPr>
              <a:t>?</a:t>
            </a:r>
          </a:p>
          <a:p>
            <a:pPr marL="568325" lvl="1" indent="-99060">
              <a:spcBef>
                <a:spcPts val="760"/>
              </a:spcBef>
              <a:buSzPct val="95000"/>
              <a:buFont typeface="Arial" panose="020B0604020202020204"/>
              <a:buChar char="•"/>
              <a:tabLst>
                <a:tab pos="568960" algn="l"/>
              </a:tabLst>
            </a:pPr>
            <a:r>
              <a:rPr sz="2400" dirty="0">
                <a:latin typeface="微软雅黑" panose="020B0503020204020204" pitchFamily="34" charset="-122"/>
                <a:ea typeface="微软雅黑" panose="020B0503020204020204" pitchFamily="34" charset="-122"/>
                <a:cs typeface="Arial Unicode MS"/>
              </a:rPr>
              <a:t>奖励谁</a:t>
            </a:r>
            <a:r>
              <a:rPr sz="2400" baseline="4000" dirty="0">
                <a:latin typeface="微软雅黑" panose="020B0503020204020204" pitchFamily="34" charset="-122"/>
                <a:ea typeface="微软雅黑" panose="020B0503020204020204" pitchFamily="34" charset="-122"/>
                <a:cs typeface="Calibri" panose="020F0502020204030204"/>
              </a:rPr>
              <a:t>?</a:t>
            </a:r>
          </a:p>
          <a:p>
            <a:pPr marL="568325" lvl="1" indent="-99060">
              <a:spcBef>
                <a:spcPts val="760"/>
              </a:spcBef>
              <a:buSzPct val="95000"/>
              <a:buFont typeface="Arial" panose="020B0604020202020204"/>
              <a:buChar char="•"/>
              <a:tabLst>
                <a:tab pos="568960" algn="l"/>
              </a:tabLst>
            </a:pPr>
            <a:r>
              <a:rPr sz="2400" dirty="0">
                <a:latin typeface="微软雅黑" panose="020B0503020204020204" pitchFamily="34" charset="-122"/>
                <a:ea typeface="微软雅黑" panose="020B0503020204020204" pitchFamily="34" charset="-122"/>
                <a:cs typeface="Arial Unicode MS"/>
              </a:rPr>
              <a:t>惩罚谁</a:t>
            </a:r>
            <a:r>
              <a:rPr sz="2400" baseline="4000" dirty="0">
                <a:latin typeface="微软雅黑" panose="020B0503020204020204" pitchFamily="34" charset="-122"/>
                <a:ea typeface="微软雅黑" panose="020B0503020204020204" pitchFamily="34" charset="-122"/>
                <a:cs typeface="Calibri" panose="020F0502020204030204"/>
              </a:rPr>
              <a:t>?</a:t>
            </a:r>
          </a:p>
        </p:txBody>
      </p:sp>
      <p:sp>
        <p:nvSpPr>
          <p:cNvPr id="8" name="标题 7"/>
          <p:cNvSpPr>
            <a:spLocks noGrp="1"/>
          </p:cNvSpPr>
          <p:nvPr>
            <p:ph type="title"/>
          </p:nvPr>
        </p:nvSpPr>
        <p:spPr/>
        <p:txBody>
          <a:bodyPr/>
          <a:lstStyle/>
          <a:p>
            <a:r>
              <a:rPr lang="zh-CN" altLang="en-US" spc="-5" dirty="0"/>
              <a:t>干系人（</a:t>
            </a:r>
            <a:r>
              <a:rPr lang="en-US" altLang="zh-CN" spc="-5" dirty="0"/>
              <a:t>stakeholders</a:t>
            </a:r>
            <a:r>
              <a:rPr lang="zh-CN" altLang="en-US" spc="-5" dirty="0"/>
              <a:t>）</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15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9631"/>
    </mc:Choice>
    <mc:Fallback xmlns="">
      <p:transition spd="slow" advTm="39631"/>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1527810"/>
            <a:ext cx="8026400" cy="1872307"/>
          </a:xfrm>
          <a:prstGeom prst="rect">
            <a:avLst/>
          </a:prstGeom>
        </p:spPr>
        <p:txBody>
          <a:bodyPr vert="horz" wrap="square" lIns="0" tIns="205740" rIns="0" bIns="0" rtlCol="0">
            <a:spAutoFit/>
          </a:bodyPr>
          <a:lstStyle/>
          <a:p>
            <a:pPr marL="12700">
              <a:lnSpc>
                <a:spcPct val="100000"/>
              </a:lnSpc>
              <a:tabLst>
                <a:tab pos="241300" algn="l"/>
              </a:tabLst>
            </a:pPr>
            <a:r>
              <a:rPr lang="zh-CN" altLang="en-US" sz="2400" dirty="0">
                <a:latin typeface="微软雅黑" panose="020B0503020204020204" pitchFamily="34" charset="-122"/>
                <a:ea typeface="微软雅黑" panose="020B0503020204020204" pitchFamily="34" charset="-122"/>
                <a:cs typeface="华文细黑" panose="02010600040101010101" charset="-122"/>
              </a:rPr>
              <a:t>召集单个或一组干系人定义系统细节</a:t>
            </a:r>
          </a:p>
          <a:p>
            <a:pPr marL="469900" lvl="1">
              <a:lnSpc>
                <a:spcPct val="100000"/>
              </a:lnSpc>
              <a:spcBef>
                <a:spcPts val="940"/>
              </a:spcBef>
              <a:tabLst>
                <a:tab pos="697865" algn="l"/>
                <a:tab pos="698500" algn="l"/>
              </a:tabLst>
            </a:pPr>
            <a:r>
              <a:rPr lang="zh-CN" altLang="en-US" sz="2000" dirty="0">
                <a:latin typeface="微软雅黑" panose="020B0503020204020204" pitchFamily="34" charset="-122"/>
                <a:ea typeface="微软雅黑" panose="020B0503020204020204" pitchFamily="34" charset="-122"/>
                <a:cs typeface="华文细黑" panose="02010600040101010101" charset="-122"/>
              </a:rPr>
              <a:t>从客户或用户角度看的高质量系统</a:t>
            </a:r>
          </a:p>
          <a:p>
            <a:pPr marL="469900" lvl="1">
              <a:lnSpc>
                <a:spcPct val="100000"/>
              </a:lnSpc>
              <a:spcBef>
                <a:spcPts val="1000"/>
              </a:spcBef>
              <a:tabLst>
                <a:tab pos="697865" algn="l"/>
                <a:tab pos="698500" algn="l"/>
              </a:tabLst>
            </a:pPr>
            <a:r>
              <a:rPr lang="zh-CN" altLang="en-US" sz="2000" dirty="0">
                <a:latin typeface="微软雅黑" panose="020B0503020204020204" pitchFamily="34" charset="-122"/>
                <a:ea typeface="微软雅黑" panose="020B0503020204020204" pitchFamily="34" charset="-122"/>
                <a:cs typeface="华文细黑" panose="02010600040101010101" charset="-122"/>
              </a:rPr>
              <a:t>提高用户满意度</a:t>
            </a:r>
          </a:p>
          <a:p>
            <a:pPr marL="469900" lvl="1">
              <a:lnSpc>
                <a:spcPct val="100000"/>
              </a:lnSpc>
              <a:spcBef>
                <a:spcPts val="1000"/>
              </a:spcBef>
              <a:tabLst>
                <a:tab pos="697865" algn="l"/>
                <a:tab pos="698500" algn="l"/>
              </a:tabLst>
            </a:pPr>
            <a:r>
              <a:rPr lang="zh-CN" altLang="en-US" sz="2000" dirty="0">
                <a:latin typeface="微软雅黑" panose="020B0503020204020204" pitchFamily="34" charset="-122"/>
                <a:ea typeface="微软雅黑" panose="020B0503020204020204" pitchFamily="34" charset="-122"/>
                <a:cs typeface="华文细黑" panose="02010600040101010101" charset="-122"/>
              </a:rPr>
              <a:t>通过客户、用户参与，达到系统教育与培训目的</a:t>
            </a:r>
          </a:p>
        </p:txBody>
      </p:sp>
      <p:sp>
        <p:nvSpPr>
          <p:cNvPr id="6" name="object 6"/>
          <p:cNvSpPr txBox="1"/>
          <p:nvPr/>
        </p:nvSpPr>
        <p:spPr>
          <a:xfrm>
            <a:off x="5326556" y="6499214"/>
            <a:ext cx="1544320" cy="211454"/>
          </a:xfrm>
          <a:prstGeom prst="rect">
            <a:avLst/>
          </a:prstGeom>
        </p:spPr>
        <p:txBody>
          <a:bodyPr vert="horz" wrap="square" lIns="0" tIns="5080" rIns="0" bIns="0" rtlCol="0">
            <a:spAutoFit/>
          </a:bodyPr>
          <a:lstStyle/>
          <a:p>
            <a:pPr marL="12700">
              <a:lnSpc>
                <a:spcPct val="100000"/>
              </a:lnSpc>
              <a:spcBef>
                <a:spcPts val="40"/>
              </a:spcBef>
            </a:pPr>
            <a:r>
              <a:rPr sz="1200" spc="-5" dirty="0">
                <a:solidFill>
                  <a:srgbClr val="898989"/>
                </a:solidFill>
                <a:latin typeface="Calibri" panose="020F0502020204030204"/>
                <a:cs typeface="Calibri" panose="020F0502020204030204"/>
              </a:rPr>
              <a:t>Requirements Elicitation</a:t>
            </a:r>
            <a:endParaRPr sz="1200">
              <a:latin typeface="Calibri" panose="020F0502020204030204"/>
              <a:cs typeface="Calibri" panose="020F0502020204030204"/>
            </a:endParaRPr>
          </a:p>
        </p:txBody>
      </p:sp>
      <p:sp>
        <p:nvSpPr>
          <p:cNvPr id="8" name="标题 7"/>
          <p:cNvSpPr>
            <a:spLocks noGrp="1"/>
          </p:cNvSpPr>
          <p:nvPr>
            <p:ph type="title"/>
          </p:nvPr>
        </p:nvSpPr>
        <p:spPr/>
        <p:txBody>
          <a:bodyPr/>
          <a:lstStyle/>
          <a:p>
            <a:pPr marL="12700">
              <a:lnSpc>
                <a:spcPct val="100000"/>
              </a:lnSpc>
              <a:spcBef>
                <a:spcPts val="1620"/>
              </a:spcBef>
              <a:tabLst>
                <a:tab pos="241300" algn="l"/>
              </a:tabLst>
            </a:pPr>
            <a:r>
              <a:rPr lang="zh-CN" altLang="en-US" dirty="0">
                <a:cs typeface="华文细黑" panose="02010600040101010101" charset="-122"/>
              </a:rPr>
              <a:t>干系人</a:t>
            </a:r>
          </a:p>
        </p:txBody>
      </p:sp>
      <p:grpSp>
        <p:nvGrpSpPr>
          <p:cNvPr id="7" name="组合 6"/>
          <p:cNvGrpSpPr/>
          <p:nvPr/>
        </p:nvGrpSpPr>
        <p:grpSpPr>
          <a:xfrm>
            <a:off x="787401" y="3608685"/>
            <a:ext cx="10566399" cy="2362200"/>
            <a:chOff x="812799" y="3092450"/>
            <a:chExt cx="10566399" cy="2362200"/>
          </a:xfrm>
        </p:grpSpPr>
        <p:sp>
          <p:nvSpPr>
            <p:cNvPr id="9" name="object 3"/>
            <p:cNvSpPr/>
            <p:nvPr/>
          </p:nvSpPr>
          <p:spPr>
            <a:xfrm>
              <a:off x="812799" y="3092450"/>
              <a:ext cx="5181600" cy="2362200"/>
            </a:xfrm>
            <a:custGeom>
              <a:avLst/>
              <a:gdLst/>
              <a:ahLst/>
              <a:cxnLst/>
              <a:rect l="l" t="t" r="r" b="b"/>
              <a:pathLst>
                <a:path w="5181600" h="2362200">
                  <a:moveTo>
                    <a:pt x="0" y="0"/>
                  </a:moveTo>
                  <a:lnTo>
                    <a:pt x="5181598" y="0"/>
                  </a:lnTo>
                  <a:lnTo>
                    <a:pt x="5181598" y="2362199"/>
                  </a:lnTo>
                  <a:lnTo>
                    <a:pt x="0" y="2362199"/>
                  </a:lnTo>
                  <a:lnTo>
                    <a:pt x="0" y="0"/>
                  </a:lnTo>
                  <a:close/>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0" name="object 4"/>
            <p:cNvSpPr/>
            <p:nvPr/>
          </p:nvSpPr>
          <p:spPr>
            <a:xfrm>
              <a:off x="6197598" y="3092450"/>
              <a:ext cx="5181600" cy="2362200"/>
            </a:xfrm>
            <a:custGeom>
              <a:avLst/>
              <a:gdLst/>
              <a:ahLst/>
              <a:cxnLst/>
              <a:rect l="l" t="t" r="r" b="b"/>
              <a:pathLst>
                <a:path w="5181600" h="2362200">
                  <a:moveTo>
                    <a:pt x="0" y="0"/>
                  </a:moveTo>
                  <a:lnTo>
                    <a:pt x="5181598" y="0"/>
                  </a:lnTo>
                  <a:lnTo>
                    <a:pt x="5181598" y="2362199"/>
                  </a:lnTo>
                  <a:lnTo>
                    <a:pt x="0" y="2362199"/>
                  </a:lnTo>
                  <a:lnTo>
                    <a:pt x="0" y="0"/>
                  </a:lnTo>
                  <a:close/>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1" name="object 5"/>
            <p:cNvSpPr/>
            <p:nvPr/>
          </p:nvSpPr>
          <p:spPr>
            <a:xfrm>
              <a:off x="3251200" y="3549650"/>
              <a:ext cx="1524000" cy="1143000"/>
            </a:xfrm>
            <a:custGeom>
              <a:avLst/>
              <a:gdLst/>
              <a:ahLst/>
              <a:cxnLst/>
              <a:rect l="l" t="t" r="r" b="b"/>
              <a:pathLst>
                <a:path w="1524000" h="1143000">
                  <a:moveTo>
                    <a:pt x="762000" y="0"/>
                  </a:moveTo>
                  <a:lnTo>
                    <a:pt x="707581" y="1434"/>
                  </a:lnTo>
                  <a:lnTo>
                    <a:pt x="654194" y="5675"/>
                  </a:lnTo>
                  <a:lnTo>
                    <a:pt x="601970" y="12624"/>
                  </a:lnTo>
                  <a:lnTo>
                    <a:pt x="551036" y="22185"/>
                  </a:lnTo>
                  <a:lnTo>
                    <a:pt x="501521" y="34261"/>
                  </a:lnTo>
                  <a:lnTo>
                    <a:pt x="453555" y="48756"/>
                  </a:lnTo>
                  <a:lnTo>
                    <a:pt x="407267" y="65573"/>
                  </a:lnTo>
                  <a:lnTo>
                    <a:pt x="362785" y="84615"/>
                  </a:lnTo>
                  <a:lnTo>
                    <a:pt x="320238" y="105785"/>
                  </a:lnTo>
                  <a:lnTo>
                    <a:pt x="279755" y="128987"/>
                  </a:lnTo>
                  <a:lnTo>
                    <a:pt x="241466" y="154124"/>
                  </a:lnTo>
                  <a:lnTo>
                    <a:pt x="205499" y="181099"/>
                  </a:lnTo>
                  <a:lnTo>
                    <a:pt x="171983" y="209817"/>
                  </a:lnTo>
                  <a:lnTo>
                    <a:pt x="141047" y="240178"/>
                  </a:lnTo>
                  <a:lnTo>
                    <a:pt x="112820" y="272089"/>
                  </a:lnTo>
                  <a:lnTo>
                    <a:pt x="87430" y="305450"/>
                  </a:lnTo>
                  <a:lnTo>
                    <a:pt x="65008" y="340167"/>
                  </a:lnTo>
                  <a:lnTo>
                    <a:pt x="45682" y="376141"/>
                  </a:lnTo>
                  <a:lnTo>
                    <a:pt x="29580" y="413277"/>
                  </a:lnTo>
                  <a:lnTo>
                    <a:pt x="16832" y="451477"/>
                  </a:lnTo>
                  <a:lnTo>
                    <a:pt x="7567" y="490646"/>
                  </a:lnTo>
                  <a:lnTo>
                    <a:pt x="1913" y="530685"/>
                  </a:lnTo>
                  <a:lnTo>
                    <a:pt x="0" y="571500"/>
                  </a:lnTo>
                  <a:lnTo>
                    <a:pt x="1913" y="612314"/>
                  </a:lnTo>
                  <a:lnTo>
                    <a:pt x="7567" y="652353"/>
                  </a:lnTo>
                  <a:lnTo>
                    <a:pt x="16832" y="691522"/>
                  </a:lnTo>
                  <a:lnTo>
                    <a:pt x="29580" y="729722"/>
                  </a:lnTo>
                  <a:lnTo>
                    <a:pt x="45682" y="766858"/>
                  </a:lnTo>
                  <a:lnTo>
                    <a:pt x="65008" y="802832"/>
                  </a:lnTo>
                  <a:lnTo>
                    <a:pt x="87430" y="837549"/>
                  </a:lnTo>
                  <a:lnTo>
                    <a:pt x="112820" y="870910"/>
                  </a:lnTo>
                  <a:lnTo>
                    <a:pt x="141047" y="902821"/>
                  </a:lnTo>
                  <a:lnTo>
                    <a:pt x="171983" y="933182"/>
                  </a:lnTo>
                  <a:lnTo>
                    <a:pt x="205499" y="961900"/>
                  </a:lnTo>
                  <a:lnTo>
                    <a:pt x="241466" y="988875"/>
                  </a:lnTo>
                  <a:lnTo>
                    <a:pt x="279755" y="1014012"/>
                  </a:lnTo>
                  <a:lnTo>
                    <a:pt x="320238" y="1037214"/>
                  </a:lnTo>
                  <a:lnTo>
                    <a:pt x="362785" y="1058384"/>
                  </a:lnTo>
                  <a:lnTo>
                    <a:pt x="407267" y="1077426"/>
                  </a:lnTo>
                  <a:lnTo>
                    <a:pt x="453555" y="1094243"/>
                  </a:lnTo>
                  <a:lnTo>
                    <a:pt x="501521" y="1108738"/>
                  </a:lnTo>
                  <a:lnTo>
                    <a:pt x="551036" y="1120814"/>
                  </a:lnTo>
                  <a:lnTo>
                    <a:pt x="601970" y="1130375"/>
                  </a:lnTo>
                  <a:lnTo>
                    <a:pt x="654194" y="1137324"/>
                  </a:lnTo>
                  <a:lnTo>
                    <a:pt x="707581" y="1141565"/>
                  </a:lnTo>
                  <a:lnTo>
                    <a:pt x="762000" y="1143000"/>
                  </a:lnTo>
                  <a:lnTo>
                    <a:pt x="816418" y="1141565"/>
                  </a:lnTo>
                  <a:lnTo>
                    <a:pt x="869805" y="1137324"/>
                  </a:lnTo>
                  <a:lnTo>
                    <a:pt x="922029" y="1130375"/>
                  </a:lnTo>
                  <a:lnTo>
                    <a:pt x="972963" y="1120814"/>
                  </a:lnTo>
                  <a:lnTo>
                    <a:pt x="1022478" y="1108738"/>
                  </a:lnTo>
                  <a:lnTo>
                    <a:pt x="1070443" y="1094243"/>
                  </a:lnTo>
                  <a:lnTo>
                    <a:pt x="1116732" y="1077426"/>
                  </a:lnTo>
                  <a:lnTo>
                    <a:pt x="1161214" y="1058384"/>
                  </a:lnTo>
                  <a:lnTo>
                    <a:pt x="1203761" y="1037214"/>
                  </a:lnTo>
                  <a:lnTo>
                    <a:pt x="1244243" y="1014012"/>
                  </a:lnTo>
                  <a:lnTo>
                    <a:pt x="1282532" y="988875"/>
                  </a:lnTo>
                  <a:lnTo>
                    <a:pt x="1318500" y="961900"/>
                  </a:lnTo>
                  <a:lnTo>
                    <a:pt x="1352016" y="933182"/>
                  </a:lnTo>
                  <a:lnTo>
                    <a:pt x="1382952" y="902821"/>
                  </a:lnTo>
                  <a:lnTo>
                    <a:pt x="1411179" y="870910"/>
                  </a:lnTo>
                  <a:lnTo>
                    <a:pt x="1436568" y="837549"/>
                  </a:lnTo>
                  <a:lnTo>
                    <a:pt x="1458990" y="802832"/>
                  </a:lnTo>
                  <a:lnTo>
                    <a:pt x="1478316" y="766858"/>
                  </a:lnTo>
                  <a:lnTo>
                    <a:pt x="1494418" y="729722"/>
                  </a:lnTo>
                  <a:lnTo>
                    <a:pt x="1507166" y="691522"/>
                  </a:lnTo>
                  <a:lnTo>
                    <a:pt x="1516431" y="652353"/>
                  </a:lnTo>
                  <a:lnTo>
                    <a:pt x="1522085" y="612314"/>
                  </a:lnTo>
                  <a:lnTo>
                    <a:pt x="1523998" y="571500"/>
                  </a:lnTo>
                  <a:lnTo>
                    <a:pt x="1522085" y="530685"/>
                  </a:lnTo>
                  <a:lnTo>
                    <a:pt x="1516431" y="490646"/>
                  </a:lnTo>
                  <a:lnTo>
                    <a:pt x="1507166" y="451477"/>
                  </a:lnTo>
                  <a:lnTo>
                    <a:pt x="1494418" y="413277"/>
                  </a:lnTo>
                  <a:lnTo>
                    <a:pt x="1478316" y="376141"/>
                  </a:lnTo>
                  <a:lnTo>
                    <a:pt x="1458990" y="340167"/>
                  </a:lnTo>
                  <a:lnTo>
                    <a:pt x="1436568" y="305450"/>
                  </a:lnTo>
                  <a:lnTo>
                    <a:pt x="1411179" y="272089"/>
                  </a:lnTo>
                  <a:lnTo>
                    <a:pt x="1382952" y="240178"/>
                  </a:lnTo>
                  <a:lnTo>
                    <a:pt x="1352016" y="209817"/>
                  </a:lnTo>
                  <a:lnTo>
                    <a:pt x="1318500" y="181099"/>
                  </a:lnTo>
                  <a:lnTo>
                    <a:pt x="1282532" y="154124"/>
                  </a:lnTo>
                  <a:lnTo>
                    <a:pt x="1244243" y="128987"/>
                  </a:lnTo>
                  <a:lnTo>
                    <a:pt x="1203761" y="105785"/>
                  </a:lnTo>
                  <a:lnTo>
                    <a:pt x="1161214" y="84615"/>
                  </a:lnTo>
                  <a:lnTo>
                    <a:pt x="1116732" y="65573"/>
                  </a:lnTo>
                  <a:lnTo>
                    <a:pt x="1070443" y="48756"/>
                  </a:lnTo>
                  <a:lnTo>
                    <a:pt x="1022478" y="34261"/>
                  </a:lnTo>
                  <a:lnTo>
                    <a:pt x="972963" y="22185"/>
                  </a:lnTo>
                  <a:lnTo>
                    <a:pt x="922029" y="12624"/>
                  </a:lnTo>
                  <a:lnTo>
                    <a:pt x="869805" y="5675"/>
                  </a:lnTo>
                  <a:lnTo>
                    <a:pt x="816418" y="1434"/>
                  </a:lnTo>
                  <a:lnTo>
                    <a:pt x="762000" y="0"/>
                  </a:lnTo>
                  <a:close/>
                </a:path>
              </a:pathLst>
            </a:custGeom>
            <a:solidFill>
              <a:srgbClr val="FFDF79">
                <a:alpha val="78819"/>
              </a:srgbClr>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2" name="object 6"/>
            <p:cNvSpPr/>
            <p:nvPr/>
          </p:nvSpPr>
          <p:spPr>
            <a:xfrm>
              <a:off x="3251199" y="3549650"/>
              <a:ext cx="1524000" cy="1143000"/>
            </a:xfrm>
            <a:custGeom>
              <a:avLst/>
              <a:gdLst/>
              <a:ahLst/>
              <a:cxnLst/>
              <a:rect l="l" t="t" r="r" b="b"/>
              <a:pathLst>
                <a:path w="1524000" h="1143000">
                  <a:moveTo>
                    <a:pt x="0" y="571499"/>
                  </a:moveTo>
                  <a:lnTo>
                    <a:pt x="1913" y="530685"/>
                  </a:lnTo>
                  <a:lnTo>
                    <a:pt x="7567" y="490645"/>
                  </a:lnTo>
                  <a:lnTo>
                    <a:pt x="16832" y="451477"/>
                  </a:lnTo>
                  <a:lnTo>
                    <a:pt x="29580" y="413277"/>
                  </a:lnTo>
                  <a:lnTo>
                    <a:pt x="45682" y="376141"/>
                  </a:lnTo>
                  <a:lnTo>
                    <a:pt x="65008" y="340166"/>
                  </a:lnTo>
                  <a:lnTo>
                    <a:pt x="87430" y="305450"/>
                  </a:lnTo>
                  <a:lnTo>
                    <a:pt x="112820" y="272088"/>
                  </a:lnTo>
                  <a:lnTo>
                    <a:pt x="141047" y="240178"/>
                  </a:lnTo>
                  <a:lnTo>
                    <a:pt x="171983" y="209816"/>
                  </a:lnTo>
                  <a:lnTo>
                    <a:pt x="205499" y="181099"/>
                  </a:lnTo>
                  <a:lnTo>
                    <a:pt x="241466" y="154124"/>
                  </a:lnTo>
                  <a:lnTo>
                    <a:pt x="279755" y="128987"/>
                  </a:lnTo>
                  <a:lnTo>
                    <a:pt x="320238" y="105785"/>
                  </a:lnTo>
                  <a:lnTo>
                    <a:pt x="362785" y="84615"/>
                  </a:lnTo>
                  <a:lnTo>
                    <a:pt x="407267" y="65573"/>
                  </a:lnTo>
                  <a:lnTo>
                    <a:pt x="453555" y="48756"/>
                  </a:lnTo>
                  <a:lnTo>
                    <a:pt x="501521" y="34261"/>
                  </a:lnTo>
                  <a:lnTo>
                    <a:pt x="551036" y="22185"/>
                  </a:lnTo>
                  <a:lnTo>
                    <a:pt x="601970" y="12624"/>
                  </a:lnTo>
                  <a:lnTo>
                    <a:pt x="654194" y="5675"/>
                  </a:lnTo>
                  <a:lnTo>
                    <a:pt x="707581" y="1434"/>
                  </a:lnTo>
                  <a:lnTo>
                    <a:pt x="761999" y="0"/>
                  </a:lnTo>
                  <a:lnTo>
                    <a:pt x="816418" y="1434"/>
                  </a:lnTo>
                  <a:lnTo>
                    <a:pt x="869805" y="5675"/>
                  </a:lnTo>
                  <a:lnTo>
                    <a:pt x="922029" y="12624"/>
                  </a:lnTo>
                  <a:lnTo>
                    <a:pt x="972963" y="22185"/>
                  </a:lnTo>
                  <a:lnTo>
                    <a:pt x="1022477" y="34261"/>
                  </a:lnTo>
                  <a:lnTo>
                    <a:pt x="1070443" y="48756"/>
                  </a:lnTo>
                  <a:lnTo>
                    <a:pt x="1116732" y="65573"/>
                  </a:lnTo>
                  <a:lnTo>
                    <a:pt x="1161214" y="84615"/>
                  </a:lnTo>
                  <a:lnTo>
                    <a:pt x="1203761" y="105785"/>
                  </a:lnTo>
                  <a:lnTo>
                    <a:pt x="1244243" y="128987"/>
                  </a:lnTo>
                  <a:lnTo>
                    <a:pt x="1282533" y="154124"/>
                  </a:lnTo>
                  <a:lnTo>
                    <a:pt x="1318500" y="181099"/>
                  </a:lnTo>
                  <a:lnTo>
                    <a:pt x="1352016" y="209816"/>
                  </a:lnTo>
                  <a:lnTo>
                    <a:pt x="1382952" y="240178"/>
                  </a:lnTo>
                  <a:lnTo>
                    <a:pt x="1411179" y="272088"/>
                  </a:lnTo>
                  <a:lnTo>
                    <a:pt x="1436568" y="305450"/>
                  </a:lnTo>
                  <a:lnTo>
                    <a:pt x="1458991" y="340166"/>
                  </a:lnTo>
                  <a:lnTo>
                    <a:pt x="1478317" y="376141"/>
                  </a:lnTo>
                  <a:lnTo>
                    <a:pt x="1494419" y="413277"/>
                  </a:lnTo>
                  <a:lnTo>
                    <a:pt x="1507167" y="451477"/>
                  </a:lnTo>
                  <a:lnTo>
                    <a:pt x="1516432" y="490645"/>
                  </a:lnTo>
                  <a:lnTo>
                    <a:pt x="1522086" y="530685"/>
                  </a:lnTo>
                  <a:lnTo>
                    <a:pt x="1523999" y="571499"/>
                  </a:lnTo>
                  <a:lnTo>
                    <a:pt x="1522086" y="612313"/>
                  </a:lnTo>
                  <a:lnTo>
                    <a:pt x="1516432" y="652353"/>
                  </a:lnTo>
                  <a:lnTo>
                    <a:pt x="1507167" y="691521"/>
                  </a:lnTo>
                  <a:lnTo>
                    <a:pt x="1494419" y="729722"/>
                  </a:lnTo>
                  <a:lnTo>
                    <a:pt x="1478317" y="766858"/>
                  </a:lnTo>
                  <a:lnTo>
                    <a:pt x="1458991" y="802832"/>
                  </a:lnTo>
                  <a:lnTo>
                    <a:pt x="1436568" y="837549"/>
                  </a:lnTo>
                  <a:lnTo>
                    <a:pt x="1411179" y="870910"/>
                  </a:lnTo>
                  <a:lnTo>
                    <a:pt x="1382952" y="902820"/>
                  </a:lnTo>
                  <a:lnTo>
                    <a:pt x="1352016" y="933182"/>
                  </a:lnTo>
                  <a:lnTo>
                    <a:pt x="1318500" y="961899"/>
                  </a:lnTo>
                  <a:lnTo>
                    <a:pt x="1282533" y="988875"/>
                  </a:lnTo>
                  <a:lnTo>
                    <a:pt x="1244243" y="1014012"/>
                  </a:lnTo>
                  <a:lnTo>
                    <a:pt x="1203761" y="1037214"/>
                  </a:lnTo>
                  <a:lnTo>
                    <a:pt x="1161214" y="1058384"/>
                  </a:lnTo>
                  <a:lnTo>
                    <a:pt x="1116732" y="1077426"/>
                  </a:lnTo>
                  <a:lnTo>
                    <a:pt x="1070443" y="1094243"/>
                  </a:lnTo>
                  <a:lnTo>
                    <a:pt x="1022477" y="1108737"/>
                  </a:lnTo>
                  <a:lnTo>
                    <a:pt x="972963" y="1120814"/>
                  </a:lnTo>
                  <a:lnTo>
                    <a:pt x="922029" y="1130375"/>
                  </a:lnTo>
                  <a:lnTo>
                    <a:pt x="869805" y="1137324"/>
                  </a:lnTo>
                  <a:lnTo>
                    <a:pt x="816418" y="1141564"/>
                  </a:lnTo>
                  <a:lnTo>
                    <a:pt x="761999" y="1142999"/>
                  </a:lnTo>
                  <a:lnTo>
                    <a:pt x="707581" y="1141564"/>
                  </a:lnTo>
                  <a:lnTo>
                    <a:pt x="654194" y="1137324"/>
                  </a:lnTo>
                  <a:lnTo>
                    <a:pt x="601970" y="1130375"/>
                  </a:lnTo>
                  <a:lnTo>
                    <a:pt x="551036" y="1120814"/>
                  </a:lnTo>
                  <a:lnTo>
                    <a:pt x="501521" y="1108737"/>
                  </a:lnTo>
                  <a:lnTo>
                    <a:pt x="453555" y="1094243"/>
                  </a:lnTo>
                  <a:lnTo>
                    <a:pt x="407267" y="1077426"/>
                  </a:lnTo>
                  <a:lnTo>
                    <a:pt x="362785" y="1058384"/>
                  </a:lnTo>
                  <a:lnTo>
                    <a:pt x="320238" y="1037214"/>
                  </a:lnTo>
                  <a:lnTo>
                    <a:pt x="279755" y="1014012"/>
                  </a:lnTo>
                  <a:lnTo>
                    <a:pt x="241466" y="988875"/>
                  </a:lnTo>
                  <a:lnTo>
                    <a:pt x="205499" y="961899"/>
                  </a:lnTo>
                  <a:lnTo>
                    <a:pt x="171983" y="933182"/>
                  </a:lnTo>
                  <a:lnTo>
                    <a:pt x="141047" y="902820"/>
                  </a:lnTo>
                  <a:lnTo>
                    <a:pt x="112820" y="870910"/>
                  </a:lnTo>
                  <a:lnTo>
                    <a:pt x="87430" y="837549"/>
                  </a:lnTo>
                  <a:lnTo>
                    <a:pt x="65008" y="802832"/>
                  </a:lnTo>
                  <a:lnTo>
                    <a:pt x="45682" y="766858"/>
                  </a:lnTo>
                  <a:lnTo>
                    <a:pt x="29580" y="729722"/>
                  </a:lnTo>
                  <a:lnTo>
                    <a:pt x="16832" y="691521"/>
                  </a:lnTo>
                  <a:lnTo>
                    <a:pt x="7567" y="652353"/>
                  </a:lnTo>
                  <a:lnTo>
                    <a:pt x="1913" y="612313"/>
                  </a:lnTo>
                  <a:lnTo>
                    <a:pt x="0" y="571499"/>
                  </a:lnTo>
                  <a:close/>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3" name="object 7"/>
            <p:cNvSpPr txBox="1"/>
            <p:nvPr/>
          </p:nvSpPr>
          <p:spPr>
            <a:xfrm>
              <a:off x="2034539" y="4891785"/>
              <a:ext cx="2755900" cy="289823"/>
            </a:xfrm>
            <a:prstGeom prst="rect">
              <a:avLst/>
            </a:prstGeom>
          </p:spPr>
          <p:txBody>
            <a:bodyPr vert="horz" wrap="square" lIns="0" tIns="12700" rIns="0" bIns="0" rtlCol="0">
              <a:spAutoFit/>
            </a:bodyPr>
            <a:lstStyle/>
            <a:p>
              <a:pPr>
                <a:lnSpc>
                  <a:spcPct val="100000"/>
                </a:lnSpc>
                <a:spcBef>
                  <a:spcPts val="100"/>
                </a:spcBef>
              </a:pPr>
              <a:r>
                <a:rPr sz="1800" b="1" dirty="0" err="1">
                  <a:solidFill>
                    <a:srgbClr val="44546A"/>
                  </a:solidFill>
                  <a:latin typeface="微软雅黑" panose="020B0503020204020204" pitchFamily="34" charset="-122"/>
                  <a:ea typeface="微软雅黑" panose="020B0503020204020204" pitchFamily="34" charset="-122"/>
                  <a:cs typeface="Microsoft JhengHei" panose="020B0604030504040204" charset="-120"/>
                </a:rPr>
                <a:t>无用户参与的需求获取结果</a:t>
              </a:r>
              <a:endParaRPr sz="1800" dirty="0">
                <a:latin typeface="微软雅黑" panose="020B0503020204020204" pitchFamily="34" charset="-122"/>
                <a:ea typeface="微软雅黑" panose="020B0503020204020204" pitchFamily="34" charset="-122"/>
                <a:cs typeface="Microsoft JhengHei" panose="020B0604030504040204" charset="-120"/>
              </a:endParaRPr>
            </a:p>
          </p:txBody>
        </p:sp>
        <p:sp>
          <p:nvSpPr>
            <p:cNvPr id="14" name="object 8"/>
            <p:cNvSpPr txBox="1"/>
            <p:nvPr/>
          </p:nvSpPr>
          <p:spPr>
            <a:xfrm>
              <a:off x="7419338" y="4891785"/>
              <a:ext cx="2755900" cy="289823"/>
            </a:xfrm>
            <a:prstGeom prst="rect">
              <a:avLst/>
            </a:prstGeom>
          </p:spPr>
          <p:txBody>
            <a:bodyPr vert="horz" wrap="square" lIns="0" tIns="12700" rIns="0" bIns="0" rtlCol="0">
              <a:spAutoFit/>
            </a:bodyPr>
            <a:lstStyle/>
            <a:p>
              <a:pPr>
                <a:lnSpc>
                  <a:spcPct val="100000"/>
                </a:lnSpc>
                <a:spcBef>
                  <a:spcPts val="100"/>
                </a:spcBef>
              </a:pPr>
              <a:r>
                <a:rPr sz="1800" b="1" dirty="0" err="1">
                  <a:solidFill>
                    <a:srgbClr val="44546A"/>
                  </a:solidFill>
                  <a:latin typeface="微软雅黑" panose="020B0503020204020204" pitchFamily="34" charset="-122"/>
                  <a:ea typeface="微软雅黑" panose="020B0503020204020204" pitchFamily="34" charset="-122"/>
                  <a:cs typeface="Microsoft JhengHei" panose="020B0604030504040204" charset="-120"/>
                </a:rPr>
                <a:t>有用户参与的需求获取结果</a:t>
              </a:r>
              <a:endParaRPr sz="1800" dirty="0">
                <a:latin typeface="微软雅黑" panose="020B0503020204020204" pitchFamily="34" charset="-122"/>
                <a:ea typeface="微软雅黑" panose="020B0503020204020204" pitchFamily="34" charset="-122"/>
                <a:cs typeface="Microsoft JhengHei" panose="020B0604030504040204" charset="-120"/>
              </a:endParaRPr>
            </a:p>
          </p:txBody>
        </p:sp>
        <p:sp>
          <p:nvSpPr>
            <p:cNvPr id="15" name="object 9"/>
            <p:cNvSpPr/>
            <p:nvPr/>
          </p:nvSpPr>
          <p:spPr>
            <a:xfrm>
              <a:off x="2133600" y="3549650"/>
              <a:ext cx="1524000" cy="1143000"/>
            </a:xfrm>
            <a:custGeom>
              <a:avLst/>
              <a:gdLst/>
              <a:ahLst/>
              <a:cxnLst/>
              <a:rect l="l" t="t" r="r" b="b"/>
              <a:pathLst>
                <a:path w="1524000" h="1143000">
                  <a:moveTo>
                    <a:pt x="762000" y="0"/>
                  </a:moveTo>
                  <a:lnTo>
                    <a:pt x="707581" y="1434"/>
                  </a:lnTo>
                  <a:lnTo>
                    <a:pt x="654194" y="5675"/>
                  </a:lnTo>
                  <a:lnTo>
                    <a:pt x="601970" y="12624"/>
                  </a:lnTo>
                  <a:lnTo>
                    <a:pt x="551036" y="22185"/>
                  </a:lnTo>
                  <a:lnTo>
                    <a:pt x="501521" y="34261"/>
                  </a:lnTo>
                  <a:lnTo>
                    <a:pt x="453555" y="48756"/>
                  </a:lnTo>
                  <a:lnTo>
                    <a:pt x="407267" y="65573"/>
                  </a:lnTo>
                  <a:lnTo>
                    <a:pt x="362785" y="84615"/>
                  </a:lnTo>
                  <a:lnTo>
                    <a:pt x="320238" y="105785"/>
                  </a:lnTo>
                  <a:lnTo>
                    <a:pt x="279755" y="128987"/>
                  </a:lnTo>
                  <a:lnTo>
                    <a:pt x="241466" y="154124"/>
                  </a:lnTo>
                  <a:lnTo>
                    <a:pt x="205499" y="181099"/>
                  </a:lnTo>
                  <a:lnTo>
                    <a:pt x="171983" y="209817"/>
                  </a:lnTo>
                  <a:lnTo>
                    <a:pt x="141047" y="240178"/>
                  </a:lnTo>
                  <a:lnTo>
                    <a:pt x="112820" y="272089"/>
                  </a:lnTo>
                  <a:lnTo>
                    <a:pt x="87430" y="305450"/>
                  </a:lnTo>
                  <a:lnTo>
                    <a:pt x="65008" y="340167"/>
                  </a:lnTo>
                  <a:lnTo>
                    <a:pt x="45682" y="376141"/>
                  </a:lnTo>
                  <a:lnTo>
                    <a:pt x="29580" y="413277"/>
                  </a:lnTo>
                  <a:lnTo>
                    <a:pt x="16832" y="451477"/>
                  </a:lnTo>
                  <a:lnTo>
                    <a:pt x="7567" y="490646"/>
                  </a:lnTo>
                  <a:lnTo>
                    <a:pt x="1913" y="530685"/>
                  </a:lnTo>
                  <a:lnTo>
                    <a:pt x="0" y="571500"/>
                  </a:lnTo>
                  <a:lnTo>
                    <a:pt x="1913" y="612314"/>
                  </a:lnTo>
                  <a:lnTo>
                    <a:pt x="7567" y="652353"/>
                  </a:lnTo>
                  <a:lnTo>
                    <a:pt x="16832" y="691522"/>
                  </a:lnTo>
                  <a:lnTo>
                    <a:pt x="29580" y="729722"/>
                  </a:lnTo>
                  <a:lnTo>
                    <a:pt x="45682" y="766858"/>
                  </a:lnTo>
                  <a:lnTo>
                    <a:pt x="65008" y="802832"/>
                  </a:lnTo>
                  <a:lnTo>
                    <a:pt x="87430" y="837549"/>
                  </a:lnTo>
                  <a:lnTo>
                    <a:pt x="112820" y="870910"/>
                  </a:lnTo>
                  <a:lnTo>
                    <a:pt x="141047" y="902821"/>
                  </a:lnTo>
                  <a:lnTo>
                    <a:pt x="171983" y="933182"/>
                  </a:lnTo>
                  <a:lnTo>
                    <a:pt x="205499" y="961900"/>
                  </a:lnTo>
                  <a:lnTo>
                    <a:pt x="241466" y="988875"/>
                  </a:lnTo>
                  <a:lnTo>
                    <a:pt x="279755" y="1014012"/>
                  </a:lnTo>
                  <a:lnTo>
                    <a:pt x="320238" y="1037214"/>
                  </a:lnTo>
                  <a:lnTo>
                    <a:pt x="362785" y="1058384"/>
                  </a:lnTo>
                  <a:lnTo>
                    <a:pt x="407267" y="1077426"/>
                  </a:lnTo>
                  <a:lnTo>
                    <a:pt x="453555" y="1094243"/>
                  </a:lnTo>
                  <a:lnTo>
                    <a:pt x="501521" y="1108738"/>
                  </a:lnTo>
                  <a:lnTo>
                    <a:pt x="551036" y="1120814"/>
                  </a:lnTo>
                  <a:lnTo>
                    <a:pt x="601970" y="1130375"/>
                  </a:lnTo>
                  <a:lnTo>
                    <a:pt x="654194" y="1137324"/>
                  </a:lnTo>
                  <a:lnTo>
                    <a:pt x="707581" y="1141565"/>
                  </a:lnTo>
                  <a:lnTo>
                    <a:pt x="762000" y="1143000"/>
                  </a:lnTo>
                  <a:lnTo>
                    <a:pt x="816418" y="1141565"/>
                  </a:lnTo>
                  <a:lnTo>
                    <a:pt x="869805" y="1137324"/>
                  </a:lnTo>
                  <a:lnTo>
                    <a:pt x="922029" y="1130375"/>
                  </a:lnTo>
                  <a:lnTo>
                    <a:pt x="972963" y="1120814"/>
                  </a:lnTo>
                  <a:lnTo>
                    <a:pt x="1022478" y="1108738"/>
                  </a:lnTo>
                  <a:lnTo>
                    <a:pt x="1070443" y="1094243"/>
                  </a:lnTo>
                  <a:lnTo>
                    <a:pt x="1116732" y="1077426"/>
                  </a:lnTo>
                  <a:lnTo>
                    <a:pt x="1161214" y="1058384"/>
                  </a:lnTo>
                  <a:lnTo>
                    <a:pt x="1203761" y="1037214"/>
                  </a:lnTo>
                  <a:lnTo>
                    <a:pt x="1244243" y="1014012"/>
                  </a:lnTo>
                  <a:lnTo>
                    <a:pt x="1282532" y="988875"/>
                  </a:lnTo>
                  <a:lnTo>
                    <a:pt x="1318500" y="961900"/>
                  </a:lnTo>
                  <a:lnTo>
                    <a:pt x="1352016" y="933182"/>
                  </a:lnTo>
                  <a:lnTo>
                    <a:pt x="1382952" y="902821"/>
                  </a:lnTo>
                  <a:lnTo>
                    <a:pt x="1411179" y="870910"/>
                  </a:lnTo>
                  <a:lnTo>
                    <a:pt x="1436568" y="837549"/>
                  </a:lnTo>
                  <a:lnTo>
                    <a:pt x="1458990" y="802832"/>
                  </a:lnTo>
                  <a:lnTo>
                    <a:pt x="1478316" y="766858"/>
                  </a:lnTo>
                  <a:lnTo>
                    <a:pt x="1494418" y="729722"/>
                  </a:lnTo>
                  <a:lnTo>
                    <a:pt x="1507166" y="691522"/>
                  </a:lnTo>
                  <a:lnTo>
                    <a:pt x="1516431" y="652353"/>
                  </a:lnTo>
                  <a:lnTo>
                    <a:pt x="1522085" y="612314"/>
                  </a:lnTo>
                  <a:lnTo>
                    <a:pt x="1523998" y="571500"/>
                  </a:lnTo>
                  <a:lnTo>
                    <a:pt x="1522085" y="530685"/>
                  </a:lnTo>
                  <a:lnTo>
                    <a:pt x="1516431" y="490646"/>
                  </a:lnTo>
                  <a:lnTo>
                    <a:pt x="1507166" y="451477"/>
                  </a:lnTo>
                  <a:lnTo>
                    <a:pt x="1494418" y="413277"/>
                  </a:lnTo>
                  <a:lnTo>
                    <a:pt x="1478316" y="376141"/>
                  </a:lnTo>
                  <a:lnTo>
                    <a:pt x="1458990" y="340167"/>
                  </a:lnTo>
                  <a:lnTo>
                    <a:pt x="1436568" y="305450"/>
                  </a:lnTo>
                  <a:lnTo>
                    <a:pt x="1411179" y="272089"/>
                  </a:lnTo>
                  <a:lnTo>
                    <a:pt x="1382952" y="240178"/>
                  </a:lnTo>
                  <a:lnTo>
                    <a:pt x="1352016" y="209817"/>
                  </a:lnTo>
                  <a:lnTo>
                    <a:pt x="1318500" y="181099"/>
                  </a:lnTo>
                  <a:lnTo>
                    <a:pt x="1282532" y="154124"/>
                  </a:lnTo>
                  <a:lnTo>
                    <a:pt x="1244243" y="128987"/>
                  </a:lnTo>
                  <a:lnTo>
                    <a:pt x="1203761" y="105785"/>
                  </a:lnTo>
                  <a:lnTo>
                    <a:pt x="1161214" y="84615"/>
                  </a:lnTo>
                  <a:lnTo>
                    <a:pt x="1116732" y="65573"/>
                  </a:lnTo>
                  <a:lnTo>
                    <a:pt x="1070443" y="48756"/>
                  </a:lnTo>
                  <a:lnTo>
                    <a:pt x="1022478" y="34261"/>
                  </a:lnTo>
                  <a:lnTo>
                    <a:pt x="972963" y="22185"/>
                  </a:lnTo>
                  <a:lnTo>
                    <a:pt x="922029" y="12624"/>
                  </a:lnTo>
                  <a:lnTo>
                    <a:pt x="869805" y="5675"/>
                  </a:lnTo>
                  <a:lnTo>
                    <a:pt x="816418" y="1434"/>
                  </a:lnTo>
                  <a:lnTo>
                    <a:pt x="762000" y="0"/>
                  </a:lnTo>
                  <a:close/>
                </a:path>
              </a:pathLst>
            </a:custGeom>
            <a:solidFill>
              <a:srgbClr val="C8DFF2">
                <a:alpha val="39999"/>
              </a:srgbClr>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6" name="object 10"/>
            <p:cNvSpPr/>
            <p:nvPr/>
          </p:nvSpPr>
          <p:spPr>
            <a:xfrm>
              <a:off x="2133600" y="3549650"/>
              <a:ext cx="1524000" cy="1143000"/>
            </a:xfrm>
            <a:custGeom>
              <a:avLst/>
              <a:gdLst/>
              <a:ahLst/>
              <a:cxnLst/>
              <a:rect l="l" t="t" r="r" b="b"/>
              <a:pathLst>
                <a:path w="1524000" h="1143000">
                  <a:moveTo>
                    <a:pt x="0" y="571499"/>
                  </a:moveTo>
                  <a:lnTo>
                    <a:pt x="1913" y="530685"/>
                  </a:lnTo>
                  <a:lnTo>
                    <a:pt x="7567" y="490645"/>
                  </a:lnTo>
                  <a:lnTo>
                    <a:pt x="16832" y="451477"/>
                  </a:lnTo>
                  <a:lnTo>
                    <a:pt x="29580" y="413277"/>
                  </a:lnTo>
                  <a:lnTo>
                    <a:pt x="45682" y="376141"/>
                  </a:lnTo>
                  <a:lnTo>
                    <a:pt x="65008" y="340166"/>
                  </a:lnTo>
                  <a:lnTo>
                    <a:pt x="87430" y="305450"/>
                  </a:lnTo>
                  <a:lnTo>
                    <a:pt x="112820" y="272088"/>
                  </a:lnTo>
                  <a:lnTo>
                    <a:pt x="141047" y="240178"/>
                  </a:lnTo>
                  <a:lnTo>
                    <a:pt x="171983" y="209816"/>
                  </a:lnTo>
                  <a:lnTo>
                    <a:pt x="205499" y="181099"/>
                  </a:lnTo>
                  <a:lnTo>
                    <a:pt x="241466" y="154124"/>
                  </a:lnTo>
                  <a:lnTo>
                    <a:pt x="279755" y="128987"/>
                  </a:lnTo>
                  <a:lnTo>
                    <a:pt x="320238" y="105785"/>
                  </a:lnTo>
                  <a:lnTo>
                    <a:pt x="362785" y="84615"/>
                  </a:lnTo>
                  <a:lnTo>
                    <a:pt x="407267" y="65573"/>
                  </a:lnTo>
                  <a:lnTo>
                    <a:pt x="453555" y="48756"/>
                  </a:lnTo>
                  <a:lnTo>
                    <a:pt x="501521" y="34261"/>
                  </a:lnTo>
                  <a:lnTo>
                    <a:pt x="551036" y="22185"/>
                  </a:lnTo>
                  <a:lnTo>
                    <a:pt x="601970" y="12624"/>
                  </a:lnTo>
                  <a:lnTo>
                    <a:pt x="654194" y="5675"/>
                  </a:lnTo>
                  <a:lnTo>
                    <a:pt x="707580" y="1434"/>
                  </a:lnTo>
                  <a:lnTo>
                    <a:pt x="761999" y="0"/>
                  </a:lnTo>
                  <a:lnTo>
                    <a:pt x="816418" y="1434"/>
                  </a:lnTo>
                  <a:lnTo>
                    <a:pt x="869804" y="5675"/>
                  </a:lnTo>
                  <a:lnTo>
                    <a:pt x="922029" y="12624"/>
                  </a:lnTo>
                  <a:lnTo>
                    <a:pt x="972963" y="22185"/>
                  </a:lnTo>
                  <a:lnTo>
                    <a:pt x="1022477" y="34261"/>
                  </a:lnTo>
                  <a:lnTo>
                    <a:pt x="1070443" y="48756"/>
                  </a:lnTo>
                  <a:lnTo>
                    <a:pt x="1116732" y="65573"/>
                  </a:lnTo>
                  <a:lnTo>
                    <a:pt x="1161214" y="84615"/>
                  </a:lnTo>
                  <a:lnTo>
                    <a:pt x="1203761" y="105785"/>
                  </a:lnTo>
                  <a:lnTo>
                    <a:pt x="1244243" y="128987"/>
                  </a:lnTo>
                  <a:lnTo>
                    <a:pt x="1282533" y="154124"/>
                  </a:lnTo>
                  <a:lnTo>
                    <a:pt x="1318500" y="181099"/>
                  </a:lnTo>
                  <a:lnTo>
                    <a:pt x="1352016" y="209816"/>
                  </a:lnTo>
                  <a:lnTo>
                    <a:pt x="1382952" y="240178"/>
                  </a:lnTo>
                  <a:lnTo>
                    <a:pt x="1411179" y="272088"/>
                  </a:lnTo>
                  <a:lnTo>
                    <a:pt x="1436568" y="305450"/>
                  </a:lnTo>
                  <a:lnTo>
                    <a:pt x="1458991" y="340166"/>
                  </a:lnTo>
                  <a:lnTo>
                    <a:pt x="1478317" y="376141"/>
                  </a:lnTo>
                  <a:lnTo>
                    <a:pt x="1494419" y="413277"/>
                  </a:lnTo>
                  <a:lnTo>
                    <a:pt x="1507167" y="451477"/>
                  </a:lnTo>
                  <a:lnTo>
                    <a:pt x="1516432" y="490645"/>
                  </a:lnTo>
                  <a:lnTo>
                    <a:pt x="1522086" y="530685"/>
                  </a:lnTo>
                  <a:lnTo>
                    <a:pt x="1523999" y="571499"/>
                  </a:lnTo>
                  <a:lnTo>
                    <a:pt x="1522086" y="612313"/>
                  </a:lnTo>
                  <a:lnTo>
                    <a:pt x="1516432" y="652353"/>
                  </a:lnTo>
                  <a:lnTo>
                    <a:pt x="1507167" y="691521"/>
                  </a:lnTo>
                  <a:lnTo>
                    <a:pt x="1494419" y="729722"/>
                  </a:lnTo>
                  <a:lnTo>
                    <a:pt x="1478317" y="766858"/>
                  </a:lnTo>
                  <a:lnTo>
                    <a:pt x="1458991" y="802832"/>
                  </a:lnTo>
                  <a:lnTo>
                    <a:pt x="1436568" y="837549"/>
                  </a:lnTo>
                  <a:lnTo>
                    <a:pt x="1411179" y="870910"/>
                  </a:lnTo>
                  <a:lnTo>
                    <a:pt x="1382952" y="902820"/>
                  </a:lnTo>
                  <a:lnTo>
                    <a:pt x="1352016" y="933182"/>
                  </a:lnTo>
                  <a:lnTo>
                    <a:pt x="1318500" y="961899"/>
                  </a:lnTo>
                  <a:lnTo>
                    <a:pt x="1282533" y="988875"/>
                  </a:lnTo>
                  <a:lnTo>
                    <a:pt x="1244243" y="1014012"/>
                  </a:lnTo>
                  <a:lnTo>
                    <a:pt x="1203761" y="1037214"/>
                  </a:lnTo>
                  <a:lnTo>
                    <a:pt x="1161214" y="1058384"/>
                  </a:lnTo>
                  <a:lnTo>
                    <a:pt x="1116732" y="1077426"/>
                  </a:lnTo>
                  <a:lnTo>
                    <a:pt x="1070443" y="1094243"/>
                  </a:lnTo>
                  <a:lnTo>
                    <a:pt x="1022477" y="1108737"/>
                  </a:lnTo>
                  <a:lnTo>
                    <a:pt x="972963" y="1120814"/>
                  </a:lnTo>
                  <a:lnTo>
                    <a:pt x="922029" y="1130375"/>
                  </a:lnTo>
                  <a:lnTo>
                    <a:pt x="869804" y="1137324"/>
                  </a:lnTo>
                  <a:lnTo>
                    <a:pt x="816418" y="1141564"/>
                  </a:lnTo>
                  <a:lnTo>
                    <a:pt x="761999" y="1142999"/>
                  </a:lnTo>
                  <a:lnTo>
                    <a:pt x="707580" y="1141564"/>
                  </a:lnTo>
                  <a:lnTo>
                    <a:pt x="654194" y="1137324"/>
                  </a:lnTo>
                  <a:lnTo>
                    <a:pt x="601970" y="1130375"/>
                  </a:lnTo>
                  <a:lnTo>
                    <a:pt x="551036" y="1120814"/>
                  </a:lnTo>
                  <a:lnTo>
                    <a:pt x="501521" y="1108737"/>
                  </a:lnTo>
                  <a:lnTo>
                    <a:pt x="453555" y="1094243"/>
                  </a:lnTo>
                  <a:lnTo>
                    <a:pt x="407267" y="1077426"/>
                  </a:lnTo>
                  <a:lnTo>
                    <a:pt x="362785" y="1058384"/>
                  </a:lnTo>
                  <a:lnTo>
                    <a:pt x="320238" y="1037214"/>
                  </a:lnTo>
                  <a:lnTo>
                    <a:pt x="279755" y="1014012"/>
                  </a:lnTo>
                  <a:lnTo>
                    <a:pt x="241466" y="988875"/>
                  </a:lnTo>
                  <a:lnTo>
                    <a:pt x="205499" y="961899"/>
                  </a:lnTo>
                  <a:lnTo>
                    <a:pt x="171983" y="933182"/>
                  </a:lnTo>
                  <a:lnTo>
                    <a:pt x="141047" y="902820"/>
                  </a:lnTo>
                  <a:lnTo>
                    <a:pt x="112820" y="870910"/>
                  </a:lnTo>
                  <a:lnTo>
                    <a:pt x="87430" y="837549"/>
                  </a:lnTo>
                  <a:lnTo>
                    <a:pt x="65008" y="802832"/>
                  </a:lnTo>
                  <a:lnTo>
                    <a:pt x="45682" y="766858"/>
                  </a:lnTo>
                  <a:lnTo>
                    <a:pt x="29580" y="729722"/>
                  </a:lnTo>
                  <a:lnTo>
                    <a:pt x="16832" y="691521"/>
                  </a:lnTo>
                  <a:lnTo>
                    <a:pt x="7567" y="652353"/>
                  </a:lnTo>
                  <a:lnTo>
                    <a:pt x="1913" y="612313"/>
                  </a:lnTo>
                  <a:lnTo>
                    <a:pt x="0" y="571499"/>
                  </a:lnTo>
                  <a:close/>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7" name="object 11"/>
            <p:cNvSpPr/>
            <p:nvPr/>
          </p:nvSpPr>
          <p:spPr>
            <a:xfrm>
              <a:off x="8127998" y="3549650"/>
              <a:ext cx="1524000" cy="1143000"/>
            </a:xfrm>
            <a:custGeom>
              <a:avLst/>
              <a:gdLst/>
              <a:ahLst/>
              <a:cxnLst/>
              <a:rect l="l" t="t" r="r" b="b"/>
              <a:pathLst>
                <a:path w="1524000" h="1143000">
                  <a:moveTo>
                    <a:pt x="762000" y="0"/>
                  </a:moveTo>
                  <a:lnTo>
                    <a:pt x="707581" y="1434"/>
                  </a:lnTo>
                  <a:lnTo>
                    <a:pt x="654195" y="5675"/>
                  </a:lnTo>
                  <a:lnTo>
                    <a:pt x="601970" y="12624"/>
                  </a:lnTo>
                  <a:lnTo>
                    <a:pt x="551036" y="22185"/>
                  </a:lnTo>
                  <a:lnTo>
                    <a:pt x="501522" y="34261"/>
                  </a:lnTo>
                  <a:lnTo>
                    <a:pt x="453556" y="48756"/>
                  </a:lnTo>
                  <a:lnTo>
                    <a:pt x="407267" y="65573"/>
                  </a:lnTo>
                  <a:lnTo>
                    <a:pt x="362785" y="84615"/>
                  </a:lnTo>
                  <a:lnTo>
                    <a:pt x="320238" y="105785"/>
                  </a:lnTo>
                  <a:lnTo>
                    <a:pt x="279756" y="128987"/>
                  </a:lnTo>
                  <a:lnTo>
                    <a:pt x="241466" y="154124"/>
                  </a:lnTo>
                  <a:lnTo>
                    <a:pt x="205499" y="181099"/>
                  </a:lnTo>
                  <a:lnTo>
                    <a:pt x="171983" y="209817"/>
                  </a:lnTo>
                  <a:lnTo>
                    <a:pt x="141047" y="240178"/>
                  </a:lnTo>
                  <a:lnTo>
                    <a:pt x="112820" y="272089"/>
                  </a:lnTo>
                  <a:lnTo>
                    <a:pt x="87431" y="305450"/>
                  </a:lnTo>
                  <a:lnTo>
                    <a:pt x="65008" y="340167"/>
                  </a:lnTo>
                  <a:lnTo>
                    <a:pt x="45682" y="376141"/>
                  </a:lnTo>
                  <a:lnTo>
                    <a:pt x="29580" y="413277"/>
                  </a:lnTo>
                  <a:lnTo>
                    <a:pt x="16832" y="451477"/>
                  </a:lnTo>
                  <a:lnTo>
                    <a:pt x="7567" y="490646"/>
                  </a:lnTo>
                  <a:lnTo>
                    <a:pt x="1913" y="530685"/>
                  </a:lnTo>
                  <a:lnTo>
                    <a:pt x="0" y="571500"/>
                  </a:lnTo>
                  <a:lnTo>
                    <a:pt x="1913" y="612314"/>
                  </a:lnTo>
                  <a:lnTo>
                    <a:pt x="7567" y="652353"/>
                  </a:lnTo>
                  <a:lnTo>
                    <a:pt x="16832" y="691522"/>
                  </a:lnTo>
                  <a:lnTo>
                    <a:pt x="29580" y="729722"/>
                  </a:lnTo>
                  <a:lnTo>
                    <a:pt x="45682" y="766858"/>
                  </a:lnTo>
                  <a:lnTo>
                    <a:pt x="65008" y="802832"/>
                  </a:lnTo>
                  <a:lnTo>
                    <a:pt x="87431" y="837549"/>
                  </a:lnTo>
                  <a:lnTo>
                    <a:pt x="112820" y="870910"/>
                  </a:lnTo>
                  <a:lnTo>
                    <a:pt x="141047" y="902821"/>
                  </a:lnTo>
                  <a:lnTo>
                    <a:pt x="171983" y="933182"/>
                  </a:lnTo>
                  <a:lnTo>
                    <a:pt x="205499" y="961900"/>
                  </a:lnTo>
                  <a:lnTo>
                    <a:pt x="241466" y="988875"/>
                  </a:lnTo>
                  <a:lnTo>
                    <a:pt x="279756" y="1014012"/>
                  </a:lnTo>
                  <a:lnTo>
                    <a:pt x="320238" y="1037214"/>
                  </a:lnTo>
                  <a:lnTo>
                    <a:pt x="362785" y="1058384"/>
                  </a:lnTo>
                  <a:lnTo>
                    <a:pt x="407267" y="1077426"/>
                  </a:lnTo>
                  <a:lnTo>
                    <a:pt x="453556" y="1094243"/>
                  </a:lnTo>
                  <a:lnTo>
                    <a:pt x="501522" y="1108738"/>
                  </a:lnTo>
                  <a:lnTo>
                    <a:pt x="551036" y="1120814"/>
                  </a:lnTo>
                  <a:lnTo>
                    <a:pt x="601970" y="1130375"/>
                  </a:lnTo>
                  <a:lnTo>
                    <a:pt x="654195" y="1137324"/>
                  </a:lnTo>
                  <a:lnTo>
                    <a:pt x="707581" y="1141565"/>
                  </a:lnTo>
                  <a:lnTo>
                    <a:pt x="762000" y="1143000"/>
                  </a:lnTo>
                  <a:lnTo>
                    <a:pt x="816418" y="1141565"/>
                  </a:lnTo>
                  <a:lnTo>
                    <a:pt x="869805" y="1137324"/>
                  </a:lnTo>
                  <a:lnTo>
                    <a:pt x="922029" y="1130375"/>
                  </a:lnTo>
                  <a:lnTo>
                    <a:pt x="972963" y="1120814"/>
                  </a:lnTo>
                  <a:lnTo>
                    <a:pt x="1022478" y="1108738"/>
                  </a:lnTo>
                  <a:lnTo>
                    <a:pt x="1070444" y="1094243"/>
                  </a:lnTo>
                  <a:lnTo>
                    <a:pt x="1116732" y="1077426"/>
                  </a:lnTo>
                  <a:lnTo>
                    <a:pt x="1161214" y="1058384"/>
                  </a:lnTo>
                  <a:lnTo>
                    <a:pt x="1203761" y="1037214"/>
                  </a:lnTo>
                  <a:lnTo>
                    <a:pt x="1244244" y="1014012"/>
                  </a:lnTo>
                  <a:lnTo>
                    <a:pt x="1282533" y="988875"/>
                  </a:lnTo>
                  <a:lnTo>
                    <a:pt x="1318500" y="961900"/>
                  </a:lnTo>
                  <a:lnTo>
                    <a:pt x="1352016" y="933182"/>
                  </a:lnTo>
                  <a:lnTo>
                    <a:pt x="1382952" y="902821"/>
                  </a:lnTo>
                  <a:lnTo>
                    <a:pt x="1411179" y="870910"/>
                  </a:lnTo>
                  <a:lnTo>
                    <a:pt x="1436569" y="837549"/>
                  </a:lnTo>
                  <a:lnTo>
                    <a:pt x="1458991" y="802832"/>
                  </a:lnTo>
                  <a:lnTo>
                    <a:pt x="1478317" y="766858"/>
                  </a:lnTo>
                  <a:lnTo>
                    <a:pt x="1494419" y="729722"/>
                  </a:lnTo>
                  <a:lnTo>
                    <a:pt x="1507167" y="691522"/>
                  </a:lnTo>
                  <a:lnTo>
                    <a:pt x="1516432" y="652353"/>
                  </a:lnTo>
                  <a:lnTo>
                    <a:pt x="1522086" y="612314"/>
                  </a:lnTo>
                  <a:lnTo>
                    <a:pt x="1524000" y="571500"/>
                  </a:lnTo>
                  <a:lnTo>
                    <a:pt x="1522086" y="530685"/>
                  </a:lnTo>
                  <a:lnTo>
                    <a:pt x="1516432" y="490646"/>
                  </a:lnTo>
                  <a:lnTo>
                    <a:pt x="1507167" y="451477"/>
                  </a:lnTo>
                  <a:lnTo>
                    <a:pt x="1494419" y="413277"/>
                  </a:lnTo>
                  <a:lnTo>
                    <a:pt x="1478317" y="376141"/>
                  </a:lnTo>
                  <a:lnTo>
                    <a:pt x="1458991" y="340167"/>
                  </a:lnTo>
                  <a:lnTo>
                    <a:pt x="1436569" y="305450"/>
                  </a:lnTo>
                  <a:lnTo>
                    <a:pt x="1411179" y="272089"/>
                  </a:lnTo>
                  <a:lnTo>
                    <a:pt x="1382952" y="240178"/>
                  </a:lnTo>
                  <a:lnTo>
                    <a:pt x="1352016" y="209817"/>
                  </a:lnTo>
                  <a:lnTo>
                    <a:pt x="1318500" y="181099"/>
                  </a:lnTo>
                  <a:lnTo>
                    <a:pt x="1282533" y="154124"/>
                  </a:lnTo>
                  <a:lnTo>
                    <a:pt x="1244244" y="128987"/>
                  </a:lnTo>
                  <a:lnTo>
                    <a:pt x="1203761" y="105785"/>
                  </a:lnTo>
                  <a:lnTo>
                    <a:pt x="1161214" y="84615"/>
                  </a:lnTo>
                  <a:lnTo>
                    <a:pt x="1116732" y="65573"/>
                  </a:lnTo>
                  <a:lnTo>
                    <a:pt x="1070444" y="48756"/>
                  </a:lnTo>
                  <a:lnTo>
                    <a:pt x="1022478" y="34261"/>
                  </a:lnTo>
                  <a:lnTo>
                    <a:pt x="972963" y="22185"/>
                  </a:lnTo>
                  <a:lnTo>
                    <a:pt x="922029" y="12624"/>
                  </a:lnTo>
                  <a:lnTo>
                    <a:pt x="869805" y="5675"/>
                  </a:lnTo>
                  <a:lnTo>
                    <a:pt x="816418" y="1434"/>
                  </a:lnTo>
                  <a:lnTo>
                    <a:pt x="762000" y="0"/>
                  </a:lnTo>
                  <a:close/>
                </a:path>
              </a:pathLst>
            </a:custGeom>
            <a:solidFill>
              <a:srgbClr val="FFDF79">
                <a:alpha val="47839"/>
              </a:srgbClr>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8" name="object 12"/>
            <p:cNvSpPr/>
            <p:nvPr/>
          </p:nvSpPr>
          <p:spPr>
            <a:xfrm>
              <a:off x="8127998" y="3549650"/>
              <a:ext cx="1524000" cy="1143000"/>
            </a:xfrm>
            <a:custGeom>
              <a:avLst/>
              <a:gdLst/>
              <a:ahLst/>
              <a:cxnLst/>
              <a:rect l="l" t="t" r="r" b="b"/>
              <a:pathLst>
                <a:path w="1524000" h="1143000">
                  <a:moveTo>
                    <a:pt x="0" y="571499"/>
                  </a:moveTo>
                  <a:lnTo>
                    <a:pt x="1913" y="530685"/>
                  </a:lnTo>
                  <a:lnTo>
                    <a:pt x="7567" y="490645"/>
                  </a:lnTo>
                  <a:lnTo>
                    <a:pt x="16832" y="451477"/>
                  </a:lnTo>
                  <a:lnTo>
                    <a:pt x="29580" y="413277"/>
                  </a:lnTo>
                  <a:lnTo>
                    <a:pt x="45682" y="376141"/>
                  </a:lnTo>
                  <a:lnTo>
                    <a:pt x="65008" y="340166"/>
                  </a:lnTo>
                  <a:lnTo>
                    <a:pt x="87430" y="305450"/>
                  </a:lnTo>
                  <a:lnTo>
                    <a:pt x="112820" y="272088"/>
                  </a:lnTo>
                  <a:lnTo>
                    <a:pt x="141047" y="240178"/>
                  </a:lnTo>
                  <a:lnTo>
                    <a:pt x="171983" y="209816"/>
                  </a:lnTo>
                  <a:lnTo>
                    <a:pt x="205499" y="181099"/>
                  </a:lnTo>
                  <a:lnTo>
                    <a:pt x="241466" y="154124"/>
                  </a:lnTo>
                  <a:lnTo>
                    <a:pt x="279755" y="128987"/>
                  </a:lnTo>
                  <a:lnTo>
                    <a:pt x="320238" y="105785"/>
                  </a:lnTo>
                  <a:lnTo>
                    <a:pt x="362785" y="84615"/>
                  </a:lnTo>
                  <a:lnTo>
                    <a:pt x="407267" y="65573"/>
                  </a:lnTo>
                  <a:lnTo>
                    <a:pt x="453555" y="48756"/>
                  </a:lnTo>
                  <a:lnTo>
                    <a:pt x="501521" y="34261"/>
                  </a:lnTo>
                  <a:lnTo>
                    <a:pt x="551036" y="22185"/>
                  </a:lnTo>
                  <a:lnTo>
                    <a:pt x="601970" y="12624"/>
                  </a:lnTo>
                  <a:lnTo>
                    <a:pt x="654194" y="5675"/>
                  </a:lnTo>
                  <a:lnTo>
                    <a:pt x="707581" y="1434"/>
                  </a:lnTo>
                  <a:lnTo>
                    <a:pt x="761999" y="0"/>
                  </a:lnTo>
                  <a:lnTo>
                    <a:pt x="816418" y="1434"/>
                  </a:lnTo>
                  <a:lnTo>
                    <a:pt x="869805" y="5675"/>
                  </a:lnTo>
                  <a:lnTo>
                    <a:pt x="922029" y="12624"/>
                  </a:lnTo>
                  <a:lnTo>
                    <a:pt x="972963" y="22185"/>
                  </a:lnTo>
                  <a:lnTo>
                    <a:pt x="1022477" y="34261"/>
                  </a:lnTo>
                  <a:lnTo>
                    <a:pt x="1070443" y="48756"/>
                  </a:lnTo>
                  <a:lnTo>
                    <a:pt x="1116732" y="65573"/>
                  </a:lnTo>
                  <a:lnTo>
                    <a:pt x="1161214" y="84615"/>
                  </a:lnTo>
                  <a:lnTo>
                    <a:pt x="1203761" y="105785"/>
                  </a:lnTo>
                  <a:lnTo>
                    <a:pt x="1244243" y="128987"/>
                  </a:lnTo>
                  <a:lnTo>
                    <a:pt x="1282533" y="154124"/>
                  </a:lnTo>
                  <a:lnTo>
                    <a:pt x="1318500" y="181099"/>
                  </a:lnTo>
                  <a:lnTo>
                    <a:pt x="1352016" y="209816"/>
                  </a:lnTo>
                  <a:lnTo>
                    <a:pt x="1382952" y="240178"/>
                  </a:lnTo>
                  <a:lnTo>
                    <a:pt x="1411179" y="272088"/>
                  </a:lnTo>
                  <a:lnTo>
                    <a:pt x="1436568" y="305450"/>
                  </a:lnTo>
                  <a:lnTo>
                    <a:pt x="1458991" y="340166"/>
                  </a:lnTo>
                  <a:lnTo>
                    <a:pt x="1478317" y="376141"/>
                  </a:lnTo>
                  <a:lnTo>
                    <a:pt x="1494419" y="413277"/>
                  </a:lnTo>
                  <a:lnTo>
                    <a:pt x="1507167" y="451477"/>
                  </a:lnTo>
                  <a:lnTo>
                    <a:pt x="1516432" y="490645"/>
                  </a:lnTo>
                  <a:lnTo>
                    <a:pt x="1522086" y="530685"/>
                  </a:lnTo>
                  <a:lnTo>
                    <a:pt x="1523999" y="571499"/>
                  </a:lnTo>
                  <a:lnTo>
                    <a:pt x="1522086" y="612313"/>
                  </a:lnTo>
                  <a:lnTo>
                    <a:pt x="1516432" y="652353"/>
                  </a:lnTo>
                  <a:lnTo>
                    <a:pt x="1507167" y="691521"/>
                  </a:lnTo>
                  <a:lnTo>
                    <a:pt x="1494419" y="729722"/>
                  </a:lnTo>
                  <a:lnTo>
                    <a:pt x="1478317" y="766858"/>
                  </a:lnTo>
                  <a:lnTo>
                    <a:pt x="1458991" y="802832"/>
                  </a:lnTo>
                  <a:lnTo>
                    <a:pt x="1436568" y="837549"/>
                  </a:lnTo>
                  <a:lnTo>
                    <a:pt x="1411179" y="870910"/>
                  </a:lnTo>
                  <a:lnTo>
                    <a:pt x="1382952" y="902820"/>
                  </a:lnTo>
                  <a:lnTo>
                    <a:pt x="1352016" y="933182"/>
                  </a:lnTo>
                  <a:lnTo>
                    <a:pt x="1318500" y="961899"/>
                  </a:lnTo>
                  <a:lnTo>
                    <a:pt x="1282533" y="988875"/>
                  </a:lnTo>
                  <a:lnTo>
                    <a:pt x="1244243" y="1014012"/>
                  </a:lnTo>
                  <a:lnTo>
                    <a:pt x="1203761" y="1037214"/>
                  </a:lnTo>
                  <a:lnTo>
                    <a:pt x="1161214" y="1058384"/>
                  </a:lnTo>
                  <a:lnTo>
                    <a:pt x="1116732" y="1077426"/>
                  </a:lnTo>
                  <a:lnTo>
                    <a:pt x="1070443" y="1094243"/>
                  </a:lnTo>
                  <a:lnTo>
                    <a:pt x="1022477" y="1108737"/>
                  </a:lnTo>
                  <a:lnTo>
                    <a:pt x="972963" y="1120814"/>
                  </a:lnTo>
                  <a:lnTo>
                    <a:pt x="922029" y="1130375"/>
                  </a:lnTo>
                  <a:lnTo>
                    <a:pt x="869805" y="1137324"/>
                  </a:lnTo>
                  <a:lnTo>
                    <a:pt x="816418" y="1141564"/>
                  </a:lnTo>
                  <a:lnTo>
                    <a:pt x="761999" y="1142999"/>
                  </a:lnTo>
                  <a:lnTo>
                    <a:pt x="707581" y="1141564"/>
                  </a:lnTo>
                  <a:lnTo>
                    <a:pt x="654194" y="1137324"/>
                  </a:lnTo>
                  <a:lnTo>
                    <a:pt x="601970" y="1130375"/>
                  </a:lnTo>
                  <a:lnTo>
                    <a:pt x="551036" y="1120814"/>
                  </a:lnTo>
                  <a:lnTo>
                    <a:pt x="501521" y="1108737"/>
                  </a:lnTo>
                  <a:lnTo>
                    <a:pt x="453555" y="1094243"/>
                  </a:lnTo>
                  <a:lnTo>
                    <a:pt x="407267" y="1077426"/>
                  </a:lnTo>
                  <a:lnTo>
                    <a:pt x="362785" y="1058384"/>
                  </a:lnTo>
                  <a:lnTo>
                    <a:pt x="320238" y="1037214"/>
                  </a:lnTo>
                  <a:lnTo>
                    <a:pt x="279755" y="1014012"/>
                  </a:lnTo>
                  <a:lnTo>
                    <a:pt x="241466" y="988875"/>
                  </a:lnTo>
                  <a:lnTo>
                    <a:pt x="205499" y="961899"/>
                  </a:lnTo>
                  <a:lnTo>
                    <a:pt x="171983" y="933182"/>
                  </a:lnTo>
                  <a:lnTo>
                    <a:pt x="141047" y="902820"/>
                  </a:lnTo>
                  <a:lnTo>
                    <a:pt x="112820" y="870910"/>
                  </a:lnTo>
                  <a:lnTo>
                    <a:pt x="87430" y="837549"/>
                  </a:lnTo>
                  <a:lnTo>
                    <a:pt x="65008" y="802832"/>
                  </a:lnTo>
                  <a:lnTo>
                    <a:pt x="45682" y="766858"/>
                  </a:lnTo>
                  <a:lnTo>
                    <a:pt x="29580" y="729722"/>
                  </a:lnTo>
                  <a:lnTo>
                    <a:pt x="16832" y="691521"/>
                  </a:lnTo>
                  <a:lnTo>
                    <a:pt x="7567" y="652353"/>
                  </a:lnTo>
                  <a:lnTo>
                    <a:pt x="1913" y="612313"/>
                  </a:lnTo>
                  <a:lnTo>
                    <a:pt x="0" y="571499"/>
                  </a:lnTo>
                  <a:close/>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9" name="object 13"/>
            <p:cNvSpPr/>
            <p:nvPr/>
          </p:nvSpPr>
          <p:spPr>
            <a:xfrm>
              <a:off x="7823198" y="3549650"/>
              <a:ext cx="1524000" cy="1143000"/>
            </a:xfrm>
            <a:custGeom>
              <a:avLst/>
              <a:gdLst/>
              <a:ahLst/>
              <a:cxnLst/>
              <a:rect l="l" t="t" r="r" b="b"/>
              <a:pathLst>
                <a:path w="1524000" h="1143000">
                  <a:moveTo>
                    <a:pt x="762000" y="0"/>
                  </a:moveTo>
                  <a:lnTo>
                    <a:pt x="707581" y="1434"/>
                  </a:lnTo>
                  <a:lnTo>
                    <a:pt x="654194" y="5675"/>
                  </a:lnTo>
                  <a:lnTo>
                    <a:pt x="601970" y="12624"/>
                  </a:lnTo>
                  <a:lnTo>
                    <a:pt x="551036" y="22185"/>
                  </a:lnTo>
                  <a:lnTo>
                    <a:pt x="501521" y="34261"/>
                  </a:lnTo>
                  <a:lnTo>
                    <a:pt x="453555" y="48756"/>
                  </a:lnTo>
                  <a:lnTo>
                    <a:pt x="407267" y="65573"/>
                  </a:lnTo>
                  <a:lnTo>
                    <a:pt x="362785" y="84615"/>
                  </a:lnTo>
                  <a:lnTo>
                    <a:pt x="320238" y="105785"/>
                  </a:lnTo>
                  <a:lnTo>
                    <a:pt x="279755" y="128987"/>
                  </a:lnTo>
                  <a:lnTo>
                    <a:pt x="241466" y="154124"/>
                  </a:lnTo>
                  <a:lnTo>
                    <a:pt x="205499" y="181099"/>
                  </a:lnTo>
                  <a:lnTo>
                    <a:pt x="171983" y="209817"/>
                  </a:lnTo>
                  <a:lnTo>
                    <a:pt x="141047" y="240178"/>
                  </a:lnTo>
                  <a:lnTo>
                    <a:pt x="112820" y="272089"/>
                  </a:lnTo>
                  <a:lnTo>
                    <a:pt x="87430" y="305450"/>
                  </a:lnTo>
                  <a:lnTo>
                    <a:pt x="65008" y="340167"/>
                  </a:lnTo>
                  <a:lnTo>
                    <a:pt x="45682" y="376141"/>
                  </a:lnTo>
                  <a:lnTo>
                    <a:pt x="29580" y="413277"/>
                  </a:lnTo>
                  <a:lnTo>
                    <a:pt x="16832" y="451477"/>
                  </a:lnTo>
                  <a:lnTo>
                    <a:pt x="7567" y="490646"/>
                  </a:lnTo>
                  <a:lnTo>
                    <a:pt x="1913" y="530685"/>
                  </a:lnTo>
                  <a:lnTo>
                    <a:pt x="0" y="571500"/>
                  </a:lnTo>
                  <a:lnTo>
                    <a:pt x="1913" y="612314"/>
                  </a:lnTo>
                  <a:lnTo>
                    <a:pt x="7567" y="652353"/>
                  </a:lnTo>
                  <a:lnTo>
                    <a:pt x="16832" y="691522"/>
                  </a:lnTo>
                  <a:lnTo>
                    <a:pt x="29580" y="729722"/>
                  </a:lnTo>
                  <a:lnTo>
                    <a:pt x="45682" y="766858"/>
                  </a:lnTo>
                  <a:lnTo>
                    <a:pt x="65008" y="802832"/>
                  </a:lnTo>
                  <a:lnTo>
                    <a:pt x="87430" y="837549"/>
                  </a:lnTo>
                  <a:lnTo>
                    <a:pt x="112820" y="870910"/>
                  </a:lnTo>
                  <a:lnTo>
                    <a:pt x="141047" y="902821"/>
                  </a:lnTo>
                  <a:lnTo>
                    <a:pt x="171983" y="933182"/>
                  </a:lnTo>
                  <a:lnTo>
                    <a:pt x="205499" y="961900"/>
                  </a:lnTo>
                  <a:lnTo>
                    <a:pt x="241466" y="988875"/>
                  </a:lnTo>
                  <a:lnTo>
                    <a:pt x="279755" y="1014012"/>
                  </a:lnTo>
                  <a:lnTo>
                    <a:pt x="320238" y="1037214"/>
                  </a:lnTo>
                  <a:lnTo>
                    <a:pt x="362785" y="1058384"/>
                  </a:lnTo>
                  <a:lnTo>
                    <a:pt x="407267" y="1077426"/>
                  </a:lnTo>
                  <a:lnTo>
                    <a:pt x="453555" y="1094243"/>
                  </a:lnTo>
                  <a:lnTo>
                    <a:pt x="501521" y="1108738"/>
                  </a:lnTo>
                  <a:lnTo>
                    <a:pt x="551036" y="1120814"/>
                  </a:lnTo>
                  <a:lnTo>
                    <a:pt x="601970" y="1130375"/>
                  </a:lnTo>
                  <a:lnTo>
                    <a:pt x="654194" y="1137324"/>
                  </a:lnTo>
                  <a:lnTo>
                    <a:pt x="707581" y="1141565"/>
                  </a:lnTo>
                  <a:lnTo>
                    <a:pt x="762000" y="1143000"/>
                  </a:lnTo>
                  <a:lnTo>
                    <a:pt x="816418" y="1141565"/>
                  </a:lnTo>
                  <a:lnTo>
                    <a:pt x="869805" y="1137324"/>
                  </a:lnTo>
                  <a:lnTo>
                    <a:pt x="922029" y="1130375"/>
                  </a:lnTo>
                  <a:lnTo>
                    <a:pt x="972963" y="1120814"/>
                  </a:lnTo>
                  <a:lnTo>
                    <a:pt x="1022478" y="1108738"/>
                  </a:lnTo>
                  <a:lnTo>
                    <a:pt x="1070444" y="1094243"/>
                  </a:lnTo>
                  <a:lnTo>
                    <a:pt x="1116732" y="1077426"/>
                  </a:lnTo>
                  <a:lnTo>
                    <a:pt x="1161214" y="1058384"/>
                  </a:lnTo>
                  <a:lnTo>
                    <a:pt x="1203761" y="1037214"/>
                  </a:lnTo>
                  <a:lnTo>
                    <a:pt x="1244244" y="1014012"/>
                  </a:lnTo>
                  <a:lnTo>
                    <a:pt x="1282533" y="988875"/>
                  </a:lnTo>
                  <a:lnTo>
                    <a:pt x="1318500" y="961900"/>
                  </a:lnTo>
                  <a:lnTo>
                    <a:pt x="1352016" y="933182"/>
                  </a:lnTo>
                  <a:lnTo>
                    <a:pt x="1382952" y="902821"/>
                  </a:lnTo>
                  <a:lnTo>
                    <a:pt x="1411179" y="870910"/>
                  </a:lnTo>
                  <a:lnTo>
                    <a:pt x="1436569" y="837549"/>
                  </a:lnTo>
                  <a:lnTo>
                    <a:pt x="1458991" y="802832"/>
                  </a:lnTo>
                  <a:lnTo>
                    <a:pt x="1478317" y="766858"/>
                  </a:lnTo>
                  <a:lnTo>
                    <a:pt x="1494419" y="729722"/>
                  </a:lnTo>
                  <a:lnTo>
                    <a:pt x="1507167" y="691522"/>
                  </a:lnTo>
                  <a:lnTo>
                    <a:pt x="1516432" y="652353"/>
                  </a:lnTo>
                  <a:lnTo>
                    <a:pt x="1522086" y="612314"/>
                  </a:lnTo>
                  <a:lnTo>
                    <a:pt x="1524000" y="571500"/>
                  </a:lnTo>
                  <a:lnTo>
                    <a:pt x="1522086" y="530685"/>
                  </a:lnTo>
                  <a:lnTo>
                    <a:pt x="1516432" y="490646"/>
                  </a:lnTo>
                  <a:lnTo>
                    <a:pt x="1507167" y="451477"/>
                  </a:lnTo>
                  <a:lnTo>
                    <a:pt x="1494419" y="413277"/>
                  </a:lnTo>
                  <a:lnTo>
                    <a:pt x="1478317" y="376141"/>
                  </a:lnTo>
                  <a:lnTo>
                    <a:pt x="1458991" y="340167"/>
                  </a:lnTo>
                  <a:lnTo>
                    <a:pt x="1436569" y="305450"/>
                  </a:lnTo>
                  <a:lnTo>
                    <a:pt x="1411179" y="272089"/>
                  </a:lnTo>
                  <a:lnTo>
                    <a:pt x="1382952" y="240178"/>
                  </a:lnTo>
                  <a:lnTo>
                    <a:pt x="1352016" y="209817"/>
                  </a:lnTo>
                  <a:lnTo>
                    <a:pt x="1318500" y="181099"/>
                  </a:lnTo>
                  <a:lnTo>
                    <a:pt x="1282533" y="154124"/>
                  </a:lnTo>
                  <a:lnTo>
                    <a:pt x="1244244" y="128987"/>
                  </a:lnTo>
                  <a:lnTo>
                    <a:pt x="1203761" y="105785"/>
                  </a:lnTo>
                  <a:lnTo>
                    <a:pt x="1161214" y="84615"/>
                  </a:lnTo>
                  <a:lnTo>
                    <a:pt x="1116732" y="65573"/>
                  </a:lnTo>
                  <a:lnTo>
                    <a:pt x="1070444" y="48756"/>
                  </a:lnTo>
                  <a:lnTo>
                    <a:pt x="1022478" y="34261"/>
                  </a:lnTo>
                  <a:lnTo>
                    <a:pt x="972963" y="22185"/>
                  </a:lnTo>
                  <a:lnTo>
                    <a:pt x="922029" y="12624"/>
                  </a:lnTo>
                  <a:lnTo>
                    <a:pt x="869805" y="5675"/>
                  </a:lnTo>
                  <a:lnTo>
                    <a:pt x="816418" y="1434"/>
                  </a:lnTo>
                  <a:lnTo>
                    <a:pt x="762000" y="0"/>
                  </a:lnTo>
                  <a:close/>
                </a:path>
              </a:pathLst>
            </a:custGeom>
            <a:solidFill>
              <a:srgbClr val="C8DFF2">
                <a:alpha val="41178"/>
              </a:srgbClr>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0" name="object 14"/>
            <p:cNvSpPr/>
            <p:nvPr/>
          </p:nvSpPr>
          <p:spPr>
            <a:xfrm>
              <a:off x="7823198" y="3549650"/>
              <a:ext cx="1524000" cy="1143000"/>
            </a:xfrm>
            <a:custGeom>
              <a:avLst/>
              <a:gdLst/>
              <a:ahLst/>
              <a:cxnLst/>
              <a:rect l="l" t="t" r="r" b="b"/>
              <a:pathLst>
                <a:path w="1524000" h="1143000">
                  <a:moveTo>
                    <a:pt x="0" y="571499"/>
                  </a:moveTo>
                  <a:lnTo>
                    <a:pt x="1913" y="530685"/>
                  </a:lnTo>
                  <a:lnTo>
                    <a:pt x="7567" y="490645"/>
                  </a:lnTo>
                  <a:lnTo>
                    <a:pt x="16832" y="451477"/>
                  </a:lnTo>
                  <a:lnTo>
                    <a:pt x="29580" y="413277"/>
                  </a:lnTo>
                  <a:lnTo>
                    <a:pt x="45682" y="376141"/>
                  </a:lnTo>
                  <a:lnTo>
                    <a:pt x="65008" y="340166"/>
                  </a:lnTo>
                  <a:lnTo>
                    <a:pt x="87430" y="305450"/>
                  </a:lnTo>
                  <a:lnTo>
                    <a:pt x="112820" y="272088"/>
                  </a:lnTo>
                  <a:lnTo>
                    <a:pt x="141047" y="240178"/>
                  </a:lnTo>
                  <a:lnTo>
                    <a:pt x="171983" y="209816"/>
                  </a:lnTo>
                  <a:lnTo>
                    <a:pt x="205499" y="181099"/>
                  </a:lnTo>
                  <a:lnTo>
                    <a:pt x="241466" y="154124"/>
                  </a:lnTo>
                  <a:lnTo>
                    <a:pt x="279755" y="128987"/>
                  </a:lnTo>
                  <a:lnTo>
                    <a:pt x="320238" y="105785"/>
                  </a:lnTo>
                  <a:lnTo>
                    <a:pt x="362785" y="84615"/>
                  </a:lnTo>
                  <a:lnTo>
                    <a:pt x="407267" y="65573"/>
                  </a:lnTo>
                  <a:lnTo>
                    <a:pt x="453555" y="48756"/>
                  </a:lnTo>
                  <a:lnTo>
                    <a:pt x="501521" y="34261"/>
                  </a:lnTo>
                  <a:lnTo>
                    <a:pt x="551036" y="22185"/>
                  </a:lnTo>
                  <a:lnTo>
                    <a:pt x="601970" y="12624"/>
                  </a:lnTo>
                  <a:lnTo>
                    <a:pt x="654194" y="5675"/>
                  </a:lnTo>
                  <a:lnTo>
                    <a:pt x="707581" y="1434"/>
                  </a:lnTo>
                  <a:lnTo>
                    <a:pt x="761999" y="0"/>
                  </a:lnTo>
                  <a:lnTo>
                    <a:pt x="816418" y="1434"/>
                  </a:lnTo>
                  <a:lnTo>
                    <a:pt x="869805" y="5675"/>
                  </a:lnTo>
                  <a:lnTo>
                    <a:pt x="922029" y="12624"/>
                  </a:lnTo>
                  <a:lnTo>
                    <a:pt x="972963" y="22185"/>
                  </a:lnTo>
                  <a:lnTo>
                    <a:pt x="1022478" y="34261"/>
                  </a:lnTo>
                  <a:lnTo>
                    <a:pt x="1070444" y="48756"/>
                  </a:lnTo>
                  <a:lnTo>
                    <a:pt x="1116732" y="65573"/>
                  </a:lnTo>
                  <a:lnTo>
                    <a:pt x="1161214" y="84615"/>
                  </a:lnTo>
                  <a:lnTo>
                    <a:pt x="1203761" y="105785"/>
                  </a:lnTo>
                  <a:lnTo>
                    <a:pt x="1244244" y="128987"/>
                  </a:lnTo>
                  <a:lnTo>
                    <a:pt x="1282533" y="154124"/>
                  </a:lnTo>
                  <a:lnTo>
                    <a:pt x="1318500" y="181099"/>
                  </a:lnTo>
                  <a:lnTo>
                    <a:pt x="1352016" y="209816"/>
                  </a:lnTo>
                  <a:lnTo>
                    <a:pt x="1382952" y="240178"/>
                  </a:lnTo>
                  <a:lnTo>
                    <a:pt x="1411179" y="272088"/>
                  </a:lnTo>
                  <a:lnTo>
                    <a:pt x="1436569" y="305450"/>
                  </a:lnTo>
                  <a:lnTo>
                    <a:pt x="1458991" y="340166"/>
                  </a:lnTo>
                  <a:lnTo>
                    <a:pt x="1478317" y="376141"/>
                  </a:lnTo>
                  <a:lnTo>
                    <a:pt x="1494419" y="413277"/>
                  </a:lnTo>
                  <a:lnTo>
                    <a:pt x="1507167" y="451477"/>
                  </a:lnTo>
                  <a:lnTo>
                    <a:pt x="1516432" y="490645"/>
                  </a:lnTo>
                  <a:lnTo>
                    <a:pt x="1522086" y="530685"/>
                  </a:lnTo>
                  <a:lnTo>
                    <a:pt x="1523999" y="571499"/>
                  </a:lnTo>
                  <a:lnTo>
                    <a:pt x="1522086" y="612313"/>
                  </a:lnTo>
                  <a:lnTo>
                    <a:pt x="1516432" y="652353"/>
                  </a:lnTo>
                  <a:lnTo>
                    <a:pt x="1507167" y="691521"/>
                  </a:lnTo>
                  <a:lnTo>
                    <a:pt x="1494419" y="729722"/>
                  </a:lnTo>
                  <a:lnTo>
                    <a:pt x="1478317" y="766858"/>
                  </a:lnTo>
                  <a:lnTo>
                    <a:pt x="1458991" y="802832"/>
                  </a:lnTo>
                  <a:lnTo>
                    <a:pt x="1436569" y="837549"/>
                  </a:lnTo>
                  <a:lnTo>
                    <a:pt x="1411179" y="870910"/>
                  </a:lnTo>
                  <a:lnTo>
                    <a:pt x="1382952" y="902820"/>
                  </a:lnTo>
                  <a:lnTo>
                    <a:pt x="1352016" y="933182"/>
                  </a:lnTo>
                  <a:lnTo>
                    <a:pt x="1318500" y="961899"/>
                  </a:lnTo>
                  <a:lnTo>
                    <a:pt x="1282533" y="988875"/>
                  </a:lnTo>
                  <a:lnTo>
                    <a:pt x="1244244" y="1014012"/>
                  </a:lnTo>
                  <a:lnTo>
                    <a:pt x="1203761" y="1037214"/>
                  </a:lnTo>
                  <a:lnTo>
                    <a:pt x="1161214" y="1058384"/>
                  </a:lnTo>
                  <a:lnTo>
                    <a:pt x="1116732" y="1077426"/>
                  </a:lnTo>
                  <a:lnTo>
                    <a:pt x="1070444" y="1094243"/>
                  </a:lnTo>
                  <a:lnTo>
                    <a:pt x="1022478" y="1108737"/>
                  </a:lnTo>
                  <a:lnTo>
                    <a:pt x="972963" y="1120814"/>
                  </a:lnTo>
                  <a:lnTo>
                    <a:pt x="922029" y="1130375"/>
                  </a:lnTo>
                  <a:lnTo>
                    <a:pt x="869805" y="1137324"/>
                  </a:lnTo>
                  <a:lnTo>
                    <a:pt x="816418" y="1141564"/>
                  </a:lnTo>
                  <a:lnTo>
                    <a:pt x="761999" y="1142999"/>
                  </a:lnTo>
                  <a:lnTo>
                    <a:pt x="707581" y="1141564"/>
                  </a:lnTo>
                  <a:lnTo>
                    <a:pt x="654194" y="1137324"/>
                  </a:lnTo>
                  <a:lnTo>
                    <a:pt x="601970" y="1130375"/>
                  </a:lnTo>
                  <a:lnTo>
                    <a:pt x="551036" y="1120814"/>
                  </a:lnTo>
                  <a:lnTo>
                    <a:pt x="501521" y="1108737"/>
                  </a:lnTo>
                  <a:lnTo>
                    <a:pt x="453555" y="1094243"/>
                  </a:lnTo>
                  <a:lnTo>
                    <a:pt x="407267" y="1077426"/>
                  </a:lnTo>
                  <a:lnTo>
                    <a:pt x="362785" y="1058384"/>
                  </a:lnTo>
                  <a:lnTo>
                    <a:pt x="320238" y="1037214"/>
                  </a:lnTo>
                  <a:lnTo>
                    <a:pt x="279755" y="1014012"/>
                  </a:lnTo>
                  <a:lnTo>
                    <a:pt x="241466" y="988875"/>
                  </a:lnTo>
                  <a:lnTo>
                    <a:pt x="205499" y="961899"/>
                  </a:lnTo>
                  <a:lnTo>
                    <a:pt x="171983" y="933182"/>
                  </a:lnTo>
                  <a:lnTo>
                    <a:pt x="141047" y="902820"/>
                  </a:lnTo>
                  <a:lnTo>
                    <a:pt x="112820" y="870910"/>
                  </a:lnTo>
                  <a:lnTo>
                    <a:pt x="87430" y="837549"/>
                  </a:lnTo>
                  <a:lnTo>
                    <a:pt x="65008" y="802832"/>
                  </a:lnTo>
                  <a:lnTo>
                    <a:pt x="45682" y="766858"/>
                  </a:lnTo>
                  <a:lnTo>
                    <a:pt x="29580" y="729722"/>
                  </a:lnTo>
                  <a:lnTo>
                    <a:pt x="16832" y="691521"/>
                  </a:lnTo>
                  <a:lnTo>
                    <a:pt x="7567" y="652353"/>
                  </a:lnTo>
                  <a:lnTo>
                    <a:pt x="1913" y="612313"/>
                  </a:lnTo>
                  <a:lnTo>
                    <a:pt x="0" y="571499"/>
                  </a:lnTo>
                  <a:close/>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1" name="object 15"/>
            <p:cNvSpPr txBox="1"/>
            <p:nvPr/>
          </p:nvSpPr>
          <p:spPr>
            <a:xfrm>
              <a:off x="1218564" y="3309049"/>
              <a:ext cx="927100" cy="299720"/>
            </a:xfrm>
            <a:prstGeom prst="rect">
              <a:avLst/>
            </a:prstGeom>
          </p:spPr>
          <p:txBody>
            <a:bodyPr vert="horz" wrap="square" lIns="0" tIns="12700" rIns="0" bIns="0" rtlCol="0">
              <a:spAutoFit/>
            </a:bodyPr>
            <a:lstStyle/>
            <a:p>
              <a:pPr>
                <a:lnSpc>
                  <a:spcPct val="100000"/>
                </a:lnSpc>
                <a:spcBef>
                  <a:spcPts val="100"/>
                </a:spcBef>
              </a:pPr>
              <a:r>
                <a:rPr sz="1800" dirty="0">
                  <a:latin typeface="微软雅黑" panose="020B0503020204020204" pitchFamily="34" charset="-122"/>
                  <a:ea typeface="微软雅黑" panose="020B0503020204020204" pitchFamily="34" charset="-122"/>
                  <a:cs typeface="Arial Unicode MS"/>
                </a:rPr>
                <a:t>原始需求</a:t>
              </a:r>
              <a:endParaRPr sz="1800">
                <a:latin typeface="微软雅黑" panose="020B0503020204020204" pitchFamily="34" charset="-122"/>
                <a:ea typeface="微软雅黑" panose="020B0503020204020204" pitchFamily="34" charset="-122"/>
                <a:cs typeface="Arial Unicode MS"/>
              </a:endParaRPr>
            </a:p>
          </p:txBody>
        </p:sp>
        <p:sp>
          <p:nvSpPr>
            <p:cNvPr id="22" name="object 16"/>
            <p:cNvSpPr txBox="1"/>
            <p:nvPr/>
          </p:nvSpPr>
          <p:spPr>
            <a:xfrm>
              <a:off x="4538027" y="3415410"/>
              <a:ext cx="927100" cy="299720"/>
            </a:xfrm>
            <a:prstGeom prst="rect">
              <a:avLst/>
            </a:prstGeom>
          </p:spPr>
          <p:txBody>
            <a:bodyPr vert="horz" wrap="square" lIns="0" tIns="12700" rIns="0" bIns="0" rtlCol="0">
              <a:spAutoFit/>
            </a:bodyPr>
            <a:lstStyle/>
            <a:p>
              <a:pPr>
                <a:lnSpc>
                  <a:spcPct val="100000"/>
                </a:lnSpc>
                <a:spcBef>
                  <a:spcPts val="100"/>
                </a:spcBef>
              </a:pPr>
              <a:r>
                <a:rPr sz="1800" dirty="0">
                  <a:latin typeface="微软雅黑" panose="020B0503020204020204" pitchFamily="34" charset="-122"/>
                  <a:ea typeface="微软雅黑" panose="020B0503020204020204" pitchFamily="34" charset="-122"/>
                  <a:cs typeface="Arial Unicode MS"/>
                </a:rPr>
                <a:t>真实需求</a:t>
              </a:r>
              <a:endParaRPr sz="1800">
                <a:latin typeface="微软雅黑" panose="020B0503020204020204" pitchFamily="34" charset="-122"/>
                <a:ea typeface="微软雅黑" panose="020B0503020204020204" pitchFamily="34" charset="-122"/>
                <a:cs typeface="Arial Unicode MS"/>
              </a:endParaRPr>
            </a:p>
          </p:txBody>
        </p:sp>
        <p:sp>
          <p:nvSpPr>
            <p:cNvPr id="23" name="object 17"/>
            <p:cNvSpPr txBox="1"/>
            <p:nvPr/>
          </p:nvSpPr>
          <p:spPr>
            <a:xfrm>
              <a:off x="6695440" y="3293109"/>
              <a:ext cx="1028700" cy="330200"/>
            </a:xfrm>
            <a:prstGeom prst="rect">
              <a:avLst/>
            </a:prstGeom>
          </p:spPr>
          <p:txBody>
            <a:bodyPr vert="horz" wrap="square" lIns="0" tIns="12700" rIns="0" bIns="0" rtlCol="0">
              <a:spAutoFit/>
            </a:bodyPr>
            <a:lstStyle/>
            <a:p>
              <a:pPr>
                <a:lnSpc>
                  <a:spcPct val="100000"/>
                </a:lnSpc>
                <a:spcBef>
                  <a:spcPts val="100"/>
                </a:spcBef>
              </a:pPr>
              <a:r>
                <a:rPr sz="2000" dirty="0">
                  <a:latin typeface="微软雅黑" panose="020B0503020204020204" pitchFamily="34" charset="-122"/>
                  <a:ea typeface="微软雅黑" panose="020B0503020204020204" pitchFamily="34" charset="-122"/>
                  <a:cs typeface="Arial Unicode MS"/>
                </a:rPr>
                <a:t>原始需求</a:t>
              </a:r>
              <a:endParaRPr sz="2000">
                <a:latin typeface="微软雅黑" panose="020B0503020204020204" pitchFamily="34" charset="-122"/>
                <a:ea typeface="微软雅黑" panose="020B0503020204020204" pitchFamily="34" charset="-122"/>
                <a:cs typeface="Arial Unicode MS"/>
              </a:endParaRPr>
            </a:p>
          </p:txBody>
        </p:sp>
        <p:sp>
          <p:nvSpPr>
            <p:cNvPr id="24" name="object 18"/>
            <p:cNvSpPr txBox="1"/>
            <p:nvPr/>
          </p:nvSpPr>
          <p:spPr>
            <a:xfrm>
              <a:off x="9306876" y="3291585"/>
              <a:ext cx="927100" cy="299720"/>
            </a:xfrm>
            <a:prstGeom prst="rect">
              <a:avLst/>
            </a:prstGeom>
          </p:spPr>
          <p:txBody>
            <a:bodyPr vert="horz" wrap="square" lIns="0" tIns="12700" rIns="0" bIns="0" rtlCol="0">
              <a:spAutoFit/>
            </a:bodyPr>
            <a:lstStyle/>
            <a:p>
              <a:pPr>
                <a:lnSpc>
                  <a:spcPct val="100000"/>
                </a:lnSpc>
                <a:spcBef>
                  <a:spcPts val="100"/>
                </a:spcBef>
              </a:pPr>
              <a:r>
                <a:rPr sz="1800" dirty="0">
                  <a:latin typeface="微软雅黑" panose="020B0503020204020204" pitchFamily="34" charset="-122"/>
                  <a:ea typeface="微软雅黑" panose="020B0503020204020204" pitchFamily="34" charset="-122"/>
                  <a:cs typeface="Arial Unicode MS"/>
                </a:rPr>
                <a:t>真实需求</a:t>
              </a:r>
              <a:endParaRPr sz="1800">
                <a:latin typeface="微软雅黑" panose="020B0503020204020204" pitchFamily="34" charset="-122"/>
                <a:ea typeface="微软雅黑" panose="020B0503020204020204" pitchFamily="34" charset="-122"/>
                <a:cs typeface="Arial Unicode MS"/>
              </a:endParaRPr>
            </a:p>
          </p:txBody>
        </p:sp>
      </p:grpSp>
      <p:sp>
        <p:nvSpPr>
          <p:cNvPr id="2" name="灯片编号占位符 1"/>
          <p:cNvSpPr>
            <a:spLocks noGrp="1"/>
          </p:cNvSpPr>
          <p:nvPr>
            <p:ph type="sldNum" sz="quarter" idx="12"/>
          </p:nvPr>
        </p:nvSpPr>
        <p:spPr/>
        <p:txBody>
          <a:bodyPr/>
          <a:lstStyle/>
          <a:p>
            <a:fld id="{74D2AB8B-5816-41F2-8B4B-CA5C3E4E6A65}" type="slidenum">
              <a:rPr lang="zh-CN" altLang="en-US" smtClean="0"/>
              <a:t>16</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3991"/>
    </mc:Choice>
    <mc:Fallback xmlns="">
      <p:transition spd="slow" advTm="43991"/>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干系人</a:t>
            </a:r>
          </a:p>
        </p:txBody>
      </p:sp>
      <p:sp>
        <p:nvSpPr>
          <p:cNvPr id="5" name="object 3"/>
          <p:cNvSpPr txBox="1"/>
          <p:nvPr/>
        </p:nvSpPr>
        <p:spPr>
          <a:xfrm>
            <a:off x="1329688" y="1569336"/>
            <a:ext cx="4207511" cy="4762842"/>
          </a:xfrm>
          <a:prstGeom prst="rect">
            <a:avLst/>
          </a:prstGeom>
        </p:spPr>
        <p:txBody>
          <a:bodyPr vert="horz" wrap="square" lIns="0" tIns="12700" rIns="0" bIns="0" rtlCol="0">
            <a:spAutoFit/>
          </a:bodyPr>
          <a:lstStyle/>
          <a:p>
            <a:pPr marL="12700">
              <a:lnSpc>
                <a:spcPct val="100000"/>
              </a:lnSpc>
              <a:tabLst>
                <a:tab pos="240665" algn="l"/>
                <a:tab pos="241300" algn="l"/>
              </a:tabLst>
            </a:pPr>
            <a:r>
              <a:rPr sz="2200" dirty="0" err="1">
                <a:latin typeface="微软雅黑" panose="020B0503020204020204" pitchFamily="34" charset="-122"/>
                <a:ea typeface="微软雅黑" panose="020B0503020204020204" pitchFamily="34" charset="-122"/>
                <a:cs typeface="Arial Unicode MS"/>
              </a:rPr>
              <a:t>干系人的参与至关重要</a:t>
            </a:r>
            <a:endParaRPr sz="2200" dirty="0">
              <a:latin typeface="微软雅黑" panose="020B0503020204020204" pitchFamily="34" charset="-122"/>
              <a:ea typeface="微软雅黑" panose="020B0503020204020204" pitchFamily="34" charset="-122"/>
              <a:cs typeface="Arial Unicode MS"/>
            </a:endParaRPr>
          </a:p>
          <a:p>
            <a:pPr marL="812800" lvl="1" indent="-342900">
              <a:lnSpc>
                <a:spcPct val="100000"/>
              </a:lnSpc>
              <a:spcBef>
                <a:spcPts val="760"/>
              </a:spcBef>
              <a:buClr>
                <a:srgbClr val="1F4E79"/>
              </a:buClr>
              <a:buFont typeface="Arial" panose="020B0604020202020204" pitchFamily="34" charset="0"/>
              <a:buChar char="•"/>
              <a:tabLst>
                <a:tab pos="697865" algn="l"/>
                <a:tab pos="698500" algn="l"/>
              </a:tabLst>
            </a:pPr>
            <a:r>
              <a:rPr sz="2200" b="1" dirty="0">
                <a:solidFill>
                  <a:srgbClr val="27628C"/>
                </a:solidFill>
                <a:latin typeface="微软雅黑" panose="020B0503020204020204" pitchFamily="34" charset="-122"/>
                <a:ea typeface="微软雅黑" panose="020B0503020204020204" pitchFamily="34" charset="-122"/>
                <a:cs typeface="Microsoft JhengHei" panose="020B0604030504040204" charset="-120"/>
              </a:rPr>
              <a:t>系统信息及内容的丰富</a:t>
            </a:r>
            <a:endParaRPr sz="2200" dirty="0">
              <a:latin typeface="微软雅黑" panose="020B0503020204020204" pitchFamily="34" charset="-122"/>
              <a:ea typeface="微软雅黑" panose="020B0503020204020204" pitchFamily="34" charset="-122"/>
              <a:cs typeface="Microsoft JhengHei" panose="020B0604030504040204" charset="-120"/>
            </a:endParaRPr>
          </a:p>
          <a:p>
            <a:pPr marL="812800" lvl="1" indent="-342900">
              <a:lnSpc>
                <a:spcPct val="100000"/>
              </a:lnSpc>
              <a:spcBef>
                <a:spcPts val="760"/>
              </a:spcBef>
              <a:buClr>
                <a:srgbClr val="1F4E79"/>
              </a:buClr>
              <a:buFont typeface="Arial" panose="020B0604020202020204" pitchFamily="34" charset="0"/>
              <a:buChar char="•"/>
              <a:tabLst>
                <a:tab pos="697865" algn="l"/>
                <a:tab pos="698500" algn="l"/>
              </a:tabLst>
            </a:pPr>
            <a:r>
              <a:rPr sz="2200" b="1" dirty="0">
                <a:solidFill>
                  <a:srgbClr val="27628C"/>
                </a:solidFill>
                <a:latin typeface="微软雅黑" panose="020B0503020204020204" pitchFamily="34" charset="-122"/>
                <a:ea typeface="微软雅黑" panose="020B0503020204020204" pitchFamily="34" charset="-122"/>
                <a:cs typeface="Microsoft JhengHei" panose="020B0604030504040204" charset="-120"/>
              </a:rPr>
              <a:t>系统信息质量的提升</a:t>
            </a:r>
            <a:endParaRPr sz="2200" dirty="0">
              <a:latin typeface="微软雅黑" panose="020B0503020204020204" pitchFamily="34" charset="-122"/>
              <a:ea typeface="微软雅黑" panose="020B0503020204020204" pitchFamily="34" charset="-122"/>
              <a:cs typeface="Microsoft JhengHei" panose="020B0604030504040204" charset="-120"/>
            </a:endParaRPr>
          </a:p>
          <a:p>
            <a:pPr marL="812800" lvl="1" indent="-342900">
              <a:lnSpc>
                <a:spcPct val="100000"/>
              </a:lnSpc>
              <a:spcBef>
                <a:spcPts val="760"/>
              </a:spcBef>
              <a:buClr>
                <a:srgbClr val="1F4E79"/>
              </a:buClr>
              <a:buFont typeface="Arial" panose="020B0604020202020204" pitchFamily="34" charset="0"/>
              <a:buChar char="•"/>
              <a:tabLst>
                <a:tab pos="697865" algn="l"/>
                <a:tab pos="698500" algn="l"/>
              </a:tabLst>
            </a:pPr>
            <a:r>
              <a:rPr sz="2200" b="1" dirty="0" err="1">
                <a:solidFill>
                  <a:srgbClr val="27628C"/>
                </a:solidFill>
                <a:latin typeface="微软雅黑" panose="020B0503020204020204" pitchFamily="34" charset="-122"/>
                <a:ea typeface="微软雅黑" panose="020B0503020204020204" pitchFamily="34" charset="-122"/>
                <a:cs typeface="Microsoft JhengHei" panose="020B0604030504040204" charset="-120"/>
              </a:rPr>
              <a:t>系统生产率提升</a:t>
            </a:r>
            <a:endParaRPr sz="2200" dirty="0">
              <a:latin typeface="微软雅黑" panose="020B0503020204020204" pitchFamily="34" charset="-122"/>
              <a:ea typeface="微软雅黑" panose="020B0503020204020204" pitchFamily="34" charset="-122"/>
              <a:cs typeface="Microsoft JhengHei" panose="020B0604030504040204" charset="-120"/>
            </a:endParaRPr>
          </a:p>
          <a:p>
            <a:pPr marL="812800" lvl="1" indent="-342900">
              <a:lnSpc>
                <a:spcPct val="100000"/>
              </a:lnSpc>
              <a:spcBef>
                <a:spcPts val="760"/>
              </a:spcBef>
              <a:buClr>
                <a:srgbClr val="1F4E79"/>
              </a:buClr>
              <a:buFont typeface="Arial" panose="020B0604020202020204" pitchFamily="34" charset="0"/>
              <a:buChar char="•"/>
              <a:tabLst>
                <a:tab pos="697865" algn="l"/>
                <a:tab pos="698500" algn="l"/>
              </a:tabLst>
            </a:pPr>
            <a:r>
              <a:rPr sz="2200" b="1" dirty="0">
                <a:solidFill>
                  <a:srgbClr val="27628C"/>
                </a:solidFill>
                <a:latin typeface="微软雅黑" panose="020B0503020204020204" pitchFamily="34" charset="-122"/>
                <a:ea typeface="微软雅黑" panose="020B0503020204020204" pitchFamily="34" charset="-122"/>
                <a:cs typeface="Microsoft JhengHei" panose="020B0604030504040204" charset="-120"/>
              </a:rPr>
              <a:t>客户对系统理解加深</a:t>
            </a:r>
            <a:endParaRPr sz="2200" dirty="0">
              <a:latin typeface="微软雅黑" panose="020B0503020204020204" pitchFamily="34" charset="-122"/>
              <a:ea typeface="微软雅黑" panose="020B0503020204020204" pitchFamily="34" charset="-122"/>
              <a:cs typeface="Microsoft JhengHei" panose="020B0604030504040204" charset="-120"/>
            </a:endParaRPr>
          </a:p>
          <a:p>
            <a:pPr marL="812800" lvl="1" indent="-342900">
              <a:lnSpc>
                <a:spcPct val="100000"/>
              </a:lnSpc>
              <a:spcBef>
                <a:spcPts val="760"/>
              </a:spcBef>
              <a:buClr>
                <a:srgbClr val="1F4E79"/>
              </a:buClr>
              <a:buFont typeface="Arial" panose="020B0604020202020204" pitchFamily="34" charset="0"/>
              <a:buChar char="•"/>
              <a:tabLst>
                <a:tab pos="697865" algn="l"/>
                <a:tab pos="698500" algn="l"/>
              </a:tabLst>
            </a:pPr>
            <a:r>
              <a:rPr sz="2200" b="1" dirty="0">
                <a:solidFill>
                  <a:srgbClr val="27628C"/>
                </a:solidFill>
                <a:latin typeface="微软雅黑" panose="020B0503020204020204" pitchFamily="34" charset="-122"/>
                <a:ea typeface="微软雅黑" panose="020B0503020204020204" pitchFamily="34" charset="-122"/>
                <a:cs typeface="Microsoft JhengHei" panose="020B0604030504040204" charset="-120"/>
              </a:rPr>
              <a:t>与客户达成共识</a:t>
            </a:r>
            <a:endParaRPr sz="2200" dirty="0">
              <a:latin typeface="微软雅黑" panose="020B0503020204020204" pitchFamily="34" charset="-122"/>
              <a:ea typeface="微软雅黑" panose="020B0503020204020204" pitchFamily="34" charset="-122"/>
              <a:cs typeface="Microsoft JhengHei" panose="020B0604030504040204" charset="-120"/>
            </a:endParaRPr>
          </a:p>
          <a:p>
            <a:pPr marL="812800" lvl="1" indent="-342900">
              <a:lnSpc>
                <a:spcPct val="100000"/>
              </a:lnSpc>
              <a:spcBef>
                <a:spcPts val="760"/>
              </a:spcBef>
              <a:buClr>
                <a:srgbClr val="1F4E79"/>
              </a:buClr>
              <a:buFont typeface="Arial" panose="020B0604020202020204" pitchFamily="34" charset="0"/>
              <a:buChar char="•"/>
              <a:tabLst>
                <a:tab pos="697865" algn="l"/>
                <a:tab pos="698500" algn="l"/>
              </a:tabLst>
            </a:pPr>
            <a:r>
              <a:rPr sz="2200" b="1" dirty="0">
                <a:solidFill>
                  <a:srgbClr val="27628C"/>
                </a:solidFill>
                <a:latin typeface="微软雅黑" panose="020B0503020204020204" pitchFamily="34" charset="-122"/>
                <a:ea typeface="微软雅黑" panose="020B0503020204020204" pitchFamily="34" charset="-122"/>
                <a:cs typeface="Microsoft JhengHei" panose="020B0604030504040204" charset="-120"/>
              </a:rPr>
              <a:t>客户更希望系统成功</a:t>
            </a:r>
            <a:endParaRPr sz="2200" dirty="0">
              <a:latin typeface="微软雅黑" panose="020B0503020204020204" pitchFamily="34" charset="-122"/>
              <a:ea typeface="微软雅黑" panose="020B0503020204020204" pitchFamily="34" charset="-122"/>
              <a:cs typeface="Microsoft JhengHei" panose="020B0604030504040204" charset="-120"/>
            </a:endParaRPr>
          </a:p>
          <a:p>
            <a:pPr marL="812800" lvl="1" indent="-342900">
              <a:lnSpc>
                <a:spcPct val="100000"/>
              </a:lnSpc>
              <a:spcBef>
                <a:spcPts val="760"/>
              </a:spcBef>
              <a:buClr>
                <a:srgbClr val="1F4E79"/>
              </a:buClr>
              <a:buFont typeface="Arial" panose="020B0604020202020204" pitchFamily="34" charset="0"/>
              <a:buChar char="•"/>
              <a:tabLst>
                <a:tab pos="697865" algn="l"/>
                <a:tab pos="698500" algn="l"/>
              </a:tabLst>
            </a:pPr>
            <a:r>
              <a:rPr sz="2200" b="1" dirty="0" err="1">
                <a:solidFill>
                  <a:srgbClr val="27628C"/>
                </a:solidFill>
                <a:latin typeface="微软雅黑" panose="020B0503020204020204" pitchFamily="34" charset="-122"/>
                <a:ea typeface="微软雅黑" panose="020B0503020204020204" pitchFamily="34" charset="-122"/>
                <a:cs typeface="Microsoft JhengHei" panose="020B0604030504040204" charset="-120"/>
              </a:rPr>
              <a:t>增强成功信心</a:t>
            </a:r>
            <a:endParaRPr sz="2200" dirty="0">
              <a:latin typeface="微软雅黑" panose="020B0503020204020204" pitchFamily="34" charset="-122"/>
              <a:ea typeface="微软雅黑" panose="020B0503020204020204" pitchFamily="34" charset="-122"/>
              <a:cs typeface="Microsoft JhengHei" panose="020B0604030504040204" charset="-120"/>
            </a:endParaRPr>
          </a:p>
          <a:p>
            <a:pPr marL="812800" lvl="1" indent="-342900">
              <a:lnSpc>
                <a:spcPct val="100000"/>
              </a:lnSpc>
              <a:spcBef>
                <a:spcPts val="760"/>
              </a:spcBef>
              <a:buClr>
                <a:srgbClr val="1F4E79"/>
              </a:buClr>
              <a:buFont typeface="Arial" panose="020B0604020202020204" pitchFamily="34" charset="0"/>
              <a:buChar char="•"/>
              <a:tabLst>
                <a:tab pos="697865" algn="l"/>
                <a:tab pos="698500" algn="l"/>
              </a:tabLst>
            </a:pPr>
            <a:r>
              <a:rPr sz="2200" b="1" dirty="0">
                <a:solidFill>
                  <a:srgbClr val="27628C"/>
                </a:solidFill>
                <a:latin typeface="微软雅黑" panose="020B0503020204020204" pitchFamily="34" charset="-122"/>
                <a:ea typeface="微软雅黑" panose="020B0503020204020204" pitchFamily="34" charset="-122"/>
                <a:cs typeface="Microsoft JhengHei" panose="020B0604030504040204" charset="-120"/>
              </a:rPr>
              <a:t>共同确定系统边界</a:t>
            </a:r>
            <a:endParaRPr sz="2200" dirty="0">
              <a:latin typeface="微软雅黑" panose="020B0503020204020204" pitchFamily="34" charset="-122"/>
              <a:ea typeface="微软雅黑" panose="020B0503020204020204" pitchFamily="34" charset="-122"/>
              <a:cs typeface="Microsoft JhengHei" panose="020B0604030504040204" charset="-120"/>
            </a:endParaRPr>
          </a:p>
          <a:p>
            <a:pPr marL="812800" lvl="1" indent="-342900">
              <a:lnSpc>
                <a:spcPct val="100000"/>
              </a:lnSpc>
              <a:spcBef>
                <a:spcPts val="760"/>
              </a:spcBef>
              <a:buClr>
                <a:srgbClr val="1F4E79"/>
              </a:buClr>
              <a:buFont typeface="Arial" panose="020B0604020202020204" pitchFamily="34" charset="0"/>
              <a:buChar char="•"/>
              <a:tabLst>
                <a:tab pos="697865" algn="l"/>
                <a:tab pos="698500" algn="l"/>
              </a:tabLst>
            </a:pPr>
            <a:r>
              <a:rPr sz="2200" b="1" dirty="0">
                <a:solidFill>
                  <a:srgbClr val="27628C"/>
                </a:solidFill>
                <a:latin typeface="微软雅黑" panose="020B0503020204020204" pitchFamily="34" charset="-122"/>
                <a:ea typeface="微软雅黑" panose="020B0503020204020204" pitchFamily="34" charset="-122"/>
                <a:cs typeface="Microsoft JhengHei" panose="020B0604030504040204" charset="-120"/>
              </a:rPr>
              <a:t>需求质量提升</a:t>
            </a:r>
            <a:endParaRPr sz="2200" dirty="0">
              <a:latin typeface="微软雅黑" panose="020B0503020204020204" pitchFamily="34" charset="-122"/>
              <a:ea typeface="微软雅黑" panose="020B0503020204020204" pitchFamily="34" charset="-122"/>
              <a:cs typeface="Microsoft JhengHei" panose="020B0604030504040204" charset="-120"/>
            </a:endParaRPr>
          </a:p>
          <a:p>
            <a:pPr marL="812800" lvl="1" indent="-342900">
              <a:lnSpc>
                <a:spcPct val="100000"/>
              </a:lnSpc>
              <a:spcBef>
                <a:spcPts val="760"/>
              </a:spcBef>
              <a:buClr>
                <a:srgbClr val="1F4E79"/>
              </a:buClr>
              <a:buFont typeface="Arial" panose="020B0604020202020204" pitchFamily="34" charset="0"/>
              <a:buChar char="•"/>
              <a:tabLst>
                <a:tab pos="697865" algn="l"/>
                <a:tab pos="698500" algn="l"/>
              </a:tabLst>
            </a:pPr>
            <a:r>
              <a:rPr sz="2200" b="1" dirty="0" err="1">
                <a:solidFill>
                  <a:srgbClr val="27628C"/>
                </a:solidFill>
                <a:latin typeface="微软雅黑" panose="020B0503020204020204" pitchFamily="34" charset="-122"/>
                <a:ea typeface="微软雅黑" panose="020B0503020204020204" pitchFamily="34" charset="-122"/>
                <a:cs typeface="Microsoft JhengHei" panose="020B0604030504040204" charset="-120"/>
              </a:rPr>
              <a:t>提高团队整体性</a:t>
            </a:r>
            <a:endParaRPr sz="2200" dirty="0">
              <a:latin typeface="微软雅黑" panose="020B0503020204020204" pitchFamily="34" charset="-122"/>
              <a:ea typeface="微软雅黑" panose="020B0503020204020204" pitchFamily="34" charset="-122"/>
              <a:cs typeface="Microsoft JhengHei" panose="020B0604030504040204" charset="-120"/>
            </a:endParaRPr>
          </a:p>
        </p:txBody>
      </p:sp>
      <p:sp>
        <p:nvSpPr>
          <p:cNvPr id="6" name="object 2"/>
          <p:cNvSpPr/>
          <p:nvPr/>
        </p:nvSpPr>
        <p:spPr>
          <a:xfrm>
            <a:off x="7200899" y="2318453"/>
            <a:ext cx="3048001" cy="2897367"/>
          </a:xfrm>
          <a:prstGeom prst="rect">
            <a:avLst/>
          </a:prstGeom>
          <a:blipFill>
            <a:blip r:embed="rId3" cstate="print"/>
            <a:stretch>
              <a:fillRect/>
            </a:stretch>
          </a:blipFill>
        </p:spPr>
        <p:txBody>
          <a:bodyPr wrap="square" lIns="0" tIns="0" rIns="0" bIns="0" rtlCol="0"/>
          <a:lstStyle/>
          <a:p>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t>17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2800"/>
    </mc:Choice>
    <mc:Fallback xmlns="">
      <p:transition spd="slow" advTm="328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784350" y="1596211"/>
            <a:ext cx="8623300" cy="2398734"/>
          </a:xfrm>
          <a:prstGeom prst="rect">
            <a:avLst/>
          </a:prstGeom>
        </p:spPr>
        <p:txBody>
          <a:bodyPr vert="horz" wrap="square" lIns="0" tIns="155575" rIns="0" bIns="0" rtlCol="0">
            <a:spAutoFit/>
          </a:bodyPr>
          <a:lstStyle/>
          <a:p>
            <a:pPr marL="241300" indent="-228600">
              <a:lnSpc>
                <a:spcPct val="100000"/>
              </a:lnSpc>
              <a:spcBef>
                <a:spcPts val="1225"/>
              </a:spcBef>
              <a:buFont typeface="Arial" panose="020B0604020202020204"/>
              <a:buChar char="•"/>
              <a:tabLst>
                <a:tab pos="241300" algn="l"/>
              </a:tabLst>
            </a:pPr>
            <a:r>
              <a:rPr sz="2600" dirty="0">
                <a:latin typeface="微软雅黑" panose="020B0503020204020204" pitchFamily="34" charset="-122"/>
                <a:ea typeface="微软雅黑" panose="020B0503020204020204" pitchFamily="34" charset="-122"/>
                <a:cs typeface="华文细黑" panose="02010600040101010101" charset="-122"/>
              </a:rPr>
              <a:t>对现有业务过程的分析有助于识别业务问题并加以改进</a:t>
            </a:r>
          </a:p>
          <a:p>
            <a:pPr marL="698500" lvl="1" indent="-228600">
              <a:lnSpc>
                <a:spcPct val="100000"/>
              </a:lnSpc>
              <a:spcBef>
                <a:spcPts val="94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找出并列举当前业务过程中的问题</a:t>
            </a:r>
          </a:p>
          <a:p>
            <a:pPr marL="698500" lvl="1" indent="-228600">
              <a:lnSpc>
                <a:spcPct val="100000"/>
              </a:lnSpc>
              <a:spcBef>
                <a:spcPts val="100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分析问题的本质（遗漏？不好用？新需求？）</a:t>
            </a:r>
          </a:p>
          <a:p>
            <a:pPr marL="698500" lvl="1" indent="-228600">
              <a:lnSpc>
                <a:spcPct val="100000"/>
              </a:lnSpc>
              <a:spcBef>
                <a:spcPts val="100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分析改进的机会</a:t>
            </a:r>
          </a:p>
          <a:p>
            <a:pPr marL="698500" lvl="1" indent="-228600">
              <a:lnSpc>
                <a:spcPct val="100000"/>
              </a:lnSpc>
              <a:spcBef>
                <a:spcPts val="90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分析改进的实质</a:t>
            </a:r>
            <a:r>
              <a:rPr sz="2200" spc="-5" dirty="0">
                <a:latin typeface="微软雅黑" panose="020B0503020204020204" pitchFamily="34" charset="-122"/>
                <a:ea typeface="微软雅黑" panose="020B0503020204020204" pitchFamily="34" charset="-122"/>
                <a:cs typeface="华文细黑" panose="02010600040101010101" charset="-122"/>
              </a:rPr>
              <a:t> </a:t>
            </a:r>
            <a:r>
              <a:rPr sz="2200" dirty="0">
                <a:latin typeface="微软雅黑" panose="020B0503020204020204" pitchFamily="34" charset="-122"/>
                <a:ea typeface="微软雅黑" panose="020B0503020204020204" pitchFamily="34" charset="-122"/>
                <a:cs typeface="华文细黑" panose="02010600040101010101" charset="-122"/>
              </a:rPr>
              <a:t>（自动化？流程改进？）</a:t>
            </a:r>
          </a:p>
        </p:txBody>
      </p:sp>
      <p:grpSp>
        <p:nvGrpSpPr>
          <p:cNvPr id="11" name="组合 10"/>
          <p:cNvGrpSpPr/>
          <p:nvPr/>
        </p:nvGrpSpPr>
        <p:grpSpPr>
          <a:xfrm>
            <a:off x="1095375" y="3994945"/>
            <a:ext cx="9644060" cy="2525712"/>
            <a:chOff x="1196975" y="3746500"/>
            <a:chExt cx="9644060" cy="2525712"/>
          </a:xfrm>
        </p:grpSpPr>
        <p:sp>
          <p:nvSpPr>
            <p:cNvPr id="4" name="object 4"/>
            <p:cNvSpPr/>
            <p:nvPr/>
          </p:nvSpPr>
          <p:spPr>
            <a:xfrm>
              <a:off x="1196975" y="3746500"/>
              <a:ext cx="3248023" cy="2251074"/>
            </a:xfrm>
            <a:prstGeom prst="rect">
              <a:avLst/>
            </a:prstGeom>
            <a:blipFill>
              <a:blip r:embed="rId3" cstate="print"/>
              <a:stretch>
                <a:fillRect/>
              </a:stretch>
            </a:blipFill>
          </p:spPr>
          <p:txBody>
            <a:bodyPr wrap="square" lIns="0" tIns="0" rIns="0" bIns="0" rtlCol="0"/>
            <a:lstStyle/>
            <a:p>
              <a:endParaRPr/>
            </a:p>
          </p:txBody>
        </p:sp>
        <p:grpSp>
          <p:nvGrpSpPr>
            <p:cNvPr id="10" name="组合 9"/>
            <p:cNvGrpSpPr/>
            <p:nvPr/>
          </p:nvGrpSpPr>
          <p:grpSpPr>
            <a:xfrm>
              <a:off x="4383087" y="3951288"/>
              <a:ext cx="6457948" cy="2320924"/>
              <a:chOff x="4383087" y="3951288"/>
              <a:chExt cx="6457948" cy="2320924"/>
            </a:xfrm>
          </p:grpSpPr>
          <p:sp>
            <p:nvSpPr>
              <p:cNvPr id="5" name="object 5"/>
              <p:cNvSpPr/>
              <p:nvPr/>
            </p:nvSpPr>
            <p:spPr>
              <a:xfrm>
                <a:off x="4383087" y="4022725"/>
                <a:ext cx="3248023" cy="2249487"/>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7593012" y="3951288"/>
                <a:ext cx="3248023" cy="2251074"/>
              </a:xfrm>
              <a:prstGeom prst="rect">
                <a:avLst/>
              </a:prstGeom>
              <a:blipFill>
                <a:blip r:embed="rId3" cstate="print"/>
                <a:stretch>
                  <a:fillRect/>
                </a:stretch>
              </a:blipFill>
            </p:spPr>
            <p:txBody>
              <a:bodyPr wrap="square" lIns="0" tIns="0" rIns="0" bIns="0" rtlCol="0"/>
              <a:lstStyle/>
              <a:p>
                <a:endParaRPr/>
              </a:p>
            </p:txBody>
          </p:sp>
        </p:grpSp>
      </p:grpSp>
      <p:sp>
        <p:nvSpPr>
          <p:cNvPr id="9" name="标题 8"/>
          <p:cNvSpPr>
            <a:spLocks noGrp="1"/>
          </p:cNvSpPr>
          <p:nvPr>
            <p:ph type="title"/>
          </p:nvPr>
        </p:nvSpPr>
        <p:spPr/>
        <p:txBody>
          <a:bodyPr/>
          <a:lstStyle/>
          <a:p>
            <a:r>
              <a:rPr lang="zh-CN" altLang="en-US" spc="-5" dirty="0"/>
              <a:t>业务过程</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18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5550"/>
    </mc:Choice>
    <mc:Fallback xmlns="">
      <p:transition spd="slow" advTm="4555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1508098"/>
            <a:ext cx="10033000" cy="3389261"/>
          </a:xfrm>
          <a:prstGeom prst="rect">
            <a:avLst/>
          </a:prstGeom>
        </p:spPr>
        <p:txBody>
          <a:bodyPr vert="horz" wrap="square" lIns="0" tIns="205740" rIns="0" bIns="0" rtlCol="0">
            <a:spAutoFit/>
          </a:bodyPr>
          <a:lstStyle/>
          <a:p>
            <a:pPr marL="241300" indent="-228600" algn="just">
              <a:lnSpc>
                <a:spcPct val="100000"/>
              </a:lnSpc>
              <a:spcBef>
                <a:spcPts val="1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规章制度定义当前最佳实践</a:t>
            </a:r>
          </a:p>
          <a:p>
            <a:pPr marL="241300" indent="-228600" algn="just">
              <a:lnSpc>
                <a:spcPct val="100000"/>
              </a:lnSpc>
              <a:spcBef>
                <a:spcPts val="15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分析规章制度有益于确定业务规则和约束条件</a:t>
            </a:r>
          </a:p>
          <a:p>
            <a:pPr marL="698500" lvl="1" indent="-228600" algn="just">
              <a:lnSpc>
                <a:spcPct val="100000"/>
              </a:lnSpc>
              <a:spcBef>
                <a:spcPts val="104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业务规则：描述对业务过程的要求，如系统支撑的业务过程的结构、控制、行为效果</a:t>
            </a:r>
          </a:p>
          <a:p>
            <a:pPr marL="698500" marR="5080" lvl="1" indent="-228600" algn="just">
              <a:lnSpc>
                <a:spcPct val="121000"/>
              </a:lnSpc>
              <a:spcBef>
                <a:spcPts val="40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约束:</a:t>
            </a:r>
            <a:r>
              <a:rPr sz="2200" spc="-100" dirty="0">
                <a:latin typeface="微软雅黑" panose="020B0503020204020204" pitchFamily="34" charset="-122"/>
                <a:ea typeface="微软雅黑" panose="020B0503020204020204" pitchFamily="34" charset="-122"/>
                <a:cs typeface="华文细黑" panose="02010600040101010101" charset="-122"/>
              </a:rPr>
              <a:t> </a:t>
            </a:r>
            <a:r>
              <a:rPr sz="2200" dirty="0" err="1">
                <a:latin typeface="微软雅黑" panose="020B0503020204020204" pitchFamily="34" charset="-122"/>
                <a:ea typeface="微软雅黑" panose="020B0503020204020204" pitchFamily="34" charset="-122"/>
                <a:cs typeface="华文细黑" panose="02010600040101010101" charset="-122"/>
              </a:rPr>
              <a:t>对系统开发过程的管理限制，主要涉及经济、政治、技术和环境四个方面，具体包括项目资源、时间、目标环境及系统本身</a:t>
            </a:r>
            <a:r>
              <a:rPr sz="2200" dirty="0">
                <a:latin typeface="微软雅黑" panose="020B0503020204020204" pitchFamily="34" charset="-122"/>
                <a:ea typeface="微软雅黑" panose="020B0503020204020204" pitchFamily="34" charset="-122"/>
                <a:cs typeface="华文细黑" panose="02010600040101010101" charset="-122"/>
              </a:rPr>
              <a:t>。</a:t>
            </a:r>
          </a:p>
          <a:p>
            <a:pPr marL="241300" indent="-228600" algn="just">
              <a:lnSpc>
                <a:spcPct val="100000"/>
              </a:lnSpc>
              <a:spcBef>
                <a:spcPts val="158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组织规章中往往还涉及过程自动化、工作流、关系、交互等内容</a:t>
            </a:r>
          </a:p>
        </p:txBody>
      </p:sp>
      <p:sp>
        <p:nvSpPr>
          <p:cNvPr id="4" name="object 4"/>
          <p:cNvSpPr/>
          <p:nvPr/>
        </p:nvSpPr>
        <p:spPr>
          <a:xfrm>
            <a:off x="5228273" y="4897359"/>
            <a:ext cx="1502112" cy="1446291"/>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9717089" y="4769605"/>
            <a:ext cx="1636711" cy="1619249"/>
          </a:xfrm>
          <a:prstGeom prst="rect">
            <a:avLst/>
          </a:prstGeom>
          <a:blipFill>
            <a:blip r:embed="rId4" cstate="print"/>
            <a:stretch>
              <a:fillRect/>
            </a:stretch>
          </a:blipFill>
        </p:spPr>
        <p:txBody>
          <a:bodyPr wrap="square" lIns="0" tIns="0" rIns="0" bIns="0" rtlCol="0"/>
          <a:lstStyle/>
          <a:p>
            <a:endParaRPr/>
          </a:p>
        </p:txBody>
      </p:sp>
      <p:sp>
        <p:nvSpPr>
          <p:cNvPr id="8" name="标题 7"/>
          <p:cNvSpPr>
            <a:spLocks noGrp="1"/>
          </p:cNvSpPr>
          <p:nvPr>
            <p:ph type="title"/>
          </p:nvPr>
        </p:nvSpPr>
        <p:spPr/>
        <p:txBody>
          <a:bodyPr/>
          <a:lstStyle/>
          <a:p>
            <a:r>
              <a:rPr lang="zh-CN" altLang="en-US" spc="-5" dirty="0"/>
              <a:t>组织规章与制度</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19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6811"/>
    </mc:Choice>
    <mc:Fallback xmlns="">
      <p:transition spd="slow" advTm="66811"/>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1690688"/>
            <a:ext cx="7366000" cy="2608580"/>
          </a:xfrm>
          <a:prstGeom prst="rect">
            <a:avLst/>
          </a:prstGeom>
        </p:spPr>
        <p:txBody>
          <a:bodyPr vert="horz" wrap="square" lIns="0" tIns="169545" rIns="0" bIns="0" rtlCol="0">
            <a:spAutoFit/>
          </a:bodyPr>
          <a:lstStyle/>
          <a:p>
            <a:pPr marL="241300" indent="-228600">
              <a:lnSpc>
                <a:spcPct val="100000"/>
              </a:lnSpc>
              <a:spcBef>
                <a:spcPts val="1335"/>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细黑" panose="02010600040101010101" charset="-122"/>
              </a:rPr>
              <a:t>分析现有系统有助于了解未来系统的工作数据</a:t>
            </a:r>
          </a:p>
          <a:p>
            <a:pPr marL="698500" lvl="1" indent="-228600">
              <a:lnSpc>
                <a:spcPct val="100000"/>
              </a:lnSpc>
              <a:spcBef>
                <a:spcPts val="106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细黑" panose="02010600040101010101" charset="-122"/>
              </a:rPr>
              <a:t>数据对象</a:t>
            </a:r>
          </a:p>
          <a:p>
            <a:pPr marL="698500" lvl="1" indent="-228600">
              <a:lnSpc>
                <a:spcPct val="100000"/>
              </a:lnSpc>
              <a:spcBef>
                <a:spcPts val="10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细黑" panose="02010600040101010101" charset="-122"/>
              </a:rPr>
              <a:t>数据关系</a:t>
            </a:r>
          </a:p>
          <a:p>
            <a:pPr marL="698500" lvl="1" indent="-228600">
              <a:lnSpc>
                <a:spcPct val="100000"/>
              </a:lnSpc>
              <a:spcBef>
                <a:spcPts val="11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细黑" panose="02010600040101010101" charset="-122"/>
              </a:rPr>
              <a:t>数据库结构与系统结构</a:t>
            </a:r>
          </a:p>
          <a:p>
            <a:pPr marL="698500" lvl="1" indent="-228600">
              <a:lnSpc>
                <a:spcPct val="100000"/>
              </a:lnSpc>
              <a:spcBef>
                <a:spcPts val="10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细黑" panose="02010600040101010101" charset="-122"/>
              </a:rPr>
              <a:t>系统报告</a:t>
            </a:r>
          </a:p>
        </p:txBody>
      </p:sp>
      <p:sp>
        <p:nvSpPr>
          <p:cNvPr id="4" name="object 4"/>
          <p:cNvSpPr/>
          <p:nvPr/>
        </p:nvSpPr>
        <p:spPr>
          <a:xfrm>
            <a:off x="6591934" y="2817101"/>
            <a:ext cx="3912142" cy="2964334"/>
          </a:xfrm>
          <a:prstGeom prst="rect">
            <a:avLst/>
          </a:prstGeom>
          <a:blipFill>
            <a:blip r:embed="rId3" cstate="print"/>
            <a:stretch>
              <a:fillRect/>
            </a:stretch>
          </a:blipFill>
        </p:spPr>
        <p:txBody>
          <a:bodyPr wrap="square" lIns="0" tIns="0" rIns="0" bIns="0" rtlCol="0"/>
          <a:lstStyle/>
          <a:p>
            <a:endParaRPr/>
          </a:p>
        </p:txBody>
      </p:sp>
      <p:sp>
        <p:nvSpPr>
          <p:cNvPr id="7" name="标题 6"/>
          <p:cNvSpPr>
            <a:spLocks noGrp="1"/>
          </p:cNvSpPr>
          <p:nvPr>
            <p:ph type="title"/>
          </p:nvPr>
        </p:nvSpPr>
        <p:spPr/>
        <p:txBody>
          <a:bodyPr/>
          <a:lstStyle/>
          <a:p>
            <a:r>
              <a:rPr lang="zh-CN" altLang="en-US" spc="-5" dirty="0"/>
              <a:t>现有系统</a:t>
            </a:r>
            <a:endParaRPr lang="zh-CN" altLang="en-US" dirty="0"/>
          </a:p>
        </p:txBody>
      </p:sp>
      <p:sp>
        <p:nvSpPr>
          <p:cNvPr id="5" name="灯片编号占位符 4"/>
          <p:cNvSpPr>
            <a:spLocks noGrp="1"/>
          </p:cNvSpPr>
          <p:nvPr>
            <p:ph type="sldNum" sz="quarter" idx="12"/>
          </p:nvPr>
        </p:nvSpPr>
        <p:spPr/>
        <p:txBody>
          <a:bodyPr/>
          <a:lstStyle/>
          <a:p>
            <a:fld id="{74D2AB8B-5816-41F2-8B4B-CA5C3E4E6A65}" type="slidenum">
              <a:rPr lang="zh-CN" altLang="en-US" smtClean="0"/>
              <a:t>20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8188"/>
    </mc:Choice>
    <mc:Fallback xmlns="">
      <p:transition spd="slow" advTm="38188"/>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在一个超市收银系统中，以下哪个选项是主题世界所探讨的？</a:t>
            </a:r>
          </a:p>
        </p:txBody>
      </p:sp>
      <p:sp>
        <p:nvSpPr>
          <p:cNvPr id="5" name="文本框 4"/>
          <p:cNvSpPr txBox="1"/>
          <p:nvPr>
            <p:custDataLst>
              <p:tags r:id="rId3"/>
            </p:custDataLst>
          </p:nvPr>
        </p:nvSpPr>
        <p:spPr>
          <a:xfrm>
            <a:off x="3132083" y="227105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经理、工作人员、各类交易等</a:t>
            </a:r>
          </a:p>
        </p:txBody>
      </p:sp>
      <p:sp>
        <p:nvSpPr>
          <p:cNvPr id="6" name="文本框 5"/>
          <p:cNvSpPr txBox="1"/>
          <p:nvPr>
            <p:custDataLst>
              <p:tags r:id="rId4"/>
            </p:custDataLst>
          </p:nvPr>
        </p:nvSpPr>
        <p:spPr>
          <a:xfrm>
            <a:off x="3132083" y="312830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保存交易数据，给出收支明细</a:t>
            </a:r>
          </a:p>
        </p:txBody>
      </p:sp>
      <p:sp>
        <p:nvSpPr>
          <p:cNvPr id="7" name="文本框 6"/>
          <p:cNvSpPr txBox="1"/>
          <p:nvPr>
            <p:custDataLst>
              <p:tags r:id="rId5"/>
            </p:custDataLst>
          </p:nvPr>
        </p:nvSpPr>
        <p:spPr>
          <a:xfrm>
            <a:off x="3132083" y="398555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工作人员称量水果重量并贴上价格标签</a:t>
            </a:r>
          </a:p>
        </p:txBody>
      </p:sp>
      <p:sp>
        <p:nvSpPr>
          <p:cNvPr id="8" name="文本框 7"/>
          <p:cNvSpPr txBox="1"/>
          <p:nvPr>
            <p:custDataLst>
              <p:tags r:id="rId6"/>
            </p:custDataLst>
          </p:nvPr>
        </p:nvSpPr>
        <p:spPr>
          <a:xfrm>
            <a:off x="3132083" y="484280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购物结算的准确性</a:t>
            </a:r>
          </a:p>
        </p:txBody>
      </p:sp>
      <p:sp>
        <p:nvSpPr>
          <p:cNvPr id="13" name="矩形: 圆角 12"/>
          <p:cNvSpPr/>
          <p:nvPr>
            <p:custDataLst>
              <p:tags r:id="rId7"/>
            </p:custDataLst>
          </p:nvPr>
        </p:nvSpPr>
        <p:spPr>
          <a:xfrm>
            <a:off x="8263758" y="243014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sp>
        <p:nvSpPr>
          <p:cNvPr id="20" name="矩形 19"/>
          <p:cNvSpPr/>
          <p:nvPr>
            <p:custDataLst>
              <p:tags r:id="rId8"/>
            </p:custDataLst>
          </p:nvPr>
        </p:nvSpPr>
        <p:spPr>
          <a:xfrm>
            <a:off x="12573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25" name="文本框 24"/>
          <p:cNvSpPr txBox="1"/>
          <p:nvPr>
            <p:custDataLst>
              <p:tags r:id="rId9"/>
            </p:custDataLst>
          </p:nvPr>
        </p:nvSpPr>
        <p:spPr>
          <a:xfrm>
            <a:off x="12661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可为此题添加文本、图片、公式等解析，且需将内容全部放在本区域内。正常使用需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a:t>
            </a:r>
          </a:p>
        </p:txBody>
      </p:sp>
      <p:sp>
        <p:nvSpPr>
          <p:cNvPr id="26" name="文本框 25"/>
          <p:cNvSpPr txBox="1"/>
          <p:nvPr>
            <p:custDataLst>
              <p:tags r:id="rId10"/>
            </p:custDataLst>
          </p:nvPr>
        </p:nvSpPr>
        <p:spPr>
          <a:xfrm>
            <a:off x="12827000" y="1270000"/>
            <a:ext cx="3332480" cy="707886"/>
          </a:xfrm>
          <a:prstGeom prst="rect">
            <a:avLst/>
          </a:prstGeom>
          <a:noFill/>
        </p:spPr>
        <p:txBody>
          <a:bodyPr vert="horz"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主题世界主要关注的是系统的主题内容</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24" name="组合 23"/>
          <p:cNvGrpSpPr/>
          <p:nvPr>
            <p:custDataLst>
              <p:tags r:id="rId11"/>
            </p:custDataLst>
          </p:nvPr>
        </p:nvGrpSpPr>
        <p:grpSpPr>
          <a:xfrm>
            <a:off x="12585700" y="0"/>
            <a:ext cx="3815080" cy="647700"/>
            <a:chOff x="12585700" y="0"/>
            <a:chExt cx="3815080" cy="647700"/>
          </a:xfrm>
        </p:grpSpPr>
        <p:sp>
          <p:nvSpPr>
            <p:cNvPr id="21" name="RemarkBack"/>
            <p:cNvSpPr/>
            <p:nvPr>
              <p:custDataLst>
                <p:tags r:id="rId26"/>
              </p:custDataLst>
            </p:nvPr>
          </p:nvSpPr>
          <p:spPr>
            <a:xfrm>
              <a:off x="12585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RemarkBlock"/>
            <p:cNvSpPr/>
            <p:nvPr>
              <p:custDataLst>
                <p:tags r:id="rId27"/>
              </p:custDataLst>
            </p:nvPr>
          </p:nvSpPr>
          <p:spPr>
            <a:xfrm>
              <a:off x="12585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RemarkTitleText"/>
            <p:cNvSpPr txBox="1"/>
            <p:nvPr>
              <p:custDataLst>
                <p:tags r:id="rId28"/>
              </p:custDataLst>
            </p:nvPr>
          </p:nvSpPr>
          <p:spPr>
            <a:xfrm>
              <a:off x="12827000" y="0"/>
              <a:ext cx="1905000" cy="635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p>
          </p:txBody>
        </p:sp>
      </p:grpSp>
      <p:grpSp>
        <p:nvGrpSpPr>
          <p:cNvPr id="28" name="组合 27"/>
          <p:cNvGrpSpPr/>
          <p:nvPr>
            <p:custDataLst>
              <p:tags r:id="rId12"/>
            </p:custDataLst>
          </p:nvPr>
        </p:nvGrpSpPr>
        <p:grpSpPr>
          <a:xfrm>
            <a:off x="12585700" y="0"/>
            <a:ext cx="3815080" cy="647700"/>
            <a:chOff x="19820" y="0"/>
            <a:chExt cx="6008" cy="1020"/>
          </a:xfrm>
        </p:grpSpPr>
        <p:sp>
          <p:nvSpPr>
            <p:cNvPr id="2" name="RemarkBack"/>
            <p:cNvSpPr/>
            <p:nvPr>
              <p:custDataLst>
                <p:tags r:id="rId23"/>
              </p:custDataLst>
            </p:nvPr>
          </p:nvSpPr>
          <p:spPr>
            <a:xfrm>
              <a:off x="19820" y="20"/>
              <a:ext cx="6008" cy="1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RemarkBlock"/>
            <p:cNvSpPr/>
            <p:nvPr>
              <p:custDataLst>
                <p:tags r:id="rId24"/>
              </p:custDataLst>
            </p:nvPr>
          </p:nvSpPr>
          <p:spPr>
            <a:xfrm>
              <a:off x="19820" y="20"/>
              <a:ext cx="300" cy="1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RemarkTitleText"/>
            <p:cNvSpPr txBox="1"/>
            <p:nvPr>
              <p:custDataLst>
                <p:tags r:id="rId25"/>
              </p:custDataLst>
            </p:nvPr>
          </p:nvSpPr>
          <p:spPr>
            <a:xfrm>
              <a:off x="20200" y="0"/>
              <a:ext cx="3000" cy="1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p>
          </p:txBody>
        </p:sp>
      </p:grpSp>
      <p:grpSp>
        <p:nvGrpSpPr>
          <p:cNvPr id="32" name="组合 31"/>
          <p:cNvGrpSpPr/>
          <p:nvPr>
            <p:custDataLst>
              <p:tags r:id="rId13"/>
            </p:custDataLst>
          </p:nvPr>
        </p:nvGrpSpPr>
        <p:grpSpPr>
          <a:xfrm>
            <a:off x="12585700" y="0"/>
            <a:ext cx="3813810" cy="647700"/>
            <a:chOff x="19820" y="0"/>
            <a:chExt cx="6006" cy="1020"/>
          </a:xfrm>
        </p:grpSpPr>
        <p:sp>
          <p:nvSpPr>
            <p:cNvPr id="29" name="RemarkBack"/>
            <p:cNvSpPr/>
            <p:nvPr>
              <p:custDataLst>
                <p:tags r:id="rId20"/>
              </p:custDataLst>
            </p:nvPr>
          </p:nvSpPr>
          <p:spPr>
            <a:xfrm>
              <a:off x="19820" y="20"/>
              <a:ext cx="6007"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RemarkBlock"/>
            <p:cNvSpPr/>
            <p:nvPr>
              <p:custDataLst>
                <p:tags r:id="rId21"/>
              </p:custDataLst>
            </p:nvPr>
          </p:nvSpPr>
          <p:spPr>
            <a:xfrm>
              <a:off x="19820" y="2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RemarkTitleText"/>
            <p:cNvSpPr txBox="1"/>
            <p:nvPr>
              <p:custDataLst>
                <p:tags r:id="rId22"/>
              </p:custDataLst>
            </p:nvPr>
          </p:nvSpPr>
          <p:spPr>
            <a:xfrm>
              <a:off x="20200" y="0"/>
              <a:ext cx="3000" cy="1000"/>
            </a:xfrm>
            <a:prstGeom prst="rect">
              <a:avLst/>
            </a:prstGeom>
            <a:noFill/>
          </p:spPr>
          <p:txBody>
            <a:bodyPr wrap="none" rtlCol="0" anchor="ctr" anchorCtr="0">
              <a:noAutofit/>
            </a:bodyPr>
            <a:lstStyle/>
            <a:p>
              <a:pPr lvl="0" algn="l">
                <a:buNone/>
              </a:pPr>
              <a:r>
                <a:rPr lang="zh-CN" altLang="en-US">
                  <a:solidFill>
                    <a:srgbClr val="000000"/>
                  </a:solidFill>
                  <a:latin typeface="微软雅黑" panose="020B0503020204020204" pitchFamily="34" charset="-122"/>
                  <a:ea typeface="微软雅黑" panose="020B0503020204020204" pitchFamily="34" charset="-122"/>
                </a:rPr>
                <a:t>答案解析</a:t>
              </a:r>
            </a:p>
          </p:txBody>
        </p:sp>
      </p:grpSp>
      <p:grpSp>
        <p:nvGrpSpPr>
          <p:cNvPr id="18" name="组合 17"/>
          <p:cNvGrpSpPr/>
          <p:nvPr>
            <p:custDataLst>
              <p:tags r:id="rId14"/>
            </p:custDataLst>
          </p:nvPr>
        </p:nvGrpSpPr>
        <p:grpSpPr>
          <a:xfrm>
            <a:off x="0" y="0"/>
            <a:ext cx="12192000" cy="635000"/>
            <a:chOff x="0" y="0"/>
            <a:chExt cx="12192000" cy="635000"/>
          </a:xfrm>
        </p:grpSpPr>
        <p:sp>
          <p:nvSpPr>
            <p:cNvPr id="14" name="TitleBackground"/>
            <p:cNvSpPr/>
            <p:nvPr>
              <p:custDataLst>
                <p:tags r:id="rId16"/>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15"/>
            </p:custDataLst>
          </p:nvPr>
        </p:nvPicPr>
        <p:blipFill>
          <a:blip r:embed="rId3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35" name="文本框 34">
            <a:extLst>
              <a:ext uri="{FF2B5EF4-FFF2-40B4-BE49-F238E27FC236}">
                <a16:creationId xmlns:a16="http://schemas.microsoft.com/office/drawing/2014/main" id="{67A610D2-AC33-A382-53BE-40467F2BAE46}"/>
              </a:ext>
            </a:extLst>
          </p:cNvPr>
          <p:cNvSpPr txBox="1"/>
          <p:nvPr/>
        </p:nvSpPr>
        <p:spPr>
          <a:xfrm>
            <a:off x="2446543" y="2377201"/>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在一个超市收银系统中，以下哪个选项是应用世界所探讨的？</a:t>
            </a:r>
          </a:p>
        </p:txBody>
      </p:sp>
      <p:sp>
        <p:nvSpPr>
          <p:cNvPr id="5" name="文本框 4"/>
          <p:cNvSpPr txBox="1"/>
          <p:nvPr>
            <p:custDataLst>
              <p:tags r:id="rId3"/>
            </p:custDataLst>
          </p:nvPr>
        </p:nvSpPr>
        <p:spPr>
          <a:xfrm>
            <a:off x="3132083" y="227105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经理、工作人员、各类交易等</a:t>
            </a:r>
          </a:p>
        </p:txBody>
      </p:sp>
      <p:sp>
        <p:nvSpPr>
          <p:cNvPr id="6" name="文本框 5"/>
          <p:cNvSpPr txBox="1"/>
          <p:nvPr>
            <p:custDataLst>
              <p:tags r:id="rId4"/>
            </p:custDataLst>
          </p:nvPr>
        </p:nvSpPr>
        <p:spPr>
          <a:xfrm>
            <a:off x="3132083" y="312830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保存交易数据，给出收支明细</a:t>
            </a:r>
          </a:p>
        </p:txBody>
      </p:sp>
      <p:sp>
        <p:nvSpPr>
          <p:cNvPr id="7" name="文本框 6"/>
          <p:cNvSpPr txBox="1"/>
          <p:nvPr>
            <p:custDataLst>
              <p:tags r:id="rId5"/>
            </p:custDataLst>
          </p:nvPr>
        </p:nvSpPr>
        <p:spPr>
          <a:xfrm>
            <a:off x="3132083" y="398555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工作人员称量水果重量并贴上价格标签</a:t>
            </a:r>
          </a:p>
        </p:txBody>
      </p:sp>
      <p:sp>
        <p:nvSpPr>
          <p:cNvPr id="8" name="文本框 7"/>
          <p:cNvSpPr txBox="1"/>
          <p:nvPr>
            <p:custDataLst>
              <p:tags r:id="rId6"/>
            </p:custDataLst>
          </p:nvPr>
        </p:nvSpPr>
        <p:spPr>
          <a:xfrm>
            <a:off x="3132083" y="484280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购物结算的准确性</a:t>
            </a:r>
          </a:p>
        </p:txBody>
      </p:sp>
      <p:sp>
        <p:nvSpPr>
          <p:cNvPr id="13" name="矩形: 圆角 12"/>
          <p:cNvSpPr/>
          <p:nvPr>
            <p:custDataLst>
              <p:tags r:id="rId7"/>
            </p:custDataLst>
          </p:nvPr>
        </p:nvSpPr>
        <p:spPr>
          <a:xfrm>
            <a:off x="8274269" y="2181044"/>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sp>
        <p:nvSpPr>
          <p:cNvPr id="20" name="矩形 19"/>
          <p:cNvSpPr/>
          <p:nvPr>
            <p:custDataLst>
              <p:tags r:id="rId8"/>
            </p:custDataLst>
          </p:nvPr>
        </p:nvSpPr>
        <p:spPr>
          <a:xfrm>
            <a:off x="12573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25" name="文本框 24"/>
          <p:cNvSpPr txBox="1"/>
          <p:nvPr>
            <p:custDataLst>
              <p:tags r:id="rId9"/>
            </p:custDataLst>
          </p:nvPr>
        </p:nvSpPr>
        <p:spPr>
          <a:xfrm>
            <a:off x="12661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可为此题添加文本、图片、公式等解析，且需将内容全部放在本区域内。正常使用需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a:t>
            </a:r>
          </a:p>
        </p:txBody>
      </p:sp>
      <p:sp>
        <p:nvSpPr>
          <p:cNvPr id="26" name="文本框 25"/>
          <p:cNvSpPr txBox="1"/>
          <p:nvPr>
            <p:custDataLst>
              <p:tags r:id="rId10"/>
            </p:custDataLst>
          </p:nvPr>
        </p:nvSpPr>
        <p:spPr>
          <a:xfrm>
            <a:off x="12827000" y="1270000"/>
            <a:ext cx="3332480" cy="5588000"/>
          </a:xfrm>
          <a:prstGeom prst="rect">
            <a:avLst/>
          </a:prstGeom>
          <a:noFill/>
        </p:spPr>
        <p:txBody>
          <a:bodyPr vert="horz"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主题世界主要关注的是系统的主题内容，比如对于一个银行系统来说，我们关注的是顾客、账号和各类交易，这是关于主题世界对象的探讨。应用世界关注的是系统未来的操作环境，在应用世界中，我们要关注的主要是人和企业的流程，关注经理、职员、顾客、存款、取款等活动。而系统世界关注的是在操作环境下系统所有的内部操作，包括系统要将交易数据保存在数据库中，要对指定的账号、交易进行报告，给出账户的明细等等。最后开发世界关注的是软件开发过程，项目的团队、人员、。</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24" name="组合 23"/>
          <p:cNvGrpSpPr/>
          <p:nvPr>
            <p:custDataLst>
              <p:tags r:id="rId11"/>
            </p:custDataLst>
          </p:nvPr>
        </p:nvGrpSpPr>
        <p:grpSpPr>
          <a:xfrm>
            <a:off x="12585700" y="0"/>
            <a:ext cx="3815080" cy="647700"/>
            <a:chOff x="12585700" y="0"/>
            <a:chExt cx="3815080" cy="647700"/>
          </a:xfrm>
        </p:grpSpPr>
        <p:sp>
          <p:nvSpPr>
            <p:cNvPr id="21" name="RemarkBack"/>
            <p:cNvSpPr/>
            <p:nvPr>
              <p:custDataLst>
                <p:tags r:id="rId29"/>
              </p:custDataLst>
            </p:nvPr>
          </p:nvSpPr>
          <p:spPr>
            <a:xfrm>
              <a:off x="12585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RemarkBlock"/>
            <p:cNvSpPr/>
            <p:nvPr>
              <p:custDataLst>
                <p:tags r:id="rId30"/>
              </p:custDataLst>
            </p:nvPr>
          </p:nvSpPr>
          <p:spPr>
            <a:xfrm>
              <a:off x="12585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RemarkTitleText"/>
            <p:cNvSpPr txBox="1"/>
            <p:nvPr>
              <p:custDataLst>
                <p:tags r:id="rId31"/>
              </p:custDataLst>
            </p:nvPr>
          </p:nvSpPr>
          <p:spPr>
            <a:xfrm>
              <a:off x="12827000" y="0"/>
              <a:ext cx="1905000" cy="635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p>
          </p:txBody>
        </p:sp>
      </p:grpSp>
      <p:sp>
        <p:nvSpPr>
          <p:cNvPr id="2" name="矩形 1"/>
          <p:cNvSpPr/>
          <p:nvPr>
            <p:custDataLst>
              <p:tags r:id="rId12"/>
            </p:custDataLst>
          </p:nvPr>
        </p:nvSpPr>
        <p:spPr>
          <a:xfrm>
            <a:off x="12573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29" name="文本框 28"/>
          <p:cNvSpPr txBox="1"/>
          <p:nvPr>
            <p:custDataLst>
              <p:tags r:id="rId13"/>
            </p:custDataLst>
          </p:nvPr>
        </p:nvSpPr>
        <p:spPr>
          <a:xfrm>
            <a:off x="12661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可为此题添加文本、图片、公式等解析，且需将内容全部放在本区域内。正常使用需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a:t>
            </a:r>
          </a:p>
        </p:txBody>
      </p:sp>
      <p:sp>
        <p:nvSpPr>
          <p:cNvPr id="30" name="文本框 29"/>
          <p:cNvSpPr txBox="1"/>
          <p:nvPr>
            <p:custDataLst>
              <p:tags r:id="rId14"/>
            </p:custDataLst>
          </p:nvPr>
        </p:nvSpPr>
        <p:spPr>
          <a:xfrm>
            <a:off x="12827000" y="1270000"/>
            <a:ext cx="3332480" cy="707886"/>
          </a:xfrm>
          <a:prstGeom prst="rect">
            <a:avLst/>
          </a:prstGeom>
          <a:noFill/>
        </p:spPr>
        <p:txBody>
          <a:bodyPr vert="horz"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在应用世界中，我们要关注的主要是人和企业的流程</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31" name="组合 30"/>
          <p:cNvGrpSpPr/>
          <p:nvPr>
            <p:custDataLst>
              <p:tags r:id="rId15"/>
            </p:custDataLst>
          </p:nvPr>
        </p:nvGrpSpPr>
        <p:grpSpPr>
          <a:xfrm>
            <a:off x="12585700" y="0"/>
            <a:ext cx="3815080" cy="647700"/>
            <a:chOff x="19820" y="0"/>
            <a:chExt cx="6008" cy="1020"/>
          </a:xfrm>
        </p:grpSpPr>
        <p:sp>
          <p:nvSpPr>
            <p:cNvPr id="19" name="RemarkBack"/>
            <p:cNvSpPr/>
            <p:nvPr>
              <p:custDataLst>
                <p:tags r:id="rId26"/>
              </p:custDataLst>
            </p:nvPr>
          </p:nvSpPr>
          <p:spPr>
            <a:xfrm>
              <a:off x="19820" y="20"/>
              <a:ext cx="6008" cy="1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RemarkBlock"/>
            <p:cNvSpPr/>
            <p:nvPr>
              <p:custDataLst>
                <p:tags r:id="rId27"/>
              </p:custDataLst>
            </p:nvPr>
          </p:nvSpPr>
          <p:spPr>
            <a:xfrm>
              <a:off x="19820" y="20"/>
              <a:ext cx="300" cy="1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RemarkTitleText"/>
            <p:cNvSpPr txBox="1"/>
            <p:nvPr>
              <p:custDataLst>
                <p:tags r:id="rId28"/>
              </p:custDataLst>
            </p:nvPr>
          </p:nvSpPr>
          <p:spPr>
            <a:xfrm>
              <a:off x="20200" y="0"/>
              <a:ext cx="3000" cy="1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p>
          </p:txBody>
        </p:sp>
      </p:grpSp>
      <p:grpSp>
        <p:nvGrpSpPr>
          <p:cNvPr id="35" name="组合 34"/>
          <p:cNvGrpSpPr/>
          <p:nvPr>
            <p:custDataLst>
              <p:tags r:id="rId16"/>
            </p:custDataLst>
          </p:nvPr>
        </p:nvGrpSpPr>
        <p:grpSpPr>
          <a:xfrm>
            <a:off x="12585700" y="0"/>
            <a:ext cx="3813810" cy="647700"/>
            <a:chOff x="19820" y="0"/>
            <a:chExt cx="6006" cy="1020"/>
          </a:xfrm>
        </p:grpSpPr>
        <p:sp>
          <p:nvSpPr>
            <p:cNvPr id="32" name="RemarkBack"/>
            <p:cNvSpPr/>
            <p:nvPr>
              <p:custDataLst>
                <p:tags r:id="rId23"/>
              </p:custDataLst>
            </p:nvPr>
          </p:nvSpPr>
          <p:spPr>
            <a:xfrm>
              <a:off x="19820" y="20"/>
              <a:ext cx="6007"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RemarkBlock"/>
            <p:cNvSpPr/>
            <p:nvPr>
              <p:custDataLst>
                <p:tags r:id="rId24"/>
              </p:custDataLst>
            </p:nvPr>
          </p:nvSpPr>
          <p:spPr>
            <a:xfrm>
              <a:off x="19820" y="2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RemarkTitleText"/>
            <p:cNvSpPr txBox="1"/>
            <p:nvPr>
              <p:custDataLst>
                <p:tags r:id="rId25"/>
              </p:custDataLst>
            </p:nvPr>
          </p:nvSpPr>
          <p:spPr>
            <a:xfrm>
              <a:off x="20200" y="0"/>
              <a:ext cx="3000" cy="1000"/>
            </a:xfrm>
            <a:prstGeom prst="rect">
              <a:avLst/>
            </a:prstGeom>
            <a:noFill/>
          </p:spPr>
          <p:txBody>
            <a:bodyPr wrap="none" rtlCol="0" anchor="ctr" anchorCtr="0">
              <a:noAutofit/>
            </a:bodyPr>
            <a:lstStyle/>
            <a:p>
              <a:pPr lvl="0" algn="l">
                <a:buNone/>
              </a:pPr>
              <a:r>
                <a:rPr lang="zh-CN" altLang="en-US">
                  <a:solidFill>
                    <a:srgbClr val="000000"/>
                  </a:solidFill>
                  <a:latin typeface="微软雅黑" panose="020B0503020204020204" pitchFamily="34" charset="-122"/>
                  <a:ea typeface="微软雅黑" panose="020B0503020204020204" pitchFamily="34" charset="-122"/>
                </a:rPr>
                <a:t>答案解析</a:t>
              </a:r>
            </a:p>
          </p:txBody>
        </p:sp>
      </p:grpSp>
      <p:grpSp>
        <p:nvGrpSpPr>
          <p:cNvPr id="18" name="组合 17"/>
          <p:cNvGrpSpPr/>
          <p:nvPr>
            <p:custDataLst>
              <p:tags r:id="rId17"/>
            </p:custDataLst>
          </p:nvPr>
        </p:nvGrpSpPr>
        <p:grpSpPr>
          <a:xfrm>
            <a:off x="0" y="0"/>
            <a:ext cx="12192000" cy="635000"/>
            <a:chOff x="0" y="0"/>
            <a:chExt cx="12192000" cy="635000"/>
          </a:xfrm>
        </p:grpSpPr>
        <p:sp>
          <p:nvSpPr>
            <p:cNvPr id="14" name="TitleBackground"/>
            <p:cNvSpPr/>
            <p:nvPr>
              <p:custDataLst>
                <p:tags r:id="rId19"/>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20"/>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21"/>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22"/>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18"/>
            </p:custDataLst>
          </p:nvPr>
        </p:nvPicPr>
        <p:blipFill>
          <a:blip r:embed="rId3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36" name="文本框 35">
            <a:extLst>
              <a:ext uri="{FF2B5EF4-FFF2-40B4-BE49-F238E27FC236}">
                <a16:creationId xmlns:a16="http://schemas.microsoft.com/office/drawing/2014/main" id="{F7A85812-446B-9C25-3AFA-678476AC2D69}"/>
              </a:ext>
            </a:extLst>
          </p:cNvPr>
          <p:cNvSpPr txBox="1"/>
          <p:nvPr/>
        </p:nvSpPr>
        <p:spPr>
          <a:xfrm>
            <a:off x="2446543" y="2377201"/>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在一个超市收银系统中，以下哪个选项是系统世界所探讨的？</a:t>
            </a:r>
          </a:p>
        </p:txBody>
      </p:sp>
      <p:sp>
        <p:nvSpPr>
          <p:cNvPr id="5" name="文本框 4"/>
          <p:cNvSpPr txBox="1"/>
          <p:nvPr>
            <p:custDataLst>
              <p:tags r:id="rId3"/>
            </p:custDataLst>
          </p:nvPr>
        </p:nvSpPr>
        <p:spPr>
          <a:xfrm>
            <a:off x="3132083" y="227105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经理、工作人员、各类交易等</a:t>
            </a:r>
          </a:p>
        </p:txBody>
      </p:sp>
      <p:sp>
        <p:nvSpPr>
          <p:cNvPr id="6" name="文本框 5"/>
          <p:cNvSpPr txBox="1"/>
          <p:nvPr>
            <p:custDataLst>
              <p:tags r:id="rId4"/>
            </p:custDataLst>
          </p:nvPr>
        </p:nvSpPr>
        <p:spPr>
          <a:xfrm>
            <a:off x="3132083" y="312830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保存交易数据，给出收支明细</a:t>
            </a:r>
          </a:p>
        </p:txBody>
      </p:sp>
      <p:sp>
        <p:nvSpPr>
          <p:cNvPr id="7" name="文本框 6"/>
          <p:cNvSpPr txBox="1"/>
          <p:nvPr>
            <p:custDataLst>
              <p:tags r:id="rId5"/>
            </p:custDataLst>
          </p:nvPr>
        </p:nvSpPr>
        <p:spPr>
          <a:xfrm>
            <a:off x="3132083" y="398555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工作人员称量水果重量并贴上价格标签</a:t>
            </a:r>
          </a:p>
        </p:txBody>
      </p:sp>
      <p:sp>
        <p:nvSpPr>
          <p:cNvPr id="8" name="文本框 7"/>
          <p:cNvSpPr txBox="1"/>
          <p:nvPr>
            <p:custDataLst>
              <p:tags r:id="rId6"/>
            </p:custDataLst>
          </p:nvPr>
        </p:nvSpPr>
        <p:spPr>
          <a:xfrm>
            <a:off x="3132083" y="484280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购物结算的准确性</a:t>
            </a:r>
          </a:p>
        </p:txBody>
      </p:sp>
      <p:sp>
        <p:nvSpPr>
          <p:cNvPr id="13" name="矩形: 圆角 12"/>
          <p:cNvSpPr/>
          <p:nvPr>
            <p:custDataLst>
              <p:tags r:id="rId7"/>
            </p:custDataLst>
          </p:nvPr>
        </p:nvSpPr>
        <p:spPr>
          <a:xfrm>
            <a:off x="9005067" y="2327730"/>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sp>
        <p:nvSpPr>
          <p:cNvPr id="20" name="矩形 19"/>
          <p:cNvSpPr/>
          <p:nvPr>
            <p:custDataLst>
              <p:tags r:id="rId8"/>
            </p:custDataLst>
          </p:nvPr>
        </p:nvSpPr>
        <p:spPr>
          <a:xfrm>
            <a:off x="12573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25" name="文本框 24"/>
          <p:cNvSpPr txBox="1"/>
          <p:nvPr>
            <p:custDataLst>
              <p:tags r:id="rId9"/>
            </p:custDataLst>
          </p:nvPr>
        </p:nvSpPr>
        <p:spPr>
          <a:xfrm>
            <a:off x="12661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可为此题添加文本、图片、公式等解析，且需将内容全部放在本区域内。正常使用需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a:t>
            </a:r>
          </a:p>
        </p:txBody>
      </p:sp>
      <p:sp>
        <p:nvSpPr>
          <p:cNvPr id="26" name="文本框 25"/>
          <p:cNvSpPr txBox="1"/>
          <p:nvPr>
            <p:custDataLst>
              <p:tags r:id="rId10"/>
            </p:custDataLst>
          </p:nvPr>
        </p:nvSpPr>
        <p:spPr>
          <a:xfrm>
            <a:off x="12827000" y="1270000"/>
            <a:ext cx="3332480" cy="5588000"/>
          </a:xfrm>
          <a:prstGeom prst="rect">
            <a:avLst/>
          </a:prstGeom>
          <a:noFill/>
        </p:spPr>
        <p:txBody>
          <a:bodyPr vert="horz"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主题世界主要关注的是系统的主题内容，比如对于一个银行系统来说，我们关注的是顾客、账号和各类交易，这是关于主题世界对象的探讨。应用世界关注的是系统未来的操作环境，在应用世界中，我们要关注的主要是人和企业的流程，关注经理、职员、顾客、存款、取款等活动。而系统世界关注的是在操作环境下系统所有的内部操作，包括系统要将交易数据保存在数据库中，要对指定的账号、交易进行报告，给出账户的明细等等。最后开发世界关注的是软件开发过程，项目的团队、人员、</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24" name="组合 23"/>
          <p:cNvGrpSpPr/>
          <p:nvPr>
            <p:custDataLst>
              <p:tags r:id="rId11"/>
            </p:custDataLst>
          </p:nvPr>
        </p:nvGrpSpPr>
        <p:grpSpPr>
          <a:xfrm>
            <a:off x="12585700" y="0"/>
            <a:ext cx="3815080" cy="647700"/>
            <a:chOff x="12585700" y="0"/>
            <a:chExt cx="3815080" cy="647700"/>
          </a:xfrm>
        </p:grpSpPr>
        <p:sp>
          <p:nvSpPr>
            <p:cNvPr id="21" name="RemarkBack"/>
            <p:cNvSpPr/>
            <p:nvPr>
              <p:custDataLst>
                <p:tags r:id="rId29"/>
              </p:custDataLst>
            </p:nvPr>
          </p:nvSpPr>
          <p:spPr>
            <a:xfrm>
              <a:off x="12585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RemarkBlock"/>
            <p:cNvSpPr/>
            <p:nvPr>
              <p:custDataLst>
                <p:tags r:id="rId30"/>
              </p:custDataLst>
            </p:nvPr>
          </p:nvSpPr>
          <p:spPr>
            <a:xfrm>
              <a:off x="12585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RemarkTitleText"/>
            <p:cNvSpPr txBox="1"/>
            <p:nvPr>
              <p:custDataLst>
                <p:tags r:id="rId31"/>
              </p:custDataLst>
            </p:nvPr>
          </p:nvSpPr>
          <p:spPr>
            <a:xfrm>
              <a:off x="12827000" y="0"/>
              <a:ext cx="1905000" cy="635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p>
          </p:txBody>
        </p:sp>
      </p:grpSp>
      <p:sp>
        <p:nvSpPr>
          <p:cNvPr id="2" name="矩形 1"/>
          <p:cNvSpPr/>
          <p:nvPr>
            <p:custDataLst>
              <p:tags r:id="rId12"/>
            </p:custDataLst>
          </p:nvPr>
        </p:nvSpPr>
        <p:spPr>
          <a:xfrm>
            <a:off x="12573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29" name="文本框 28"/>
          <p:cNvSpPr txBox="1"/>
          <p:nvPr>
            <p:custDataLst>
              <p:tags r:id="rId13"/>
            </p:custDataLst>
          </p:nvPr>
        </p:nvSpPr>
        <p:spPr>
          <a:xfrm>
            <a:off x="12661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可为此题添加文本、图片、公式等解析，且需将内容全部放在本区域内。正常使用需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a:t>
            </a:r>
          </a:p>
        </p:txBody>
      </p:sp>
      <p:sp>
        <p:nvSpPr>
          <p:cNvPr id="30" name="文本框 29"/>
          <p:cNvSpPr txBox="1"/>
          <p:nvPr>
            <p:custDataLst>
              <p:tags r:id="rId14"/>
            </p:custDataLst>
          </p:nvPr>
        </p:nvSpPr>
        <p:spPr>
          <a:xfrm>
            <a:off x="12827000" y="1270000"/>
            <a:ext cx="3332480" cy="707886"/>
          </a:xfrm>
          <a:prstGeom prst="rect">
            <a:avLst/>
          </a:prstGeom>
          <a:noFill/>
        </p:spPr>
        <p:txBody>
          <a:bodyPr vert="horz"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系统世界关注的是在操作环境下系统所有的内部操作</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31" name="组合 30"/>
          <p:cNvGrpSpPr/>
          <p:nvPr>
            <p:custDataLst>
              <p:tags r:id="rId15"/>
            </p:custDataLst>
          </p:nvPr>
        </p:nvGrpSpPr>
        <p:grpSpPr>
          <a:xfrm>
            <a:off x="12585700" y="0"/>
            <a:ext cx="3815080" cy="647700"/>
            <a:chOff x="19820" y="0"/>
            <a:chExt cx="6008" cy="1020"/>
          </a:xfrm>
        </p:grpSpPr>
        <p:sp>
          <p:nvSpPr>
            <p:cNvPr id="19" name="RemarkBack"/>
            <p:cNvSpPr/>
            <p:nvPr>
              <p:custDataLst>
                <p:tags r:id="rId26"/>
              </p:custDataLst>
            </p:nvPr>
          </p:nvSpPr>
          <p:spPr>
            <a:xfrm>
              <a:off x="19820" y="20"/>
              <a:ext cx="6008" cy="1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RemarkBlock"/>
            <p:cNvSpPr/>
            <p:nvPr>
              <p:custDataLst>
                <p:tags r:id="rId27"/>
              </p:custDataLst>
            </p:nvPr>
          </p:nvSpPr>
          <p:spPr>
            <a:xfrm>
              <a:off x="19820" y="20"/>
              <a:ext cx="300" cy="1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RemarkTitleText"/>
            <p:cNvSpPr txBox="1"/>
            <p:nvPr>
              <p:custDataLst>
                <p:tags r:id="rId28"/>
              </p:custDataLst>
            </p:nvPr>
          </p:nvSpPr>
          <p:spPr>
            <a:xfrm>
              <a:off x="20200" y="0"/>
              <a:ext cx="3000" cy="1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p>
          </p:txBody>
        </p:sp>
      </p:grpSp>
      <p:grpSp>
        <p:nvGrpSpPr>
          <p:cNvPr id="35" name="组合 34"/>
          <p:cNvGrpSpPr/>
          <p:nvPr>
            <p:custDataLst>
              <p:tags r:id="rId16"/>
            </p:custDataLst>
          </p:nvPr>
        </p:nvGrpSpPr>
        <p:grpSpPr>
          <a:xfrm>
            <a:off x="12585700" y="0"/>
            <a:ext cx="3813810" cy="647700"/>
            <a:chOff x="19820" y="0"/>
            <a:chExt cx="6006" cy="1020"/>
          </a:xfrm>
        </p:grpSpPr>
        <p:sp>
          <p:nvSpPr>
            <p:cNvPr id="32" name="RemarkBack"/>
            <p:cNvSpPr/>
            <p:nvPr>
              <p:custDataLst>
                <p:tags r:id="rId23"/>
              </p:custDataLst>
            </p:nvPr>
          </p:nvSpPr>
          <p:spPr>
            <a:xfrm>
              <a:off x="19820" y="20"/>
              <a:ext cx="6007"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RemarkBlock"/>
            <p:cNvSpPr/>
            <p:nvPr>
              <p:custDataLst>
                <p:tags r:id="rId24"/>
              </p:custDataLst>
            </p:nvPr>
          </p:nvSpPr>
          <p:spPr>
            <a:xfrm>
              <a:off x="19820" y="2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RemarkTitleText"/>
            <p:cNvSpPr txBox="1"/>
            <p:nvPr>
              <p:custDataLst>
                <p:tags r:id="rId25"/>
              </p:custDataLst>
            </p:nvPr>
          </p:nvSpPr>
          <p:spPr>
            <a:xfrm>
              <a:off x="20200" y="0"/>
              <a:ext cx="3000" cy="1000"/>
            </a:xfrm>
            <a:prstGeom prst="rect">
              <a:avLst/>
            </a:prstGeom>
            <a:noFill/>
          </p:spPr>
          <p:txBody>
            <a:bodyPr wrap="none" rtlCol="0" anchor="ctr" anchorCtr="0">
              <a:noAutofit/>
            </a:bodyPr>
            <a:lstStyle/>
            <a:p>
              <a:pPr lvl="0" algn="l">
                <a:buNone/>
              </a:pPr>
              <a:r>
                <a:rPr lang="zh-CN" altLang="en-US">
                  <a:solidFill>
                    <a:srgbClr val="000000"/>
                  </a:solidFill>
                  <a:latin typeface="微软雅黑" panose="020B0503020204020204" pitchFamily="34" charset="-122"/>
                  <a:ea typeface="微软雅黑" panose="020B0503020204020204" pitchFamily="34" charset="-122"/>
                </a:rPr>
                <a:t>答案解析</a:t>
              </a:r>
            </a:p>
          </p:txBody>
        </p:sp>
      </p:grpSp>
      <p:grpSp>
        <p:nvGrpSpPr>
          <p:cNvPr id="18" name="组合 17"/>
          <p:cNvGrpSpPr/>
          <p:nvPr>
            <p:custDataLst>
              <p:tags r:id="rId17"/>
            </p:custDataLst>
          </p:nvPr>
        </p:nvGrpSpPr>
        <p:grpSpPr>
          <a:xfrm>
            <a:off x="0" y="0"/>
            <a:ext cx="12192000" cy="635000"/>
            <a:chOff x="0" y="0"/>
            <a:chExt cx="12192000" cy="635000"/>
          </a:xfrm>
        </p:grpSpPr>
        <p:sp>
          <p:nvSpPr>
            <p:cNvPr id="14" name="TitleBackground"/>
            <p:cNvSpPr/>
            <p:nvPr>
              <p:custDataLst>
                <p:tags r:id="rId19"/>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20"/>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21"/>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22"/>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18"/>
            </p:custDataLst>
          </p:nvPr>
        </p:nvPicPr>
        <p:blipFill>
          <a:blip r:embed="rId3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36" name="文本框 35">
            <a:extLst>
              <a:ext uri="{FF2B5EF4-FFF2-40B4-BE49-F238E27FC236}">
                <a16:creationId xmlns:a16="http://schemas.microsoft.com/office/drawing/2014/main" id="{F275E933-8AC7-D986-E3EC-6027973B0099}"/>
              </a:ext>
            </a:extLst>
          </p:cNvPr>
          <p:cNvSpPr txBox="1"/>
          <p:nvPr/>
        </p:nvSpPr>
        <p:spPr>
          <a:xfrm>
            <a:off x="2446543" y="2377201"/>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在一个超市收银系统中，以下哪个选项是开发世界所探讨的？</a:t>
            </a:r>
          </a:p>
        </p:txBody>
      </p:sp>
      <p:sp>
        <p:nvSpPr>
          <p:cNvPr id="5" name="文本框 4"/>
          <p:cNvSpPr txBox="1"/>
          <p:nvPr>
            <p:custDataLst>
              <p:tags r:id="rId3"/>
            </p:custDataLst>
          </p:nvPr>
        </p:nvSpPr>
        <p:spPr>
          <a:xfrm>
            <a:off x="3132083" y="227105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经理、工作人员、各类交易等</a:t>
            </a:r>
          </a:p>
        </p:txBody>
      </p:sp>
      <p:sp>
        <p:nvSpPr>
          <p:cNvPr id="6" name="文本框 5"/>
          <p:cNvSpPr txBox="1"/>
          <p:nvPr>
            <p:custDataLst>
              <p:tags r:id="rId4"/>
            </p:custDataLst>
          </p:nvPr>
        </p:nvSpPr>
        <p:spPr>
          <a:xfrm>
            <a:off x="3132083" y="312830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保存交易数据，给出收支明细</a:t>
            </a:r>
          </a:p>
        </p:txBody>
      </p:sp>
      <p:sp>
        <p:nvSpPr>
          <p:cNvPr id="7" name="文本框 6"/>
          <p:cNvSpPr txBox="1"/>
          <p:nvPr>
            <p:custDataLst>
              <p:tags r:id="rId5"/>
            </p:custDataLst>
          </p:nvPr>
        </p:nvSpPr>
        <p:spPr>
          <a:xfrm>
            <a:off x="3132083" y="398555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工作人员称量水果重量并贴上价格标签</a:t>
            </a:r>
          </a:p>
        </p:txBody>
      </p:sp>
      <p:sp>
        <p:nvSpPr>
          <p:cNvPr id="8" name="文本框 7"/>
          <p:cNvSpPr txBox="1"/>
          <p:nvPr>
            <p:custDataLst>
              <p:tags r:id="rId6"/>
            </p:custDataLst>
          </p:nvPr>
        </p:nvSpPr>
        <p:spPr>
          <a:xfrm>
            <a:off x="3132083" y="484280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购物结算的准确性</a:t>
            </a:r>
          </a:p>
        </p:txBody>
      </p:sp>
      <p:sp>
        <p:nvSpPr>
          <p:cNvPr id="13" name="矩形: 圆角 12"/>
          <p:cNvSpPr/>
          <p:nvPr>
            <p:custDataLst>
              <p:tags r:id="rId7"/>
            </p:custDataLst>
          </p:nvPr>
        </p:nvSpPr>
        <p:spPr>
          <a:xfrm>
            <a:off x="8724900" y="2281761"/>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sp>
        <p:nvSpPr>
          <p:cNvPr id="20" name="矩形 19" hidden="1"/>
          <p:cNvSpPr/>
          <p:nvPr>
            <p:custDataLst>
              <p:tags r:id="rId8"/>
            </p:custDataLst>
          </p:nvPr>
        </p:nvSpPr>
        <p:spPr>
          <a:xfrm>
            <a:off x="12573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25" name="文本框 24" hidden="1"/>
          <p:cNvSpPr txBox="1"/>
          <p:nvPr>
            <p:custDataLst>
              <p:tags r:id="rId9"/>
            </p:custDataLst>
          </p:nvPr>
        </p:nvSpPr>
        <p:spPr>
          <a:xfrm>
            <a:off x="12661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可为此题添加文本、图片、公式等解析，且需将内容全部放在本区域内。正常使用需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a:t>
            </a:r>
          </a:p>
        </p:txBody>
      </p:sp>
      <p:sp>
        <p:nvSpPr>
          <p:cNvPr id="26" name="文本框 25" hidden="1"/>
          <p:cNvSpPr txBox="1"/>
          <p:nvPr>
            <p:custDataLst>
              <p:tags r:id="rId10"/>
            </p:custDataLst>
          </p:nvPr>
        </p:nvSpPr>
        <p:spPr>
          <a:xfrm>
            <a:off x="12827000" y="1270000"/>
            <a:ext cx="3332480" cy="400110"/>
          </a:xfrm>
          <a:prstGeom prst="rect">
            <a:avLst/>
          </a:prstGeom>
          <a:noFill/>
        </p:spPr>
        <p:txBody>
          <a:bodyPr vert="horz" rtlCol="0" anchor="t" anchorCtr="0">
            <a:spAutoFit/>
          </a:bodyPr>
          <a:lstStyle/>
          <a:p>
            <a:endPar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4" name="组合 23" hidden="1"/>
          <p:cNvGrpSpPr/>
          <p:nvPr>
            <p:custDataLst>
              <p:tags r:id="rId11"/>
            </p:custDataLst>
          </p:nvPr>
        </p:nvGrpSpPr>
        <p:grpSpPr>
          <a:xfrm>
            <a:off x="12585700" y="0"/>
            <a:ext cx="3815080" cy="647700"/>
            <a:chOff x="12585700" y="0"/>
            <a:chExt cx="3815080" cy="647700"/>
          </a:xfrm>
        </p:grpSpPr>
        <p:sp>
          <p:nvSpPr>
            <p:cNvPr id="21" name="RemarkBack" hidden="1"/>
            <p:cNvSpPr/>
            <p:nvPr>
              <p:custDataLst>
                <p:tags r:id="rId29"/>
              </p:custDataLst>
            </p:nvPr>
          </p:nvSpPr>
          <p:spPr>
            <a:xfrm>
              <a:off x="12585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RemarkBlock" hidden="1"/>
            <p:cNvSpPr/>
            <p:nvPr>
              <p:custDataLst>
                <p:tags r:id="rId30"/>
              </p:custDataLst>
            </p:nvPr>
          </p:nvSpPr>
          <p:spPr>
            <a:xfrm>
              <a:off x="12585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RemarkTitleText" hidden="1"/>
            <p:cNvSpPr txBox="1"/>
            <p:nvPr>
              <p:custDataLst>
                <p:tags r:id="rId31"/>
              </p:custDataLst>
            </p:nvPr>
          </p:nvSpPr>
          <p:spPr>
            <a:xfrm>
              <a:off x="12827000" y="0"/>
              <a:ext cx="1905000" cy="635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p>
          </p:txBody>
        </p:sp>
      </p:grpSp>
      <p:sp>
        <p:nvSpPr>
          <p:cNvPr id="2" name="矩形 1"/>
          <p:cNvSpPr/>
          <p:nvPr>
            <p:custDataLst>
              <p:tags r:id="rId12"/>
            </p:custDataLst>
          </p:nvPr>
        </p:nvSpPr>
        <p:spPr>
          <a:xfrm>
            <a:off x="12573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29" name="文本框 28"/>
          <p:cNvSpPr txBox="1"/>
          <p:nvPr>
            <p:custDataLst>
              <p:tags r:id="rId13"/>
            </p:custDataLst>
          </p:nvPr>
        </p:nvSpPr>
        <p:spPr>
          <a:xfrm>
            <a:off x="12661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可为此题添加文本、图片、公式等解析，且需将内容全部放在本区域内。正常使用需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a:t>
            </a:r>
          </a:p>
        </p:txBody>
      </p:sp>
      <p:sp>
        <p:nvSpPr>
          <p:cNvPr id="30" name="文本框 29"/>
          <p:cNvSpPr txBox="1"/>
          <p:nvPr>
            <p:custDataLst>
              <p:tags r:id="rId14"/>
            </p:custDataLst>
          </p:nvPr>
        </p:nvSpPr>
        <p:spPr>
          <a:xfrm>
            <a:off x="12827000" y="1270000"/>
            <a:ext cx="3332480" cy="1323439"/>
          </a:xfrm>
          <a:prstGeom prst="rect">
            <a:avLst/>
          </a:prstGeom>
          <a:noFill/>
        </p:spPr>
        <p:txBody>
          <a:bodyPr vert="horz"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开发世界关注的是软件开发过程，项目的团队、人员、进度、安全、性能等质量要求。</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31" name="组合 30"/>
          <p:cNvGrpSpPr/>
          <p:nvPr>
            <p:custDataLst>
              <p:tags r:id="rId15"/>
            </p:custDataLst>
          </p:nvPr>
        </p:nvGrpSpPr>
        <p:grpSpPr>
          <a:xfrm>
            <a:off x="12585700" y="0"/>
            <a:ext cx="3815080" cy="647700"/>
            <a:chOff x="19820" y="0"/>
            <a:chExt cx="6008" cy="1020"/>
          </a:xfrm>
        </p:grpSpPr>
        <p:sp>
          <p:nvSpPr>
            <p:cNvPr id="19" name="RemarkBack"/>
            <p:cNvSpPr/>
            <p:nvPr>
              <p:custDataLst>
                <p:tags r:id="rId26"/>
              </p:custDataLst>
            </p:nvPr>
          </p:nvSpPr>
          <p:spPr>
            <a:xfrm>
              <a:off x="19820" y="20"/>
              <a:ext cx="6008" cy="1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RemarkBlock"/>
            <p:cNvSpPr/>
            <p:nvPr>
              <p:custDataLst>
                <p:tags r:id="rId27"/>
              </p:custDataLst>
            </p:nvPr>
          </p:nvSpPr>
          <p:spPr>
            <a:xfrm>
              <a:off x="19820" y="20"/>
              <a:ext cx="300" cy="1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RemarkTitleText"/>
            <p:cNvSpPr txBox="1"/>
            <p:nvPr>
              <p:custDataLst>
                <p:tags r:id="rId28"/>
              </p:custDataLst>
            </p:nvPr>
          </p:nvSpPr>
          <p:spPr>
            <a:xfrm>
              <a:off x="20200" y="0"/>
              <a:ext cx="3000" cy="1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p>
          </p:txBody>
        </p:sp>
      </p:grpSp>
      <p:grpSp>
        <p:nvGrpSpPr>
          <p:cNvPr id="35" name="组合 34"/>
          <p:cNvGrpSpPr/>
          <p:nvPr>
            <p:custDataLst>
              <p:tags r:id="rId16"/>
            </p:custDataLst>
          </p:nvPr>
        </p:nvGrpSpPr>
        <p:grpSpPr>
          <a:xfrm>
            <a:off x="12585700" y="0"/>
            <a:ext cx="3813810" cy="647700"/>
            <a:chOff x="19820" y="0"/>
            <a:chExt cx="6006" cy="1020"/>
          </a:xfrm>
        </p:grpSpPr>
        <p:sp>
          <p:nvSpPr>
            <p:cNvPr id="32" name="RemarkBack"/>
            <p:cNvSpPr/>
            <p:nvPr>
              <p:custDataLst>
                <p:tags r:id="rId23"/>
              </p:custDataLst>
            </p:nvPr>
          </p:nvSpPr>
          <p:spPr>
            <a:xfrm>
              <a:off x="19820" y="20"/>
              <a:ext cx="6007"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RemarkBlock"/>
            <p:cNvSpPr/>
            <p:nvPr>
              <p:custDataLst>
                <p:tags r:id="rId24"/>
              </p:custDataLst>
            </p:nvPr>
          </p:nvSpPr>
          <p:spPr>
            <a:xfrm>
              <a:off x="19820" y="2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RemarkTitleText"/>
            <p:cNvSpPr txBox="1"/>
            <p:nvPr>
              <p:custDataLst>
                <p:tags r:id="rId25"/>
              </p:custDataLst>
            </p:nvPr>
          </p:nvSpPr>
          <p:spPr>
            <a:xfrm>
              <a:off x="20200" y="0"/>
              <a:ext cx="3000" cy="1000"/>
            </a:xfrm>
            <a:prstGeom prst="rect">
              <a:avLst/>
            </a:prstGeom>
            <a:noFill/>
          </p:spPr>
          <p:txBody>
            <a:bodyPr wrap="none" rtlCol="0" anchor="ctr" anchorCtr="0">
              <a:noAutofit/>
            </a:bodyPr>
            <a:lstStyle/>
            <a:p>
              <a:pPr lvl="0" algn="l">
                <a:buNone/>
              </a:pPr>
              <a:r>
                <a:rPr lang="zh-CN" altLang="en-US">
                  <a:solidFill>
                    <a:srgbClr val="000000"/>
                  </a:solidFill>
                  <a:latin typeface="微软雅黑" panose="020B0503020204020204" pitchFamily="34" charset="-122"/>
                  <a:ea typeface="微软雅黑" panose="020B0503020204020204" pitchFamily="34" charset="-122"/>
                </a:rPr>
                <a:t>答案解析</a:t>
              </a:r>
            </a:p>
          </p:txBody>
        </p:sp>
      </p:grpSp>
      <p:grpSp>
        <p:nvGrpSpPr>
          <p:cNvPr id="18" name="组合 17"/>
          <p:cNvGrpSpPr/>
          <p:nvPr>
            <p:custDataLst>
              <p:tags r:id="rId17"/>
            </p:custDataLst>
          </p:nvPr>
        </p:nvGrpSpPr>
        <p:grpSpPr>
          <a:xfrm>
            <a:off x="0" y="0"/>
            <a:ext cx="12192000" cy="635000"/>
            <a:chOff x="0" y="0"/>
            <a:chExt cx="12192000" cy="635000"/>
          </a:xfrm>
        </p:grpSpPr>
        <p:sp>
          <p:nvSpPr>
            <p:cNvPr id="14" name="TitleBackground"/>
            <p:cNvSpPr/>
            <p:nvPr>
              <p:custDataLst>
                <p:tags r:id="rId19"/>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20"/>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21"/>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22"/>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18"/>
            </p:custDataLst>
          </p:nvPr>
        </p:nvPicPr>
        <p:blipFill>
          <a:blip r:embed="rId3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36" name="文本框 35">
            <a:extLst>
              <a:ext uri="{FF2B5EF4-FFF2-40B4-BE49-F238E27FC236}">
                <a16:creationId xmlns:a16="http://schemas.microsoft.com/office/drawing/2014/main" id="{26D16509-1F6A-7E53-0FC2-20A2284A9303}"/>
              </a:ext>
            </a:extLst>
          </p:cNvPr>
          <p:cNvSpPr txBox="1"/>
          <p:nvPr/>
        </p:nvSpPr>
        <p:spPr>
          <a:xfrm>
            <a:off x="2446543" y="2377201"/>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需求内容的来源包括（）</a:t>
            </a:r>
          </a:p>
        </p:txBody>
      </p:sp>
      <p:sp>
        <p:nvSpPr>
          <p:cNvPr id="5" name="文本框 4"/>
          <p:cNvSpPr txBox="1"/>
          <p:nvPr>
            <p:custDataLst>
              <p:tags r:id="rId3"/>
            </p:custDataLst>
          </p:nvPr>
        </p:nvSpPr>
        <p:spPr>
          <a:xfrm>
            <a:off x="2870200" y="22018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干系人</a:t>
            </a:r>
          </a:p>
        </p:txBody>
      </p:sp>
      <p:sp>
        <p:nvSpPr>
          <p:cNvPr id="6" name="文本框 5"/>
          <p:cNvSpPr txBox="1"/>
          <p:nvPr>
            <p:custDataLst>
              <p:tags r:id="rId4"/>
            </p:custDataLst>
          </p:nvPr>
        </p:nvSpPr>
        <p:spPr>
          <a:xfrm>
            <a:off x="2870200" y="30591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业务过程</a:t>
            </a:r>
          </a:p>
        </p:txBody>
      </p:sp>
      <p:sp>
        <p:nvSpPr>
          <p:cNvPr id="7" name="文本框 6"/>
          <p:cNvSpPr txBox="1"/>
          <p:nvPr>
            <p:custDataLst>
              <p:tags r:id="rId5"/>
            </p:custDataLst>
          </p:nvPr>
        </p:nvSpPr>
        <p:spPr>
          <a:xfrm>
            <a:off x="2870200" y="39163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组织规章制度</a:t>
            </a:r>
          </a:p>
        </p:txBody>
      </p:sp>
      <p:sp>
        <p:nvSpPr>
          <p:cNvPr id="8" name="文本框 7"/>
          <p:cNvSpPr txBox="1"/>
          <p:nvPr>
            <p:custDataLst>
              <p:tags r:id="rId6"/>
            </p:custDataLst>
          </p:nvPr>
        </p:nvSpPr>
        <p:spPr>
          <a:xfrm>
            <a:off x="2870200" y="47736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现有系统</a:t>
            </a:r>
          </a:p>
        </p:txBody>
      </p:sp>
      <p:sp>
        <p:nvSpPr>
          <p:cNvPr id="13" name="矩形: 圆角 12"/>
          <p:cNvSpPr/>
          <p:nvPr>
            <p:custDataLst>
              <p:tags r:id="rId7"/>
            </p:custDataLst>
          </p:nvPr>
        </p:nvSpPr>
        <p:spPr>
          <a:xfrm>
            <a:off x="5829300" y="157575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多选题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BF34C5AE-E2C8-63D7-1D82-D918E022F8CF}"/>
              </a:ext>
            </a:extLst>
          </p:cNvPr>
          <p:cNvSpPr txBox="1"/>
          <p:nvPr/>
        </p:nvSpPr>
        <p:spPr>
          <a:xfrm>
            <a:off x="2235460" y="2308008"/>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124607" y="1604293"/>
            <a:ext cx="9942786" cy="2387600"/>
          </a:xfrm>
        </p:spPr>
        <p:txBody>
          <a:bodyPr>
            <a:normAutofit/>
          </a:bodyPr>
          <a:lstStyle/>
          <a:p>
            <a:r>
              <a:rPr lang="zh-CN" altLang="en-US" dirty="0"/>
              <a:t>需求获取</a:t>
            </a:r>
            <a:br>
              <a:rPr lang="en-US" altLang="zh-CN" dirty="0"/>
            </a:br>
            <a:r>
              <a:rPr lang="en-US" altLang="zh-CN" dirty="0"/>
              <a:t>Requirements Elicitation</a:t>
            </a:r>
            <a:endParaRPr lang="zh-CN" altLang="en-US" dirty="0"/>
          </a:p>
        </p:txBody>
      </p:sp>
      <p:sp>
        <p:nvSpPr>
          <p:cNvPr id="3" name="副标题 2"/>
          <p:cNvSpPr>
            <a:spLocks noGrp="1"/>
          </p:cNvSpPr>
          <p:nvPr>
            <p:ph type="subTitle" idx="1"/>
          </p:nvPr>
        </p:nvSpPr>
        <p:spPr>
          <a:xfrm>
            <a:off x="1524000" y="4211637"/>
            <a:ext cx="9144000" cy="2130577"/>
          </a:xfrm>
        </p:spPr>
        <p:txBody>
          <a:bodyPr anchor="ctr">
            <a:normAutofit fontScale="92500" lnSpcReduction="20000"/>
          </a:bodyPr>
          <a:lstStyle/>
          <a:p>
            <a:r>
              <a:rPr lang="zh-CN" altLang="en-US"/>
              <a:t>李起成</a:t>
            </a:r>
            <a:endParaRPr lang="en-US" altLang="zh-CN" dirty="0"/>
          </a:p>
          <a:p>
            <a:r>
              <a:rPr lang="en-US" altLang="zh-CN" dirty="0"/>
              <a:t>College of</a:t>
            </a:r>
            <a:r>
              <a:rPr lang="zh-CN" altLang="en-US" dirty="0"/>
              <a:t> </a:t>
            </a:r>
            <a:r>
              <a:rPr lang="en-US" altLang="zh-CN" dirty="0"/>
              <a:t>Computer</a:t>
            </a:r>
            <a:r>
              <a:rPr lang="zh-CN" altLang="en-US" dirty="0"/>
              <a:t> </a:t>
            </a:r>
            <a:r>
              <a:rPr lang="en-US" altLang="zh-CN" dirty="0"/>
              <a:t>Science</a:t>
            </a:r>
          </a:p>
          <a:p>
            <a:r>
              <a:rPr lang="en-US" altLang="zh-CN" dirty="0"/>
              <a:t>Nankai</a:t>
            </a:r>
            <a:r>
              <a:rPr lang="zh-CN" altLang="en-US" dirty="0"/>
              <a:t> </a:t>
            </a:r>
            <a:r>
              <a:rPr lang="en-US" altLang="zh-CN" dirty="0"/>
              <a:t>University</a:t>
            </a:r>
          </a:p>
          <a:p>
            <a:endParaRPr lang="en-US" altLang="zh-CN" dirty="0"/>
          </a:p>
          <a:p>
            <a:r>
              <a:rPr lang="en-US" altLang="zh-CN" i="1" dirty="0"/>
              <a:t>Slides adapted from materials by Prof. </a:t>
            </a:r>
            <a:r>
              <a:rPr lang="en-US" altLang="zh-CN" i="1" dirty="0" err="1"/>
              <a:t>Qiang</a:t>
            </a:r>
            <a:r>
              <a:rPr lang="en-US" altLang="zh-CN" i="1" dirty="0"/>
              <a:t> Liu (Tsing Hua University) and </a:t>
            </a:r>
            <a:r>
              <a:rPr lang="en-US" altLang="en-US" i="1" dirty="0"/>
              <a:t>Ivan </a:t>
            </a:r>
            <a:r>
              <a:rPr lang="en-US" altLang="en-US" i="1" dirty="0" err="1"/>
              <a:t>Marsic</a:t>
            </a:r>
            <a:r>
              <a:rPr lang="en-US" altLang="en-US" i="1" dirty="0"/>
              <a:t> (</a:t>
            </a:r>
            <a:r>
              <a:rPr lang="en-US" altLang="en-US" i="1" dirty="0" err="1"/>
              <a:t>Rugers</a:t>
            </a:r>
            <a:r>
              <a:rPr lang="en-US" altLang="en-US" i="1" dirty="0"/>
              <a:t> University)</a:t>
            </a:r>
            <a:endParaRPr lang="zh-CN" altLang="en-US" i="1" dirty="0"/>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72729" y="225854"/>
            <a:ext cx="1846542" cy="18003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advTm="5883"/>
    </mc:Choice>
    <mc:Fallback xmlns="">
      <p:transition spd="slow" advTm="5883"/>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69982" y="6491922"/>
            <a:ext cx="110489"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Arial" panose="020B0604020202020204"/>
                <a:cs typeface="Arial" panose="020B0604020202020204"/>
              </a:rPr>
              <a:t>1</a:t>
            </a:r>
            <a:endParaRPr sz="1200">
              <a:latin typeface="Arial" panose="020B0604020202020204"/>
              <a:cs typeface="Arial" panose="020B0604020202020204"/>
            </a:endParaRPr>
          </a:p>
        </p:txBody>
      </p:sp>
      <p:sp>
        <p:nvSpPr>
          <p:cNvPr id="3" name="object 3"/>
          <p:cNvSpPr txBox="1"/>
          <p:nvPr/>
        </p:nvSpPr>
        <p:spPr>
          <a:xfrm>
            <a:off x="701040" y="2455864"/>
            <a:ext cx="5394960" cy="2659380"/>
          </a:xfrm>
          <a:prstGeom prst="rect">
            <a:avLst/>
          </a:prstGeom>
        </p:spPr>
        <p:txBody>
          <a:bodyPr vert="horz" wrap="square" lIns="0" tIns="28575" rIns="0" bIns="0" rtlCol="0">
            <a:spAutoFit/>
          </a:bodyPr>
          <a:lstStyle/>
          <a:p>
            <a:pPr marL="12700" marR="40005" indent="444500">
              <a:lnSpc>
                <a:spcPct val="122000"/>
              </a:lnSpc>
              <a:spcBef>
                <a:spcPts val="225"/>
              </a:spcBef>
            </a:pPr>
            <a:r>
              <a:rPr sz="2800" dirty="0">
                <a:latin typeface="微软雅黑" panose="020B0503020204020204" pitchFamily="34" charset="-122"/>
                <a:ea typeface="微软雅黑" panose="020B0503020204020204" pitchFamily="34" charset="-122"/>
                <a:cs typeface="华文细黑" panose="02010600040101010101" charset="-122"/>
              </a:rPr>
              <a:t>需求获取过程中，最困难的不 是记录用户需求，而是与用户探讨 磋商，发现真正要解决的问题，确 定适用的方案。</a:t>
            </a:r>
          </a:p>
          <a:p>
            <a:pPr marL="2004695">
              <a:lnSpc>
                <a:spcPct val="100000"/>
              </a:lnSpc>
              <a:spcBef>
                <a:spcPts val="800"/>
              </a:spcBef>
            </a:pPr>
            <a:r>
              <a:rPr sz="2800" dirty="0">
                <a:latin typeface="微软雅黑" panose="020B0503020204020204" pitchFamily="34" charset="-122"/>
                <a:ea typeface="微软雅黑" panose="020B0503020204020204" pitchFamily="34" charset="-122"/>
                <a:cs typeface="华文细黑" panose="02010600040101010101" charset="-122"/>
              </a:rPr>
              <a:t>— Steve</a:t>
            </a:r>
            <a:r>
              <a:rPr sz="2800" spc="-95" dirty="0">
                <a:latin typeface="微软雅黑" panose="020B0503020204020204" pitchFamily="34" charset="-122"/>
                <a:ea typeface="微软雅黑" panose="020B0503020204020204" pitchFamily="34" charset="-122"/>
                <a:cs typeface="华文细黑" panose="02010600040101010101" charset="-122"/>
              </a:rPr>
              <a:t> </a:t>
            </a:r>
            <a:r>
              <a:rPr sz="2800" dirty="0">
                <a:latin typeface="微软雅黑" panose="020B0503020204020204" pitchFamily="34" charset="-122"/>
                <a:ea typeface="微软雅黑" panose="020B0503020204020204" pitchFamily="34" charset="-122"/>
                <a:cs typeface="华文细黑" panose="02010600040101010101" charset="-122"/>
              </a:rPr>
              <a:t>McConnell</a:t>
            </a:r>
          </a:p>
        </p:txBody>
      </p:sp>
      <p:sp>
        <p:nvSpPr>
          <p:cNvPr id="5" name="object 5"/>
          <p:cNvSpPr/>
          <p:nvPr/>
        </p:nvSpPr>
        <p:spPr>
          <a:xfrm>
            <a:off x="6848810" y="1690688"/>
            <a:ext cx="4321172" cy="4321173"/>
          </a:xfrm>
          <a:prstGeom prst="rect">
            <a:avLst/>
          </a:prstGeom>
          <a:blipFill>
            <a:blip r:embed="rId3" cstate="print"/>
            <a:stretch>
              <a:fillRect/>
            </a:stretch>
          </a:blipFill>
        </p:spPr>
        <p:txBody>
          <a:bodyPr wrap="square" lIns="0" tIns="0" rIns="0" bIns="0" rtlCol="0"/>
          <a:lstStyle/>
          <a:p>
            <a:endParaRPr/>
          </a:p>
        </p:txBody>
      </p:sp>
      <p:sp>
        <p:nvSpPr>
          <p:cNvPr id="8" name="标题 7"/>
          <p:cNvSpPr>
            <a:spLocks noGrp="1"/>
          </p:cNvSpPr>
          <p:nvPr>
            <p:ph type="title"/>
          </p:nvPr>
        </p:nvSpPr>
        <p:spPr/>
        <p:txBody>
          <a:bodyPr/>
          <a:lstStyle/>
          <a:p>
            <a:r>
              <a:rPr lang="zh-CN" altLang="en-US" spc="-5" dirty="0"/>
              <a:t>需求获取</a:t>
            </a:r>
            <a:endParaRPr lang="zh-CN" altLang="en-US" dirty="0"/>
          </a:p>
        </p:txBody>
      </p:sp>
      <p:sp>
        <p:nvSpPr>
          <p:cNvPr id="6" name="灯片编号占位符 5"/>
          <p:cNvSpPr>
            <a:spLocks noGrp="1"/>
          </p:cNvSpPr>
          <p:nvPr>
            <p:ph type="sldNum" sz="quarter" idx="12"/>
          </p:nvPr>
        </p:nvSpPr>
        <p:spPr/>
        <p:txBody>
          <a:bodyPr/>
          <a:lstStyle/>
          <a:p>
            <a:fld id="{74D2AB8B-5816-41F2-8B4B-CA5C3E4E6A65}" type="slidenum">
              <a:rPr lang="zh-CN" altLang="en-US" smtClean="0"/>
              <a:t>27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588"/>
    </mc:Choice>
    <mc:Fallback xmlns="">
      <p:transition spd="slow" advTm="20588"/>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需求获取方法</a:t>
            </a:r>
          </a:p>
        </p:txBody>
      </p:sp>
      <p:sp>
        <p:nvSpPr>
          <p:cNvPr id="3" name="内容占位符 2"/>
          <p:cNvSpPr>
            <a:spLocks noGrp="1"/>
          </p:cNvSpPr>
          <p:nvPr>
            <p:ph idx="1"/>
          </p:nvPr>
        </p:nvSpPr>
        <p:spPr/>
        <p:txBody>
          <a:bodyPr>
            <a:normAutofit fontScale="92500" lnSpcReduction="10000"/>
          </a:bodyPr>
          <a:lstStyle/>
          <a:p>
            <a:pPr marL="241300">
              <a:lnSpc>
                <a:spcPct val="100000"/>
              </a:lnSpc>
              <a:spcBef>
                <a:spcPts val="755"/>
              </a:spcBef>
              <a:buClr>
                <a:srgbClr val="FF3300"/>
              </a:buClr>
              <a:buFont typeface="Arial" panose="020B0604020202020204"/>
              <a:buChar char="•"/>
              <a:tabLst>
                <a:tab pos="241300" algn="l"/>
              </a:tabLst>
            </a:pPr>
            <a:r>
              <a:rPr lang="zh-CN" altLang="en-US" sz="2500" dirty="0">
                <a:solidFill>
                  <a:srgbClr val="FF0000"/>
                </a:solidFill>
                <a:cs typeface="华文细黑" panose="02010600040101010101" charset="-122"/>
              </a:rPr>
              <a:t>面谈</a:t>
            </a:r>
          </a:p>
          <a:p>
            <a:pPr marL="698500" lvl="1">
              <a:lnSpc>
                <a:spcPct val="100000"/>
              </a:lnSpc>
              <a:buFont typeface="Arial" panose="020B0604020202020204"/>
              <a:buChar char="•"/>
              <a:tabLst>
                <a:tab pos="697865" algn="l"/>
                <a:tab pos="698500" algn="l"/>
              </a:tabLst>
            </a:pPr>
            <a:r>
              <a:rPr lang="zh-CN" altLang="en-US" sz="1900" dirty="0">
                <a:cs typeface="华文细黑" panose="02010600040101010101" charset="-122"/>
              </a:rPr>
              <a:t>一样的地点，一样的时间</a:t>
            </a:r>
          </a:p>
          <a:p>
            <a:pPr marL="698500" lvl="1">
              <a:lnSpc>
                <a:spcPct val="100000"/>
              </a:lnSpc>
              <a:spcBef>
                <a:spcPts val="420"/>
              </a:spcBef>
              <a:buFont typeface="Arial" panose="020B0604020202020204"/>
              <a:buChar char="•"/>
              <a:tabLst>
                <a:tab pos="697865" algn="l"/>
                <a:tab pos="698500" algn="l"/>
              </a:tabLst>
            </a:pPr>
            <a:r>
              <a:rPr lang="zh-CN" altLang="en-US" sz="1900" dirty="0">
                <a:cs typeface="华文细黑" panose="02010600040101010101" charset="-122"/>
              </a:rPr>
              <a:t>少量人参与，分析师驱动</a:t>
            </a:r>
          </a:p>
          <a:p>
            <a:pPr marL="241300">
              <a:lnSpc>
                <a:spcPct val="100000"/>
              </a:lnSpc>
              <a:spcBef>
                <a:spcPts val="1020"/>
              </a:spcBef>
              <a:buClr>
                <a:srgbClr val="FF3300"/>
              </a:buClr>
              <a:buFont typeface="Arial" panose="020B0604020202020204"/>
              <a:buChar char="•"/>
              <a:tabLst>
                <a:tab pos="241300" algn="l"/>
              </a:tabLst>
            </a:pPr>
            <a:r>
              <a:rPr lang="zh-CN" altLang="en-US" sz="2500" dirty="0">
                <a:solidFill>
                  <a:srgbClr val="FF0000"/>
                </a:solidFill>
                <a:cs typeface="华文细黑" panose="02010600040101010101" charset="-122"/>
              </a:rPr>
              <a:t>问卷调查</a:t>
            </a:r>
          </a:p>
          <a:p>
            <a:pPr marL="698500" lvl="1">
              <a:lnSpc>
                <a:spcPct val="100000"/>
              </a:lnSpc>
              <a:buFont typeface="Arial" panose="020B0604020202020204"/>
              <a:buChar char="•"/>
              <a:tabLst>
                <a:tab pos="697865" algn="l"/>
                <a:tab pos="698500" algn="l"/>
              </a:tabLst>
            </a:pPr>
            <a:r>
              <a:rPr lang="zh-CN" altLang="en-US" sz="1900" dirty="0">
                <a:cs typeface="华文细黑" panose="02010600040101010101" charset="-122"/>
              </a:rPr>
              <a:t>不同的时间，不同的地点</a:t>
            </a:r>
          </a:p>
          <a:p>
            <a:pPr marL="698500" lvl="1">
              <a:lnSpc>
                <a:spcPct val="100000"/>
              </a:lnSpc>
              <a:spcBef>
                <a:spcPts val="520"/>
              </a:spcBef>
              <a:buFont typeface="Arial" panose="020B0604020202020204"/>
              <a:buChar char="•"/>
              <a:tabLst>
                <a:tab pos="697865" algn="l"/>
                <a:tab pos="698500" algn="l"/>
              </a:tabLst>
            </a:pPr>
            <a:r>
              <a:rPr lang="zh-CN" altLang="en-US" sz="1900" dirty="0">
                <a:cs typeface="华文细黑" panose="02010600040101010101" charset="-122"/>
              </a:rPr>
              <a:t>很多人参与，分析师观察</a:t>
            </a:r>
          </a:p>
          <a:p>
            <a:pPr marL="241300">
              <a:lnSpc>
                <a:spcPct val="100000"/>
              </a:lnSpc>
              <a:spcBef>
                <a:spcPts val="1020"/>
              </a:spcBef>
              <a:buClr>
                <a:srgbClr val="FF3300"/>
              </a:buClr>
              <a:buFont typeface="Arial" panose="020B0604020202020204"/>
              <a:buChar char="•"/>
              <a:tabLst>
                <a:tab pos="241300" algn="l"/>
              </a:tabLst>
            </a:pPr>
            <a:r>
              <a:rPr lang="zh-CN" altLang="en-US" sz="2500" dirty="0">
                <a:solidFill>
                  <a:srgbClr val="FF0000"/>
                </a:solidFill>
                <a:cs typeface="华文细黑" panose="02010600040101010101" charset="-122"/>
              </a:rPr>
              <a:t>群体诱导技术</a:t>
            </a:r>
          </a:p>
          <a:p>
            <a:pPr marL="698500" lvl="1">
              <a:lnSpc>
                <a:spcPct val="100000"/>
              </a:lnSpc>
              <a:buFont typeface="Arial" panose="020B0604020202020204"/>
              <a:buChar char="•"/>
              <a:tabLst>
                <a:tab pos="697865" algn="l"/>
                <a:tab pos="698500" algn="l"/>
              </a:tabLst>
            </a:pPr>
            <a:r>
              <a:rPr lang="zh-CN" altLang="en-US" sz="1900" dirty="0">
                <a:cs typeface="华文细黑" panose="02010600040101010101" charset="-122"/>
              </a:rPr>
              <a:t>相同或不同的地点，同样的时间</a:t>
            </a:r>
          </a:p>
          <a:p>
            <a:pPr marL="698500" lvl="1">
              <a:lnSpc>
                <a:spcPct val="100000"/>
              </a:lnSpc>
              <a:spcBef>
                <a:spcPts val="520"/>
              </a:spcBef>
              <a:buFont typeface="Arial" panose="020B0604020202020204"/>
              <a:buChar char="•"/>
              <a:tabLst>
                <a:tab pos="697865" algn="l"/>
                <a:tab pos="698500" algn="l"/>
              </a:tabLst>
            </a:pPr>
            <a:r>
              <a:rPr lang="en-US" altLang="zh-CN" sz="1900" spc="-5" dirty="0">
                <a:cs typeface="华文细黑" panose="02010600040101010101" charset="-122"/>
              </a:rPr>
              <a:t>20</a:t>
            </a:r>
            <a:r>
              <a:rPr lang="zh-CN" altLang="en-US" sz="1900" dirty="0">
                <a:cs typeface="华文细黑" panose="02010600040101010101" charset="-122"/>
              </a:rPr>
              <a:t>人左右，分析师参与</a:t>
            </a:r>
          </a:p>
          <a:p>
            <a:pPr marL="241300">
              <a:lnSpc>
                <a:spcPct val="100000"/>
              </a:lnSpc>
              <a:spcBef>
                <a:spcPts val="920"/>
              </a:spcBef>
              <a:buClr>
                <a:srgbClr val="FF3300"/>
              </a:buClr>
              <a:buFont typeface="Arial" panose="020B0604020202020204"/>
              <a:buChar char="•"/>
              <a:tabLst>
                <a:tab pos="241300" algn="l"/>
              </a:tabLst>
            </a:pPr>
            <a:r>
              <a:rPr lang="zh-CN" altLang="en-US" sz="2500" dirty="0">
                <a:solidFill>
                  <a:srgbClr val="FF0000"/>
                </a:solidFill>
                <a:cs typeface="华文细黑" panose="02010600040101010101" charset="-122"/>
              </a:rPr>
              <a:t>参与调查法</a:t>
            </a:r>
          </a:p>
          <a:p>
            <a:pPr marL="698500" lvl="1">
              <a:lnSpc>
                <a:spcPct val="100000"/>
              </a:lnSpc>
              <a:buFont typeface="Arial" panose="020B0604020202020204"/>
              <a:buChar char="•"/>
              <a:tabLst>
                <a:tab pos="697865" algn="l"/>
                <a:tab pos="698500" algn="l"/>
              </a:tabLst>
            </a:pPr>
            <a:r>
              <a:rPr lang="zh-CN" altLang="en-US" sz="1900" dirty="0">
                <a:cs typeface="华文细黑" panose="02010600040101010101" charset="-122"/>
              </a:rPr>
              <a:t>同样的时间，同样的地点</a:t>
            </a:r>
          </a:p>
          <a:p>
            <a:pPr marL="698500" lvl="1">
              <a:lnSpc>
                <a:spcPct val="100000"/>
              </a:lnSpc>
              <a:spcBef>
                <a:spcPts val="520"/>
              </a:spcBef>
              <a:buFont typeface="Arial" panose="020B0604020202020204"/>
              <a:buChar char="•"/>
              <a:tabLst>
                <a:tab pos="697865" algn="l"/>
                <a:tab pos="698500" algn="l"/>
              </a:tabLst>
            </a:pPr>
            <a:r>
              <a:rPr lang="zh-CN" altLang="en-US" sz="1900" dirty="0">
                <a:cs typeface="华文细黑" panose="02010600040101010101" charset="-122"/>
              </a:rPr>
              <a:t>分析师参与</a:t>
            </a:r>
          </a:p>
        </p:txBody>
      </p:sp>
      <p:sp>
        <p:nvSpPr>
          <p:cNvPr id="5" name="矩形 4"/>
          <p:cNvSpPr/>
          <p:nvPr/>
        </p:nvSpPr>
        <p:spPr>
          <a:xfrm>
            <a:off x="6096000" y="2290403"/>
            <a:ext cx="6096000" cy="2949525"/>
          </a:xfrm>
          <a:prstGeom prst="rect">
            <a:avLst/>
          </a:prstGeom>
        </p:spPr>
        <p:txBody>
          <a:bodyPr>
            <a:spAutoFit/>
          </a:bodyPr>
          <a:lstStyle/>
          <a:p>
            <a:pPr marL="241300" indent="-228600">
              <a:lnSpc>
                <a:spcPct val="100000"/>
              </a:lnSpc>
              <a:spcBef>
                <a:spcPts val="1100"/>
              </a:spcBef>
              <a:buClr>
                <a:srgbClr val="FF3300"/>
              </a:buClr>
              <a:buFont typeface="Arial" panose="020B0604020202020204"/>
              <a:buChar char="•"/>
              <a:tabLst>
                <a:tab pos="241300" algn="l"/>
              </a:tabLst>
            </a:pPr>
            <a:r>
              <a:rPr lang="zh-CN" altLang="en-US" sz="2400" dirty="0">
                <a:solidFill>
                  <a:schemeClr val="accent6">
                    <a:lumMod val="75000"/>
                  </a:schemeClr>
                </a:solidFill>
                <a:latin typeface="微软雅黑" panose="020B0503020204020204" pitchFamily="34" charset="-122"/>
                <a:ea typeface="微软雅黑" panose="020B0503020204020204" pitchFamily="34" charset="-122"/>
                <a:cs typeface="Arial Unicode MS"/>
              </a:rPr>
              <a:t>文档分析</a:t>
            </a:r>
          </a:p>
          <a:p>
            <a:pPr marL="241300" indent="-228600">
              <a:lnSpc>
                <a:spcPct val="100000"/>
              </a:lnSpc>
              <a:spcBef>
                <a:spcPts val="1000"/>
              </a:spcBef>
              <a:buClr>
                <a:srgbClr val="FF3300"/>
              </a:buClr>
              <a:buFont typeface="Arial" panose="020B0604020202020204"/>
              <a:buChar char="•"/>
              <a:tabLst>
                <a:tab pos="241300" algn="l"/>
              </a:tabLst>
            </a:pPr>
            <a:r>
              <a:rPr lang="zh-CN" altLang="en-US" sz="2400" dirty="0">
                <a:solidFill>
                  <a:schemeClr val="accent6">
                    <a:lumMod val="75000"/>
                  </a:schemeClr>
                </a:solidFill>
                <a:latin typeface="微软雅黑" panose="020B0503020204020204" pitchFamily="34" charset="-122"/>
                <a:ea typeface="微软雅黑" panose="020B0503020204020204" pitchFamily="34" charset="-122"/>
                <a:cs typeface="Arial Unicode MS"/>
              </a:rPr>
              <a:t>头脑风暴</a:t>
            </a:r>
          </a:p>
          <a:p>
            <a:pPr marL="241300" indent="-228600">
              <a:lnSpc>
                <a:spcPct val="100000"/>
              </a:lnSpc>
              <a:spcBef>
                <a:spcPts val="1000"/>
              </a:spcBef>
              <a:buClr>
                <a:srgbClr val="FF3300"/>
              </a:buClr>
              <a:buFont typeface="Arial" panose="020B0604020202020204"/>
              <a:buChar char="•"/>
              <a:tabLst>
                <a:tab pos="241300" algn="l"/>
              </a:tabLst>
            </a:pPr>
            <a:r>
              <a:rPr lang="zh-CN" altLang="en-US" sz="2400" dirty="0">
                <a:solidFill>
                  <a:schemeClr val="accent6">
                    <a:lumMod val="75000"/>
                  </a:schemeClr>
                </a:solidFill>
                <a:latin typeface="微软雅黑" panose="020B0503020204020204" pitchFamily="34" charset="-122"/>
                <a:ea typeface="微软雅黑" panose="020B0503020204020204" pitchFamily="34" charset="-122"/>
                <a:cs typeface="Arial Unicode MS"/>
              </a:rPr>
              <a:t>情景分析</a:t>
            </a:r>
          </a:p>
          <a:p>
            <a:pPr marL="241300" indent="-228600">
              <a:lnSpc>
                <a:spcPct val="100000"/>
              </a:lnSpc>
              <a:spcBef>
                <a:spcPts val="1000"/>
              </a:spcBef>
              <a:buClr>
                <a:srgbClr val="FF3300"/>
              </a:buClr>
              <a:buFont typeface="Arial" panose="020B0604020202020204"/>
              <a:buChar char="•"/>
              <a:tabLst>
                <a:tab pos="241300" algn="l"/>
              </a:tabLst>
            </a:pPr>
            <a:r>
              <a:rPr lang="zh-CN" altLang="en-US" sz="2400" dirty="0">
                <a:solidFill>
                  <a:schemeClr val="accent6">
                    <a:lumMod val="75000"/>
                  </a:schemeClr>
                </a:solidFill>
                <a:latin typeface="微软雅黑" panose="020B0503020204020204" pitchFamily="34" charset="-122"/>
                <a:ea typeface="微软雅黑" panose="020B0503020204020204" pitchFamily="34" charset="-122"/>
                <a:cs typeface="Arial Unicode MS"/>
              </a:rPr>
              <a:t>原型化方法</a:t>
            </a:r>
          </a:p>
          <a:p>
            <a:pPr marL="241300" indent="-228600">
              <a:lnSpc>
                <a:spcPct val="100000"/>
              </a:lnSpc>
              <a:spcBef>
                <a:spcPts val="1000"/>
              </a:spcBef>
              <a:buClr>
                <a:srgbClr val="FF3300"/>
              </a:buClr>
              <a:buFont typeface="Arial" panose="020B0604020202020204"/>
              <a:buChar char="•"/>
              <a:tabLst>
                <a:tab pos="241300" algn="l"/>
              </a:tabLst>
            </a:pPr>
            <a:r>
              <a:rPr lang="zh-CN" altLang="en-US" sz="2400" dirty="0">
                <a:solidFill>
                  <a:schemeClr val="accent6">
                    <a:lumMod val="75000"/>
                  </a:schemeClr>
                </a:solidFill>
                <a:latin typeface="微软雅黑" panose="020B0503020204020204" pitchFamily="34" charset="-122"/>
                <a:ea typeface="微软雅黑" panose="020B0503020204020204" pitchFamily="34" charset="-122"/>
                <a:cs typeface="Arial Unicode MS"/>
              </a:rPr>
              <a:t>建模方法</a:t>
            </a:r>
          </a:p>
          <a:p>
            <a:pPr marL="241300" indent="-228600">
              <a:lnSpc>
                <a:spcPct val="100000"/>
              </a:lnSpc>
              <a:spcBef>
                <a:spcPts val="1000"/>
              </a:spcBef>
              <a:buClr>
                <a:srgbClr val="FF3300"/>
              </a:buClr>
              <a:buFont typeface="Arial" panose="020B0604020202020204"/>
              <a:buChar char="•"/>
              <a:tabLst>
                <a:tab pos="241300" algn="l"/>
              </a:tabLst>
            </a:pPr>
            <a:r>
              <a:rPr lang="zh-CN" altLang="en-US" sz="2400" dirty="0">
                <a:solidFill>
                  <a:schemeClr val="accent6">
                    <a:lumMod val="75000"/>
                  </a:schemeClr>
                </a:solidFill>
                <a:latin typeface="微软雅黑" panose="020B0503020204020204" pitchFamily="34" charset="-122"/>
                <a:ea typeface="微软雅黑" panose="020B0503020204020204" pitchFamily="34" charset="-122"/>
                <a:cs typeface="Arial Unicode MS"/>
              </a:rPr>
              <a:t>需求讨论会</a:t>
            </a:r>
          </a:p>
        </p:txBody>
      </p:sp>
      <p:sp>
        <p:nvSpPr>
          <p:cNvPr id="6" name="灯片编号占位符 5"/>
          <p:cNvSpPr>
            <a:spLocks noGrp="1"/>
          </p:cNvSpPr>
          <p:nvPr>
            <p:ph type="sldNum" sz="quarter" idx="12"/>
          </p:nvPr>
        </p:nvSpPr>
        <p:spPr/>
        <p:txBody>
          <a:bodyPr/>
          <a:lstStyle/>
          <a:p>
            <a:fld id="{74D2AB8B-5816-41F2-8B4B-CA5C3E4E6A65}" type="slidenum">
              <a:rPr lang="zh-CN" altLang="en-US" smtClean="0"/>
              <a:t>28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91633"/>
    </mc:Choice>
    <mc:Fallback xmlns="">
      <p:transition spd="slow" advTm="91633"/>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面谈</a:t>
            </a:r>
          </a:p>
        </p:txBody>
      </p:sp>
      <p:sp>
        <p:nvSpPr>
          <p:cNvPr id="3" name="内容占位符 2"/>
          <p:cNvSpPr>
            <a:spLocks noGrp="1"/>
          </p:cNvSpPr>
          <p:nvPr>
            <p:ph idx="1"/>
          </p:nvPr>
        </p:nvSpPr>
        <p:spPr/>
        <p:txBody>
          <a:bodyPr/>
          <a:lstStyle/>
          <a:p>
            <a:pPr marL="241300">
              <a:lnSpc>
                <a:spcPct val="100000"/>
              </a:lnSpc>
              <a:buClr>
                <a:srgbClr val="0033CC"/>
              </a:buClr>
              <a:buFont typeface="Arial" panose="020B0604020202020204"/>
              <a:buChar char="•"/>
              <a:tabLst>
                <a:tab pos="241300" algn="l"/>
              </a:tabLst>
            </a:pPr>
            <a:r>
              <a:rPr lang="zh-CN" altLang="en-US" dirty="0">
                <a:solidFill>
                  <a:srgbClr val="004DD6"/>
                </a:solidFill>
                <a:cs typeface="华文细黑" panose="02010600040101010101" charset="-122"/>
              </a:rPr>
              <a:t>问问题，听答案</a:t>
            </a:r>
            <a:endParaRPr lang="zh-CN" altLang="en-US" dirty="0">
              <a:cs typeface="华文细黑" panose="02010600040101010101" charset="-122"/>
            </a:endParaRPr>
          </a:p>
          <a:p>
            <a:pPr marL="241300">
              <a:lnSpc>
                <a:spcPct val="100000"/>
              </a:lnSpc>
              <a:spcBef>
                <a:spcPts val="1640"/>
              </a:spcBef>
              <a:buFont typeface="Arial" panose="020B0604020202020204"/>
              <a:buChar char="•"/>
              <a:tabLst>
                <a:tab pos="241300" algn="l"/>
              </a:tabLst>
            </a:pPr>
            <a:r>
              <a:rPr lang="zh-CN" altLang="en-US" dirty="0">
                <a:cs typeface="华文细黑" panose="02010600040101010101" charset="-122"/>
              </a:rPr>
              <a:t>什么时候面谈</a:t>
            </a:r>
            <a:r>
              <a:rPr lang="en-US" altLang="zh-CN" spc="-270" dirty="0">
                <a:cs typeface="华文细黑" panose="02010600040101010101" charset="-122"/>
              </a:rPr>
              <a:t>?</a:t>
            </a:r>
            <a:endParaRPr lang="zh-CN" altLang="en-US" dirty="0">
              <a:cs typeface="华文细黑" panose="02010600040101010101" charset="-122"/>
            </a:endParaRPr>
          </a:p>
          <a:p>
            <a:pPr marL="698500" lvl="1">
              <a:lnSpc>
                <a:spcPct val="100000"/>
              </a:lnSpc>
              <a:spcBef>
                <a:spcPts val="1060"/>
              </a:spcBef>
              <a:buFont typeface="Arial" panose="020B0604020202020204"/>
              <a:buChar char="•"/>
              <a:tabLst>
                <a:tab pos="698500" algn="l"/>
              </a:tabLst>
            </a:pPr>
            <a:r>
              <a:rPr lang="zh-CN" altLang="en-US" dirty="0">
                <a:cs typeface="华文细黑" panose="02010600040101010101" charset="-122"/>
              </a:rPr>
              <a:t>可以见到干系人</a:t>
            </a:r>
          </a:p>
          <a:p>
            <a:pPr marL="698500" lvl="1">
              <a:lnSpc>
                <a:spcPct val="100000"/>
              </a:lnSpc>
              <a:spcBef>
                <a:spcPts val="1120"/>
              </a:spcBef>
              <a:buFont typeface="Arial" panose="020B0604020202020204"/>
              <a:buChar char="•"/>
              <a:tabLst>
                <a:tab pos="698500" algn="l"/>
              </a:tabLst>
            </a:pPr>
            <a:r>
              <a:rPr lang="zh-CN" altLang="en-US" dirty="0">
                <a:cs typeface="华文细黑" panose="02010600040101010101" charset="-122"/>
              </a:rPr>
              <a:t>很少的人了解很多内容的时候</a:t>
            </a:r>
          </a:p>
          <a:p>
            <a:pPr marL="698500" lvl="1">
              <a:lnSpc>
                <a:spcPct val="100000"/>
              </a:lnSpc>
              <a:spcBef>
                <a:spcPts val="1020"/>
              </a:spcBef>
              <a:buFont typeface="Arial" panose="020B0604020202020204"/>
              <a:buChar char="•"/>
              <a:tabLst>
                <a:tab pos="698500" algn="l"/>
              </a:tabLst>
            </a:pPr>
            <a:r>
              <a:rPr lang="zh-CN" altLang="en-US" dirty="0">
                <a:cs typeface="华文细黑" panose="02010600040101010101" charset="-122"/>
              </a:rPr>
              <a:t>真正的专家存在的时候</a:t>
            </a:r>
          </a:p>
          <a:p>
            <a:pPr marL="698500" lvl="1">
              <a:lnSpc>
                <a:spcPct val="100000"/>
              </a:lnSpc>
              <a:spcBef>
                <a:spcPts val="1120"/>
              </a:spcBef>
              <a:buFont typeface="Arial" panose="020B0604020202020204"/>
              <a:buChar char="•"/>
              <a:tabLst>
                <a:tab pos="698500" algn="l"/>
              </a:tabLst>
            </a:pPr>
            <a:r>
              <a:rPr lang="zh-CN" altLang="en-US" dirty="0">
                <a:cs typeface="华文细黑" panose="02010600040101010101" charset="-122"/>
              </a:rPr>
              <a:t>干系人不能被聚到一起的时候</a:t>
            </a:r>
          </a:p>
          <a:p>
            <a:pPr marL="698500" lvl="1">
              <a:lnSpc>
                <a:spcPct val="100000"/>
              </a:lnSpc>
              <a:spcBef>
                <a:spcPts val="1020"/>
              </a:spcBef>
              <a:buFont typeface="Arial" panose="020B0604020202020204"/>
              <a:buChar char="•"/>
              <a:tabLst>
                <a:tab pos="698500" algn="l"/>
              </a:tabLst>
            </a:pPr>
            <a:r>
              <a:rPr lang="zh-CN" altLang="en-US" dirty="0">
                <a:cs typeface="华文细黑" panose="02010600040101010101" charset="-122"/>
              </a:rPr>
              <a:t>问题不依赖交互来得到最后解答时</a:t>
            </a:r>
          </a:p>
          <a:p>
            <a:pPr marL="12700" indent="0">
              <a:lnSpc>
                <a:spcPct val="100000"/>
              </a:lnSpc>
              <a:spcBef>
                <a:spcPts val="1450"/>
              </a:spcBef>
              <a:buNone/>
              <a:tabLst>
                <a:tab pos="240665" algn="l"/>
                <a:tab pos="241300" algn="l"/>
              </a:tabLst>
            </a:pPr>
            <a:r>
              <a:rPr lang="en-US" altLang="zh-CN" sz="2400" dirty="0" err="1">
                <a:latin typeface="Times New Roman" panose="02020603050405020304" pitchFamily="18" charset="0"/>
                <a:cs typeface="Times New Roman" panose="02020603050405020304" pitchFamily="18" charset="0"/>
              </a:rPr>
              <a:t>Gause</a:t>
            </a:r>
            <a:r>
              <a:rPr lang="en-US" altLang="zh-CN" sz="2400" dirty="0">
                <a:latin typeface="Times New Roman" panose="02020603050405020304" pitchFamily="18" charset="0"/>
                <a:cs typeface="Times New Roman" panose="02020603050405020304" pitchFamily="18" charset="0"/>
              </a:rPr>
              <a:t> &amp; Weinberg, </a:t>
            </a:r>
            <a:r>
              <a:rPr lang="en-US" altLang="zh-CN" sz="2400" i="1" spc="-25" dirty="0">
                <a:latin typeface="Times New Roman" panose="02020603050405020304" pitchFamily="18" charset="0"/>
                <a:cs typeface="Times New Roman" panose="02020603050405020304" pitchFamily="18" charset="0"/>
              </a:rPr>
              <a:t>Exploring </a:t>
            </a:r>
            <a:r>
              <a:rPr lang="en-US" altLang="zh-CN" sz="2400" i="1" spc="-30" dirty="0">
                <a:latin typeface="Times New Roman" panose="02020603050405020304" pitchFamily="18" charset="0"/>
                <a:cs typeface="Times New Roman" panose="02020603050405020304" pitchFamily="18" charset="0"/>
              </a:rPr>
              <a:t>Requirements</a:t>
            </a:r>
            <a:r>
              <a:rPr lang="en-US" altLang="zh-CN" sz="2400" spc="-3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Dorset House,</a:t>
            </a:r>
            <a:r>
              <a:rPr lang="en-US" altLang="zh-CN" sz="2400" spc="-1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1989</a:t>
            </a:r>
            <a:endParaRPr lang="zh-CN" altLang="en-US" sz="24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t>29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9980"/>
    </mc:Choice>
    <mc:Fallback xmlns="">
      <p:transition spd="slow" advTm="4998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38199" y="966788"/>
            <a:ext cx="10515600" cy="5172710"/>
          </a:xfrm>
          <a:custGeom>
            <a:avLst/>
            <a:gdLst/>
            <a:ahLst/>
            <a:cxnLst/>
            <a:rect l="l" t="t" r="r" b="b"/>
            <a:pathLst>
              <a:path w="10515600" h="5172710">
                <a:moveTo>
                  <a:pt x="0" y="0"/>
                </a:moveTo>
                <a:lnTo>
                  <a:pt x="10515598" y="0"/>
                </a:lnTo>
                <a:lnTo>
                  <a:pt x="10515598" y="5172334"/>
                </a:lnTo>
                <a:lnTo>
                  <a:pt x="0" y="5172334"/>
                </a:lnTo>
                <a:lnTo>
                  <a:pt x="0" y="0"/>
                </a:lnTo>
                <a:close/>
              </a:path>
            </a:pathLst>
          </a:custGeom>
          <a:solidFill>
            <a:srgbClr val="FFFFFF"/>
          </a:solidFill>
        </p:spPr>
        <p:txBody>
          <a:bodyPr wrap="square" lIns="0" tIns="0" rIns="0" bIns="0" rtlCol="0"/>
          <a:lstStyle/>
          <a:p>
            <a:endParaRPr/>
          </a:p>
        </p:txBody>
      </p:sp>
      <p:sp>
        <p:nvSpPr>
          <p:cNvPr id="3" name="object 3"/>
          <p:cNvSpPr txBox="1"/>
          <p:nvPr/>
        </p:nvSpPr>
        <p:spPr>
          <a:xfrm>
            <a:off x="916939" y="365761"/>
            <a:ext cx="8813800" cy="5924699"/>
          </a:xfrm>
          <a:prstGeom prst="rect">
            <a:avLst/>
          </a:prstGeom>
        </p:spPr>
        <p:txBody>
          <a:bodyPr vert="horz" wrap="square" lIns="0" tIns="12700" rIns="0" bIns="0" rtlCol="0">
            <a:spAutoFit/>
          </a:bodyPr>
          <a:lstStyle/>
          <a:p>
            <a:pPr marL="12700">
              <a:lnSpc>
                <a:spcPct val="100000"/>
              </a:lnSpc>
              <a:spcBef>
                <a:spcPts val="100"/>
              </a:spcBef>
            </a:pPr>
            <a:r>
              <a:rPr sz="2800" b="1" spc="-5" dirty="0">
                <a:latin typeface="微软雅黑" panose="020B0503020204020204" pitchFamily="34" charset="-122"/>
                <a:ea typeface="微软雅黑" panose="020B0503020204020204" pitchFamily="34" charset="-122"/>
                <a:cs typeface="华文细黑" panose="02010600040101010101" charset="-122"/>
              </a:rPr>
              <a:t>面谈</a:t>
            </a:r>
            <a:endParaRPr sz="28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2070"/>
              </a:spcBef>
              <a:buFont typeface="Arial" panose="020B0604020202020204"/>
              <a:buChar char="•"/>
              <a:tabLst>
                <a:tab pos="240665" algn="l"/>
                <a:tab pos="241300" algn="l"/>
              </a:tabLst>
            </a:pPr>
            <a:r>
              <a:rPr sz="2200" dirty="0">
                <a:latin typeface="微软雅黑" panose="020B0503020204020204" pitchFamily="34" charset="-122"/>
                <a:ea typeface="微软雅黑" panose="020B0503020204020204" pitchFamily="34" charset="-122"/>
                <a:cs typeface="华文细黑" panose="02010600040101010101" charset="-122"/>
              </a:rPr>
              <a:t>类型</a:t>
            </a:r>
          </a:p>
          <a:p>
            <a:pPr marL="698500" lvl="1" indent="-228600">
              <a:lnSpc>
                <a:spcPct val="100000"/>
              </a:lnSpc>
              <a:spcBef>
                <a:spcPts val="96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有组织的面谈通常事先制定议程，问题可以是开放的</a:t>
            </a:r>
          </a:p>
          <a:p>
            <a:pPr marL="698500" lvl="1" indent="-228600">
              <a:lnSpc>
                <a:spcPct val="100000"/>
              </a:lnSpc>
              <a:spcBef>
                <a:spcPts val="106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自由面谈则无既定议程</a:t>
            </a:r>
          </a:p>
          <a:p>
            <a:pPr marL="241300" indent="-228600">
              <a:lnSpc>
                <a:spcPct val="100000"/>
              </a:lnSpc>
              <a:spcBef>
                <a:spcPts val="1560"/>
              </a:spcBef>
              <a:buFont typeface="Arial" panose="020B0604020202020204"/>
              <a:buChar char="•"/>
              <a:tabLst>
                <a:tab pos="240665" algn="l"/>
                <a:tab pos="241300" algn="l"/>
              </a:tabLst>
            </a:pPr>
            <a:r>
              <a:rPr sz="2200" dirty="0">
                <a:latin typeface="微软雅黑" panose="020B0503020204020204" pitchFamily="34" charset="-122"/>
                <a:ea typeface="微软雅黑" panose="020B0503020204020204" pitchFamily="34" charset="-122"/>
                <a:cs typeface="华文细黑" panose="02010600040101010101" charset="-122"/>
              </a:rPr>
              <a:t>面谈的优点</a:t>
            </a:r>
          </a:p>
          <a:p>
            <a:pPr marL="698500" lvl="1" indent="-228600">
              <a:lnSpc>
                <a:spcPct val="100000"/>
              </a:lnSpc>
              <a:spcBef>
                <a:spcPts val="960"/>
              </a:spcBef>
              <a:buClr>
                <a:srgbClr val="4800B6"/>
              </a:buClr>
              <a:buFont typeface="Arial" panose="020B0604020202020204"/>
              <a:buChar char="•"/>
              <a:tabLst>
                <a:tab pos="697865" algn="l"/>
                <a:tab pos="698500" algn="l"/>
              </a:tabLst>
            </a:pPr>
            <a:r>
              <a:rPr sz="2200" dirty="0">
                <a:solidFill>
                  <a:srgbClr val="5C26C3"/>
                </a:solidFill>
                <a:latin typeface="微软雅黑" panose="020B0503020204020204" pitchFamily="34" charset="-122"/>
                <a:ea typeface="微软雅黑" panose="020B0503020204020204" pitchFamily="34" charset="-122"/>
                <a:cs typeface="华文细黑" panose="02010600040101010101" charset="-122"/>
              </a:rPr>
              <a:t>可以获得大量丰富的数据</a:t>
            </a:r>
            <a:endParaRPr sz="2200" dirty="0">
              <a:latin typeface="微软雅黑" panose="020B0503020204020204" pitchFamily="34" charset="-122"/>
              <a:ea typeface="微软雅黑" panose="020B0503020204020204" pitchFamily="34" charset="-122"/>
              <a:cs typeface="华文细黑" panose="02010600040101010101" charset="-122"/>
            </a:endParaRPr>
          </a:p>
          <a:p>
            <a:pPr marL="1155700" lvl="2" indent="-228600">
              <a:lnSpc>
                <a:spcPct val="100000"/>
              </a:lnSpc>
              <a:spcBef>
                <a:spcPts val="1060"/>
              </a:spcBef>
              <a:buFont typeface="Arial" panose="020B0604020202020204"/>
              <a:buChar char="•"/>
              <a:tabLst>
                <a:tab pos="1155065" algn="l"/>
                <a:tab pos="1155700" algn="l"/>
              </a:tabLst>
            </a:pPr>
            <a:r>
              <a:rPr sz="2200" dirty="0">
                <a:latin typeface="微软雅黑" panose="020B0503020204020204" pitchFamily="34" charset="-122"/>
                <a:ea typeface="微软雅黑" panose="020B0503020204020204" pitchFamily="34" charset="-122"/>
                <a:cs typeface="华文细黑" panose="02010600040101010101" charset="-122"/>
              </a:rPr>
              <a:t>有助于发现观点、感受、目标及事实</a:t>
            </a:r>
          </a:p>
          <a:p>
            <a:pPr marL="698500" lvl="1" indent="-228600">
              <a:lnSpc>
                <a:spcPct val="100000"/>
              </a:lnSpc>
              <a:spcBef>
                <a:spcPts val="106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可以进行深入探讨，根据面谈前一阶段获知的内容调整后续的问题</a:t>
            </a:r>
          </a:p>
          <a:p>
            <a:pPr marL="241300" indent="-228600">
              <a:lnSpc>
                <a:spcPct val="100000"/>
              </a:lnSpc>
              <a:spcBef>
                <a:spcPts val="1460"/>
              </a:spcBef>
              <a:buFont typeface="Arial" panose="020B0604020202020204"/>
              <a:buChar char="•"/>
              <a:tabLst>
                <a:tab pos="240665" algn="l"/>
                <a:tab pos="241300" algn="l"/>
              </a:tabLst>
            </a:pPr>
            <a:r>
              <a:rPr sz="2200" dirty="0">
                <a:latin typeface="微软雅黑" panose="020B0503020204020204" pitchFamily="34" charset="-122"/>
                <a:ea typeface="微软雅黑" panose="020B0503020204020204" pitchFamily="34" charset="-122"/>
                <a:cs typeface="华文细黑" panose="02010600040101010101" charset="-122"/>
              </a:rPr>
              <a:t>面谈的缺点</a:t>
            </a:r>
          </a:p>
          <a:p>
            <a:pPr marL="698500" lvl="1" indent="-228600">
              <a:lnSpc>
                <a:spcPct val="100000"/>
              </a:lnSpc>
              <a:spcBef>
                <a:spcPts val="106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大量的数据是定性的，难以分析</a:t>
            </a:r>
          </a:p>
          <a:p>
            <a:pPr marL="698500" lvl="1" indent="-228600">
              <a:lnSpc>
                <a:spcPct val="100000"/>
              </a:lnSpc>
              <a:spcBef>
                <a:spcPts val="106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难于对问题的回答者进行比较</a:t>
            </a:r>
          </a:p>
          <a:p>
            <a:pPr marL="698500" lvl="1" indent="-228600">
              <a:lnSpc>
                <a:spcPct val="100000"/>
              </a:lnSpc>
              <a:spcBef>
                <a:spcPts val="96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面谈技巧难于掌握</a:t>
            </a:r>
          </a:p>
        </p:txBody>
      </p:sp>
      <p:sp>
        <p:nvSpPr>
          <p:cNvPr id="4" name="object 4"/>
          <p:cNvSpPr/>
          <p:nvPr/>
        </p:nvSpPr>
        <p:spPr>
          <a:xfrm>
            <a:off x="8590475" y="1156088"/>
            <a:ext cx="3289298" cy="2463798"/>
          </a:xfrm>
          <a:prstGeom prst="rect">
            <a:avLst/>
          </a:prstGeom>
          <a:blipFill>
            <a:blip r:embed="rId3" cstate="print"/>
            <a:stretch>
              <a:fillRect/>
            </a:stretch>
          </a:blipFill>
        </p:spPr>
        <p:txBody>
          <a:bodyPr wrap="square" lIns="0" tIns="0" rIns="0" bIns="0" rtlCol="0"/>
          <a:lstStyle/>
          <a:p>
            <a:endParaRPr/>
          </a:p>
        </p:txBody>
      </p:sp>
      <p:sp>
        <p:nvSpPr>
          <p:cNvPr id="5" name="灯片编号占位符 4"/>
          <p:cNvSpPr>
            <a:spLocks noGrp="1"/>
          </p:cNvSpPr>
          <p:nvPr>
            <p:ph type="sldNum" sz="quarter" idx="7"/>
          </p:nvPr>
        </p:nvSpPr>
        <p:spPr/>
        <p:txBody>
          <a:bodyPr/>
          <a:lstStyle/>
          <a:p>
            <a:fld id="{B6F15528-21DE-4FAA-801E-634DDDAF4B2B}" type="slidenum">
              <a:rPr lang="en-US" altLang="zh-CN" smtClean="0"/>
              <a:t>30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98538"/>
    </mc:Choice>
    <mc:Fallback xmlns="">
      <p:transition spd="slow" advTm="98538"/>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62000" y="1769828"/>
            <a:ext cx="6654800" cy="4105275"/>
          </a:xfrm>
          <a:prstGeom prst="rect">
            <a:avLst/>
          </a:prstGeom>
        </p:spPr>
        <p:txBody>
          <a:bodyPr vert="horz" wrap="square" lIns="0" tIns="43815" rIns="0" bIns="0" rtlCol="0">
            <a:spAutoFit/>
          </a:bodyPr>
          <a:lstStyle/>
          <a:p>
            <a:pPr marL="241300" indent="-228600">
              <a:lnSpc>
                <a:spcPct val="100000"/>
              </a:lnSpc>
              <a:spcBef>
                <a:spcPts val="345"/>
              </a:spcBef>
              <a:buClr>
                <a:srgbClr val="FF0000"/>
              </a:buClr>
              <a:buFont typeface="Arial" panose="020B0604020202020204"/>
              <a:buChar char="•"/>
              <a:tabLst>
                <a:tab pos="240665" algn="l"/>
                <a:tab pos="241300" algn="l"/>
              </a:tabLst>
            </a:pPr>
            <a:r>
              <a:rPr sz="2000" dirty="0">
                <a:solidFill>
                  <a:srgbClr val="FF2600"/>
                </a:solidFill>
                <a:latin typeface="微软雅黑" panose="020B0503020204020204" pitchFamily="34" charset="-122"/>
                <a:ea typeface="微软雅黑" panose="020B0503020204020204" pitchFamily="34" charset="-122"/>
                <a:cs typeface="华文细黑" panose="02010600040101010101" charset="-122"/>
              </a:rPr>
              <a:t>面谈开始</a:t>
            </a:r>
            <a:endParaRPr sz="2000" dirty="0">
              <a:latin typeface="微软雅黑" panose="020B0503020204020204" pitchFamily="34" charset="-122"/>
              <a:ea typeface="微软雅黑" panose="020B0503020204020204" pitchFamily="34" charset="-122"/>
              <a:cs typeface="华文细黑" panose="02010600040101010101" charset="-122"/>
            </a:endParaRPr>
          </a:p>
          <a:p>
            <a:pPr marL="698500" lvl="1" indent="-228600">
              <a:lnSpc>
                <a:spcPct val="100000"/>
              </a:lnSpc>
              <a:spcBef>
                <a:spcPts val="220"/>
              </a:spcBef>
              <a:buFont typeface="Arial" panose="020B0604020202020204"/>
              <a:buChar char="•"/>
              <a:tabLst>
                <a:tab pos="697865" algn="l"/>
                <a:tab pos="698500" algn="l"/>
              </a:tabLst>
            </a:pPr>
            <a:r>
              <a:rPr sz="1800" dirty="0">
                <a:latin typeface="微软雅黑" panose="020B0503020204020204" pitchFamily="34" charset="-122"/>
                <a:ea typeface="微软雅黑" panose="020B0503020204020204" pitchFamily="34" charset="-122"/>
                <a:cs typeface="华文细黑" panose="02010600040101010101" charset="-122"/>
              </a:rPr>
              <a:t>面谈开始时，谈一些比较轻松，不太敏感的话题</a:t>
            </a:r>
          </a:p>
          <a:p>
            <a:pPr marL="927100">
              <a:lnSpc>
                <a:spcPct val="100000"/>
              </a:lnSpc>
              <a:spcBef>
                <a:spcPts val="340"/>
              </a:spcBef>
            </a:pPr>
            <a:r>
              <a:rPr sz="1800" dirty="0">
                <a:solidFill>
                  <a:srgbClr val="279D00"/>
                </a:solidFill>
                <a:latin typeface="微软雅黑" panose="020B0503020204020204" pitchFamily="34" charset="-122"/>
                <a:ea typeface="微软雅黑" panose="020B0503020204020204" pitchFamily="34" charset="-122"/>
                <a:cs typeface="华文细黑" panose="02010600040101010101" charset="-122"/>
              </a:rPr>
              <a:t>天气</a:t>
            </a:r>
            <a:r>
              <a:rPr sz="1800" dirty="0">
                <a:solidFill>
                  <a:srgbClr val="2BA900"/>
                </a:solidFill>
                <a:latin typeface="微软雅黑" panose="020B0503020204020204" pitchFamily="34" charset="-122"/>
                <a:ea typeface="微软雅黑" panose="020B0503020204020204" pitchFamily="34" charset="-122"/>
                <a:cs typeface="华文细黑" panose="02010600040101010101" charset="-122"/>
              </a:rPr>
              <a:t>，</a:t>
            </a:r>
            <a:r>
              <a:rPr sz="1800" dirty="0">
                <a:solidFill>
                  <a:srgbClr val="279D00"/>
                </a:solidFill>
                <a:latin typeface="微软雅黑" panose="020B0503020204020204" pitchFamily="34" charset="-122"/>
                <a:ea typeface="微软雅黑" panose="020B0503020204020204" pitchFamily="34" charset="-122"/>
                <a:cs typeface="华文细黑" panose="02010600040101010101" charset="-122"/>
              </a:rPr>
              <a:t>体育比赛</a:t>
            </a:r>
            <a:r>
              <a:rPr sz="1800" dirty="0">
                <a:solidFill>
                  <a:srgbClr val="2BA900"/>
                </a:solidFill>
                <a:latin typeface="微软雅黑" panose="020B0503020204020204" pitchFamily="34" charset="-122"/>
                <a:ea typeface="微软雅黑" panose="020B0503020204020204" pitchFamily="34" charset="-122"/>
                <a:cs typeface="华文细黑" panose="02010600040101010101" charset="-122"/>
              </a:rPr>
              <a:t>、</a:t>
            </a:r>
            <a:r>
              <a:rPr sz="1800" dirty="0">
                <a:solidFill>
                  <a:srgbClr val="279D00"/>
                </a:solidFill>
                <a:latin typeface="微软雅黑" panose="020B0503020204020204" pitchFamily="34" charset="-122"/>
                <a:ea typeface="微软雅黑" panose="020B0503020204020204" pitchFamily="34" charset="-122"/>
                <a:cs typeface="华文细黑" panose="02010600040101010101" charset="-122"/>
              </a:rPr>
              <a:t>就受访者的照片</a:t>
            </a:r>
            <a:r>
              <a:rPr sz="1800" dirty="0">
                <a:solidFill>
                  <a:srgbClr val="2BA900"/>
                </a:solidFill>
                <a:latin typeface="微软雅黑" panose="020B0503020204020204" pitchFamily="34" charset="-122"/>
                <a:ea typeface="微软雅黑" panose="020B0503020204020204" pitchFamily="34" charset="-122"/>
                <a:cs typeface="华文细黑" panose="02010600040101010101" charset="-122"/>
              </a:rPr>
              <a:t>、</a:t>
            </a:r>
            <a:r>
              <a:rPr sz="1800" dirty="0">
                <a:solidFill>
                  <a:srgbClr val="279D00"/>
                </a:solidFill>
                <a:latin typeface="微软雅黑" panose="020B0503020204020204" pitchFamily="34" charset="-122"/>
                <a:ea typeface="微软雅黑" panose="020B0503020204020204" pitchFamily="34" charset="-122"/>
                <a:cs typeface="华文细黑" panose="02010600040101010101" charset="-122"/>
              </a:rPr>
              <a:t>办公桌陈设发表感叹</a:t>
            </a:r>
            <a:endParaRPr sz="18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720"/>
              </a:spcBef>
              <a:buClr>
                <a:srgbClr val="FF0000"/>
              </a:buClr>
              <a:buFont typeface="Arial" panose="020B0604020202020204"/>
              <a:buChar char="•"/>
              <a:tabLst>
                <a:tab pos="240665" algn="l"/>
                <a:tab pos="241300" algn="l"/>
              </a:tabLst>
            </a:pPr>
            <a:r>
              <a:rPr sz="2000" dirty="0">
                <a:solidFill>
                  <a:srgbClr val="FF2600"/>
                </a:solidFill>
                <a:latin typeface="微软雅黑" panose="020B0503020204020204" pitchFamily="34" charset="-122"/>
                <a:ea typeface="微软雅黑" panose="020B0503020204020204" pitchFamily="34" charset="-122"/>
                <a:cs typeface="华文细黑" panose="02010600040101010101" charset="-122"/>
              </a:rPr>
              <a:t>询问受访者是否同意录音</a:t>
            </a:r>
            <a:endParaRPr sz="2000" dirty="0">
              <a:latin typeface="微软雅黑" panose="020B0503020204020204" pitchFamily="34" charset="-122"/>
              <a:ea typeface="微软雅黑" panose="020B0503020204020204" pitchFamily="34" charset="-122"/>
              <a:cs typeface="华文细黑" panose="02010600040101010101" charset="-122"/>
            </a:endParaRPr>
          </a:p>
          <a:p>
            <a:pPr marL="698500" lvl="1" indent="-228600">
              <a:lnSpc>
                <a:spcPct val="100000"/>
              </a:lnSpc>
              <a:spcBef>
                <a:spcPts val="320"/>
              </a:spcBef>
              <a:buFont typeface="Arial" panose="020B0604020202020204"/>
              <a:buChar char="•"/>
              <a:tabLst>
                <a:tab pos="697865" algn="l"/>
                <a:tab pos="698500" algn="l"/>
              </a:tabLst>
            </a:pPr>
            <a:r>
              <a:rPr sz="1800" dirty="0">
                <a:latin typeface="微软雅黑" panose="020B0503020204020204" pitchFamily="34" charset="-122"/>
                <a:ea typeface="微软雅黑" panose="020B0503020204020204" pitchFamily="34" charset="-122"/>
                <a:cs typeface="华文细黑" panose="02010600040101010101" charset="-122"/>
              </a:rPr>
              <a:t>将录音笔放在受访者面前，提醒他们可在任何时候关掉</a:t>
            </a:r>
          </a:p>
          <a:p>
            <a:pPr marL="241300" indent="-228600">
              <a:lnSpc>
                <a:spcPct val="100000"/>
              </a:lnSpc>
              <a:spcBef>
                <a:spcPts val="720"/>
              </a:spcBef>
              <a:buClr>
                <a:srgbClr val="FF0000"/>
              </a:buClr>
              <a:buFont typeface="Arial" panose="020B0604020202020204"/>
              <a:buChar char="•"/>
              <a:tabLst>
                <a:tab pos="240665" algn="l"/>
                <a:tab pos="241300" algn="l"/>
              </a:tabLst>
            </a:pPr>
            <a:r>
              <a:rPr sz="2000" dirty="0">
                <a:solidFill>
                  <a:srgbClr val="FF2600"/>
                </a:solidFill>
                <a:latin typeface="微软雅黑" panose="020B0503020204020204" pitchFamily="34" charset="-122"/>
                <a:ea typeface="微软雅黑" panose="020B0503020204020204" pitchFamily="34" charset="-122"/>
                <a:cs typeface="华文细黑" panose="02010600040101010101" charset="-122"/>
              </a:rPr>
              <a:t>先问比较容易回答的问题</a:t>
            </a:r>
            <a:endParaRPr sz="2000" dirty="0">
              <a:latin typeface="微软雅黑" panose="020B0503020204020204" pitchFamily="34" charset="-122"/>
              <a:ea typeface="微软雅黑" panose="020B0503020204020204" pitchFamily="34" charset="-122"/>
              <a:cs typeface="华文细黑" panose="02010600040101010101" charset="-122"/>
            </a:endParaRPr>
          </a:p>
          <a:p>
            <a:pPr marL="698500" lvl="1" indent="-228600">
              <a:lnSpc>
                <a:spcPct val="100000"/>
              </a:lnSpc>
              <a:spcBef>
                <a:spcPts val="320"/>
              </a:spcBef>
              <a:buFont typeface="Arial" panose="020B0604020202020204"/>
              <a:buChar char="•"/>
              <a:tabLst>
                <a:tab pos="697865" algn="l"/>
                <a:tab pos="698500" algn="l"/>
              </a:tabLst>
            </a:pPr>
            <a:r>
              <a:rPr sz="1800" dirty="0">
                <a:latin typeface="微软雅黑" panose="020B0503020204020204" pitchFamily="34" charset="-122"/>
                <a:ea typeface="微软雅黑" panose="020B0503020204020204" pitchFamily="34" charset="-122"/>
                <a:cs typeface="华文细黑" panose="02010600040101010101" charset="-122"/>
              </a:rPr>
              <a:t>如个人信息：</a:t>
            </a:r>
            <a:r>
              <a:rPr sz="1800" spc="440" dirty="0">
                <a:latin typeface="微软雅黑" panose="020B0503020204020204" pitchFamily="34" charset="-122"/>
                <a:ea typeface="微软雅黑" panose="020B0503020204020204" pitchFamily="34" charset="-122"/>
                <a:cs typeface="华文细黑" panose="02010600040101010101" charset="-122"/>
              </a:rPr>
              <a:t> </a:t>
            </a:r>
            <a:r>
              <a:rPr sz="1800" dirty="0">
                <a:latin typeface="微软雅黑" panose="020B0503020204020204" pitchFamily="34" charset="-122"/>
                <a:ea typeface="微软雅黑" panose="020B0503020204020204" pitchFamily="34" charset="-122"/>
                <a:cs typeface="华文细黑" panose="02010600040101010101" charset="-122"/>
              </a:rPr>
              <a:t>“您在这儿工作多久了</a:t>
            </a:r>
            <a:r>
              <a:rPr sz="1800" spc="-90" dirty="0">
                <a:latin typeface="微软雅黑" panose="020B0503020204020204" pitchFamily="34" charset="-122"/>
                <a:ea typeface="微软雅黑" panose="020B0503020204020204" pitchFamily="34" charset="-122"/>
                <a:cs typeface="华文细黑" panose="02010600040101010101" charset="-122"/>
              </a:rPr>
              <a:t>?”</a:t>
            </a:r>
            <a:endParaRPr sz="18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720"/>
              </a:spcBef>
              <a:buClr>
                <a:srgbClr val="FF0000"/>
              </a:buClr>
              <a:buFont typeface="Arial" panose="020B0604020202020204"/>
              <a:buChar char="•"/>
              <a:tabLst>
                <a:tab pos="240665" algn="l"/>
                <a:tab pos="241300" algn="l"/>
              </a:tabLst>
            </a:pPr>
            <a:r>
              <a:rPr sz="2000" dirty="0">
                <a:solidFill>
                  <a:srgbClr val="FF2600"/>
                </a:solidFill>
                <a:latin typeface="微软雅黑" panose="020B0503020204020204" pitchFamily="34" charset="-122"/>
                <a:ea typeface="微软雅黑" panose="020B0503020204020204" pitchFamily="34" charset="-122"/>
                <a:cs typeface="华文细黑" panose="02010600040101010101" charset="-122"/>
              </a:rPr>
              <a:t>根据对方提出的某些线索继续提问</a:t>
            </a:r>
            <a:endParaRPr sz="2000" dirty="0">
              <a:latin typeface="微软雅黑" panose="020B0503020204020204" pitchFamily="34" charset="-122"/>
              <a:ea typeface="微软雅黑" panose="020B0503020204020204" pitchFamily="34" charset="-122"/>
              <a:cs typeface="华文细黑" panose="02010600040101010101" charset="-122"/>
            </a:endParaRPr>
          </a:p>
          <a:p>
            <a:pPr marL="698500" lvl="1" indent="-228600">
              <a:lnSpc>
                <a:spcPct val="100000"/>
              </a:lnSpc>
              <a:spcBef>
                <a:spcPts val="320"/>
              </a:spcBef>
              <a:buFont typeface="Arial" panose="020B0604020202020204"/>
              <a:buChar char="•"/>
              <a:tabLst>
                <a:tab pos="697865" algn="l"/>
                <a:tab pos="698500" algn="l"/>
              </a:tabLst>
            </a:pPr>
            <a:r>
              <a:rPr sz="1800" dirty="0">
                <a:latin typeface="微软雅黑" panose="020B0503020204020204" pitchFamily="34" charset="-122"/>
                <a:ea typeface="微软雅黑" panose="020B0503020204020204" pitchFamily="34" charset="-122"/>
                <a:cs typeface="华文细黑" panose="02010600040101010101" charset="-122"/>
              </a:rPr>
              <a:t>关注用户说的能暗示你的方案可能错误的时候</a:t>
            </a:r>
          </a:p>
          <a:p>
            <a:pPr marL="1155700" lvl="2" indent="-228600">
              <a:lnSpc>
                <a:spcPct val="100000"/>
              </a:lnSpc>
              <a:spcBef>
                <a:spcPts val="260"/>
              </a:spcBef>
              <a:buClr>
                <a:srgbClr val="279D00"/>
              </a:buClr>
              <a:buFont typeface="Arial" panose="020B0604020202020204"/>
              <a:buChar char="•"/>
              <a:tabLst>
                <a:tab pos="1155065" algn="l"/>
                <a:tab pos="1155700" algn="l"/>
              </a:tabLst>
            </a:pPr>
            <a:r>
              <a:rPr sz="1600" dirty="0">
                <a:solidFill>
                  <a:srgbClr val="2BA900"/>
                </a:solidFill>
                <a:latin typeface="微软雅黑" panose="020B0503020204020204" pitchFamily="34" charset="-122"/>
                <a:ea typeface="微软雅黑" panose="020B0503020204020204" pitchFamily="34" charset="-122"/>
                <a:cs typeface="华文细黑" panose="02010600040101010101" charset="-122"/>
              </a:rPr>
              <a:t>“</a:t>
            </a:r>
            <a:r>
              <a:rPr dirty="0">
                <a:solidFill>
                  <a:srgbClr val="279D00"/>
                </a:solidFill>
                <a:latin typeface="微软雅黑" panose="020B0503020204020204" pitchFamily="34" charset="-122"/>
                <a:ea typeface="微软雅黑" panose="020B0503020204020204" pitchFamily="34" charset="-122"/>
              </a:rPr>
              <a:t>您可以就此多谈谈吗?”</a:t>
            </a:r>
          </a:p>
          <a:p>
            <a:pPr marL="241300" indent="-228600">
              <a:lnSpc>
                <a:spcPct val="100000"/>
              </a:lnSpc>
              <a:spcBef>
                <a:spcPts val="740"/>
              </a:spcBef>
              <a:buClr>
                <a:srgbClr val="FF0000"/>
              </a:buClr>
              <a:buFont typeface="Arial" panose="020B0604020202020204"/>
              <a:buChar char="•"/>
              <a:tabLst>
                <a:tab pos="240665" algn="l"/>
                <a:tab pos="241300" algn="l"/>
              </a:tabLst>
            </a:pPr>
            <a:r>
              <a:rPr sz="2000" dirty="0">
                <a:solidFill>
                  <a:srgbClr val="FF2600"/>
                </a:solidFill>
                <a:latin typeface="微软雅黑" panose="020B0503020204020204" pitchFamily="34" charset="-122"/>
                <a:ea typeface="微软雅黑" panose="020B0503020204020204" pitchFamily="34" charset="-122"/>
                <a:cs typeface="华文细黑" panose="02010600040101010101" charset="-122"/>
              </a:rPr>
              <a:t>将自由发挥性质的问题放在最后</a:t>
            </a:r>
            <a:endParaRPr sz="2000" dirty="0">
              <a:latin typeface="微软雅黑" panose="020B0503020204020204" pitchFamily="34" charset="-122"/>
              <a:ea typeface="微软雅黑" panose="020B0503020204020204" pitchFamily="34" charset="-122"/>
              <a:cs typeface="华文细黑" panose="02010600040101010101" charset="-122"/>
            </a:endParaRPr>
          </a:p>
          <a:p>
            <a:pPr marL="698500" lvl="1" indent="-228600">
              <a:lnSpc>
                <a:spcPct val="100000"/>
              </a:lnSpc>
              <a:spcBef>
                <a:spcPts val="320"/>
              </a:spcBef>
              <a:buClr>
                <a:srgbClr val="279D00"/>
              </a:buClr>
              <a:buFont typeface="Arial" panose="020B0604020202020204"/>
              <a:buChar char="•"/>
              <a:tabLst>
                <a:tab pos="697865" algn="l"/>
                <a:tab pos="698500" algn="l"/>
              </a:tabLst>
            </a:pPr>
            <a:r>
              <a:rPr sz="1800" dirty="0">
                <a:solidFill>
                  <a:srgbClr val="2BA900"/>
                </a:solidFill>
                <a:latin typeface="微软雅黑" panose="020B0503020204020204" pitchFamily="34" charset="-122"/>
                <a:ea typeface="微软雅黑" panose="020B0503020204020204" pitchFamily="34" charset="-122"/>
                <a:cs typeface="华文细黑" panose="02010600040101010101" charset="-122"/>
              </a:rPr>
              <a:t>“</a:t>
            </a:r>
            <a:r>
              <a:rPr sz="1800" dirty="0">
                <a:solidFill>
                  <a:srgbClr val="279D00"/>
                </a:solidFill>
                <a:latin typeface="微软雅黑" panose="020B0503020204020204" pitchFamily="34" charset="-122"/>
                <a:ea typeface="微软雅黑" panose="020B0503020204020204" pitchFamily="34" charset="-122"/>
                <a:cs typeface="华文细黑" panose="02010600040101010101" charset="-122"/>
              </a:rPr>
              <a:t>您还有什么想补充的吗</a:t>
            </a:r>
            <a:r>
              <a:rPr sz="1800" spc="-90" dirty="0">
                <a:solidFill>
                  <a:srgbClr val="2BA900"/>
                </a:solidFill>
                <a:latin typeface="微软雅黑" panose="020B0503020204020204" pitchFamily="34" charset="-122"/>
                <a:ea typeface="微软雅黑" panose="020B0503020204020204" pitchFamily="34" charset="-122"/>
                <a:cs typeface="华文细黑" panose="02010600040101010101" charset="-122"/>
              </a:rPr>
              <a:t>?”</a:t>
            </a:r>
            <a:endParaRPr sz="1800" dirty="0">
              <a:latin typeface="微软雅黑" panose="020B0503020204020204" pitchFamily="34" charset="-122"/>
              <a:ea typeface="微软雅黑" panose="020B0503020204020204" pitchFamily="34" charset="-122"/>
              <a:cs typeface="华文细黑" panose="02010600040101010101" charset="-122"/>
            </a:endParaRPr>
          </a:p>
        </p:txBody>
      </p:sp>
      <p:sp>
        <p:nvSpPr>
          <p:cNvPr id="4" name="object 4"/>
          <p:cNvSpPr/>
          <p:nvPr/>
        </p:nvSpPr>
        <p:spPr>
          <a:xfrm>
            <a:off x="7416800" y="3608292"/>
            <a:ext cx="3140073" cy="2266811"/>
          </a:xfrm>
          <a:prstGeom prst="rect">
            <a:avLst/>
          </a:prstGeom>
          <a:blipFill>
            <a:blip r:embed="rId3" cstate="print"/>
            <a:stretch>
              <a:fillRect/>
            </a:stretch>
          </a:blipFill>
        </p:spPr>
        <p:txBody>
          <a:bodyPr wrap="square" lIns="0" tIns="0" rIns="0" bIns="0" rtlCol="0"/>
          <a:lstStyle/>
          <a:p>
            <a:endParaRPr/>
          </a:p>
        </p:txBody>
      </p:sp>
      <p:sp>
        <p:nvSpPr>
          <p:cNvPr id="8" name="标题 7"/>
          <p:cNvSpPr>
            <a:spLocks noGrp="1"/>
          </p:cNvSpPr>
          <p:nvPr>
            <p:ph type="title"/>
          </p:nvPr>
        </p:nvSpPr>
        <p:spPr/>
        <p:txBody>
          <a:bodyPr/>
          <a:lstStyle/>
          <a:p>
            <a:r>
              <a:rPr lang="zh-CN" altLang="en-US" spc="-5" dirty="0"/>
              <a:t>面谈技巧</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31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2539"/>
    </mc:Choice>
    <mc:Fallback xmlns="">
      <p:transition spd="slow" advTm="52539"/>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610807" y="1626458"/>
            <a:ext cx="5799845" cy="4670202"/>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6925945" y="2638277"/>
            <a:ext cx="4427855" cy="3329116"/>
          </a:xfrm>
          <a:prstGeom prst="rect">
            <a:avLst/>
          </a:prstGeom>
          <a:solidFill>
            <a:srgbClr val="C8DFF2"/>
          </a:solidFill>
        </p:spPr>
        <p:txBody>
          <a:bodyPr vert="horz" wrap="square" lIns="0" tIns="124460" rIns="0" bIns="0" rtlCol="0">
            <a:spAutoFit/>
          </a:bodyPr>
          <a:lstStyle/>
          <a:p>
            <a:pPr marL="320040" indent="-228600">
              <a:lnSpc>
                <a:spcPct val="100000"/>
              </a:lnSpc>
              <a:spcBef>
                <a:spcPts val="980"/>
              </a:spcBef>
              <a:buFont typeface="Arial" panose="020B0604020202020204"/>
              <a:buChar char="•"/>
              <a:tabLst>
                <a:tab pos="320040" algn="l"/>
              </a:tabLst>
            </a:pPr>
            <a:r>
              <a:rPr sz="2400" dirty="0" err="1">
                <a:latin typeface="微软雅黑" panose="020B0503020204020204" pitchFamily="34" charset="-122"/>
                <a:ea typeface="微软雅黑" panose="020B0503020204020204" pitchFamily="34" charset="-122"/>
                <a:cs typeface="Arial Unicode MS"/>
              </a:rPr>
              <a:t>避免一组固定的问题</a:t>
            </a:r>
            <a:endParaRPr sz="2400" dirty="0">
              <a:latin typeface="微软雅黑" panose="020B0503020204020204" pitchFamily="34" charset="-122"/>
              <a:ea typeface="微软雅黑" panose="020B0503020204020204" pitchFamily="34" charset="-122"/>
              <a:cs typeface="Arial Unicode MS"/>
            </a:endParaRPr>
          </a:p>
          <a:p>
            <a:pPr marL="320040" indent="-228600">
              <a:lnSpc>
                <a:spcPct val="100000"/>
              </a:lnSpc>
              <a:spcBef>
                <a:spcPts val="1520"/>
              </a:spcBef>
              <a:buFont typeface="Arial" panose="020B0604020202020204"/>
              <a:buChar char="•"/>
              <a:tabLst>
                <a:tab pos="320040" algn="l"/>
              </a:tabLst>
            </a:pPr>
            <a:r>
              <a:rPr sz="2400" dirty="0" err="1">
                <a:latin typeface="微软雅黑" panose="020B0503020204020204" pitchFamily="34" charset="-122"/>
                <a:ea typeface="微软雅黑" panose="020B0503020204020204" pitchFamily="34" charset="-122"/>
                <a:cs typeface="Arial Unicode MS"/>
              </a:rPr>
              <a:t>优先关注用户行为背后的原因</a:t>
            </a:r>
            <a:endParaRPr sz="2400" dirty="0">
              <a:latin typeface="微软雅黑" panose="020B0503020204020204" pitchFamily="34" charset="-122"/>
              <a:ea typeface="微软雅黑" panose="020B0503020204020204" pitchFamily="34" charset="-122"/>
              <a:cs typeface="Arial Unicode MS"/>
            </a:endParaRPr>
          </a:p>
          <a:p>
            <a:pPr marL="320040" indent="-228600">
              <a:lnSpc>
                <a:spcPct val="100000"/>
              </a:lnSpc>
              <a:spcBef>
                <a:spcPts val="1620"/>
              </a:spcBef>
              <a:buFont typeface="Arial" panose="020B0604020202020204"/>
              <a:buChar char="•"/>
              <a:tabLst>
                <a:tab pos="320040" algn="l"/>
              </a:tabLst>
            </a:pPr>
            <a:r>
              <a:rPr sz="2400" dirty="0" err="1">
                <a:latin typeface="微软雅黑" panose="020B0503020204020204" pitchFamily="34" charset="-122"/>
                <a:ea typeface="微软雅黑" panose="020B0503020204020204" pitchFamily="34" charset="-122"/>
                <a:cs typeface="Arial Unicode MS"/>
              </a:rPr>
              <a:t>避免让用户成为设计师</a:t>
            </a:r>
            <a:endParaRPr sz="2400" dirty="0">
              <a:latin typeface="微软雅黑" panose="020B0503020204020204" pitchFamily="34" charset="-122"/>
              <a:ea typeface="微软雅黑" panose="020B0503020204020204" pitchFamily="34" charset="-122"/>
              <a:cs typeface="Arial Unicode MS"/>
            </a:endParaRPr>
          </a:p>
          <a:p>
            <a:pPr marL="320040" indent="-228600">
              <a:lnSpc>
                <a:spcPct val="100000"/>
              </a:lnSpc>
              <a:spcBef>
                <a:spcPts val="1520"/>
              </a:spcBef>
              <a:buFont typeface="Arial" panose="020B0604020202020204"/>
              <a:buChar char="•"/>
              <a:tabLst>
                <a:tab pos="320040" algn="l"/>
              </a:tabLst>
            </a:pPr>
            <a:r>
              <a:rPr sz="2400" dirty="0">
                <a:latin typeface="微软雅黑" panose="020B0503020204020204" pitchFamily="34" charset="-122"/>
                <a:ea typeface="微软雅黑" panose="020B0503020204020204" pitchFamily="34" charset="-122"/>
                <a:cs typeface="Arial Unicode MS"/>
              </a:rPr>
              <a:t>避免讨论技术细节</a:t>
            </a:r>
          </a:p>
          <a:p>
            <a:pPr marL="320040" indent="-228600">
              <a:lnSpc>
                <a:spcPct val="100000"/>
              </a:lnSpc>
              <a:spcBef>
                <a:spcPts val="1620"/>
              </a:spcBef>
              <a:buFont typeface="Arial" panose="020B0604020202020204"/>
              <a:buChar char="•"/>
              <a:tabLst>
                <a:tab pos="320040" algn="l"/>
              </a:tabLst>
            </a:pPr>
            <a:r>
              <a:rPr sz="2400" dirty="0">
                <a:latin typeface="微软雅黑" panose="020B0503020204020204" pitchFamily="34" charset="-122"/>
                <a:ea typeface="微软雅黑" panose="020B0503020204020204" pitchFamily="34" charset="-122"/>
                <a:cs typeface="Arial Unicode MS"/>
              </a:rPr>
              <a:t>避免诱导性问题</a:t>
            </a:r>
          </a:p>
          <a:p>
            <a:pPr marL="320040" indent="-228600">
              <a:lnSpc>
                <a:spcPct val="100000"/>
              </a:lnSpc>
              <a:spcBef>
                <a:spcPts val="1520"/>
              </a:spcBef>
              <a:buFont typeface="Arial" panose="020B0604020202020204"/>
              <a:buChar char="•"/>
              <a:tabLst>
                <a:tab pos="320040" algn="l"/>
              </a:tabLst>
            </a:pPr>
            <a:r>
              <a:rPr sz="2400" dirty="0" err="1">
                <a:latin typeface="微软雅黑" panose="020B0503020204020204" pitchFamily="34" charset="-122"/>
                <a:ea typeface="微软雅黑" panose="020B0503020204020204" pitchFamily="34" charset="-122"/>
                <a:cs typeface="Arial Unicode MS"/>
              </a:rPr>
              <a:t>鼓励讲故事</a:t>
            </a:r>
            <a:endParaRPr sz="2400" dirty="0">
              <a:latin typeface="微软雅黑" panose="020B0503020204020204" pitchFamily="34" charset="-122"/>
              <a:ea typeface="微软雅黑" panose="020B0503020204020204" pitchFamily="34" charset="-122"/>
              <a:cs typeface="Arial Unicode MS"/>
            </a:endParaRPr>
          </a:p>
        </p:txBody>
      </p:sp>
      <p:sp>
        <p:nvSpPr>
          <p:cNvPr id="5" name="object 5"/>
          <p:cNvSpPr txBox="1"/>
          <p:nvPr/>
        </p:nvSpPr>
        <p:spPr>
          <a:xfrm>
            <a:off x="8084502" y="1917850"/>
            <a:ext cx="1854200" cy="391160"/>
          </a:xfrm>
          <a:prstGeom prst="rect">
            <a:avLst/>
          </a:prstGeom>
        </p:spPr>
        <p:txBody>
          <a:bodyPr vert="horz" wrap="square" lIns="0" tIns="12700" rIns="0" bIns="0" rtlCol="0">
            <a:spAutoFit/>
          </a:bodyPr>
          <a:lstStyle/>
          <a:p>
            <a:pPr marL="12700" algn="ctr">
              <a:lnSpc>
                <a:spcPct val="100000"/>
              </a:lnSpc>
              <a:spcBef>
                <a:spcPts val="100"/>
              </a:spcBef>
            </a:pPr>
            <a:r>
              <a:rPr sz="2400" b="1" dirty="0">
                <a:solidFill>
                  <a:srgbClr val="990000"/>
                </a:solidFill>
                <a:latin typeface="微软雅黑" panose="020B0503020204020204" pitchFamily="34" charset="-122"/>
                <a:ea typeface="微软雅黑" panose="020B0503020204020204" pitchFamily="34" charset="-122"/>
                <a:cs typeface="Microsoft JhengHei" panose="020B0604030504040204" charset="-120"/>
              </a:rPr>
              <a:t>访谈</a:t>
            </a:r>
            <a:r>
              <a:rPr sz="2400" b="1" dirty="0">
                <a:solidFill>
                  <a:srgbClr val="AB1500"/>
                </a:solidFill>
                <a:latin typeface="微软雅黑" panose="020B0503020204020204" pitchFamily="34" charset="-122"/>
                <a:ea typeface="微软雅黑" panose="020B0503020204020204" pitchFamily="34" charset="-122"/>
                <a:cs typeface="Microsoft JhengHei" panose="020B0604030504040204" charset="-120"/>
              </a:rPr>
              <a:t>中</a:t>
            </a:r>
            <a:r>
              <a:rPr sz="2400" b="1" dirty="0">
                <a:solidFill>
                  <a:srgbClr val="990000"/>
                </a:solidFill>
                <a:latin typeface="微软雅黑" panose="020B0503020204020204" pitchFamily="34" charset="-122"/>
                <a:ea typeface="微软雅黑" panose="020B0503020204020204" pitchFamily="34" charset="-122"/>
                <a:cs typeface="Microsoft JhengHei" panose="020B0604030504040204" charset="-120"/>
              </a:rPr>
              <a:t>注意</a:t>
            </a:r>
            <a:r>
              <a:rPr sz="2400" b="1" dirty="0">
                <a:solidFill>
                  <a:srgbClr val="AB1500"/>
                </a:solidFill>
                <a:latin typeface="微软雅黑" panose="020B0503020204020204" pitchFamily="34" charset="-122"/>
                <a:ea typeface="微软雅黑" panose="020B0503020204020204" pitchFamily="34" charset="-122"/>
                <a:cs typeface="Microsoft JhengHei" panose="020B0604030504040204" charset="-120"/>
              </a:rPr>
              <a:t>！</a:t>
            </a:r>
            <a:endParaRPr sz="2400" dirty="0">
              <a:latin typeface="微软雅黑" panose="020B0503020204020204" pitchFamily="34" charset="-122"/>
              <a:ea typeface="微软雅黑" panose="020B0503020204020204" pitchFamily="34" charset="-122"/>
              <a:cs typeface="Microsoft JhengHei" panose="020B0604030504040204" charset="-120"/>
            </a:endParaRPr>
          </a:p>
        </p:txBody>
      </p:sp>
      <p:sp>
        <p:nvSpPr>
          <p:cNvPr id="7" name="object 7"/>
          <p:cNvSpPr txBox="1"/>
          <p:nvPr/>
        </p:nvSpPr>
        <p:spPr>
          <a:xfrm>
            <a:off x="11169982" y="6296660"/>
            <a:ext cx="110489" cy="196215"/>
          </a:xfrm>
          <a:prstGeom prst="rect">
            <a:avLst/>
          </a:prstGeom>
        </p:spPr>
        <p:txBody>
          <a:bodyPr vert="horz" wrap="square" lIns="0" tIns="0" rIns="0" bIns="0" rtlCol="0">
            <a:spAutoFit/>
          </a:bodyPr>
          <a:lstStyle/>
          <a:p>
            <a:pPr marL="12700">
              <a:lnSpc>
                <a:spcPts val="1425"/>
              </a:lnSpc>
            </a:pPr>
            <a:r>
              <a:rPr sz="1200" dirty="0">
                <a:solidFill>
                  <a:srgbClr val="FFFFFF"/>
                </a:solidFill>
                <a:latin typeface="Arial" panose="020B0604020202020204"/>
                <a:cs typeface="Arial" panose="020B0604020202020204"/>
              </a:rPr>
              <a:t>6</a:t>
            </a:r>
            <a:endParaRPr sz="1200">
              <a:latin typeface="Arial" panose="020B0604020202020204"/>
              <a:cs typeface="Arial" panose="020B0604020202020204"/>
            </a:endParaRPr>
          </a:p>
        </p:txBody>
      </p:sp>
      <p:sp>
        <p:nvSpPr>
          <p:cNvPr id="9" name="标题 8"/>
          <p:cNvSpPr>
            <a:spLocks noGrp="1"/>
          </p:cNvSpPr>
          <p:nvPr>
            <p:ph type="title"/>
          </p:nvPr>
        </p:nvSpPr>
        <p:spPr/>
        <p:txBody>
          <a:bodyPr/>
          <a:lstStyle/>
          <a:p>
            <a:r>
              <a:rPr lang="zh-CN" altLang="en-US" spc="-5" dirty="0"/>
              <a:t>基于面谈的用户需求获取过程</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32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84076"/>
    </mc:Choice>
    <mc:Fallback xmlns="">
      <p:transition spd="slow" advTm="84076"/>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85828" y="1300480"/>
            <a:ext cx="5994400" cy="4980940"/>
          </a:xfrm>
          <a:prstGeom prst="rect">
            <a:avLst/>
          </a:prstGeom>
        </p:spPr>
        <p:txBody>
          <a:bodyPr vert="horz" wrap="square" lIns="0" tIns="220980" rIns="0" bIns="0" rtlCol="0">
            <a:spAutoFit/>
          </a:bodyPr>
          <a:lstStyle/>
          <a:p>
            <a:pPr marL="241300" indent="-228600">
              <a:lnSpc>
                <a:spcPct val="100000"/>
              </a:lnSpc>
              <a:spcBef>
                <a:spcPts val="17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细黑" panose="02010600040101010101" charset="-122"/>
              </a:rPr>
              <a:t>预先定义的问题</a:t>
            </a:r>
          </a:p>
          <a:p>
            <a:pPr marL="241300" indent="-228600">
              <a:lnSpc>
                <a:spcPct val="100000"/>
              </a:lnSpc>
              <a:spcBef>
                <a:spcPts val="1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细黑" panose="02010600040101010101" charset="-122"/>
              </a:rPr>
              <a:t>面对广泛涉众的时候使用</a:t>
            </a:r>
          </a:p>
          <a:p>
            <a:pPr marL="241300" indent="-228600">
              <a:lnSpc>
                <a:spcPct val="100000"/>
              </a:lnSpc>
              <a:spcBef>
                <a:spcPts val="1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细黑" panose="02010600040101010101" charset="-122"/>
              </a:rPr>
              <a:t>统计分析的结果看起来更科学</a:t>
            </a:r>
          </a:p>
          <a:p>
            <a:pPr marL="241300" indent="-228600">
              <a:lnSpc>
                <a:spcPct val="100000"/>
              </a:lnSpc>
              <a:spcBef>
                <a:spcPts val="1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细黑" panose="02010600040101010101" charset="-122"/>
              </a:rPr>
              <a:t>什么时候使用问卷调查</a:t>
            </a:r>
            <a:r>
              <a:rPr sz="2800" spc="-270" dirty="0">
                <a:latin typeface="微软雅黑" panose="020B0503020204020204" pitchFamily="34" charset="-122"/>
                <a:ea typeface="微软雅黑" panose="020B0503020204020204" pitchFamily="34" charset="-122"/>
                <a:cs typeface="华文细黑" panose="02010600040101010101" charset="-122"/>
              </a:rPr>
              <a:t>?</a:t>
            </a:r>
            <a:endParaRPr sz="2800" dirty="0">
              <a:latin typeface="微软雅黑" panose="020B0503020204020204" pitchFamily="34" charset="-122"/>
              <a:ea typeface="微软雅黑" panose="020B0503020204020204" pitchFamily="34" charset="-122"/>
              <a:cs typeface="华文细黑" panose="02010600040101010101" charset="-122"/>
            </a:endParaRPr>
          </a:p>
          <a:p>
            <a:pPr marL="698500" lvl="1" indent="-228600">
              <a:lnSpc>
                <a:spcPct val="100000"/>
              </a:lnSpc>
              <a:spcBef>
                <a:spcPts val="1700"/>
              </a:spcBef>
              <a:buFont typeface="Arial" panose="020B0604020202020204"/>
              <a:buChar char="•"/>
              <a:tabLst>
                <a:tab pos="698500" algn="l"/>
              </a:tabLst>
            </a:pPr>
            <a:r>
              <a:rPr sz="2600" dirty="0">
                <a:latin typeface="微软雅黑" panose="020B0503020204020204" pitchFamily="34" charset="-122"/>
                <a:ea typeface="微软雅黑" panose="020B0503020204020204" pitchFamily="34" charset="-122"/>
                <a:cs typeface="华文细黑" panose="02010600040101010101" charset="-122"/>
              </a:rPr>
              <a:t>大基数的被访者</a:t>
            </a:r>
          </a:p>
          <a:p>
            <a:pPr marL="698500" lvl="1" indent="-228600">
              <a:lnSpc>
                <a:spcPct val="100000"/>
              </a:lnSpc>
              <a:spcBef>
                <a:spcPts val="1580"/>
              </a:spcBef>
              <a:buFont typeface="Arial" panose="020B0604020202020204"/>
              <a:buChar char="•"/>
              <a:tabLst>
                <a:tab pos="698500" algn="l"/>
              </a:tabLst>
            </a:pPr>
            <a:r>
              <a:rPr sz="2600" dirty="0">
                <a:latin typeface="微软雅黑" panose="020B0503020204020204" pitchFamily="34" charset="-122"/>
                <a:ea typeface="微软雅黑" panose="020B0503020204020204" pitchFamily="34" charset="-122"/>
                <a:cs typeface="华文细黑" panose="02010600040101010101" charset="-122"/>
              </a:rPr>
              <a:t>需要关于良好定义的特定问题的答案</a:t>
            </a:r>
          </a:p>
          <a:p>
            <a:pPr marL="698500" lvl="1" indent="-228600">
              <a:lnSpc>
                <a:spcPct val="100000"/>
              </a:lnSpc>
              <a:spcBef>
                <a:spcPts val="1680"/>
              </a:spcBef>
              <a:buFont typeface="Arial" panose="020B0604020202020204"/>
              <a:buChar char="•"/>
              <a:tabLst>
                <a:tab pos="698500" algn="l"/>
              </a:tabLst>
            </a:pPr>
            <a:r>
              <a:rPr sz="2600" dirty="0">
                <a:latin typeface="微软雅黑" panose="020B0503020204020204" pitchFamily="34" charset="-122"/>
                <a:ea typeface="微软雅黑" panose="020B0503020204020204" pitchFamily="34" charset="-122"/>
                <a:cs typeface="华文细黑" panose="02010600040101010101" charset="-122"/>
              </a:rPr>
              <a:t>验证有限次面谈得出的结论</a:t>
            </a:r>
          </a:p>
          <a:p>
            <a:pPr marL="698500" lvl="1" indent="-228600">
              <a:lnSpc>
                <a:spcPct val="100000"/>
              </a:lnSpc>
              <a:spcBef>
                <a:spcPts val="1580"/>
              </a:spcBef>
              <a:buFont typeface="Arial" panose="020B0604020202020204"/>
              <a:buChar char="•"/>
              <a:tabLst>
                <a:tab pos="698500" algn="l"/>
              </a:tabLst>
            </a:pPr>
            <a:r>
              <a:rPr sz="2600" dirty="0" err="1">
                <a:latin typeface="微软雅黑" panose="020B0503020204020204" pitchFamily="34" charset="-122"/>
                <a:ea typeface="微软雅黑" panose="020B0503020204020204" pitchFamily="34" charset="-122"/>
                <a:cs typeface="华文细黑" panose="02010600040101010101" charset="-122"/>
              </a:rPr>
              <a:t>当你需要一个特定的结果的时候</a:t>
            </a:r>
            <a:endParaRPr sz="2600" dirty="0">
              <a:latin typeface="微软雅黑" panose="020B0503020204020204" pitchFamily="34" charset="-122"/>
              <a:ea typeface="微软雅黑" panose="020B0503020204020204" pitchFamily="34" charset="-122"/>
              <a:cs typeface="Wingdings" panose="05000000000000000000"/>
            </a:endParaRPr>
          </a:p>
        </p:txBody>
      </p:sp>
      <p:sp>
        <p:nvSpPr>
          <p:cNvPr id="4" name="object 4"/>
          <p:cNvSpPr/>
          <p:nvPr/>
        </p:nvSpPr>
        <p:spPr>
          <a:xfrm>
            <a:off x="8142285" y="1836355"/>
            <a:ext cx="3555998" cy="2530842"/>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8054971" y="4512864"/>
            <a:ext cx="3730627" cy="1662430"/>
          </a:xfrm>
          <a:prstGeom prst="rect">
            <a:avLst/>
          </a:prstGeom>
          <a:ln w="9524">
            <a:solidFill>
              <a:srgbClr val="000000"/>
            </a:solidFill>
          </a:ln>
        </p:spPr>
        <p:txBody>
          <a:bodyPr vert="horz" wrap="square" lIns="0" tIns="45720" rIns="0" bIns="0" rtlCol="0">
            <a:spAutoFit/>
          </a:bodyPr>
          <a:lstStyle/>
          <a:p>
            <a:pPr marL="821055">
              <a:lnSpc>
                <a:spcPct val="100000"/>
              </a:lnSpc>
              <a:spcBef>
                <a:spcPts val="360"/>
              </a:spcBef>
            </a:pPr>
            <a:r>
              <a:rPr sz="1800" b="1" i="1" spc="-5" dirty="0">
                <a:latin typeface="Times New Roman" panose="02020603050405020304" pitchFamily="18" charset="0"/>
                <a:cs typeface="Times New Roman" panose="02020603050405020304" pitchFamily="18" charset="0"/>
              </a:rPr>
              <a:t>Use </a:t>
            </a:r>
            <a:r>
              <a:rPr sz="1800" b="1" i="1" dirty="0">
                <a:latin typeface="Times New Roman" panose="02020603050405020304" pitchFamily="18" charset="0"/>
                <a:cs typeface="Times New Roman" panose="02020603050405020304" pitchFamily="18" charset="0"/>
              </a:rPr>
              <a:t>a</a:t>
            </a:r>
            <a:r>
              <a:rPr sz="1800" b="1" i="1" spc="-5" dirty="0">
                <a:latin typeface="Times New Roman" panose="02020603050405020304" pitchFamily="18" charset="0"/>
                <a:cs typeface="Times New Roman" panose="02020603050405020304" pitchFamily="18" charset="0"/>
              </a:rPr>
              <a:t> Questionnaire</a:t>
            </a:r>
            <a:endParaRPr sz="1800" dirty="0">
              <a:latin typeface="Times New Roman" panose="02020603050405020304" pitchFamily="18" charset="0"/>
              <a:cs typeface="Times New Roman" panose="02020603050405020304" pitchFamily="18" charset="0"/>
            </a:endParaRPr>
          </a:p>
          <a:p>
            <a:pPr marL="316865" indent="-225425">
              <a:lnSpc>
                <a:spcPct val="100000"/>
              </a:lnSpc>
              <a:spcBef>
                <a:spcPts val="1040"/>
              </a:spcBef>
              <a:buChar char="•"/>
              <a:tabLst>
                <a:tab pos="316230" algn="l"/>
                <a:tab pos="316865" algn="l"/>
              </a:tabLst>
            </a:pPr>
            <a:r>
              <a:rPr sz="1500" spc="-5" dirty="0">
                <a:latin typeface="Times New Roman" panose="02020603050405020304" pitchFamily="18" charset="0"/>
                <a:cs typeface="Times New Roman" panose="02020603050405020304" pitchFamily="18" charset="0"/>
              </a:rPr>
              <a:t>Prepare interview questions </a:t>
            </a:r>
            <a:r>
              <a:rPr sz="1500" dirty="0">
                <a:latin typeface="Times New Roman" panose="02020603050405020304" pitchFamily="18" charset="0"/>
                <a:cs typeface="Times New Roman" panose="02020603050405020304" pitchFamily="18" charset="0"/>
              </a:rPr>
              <a:t>in</a:t>
            </a:r>
            <a:r>
              <a:rPr sz="1500" spc="10" dirty="0">
                <a:latin typeface="Times New Roman" panose="02020603050405020304" pitchFamily="18" charset="0"/>
                <a:cs typeface="Times New Roman" panose="02020603050405020304" pitchFamily="18" charset="0"/>
              </a:rPr>
              <a:t> </a:t>
            </a:r>
            <a:r>
              <a:rPr sz="1500" dirty="0">
                <a:latin typeface="Times New Roman" panose="02020603050405020304" pitchFamily="18" charset="0"/>
                <a:cs typeface="Times New Roman" panose="02020603050405020304" pitchFamily="18" charset="0"/>
              </a:rPr>
              <a:t>advance</a:t>
            </a:r>
          </a:p>
          <a:p>
            <a:pPr marL="316865" indent="-225425">
              <a:lnSpc>
                <a:spcPct val="100000"/>
              </a:lnSpc>
              <a:buChar char="•"/>
              <a:tabLst>
                <a:tab pos="316230" algn="l"/>
                <a:tab pos="316865" algn="l"/>
              </a:tabLst>
            </a:pPr>
            <a:r>
              <a:rPr sz="1500" dirty="0">
                <a:latin typeface="Times New Roman" panose="02020603050405020304" pitchFamily="18" charset="0"/>
                <a:cs typeface="Times New Roman" panose="02020603050405020304" pitchFamily="18" charset="0"/>
              </a:rPr>
              <a:t>Ask </a:t>
            </a:r>
            <a:r>
              <a:rPr sz="1500" spc="-80" dirty="0">
                <a:latin typeface="Times New Roman" panose="02020603050405020304" pitchFamily="18" charset="0"/>
                <a:cs typeface="Times New Roman" panose="02020603050405020304" pitchFamily="18" charset="0"/>
              </a:rPr>
              <a:t>open-­‐ended</a:t>
            </a:r>
            <a:r>
              <a:rPr sz="1500" spc="-5" dirty="0">
                <a:latin typeface="Times New Roman" panose="02020603050405020304" pitchFamily="18" charset="0"/>
                <a:cs typeface="Times New Roman" panose="02020603050405020304" pitchFamily="18" charset="0"/>
              </a:rPr>
              <a:t> questions</a:t>
            </a:r>
            <a:endParaRPr sz="1500" dirty="0">
              <a:latin typeface="Times New Roman" panose="02020603050405020304" pitchFamily="18" charset="0"/>
              <a:cs typeface="Times New Roman" panose="02020603050405020304" pitchFamily="18" charset="0"/>
            </a:endParaRPr>
          </a:p>
          <a:p>
            <a:pPr marL="316865" indent="-225425">
              <a:lnSpc>
                <a:spcPct val="100000"/>
              </a:lnSpc>
              <a:buChar char="•"/>
              <a:tabLst>
                <a:tab pos="316230" algn="l"/>
                <a:tab pos="316865" algn="l"/>
              </a:tabLst>
            </a:pPr>
            <a:r>
              <a:rPr sz="1500" dirty="0">
                <a:latin typeface="Times New Roman" panose="02020603050405020304" pitchFamily="18" charset="0"/>
                <a:cs typeface="Times New Roman" panose="02020603050405020304" pitchFamily="18" charset="0"/>
              </a:rPr>
              <a:t>Ask </a:t>
            </a:r>
            <a:r>
              <a:rPr sz="1500" spc="-5" dirty="0">
                <a:latin typeface="Times New Roman" panose="02020603050405020304" pitchFamily="18" charset="0"/>
                <a:cs typeface="Times New Roman" panose="02020603050405020304" pitchFamily="18" charset="0"/>
              </a:rPr>
              <a:t>essential questions</a:t>
            </a:r>
            <a:endParaRPr sz="1500" dirty="0">
              <a:latin typeface="Times New Roman" panose="02020603050405020304" pitchFamily="18" charset="0"/>
              <a:cs typeface="Times New Roman" panose="02020603050405020304" pitchFamily="18" charset="0"/>
            </a:endParaRPr>
          </a:p>
          <a:p>
            <a:pPr marL="307340" marR="661035" indent="9525">
              <a:lnSpc>
                <a:spcPct val="100000"/>
              </a:lnSpc>
            </a:pPr>
            <a:r>
              <a:rPr sz="1500" i="1" spc="-5" dirty="0">
                <a:latin typeface="Times New Roman" panose="02020603050405020304" pitchFamily="18" charset="0"/>
                <a:cs typeface="Times New Roman" panose="02020603050405020304" pitchFamily="18" charset="0"/>
              </a:rPr>
              <a:t>What? Why? When? Who? How?  Where?</a:t>
            </a:r>
            <a:endParaRPr sz="1500" dirty="0">
              <a:latin typeface="Times New Roman" panose="02020603050405020304" pitchFamily="18" charset="0"/>
              <a:cs typeface="Times New Roman" panose="02020603050405020304" pitchFamily="18" charset="0"/>
            </a:endParaRPr>
          </a:p>
        </p:txBody>
      </p:sp>
      <p:sp>
        <p:nvSpPr>
          <p:cNvPr id="9" name="标题 8"/>
          <p:cNvSpPr>
            <a:spLocks noGrp="1"/>
          </p:cNvSpPr>
          <p:nvPr>
            <p:ph type="title"/>
          </p:nvPr>
        </p:nvSpPr>
        <p:spPr/>
        <p:txBody>
          <a:bodyPr>
            <a:normAutofit/>
          </a:bodyPr>
          <a:lstStyle/>
          <a:p>
            <a:r>
              <a:rPr lang="zh-CN" altLang="en-US" spc="-5" dirty="0"/>
              <a:t>问卷调查</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33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2779"/>
    </mc:Choice>
    <mc:Fallback xmlns="">
      <p:transition spd="slow" advTm="52779"/>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0" y="247015"/>
            <a:ext cx="2999740" cy="689610"/>
          </a:xfrm>
          <a:prstGeom prst="rect">
            <a:avLst/>
          </a:prstGeom>
        </p:spPr>
        <p:txBody>
          <a:bodyPr vert="horz" wrap="square" lIns="0" tIns="12700" rIns="0" bIns="0" rtlCol="0">
            <a:spAutoFit/>
          </a:bodyPr>
          <a:lstStyle/>
          <a:p>
            <a:pPr marL="12700">
              <a:lnSpc>
                <a:spcPct val="100000"/>
              </a:lnSpc>
              <a:spcBef>
                <a:spcPts val="100"/>
              </a:spcBef>
            </a:pPr>
            <a:r>
              <a:rPr spc="-5" dirty="0">
                <a:latin typeface="微软雅黑" panose="020B0503020204020204" pitchFamily="34" charset="-122"/>
                <a:ea typeface="微软雅黑" panose="020B0503020204020204" pitchFamily="34" charset="-122"/>
              </a:rPr>
              <a:t>问卷调查</a:t>
            </a:r>
          </a:p>
        </p:txBody>
      </p:sp>
      <p:sp>
        <p:nvSpPr>
          <p:cNvPr id="3" name="object 3"/>
          <p:cNvSpPr txBox="1"/>
          <p:nvPr/>
        </p:nvSpPr>
        <p:spPr>
          <a:xfrm>
            <a:off x="916939" y="1559243"/>
            <a:ext cx="4521200" cy="3524042"/>
          </a:xfrm>
          <a:prstGeom prst="rect">
            <a:avLst/>
          </a:prstGeom>
        </p:spPr>
        <p:txBody>
          <a:bodyPr vert="horz" wrap="square" lIns="0" tIns="101600" rIns="0" bIns="0" rtlCol="0">
            <a:spAutoFit/>
          </a:bodyPr>
          <a:lstStyle/>
          <a:p>
            <a:pPr marL="12700">
              <a:lnSpc>
                <a:spcPct val="100000"/>
              </a:lnSpc>
              <a:spcBef>
                <a:spcPts val="800"/>
              </a:spcBef>
            </a:pPr>
            <a:r>
              <a:rPr sz="2800" dirty="0">
                <a:latin typeface="微软雅黑" panose="020B0503020204020204" pitchFamily="34" charset="-122"/>
                <a:ea typeface="微软雅黑" panose="020B0503020204020204" pitchFamily="34" charset="-122"/>
                <a:cs typeface="华文细黑" panose="02010600040101010101" charset="-122"/>
              </a:rPr>
              <a:t>优点</a:t>
            </a:r>
          </a:p>
          <a:p>
            <a:pPr marL="241300" indent="-228600">
              <a:lnSpc>
                <a:spcPct val="100000"/>
              </a:lnSpc>
              <a:spcBef>
                <a:spcPts val="700"/>
              </a:spcBef>
              <a:buClr>
                <a:srgbClr val="0D0D0D"/>
              </a:buClr>
              <a:buFont typeface="Arial" panose="020B0604020202020204"/>
              <a:buChar char="•"/>
              <a:tabLst>
                <a:tab pos="240665" algn="l"/>
                <a:tab pos="241300" algn="l"/>
              </a:tabLst>
            </a:pPr>
            <a:r>
              <a:rPr sz="2000" dirty="0">
                <a:solidFill>
                  <a:srgbClr val="0F0F0F"/>
                </a:solidFill>
                <a:latin typeface="微软雅黑" panose="020B0503020204020204" pitchFamily="34" charset="-122"/>
                <a:ea typeface="微软雅黑" panose="020B0503020204020204" pitchFamily="34" charset="-122"/>
                <a:cs typeface="华文细黑" panose="02010600040101010101" charset="-122"/>
              </a:rPr>
              <a:t>可快速获得大量反馈</a:t>
            </a:r>
            <a:endParaRPr sz="20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800"/>
              </a:spcBef>
              <a:buClr>
                <a:srgbClr val="0D0D0D"/>
              </a:buClr>
              <a:buFont typeface="Arial" panose="020B0604020202020204"/>
              <a:buChar char="•"/>
              <a:tabLst>
                <a:tab pos="240665" algn="l"/>
                <a:tab pos="241300" algn="l"/>
              </a:tabLst>
            </a:pPr>
            <a:r>
              <a:rPr sz="2000" dirty="0">
                <a:solidFill>
                  <a:srgbClr val="0F0F0F"/>
                </a:solidFill>
                <a:latin typeface="微软雅黑" panose="020B0503020204020204" pitchFamily="34" charset="-122"/>
                <a:ea typeface="微软雅黑" panose="020B0503020204020204" pitchFamily="34" charset="-122"/>
                <a:cs typeface="华文细黑" panose="02010600040101010101" charset="-122"/>
              </a:rPr>
              <a:t>可以远程执行</a:t>
            </a:r>
            <a:endParaRPr sz="20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700"/>
              </a:spcBef>
              <a:buClr>
                <a:srgbClr val="0D0D0D"/>
              </a:buClr>
              <a:buFont typeface="Arial" panose="020B0604020202020204"/>
              <a:buChar char="•"/>
              <a:tabLst>
                <a:tab pos="240665" algn="l"/>
                <a:tab pos="241300" algn="l"/>
              </a:tabLst>
            </a:pPr>
            <a:r>
              <a:rPr sz="2000" dirty="0">
                <a:solidFill>
                  <a:srgbClr val="0F0F0F"/>
                </a:solidFill>
                <a:latin typeface="微软雅黑" panose="020B0503020204020204" pitchFamily="34" charset="-122"/>
                <a:ea typeface="微软雅黑" panose="020B0503020204020204" pitchFamily="34" charset="-122"/>
                <a:cs typeface="华文细黑" panose="02010600040101010101" charset="-122"/>
              </a:rPr>
              <a:t>可搜集关于态度、信念及特性的信息</a:t>
            </a:r>
            <a:endParaRPr sz="2000" dirty="0">
              <a:latin typeface="微软雅黑" panose="020B0503020204020204" pitchFamily="34" charset="-122"/>
              <a:ea typeface="微软雅黑" panose="020B0503020204020204" pitchFamily="34" charset="-122"/>
              <a:cs typeface="华文细黑" panose="02010600040101010101" charset="-122"/>
            </a:endParaRPr>
          </a:p>
          <a:p>
            <a:pPr>
              <a:lnSpc>
                <a:spcPct val="100000"/>
              </a:lnSpc>
              <a:buChar char="•"/>
            </a:pPr>
            <a:endParaRPr sz="2200" dirty="0">
              <a:latin typeface="微软雅黑" panose="020B0503020204020204" pitchFamily="34" charset="-122"/>
              <a:ea typeface="微软雅黑" panose="020B0503020204020204" pitchFamily="34" charset="-122"/>
              <a:cs typeface="Times New Roman" panose="02020603050405020304"/>
            </a:endParaRPr>
          </a:p>
          <a:p>
            <a:pPr marL="12700">
              <a:lnSpc>
                <a:spcPct val="100000"/>
              </a:lnSpc>
              <a:spcBef>
                <a:spcPts val="1470"/>
              </a:spcBef>
            </a:pPr>
            <a:r>
              <a:rPr sz="2800" dirty="0">
                <a:latin typeface="微软雅黑" panose="020B0503020204020204" pitchFamily="34" charset="-122"/>
                <a:ea typeface="微软雅黑" panose="020B0503020204020204" pitchFamily="34" charset="-122"/>
                <a:cs typeface="华文细黑" panose="02010600040101010101" charset="-122"/>
              </a:rPr>
              <a:t>缺点</a:t>
            </a:r>
          </a:p>
          <a:p>
            <a:pPr marL="241300" indent="-228600">
              <a:lnSpc>
                <a:spcPct val="100000"/>
              </a:lnSpc>
              <a:spcBef>
                <a:spcPts val="700"/>
              </a:spcBef>
              <a:buFont typeface="Arial" panose="020B0604020202020204"/>
              <a:buChar char="•"/>
              <a:tabLst>
                <a:tab pos="240665" algn="l"/>
                <a:tab pos="241300" algn="l"/>
              </a:tabLst>
            </a:pPr>
            <a:r>
              <a:rPr sz="2000" dirty="0">
                <a:latin typeface="微软雅黑" panose="020B0503020204020204" pitchFamily="34" charset="-122"/>
                <a:ea typeface="微软雅黑" panose="020B0503020204020204" pitchFamily="34" charset="-122"/>
                <a:cs typeface="华文细黑" panose="02010600040101010101" charset="-122"/>
              </a:rPr>
              <a:t>简单的分类导致对上下文的考虑较少</a:t>
            </a:r>
          </a:p>
          <a:p>
            <a:pPr marL="241300" indent="-228600">
              <a:lnSpc>
                <a:spcPct val="100000"/>
              </a:lnSpc>
              <a:spcBef>
                <a:spcPts val="790"/>
              </a:spcBef>
              <a:buFont typeface="Arial" panose="020B0604020202020204"/>
              <a:buChar char="•"/>
              <a:tabLst>
                <a:tab pos="240665" algn="l"/>
                <a:tab pos="241300" algn="l"/>
              </a:tabLst>
            </a:pPr>
            <a:r>
              <a:rPr sz="2100" dirty="0">
                <a:latin typeface="微软雅黑" panose="020B0503020204020204" pitchFamily="34" charset="-122"/>
                <a:ea typeface="微软雅黑" panose="020B0503020204020204" pitchFamily="34" charset="-122"/>
                <a:cs typeface="华文细黑" panose="02010600040101010101" charset="-122"/>
              </a:rPr>
              <a:t>留给用户自由表达其需要的空间较小</a:t>
            </a:r>
          </a:p>
        </p:txBody>
      </p:sp>
      <p:sp>
        <p:nvSpPr>
          <p:cNvPr id="4" name="object 4"/>
          <p:cNvSpPr txBox="1">
            <a:spLocks noGrp="1"/>
          </p:cNvSpPr>
          <p:nvPr>
            <p:ph sz="half" idx="3"/>
          </p:nvPr>
        </p:nvSpPr>
        <p:spPr>
          <a:xfrm>
            <a:off x="6355080" y="1559243"/>
            <a:ext cx="5303520" cy="3885679"/>
          </a:xfrm>
          <a:prstGeom prst="rect">
            <a:avLst/>
          </a:prstGeom>
        </p:spPr>
        <p:txBody>
          <a:bodyPr vert="horz" wrap="square" lIns="0" tIns="101600" rIns="0" bIns="0" rtlCol="0">
            <a:spAutoFit/>
          </a:bodyPr>
          <a:lstStyle/>
          <a:p>
            <a:pPr marL="0" indent="0">
              <a:lnSpc>
                <a:spcPct val="100000"/>
              </a:lnSpc>
              <a:spcBef>
                <a:spcPts val="800"/>
              </a:spcBef>
              <a:buNone/>
            </a:pPr>
            <a:r>
              <a:rPr dirty="0">
                <a:latin typeface="微软雅黑" panose="020B0503020204020204" pitchFamily="34" charset="-122"/>
                <a:ea typeface="微软雅黑" panose="020B0503020204020204" pitchFamily="34" charset="-122"/>
              </a:rPr>
              <a:t>问卷调查注意事项</a:t>
            </a:r>
          </a:p>
          <a:p>
            <a:pPr marL="241300" indent="-228600">
              <a:lnSpc>
                <a:spcPct val="100000"/>
              </a:lnSpc>
              <a:spcBef>
                <a:spcPts val="700"/>
              </a:spcBef>
              <a:buFont typeface="Arial" panose="020B0604020202020204"/>
              <a:buChar char="•"/>
              <a:tabLst>
                <a:tab pos="240665" algn="l"/>
                <a:tab pos="241300" algn="l"/>
              </a:tabLst>
            </a:pPr>
            <a:r>
              <a:rPr sz="2000" dirty="0" err="1">
                <a:solidFill>
                  <a:srgbClr val="0D0D0D"/>
                </a:solidFill>
                <a:latin typeface="微软雅黑" panose="020B0503020204020204" pitchFamily="34" charset="-122"/>
                <a:ea typeface="微软雅黑" panose="020B0503020204020204" pitchFamily="34" charset="-122"/>
              </a:rPr>
              <a:t>选择样本时可能存在偏见</a:t>
            </a:r>
            <a:endParaRPr sz="2000" dirty="0">
              <a:latin typeface="微软雅黑" panose="020B0503020204020204" pitchFamily="34" charset="-122"/>
              <a:ea typeface="微软雅黑" panose="020B0503020204020204" pitchFamily="34" charset="-122"/>
            </a:endParaRPr>
          </a:p>
          <a:p>
            <a:pPr marL="241300" indent="-228600">
              <a:lnSpc>
                <a:spcPct val="100000"/>
              </a:lnSpc>
              <a:spcBef>
                <a:spcPts val="800"/>
              </a:spcBef>
              <a:buFont typeface="Arial" panose="020B0604020202020204"/>
              <a:buChar char="•"/>
              <a:tabLst>
                <a:tab pos="240665" algn="l"/>
                <a:tab pos="241300" algn="l"/>
              </a:tabLst>
            </a:pPr>
            <a:r>
              <a:rPr sz="2000" dirty="0" err="1">
                <a:solidFill>
                  <a:srgbClr val="0D0D0D"/>
                </a:solidFill>
                <a:latin typeface="微软雅黑" panose="020B0503020204020204" pitchFamily="34" charset="-122"/>
                <a:ea typeface="微软雅黑" panose="020B0503020204020204" pitchFamily="34" charset="-122"/>
              </a:rPr>
              <a:t>自愿的问卷回答者可能存在偏见</a:t>
            </a:r>
            <a:endParaRPr sz="2000" dirty="0">
              <a:latin typeface="微软雅黑" panose="020B0503020204020204" pitchFamily="34" charset="-122"/>
              <a:ea typeface="微软雅黑" panose="020B0503020204020204" pitchFamily="34" charset="-122"/>
            </a:endParaRPr>
          </a:p>
          <a:p>
            <a:pPr marL="241300" indent="-228600">
              <a:lnSpc>
                <a:spcPct val="100000"/>
              </a:lnSpc>
              <a:spcBef>
                <a:spcPts val="700"/>
              </a:spcBef>
              <a:buFont typeface="Arial" panose="020B0604020202020204"/>
              <a:buChar char="•"/>
              <a:tabLst>
                <a:tab pos="240665" algn="l"/>
                <a:tab pos="241300" algn="l"/>
              </a:tabLst>
            </a:pPr>
            <a:r>
              <a:rPr sz="2000" dirty="0" err="1">
                <a:solidFill>
                  <a:srgbClr val="0D0D0D"/>
                </a:solidFill>
                <a:latin typeface="微软雅黑" panose="020B0503020204020204" pitchFamily="34" charset="-122"/>
                <a:ea typeface="微软雅黑" panose="020B0503020204020204" pitchFamily="34" charset="-122"/>
              </a:rPr>
              <a:t>样本规模太小</a:t>
            </a:r>
            <a:endParaRPr sz="2000" dirty="0">
              <a:latin typeface="微软雅黑" panose="020B0503020204020204" pitchFamily="34" charset="-122"/>
              <a:ea typeface="微软雅黑" panose="020B0503020204020204" pitchFamily="34" charset="-122"/>
            </a:endParaRPr>
          </a:p>
          <a:p>
            <a:pPr marL="241300" indent="-228600">
              <a:lnSpc>
                <a:spcPct val="100000"/>
              </a:lnSpc>
              <a:spcBef>
                <a:spcPts val="800"/>
              </a:spcBef>
              <a:buFont typeface="Arial" panose="020B0604020202020204"/>
              <a:buChar char="•"/>
              <a:tabLst>
                <a:tab pos="240665" algn="l"/>
                <a:tab pos="241300" algn="l"/>
              </a:tabLst>
            </a:pPr>
            <a:r>
              <a:rPr sz="2000" dirty="0" err="1">
                <a:solidFill>
                  <a:srgbClr val="0D0D0D"/>
                </a:solidFill>
                <a:latin typeface="微软雅黑" panose="020B0503020204020204" pitchFamily="34" charset="-122"/>
                <a:ea typeface="微软雅黑" panose="020B0503020204020204" pitchFamily="34" charset="-122"/>
              </a:rPr>
              <a:t>自由发挥问题难于分析</a:t>
            </a:r>
            <a:endParaRPr sz="2000" dirty="0">
              <a:latin typeface="微软雅黑" panose="020B0503020204020204" pitchFamily="34" charset="-122"/>
              <a:ea typeface="微软雅黑" panose="020B0503020204020204" pitchFamily="34" charset="-122"/>
            </a:endParaRPr>
          </a:p>
          <a:p>
            <a:pPr marL="241300" indent="-228600">
              <a:lnSpc>
                <a:spcPct val="100000"/>
              </a:lnSpc>
              <a:spcBef>
                <a:spcPts val="800"/>
              </a:spcBef>
              <a:buFont typeface="Arial" panose="020B0604020202020204"/>
              <a:buChar char="•"/>
              <a:tabLst>
                <a:tab pos="240665" algn="l"/>
                <a:tab pos="241300" algn="l"/>
              </a:tabLst>
            </a:pPr>
            <a:r>
              <a:rPr sz="2000" dirty="0">
                <a:solidFill>
                  <a:srgbClr val="0D0D0D"/>
                </a:solidFill>
                <a:latin typeface="微软雅黑" panose="020B0503020204020204" pitchFamily="34" charset="-122"/>
                <a:ea typeface="微软雅黑" panose="020B0503020204020204" pitchFamily="34" charset="-122"/>
              </a:rPr>
              <a:t>对答案有诱导性的提问</a:t>
            </a:r>
            <a:endParaRPr sz="2000" dirty="0">
              <a:latin typeface="微软雅黑" panose="020B0503020204020204" pitchFamily="34" charset="-122"/>
              <a:ea typeface="微软雅黑" panose="020B0503020204020204" pitchFamily="34" charset="-122"/>
            </a:endParaRPr>
          </a:p>
          <a:p>
            <a:pPr marL="241300" indent="-228600">
              <a:lnSpc>
                <a:spcPct val="100000"/>
              </a:lnSpc>
              <a:spcBef>
                <a:spcPts val="700"/>
              </a:spcBef>
              <a:buFont typeface="Arial" panose="020B0604020202020204"/>
              <a:buChar char="•"/>
              <a:tabLst>
                <a:tab pos="240665" algn="l"/>
                <a:tab pos="241300" algn="l"/>
              </a:tabLst>
            </a:pPr>
            <a:r>
              <a:rPr sz="2000" dirty="0">
                <a:solidFill>
                  <a:srgbClr val="0D0D0D"/>
                </a:solidFill>
                <a:latin typeface="微软雅黑" panose="020B0503020204020204" pitchFamily="34" charset="-122"/>
                <a:ea typeface="微软雅黑" panose="020B0503020204020204" pitchFamily="34" charset="-122"/>
              </a:rPr>
              <a:t>问题的妥当性</a:t>
            </a:r>
            <a:endParaRPr sz="2000" dirty="0">
              <a:latin typeface="微软雅黑" panose="020B0503020204020204" pitchFamily="34" charset="-122"/>
              <a:ea typeface="微软雅黑" panose="020B0503020204020204" pitchFamily="34" charset="-122"/>
            </a:endParaRPr>
          </a:p>
          <a:p>
            <a:pPr marL="241300" indent="-228600">
              <a:lnSpc>
                <a:spcPct val="100000"/>
              </a:lnSpc>
              <a:spcBef>
                <a:spcPts val="800"/>
              </a:spcBef>
              <a:buFont typeface="Arial" panose="020B0604020202020204"/>
              <a:buChar char="•"/>
              <a:tabLst>
                <a:tab pos="240665" algn="l"/>
                <a:tab pos="241300" algn="l"/>
              </a:tabLst>
            </a:pPr>
            <a:r>
              <a:rPr sz="2000" dirty="0">
                <a:solidFill>
                  <a:srgbClr val="0D0D0D"/>
                </a:solidFill>
                <a:latin typeface="微软雅黑" panose="020B0503020204020204" pitchFamily="34" charset="-122"/>
                <a:ea typeface="微软雅黑" panose="020B0503020204020204" pitchFamily="34" charset="-122"/>
              </a:rPr>
              <a:t>含糊的问题</a:t>
            </a:r>
            <a:endParaRPr sz="2000" dirty="0">
              <a:latin typeface="微软雅黑" panose="020B0503020204020204" pitchFamily="34" charset="-122"/>
              <a:ea typeface="微软雅黑" panose="020B0503020204020204" pitchFamily="34" charset="-122"/>
            </a:endParaRPr>
          </a:p>
          <a:p>
            <a:pPr marL="696595" indent="0">
              <a:lnSpc>
                <a:spcPct val="100000"/>
              </a:lnSpc>
              <a:spcBef>
                <a:spcPts val="1370"/>
              </a:spcBef>
              <a:buNone/>
            </a:pPr>
            <a:endParaRPr lang="en-US" altLang="zh-CN" sz="2200" dirty="0">
              <a:latin typeface="微软雅黑" panose="020B0503020204020204" pitchFamily="34" charset="-122"/>
              <a:ea typeface="微软雅黑" panose="020B0503020204020204" pitchFamily="34" charset="-122"/>
              <a:cs typeface="Times New Roman" panose="02020603050405020304"/>
            </a:endParaRPr>
          </a:p>
        </p:txBody>
      </p:sp>
      <p:sp>
        <p:nvSpPr>
          <p:cNvPr id="5" name="object 5"/>
          <p:cNvSpPr/>
          <p:nvPr/>
        </p:nvSpPr>
        <p:spPr>
          <a:xfrm>
            <a:off x="2364739" y="5069820"/>
            <a:ext cx="2276475" cy="1516062"/>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 name="矩形 7"/>
          <p:cNvSpPr/>
          <p:nvPr/>
        </p:nvSpPr>
        <p:spPr>
          <a:xfrm>
            <a:off x="5333773" y="5549453"/>
            <a:ext cx="5812489" cy="584775"/>
          </a:xfrm>
          <a:prstGeom prst="rect">
            <a:avLst/>
          </a:prstGeom>
        </p:spPr>
        <p:txBody>
          <a:bodyPr wrap="none">
            <a:spAutoFit/>
          </a:bodyPr>
          <a:lstStyle/>
          <a:p>
            <a:pPr marL="696595" indent="0" algn="ctr">
              <a:lnSpc>
                <a:spcPct val="100000"/>
              </a:lnSpc>
              <a:spcBef>
                <a:spcPts val="1370"/>
              </a:spcBef>
              <a:buNone/>
            </a:pPr>
            <a:r>
              <a:rPr lang="zh-CN" altLang="en-US" sz="3200" dirty="0">
                <a:solidFill>
                  <a:srgbClr val="0D0D0D"/>
                </a:solidFill>
                <a:latin typeface="微软雅黑" panose="020B0503020204020204" pitchFamily="34" charset="-122"/>
                <a:ea typeface="微软雅黑" panose="020B0503020204020204" pitchFamily="34" charset="-122"/>
              </a:rPr>
              <a:t>问卷调查需要原型化和测试</a:t>
            </a:r>
          </a:p>
        </p:txBody>
      </p:sp>
      <p:sp>
        <p:nvSpPr>
          <p:cNvPr id="6" name="灯片编号占位符 5"/>
          <p:cNvSpPr>
            <a:spLocks noGrp="1"/>
          </p:cNvSpPr>
          <p:nvPr>
            <p:ph type="sldNum" sz="quarter" idx="7"/>
          </p:nvPr>
        </p:nvSpPr>
        <p:spPr/>
        <p:txBody>
          <a:bodyPr/>
          <a:lstStyle/>
          <a:p>
            <a:pPr marL="25400">
              <a:lnSpc>
                <a:spcPts val="1645"/>
              </a:lnSpc>
            </a:pPr>
            <a:fld id="{81D60167-4931-47E6-BA6A-407CBD079E47}" type="slidenum">
              <a:rPr lang="en-US" altLang="zh-CN" smtClean="0"/>
              <a:t>34</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slow" p14:dur="2000" advTm="90702"/>
    </mc:Choice>
    <mc:Fallback xmlns="">
      <p:transition spd="slow" advTm="90702"/>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56288" y="1226821"/>
            <a:ext cx="8367395" cy="4647426"/>
          </a:xfrm>
          <a:prstGeom prst="rect">
            <a:avLst/>
          </a:prstGeom>
        </p:spPr>
        <p:txBody>
          <a:bodyPr vert="horz" wrap="square" lIns="0" tIns="205740" rIns="0" bIns="0" rtlCol="0">
            <a:spAutoFit/>
          </a:bodyPr>
          <a:lstStyle/>
          <a:p>
            <a:pPr marL="241300" indent="-228600">
              <a:lnSpc>
                <a:spcPct val="100000"/>
              </a:lnSpc>
              <a:spcBef>
                <a:spcPts val="1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在同一个房间中聚集3-2</a:t>
            </a:r>
            <a:r>
              <a:rPr sz="2400" spc="-5" dirty="0">
                <a:latin typeface="微软雅黑" panose="020B0503020204020204" pitchFamily="34" charset="-122"/>
                <a:ea typeface="微软雅黑" panose="020B0503020204020204" pitchFamily="34" charset="-122"/>
                <a:cs typeface="华文细黑" panose="02010600040101010101" charset="-122"/>
              </a:rPr>
              <a:t>0</a:t>
            </a:r>
            <a:r>
              <a:rPr sz="2400" dirty="0">
                <a:latin typeface="微软雅黑" panose="020B0503020204020204" pitchFamily="34" charset="-122"/>
                <a:ea typeface="微软雅黑" panose="020B0503020204020204" pitchFamily="34" charset="-122"/>
                <a:cs typeface="华文细黑" panose="02010600040101010101" charset="-122"/>
              </a:rPr>
              <a:t>个干系人</a:t>
            </a:r>
          </a:p>
          <a:p>
            <a:pPr marL="241300" indent="-228600">
              <a:lnSpc>
                <a:spcPct val="100000"/>
              </a:lnSpc>
              <a:spcBef>
                <a:spcPts val="15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每个人都将自己的观点大声说出来</a:t>
            </a:r>
          </a:p>
          <a:p>
            <a:pPr marL="241300" indent="-228600">
              <a:lnSpc>
                <a:spcPct val="100000"/>
              </a:lnSpc>
              <a:spcBef>
                <a:spcPts val="1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群体的答案往往比个体好</a:t>
            </a:r>
          </a:p>
          <a:p>
            <a:pPr marL="241300" indent="-228600">
              <a:lnSpc>
                <a:spcPct val="100000"/>
              </a:lnSpc>
              <a:spcBef>
                <a:spcPts val="15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什么时候采用群体诱导技术</a:t>
            </a:r>
            <a:r>
              <a:rPr sz="2400" spc="-235" dirty="0">
                <a:latin typeface="微软雅黑" panose="020B0503020204020204" pitchFamily="34" charset="-122"/>
                <a:ea typeface="微软雅黑" panose="020B0503020204020204" pitchFamily="34" charset="-122"/>
                <a:cs typeface="华文细黑" panose="02010600040101010101" charset="-122"/>
              </a:rPr>
              <a:t>?</a:t>
            </a:r>
            <a:endParaRPr sz="2400" dirty="0">
              <a:latin typeface="微软雅黑" panose="020B0503020204020204" pitchFamily="34" charset="-122"/>
              <a:ea typeface="微软雅黑" panose="020B0503020204020204" pitchFamily="34" charset="-122"/>
              <a:cs typeface="华文细黑" panose="02010600040101010101" charset="-122"/>
            </a:endParaRPr>
          </a:p>
          <a:p>
            <a:pPr marL="698500" lvl="1" indent="-228600">
              <a:lnSpc>
                <a:spcPct val="100000"/>
              </a:lnSpc>
              <a:spcBef>
                <a:spcPts val="108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当很多人各自知道关于整体的一小部分时</a:t>
            </a:r>
          </a:p>
          <a:p>
            <a:pPr marL="698500" lvl="1" indent="-228600">
              <a:lnSpc>
                <a:spcPct val="100000"/>
              </a:lnSpc>
              <a:spcBef>
                <a:spcPts val="96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当人们需要彼此交互来得到一个最优的答案时</a:t>
            </a:r>
          </a:p>
          <a:p>
            <a:pPr marL="698500" lvl="1" indent="-228600">
              <a:lnSpc>
                <a:spcPct val="100000"/>
              </a:lnSpc>
              <a:spcBef>
                <a:spcPts val="106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当你能把人们聚在一起时</a:t>
            </a:r>
          </a:p>
          <a:p>
            <a:pPr marL="698500" lvl="1" indent="-228600">
              <a:lnSpc>
                <a:spcPct val="100000"/>
              </a:lnSpc>
              <a:spcBef>
                <a:spcPts val="106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需要匿名？采用一些工具</a:t>
            </a:r>
          </a:p>
          <a:p>
            <a:pPr marL="698500" lvl="1" indent="-228600">
              <a:lnSpc>
                <a:spcPct val="100000"/>
              </a:lnSpc>
              <a:spcBef>
                <a:spcPts val="960"/>
              </a:spcBef>
              <a:buFont typeface="Arial" panose="020B0604020202020204"/>
              <a:buChar char="•"/>
              <a:tabLst>
                <a:tab pos="697865" algn="l"/>
                <a:tab pos="698500" algn="l"/>
              </a:tabLst>
            </a:pPr>
            <a:r>
              <a:rPr sz="2200" dirty="0" err="1">
                <a:latin typeface="微软雅黑" panose="020B0503020204020204" pitchFamily="34" charset="-122"/>
                <a:ea typeface="微软雅黑" panose="020B0503020204020204" pitchFamily="34" charset="-122"/>
                <a:cs typeface="华文细黑" panose="02010600040101010101" charset="-122"/>
              </a:rPr>
              <a:t>在不同的地方？采用一些工具</a:t>
            </a:r>
            <a:endParaRPr sz="2200" dirty="0">
              <a:latin typeface="微软雅黑" panose="020B0503020204020204" pitchFamily="34" charset="-122"/>
              <a:ea typeface="微软雅黑" panose="020B0503020204020204" pitchFamily="34" charset="-122"/>
              <a:cs typeface="华文细黑" panose="02010600040101010101" charset="-122"/>
            </a:endParaRPr>
          </a:p>
        </p:txBody>
      </p:sp>
      <p:sp>
        <p:nvSpPr>
          <p:cNvPr id="4" name="object 4"/>
          <p:cNvSpPr/>
          <p:nvPr/>
        </p:nvSpPr>
        <p:spPr>
          <a:xfrm>
            <a:off x="7628234" y="4065588"/>
            <a:ext cx="3390898" cy="1714498"/>
          </a:xfrm>
          <a:prstGeom prst="rect">
            <a:avLst/>
          </a:prstGeom>
          <a:blipFill>
            <a:blip r:embed="rId3" cstate="print"/>
            <a:stretch>
              <a:fillRect/>
            </a:stretch>
          </a:blipFill>
        </p:spPr>
        <p:txBody>
          <a:bodyPr wrap="square" lIns="0" tIns="0" rIns="0" bIns="0" rtlCol="0"/>
          <a:lstStyle/>
          <a:p>
            <a:endParaRPr/>
          </a:p>
        </p:txBody>
      </p:sp>
      <p:sp>
        <p:nvSpPr>
          <p:cNvPr id="8" name="标题 7"/>
          <p:cNvSpPr>
            <a:spLocks noGrp="1"/>
          </p:cNvSpPr>
          <p:nvPr>
            <p:ph type="title"/>
          </p:nvPr>
        </p:nvSpPr>
        <p:spPr/>
        <p:txBody>
          <a:bodyPr/>
          <a:lstStyle/>
          <a:p>
            <a:r>
              <a:rPr lang="zh-CN" altLang="en-US" spc="-5" dirty="0"/>
              <a:t>群体诱导技术</a:t>
            </a:r>
            <a:endParaRPr lang="zh-CN" altLang="en-US" dirty="0"/>
          </a:p>
        </p:txBody>
      </p:sp>
      <p:sp>
        <p:nvSpPr>
          <p:cNvPr id="9" name="矩形 8"/>
          <p:cNvSpPr/>
          <p:nvPr/>
        </p:nvSpPr>
        <p:spPr>
          <a:xfrm>
            <a:off x="1963738" y="6113789"/>
            <a:ext cx="8264523" cy="369332"/>
          </a:xfrm>
          <a:prstGeom prst="rect">
            <a:avLst/>
          </a:prstGeom>
        </p:spPr>
        <p:txBody>
          <a:bodyPr wrap="square">
            <a:spAutoFit/>
          </a:bodyPr>
          <a:lstStyle/>
          <a:p>
            <a:pPr marL="12700" algn="ctr">
              <a:lnSpc>
                <a:spcPct val="100000"/>
              </a:lnSpc>
              <a:spcBef>
                <a:spcPts val="1410"/>
              </a:spcBef>
            </a:pPr>
            <a:r>
              <a:rPr lang="en-US" altLang="zh-CN" spc="-5" dirty="0" err="1">
                <a:latin typeface="Times New Roman" panose="02020603050405020304" pitchFamily="18" charset="0"/>
                <a:ea typeface="微软雅黑" panose="020B0503020204020204" pitchFamily="34" charset="-122"/>
                <a:cs typeface="Times New Roman" panose="02020603050405020304" pitchFamily="18" charset="0"/>
              </a:rPr>
              <a:t>Gottesdeiner</a:t>
            </a:r>
            <a:r>
              <a:rPr lang="en-US" altLang="zh-CN" spc="-5"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spc="-30" dirty="0">
                <a:latin typeface="Times New Roman" panose="02020603050405020304" pitchFamily="18" charset="0"/>
                <a:ea typeface="微软雅黑" panose="020B0503020204020204" pitchFamily="34" charset="-122"/>
                <a:cs typeface="Times New Roman" panose="02020603050405020304" pitchFamily="18" charset="0"/>
              </a:rPr>
              <a:t>Requirements</a:t>
            </a:r>
            <a:r>
              <a:rPr lang="en-US" altLang="zh-CN" i="1" spc="-15"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spc="-35" dirty="0">
                <a:latin typeface="Times New Roman" panose="02020603050405020304" pitchFamily="18" charset="0"/>
                <a:ea typeface="微软雅黑" panose="020B0503020204020204" pitchFamily="34" charset="-122"/>
                <a:cs typeface="Times New Roman" panose="02020603050405020304" pitchFamily="18" charset="0"/>
              </a:rPr>
              <a:t>by</a:t>
            </a:r>
            <a:r>
              <a:rPr lang="en-US" altLang="zh-CN" i="1" spc="-15"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spc="-25" dirty="0">
                <a:latin typeface="Times New Roman" panose="02020603050405020304" pitchFamily="18" charset="0"/>
                <a:ea typeface="微软雅黑" panose="020B0503020204020204" pitchFamily="34" charset="-122"/>
                <a:cs typeface="Times New Roman" panose="02020603050405020304" pitchFamily="18" charset="0"/>
              </a:rPr>
              <a:t>Collaboration,</a:t>
            </a:r>
            <a:r>
              <a:rPr lang="en-US" altLang="zh-CN" i="1" spc="-15"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Addison-Wesley, 2000.</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35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3039"/>
    </mc:Choice>
    <mc:Fallback xmlns="">
      <p:transition spd="slow" advTm="63039"/>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17739" y="1444083"/>
            <a:ext cx="6108700" cy="4927600"/>
          </a:xfrm>
          <a:prstGeom prst="rect">
            <a:avLst/>
          </a:prstGeom>
        </p:spPr>
        <p:txBody>
          <a:bodyPr vert="horz" wrap="square" lIns="0" tIns="38100" rIns="0" bIns="0" rtlCol="0">
            <a:spAutoFit/>
          </a:bodyPr>
          <a:lstStyle/>
          <a:p>
            <a:pPr marL="241300" indent="-228600">
              <a:lnSpc>
                <a:spcPct val="100000"/>
              </a:lnSpc>
              <a:spcBef>
                <a:spcPts val="300"/>
              </a:spcBef>
              <a:buFont typeface="Arial" panose="020B0604020202020204"/>
              <a:buChar char="•"/>
              <a:tabLst>
                <a:tab pos="240665" algn="l"/>
                <a:tab pos="241300" algn="l"/>
              </a:tabLst>
            </a:pPr>
            <a:r>
              <a:rPr sz="2000" dirty="0">
                <a:latin typeface="微软雅黑" panose="020B0503020204020204" pitchFamily="34" charset="-122"/>
                <a:ea typeface="微软雅黑" panose="020B0503020204020204" pitchFamily="34" charset="-122"/>
                <a:cs typeface="华文细黑" panose="02010600040101010101" charset="-122"/>
              </a:rPr>
              <a:t>类型:</a:t>
            </a:r>
          </a:p>
          <a:p>
            <a:pPr marL="698500" lvl="1" indent="-228600">
              <a:lnSpc>
                <a:spcPct val="100000"/>
              </a:lnSpc>
              <a:spcBef>
                <a:spcPts val="2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专题小组会议</a:t>
            </a:r>
          </a:p>
          <a:p>
            <a:pPr marL="698500" lvl="1" indent="-228600">
              <a:lnSpc>
                <a:spcPct val="100000"/>
              </a:lnSpc>
              <a:spcBef>
                <a:spcPts val="3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头脑风暴</a:t>
            </a:r>
          </a:p>
          <a:p>
            <a:pPr marL="241300" indent="-228600">
              <a:lnSpc>
                <a:spcPct val="100000"/>
              </a:lnSpc>
              <a:spcBef>
                <a:spcPts val="700"/>
              </a:spcBef>
              <a:buFont typeface="Arial" panose="020B0604020202020204"/>
              <a:buChar char="•"/>
              <a:tabLst>
                <a:tab pos="240665" algn="l"/>
                <a:tab pos="241300" algn="l"/>
              </a:tabLst>
            </a:pPr>
            <a:r>
              <a:rPr sz="2000" dirty="0">
                <a:latin typeface="微软雅黑" panose="020B0503020204020204" pitchFamily="34" charset="-122"/>
                <a:ea typeface="微软雅黑" panose="020B0503020204020204" pitchFamily="34" charset="-122"/>
                <a:cs typeface="华文细黑" panose="02010600040101010101" charset="-122"/>
              </a:rPr>
              <a:t>优点</a:t>
            </a:r>
          </a:p>
          <a:p>
            <a:pPr marL="698500" lvl="1" indent="-228600">
              <a:lnSpc>
                <a:spcPct val="100000"/>
              </a:lnSpc>
              <a:spcBef>
                <a:spcPts val="3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人们的交互比正式的面谈来的自然</a:t>
            </a:r>
          </a:p>
          <a:p>
            <a:pPr marL="698500" lvl="1" indent="-228600">
              <a:lnSpc>
                <a:spcPct val="100000"/>
              </a:lnSpc>
              <a:spcBef>
                <a:spcPts val="3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可以抛砖引玉</a:t>
            </a:r>
            <a:r>
              <a:rPr sz="2000" spc="-20" dirty="0">
                <a:latin typeface="微软雅黑" panose="020B0503020204020204" pitchFamily="34" charset="-122"/>
                <a:ea typeface="微软雅黑" panose="020B0503020204020204" pitchFamily="34" charset="-122"/>
                <a:cs typeface="华文细黑" panose="02010600040101010101" charset="-122"/>
              </a:rPr>
              <a:t> </a:t>
            </a:r>
            <a:r>
              <a:rPr sz="2000" dirty="0">
                <a:latin typeface="微软雅黑" panose="020B0503020204020204" pitchFamily="34" charset="-122"/>
                <a:ea typeface="微软雅黑" panose="020B0503020204020204" pitchFamily="34" charset="-122"/>
                <a:cs typeface="华文细黑" panose="02010600040101010101" charset="-122"/>
              </a:rPr>
              <a:t>（运用实体模型、情节串联板）</a:t>
            </a:r>
          </a:p>
          <a:p>
            <a:pPr marL="241300" indent="-228600">
              <a:lnSpc>
                <a:spcPct val="100000"/>
              </a:lnSpc>
              <a:spcBef>
                <a:spcPts val="700"/>
              </a:spcBef>
              <a:buFont typeface="Arial" panose="020B0604020202020204"/>
              <a:buChar char="•"/>
              <a:tabLst>
                <a:tab pos="240665" algn="l"/>
                <a:tab pos="241300" algn="l"/>
              </a:tabLst>
            </a:pPr>
            <a:r>
              <a:rPr sz="2000" dirty="0">
                <a:latin typeface="微软雅黑" panose="020B0503020204020204" pitchFamily="34" charset="-122"/>
                <a:ea typeface="微软雅黑" panose="020B0503020204020204" pitchFamily="34" charset="-122"/>
                <a:cs typeface="华文细黑" panose="02010600040101010101" charset="-122"/>
              </a:rPr>
              <a:t>缺点</a:t>
            </a:r>
          </a:p>
          <a:p>
            <a:pPr marL="698500" lvl="1" indent="-228600">
              <a:lnSpc>
                <a:spcPct val="100000"/>
              </a:lnSpc>
              <a:spcBef>
                <a:spcPts val="3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分组不一定自然</a:t>
            </a:r>
            <a:r>
              <a:rPr sz="2000" spc="-85" dirty="0">
                <a:latin typeface="微软雅黑" panose="020B0503020204020204" pitchFamily="34" charset="-122"/>
                <a:ea typeface="微软雅黑" panose="020B0503020204020204" pitchFamily="34" charset="-122"/>
                <a:cs typeface="华文细黑" panose="02010600040101010101" charset="-122"/>
              </a:rPr>
              <a:t> </a:t>
            </a:r>
            <a:r>
              <a:rPr sz="2000" dirty="0">
                <a:latin typeface="微软雅黑" panose="020B0503020204020204" pitchFamily="34" charset="-122"/>
                <a:ea typeface="微软雅黑" panose="020B0503020204020204" pitchFamily="34" charset="-122"/>
                <a:cs typeface="华文细黑" panose="02010600040101010101" charset="-122"/>
              </a:rPr>
              <a:t>（可能会令某些参与者不适应）</a:t>
            </a:r>
          </a:p>
          <a:p>
            <a:pPr marL="698500" lvl="1" indent="-228600">
              <a:lnSpc>
                <a:spcPct val="100000"/>
              </a:lnSpc>
              <a:spcBef>
                <a:spcPts val="2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少数服从多数所带来的危险</a:t>
            </a:r>
          </a:p>
          <a:p>
            <a:pPr marL="698500" lvl="1" indent="-228600">
              <a:lnSpc>
                <a:spcPct val="100000"/>
              </a:lnSpc>
              <a:spcBef>
                <a:spcPts val="3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可能对技术问题仅给出表面化的回答</a:t>
            </a:r>
          </a:p>
          <a:p>
            <a:pPr marL="698500" lvl="1" indent="-228600">
              <a:lnSpc>
                <a:spcPct val="100000"/>
              </a:lnSpc>
              <a:spcBef>
                <a:spcPts val="3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需要训练有素的协调人</a:t>
            </a:r>
          </a:p>
          <a:p>
            <a:pPr marL="241300" indent="-228600">
              <a:lnSpc>
                <a:spcPct val="100000"/>
              </a:lnSpc>
              <a:spcBef>
                <a:spcPts val="700"/>
              </a:spcBef>
              <a:buFont typeface="Arial" panose="020B0604020202020204"/>
              <a:buChar char="•"/>
              <a:tabLst>
                <a:tab pos="240665" algn="l"/>
                <a:tab pos="241300" algn="l"/>
              </a:tabLst>
            </a:pPr>
            <a:r>
              <a:rPr sz="2000" dirty="0">
                <a:latin typeface="微软雅黑" panose="020B0503020204020204" pitchFamily="34" charset="-122"/>
                <a:ea typeface="微软雅黑" panose="020B0503020204020204" pitchFamily="34" charset="-122"/>
                <a:cs typeface="华文细黑" panose="02010600040101010101" charset="-122"/>
              </a:rPr>
              <a:t>注意事项</a:t>
            </a:r>
          </a:p>
          <a:p>
            <a:pPr marL="698500" lvl="1" indent="-228600">
              <a:lnSpc>
                <a:spcPct val="100000"/>
              </a:lnSpc>
              <a:spcBef>
                <a:spcPts val="3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样本偏见</a:t>
            </a:r>
          </a:p>
          <a:p>
            <a:pPr marL="698500" lvl="1" indent="-228600">
              <a:lnSpc>
                <a:spcPct val="100000"/>
              </a:lnSpc>
              <a:spcBef>
                <a:spcPts val="2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统治与屈从</a:t>
            </a:r>
          </a:p>
        </p:txBody>
      </p:sp>
      <p:sp>
        <p:nvSpPr>
          <p:cNvPr id="4" name="object 4"/>
          <p:cNvSpPr txBox="1"/>
          <p:nvPr/>
        </p:nvSpPr>
        <p:spPr>
          <a:xfrm>
            <a:off x="7284402" y="1375081"/>
            <a:ext cx="4259898" cy="3736920"/>
          </a:xfrm>
          <a:prstGeom prst="rect">
            <a:avLst/>
          </a:prstGeom>
        </p:spPr>
        <p:txBody>
          <a:bodyPr vert="horz" wrap="square" lIns="0" tIns="101600" rIns="0" bIns="0" rtlCol="0">
            <a:spAutoFit/>
          </a:bodyPr>
          <a:lstStyle/>
          <a:p>
            <a:pPr marL="227965" marR="843280" indent="-227965">
              <a:lnSpc>
                <a:spcPct val="100000"/>
              </a:lnSpc>
              <a:spcBef>
                <a:spcPts val="800"/>
              </a:spcBef>
              <a:buFont typeface="Arial" panose="020B0604020202020204"/>
              <a:buChar char="•"/>
              <a:tabLst>
                <a:tab pos="227965" algn="l"/>
                <a:tab pos="228600" algn="l"/>
              </a:tabLst>
            </a:pPr>
            <a:r>
              <a:rPr sz="2400" dirty="0" err="1">
                <a:latin typeface="微软雅黑" panose="020B0503020204020204" pitchFamily="34" charset="-122"/>
                <a:ea typeface="微软雅黑" panose="020B0503020204020204" pitchFamily="34" charset="-122"/>
                <a:cs typeface="Arial Unicode MS"/>
              </a:rPr>
              <a:t>由几个人控制时</a:t>
            </a:r>
            <a:endParaRPr sz="2400" dirty="0">
              <a:latin typeface="微软雅黑" panose="020B0503020204020204" pitchFamily="34" charset="-122"/>
              <a:ea typeface="微软雅黑" panose="020B0503020204020204" pitchFamily="34" charset="-122"/>
              <a:cs typeface="Arial Unicode MS"/>
            </a:endParaRPr>
          </a:p>
          <a:p>
            <a:pPr marL="227965" marR="894080" lvl="1" indent="-227965">
              <a:lnSpc>
                <a:spcPct val="100000"/>
              </a:lnSpc>
              <a:spcBef>
                <a:spcPts val="700"/>
              </a:spcBef>
              <a:buFont typeface="Arial" panose="020B0604020202020204"/>
              <a:buChar char="•"/>
              <a:tabLst>
                <a:tab pos="227965" algn="l"/>
                <a:tab pos="228600" algn="l"/>
              </a:tabLst>
            </a:pPr>
            <a:r>
              <a:rPr sz="2400" dirty="0" err="1">
                <a:latin typeface="微软雅黑" panose="020B0503020204020204" pitchFamily="34" charset="-122"/>
                <a:ea typeface="微软雅黑" panose="020B0503020204020204" pitchFamily="34" charset="-122"/>
                <a:cs typeface="Arial Unicode MS"/>
              </a:rPr>
              <a:t>引导者角色</a:t>
            </a:r>
            <a:endParaRPr sz="2400" dirty="0">
              <a:latin typeface="微软雅黑" panose="020B0503020204020204" pitchFamily="34" charset="-122"/>
              <a:ea typeface="微软雅黑" panose="020B0503020204020204" pitchFamily="34" charset="-122"/>
              <a:cs typeface="Arial Unicode MS"/>
            </a:endParaRPr>
          </a:p>
          <a:p>
            <a:pPr marL="698500" lvl="1" indent="-228600">
              <a:lnSpc>
                <a:spcPct val="100000"/>
              </a:lnSpc>
              <a:spcBef>
                <a:spcPts val="800"/>
              </a:spcBef>
              <a:buFont typeface="Arial" panose="020B0604020202020204"/>
              <a:buChar char="•"/>
              <a:tabLst>
                <a:tab pos="697865" algn="l"/>
                <a:tab pos="698500" algn="l"/>
              </a:tabLst>
            </a:pPr>
            <a:r>
              <a:rPr lang="en-US" altLang="zh-CN" sz="2400" dirty="0">
                <a:latin typeface="微软雅黑" panose="020B0503020204020204" pitchFamily="34" charset="-122"/>
                <a:ea typeface="微软雅黑" panose="020B0503020204020204" pitchFamily="34" charset="-122"/>
                <a:cs typeface="Arial Unicode MS"/>
              </a:rPr>
              <a:t>5</a:t>
            </a:r>
            <a:r>
              <a:rPr lang="zh-CN" altLang="en-US" sz="2400" dirty="0">
                <a:latin typeface="微软雅黑" panose="020B0503020204020204" pitchFamily="34" charset="-122"/>
                <a:ea typeface="微软雅黑" panose="020B0503020204020204" pitchFamily="34" charset="-122"/>
                <a:cs typeface="Arial Unicode MS"/>
              </a:rPr>
              <a:t>分</a:t>
            </a:r>
            <a:r>
              <a:rPr sz="2400" dirty="0" err="1">
                <a:latin typeface="微软雅黑" panose="020B0503020204020204" pitchFamily="34" charset="-122"/>
                <a:ea typeface="微软雅黑" panose="020B0503020204020204" pitchFamily="34" charset="-122"/>
                <a:cs typeface="Arial Unicode MS"/>
              </a:rPr>
              <a:t>钟规定时段陈述</a:t>
            </a:r>
            <a:endParaRPr sz="2400" dirty="0">
              <a:latin typeface="微软雅黑" panose="020B0503020204020204" pitchFamily="34" charset="-122"/>
              <a:ea typeface="微软雅黑" panose="020B0503020204020204" pitchFamily="34" charset="-122"/>
              <a:cs typeface="Arial Unicode MS"/>
            </a:endParaRPr>
          </a:p>
          <a:p>
            <a:pPr marL="227965" marR="843280" indent="-227965">
              <a:lnSpc>
                <a:spcPct val="100000"/>
              </a:lnSpc>
              <a:spcBef>
                <a:spcPts val="700"/>
              </a:spcBef>
              <a:buFont typeface="Arial" panose="020B0604020202020204"/>
              <a:buChar char="•"/>
              <a:tabLst>
                <a:tab pos="227965" algn="l"/>
                <a:tab pos="228600" algn="l"/>
              </a:tabLst>
            </a:pPr>
            <a:r>
              <a:rPr sz="2400" dirty="0" err="1">
                <a:latin typeface="微软雅黑" panose="020B0503020204020204" pitchFamily="34" charset="-122"/>
                <a:ea typeface="微软雅黑" panose="020B0503020204020204" pitchFamily="34" charset="-122"/>
                <a:cs typeface="Arial Unicode MS"/>
              </a:rPr>
              <a:t>一些人缺少参与</a:t>
            </a:r>
            <a:endParaRPr sz="2400" dirty="0">
              <a:latin typeface="微软雅黑" panose="020B0503020204020204" pitchFamily="34" charset="-122"/>
              <a:ea typeface="微软雅黑" panose="020B0503020204020204" pitchFamily="34" charset="-122"/>
              <a:cs typeface="Arial Unicode MS"/>
            </a:endParaRPr>
          </a:p>
          <a:p>
            <a:pPr marL="227965" marR="894080" lvl="1" indent="-227965">
              <a:lnSpc>
                <a:spcPct val="100000"/>
              </a:lnSpc>
              <a:spcBef>
                <a:spcPts val="800"/>
              </a:spcBef>
              <a:buFont typeface="Arial" panose="020B0604020202020204"/>
              <a:buChar char="•"/>
              <a:tabLst>
                <a:tab pos="227965" algn="l"/>
                <a:tab pos="228600" algn="l"/>
              </a:tabLst>
            </a:pPr>
            <a:r>
              <a:rPr sz="2400" dirty="0" err="1">
                <a:latin typeface="微软雅黑" panose="020B0503020204020204" pitchFamily="34" charset="-122"/>
                <a:ea typeface="微软雅黑" panose="020B0503020204020204" pitchFamily="34" charset="-122"/>
                <a:cs typeface="Arial Unicode MS"/>
              </a:rPr>
              <a:t>引导者角色</a:t>
            </a:r>
            <a:endParaRPr sz="2400" dirty="0">
              <a:latin typeface="微软雅黑" panose="020B0503020204020204" pitchFamily="34" charset="-122"/>
              <a:ea typeface="微软雅黑" panose="020B0503020204020204" pitchFamily="34" charset="-122"/>
              <a:cs typeface="Arial Unicode MS"/>
            </a:endParaRPr>
          </a:p>
          <a:p>
            <a:pPr marL="698500" lvl="1" indent="-228600">
              <a:lnSpc>
                <a:spcPct val="100000"/>
              </a:lnSpc>
              <a:spcBef>
                <a:spcPts val="800"/>
              </a:spcBef>
              <a:buFont typeface="Arial" panose="020B0604020202020204"/>
              <a:buChar char="•"/>
              <a:tabLst>
                <a:tab pos="697865" algn="l"/>
                <a:tab pos="698500" algn="l"/>
              </a:tabLst>
            </a:pPr>
            <a:r>
              <a:rPr lang="zh-CN" altLang="en-US" sz="2400" dirty="0">
                <a:latin typeface="微软雅黑" panose="020B0503020204020204" pitchFamily="34" charset="-122"/>
                <a:ea typeface="微软雅黑" panose="020B0503020204020204" pitchFamily="34" charset="-122"/>
                <a:cs typeface="Arial Unicode MS"/>
              </a:rPr>
              <a:t>”好主意”</a:t>
            </a:r>
            <a:r>
              <a:rPr sz="2400" dirty="0">
                <a:latin typeface="微软雅黑" panose="020B0503020204020204" pitchFamily="34" charset="-122"/>
                <a:ea typeface="微软雅黑" panose="020B0503020204020204" pitchFamily="34" charset="-122"/>
                <a:cs typeface="Arial Unicode MS"/>
              </a:rPr>
              <a:t>券</a:t>
            </a:r>
          </a:p>
          <a:p>
            <a:pPr marL="241300" indent="-228600">
              <a:lnSpc>
                <a:spcPct val="100000"/>
              </a:lnSpc>
              <a:spcBef>
                <a:spcPts val="700"/>
              </a:spcBef>
              <a:buFont typeface="Arial" panose="020B0604020202020204"/>
              <a:buChar char="•"/>
              <a:tabLst>
                <a:tab pos="240665" algn="l"/>
                <a:tab pos="241300" algn="l"/>
              </a:tabLst>
            </a:pPr>
            <a:r>
              <a:rPr sz="2400" dirty="0" err="1">
                <a:latin typeface="微软雅黑" panose="020B0503020204020204" pitchFamily="34" charset="-122"/>
                <a:ea typeface="微软雅黑" panose="020B0503020204020204" pitchFamily="34" charset="-122"/>
                <a:cs typeface="Arial Unicode MS"/>
              </a:rPr>
              <a:t>无理的参与者</a:t>
            </a:r>
            <a:endParaRPr sz="2400" dirty="0">
              <a:latin typeface="微软雅黑" panose="020B0503020204020204" pitchFamily="34" charset="-122"/>
              <a:ea typeface="微软雅黑" panose="020B0503020204020204" pitchFamily="34" charset="-122"/>
              <a:cs typeface="Arial Unicode MS"/>
            </a:endParaRPr>
          </a:p>
          <a:p>
            <a:pPr marL="698500" lvl="1" indent="-228600">
              <a:lnSpc>
                <a:spcPct val="100000"/>
              </a:lnSpc>
              <a:spcBef>
                <a:spcPts val="800"/>
              </a:spcBef>
              <a:buChar char="•"/>
              <a:tabLst>
                <a:tab pos="697865" algn="l"/>
                <a:tab pos="698500" algn="l"/>
              </a:tabLst>
            </a:pPr>
            <a:r>
              <a:rPr sz="2400" baseline="3000" dirty="0">
                <a:latin typeface="微软雅黑" panose="020B0503020204020204" pitchFamily="34" charset="-122"/>
                <a:ea typeface="微软雅黑" panose="020B0503020204020204" pitchFamily="34" charset="-122"/>
                <a:cs typeface="Arial" panose="020B0604020202020204"/>
              </a:rPr>
              <a:t>“</a:t>
            </a:r>
            <a:r>
              <a:rPr sz="2400" dirty="0">
                <a:latin typeface="微软雅黑" panose="020B0503020204020204" pitchFamily="34" charset="-122"/>
                <a:ea typeface="微软雅黑" panose="020B0503020204020204" pitchFamily="34" charset="-122"/>
                <a:cs typeface="Arial Unicode MS"/>
              </a:rPr>
              <a:t>恶意中伤</a:t>
            </a:r>
            <a:r>
              <a:rPr sz="2400" baseline="3000" dirty="0">
                <a:latin typeface="微软雅黑" panose="020B0503020204020204" pitchFamily="34" charset="-122"/>
                <a:ea typeface="微软雅黑" panose="020B0503020204020204" pitchFamily="34" charset="-122"/>
                <a:cs typeface="Arial" panose="020B0604020202020204"/>
              </a:rPr>
              <a:t>” </a:t>
            </a:r>
            <a:r>
              <a:rPr sz="2400" dirty="0">
                <a:latin typeface="微软雅黑" panose="020B0503020204020204" pitchFamily="34" charset="-122"/>
                <a:ea typeface="微软雅黑" panose="020B0503020204020204" pitchFamily="34" charset="-122"/>
                <a:cs typeface="Arial Unicode MS"/>
              </a:rPr>
              <a:t>券</a:t>
            </a:r>
          </a:p>
        </p:txBody>
      </p:sp>
      <p:grpSp>
        <p:nvGrpSpPr>
          <p:cNvPr id="13" name="组合 12"/>
          <p:cNvGrpSpPr/>
          <p:nvPr/>
        </p:nvGrpSpPr>
        <p:grpSpPr>
          <a:xfrm>
            <a:off x="6698114" y="4610274"/>
            <a:ext cx="4461847" cy="1832057"/>
            <a:chOff x="6812414" y="4543113"/>
            <a:chExt cx="4461847" cy="1832057"/>
          </a:xfrm>
        </p:grpSpPr>
        <p:sp>
          <p:nvSpPr>
            <p:cNvPr id="5" name="object 5"/>
            <p:cNvSpPr/>
            <p:nvPr/>
          </p:nvSpPr>
          <p:spPr>
            <a:xfrm>
              <a:off x="6824692" y="4543113"/>
              <a:ext cx="4437380" cy="1549400"/>
            </a:xfrm>
            <a:custGeom>
              <a:avLst/>
              <a:gdLst/>
              <a:ahLst/>
              <a:cxnLst/>
              <a:rect l="l" t="t" r="r" b="b"/>
              <a:pathLst>
                <a:path w="4437380" h="1549400">
                  <a:moveTo>
                    <a:pt x="2267761" y="0"/>
                  </a:moveTo>
                  <a:lnTo>
                    <a:pt x="1862620" y="0"/>
                  </a:lnTo>
                  <a:lnTo>
                    <a:pt x="1098924" y="15462"/>
                  </a:lnTo>
                  <a:lnTo>
                    <a:pt x="267566" y="47274"/>
                  </a:lnTo>
                  <a:lnTo>
                    <a:pt x="126862" y="54752"/>
                  </a:lnTo>
                  <a:lnTo>
                    <a:pt x="77122" y="57920"/>
                  </a:lnTo>
                  <a:lnTo>
                    <a:pt x="0" y="1549294"/>
                  </a:lnTo>
                  <a:lnTo>
                    <a:pt x="4387561" y="1535441"/>
                  </a:lnTo>
                  <a:lnTo>
                    <a:pt x="4437269" y="78960"/>
                  </a:lnTo>
                  <a:lnTo>
                    <a:pt x="4387561" y="74651"/>
                  </a:lnTo>
                  <a:lnTo>
                    <a:pt x="4248329" y="67047"/>
                  </a:lnTo>
                  <a:lnTo>
                    <a:pt x="4035296" y="53232"/>
                  </a:lnTo>
                  <a:lnTo>
                    <a:pt x="3425873" y="25855"/>
                  </a:lnTo>
                  <a:lnTo>
                    <a:pt x="2669988" y="3168"/>
                  </a:lnTo>
                  <a:lnTo>
                    <a:pt x="2267761" y="0"/>
                  </a:lnTo>
                  <a:close/>
                </a:path>
              </a:pathLst>
            </a:custGeom>
            <a:solidFill>
              <a:srgbClr val="C2D6C2"/>
            </a:solidFill>
          </p:spPr>
          <p:txBody>
            <a:bodyPr wrap="square" lIns="0" tIns="0" rIns="0" bIns="0" rtlCol="0"/>
            <a:lstStyle/>
            <a:p>
              <a:endParaRPr/>
            </a:p>
          </p:txBody>
        </p:sp>
        <p:sp>
          <p:nvSpPr>
            <p:cNvPr id="6" name="object 6"/>
            <p:cNvSpPr/>
            <p:nvPr/>
          </p:nvSpPr>
          <p:spPr>
            <a:xfrm>
              <a:off x="6845782" y="4625243"/>
              <a:ext cx="4321175" cy="1333500"/>
            </a:xfrm>
            <a:custGeom>
              <a:avLst/>
              <a:gdLst/>
              <a:ahLst/>
              <a:cxnLst/>
              <a:rect l="l" t="t" r="r" b="b"/>
              <a:pathLst>
                <a:path w="4321175" h="1333500">
                  <a:moveTo>
                    <a:pt x="1437747" y="545285"/>
                  </a:moveTo>
                  <a:lnTo>
                    <a:pt x="647204" y="545285"/>
                  </a:lnTo>
                  <a:lnTo>
                    <a:pt x="811836" y="593740"/>
                  </a:lnTo>
                  <a:lnTo>
                    <a:pt x="975212" y="687809"/>
                  </a:lnTo>
                  <a:lnTo>
                    <a:pt x="1301595" y="891383"/>
                  </a:lnTo>
                  <a:lnTo>
                    <a:pt x="1476966" y="993323"/>
                  </a:lnTo>
                  <a:lnTo>
                    <a:pt x="1662990" y="1087391"/>
                  </a:lnTo>
                  <a:lnTo>
                    <a:pt x="1870188" y="1172347"/>
                  </a:lnTo>
                  <a:lnTo>
                    <a:pt x="2101480" y="1246910"/>
                  </a:lnTo>
                  <a:lnTo>
                    <a:pt x="2365996" y="1306061"/>
                  </a:lnTo>
                  <a:lnTo>
                    <a:pt x="2659296" y="1333438"/>
                  </a:lnTo>
                  <a:lnTo>
                    <a:pt x="2969334" y="1324312"/>
                  </a:lnTo>
                  <a:lnTo>
                    <a:pt x="3282289" y="1283095"/>
                  </a:lnTo>
                  <a:lnTo>
                    <a:pt x="3583197" y="1221118"/>
                  </a:lnTo>
                  <a:lnTo>
                    <a:pt x="3828109" y="1144971"/>
                  </a:lnTo>
                  <a:lnTo>
                    <a:pt x="2672864" y="1144971"/>
                  </a:lnTo>
                  <a:lnTo>
                    <a:pt x="2529320" y="1139001"/>
                  </a:lnTo>
                  <a:lnTo>
                    <a:pt x="2388567" y="1119178"/>
                  </a:lnTo>
                  <a:lnTo>
                    <a:pt x="2246671" y="1082676"/>
                  </a:lnTo>
                  <a:lnTo>
                    <a:pt x="2109088" y="1032651"/>
                  </a:lnTo>
                  <a:lnTo>
                    <a:pt x="1971506" y="965946"/>
                  </a:lnTo>
                  <a:lnTo>
                    <a:pt x="1839882" y="883829"/>
                  </a:lnTo>
                  <a:lnTo>
                    <a:pt x="1711556" y="785033"/>
                  </a:lnTo>
                  <a:lnTo>
                    <a:pt x="1591852" y="681838"/>
                  </a:lnTo>
                  <a:lnTo>
                    <a:pt x="1474176" y="577061"/>
                  </a:lnTo>
                  <a:lnTo>
                    <a:pt x="1437747" y="545285"/>
                  </a:lnTo>
                  <a:close/>
                </a:path>
                <a:path w="4321175" h="1333500">
                  <a:moveTo>
                    <a:pt x="689380" y="147275"/>
                  </a:moveTo>
                  <a:lnTo>
                    <a:pt x="545837" y="154879"/>
                  </a:lnTo>
                  <a:lnTo>
                    <a:pt x="409535" y="182256"/>
                  </a:lnTo>
                  <a:lnTo>
                    <a:pt x="290235" y="224715"/>
                  </a:lnTo>
                  <a:lnTo>
                    <a:pt x="187295" y="270342"/>
                  </a:lnTo>
                  <a:lnTo>
                    <a:pt x="108917" y="315969"/>
                  </a:lnTo>
                  <a:lnTo>
                    <a:pt x="58865" y="347656"/>
                  </a:lnTo>
                  <a:lnTo>
                    <a:pt x="0" y="1151270"/>
                  </a:lnTo>
                  <a:lnTo>
                    <a:pt x="15110" y="1116339"/>
                  </a:lnTo>
                  <a:lnTo>
                    <a:pt x="63587" y="1028240"/>
                  </a:lnTo>
                  <a:lnTo>
                    <a:pt x="137563" y="908049"/>
                  </a:lnTo>
                  <a:lnTo>
                    <a:pt x="237346" y="779051"/>
                  </a:lnTo>
                  <a:lnTo>
                    <a:pt x="356656" y="660749"/>
                  </a:lnTo>
                  <a:lnTo>
                    <a:pt x="494215" y="575489"/>
                  </a:lnTo>
                  <a:lnTo>
                    <a:pt x="647204" y="545285"/>
                  </a:lnTo>
                  <a:lnTo>
                    <a:pt x="1437747" y="545285"/>
                  </a:lnTo>
                  <a:lnTo>
                    <a:pt x="1357642" y="475413"/>
                  </a:lnTo>
                  <a:lnTo>
                    <a:pt x="1239587" y="378200"/>
                  </a:lnTo>
                  <a:lnTo>
                    <a:pt x="1115609" y="294551"/>
                  </a:lnTo>
                  <a:lnTo>
                    <a:pt x="982769" y="223447"/>
                  </a:lnTo>
                  <a:lnTo>
                    <a:pt x="840482" y="171483"/>
                  </a:lnTo>
                  <a:lnTo>
                    <a:pt x="689380" y="147275"/>
                  </a:lnTo>
                  <a:close/>
                </a:path>
                <a:path w="4321175" h="1333500">
                  <a:moveTo>
                    <a:pt x="3594732" y="203549"/>
                  </a:moveTo>
                  <a:lnTo>
                    <a:pt x="2692646" y="203549"/>
                  </a:lnTo>
                  <a:lnTo>
                    <a:pt x="2898197" y="214322"/>
                  </a:lnTo>
                  <a:lnTo>
                    <a:pt x="3100957" y="236882"/>
                  </a:lnTo>
                  <a:lnTo>
                    <a:pt x="3297378" y="273384"/>
                  </a:lnTo>
                  <a:lnTo>
                    <a:pt x="3477442" y="320280"/>
                  </a:lnTo>
                  <a:lnTo>
                    <a:pt x="3637723" y="376679"/>
                  </a:lnTo>
                  <a:lnTo>
                    <a:pt x="3769220" y="438910"/>
                  </a:lnTo>
                  <a:lnTo>
                    <a:pt x="3869015" y="508784"/>
                  </a:lnTo>
                  <a:lnTo>
                    <a:pt x="3929501" y="580204"/>
                  </a:lnTo>
                  <a:lnTo>
                    <a:pt x="3945859" y="654462"/>
                  </a:lnTo>
                  <a:lnTo>
                    <a:pt x="3909593" y="727454"/>
                  </a:lnTo>
                  <a:lnTo>
                    <a:pt x="3834143" y="800445"/>
                  </a:lnTo>
                  <a:lnTo>
                    <a:pt x="3720781" y="870294"/>
                  </a:lnTo>
                  <a:lnTo>
                    <a:pt x="3586114" y="935427"/>
                  </a:lnTo>
                  <a:lnTo>
                    <a:pt x="3431792" y="993323"/>
                  </a:lnTo>
                  <a:lnTo>
                    <a:pt x="3270369" y="1044920"/>
                  </a:lnTo>
                  <a:lnTo>
                    <a:pt x="3109835" y="1087391"/>
                  </a:lnTo>
                  <a:lnTo>
                    <a:pt x="2960203" y="1119178"/>
                  </a:lnTo>
                  <a:lnTo>
                    <a:pt x="2815139" y="1137417"/>
                  </a:lnTo>
                  <a:lnTo>
                    <a:pt x="2672864" y="1144971"/>
                  </a:lnTo>
                  <a:lnTo>
                    <a:pt x="3828109" y="1144971"/>
                  </a:lnTo>
                  <a:lnTo>
                    <a:pt x="4074567" y="1043348"/>
                  </a:lnTo>
                  <a:lnTo>
                    <a:pt x="4233199" y="942980"/>
                  </a:lnTo>
                  <a:lnTo>
                    <a:pt x="4314734" y="844501"/>
                  </a:lnTo>
                  <a:lnTo>
                    <a:pt x="4321075" y="740990"/>
                  </a:lnTo>
                  <a:lnTo>
                    <a:pt x="4275805" y="636211"/>
                  </a:lnTo>
                  <a:lnTo>
                    <a:pt x="4183491" y="528607"/>
                  </a:lnTo>
                  <a:lnTo>
                    <a:pt x="4051995" y="426617"/>
                  </a:lnTo>
                  <a:lnTo>
                    <a:pt x="3884105" y="328137"/>
                  </a:lnTo>
                  <a:lnTo>
                    <a:pt x="3693391" y="240051"/>
                  </a:lnTo>
                  <a:lnTo>
                    <a:pt x="3594732" y="203549"/>
                  </a:lnTo>
                  <a:close/>
                </a:path>
                <a:path w="4321175" h="1333500">
                  <a:moveTo>
                    <a:pt x="2322121" y="0"/>
                  </a:moveTo>
                  <a:lnTo>
                    <a:pt x="2104650" y="3168"/>
                  </a:lnTo>
                  <a:lnTo>
                    <a:pt x="1911019" y="21418"/>
                  </a:lnTo>
                  <a:lnTo>
                    <a:pt x="1744525" y="51583"/>
                  </a:lnTo>
                  <a:lnTo>
                    <a:pt x="1616071" y="94043"/>
                  </a:lnTo>
                  <a:lnTo>
                    <a:pt x="1531493" y="147275"/>
                  </a:lnTo>
                  <a:lnTo>
                    <a:pt x="1496875" y="214322"/>
                  </a:lnTo>
                  <a:lnTo>
                    <a:pt x="1501185" y="290114"/>
                  </a:lnTo>
                  <a:lnTo>
                    <a:pt x="1540623" y="375032"/>
                  </a:lnTo>
                  <a:lnTo>
                    <a:pt x="1605673" y="460076"/>
                  </a:lnTo>
                  <a:lnTo>
                    <a:pt x="1691647" y="546858"/>
                  </a:lnTo>
                  <a:lnTo>
                    <a:pt x="1791442" y="630229"/>
                  </a:lnTo>
                  <a:lnTo>
                    <a:pt x="1897578" y="707631"/>
                  </a:lnTo>
                  <a:lnTo>
                    <a:pt x="2004855" y="777480"/>
                  </a:lnTo>
                  <a:lnTo>
                    <a:pt x="2122657" y="842929"/>
                  </a:lnTo>
                  <a:lnTo>
                    <a:pt x="2245024" y="902080"/>
                  </a:lnTo>
                  <a:lnTo>
                    <a:pt x="2376648" y="952106"/>
                  </a:lnTo>
                  <a:lnTo>
                    <a:pt x="2511314" y="988595"/>
                  </a:lnTo>
                  <a:lnTo>
                    <a:pt x="2651814" y="1012828"/>
                  </a:lnTo>
                  <a:lnTo>
                    <a:pt x="2794090" y="1020382"/>
                  </a:lnTo>
                  <a:lnTo>
                    <a:pt x="2943593" y="1010002"/>
                  </a:lnTo>
                  <a:lnTo>
                    <a:pt x="3094617" y="979482"/>
                  </a:lnTo>
                  <a:lnTo>
                    <a:pt x="3242979" y="940141"/>
                  </a:lnTo>
                  <a:lnTo>
                    <a:pt x="3380436" y="889811"/>
                  </a:lnTo>
                  <a:lnTo>
                    <a:pt x="3393729" y="883829"/>
                  </a:lnTo>
                  <a:lnTo>
                    <a:pt x="2937633" y="883829"/>
                  </a:lnTo>
                  <a:lnTo>
                    <a:pt x="2784960" y="862752"/>
                  </a:lnTo>
                  <a:lnTo>
                    <a:pt x="2614027" y="827821"/>
                  </a:lnTo>
                  <a:lnTo>
                    <a:pt x="2435485" y="779051"/>
                  </a:lnTo>
                  <a:lnTo>
                    <a:pt x="2263283" y="721471"/>
                  </a:lnTo>
                  <a:lnTo>
                    <a:pt x="2103128" y="654462"/>
                  </a:lnTo>
                  <a:lnTo>
                    <a:pt x="1971506" y="586186"/>
                  </a:lnTo>
                  <a:lnTo>
                    <a:pt x="1874880" y="516338"/>
                  </a:lnTo>
                  <a:lnTo>
                    <a:pt x="1829230" y="451205"/>
                  </a:lnTo>
                  <a:lnTo>
                    <a:pt x="1836839" y="388847"/>
                  </a:lnTo>
                  <a:lnTo>
                    <a:pt x="1895930" y="334220"/>
                  </a:lnTo>
                  <a:lnTo>
                    <a:pt x="1998642" y="286946"/>
                  </a:lnTo>
                  <a:lnTo>
                    <a:pt x="2137747" y="250443"/>
                  </a:lnTo>
                  <a:lnTo>
                    <a:pt x="2304242" y="223447"/>
                  </a:lnTo>
                  <a:lnTo>
                    <a:pt x="2491532" y="206463"/>
                  </a:lnTo>
                  <a:lnTo>
                    <a:pt x="2692646" y="203549"/>
                  </a:lnTo>
                  <a:lnTo>
                    <a:pt x="3594732" y="203549"/>
                  </a:lnTo>
                  <a:lnTo>
                    <a:pt x="3483401" y="162358"/>
                  </a:lnTo>
                  <a:lnTo>
                    <a:pt x="3262762" y="104815"/>
                  </a:lnTo>
                  <a:lnTo>
                    <a:pt x="3028299" y="59188"/>
                  </a:lnTo>
                  <a:lnTo>
                    <a:pt x="2790920" y="27376"/>
                  </a:lnTo>
                  <a:lnTo>
                    <a:pt x="2552019" y="5956"/>
                  </a:lnTo>
                  <a:lnTo>
                    <a:pt x="2322121" y="0"/>
                  </a:lnTo>
                  <a:close/>
                </a:path>
                <a:path w="4321175" h="1333500">
                  <a:moveTo>
                    <a:pt x="3466817" y="501268"/>
                  </a:moveTo>
                  <a:lnTo>
                    <a:pt x="2807531" y="501268"/>
                  </a:lnTo>
                  <a:lnTo>
                    <a:pt x="2877146" y="502801"/>
                  </a:lnTo>
                  <a:lnTo>
                    <a:pt x="2957160" y="513194"/>
                  </a:lnTo>
                  <a:lnTo>
                    <a:pt x="3038949" y="527034"/>
                  </a:lnTo>
                  <a:lnTo>
                    <a:pt x="3117315" y="549683"/>
                  </a:lnTo>
                  <a:lnTo>
                    <a:pt x="3186931" y="577061"/>
                  </a:lnTo>
                  <a:lnTo>
                    <a:pt x="3246023" y="615134"/>
                  </a:lnTo>
                  <a:lnTo>
                    <a:pt x="3283811" y="657605"/>
                  </a:lnTo>
                  <a:lnTo>
                    <a:pt x="3303338" y="704805"/>
                  </a:lnTo>
                  <a:lnTo>
                    <a:pt x="3301817" y="751687"/>
                  </a:lnTo>
                  <a:lnTo>
                    <a:pt x="3279118" y="797302"/>
                  </a:lnTo>
                  <a:lnTo>
                    <a:pt x="3230933" y="835375"/>
                  </a:lnTo>
                  <a:lnTo>
                    <a:pt x="3159795" y="865578"/>
                  </a:lnTo>
                  <a:lnTo>
                    <a:pt x="3061648" y="882258"/>
                  </a:lnTo>
                  <a:lnTo>
                    <a:pt x="2937633" y="883829"/>
                  </a:lnTo>
                  <a:lnTo>
                    <a:pt x="3393729" y="883829"/>
                  </a:lnTo>
                  <a:lnTo>
                    <a:pt x="3501407" y="835375"/>
                  </a:lnTo>
                  <a:lnTo>
                    <a:pt x="3593595" y="773082"/>
                  </a:lnTo>
                  <a:lnTo>
                    <a:pt x="3651164" y="710774"/>
                  </a:lnTo>
                  <a:lnTo>
                    <a:pt x="3666380" y="648481"/>
                  </a:lnTo>
                  <a:lnTo>
                    <a:pt x="3632904" y="587757"/>
                  </a:lnTo>
                  <a:lnTo>
                    <a:pt x="3542239" y="529861"/>
                  </a:lnTo>
                  <a:lnTo>
                    <a:pt x="3466817" y="501268"/>
                  </a:lnTo>
                  <a:close/>
                </a:path>
                <a:path w="4321175" h="1333500">
                  <a:moveTo>
                    <a:pt x="2529320" y="352471"/>
                  </a:moveTo>
                  <a:lnTo>
                    <a:pt x="2411646" y="363118"/>
                  </a:lnTo>
                  <a:lnTo>
                    <a:pt x="2331251" y="380989"/>
                  </a:lnTo>
                  <a:lnTo>
                    <a:pt x="2282812" y="404056"/>
                  </a:lnTo>
                  <a:lnTo>
                    <a:pt x="2261762" y="428264"/>
                  </a:lnTo>
                  <a:lnTo>
                    <a:pt x="2267722" y="455640"/>
                  </a:lnTo>
                  <a:lnTo>
                    <a:pt x="2331251" y="510355"/>
                  </a:lnTo>
                  <a:lnTo>
                    <a:pt x="2382607" y="534588"/>
                  </a:lnTo>
                  <a:lnTo>
                    <a:pt x="2443093" y="560381"/>
                  </a:lnTo>
                  <a:lnTo>
                    <a:pt x="2503832" y="581775"/>
                  </a:lnTo>
                  <a:lnTo>
                    <a:pt x="2565460" y="600026"/>
                  </a:lnTo>
                  <a:lnTo>
                    <a:pt x="2624678" y="616705"/>
                  </a:lnTo>
                  <a:lnTo>
                    <a:pt x="2680472" y="630229"/>
                  </a:lnTo>
                  <a:lnTo>
                    <a:pt x="2727262" y="639354"/>
                  </a:lnTo>
                  <a:lnTo>
                    <a:pt x="2763784" y="646908"/>
                  </a:lnTo>
                  <a:lnTo>
                    <a:pt x="2789270" y="651624"/>
                  </a:lnTo>
                  <a:lnTo>
                    <a:pt x="2798401" y="654462"/>
                  </a:lnTo>
                  <a:lnTo>
                    <a:pt x="2792441" y="648481"/>
                  </a:lnTo>
                  <a:lnTo>
                    <a:pt x="2749961" y="616705"/>
                  </a:lnTo>
                  <a:lnTo>
                    <a:pt x="2706213" y="569507"/>
                  </a:lnTo>
                  <a:lnTo>
                    <a:pt x="2694293" y="546858"/>
                  </a:lnTo>
                  <a:lnTo>
                    <a:pt x="2694293" y="527034"/>
                  </a:lnTo>
                  <a:lnTo>
                    <a:pt x="2712173" y="513194"/>
                  </a:lnTo>
                  <a:lnTo>
                    <a:pt x="2749961" y="504069"/>
                  </a:lnTo>
                  <a:lnTo>
                    <a:pt x="2807531" y="501268"/>
                  </a:lnTo>
                  <a:lnTo>
                    <a:pt x="3466817" y="501268"/>
                  </a:lnTo>
                  <a:lnTo>
                    <a:pt x="3406303" y="478327"/>
                  </a:lnTo>
                  <a:lnTo>
                    <a:pt x="3238541" y="432954"/>
                  </a:lnTo>
                  <a:lnTo>
                    <a:pt x="3054040" y="397973"/>
                  </a:lnTo>
                  <a:lnTo>
                    <a:pt x="2863579" y="370723"/>
                  </a:lnTo>
                  <a:lnTo>
                    <a:pt x="2686686" y="355260"/>
                  </a:lnTo>
                  <a:lnTo>
                    <a:pt x="2529320" y="352471"/>
                  </a:lnTo>
                  <a:close/>
                </a:path>
              </a:pathLst>
            </a:custGeom>
            <a:solidFill>
              <a:srgbClr val="E6FFE6"/>
            </a:solidFill>
          </p:spPr>
          <p:txBody>
            <a:bodyPr wrap="square" lIns="0" tIns="0" rIns="0" bIns="0" rtlCol="0"/>
            <a:lstStyle/>
            <a:p>
              <a:endParaRPr/>
            </a:p>
          </p:txBody>
        </p:sp>
        <p:sp>
          <p:nvSpPr>
            <p:cNvPr id="7" name="object 7"/>
            <p:cNvSpPr/>
            <p:nvPr/>
          </p:nvSpPr>
          <p:spPr>
            <a:xfrm>
              <a:off x="6817137" y="5931305"/>
              <a:ext cx="4416425" cy="443865"/>
            </a:xfrm>
            <a:custGeom>
              <a:avLst/>
              <a:gdLst/>
              <a:ahLst/>
              <a:cxnLst/>
              <a:rect l="l" t="t" r="r" b="b"/>
              <a:pathLst>
                <a:path w="4416425" h="443864">
                  <a:moveTo>
                    <a:pt x="21089" y="0"/>
                  </a:moveTo>
                  <a:lnTo>
                    <a:pt x="0" y="246046"/>
                  </a:lnTo>
                  <a:lnTo>
                    <a:pt x="37773" y="252028"/>
                  </a:lnTo>
                  <a:lnTo>
                    <a:pt x="149520" y="273422"/>
                  </a:lnTo>
                  <a:lnTo>
                    <a:pt x="326438" y="302054"/>
                  </a:lnTo>
                  <a:lnTo>
                    <a:pt x="562207" y="336976"/>
                  </a:lnTo>
                  <a:lnTo>
                    <a:pt x="849610" y="370642"/>
                  </a:lnTo>
                  <a:lnTo>
                    <a:pt x="1182334" y="403993"/>
                  </a:lnTo>
                  <a:lnTo>
                    <a:pt x="1551007" y="428220"/>
                  </a:lnTo>
                  <a:lnTo>
                    <a:pt x="1953233" y="443323"/>
                  </a:lnTo>
                  <a:lnTo>
                    <a:pt x="2375113" y="441749"/>
                  </a:lnTo>
                  <a:lnTo>
                    <a:pt x="2800036" y="431366"/>
                  </a:lnTo>
                  <a:lnTo>
                    <a:pt x="3212660" y="411544"/>
                  </a:lnTo>
                  <a:lnTo>
                    <a:pt x="3593583" y="388576"/>
                  </a:lnTo>
                  <a:lnTo>
                    <a:pt x="4180309" y="343269"/>
                  </a:lnTo>
                  <a:lnTo>
                    <a:pt x="4348199" y="326591"/>
                  </a:lnTo>
                  <a:lnTo>
                    <a:pt x="4408558" y="321876"/>
                  </a:lnTo>
                  <a:lnTo>
                    <a:pt x="4416165" y="21090"/>
                  </a:lnTo>
                  <a:lnTo>
                    <a:pt x="21089" y="0"/>
                  </a:lnTo>
                  <a:close/>
                </a:path>
              </a:pathLst>
            </a:custGeom>
            <a:solidFill>
              <a:srgbClr val="D1BDBD"/>
            </a:solidFill>
          </p:spPr>
          <p:txBody>
            <a:bodyPr wrap="square" lIns="0" tIns="0" rIns="0" bIns="0" rtlCol="0"/>
            <a:lstStyle/>
            <a:p>
              <a:endParaRPr/>
            </a:p>
          </p:txBody>
        </p:sp>
        <p:sp>
          <p:nvSpPr>
            <p:cNvPr id="8" name="object 8"/>
            <p:cNvSpPr/>
            <p:nvPr/>
          </p:nvSpPr>
          <p:spPr>
            <a:xfrm>
              <a:off x="6812414" y="4702683"/>
              <a:ext cx="4461847" cy="1409230"/>
            </a:xfrm>
            <a:prstGeom prst="rect">
              <a:avLst/>
            </a:prstGeom>
            <a:blipFill>
              <a:blip r:embed="rId3" cstate="print"/>
              <a:stretch>
                <a:fillRect/>
              </a:stretch>
            </a:blipFill>
          </p:spPr>
          <p:txBody>
            <a:bodyPr wrap="square" lIns="0" tIns="0" rIns="0" bIns="0" rtlCol="0"/>
            <a:lstStyle/>
            <a:p>
              <a:endParaRPr/>
            </a:p>
          </p:txBody>
        </p:sp>
      </p:grpSp>
      <p:sp>
        <p:nvSpPr>
          <p:cNvPr id="12" name="标题 11"/>
          <p:cNvSpPr>
            <a:spLocks noGrp="1"/>
          </p:cNvSpPr>
          <p:nvPr>
            <p:ph type="title"/>
          </p:nvPr>
        </p:nvSpPr>
        <p:spPr/>
        <p:txBody>
          <a:bodyPr/>
          <a:lstStyle/>
          <a:p>
            <a:r>
              <a:rPr lang="zh-CN" altLang="en-US" spc="-5" dirty="0"/>
              <a:t>群体诱导技术</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36</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09018"/>
    </mc:Choice>
    <mc:Fallback xmlns="">
      <p:transition spd="slow" advTm="109018"/>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67739" y="1398905"/>
            <a:ext cx="9855200" cy="4784090"/>
          </a:xfrm>
          <a:prstGeom prst="rect">
            <a:avLst/>
          </a:prstGeom>
        </p:spPr>
        <p:txBody>
          <a:bodyPr vert="horz" wrap="square" lIns="0" tIns="155575" rIns="0" bIns="0" rtlCol="0">
            <a:spAutoFit/>
          </a:bodyPr>
          <a:lstStyle/>
          <a:p>
            <a:pPr marL="241300" indent="-228600">
              <a:lnSpc>
                <a:spcPct val="100000"/>
              </a:lnSpc>
              <a:spcBef>
                <a:spcPts val="1225"/>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目标</a:t>
            </a:r>
          </a:p>
          <a:p>
            <a:pPr marL="698500" lvl="1" indent="-228600">
              <a:lnSpc>
                <a:spcPct val="100000"/>
              </a:lnSpc>
              <a:spcBef>
                <a:spcPts val="94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介绍项目成员和干系人</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收集需求列表</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在会议过程中，运用头脑风暴、故事板、角色扮演、现有系统评估等方法获取需求</a:t>
            </a:r>
          </a:p>
          <a:p>
            <a:pPr marL="241300" indent="-228600">
              <a:lnSpc>
                <a:spcPct val="100000"/>
              </a:lnSpc>
              <a:spcBef>
                <a:spcPts val="148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指导原则</a:t>
            </a:r>
          </a:p>
          <a:p>
            <a:pPr marL="698500" lvl="1" indent="-228600">
              <a:lnSpc>
                <a:spcPct val="100000"/>
              </a:lnSpc>
              <a:spcBef>
                <a:spcPts val="104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主持人组织研讨:</a:t>
            </a:r>
          </a:p>
          <a:p>
            <a:pPr marL="1155700" lvl="2" indent="-228600">
              <a:lnSpc>
                <a:spcPct val="100000"/>
              </a:lnSpc>
              <a:spcBef>
                <a:spcPts val="960"/>
              </a:spcBef>
              <a:buFont typeface="Arial" panose="020B0604020202020204"/>
              <a:buChar char="•"/>
              <a:tabLst>
                <a:tab pos="1155065" algn="l"/>
                <a:tab pos="1155700" algn="l"/>
              </a:tabLst>
            </a:pPr>
            <a:r>
              <a:rPr sz="1800" dirty="0">
                <a:latin typeface="微软雅黑" panose="020B0503020204020204" pitchFamily="34" charset="-122"/>
                <a:ea typeface="微软雅黑" panose="020B0503020204020204" pitchFamily="34" charset="-122"/>
                <a:cs typeface="华文细黑" panose="02010600040101010101" charset="-122"/>
              </a:rPr>
              <a:t>给每个人发言的机会</a:t>
            </a:r>
          </a:p>
          <a:p>
            <a:pPr marL="1155700" lvl="2" indent="-228600">
              <a:lnSpc>
                <a:spcPct val="100000"/>
              </a:lnSpc>
              <a:spcBef>
                <a:spcPts val="940"/>
              </a:spcBef>
              <a:buFont typeface="Arial" panose="020B0604020202020204"/>
              <a:buChar char="•"/>
              <a:tabLst>
                <a:tab pos="1155065" algn="l"/>
                <a:tab pos="1155700" algn="l"/>
              </a:tabLst>
            </a:pPr>
            <a:r>
              <a:rPr sz="1800" dirty="0">
                <a:latin typeface="微软雅黑" panose="020B0503020204020204" pitchFamily="34" charset="-122"/>
                <a:ea typeface="微软雅黑" panose="020B0503020204020204" pitchFamily="34" charset="-122"/>
                <a:cs typeface="华文细黑" panose="02010600040101010101" charset="-122"/>
              </a:rPr>
              <a:t>保持研讨话题的相关性</a:t>
            </a:r>
          </a:p>
          <a:p>
            <a:pPr marL="1155700" lvl="2" indent="-228600">
              <a:lnSpc>
                <a:spcPct val="100000"/>
              </a:lnSpc>
              <a:spcBef>
                <a:spcPts val="940"/>
              </a:spcBef>
              <a:buFont typeface="Arial" panose="020B0604020202020204"/>
              <a:buChar char="•"/>
              <a:tabLst>
                <a:tab pos="1155065" algn="l"/>
                <a:tab pos="1155700" algn="l"/>
              </a:tabLst>
            </a:pPr>
            <a:r>
              <a:rPr sz="1800" dirty="0">
                <a:latin typeface="微软雅黑" panose="020B0503020204020204" pitchFamily="34" charset="-122"/>
                <a:ea typeface="微软雅黑" panose="020B0503020204020204" pitchFamily="34" charset="-122"/>
                <a:cs typeface="华文细黑" panose="02010600040101010101" charset="-122"/>
              </a:rPr>
              <a:t>定义需求属性</a:t>
            </a:r>
          </a:p>
          <a:p>
            <a:pPr marL="1155700" lvl="2" indent="-228600">
              <a:lnSpc>
                <a:spcPct val="100000"/>
              </a:lnSpc>
              <a:spcBef>
                <a:spcPts val="940"/>
              </a:spcBef>
              <a:buFont typeface="Arial" panose="020B0604020202020204"/>
              <a:buChar char="•"/>
              <a:tabLst>
                <a:tab pos="1155065" algn="l"/>
                <a:tab pos="1155700" algn="l"/>
              </a:tabLst>
            </a:pPr>
            <a:r>
              <a:rPr sz="1800" dirty="0">
                <a:latin typeface="微软雅黑" panose="020B0503020204020204" pitchFamily="34" charset="-122"/>
                <a:ea typeface="微软雅黑" panose="020B0503020204020204" pitchFamily="34" charset="-122"/>
                <a:cs typeface="华文细黑" panose="02010600040101010101" charset="-122"/>
              </a:rPr>
              <a:t>记录需求发现</a:t>
            </a:r>
          </a:p>
          <a:p>
            <a:pPr marL="1155700" lvl="2" indent="-228600">
              <a:lnSpc>
                <a:spcPct val="100000"/>
              </a:lnSpc>
              <a:spcBef>
                <a:spcPts val="940"/>
              </a:spcBef>
              <a:buFont typeface="Arial" panose="020B0604020202020204"/>
              <a:buChar char="•"/>
              <a:tabLst>
                <a:tab pos="1155065" algn="l"/>
                <a:tab pos="1155700" algn="l"/>
              </a:tabLst>
            </a:pPr>
            <a:r>
              <a:rPr sz="1800" dirty="0">
                <a:latin typeface="微软雅黑" panose="020B0503020204020204" pitchFamily="34" charset="-122"/>
                <a:ea typeface="微软雅黑" panose="020B0503020204020204" pitchFamily="34" charset="-122"/>
                <a:cs typeface="华文细黑" panose="02010600040101010101" charset="-122"/>
              </a:rPr>
              <a:t>总结并作出结论</a:t>
            </a:r>
          </a:p>
        </p:txBody>
      </p:sp>
      <p:sp>
        <p:nvSpPr>
          <p:cNvPr id="4" name="object 4"/>
          <p:cNvSpPr/>
          <p:nvPr/>
        </p:nvSpPr>
        <p:spPr>
          <a:xfrm>
            <a:off x="6837362" y="3305175"/>
            <a:ext cx="3809998" cy="2539999"/>
          </a:xfrm>
          <a:prstGeom prst="rect">
            <a:avLst/>
          </a:prstGeom>
          <a:blipFill>
            <a:blip r:embed="rId3" cstate="print"/>
            <a:stretch>
              <a:fillRect/>
            </a:stretch>
          </a:blipFill>
        </p:spPr>
        <p:txBody>
          <a:bodyPr wrap="square" lIns="0" tIns="0" rIns="0" bIns="0" rtlCol="0"/>
          <a:lstStyle/>
          <a:p>
            <a:endParaRPr/>
          </a:p>
        </p:txBody>
      </p:sp>
      <p:sp>
        <p:nvSpPr>
          <p:cNvPr id="7" name="标题 6"/>
          <p:cNvSpPr>
            <a:spLocks noGrp="1"/>
          </p:cNvSpPr>
          <p:nvPr>
            <p:ph type="title"/>
          </p:nvPr>
        </p:nvSpPr>
        <p:spPr/>
        <p:txBody>
          <a:bodyPr/>
          <a:lstStyle/>
          <a:p>
            <a:r>
              <a:rPr lang="zh-CN" altLang="en-US" spc="-5" dirty="0"/>
              <a:t>需求研讨会</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37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5461"/>
    </mc:Choice>
    <mc:Fallback xmlns="">
      <p:transition spd="slow" advTm="45461"/>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头脑风暴</a:t>
            </a:r>
          </a:p>
        </p:txBody>
      </p:sp>
      <p:sp>
        <p:nvSpPr>
          <p:cNvPr id="3" name="内容占位符 2"/>
          <p:cNvSpPr>
            <a:spLocks noGrp="1"/>
          </p:cNvSpPr>
          <p:nvPr>
            <p:ph idx="1"/>
          </p:nvPr>
        </p:nvSpPr>
        <p:spPr/>
        <p:txBody>
          <a:bodyPr>
            <a:normAutofit fontScale="92500" lnSpcReduction="10000"/>
          </a:bodyPr>
          <a:lstStyle/>
          <a:p>
            <a:pPr marL="241300">
              <a:lnSpc>
                <a:spcPct val="100000"/>
              </a:lnSpc>
              <a:spcBef>
                <a:spcPts val="1650"/>
              </a:spcBef>
              <a:buFont typeface="Arial" panose="020B0604020202020204"/>
              <a:buChar char="•"/>
              <a:tabLst>
                <a:tab pos="240665" algn="l"/>
                <a:tab pos="241300" algn="l"/>
              </a:tabLst>
            </a:pPr>
            <a:r>
              <a:rPr lang="zh-CN" altLang="en-US" sz="2200" dirty="0">
                <a:latin typeface="华文细黑" panose="02010600040101010101" charset="-122"/>
                <a:cs typeface="华文细黑" panose="02010600040101010101" charset="-122"/>
              </a:rPr>
              <a:t>目标</a:t>
            </a:r>
          </a:p>
          <a:p>
            <a:pPr marL="698500" lvl="1">
              <a:lnSpc>
                <a:spcPct val="100000"/>
              </a:lnSpc>
              <a:spcBef>
                <a:spcPts val="1340"/>
              </a:spcBef>
              <a:buFont typeface="Arial" panose="020B0604020202020204"/>
              <a:buChar char="•"/>
              <a:tabLst>
                <a:tab pos="697865" algn="l"/>
                <a:tab pos="698500" algn="l"/>
              </a:tabLst>
            </a:pPr>
            <a:r>
              <a:rPr lang="zh-CN" altLang="en-US" sz="1900" dirty="0">
                <a:latin typeface="华文细黑" panose="02010600040101010101" charset="-122"/>
                <a:cs typeface="华文细黑" panose="02010600040101010101" charset="-122"/>
              </a:rPr>
              <a:t>通过群组效应，激发对新产品和系统的新想法</a:t>
            </a:r>
          </a:p>
          <a:p>
            <a:pPr marL="698500" lvl="1">
              <a:lnSpc>
                <a:spcPct val="100000"/>
              </a:lnSpc>
              <a:spcBef>
                <a:spcPts val="1420"/>
              </a:spcBef>
              <a:buFont typeface="Arial" panose="020B0604020202020204"/>
              <a:buChar char="•"/>
              <a:tabLst>
                <a:tab pos="697865" algn="l"/>
                <a:tab pos="698500" algn="l"/>
              </a:tabLst>
            </a:pPr>
            <a:r>
              <a:rPr lang="zh-CN" altLang="en-US" sz="1900" dirty="0">
                <a:latin typeface="华文细黑" panose="02010600040101010101" charset="-122"/>
                <a:cs typeface="华文细黑" panose="02010600040101010101" charset="-122"/>
              </a:rPr>
              <a:t>在需求不完全明确的情况下比较有用</a:t>
            </a:r>
          </a:p>
          <a:p>
            <a:pPr lvl="1">
              <a:lnSpc>
                <a:spcPct val="100000"/>
              </a:lnSpc>
              <a:spcBef>
                <a:spcPts val="25"/>
              </a:spcBef>
              <a:buFont typeface="Arial" panose="020B0604020202020204"/>
              <a:buChar char="•"/>
            </a:pPr>
            <a:endParaRPr lang="zh-CN" altLang="en-US" sz="1750" dirty="0">
              <a:latin typeface="Times New Roman" panose="02020603050405020304"/>
              <a:cs typeface="Times New Roman" panose="02020603050405020304"/>
            </a:endParaRPr>
          </a:p>
          <a:p>
            <a:pPr marL="241300">
              <a:lnSpc>
                <a:spcPct val="100000"/>
              </a:lnSpc>
              <a:spcBef>
                <a:spcPts val="5"/>
              </a:spcBef>
              <a:buFont typeface="Arial" panose="020B0604020202020204"/>
              <a:buChar char="•"/>
              <a:tabLst>
                <a:tab pos="240665" algn="l"/>
                <a:tab pos="241300" algn="l"/>
              </a:tabLst>
            </a:pPr>
            <a:r>
              <a:rPr lang="zh-CN" altLang="en-US" sz="2200" dirty="0">
                <a:latin typeface="华文细黑" panose="02010600040101010101" charset="-122"/>
                <a:cs typeface="华文细黑" panose="02010600040101010101" charset="-122"/>
              </a:rPr>
              <a:t>指导方针</a:t>
            </a:r>
          </a:p>
          <a:p>
            <a:pPr marL="698500" lvl="1">
              <a:lnSpc>
                <a:spcPct val="100000"/>
              </a:lnSpc>
              <a:spcBef>
                <a:spcPts val="1440"/>
              </a:spcBef>
              <a:buFont typeface="Arial" panose="020B0604020202020204"/>
              <a:buChar char="•"/>
              <a:tabLst>
                <a:tab pos="697865" algn="l"/>
                <a:tab pos="698500" algn="l"/>
              </a:tabLst>
            </a:pPr>
            <a:r>
              <a:rPr lang="zh-CN" altLang="en-US" sz="1900" dirty="0">
                <a:latin typeface="华文细黑" panose="02010600040101010101" charset="-122"/>
                <a:cs typeface="华文细黑" panose="02010600040101010101" charset="-122"/>
              </a:rPr>
              <a:t>采用有组织的研讨会形式</a:t>
            </a:r>
          </a:p>
          <a:p>
            <a:pPr marL="698500" lvl="1">
              <a:lnSpc>
                <a:spcPct val="100000"/>
              </a:lnSpc>
              <a:spcBef>
                <a:spcPts val="1420"/>
              </a:spcBef>
              <a:buFont typeface="Arial" panose="020B0604020202020204"/>
              <a:buChar char="•"/>
              <a:tabLst>
                <a:tab pos="697865" algn="l"/>
                <a:tab pos="698500" algn="l"/>
              </a:tabLst>
            </a:pPr>
            <a:r>
              <a:rPr lang="zh-CN" altLang="en-US" sz="1900" dirty="0">
                <a:latin typeface="华文细黑" panose="02010600040101010101" charset="-122"/>
                <a:cs typeface="华文细黑" panose="02010600040101010101" charset="-122"/>
              </a:rPr>
              <a:t>百花齐放，不评价、不争论、不批评</a:t>
            </a:r>
          </a:p>
          <a:p>
            <a:pPr marL="698500" lvl="1">
              <a:lnSpc>
                <a:spcPct val="100000"/>
              </a:lnSpc>
              <a:spcBef>
                <a:spcPts val="1420"/>
              </a:spcBef>
              <a:buFont typeface="Arial" panose="020B0604020202020204"/>
              <a:buChar char="•"/>
              <a:tabLst>
                <a:tab pos="697865" algn="l"/>
                <a:tab pos="698500" algn="l"/>
              </a:tabLst>
            </a:pPr>
            <a:r>
              <a:rPr lang="zh-CN" altLang="en-US" sz="1900" dirty="0">
                <a:latin typeface="华文细黑" panose="02010600040101010101" charset="-122"/>
                <a:cs typeface="华文细黑" panose="02010600040101010101" charset="-122"/>
              </a:rPr>
              <a:t>不受现实可行性限制</a:t>
            </a:r>
          </a:p>
          <a:p>
            <a:pPr marL="698500" lvl="1">
              <a:lnSpc>
                <a:spcPct val="100000"/>
              </a:lnSpc>
              <a:spcBef>
                <a:spcPts val="1420"/>
              </a:spcBef>
              <a:buFont typeface="Arial" panose="020B0604020202020204"/>
              <a:buChar char="•"/>
              <a:tabLst>
                <a:tab pos="697865" algn="l"/>
                <a:tab pos="698500" algn="l"/>
              </a:tabLst>
            </a:pPr>
            <a:r>
              <a:rPr lang="zh-CN" altLang="en-US" sz="1900" dirty="0">
                <a:latin typeface="华文细黑" panose="02010600040101010101" charset="-122"/>
                <a:cs typeface="华文细黑" panose="02010600040101010101" charset="-122"/>
              </a:rPr>
              <a:t>新观点多多益善</a:t>
            </a:r>
          </a:p>
          <a:p>
            <a:pPr marL="698500" lvl="1">
              <a:lnSpc>
                <a:spcPct val="100000"/>
              </a:lnSpc>
              <a:spcBef>
                <a:spcPts val="1420"/>
              </a:spcBef>
              <a:buFont typeface="Arial" panose="020B0604020202020204"/>
              <a:buChar char="•"/>
              <a:tabLst>
                <a:tab pos="697865" algn="l"/>
                <a:tab pos="698500" algn="l"/>
              </a:tabLst>
            </a:pPr>
            <a:r>
              <a:rPr lang="zh-CN" altLang="en-US" sz="1900" dirty="0">
                <a:latin typeface="华文细黑" panose="02010600040101010101" charset="-122"/>
                <a:cs typeface="华文细黑" panose="02010600040101010101" charset="-122"/>
              </a:rPr>
              <a:t>抛砖引玉</a:t>
            </a:r>
          </a:p>
          <a:p>
            <a:pPr marL="698500" lvl="1">
              <a:lnSpc>
                <a:spcPct val="100000"/>
              </a:lnSpc>
              <a:spcBef>
                <a:spcPts val="1420"/>
              </a:spcBef>
              <a:buFont typeface="Arial" panose="020B0604020202020204"/>
              <a:buChar char="•"/>
              <a:tabLst>
                <a:tab pos="697865" algn="l"/>
                <a:tab pos="698500" algn="l"/>
              </a:tabLst>
            </a:pPr>
            <a:r>
              <a:rPr lang="zh-CN" altLang="en-US" sz="1900" dirty="0">
                <a:latin typeface="华文细黑" panose="02010600040101010101" charset="-122"/>
                <a:cs typeface="华文细黑" panose="02010600040101010101" charset="-122"/>
              </a:rPr>
              <a:t>互相启发</a:t>
            </a:r>
          </a:p>
        </p:txBody>
      </p:sp>
      <p:grpSp>
        <p:nvGrpSpPr>
          <p:cNvPr id="7" name="组合 6"/>
          <p:cNvGrpSpPr/>
          <p:nvPr/>
        </p:nvGrpSpPr>
        <p:grpSpPr>
          <a:xfrm>
            <a:off x="7543674" y="1753394"/>
            <a:ext cx="3860800" cy="4495800"/>
            <a:chOff x="8127998" y="1524000"/>
            <a:chExt cx="3860800" cy="4495800"/>
          </a:xfrm>
        </p:grpSpPr>
        <p:sp>
          <p:nvSpPr>
            <p:cNvPr id="5" name="object 4"/>
            <p:cNvSpPr txBox="1"/>
            <p:nvPr/>
          </p:nvSpPr>
          <p:spPr>
            <a:xfrm>
              <a:off x="8127998" y="1524000"/>
              <a:ext cx="3860800" cy="4495800"/>
            </a:xfrm>
            <a:prstGeom prst="rect">
              <a:avLst/>
            </a:prstGeom>
            <a:ln w="9524">
              <a:solidFill>
                <a:srgbClr val="000000"/>
              </a:solidFill>
            </a:ln>
          </p:spPr>
          <p:txBody>
            <a:bodyPr vert="horz" wrap="square" lIns="0" tIns="121920" rIns="0" bIns="0" rtlCol="0">
              <a:spAutoFit/>
            </a:bodyPr>
            <a:lstStyle/>
            <a:p>
              <a:pPr marL="5080" algn="ctr">
                <a:lnSpc>
                  <a:spcPct val="100000"/>
                </a:lnSpc>
                <a:spcBef>
                  <a:spcPts val="960"/>
                </a:spcBef>
              </a:pPr>
              <a:r>
                <a:rPr sz="1800" b="1" i="1" dirty="0">
                  <a:latin typeface="Calibri" panose="020F0502020204030204"/>
                  <a:cs typeface="Calibri" panose="020F0502020204030204"/>
                </a:rPr>
                <a:t>IDEA</a:t>
              </a:r>
              <a:r>
                <a:rPr sz="1800" b="1" i="1" spc="-100" dirty="0">
                  <a:latin typeface="Calibri" panose="020F0502020204030204"/>
                  <a:cs typeface="Calibri" panose="020F0502020204030204"/>
                </a:rPr>
                <a:t> </a:t>
              </a:r>
              <a:r>
                <a:rPr sz="1800" b="1" i="1" dirty="0">
                  <a:latin typeface="Calibri" panose="020F0502020204030204"/>
                  <a:cs typeface="Calibri" panose="020F0502020204030204"/>
                </a:rPr>
                <a:t>GENERATION</a:t>
              </a:r>
              <a:endParaRPr sz="1800" dirty="0">
                <a:latin typeface="Calibri" panose="020F0502020204030204"/>
                <a:cs typeface="Calibri" panose="020F0502020204030204"/>
              </a:endParaRPr>
            </a:p>
            <a:p>
              <a:pPr>
                <a:lnSpc>
                  <a:spcPct val="100000"/>
                </a:lnSpc>
              </a:pPr>
              <a:endParaRPr sz="2200" dirty="0">
                <a:latin typeface="Times New Roman" panose="02020603050405020304"/>
                <a:cs typeface="Times New Roman" panose="02020603050405020304"/>
              </a:endParaRPr>
            </a:p>
            <a:p>
              <a:pPr>
                <a:lnSpc>
                  <a:spcPct val="100000"/>
                </a:lnSpc>
              </a:pPr>
              <a:endParaRPr sz="2200" dirty="0">
                <a:latin typeface="Times New Roman" panose="02020603050405020304"/>
                <a:cs typeface="Times New Roman" panose="02020603050405020304"/>
              </a:endParaRPr>
            </a:p>
            <a:p>
              <a:pPr>
                <a:lnSpc>
                  <a:spcPct val="100000"/>
                </a:lnSpc>
              </a:pPr>
              <a:endParaRPr sz="2200" dirty="0">
                <a:latin typeface="Times New Roman" panose="02020603050405020304"/>
                <a:cs typeface="Times New Roman" panose="02020603050405020304"/>
              </a:endParaRPr>
            </a:p>
            <a:p>
              <a:pPr>
                <a:lnSpc>
                  <a:spcPct val="100000"/>
                </a:lnSpc>
              </a:pPr>
              <a:endParaRPr sz="2200" dirty="0">
                <a:latin typeface="Times New Roman" panose="02020603050405020304"/>
                <a:cs typeface="Times New Roman" panose="02020603050405020304"/>
              </a:endParaRPr>
            </a:p>
            <a:p>
              <a:pPr>
                <a:lnSpc>
                  <a:spcPct val="100000"/>
                </a:lnSpc>
              </a:pPr>
              <a:endParaRPr sz="2200" dirty="0">
                <a:latin typeface="Times New Roman" panose="02020603050405020304"/>
                <a:cs typeface="Times New Roman" panose="02020603050405020304"/>
              </a:endParaRPr>
            </a:p>
            <a:p>
              <a:pPr>
                <a:lnSpc>
                  <a:spcPct val="100000"/>
                </a:lnSpc>
              </a:pPr>
              <a:endParaRPr sz="2200" dirty="0">
                <a:latin typeface="Times New Roman" panose="02020603050405020304"/>
                <a:cs typeface="Times New Roman" panose="02020603050405020304"/>
              </a:endParaRPr>
            </a:p>
            <a:p>
              <a:pPr>
                <a:lnSpc>
                  <a:spcPct val="100000"/>
                </a:lnSpc>
                <a:spcBef>
                  <a:spcPts val="55"/>
                </a:spcBef>
              </a:pPr>
              <a:endParaRPr sz="2100" dirty="0">
                <a:latin typeface="Times New Roman" panose="02020603050405020304"/>
                <a:cs typeface="Times New Roman" panose="02020603050405020304"/>
              </a:endParaRPr>
            </a:p>
            <a:p>
              <a:pPr marL="656590" marR="643890" algn="ctr">
                <a:lnSpc>
                  <a:spcPct val="100000"/>
                </a:lnSpc>
              </a:pPr>
              <a:r>
                <a:rPr sz="1800" i="1" spc="-5" dirty="0">
                  <a:latin typeface="Calibri" panose="020F0502020204030204"/>
                  <a:cs typeface="Calibri" panose="020F0502020204030204"/>
                </a:rPr>
                <a:t>Broad ideas </a:t>
              </a:r>
              <a:r>
                <a:rPr sz="1800" i="1" dirty="0">
                  <a:latin typeface="Calibri" panose="020F0502020204030204"/>
                  <a:cs typeface="Calibri" panose="020F0502020204030204"/>
                </a:rPr>
                <a:t>may </a:t>
              </a:r>
              <a:r>
                <a:rPr sz="1800" i="1" spc="-5" dirty="0">
                  <a:latin typeface="Calibri" panose="020F0502020204030204"/>
                  <a:cs typeface="Calibri" panose="020F0502020204030204"/>
                </a:rPr>
                <a:t>yield</a:t>
              </a:r>
              <a:r>
                <a:rPr sz="1800" i="1" spc="-30" dirty="0">
                  <a:latin typeface="Calibri" panose="020F0502020204030204"/>
                  <a:cs typeface="Calibri" panose="020F0502020204030204"/>
                </a:rPr>
                <a:t> </a:t>
              </a:r>
              <a:r>
                <a:rPr sz="1800" i="1" dirty="0">
                  <a:latin typeface="Calibri" panose="020F0502020204030204"/>
                  <a:cs typeface="Calibri" panose="020F0502020204030204"/>
                </a:rPr>
                <a:t>good  </a:t>
              </a:r>
              <a:r>
                <a:rPr sz="1800" i="1" spc="-5" dirty="0">
                  <a:latin typeface="Calibri" panose="020F0502020204030204"/>
                  <a:cs typeface="Calibri" panose="020F0502020204030204"/>
                </a:rPr>
                <a:t>requirements </a:t>
              </a:r>
              <a:r>
                <a:rPr sz="1800" i="1" dirty="0">
                  <a:latin typeface="Calibri" panose="020F0502020204030204"/>
                  <a:cs typeface="Calibri" panose="020F0502020204030204"/>
                </a:rPr>
                <a:t>or </a:t>
              </a:r>
              <a:r>
                <a:rPr sz="1800" i="1" spc="-5" dirty="0">
                  <a:latin typeface="Calibri" panose="020F0502020204030204"/>
                  <a:cs typeface="Calibri" panose="020F0502020204030204"/>
                </a:rPr>
                <a:t>result </a:t>
              </a:r>
              <a:r>
                <a:rPr sz="1800" i="1" dirty="0">
                  <a:latin typeface="Calibri" panose="020F0502020204030204"/>
                  <a:cs typeface="Calibri" panose="020F0502020204030204"/>
                </a:rPr>
                <a:t>in  </a:t>
              </a:r>
              <a:r>
                <a:rPr sz="1800" i="1" spc="-5" dirty="0">
                  <a:latin typeface="Calibri" panose="020F0502020204030204"/>
                  <a:cs typeface="Calibri" panose="020F0502020204030204"/>
                </a:rPr>
                <a:t>requirements</a:t>
              </a:r>
              <a:r>
                <a:rPr sz="1800" i="1" spc="-10" dirty="0">
                  <a:latin typeface="Calibri" panose="020F0502020204030204"/>
                  <a:cs typeface="Calibri" panose="020F0502020204030204"/>
                </a:rPr>
                <a:t> </a:t>
              </a:r>
              <a:r>
                <a:rPr sz="1800" i="1" spc="-5" dirty="0">
                  <a:latin typeface="Calibri" panose="020F0502020204030204"/>
                  <a:cs typeface="Calibri" panose="020F0502020204030204"/>
                </a:rPr>
                <a:t>creep</a:t>
              </a:r>
              <a:endParaRPr sz="1800" dirty="0">
                <a:latin typeface="Calibri" panose="020F0502020204030204"/>
                <a:cs typeface="Calibri" panose="020F0502020204030204"/>
              </a:endParaRPr>
            </a:p>
            <a:p>
              <a:pPr>
                <a:lnSpc>
                  <a:spcPct val="100000"/>
                </a:lnSpc>
                <a:spcBef>
                  <a:spcPts val="20"/>
                </a:spcBef>
              </a:pPr>
              <a:endParaRPr sz="1950" dirty="0">
                <a:latin typeface="Times New Roman" panose="02020603050405020304"/>
                <a:cs typeface="Times New Roman" panose="02020603050405020304"/>
              </a:endParaRPr>
            </a:p>
            <a:p>
              <a:pPr marL="1016000" marR="1003300" algn="ctr">
                <a:lnSpc>
                  <a:spcPts val="2100"/>
                </a:lnSpc>
              </a:pPr>
              <a:r>
                <a:rPr sz="1800" i="1" spc="-5" dirty="0">
                  <a:latin typeface="Calibri" panose="020F0502020204030204"/>
                  <a:cs typeface="Calibri" panose="020F0502020204030204"/>
                </a:rPr>
                <a:t>Set expectations</a:t>
              </a:r>
              <a:r>
                <a:rPr sz="1800" i="1" spc="-60" dirty="0">
                  <a:latin typeface="Calibri" panose="020F0502020204030204"/>
                  <a:cs typeface="Calibri" panose="020F0502020204030204"/>
                </a:rPr>
                <a:t> </a:t>
              </a:r>
              <a:r>
                <a:rPr sz="1800" i="1" dirty="0">
                  <a:latin typeface="Calibri" panose="020F0502020204030204"/>
                  <a:cs typeface="Calibri" panose="020F0502020204030204"/>
                </a:rPr>
                <a:t>for  </a:t>
              </a:r>
              <a:r>
                <a:rPr sz="1800" i="1" spc="-5" dirty="0">
                  <a:latin typeface="Calibri" panose="020F0502020204030204"/>
                  <a:cs typeface="Calibri" panose="020F0502020204030204"/>
                </a:rPr>
                <a:t>participants</a:t>
              </a:r>
              <a:endParaRPr sz="1800" dirty="0">
                <a:latin typeface="Calibri" panose="020F0502020204030204"/>
                <a:cs typeface="Calibri" panose="020F0502020204030204"/>
              </a:endParaRPr>
            </a:p>
          </p:txBody>
        </p:sp>
        <p:sp>
          <p:nvSpPr>
            <p:cNvPr id="6" name="object 5"/>
            <p:cNvSpPr/>
            <p:nvPr/>
          </p:nvSpPr>
          <p:spPr>
            <a:xfrm>
              <a:off x="8640915" y="2264785"/>
              <a:ext cx="3163732" cy="1773814"/>
            </a:xfrm>
            <a:prstGeom prst="rect">
              <a:avLst/>
            </a:prstGeom>
            <a:blipFill>
              <a:blip r:embed="rId3" cstate="print"/>
              <a:stretch>
                <a:fillRect/>
              </a:stretch>
            </a:blipFill>
          </p:spPr>
          <p:txBody>
            <a:bodyPr wrap="square" lIns="0" tIns="0" rIns="0" bIns="0" rtlCol="0"/>
            <a:lstStyle/>
            <a:p>
              <a:endParaRPr/>
            </a:p>
          </p:txBody>
        </p:sp>
      </p:grpSp>
      <p:sp>
        <p:nvSpPr>
          <p:cNvPr id="4" name="灯片编号占位符 3"/>
          <p:cNvSpPr>
            <a:spLocks noGrp="1"/>
          </p:cNvSpPr>
          <p:nvPr>
            <p:ph type="sldNum" sz="quarter" idx="12"/>
          </p:nvPr>
        </p:nvSpPr>
        <p:spPr/>
        <p:txBody>
          <a:bodyPr/>
          <a:lstStyle/>
          <a:p>
            <a:fld id="{74D2AB8B-5816-41F2-8B4B-CA5C3E4E6A65}" type="slidenum">
              <a:rPr lang="zh-CN" altLang="en-US" smtClean="0"/>
              <a:t>38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1577"/>
    </mc:Choice>
    <mc:Fallback xmlns="">
      <p:transition spd="slow" advTm="51577"/>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63602" y="1526541"/>
            <a:ext cx="10063480" cy="4851649"/>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分析师观察干系人进行日常工作</a:t>
            </a:r>
          </a:p>
          <a:p>
            <a:pPr marL="241300" indent="-228600">
              <a:lnSpc>
                <a:spcPct val="100000"/>
              </a:lnSpc>
              <a:spcBef>
                <a:spcPts val="18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分析师越被动越好</a:t>
            </a:r>
          </a:p>
          <a:p>
            <a:pPr marL="241300" indent="-228600">
              <a:lnSpc>
                <a:spcPct val="100000"/>
              </a:lnSpc>
              <a:spcBef>
                <a:spcPts val="18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观察影响观察到结果</a:t>
            </a:r>
          </a:p>
          <a:p>
            <a:pPr marL="241300" indent="-228600">
              <a:lnSpc>
                <a:spcPct val="100000"/>
              </a:lnSpc>
              <a:spcBef>
                <a:spcPts val="19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观察参与者时，进行“动作研究”</a:t>
            </a:r>
          </a:p>
          <a:p>
            <a:pPr marL="241300" indent="-228600">
              <a:lnSpc>
                <a:spcPct val="100000"/>
              </a:lnSpc>
              <a:spcBef>
                <a:spcPts val="18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什么时候观察</a:t>
            </a:r>
            <a:r>
              <a:rPr sz="2400" spc="-235" dirty="0">
                <a:latin typeface="微软雅黑" panose="020B0503020204020204" pitchFamily="34" charset="-122"/>
                <a:ea typeface="微软雅黑" panose="020B0503020204020204" pitchFamily="34" charset="-122"/>
                <a:cs typeface="华文细黑" panose="02010600040101010101" charset="-122"/>
              </a:rPr>
              <a:t>?</a:t>
            </a:r>
            <a:endParaRPr sz="2400" dirty="0">
              <a:latin typeface="微软雅黑" panose="020B0503020204020204" pitchFamily="34" charset="-122"/>
              <a:ea typeface="微软雅黑" panose="020B0503020204020204" pitchFamily="34" charset="-122"/>
              <a:cs typeface="华文细黑" panose="02010600040101010101" charset="-122"/>
            </a:endParaRPr>
          </a:p>
          <a:p>
            <a:pPr marL="698500" lvl="1" indent="-228600">
              <a:lnSpc>
                <a:spcPct val="100000"/>
              </a:lnSpc>
              <a:spcBef>
                <a:spcPts val="186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当有人或事需要观察的时候</a:t>
            </a:r>
          </a:p>
          <a:p>
            <a:pPr marL="698500" lvl="1" indent="-228600">
              <a:lnSpc>
                <a:spcPct val="100000"/>
              </a:lnSpc>
              <a:spcBef>
                <a:spcPts val="176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当知识无以言表的时候</a:t>
            </a:r>
          </a:p>
          <a:p>
            <a:pPr>
              <a:lnSpc>
                <a:spcPct val="100000"/>
              </a:lnSpc>
            </a:pPr>
            <a:endParaRPr sz="2400" dirty="0">
              <a:latin typeface="微软雅黑" panose="020B0503020204020204" pitchFamily="34" charset="-122"/>
              <a:ea typeface="微软雅黑" panose="020B0503020204020204" pitchFamily="34" charset="-122"/>
              <a:cs typeface="Times New Roman" panose="02020603050405020304"/>
            </a:endParaRPr>
          </a:p>
          <a:p>
            <a:pPr marL="241300" marR="5080" indent="-228600">
              <a:lnSpc>
                <a:spcPct val="67000"/>
              </a:lnSpc>
              <a:spcBef>
                <a:spcPts val="1455"/>
              </a:spcBef>
            </a:pPr>
            <a:r>
              <a:rPr sz="2000" dirty="0">
                <a:latin typeface="Times New Roman" panose="02020603050405020304" pitchFamily="18" charset="0"/>
                <a:ea typeface="微软雅黑" panose="020B0503020204020204" pitchFamily="34" charset="-122"/>
                <a:cs typeface="Times New Roman" panose="02020603050405020304" pitchFamily="18" charset="0"/>
              </a:rPr>
              <a:t>Goguen</a:t>
            </a:r>
            <a:r>
              <a:rPr sz="2000" spc="-5" dirty="0">
                <a:latin typeface="Times New Roman" panose="02020603050405020304" pitchFamily="18" charset="0"/>
                <a:ea typeface="微软雅黑" panose="020B0503020204020204" pitchFamily="34" charset="-122"/>
                <a:cs typeface="Times New Roman" panose="02020603050405020304" pitchFamily="18" charset="0"/>
              </a:rPr>
              <a:t> </a:t>
            </a:r>
            <a:r>
              <a:rPr sz="2000" dirty="0">
                <a:latin typeface="Times New Roman" panose="02020603050405020304" pitchFamily="18" charset="0"/>
                <a:ea typeface="微软雅黑" panose="020B0503020204020204" pitchFamily="34" charset="-122"/>
                <a:cs typeface="Times New Roman" panose="02020603050405020304" pitchFamily="18" charset="0"/>
              </a:rPr>
              <a:t>&amp;</a:t>
            </a:r>
            <a:r>
              <a:rPr sz="2000" spc="5" dirty="0">
                <a:latin typeface="Times New Roman" panose="02020603050405020304" pitchFamily="18" charset="0"/>
                <a:ea typeface="微软雅黑" panose="020B0503020204020204" pitchFamily="34" charset="-122"/>
                <a:cs typeface="Times New Roman" panose="02020603050405020304" pitchFamily="18" charset="0"/>
              </a:rPr>
              <a:t> </a:t>
            </a:r>
            <a:r>
              <a:rPr sz="2000" spc="-5" dirty="0">
                <a:latin typeface="Times New Roman" panose="02020603050405020304" pitchFamily="18" charset="0"/>
                <a:ea typeface="微软雅黑" panose="020B0503020204020204" pitchFamily="34" charset="-122"/>
                <a:cs typeface="Times New Roman" panose="02020603050405020304" pitchFamily="18" charset="0"/>
              </a:rPr>
              <a:t>Jirotka,</a:t>
            </a:r>
            <a:r>
              <a:rPr sz="2000" spc="5" dirty="0">
                <a:latin typeface="Times New Roman" panose="02020603050405020304" pitchFamily="18" charset="0"/>
                <a:ea typeface="微软雅黑" panose="020B0503020204020204" pitchFamily="34" charset="-122"/>
                <a:cs typeface="Times New Roman" panose="02020603050405020304" pitchFamily="18" charset="0"/>
              </a:rPr>
              <a:t> </a:t>
            </a:r>
            <a:r>
              <a:rPr sz="2000" i="1" spc="-30" dirty="0">
                <a:latin typeface="Times New Roman" panose="02020603050405020304" pitchFamily="18" charset="0"/>
                <a:ea typeface="微软雅黑" panose="020B0503020204020204" pitchFamily="34" charset="-122"/>
                <a:cs typeface="Times New Roman" panose="02020603050405020304" pitchFamily="18" charset="0"/>
              </a:rPr>
              <a:t>Requirements</a:t>
            </a:r>
            <a:r>
              <a:rPr sz="2000" i="1" spc="-10" dirty="0">
                <a:latin typeface="Times New Roman" panose="02020603050405020304" pitchFamily="18" charset="0"/>
                <a:ea typeface="微软雅黑" panose="020B0503020204020204" pitchFamily="34" charset="-122"/>
                <a:cs typeface="Times New Roman" panose="02020603050405020304" pitchFamily="18" charset="0"/>
              </a:rPr>
              <a:t> </a:t>
            </a:r>
            <a:r>
              <a:rPr sz="2000" i="1" spc="-25" dirty="0">
                <a:latin typeface="Times New Roman" panose="02020603050405020304" pitchFamily="18" charset="0"/>
                <a:ea typeface="微软雅黑" panose="020B0503020204020204" pitchFamily="34" charset="-122"/>
                <a:cs typeface="Times New Roman" panose="02020603050405020304" pitchFamily="18" charset="0"/>
              </a:rPr>
              <a:t>Engineering:</a:t>
            </a:r>
            <a:r>
              <a:rPr sz="2000" i="1" spc="-10" dirty="0">
                <a:latin typeface="Times New Roman" panose="02020603050405020304" pitchFamily="18" charset="0"/>
                <a:ea typeface="微软雅黑" panose="020B0503020204020204" pitchFamily="34" charset="-122"/>
                <a:cs typeface="Times New Roman" panose="02020603050405020304" pitchFamily="18" charset="0"/>
              </a:rPr>
              <a:t> </a:t>
            </a:r>
            <a:r>
              <a:rPr sz="2000" i="1" spc="-25" dirty="0">
                <a:latin typeface="Times New Roman" panose="02020603050405020304" pitchFamily="18" charset="0"/>
                <a:ea typeface="微软雅黑" panose="020B0503020204020204" pitchFamily="34" charset="-122"/>
                <a:cs typeface="Times New Roman" panose="02020603050405020304" pitchFamily="18" charset="0"/>
              </a:rPr>
              <a:t>Social</a:t>
            </a:r>
            <a:r>
              <a:rPr sz="2000" i="1" spc="-10" dirty="0">
                <a:latin typeface="Times New Roman" panose="02020603050405020304" pitchFamily="18" charset="0"/>
                <a:ea typeface="微软雅黑" panose="020B0503020204020204" pitchFamily="34" charset="-122"/>
                <a:cs typeface="Times New Roman" panose="02020603050405020304" pitchFamily="18" charset="0"/>
              </a:rPr>
              <a:t> </a:t>
            </a:r>
            <a:r>
              <a:rPr sz="2000" i="1" spc="-35" dirty="0">
                <a:latin typeface="Times New Roman" panose="02020603050405020304" pitchFamily="18" charset="0"/>
                <a:ea typeface="微软雅黑" panose="020B0503020204020204" pitchFamily="34" charset="-122"/>
                <a:cs typeface="Times New Roman" panose="02020603050405020304" pitchFamily="18" charset="0"/>
              </a:rPr>
              <a:t>and</a:t>
            </a:r>
            <a:r>
              <a:rPr sz="2000" i="1" spc="-10" dirty="0">
                <a:latin typeface="Times New Roman" panose="02020603050405020304" pitchFamily="18" charset="0"/>
                <a:ea typeface="微软雅黑" panose="020B0503020204020204" pitchFamily="34" charset="-122"/>
                <a:cs typeface="Times New Roman" panose="02020603050405020304" pitchFamily="18" charset="0"/>
              </a:rPr>
              <a:t> </a:t>
            </a:r>
            <a:r>
              <a:rPr sz="2000" i="1" spc="-30" dirty="0">
                <a:latin typeface="Times New Roman" panose="02020603050405020304" pitchFamily="18" charset="0"/>
                <a:ea typeface="微软雅黑" panose="020B0503020204020204" pitchFamily="34" charset="-122"/>
                <a:cs typeface="Times New Roman" panose="02020603050405020304" pitchFamily="18" charset="0"/>
              </a:rPr>
              <a:t>Technical</a:t>
            </a:r>
            <a:r>
              <a:rPr sz="2000" i="1" spc="-10" dirty="0">
                <a:latin typeface="Times New Roman" panose="02020603050405020304" pitchFamily="18" charset="0"/>
                <a:ea typeface="微软雅黑" panose="020B0503020204020204" pitchFamily="34" charset="-122"/>
                <a:cs typeface="Times New Roman" panose="02020603050405020304" pitchFamily="18" charset="0"/>
              </a:rPr>
              <a:t> </a:t>
            </a:r>
            <a:r>
              <a:rPr sz="2000" i="1" spc="-25" dirty="0">
                <a:latin typeface="Times New Roman" panose="02020603050405020304" pitchFamily="18" charset="0"/>
                <a:ea typeface="微软雅黑" panose="020B0503020204020204" pitchFamily="34" charset="-122"/>
                <a:cs typeface="Times New Roman" panose="02020603050405020304" pitchFamily="18" charset="0"/>
              </a:rPr>
              <a:t>Issues,</a:t>
            </a:r>
            <a:r>
              <a:rPr sz="2000" i="1" spc="-10" dirty="0">
                <a:latin typeface="Times New Roman" panose="02020603050405020304" pitchFamily="18" charset="0"/>
                <a:ea typeface="微软雅黑" panose="020B0503020204020204" pitchFamily="34" charset="-122"/>
                <a:cs typeface="Times New Roman" panose="02020603050405020304" pitchFamily="18" charset="0"/>
              </a:rPr>
              <a:t> </a:t>
            </a:r>
            <a:r>
              <a:rPr sz="2000" dirty="0">
                <a:latin typeface="Times New Roman" panose="02020603050405020304" pitchFamily="18" charset="0"/>
                <a:ea typeface="微软雅黑" panose="020B0503020204020204" pitchFamily="34" charset="-122"/>
                <a:cs typeface="Times New Roman" panose="02020603050405020304" pitchFamily="18" charset="0"/>
              </a:rPr>
              <a:t>Academic</a:t>
            </a:r>
            <a:r>
              <a:rPr sz="2000" spc="5" dirty="0">
                <a:latin typeface="Times New Roman" panose="02020603050405020304" pitchFamily="18" charset="0"/>
                <a:ea typeface="微软雅黑" panose="020B0503020204020204" pitchFamily="34" charset="-122"/>
                <a:cs typeface="Times New Roman" panose="02020603050405020304" pitchFamily="18" charset="0"/>
              </a:rPr>
              <a:t> </a:t>
            </a:r>
            <a:r>
              <a:rPr sz="2000" dirty="0">
                <a:latin typeface="Times New Roman" panose="02020603050405020304" pitchFamily="18" charset="0"/>
                <a:ea typeface="微软雅黑" panose="020B0503020204020204" pitchFamily="34" charset="-122"/>
                <a:cs typeface="Times New Roman" panose="02020603050405020304" pitchFamily="18" charset="0"/>
              </a:rPr>
              <a:t>Press,  1994.</a:t>
            </a:r>
          </a:p>
        </p:txBody>
      </p:sp>
      <p:grpSp>
        <p:nvGrpSpPr>
          <p:cNvPr id="10" name="组合 9"/>
          <p:cNvGrpSpPr/>
          <p:nvPr/>
        </p:nvGrpSpPr>
        <p:grpSpPr>
          <a:xfrm>
            <a:off x="6814819" y="2071689"/>
            <a:ext cx="3878579" cy="3145155"/>
            <a:chOff x="7456487" y="1157289"/>
            <a:chExt cx="3878579" cy="3145155"/>
          </a:xfrm>
        </p:grpSpPr>
        <p:sp>
          <p:nvSpPr>
            <p:cNvPr id="4" name="object 4"/>
            <p:cNvSpPr/>
            <p:nvPr/>
          </p:nvSpPr>
          <p:spPr>
            <a:xfrm>
              <a:off x="7462837" y="1163638"/>
              <a:ext cx="3865561" cy="3132136"/>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7456487" y="1157289"/>
              <a:ext cx="3878579" cy="3145155"/>
            </a:xfrm>
            <a:custGeom>
              <a:avLst/>
              <a:gdLst/>
              <a:ahLst/>
              <a:cxnLst/>
              <a:rect l="l" t="t" r="r" b="b"/>
              <a:pathLst>
                <a:path w="3878579" h="3145154">
                  <a:moveTo>
                    <a:pt x="0" y="0"/>
                  </a:moveTo>
                  <a:lnTo>
                    <a:pt x="3878261" y="0"/>
                  </a:lnTo>
                  <a:lnTo>
                    <a:pt x="3878261" y="3144836"/>
                  </a:lnTo>
                  <a:lnTo>
                    <a:pt x="0" y="3144836"/>
                  </a:lnTo>
                  <a:lnTo>
                    <a:pt x="0" y="0"/>
                  </a:lnTo>
                  <a:close/>
                </a:path>
              </a:pathLst>
            </a:custGeom>
            <a:ln w="12699">
              <a:solidFill>
                <a:srgbClr val="000000"/>
              </a:solidFill>
            </a:ln>
          </p:spPr>
          <p:txBody>
            <a:bodyPr wrap="square" lIns="0" tIns="0" rIns="0" bIns="0" rtlCol="0"/>
            <a:lstStyle/>
            <a:p>
              <a:endParaRPr/>
            </a:p>
          </p:txBody>
        </p:sp>
      </p:grpSp>
      <p:sp>
        <p:nvSpPr>
          <p:cNvPr id="9" name="标题 8"/>
          <p:cNvSpPr>
            <a:spLocks noGrp="1"/>
          </p:cNvSpPr>
          <p:nvPr>
            <p:ph type="title"/>
          </p:nvPr>
        </p:nvSpPr>
        <p:spPr/>
        <p:txBody>
          <a:bodyPr/>
          <a:lstStyle/>
          <a:p>
            <a:r>
              <a:rPr lang="zh-CN" altLang="en-US" spc="-5" dirty="0"/>
              <a:t>参与观察法</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39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5651"/>
    </mc:Choice>
    <mc:Fallback xmlns="">
      <p:transition spd="slow" advTm="65651"/>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63602" y="1526541"/>
            <a:ext cx="10063480" cy="4851649"/>
          </a:xfrm>
          <a:prstGeom prst="rect">
            <a:avLst/>
          </a:prstGeom>
        </p:spPr>
        <p:txBody>
          <a:bodyPr vert="horz" wrap="square" lIns="0" tIns="12700" rIns="0" bIns="0" rtlCol="0">
            <a:spAutoFit/>
          </a:bodyPr>
          <a:lstStyle/>
          <a:p>
            <a:pPr marL="241300" indent="-228600">
              <a:lnSpc>
                <a:spcPct val="100000"/>
              </a:lnSpc>
              <a:spcBef>
                <a:spcPts val="885"/>
              </a:spcBef>
              <a:buFont typeface="Arial" panose="020B0604020202020204"/>
              <a:buChar char="•"/>
              <a:tabLst>
                <a:tab pos="241300" algn="l"/>
              </a:tabLst>
            </a:pPr>
            <a:r>
              <a:rPr lang="zh-CN" altLang="en-US" sz="2400" dirty="0">
                <a:latin typeface="微软雅黑" panose="020B0503020204020204" pitchFamily="34" charset="-122"/>
                <a:ea typeface="微软雅黑" panose="020B0503020204020204" pitchFamily="34" charset="-122"/>
                <a:cs typeface="华文细黑" panose="02010600040101010101" charset="-122"/>
              </a:rPr>
              <a:t>方法</a:t>
            </a:r>
          </a:p>
          <a:p>
            <a:pPr marL="698500" lvl="1" indent="-228600">
              <a:lnSpc>
                <a:spcPct val="100000"/>
              </a:lnSpc>
              <a:spcBef>
                <a:spcPts val="690"/>
              </a:spcBef>
              <a:buFont typeface="Arial" panose="020B0604020202020204"/>
              <a:buChar char="•"/>
              <a:tabLst>
                <a:tab pos="697865" algn="l"/>
                <a:tab pos="698500" algn="l"/>
              </a:tabLst>
            </a:pPr>
            <a:r>
              <a:rPr lang="zh-CN" altLang="en-US" sz="2100" dirty="0">
                <a:latin typeface="微软雅黑" panose="020B0503020204020204" pitchFamily="34" charset="-122"/>
                <a:ea typeface="微软雅黑" panose="020B0503020204020204" pitchFamily="34" charset="-122"/>
                <a:cs typeface="华文细黑" panose="02010600040101010101" charset="-122"/>
              </a:rPr>
              <a:t>纵深调查：</a:t>
            </a:r>
            <a:r>
              <a:rPr lang="zh-CN" altLang="en-US" sz="2100" dirty="0">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观察者参与被观察对象日常活动，成为组织中的一员</a:t>
            </a:r>
          </a:p>
          <a:p>
            <a:pPr marL="241300" indent="-228600">
              <a:lnSpc>
                <a:spcPct val="100000"/>
              </a:lnSpc>
              <a:spcBef>
                <a:spcPts val="1310"/>
              </a:spcBef>
              <a:buFont typeface="Arial" panose="020B0604020202020204"/>
              <a:buChar char="•"/>
              <a:tabLst>
                <a:tab pos="241300" algn="l"/>
              </a:tabLst>
            </a:pPr>
            <a:r>
              <a:rPr lang="zh-CN" altLang="en-US" sz="2400" dirty="0">
                <a:latin typeface="微软雅黑" panose="020B0503020204020204" pitchFamily="34" charset="-122"/>
                <a:ea typeface="微软雅黑" panose="020B0503020204020204" pitchFamily="34" charset="-122"/>
                <a:cs typeface="华文细黑" panose="02010600040101010101" charset="-122"/>
              </a:rPr>
              <a:t>优点</a:t>
            </a:r>
          </a:p>
          <a:p>
            <a:pPr marL="698500" lvl="1" indent="-228600">
              <a:lnSpc>
                <a:spcPct val="100000"/>
              </a:lnSpc>
              <a:spcBef>
                <a:spcPts val="780"/>
              </a:spcBef>
              <a:buFont typeface="Arial" panose="020B0604020202020204"/>
              <a:buChar char="•"/>
              <a:tabLst>
                <a:tab pos="697865" algn="l"/>
                <a:tab pos="698500" algn="l"/>
              </a:tabLst>
            </a:pPr>
            <a:r>
              <a:rPr lang="zh-CN" altLang="en-US" sz="2000" dirty="0">
                <a:latin typeface="微软雅黑" panose="020B0503020204020204" pitchFamily="34" charset="-122"/>
                <a:ea typeface="微软雅黑" panose="020B0503020204020204" pitchFamily="34" charset="-122"/>
                <a:cs typeface="华文细黑" panose="02010600040101010101" charset="-122"/>
              </a:rPr>
              <a:t>总是上下文相关的</a:t>
            </a:r>
          </a:p>
          <a:p>
            <a:pPr marL="698500" lvl="1" indent="-228600">
              <a:lnSpc>
                <a:spcPct val="100000"/>
              </a:lnSpc>
              <a:spcBef>
                <a:spcPts val="700"/>
              </a:spcBef>
              <a:buFont typeface="Arial" panose="020B0604020202020204"/>
              <a:buChar char="•"/>
              <a:tabLst>
                <a:tab pos="697865" algn="l"/>
                <a:tab pos="698500" algn="l"/>
              </a:tabLst>
            </a:pPr>
            <a:r>
              <a:rPr lang="zh-CN" altLang="en-US" sz="2000" dirty="0">
                <a:latin typeface="微软雅黑" panose="020B0503020204020204" pitchFamily="34" charset="-122"/>
                <a:ea typeface="微软雅黑" panose="020B0503020204020204" pitchFamily="34" charset="-122"/>
                <a:cs typeface="华文细黑" panose="02010600040101010101" charset="-122"/>
              </a:rPr>
              <a:t>能够发现其它方法无法发现的细节</a:t>
            </a:r>
          </a:p>
          <a:p>
            <a:pPr marL="241300" indent="-228600">
              <a:lnSpc>
                <a:spcPct val="100000"/>
              </a:lnSpc>
              <a:spcBef>
                <a:spcPts val="1240"/>
              </a:spcBef>
              <a:buFont typeface="Arial" panose="020B0604020202020204"/>
              <a:buChar char="•"/>
              <a:tabLst>
                <a:tab pos="241300" algn="l"/>
              </a:tabLst>
            </a:pPr>
            <a:r>
              <a:rPr lang="zh-CN" altLang="en-US" sz="2400" dirty="0">
                <a:latin typeface="微软雅黑" panose="020B0503020204020204" pitchFamily="34" charset="-122"/>
                <a:ea typeface="微软雅黑" panose="020B0503020204020204" pitchFamily="34" charset="-122"/>
                <a:cs typeface="华文细黑" panose="02010600040101010101" charset="-122"/>
              </a:rPr>
              <a:t>缺点</a:t>
            </a:r>
          </a:p>
          <a:p>
            <a:pPr marL="698500" lvl="1" indent="-228600">
              <a:lnSpc>
                <a:spcPct val="100000"/>
              </a:lnSpc>
              <a:spcBef>
                <a:spcPts val="780"/>
              </a:spcBef>
              <a:buFont typeface="Arial" panose="020B0604020202020204"/>
              <a:buChar char="•"/>
              <a:tabLst>
                <a:tab pos="697865" algn="l"/>
                <a:tab pos="698500" algn="l"/>
              </a:tabLst>
            </a:pPr>
            <a:r>
              <a:rPr lang="zh-CN" altLang="en-US" sz="2000" dirty="0">
                <a:latin typeface="微软雅黑" panose="020B0503020204020204" pitchFamily="34" charset="-122"/>
                <a:ea typeface="微软雅黑" panose="020B0503020204020204" pitchFamily="34" charset="-122"/>
                <a:cs typeface="华文细黑" panose="02010600040101010101" charset="-122"/>
              </a:rPr>
              <a:t>时间成本和开销很大</a:t>
            </a:r>
          </a:p>
          <a:p>
            <a:pPr marL="698500" lvl="1" indent="-228600">
              <a:lnSpc>
                <a:spcPct val="100000"/>
              </a:lnSpc>
              <a:spcBef>
                <a:spcPts val="700"/>
              </a:spcBef>
              <a:buFont typeface="Arial" panose="020B0604020202020204"/>
              <a:buChar char="•"/>
              <a:tabLst>
                <a:tab pos="697865" algn="l"/>
                <a:tab pos="698500" algn="l"/>
              </a:tabLst>
            </a:pPr>
            <a:r>
              <a:rPr lang="zh-CN" altLang="en-US" sz="2000" dirty="0">
                <a:latin typeface="微软雅黑" panose="020B0503020204020204" pitchFamily="34" charset="-122"/>
                <a:ea typeface="微软雅黑" panose="020B0503020204020204" pitchFamily="34" charset="-122"/>
                <a:cs typeface="华文细黑" panose="02010600040101010101" charset="-122"/>
              </a:rPr>
              <a:t>获取过于丰富的细节，难于分析</a:t>
            </a:r>
          </a:p>
          <a:p>
            <a:pPr marL="698500" lvl="1" indent="-228600">
              <a:lnSpc>
                <a:spcPct val="100000"/>
              </a:lnSpc>
              <a:spcBef>
                <a:spcPts val="800"/>
              </a:spcBef>
              <a:buFont typeface="Arial" panose="020B0604020202020204"/>
              <a:buChar char="•"/>
              <a:tabLst>
                <a:tab pos="697865" algn="l"/>
                <a:tab pos="698500" algn="l"/>
              </a:tabLst>
            </a:pPr>
            <a:r>
              <a:rPr lang="zh-CN" altLang="en-US" sz="2000" dirty="0">
                <a:latin typeface="微软雅黑" panose="020B0503020204020204" pitchFamily="34" charset="-122"/>
                <a:ea typeface="微软雅黑" panose="020B0503020204020204" pitchFamily="34" charset="-122"/>
                <a:cs typeface="华文细黑" panose="02010600040101010101" charset="-122"/>
              </a:rPr>
              <a:t>无法就改进建议所带来的结果给出更多评论</a:t>
            </a:r>
          </a:p>
          <a:p>
            <a:pPr marL="241300" indent="-228600">
              <a:lnSpc>
                <a:spcPct val="100000"/>
              </a:lnSpc>
              <a:spcBef>
                <a:spcPts val="1240"/>
              </a:spcBef>
              <a:buFont typeface="Arial" panose="020B0604020202020204"/>
              <a:buChar char="•"/>
              <a:tabLst>
                <a:tab pos="241300" algn="l"/>
              </a:tabLst>
            </a:pPr>
            <a:r>
              <a:rPr lang="zh-CN" altLang="en-US" sz="2400" dirty="0">
                <a:latin typeface="微软雅黑" panose="020B0503020204020204" pitchFamily="34" charset="-122"/>
                <a:ea typeface="微软雅黑" panose="020B0503020204020204" pitchFamily="34" charset="-122"/>
                <a:cs typeface="华文细黑" panose="02010600040101010101" charset="-122"/>
              </a:rPr>
              <a:t>注意事项</a:t>
            </a:r>
          </a:p>
          <a:p>
            <a:pPr marL="698500" lvl="1" indent="-228600">
              <a:lnSpc>
                <a:spcPct val="100000"/>
              </a:lnSpc>
              <a:spcBef>
                <a:spcPts val="790"/>
              </a:spcBef>
              <a:buFont typeface="Arial" panose="020B0604020202020204"/>
              <a:buChar char="•"/>
              <a:tabLst>
                <a:tab pos="697865" algn="l"/>
                <a:tab pos="698500" algn="l"/>
              </a:tabLst>
            </a:pPr>
            <a:r>
              <a:rPr lang="zh-CN" altLang="en-US" sz="2100" dirty="0">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有被同化的危险</a:t>
            </a:r>
            <a:endParaRPr sz="2000" dirty="0">
              <a:solidFill>
                <a:schemeClr val="accent6">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标题 8"/>
          <p:cNvSpPr>
            <a:spLocks noGrp="1"/>
          </p:cNvSpPr>
          <p:nvPr>
            <p:ph type="title"/>
          </p:nvPr>
        </p:nvSpPr>
        <p:spPr/>
        <p:txBody>
          <a:bodyPr/>
          <a:lstStyle/>
          <a:p>
            <a:r>
              <a:rPr lang="zh-CN" altLang="en-US" spc="-5" dirty="0"/>
              <a:t>参与观察法</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40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4339"/>
    </mc:Choice>
    <mc:Fallback xmlns="">
      <p:transition spd="slow" advTm="54339"/>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83827" y="1590695"/>
            <a:ext cx="5029200" cy="4527550"/>
          </a:xfrm>
          <a:prstGeom prst="rect">
            <a:avLst/>
          </a:prstGeom>
        </p:spPr>
        <p:txBody>
          <a:bodyPr vert="horz" wrap="square" lIns="0" tIns="155575" rIns="0" bIns="0" rtlCol="0">
            <a:spAutoFit/>
          </a:bodyPr>
          <a:lstStyle/>
          <a:p>
            <a:pPr marL="241300" indent="-228600">
              <a:lnSpc>
                <a:spcPct val="100000"/>
              </a:lnSpc>
              <a:spcBef>
                <a:spcPts val="1225"/>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目标</a:t>
            </a:r>
          </a:p>
          <a:p>
            <a:pPr marL="698500" lvl="1" indent="-228600">
              <a:lnSpc>
                <a:spcPct val="100000"/>
              </a:lnSpc>
              <a:spcBef>
                <a:spcPts val="94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通过观察和提问了解工作内容</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实时实地开展工作</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立即反馈</a:t>
            </a:r>
          </a:p>
          <a:p>
            <a:pPr marL="241300" indent="-228600">
              <a:lnSpc>
                <a:spcPct val="100000"/>
              </a:lnSpc>
              <a:spcBef>
                <a:spcPts val="148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指导原则</a:t>
            </a:r>
          </a:p>
          <a:p>
            <a:pPr marL="698500" lvl="1" indent="-228600">
              <a:lnSpc>
                <a:spcPct val="100000"/>
              </a:lnSpc>
              <a:spcBef>
                <a:spcPts val="104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用户太忙无法安排专门时间来参加面谈</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人们并没有意识到在做什么</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反复观看一个任务的执行过程</a:t>
            </a:r>
          </a:p>
          <a:p>
            <a:pPr marL="698500" lvl="1" indent="-228600">
              <a:lnSpc>
                <a:spcPct val="100000"/>
              </a:lnSpc>
              <a:spcBef>
                <a:spcPts val="9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学习任务技能并作给用户看</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与用户或顾客建立密切联系</a:t>
            </a:r>
          </a:p>
        </p:txBody>
      </p:sp>
      <p:grpSp>
        <p:nvGrpSpPr>
          <p:cNvPr id="64" name="组合 63"/>
          <p:cNvGrpSpPr/>
          <p:nvPr/>
        </p:nvGrpSpPr>
        <p:grpSpPr>
          <a:xfrm>
            <a:off x="6557867" y="1690688"/>
            <a:ext cx="4151093" cy="4654874"/>
            <a:chOff x="7837705" y="1471606"/>
            <a:chExt cx="4151093" cy="4654874"/>
          </a:xfrm>
        </p:grpSpPr>
        <p:sp>
          <p:nvSpPr>
            <p:cNvPr id="4" name="object 4"/>
            <p:cNvSpPr/>
            <p:nvPr/>
          </p:nvSpPr>
          <p:spPr>
            <a:xfrm>
              <a:off x="7837705" y="2429776"/>
              <a:ext cx="2780030" cy="2027555"/>
            </a:xfrm>
            <a:custGeom>
              <a:avLst/>
              <a:gdLst/>
              <a:ahLst/>
              <a:cxnLst/>
              <a:rect l="l" t="t" r="r" b="b"/>
              <a:pathLst>
                <a:path w="2780029" h="2027554">
                  <a:moveTo>
                    <a:pt x="0" y="913948"/>
                  </a:moveTo>
                  <a:lnTo>
                    <a:pt x="1740097" y="2027376"/>
                  </a:lnTo>
                  <a:lnTo>
                    <a:pt x="2779547" y="1113415"/>
                  </a:lnTo>
                  <a:lnTo>
                    <a:pt x="1039513" y="0"/>
                  </a:lnTo>
                  <a:lnTo>
                    <a:pt x="0" y="913948"/>
                  </a:lnTo>
                  <a:close/>
                </a:path>
              </a:pathLst>
            </a:custGeom>
            <a:ln w="23018">
              <a:solidFill>
                <a:srgbClr val="000000"/>
              </a:solidFill>
            </a:ln>
          </p:spPr>
          <p:txBody>
            <a:bodyPr wrap="square" lIns="0" tIns="0" rIns="0" bIns="0" rtlCol="0"/>
            <a:lstStyle/>
            <a:p>
              <a:endParaRPr/>
            </a:p>
          </p:txBody>
        </p:sp>
        <p:sp>
          <p:nvSpPr>
            <p:cNvPr id="5" name="object 5"/>
            <p:cNvSpPr txBox="1"/>
            <p:nvPr/>
          </p:nvSpPr>
          <p:spPr>
            <a:xfrm rot="19140000">
              <a:off x="8349689" y="3007553"/>
              <a:ext cx="763523" cy="305435"/>
            </a:xfrm>
            <a:prstGeom prst="rect">
              <a:avLst/>
            </a:prstGeom>
          </p:spPr>
          <p:txBody>
            <a:bodyPr vert="horz" wrap="square" lIns="0" tIns="0" rIns="0" bIns="0" rtlCol="0">
              <a:spAutoFit/>
            </a:bodyPr>
            <a:lstStyle/>
            <a:p>
              <a:pPr>
                <a:lnSpc>
                  <a:spcPts val="2405"/>
                </a:lnSpc>
              </a:pPr>
              <a:r>
                <a:rPr sz="2400" b="1" spc="-55" dirty="0">
                  <a:latin typeface="Times New Roman" panose="02020603050405020304"/>
                  <a:cs typeface="Times New Roman" panose="02020603050405020304"/>
                </a:rPr>
                <a:t>Notes</a:t>
              </a:r>
              <a:endParaRPr sz="2400">
                <a:latin typeface="Times New Roman" panose="02020603050405020304"/>
                <a:cs typeface="Times New Roman" panose="02020603050405020304"/>
              </a:endParaRPr>
            </a:p>
          </p:txBody>
        </p:sp>
        <p:sp>
          <p:nvSpPr>
            <p:cNvPr id="6" name="object 6"/>
            <p:cNvSpPr txBox="1"/>
            <p:nvPr/>
          </p:nvSpPr>
          <p:spPr>
            <a:xfrm rot="19140000">
              <a:off x="8788611" y="3241429"/>
              <a:ext cx="912822" cy="153035"/>
            </a:xfrm>
            <a:prstGeom prst="rect">
              <a:avLst/>
            </a:prstGeom>
          </p:spPr>
          <p:txBody>
            <a:bodyPr vert="horz" wrap="square" lIns="0" tIns="0" rIns="0" bIns="0" rtlCol="0">
              <a:spAutoFit/>
            </a:bodyPr>
            <a:lstStyle/>
            <a:p>
              <a:pPr>
                <a:lnSpc>
                  <a:spcPts val="1205"/>
                </a:lnSpc>
              </a:pPr>
              <a:r>
                <a:rPr sz="1200" spc="-30" dirty="0">
                  <a:latin typeface="Times New Roman" panose="02020603050405020304"/>
                  <a:cs typeface="Times New Roman" panose="02020603050405020304"/>
                </a:rPr>
                <a:t>Business</a:t>
              </a:r>
              <a:r>
                <a:rPr sz="1200" spc="-70" dirty="0">
                  <a:latin typeface="Times New Roman" panose="02020603050405020304"/>
                  <a:cs typeface="Times New Roman" panose="02020603050405020304"/>
                </a:rPr>
                <a:t> </a:t>
              </a:r>
              <a:r>
                <a:rPr sz="1200" spc="-25" dirty="0">
                  <a:latin typeface="Times New Roman" panose="02020603050405020304"/>
                  <a:cs typeface="Times New Roman" panose="02020603050405020304"/>
                </a:rPr>
                <a:t>Ev</a:t>
              </a:r>
              <a:r>
                <a:rPr sz="1800" spc="-37" baseline="2000" dirty="0">
                  <a:latin typeface="Times New Roman" panose="02020603050405020304"/>
                  <a:cs typeface="Times New Roman" panose="02020603050405020304"/>
                </a:rPr>
                <a:t>ent</a:t>
              </a:r>
              <a:endParaRPr sz="1800" baseline="2000">
                <a:latin typeface="Times New Roman" panose="02020603050405020304"/>
                <a:cs typeface="Times New Roman" panose="02020603050405020304"/>
              </a:endParaRPr>
            </a:p>
          </p:txBody>
        </p:sp>
        <p:sp>
          <p:nvSpPr>
            <p:cNvPr id="7" name="object 7"/>
            <p:cNvSpPr txBox="1"/>
            <p:nvPr/>
          </p:nvSpPr>
          <p:spPr>
            <a:xfrm rot="19140000">
              <a:off x="8954285" y="3372522"/>
              <a:ext cx="817218" cy="153035"/>
            </a:xfrm>
            <a:prstGeom prst="rect">
              <a:avLst/>
            </a:prstGeom>
          </p:spPr>
          <p:txBody>
            <a:bodyPr vert="horz" wrap="square" lIns="0" tIns="0" rIns="0" bIns="0" rtlCol="0">
              <a:spAutoFit/>
            </a:bodyPr>
            <a:lstStyle/>
            <a:p>
              <a:pPr>
                <a:lnSpc>
                  <a:spcPts val="1205"/>
                </a:lnSpc>
              </a:pPr>
              <a:r>
                <a:rPr sz="1200" spc="-20" dirty="0">
                  <a:latin typeface="Times New Roman" panose="02020603050405020304"/>
                  <a:cs typeface="Times New Roman" panose="02020603050405020304"/>
                </a:rPr>
                <a:t>1.</a:t>
              </a:r>
              <a:r>
                <a:rPr sz="1200" spc="204" dirty="0">
                  <a:latin typeface="Times New Roman" panose="02020603050405020304"/>
                  <a:cs typeface="Times New Roman" panose="02020603050405020304"/>
                </a:rPr>
                <a:t> </a:t>
              </a:r>
              <a:r>
                <a:rPr sz="1200" spc="-30" dirty="0">
                  <a:latin typeface="Times New Roman" panose="02020603050405020304"/>
                  <a:cs typeface="Times New Roman" panose="02020603050405020304"/>
                </a:rPr>
                <a:t>Perform</a:t>
              </a:r>
              <a:r>
                <a:rPr sz="1800" spc="-44" baseline="2000" dirty="0">
                  <a:latin typeface="Times New Roman" panose="02020603050405020304"/>
                  <a:cs typeface="Times New Roman" panose="02020603050405020304"/>
                </a:rPr>
                <a:t>ed</a:t>
              </a:r>
              <a:endParaRPr sz="1800" baseline="2000">
                <a:latin typeface="Times New Roman" panose="02020603050405020304"/>
                <a:cs typeface="Times New Roman" panose="02020603050405020304"/>
              </a:endParaRPr>
            </a:p>
          </p:txBody>
        </p:sp>
        <p:sp>
          <p:nvSpPr>
            <p:cNvPr id="8" name="object 8"/>
            <p:cNvSpPr txBox="1"/>
            <p:nvPr/>
          </p:nvSpPr>
          <p:spPr>
            <a:xfrm rot="19140000">
              <a:off x="9104060" y="3458707"/>
              <a:ext cx="856542" cy="153035"/>
            </a:xfrm>
            <a:prstGeom prst="rect">
              <a:avLst/>
            </a:prstGeom>
          </p:spPr>
          <p:txBody>
            <a:bodyPr vert="horz" wrap="square" lIns="0" tIns="0" rIns="0" bIns="0" rtlCol="0">
              <a:spAutoFit/>
            </a:bodyPr>
            <a:lstStyle/>
            <a:p>
              <a:pPr>
                <a:lnSpc>
                  <a:spcPts val="1205"/>
                </a:lnSpc>
              </a:pPr>
              <a:r>
                <a:rPr sz="1200" spc="-20" dirty="0">
                  <a:latin typeface="Times New Roman" panose="02020603050405020304"/>
                  <a:cs typeface="Times New Roman" panose="02020603050405020304"/>
                </a:rPr>
                <a:t>2.</a:t>
              </a:r>
              <a:r>
                <a:rPr sz="1200" spc="204" dirty="0">
                  <a:latin typeface="Times New Roman" panose="02020603050405020304"/>
                  <a:cs typeface="Times New Roman" panose="02020603050405020304"/>
                </a:rPr>
                <a:t> </a:t>
              </a:r>
              <a:r>
                <a:rPr sz="1200" spc="-25" dirty="0">
                  <a:latin typeface="Times New Roman" panose="02020603050405020304"/>
                  <a:cs typeface="Times New Roman" panose="02020603050405020304"/>
                </a:rPr>
                <a:t>Distributed</a:t>
              </a:r>
              <a:endParaRPr sz="1200">
                <a:latin typeface="Times New Roman" panose="02020603050405020304"/>
                <a:cs typeface="Times New Roman" panose="02020603050405020304"/>
              </a:endParaRPr>
            </a:p>
          </p:txBody>
        </p:sp>
        <p:sp>
          <p:nvSpPr>
            <p:cNvPr id="9" name="object 9"/>
            <p:cNvSpPr txBox="1"/>
            <p:nvPr/>
          </p:nvSpPr>
          <p:spPr>
            <a:xfrm rot="19140000">
              <a:off x="9317021" y="3799011"/>
              <a:ext cx="189639" cy="153035"/>
            </a:xfrm>
            <a:prstGeom prst="rect">
              <a:avLst/>
            </a:prstGeom>
          </p:spPr>
          <p:txBody>
            <a:bodyPr vert="horz" wrap="square" lIns="0" tIns="0" rIns="0" bIns="0" rtlCol="0">
              <a:spAutoFit/>
            </a:bodyPr>
            <a:lstStyle/>
            <a:p>
              <a:pPr>
                <a:lnSpc>
                  <a:spcPts val="1205"/>
                </a:lnSpc>
              </a:pPr>
              <a:r>
                <a:rPr sz="1200" spc="-20" dirty="0">
                  <a:latin typeface="Times New Roman" panose="02020603050405020304"/>
                  <a:cs typeface="Times New Roman" panose="02020603050405020304"/>
                </a:rPr>
                <a:t>3.</a:t>
              </a:r>
              <a:endParaRPr sz="1200">
                <a:latin typeface="Times New Roman" panose="02020603050405020304"/>
                <a:cs typeface="Times New Roman" panose="02020603050405020304"/>
              </a:endParaRPr>
            </a:p>
          </p:txBody>
        </p:sp>
        <p:sp>
          <p:nvSpPr>
            <p:cNvPr id="10" name="object 10"/>
            <p:cNvSpPr/>
            <p:nvPr/>
          </p:nvSpPr>
          <p:spPr>
            <a:xfrm>
              <a:off x="9019062" y="1471606"/>
              <a:ext cx="2924175" cy="2080895"/>
            </a:xfrm>
            <a:custGeom>
              <a:avLst/>
              <a:gdLst/>
              <a:ahLst/>
              <a:cxnLst/>
              <a:rect l="l" t="t" r="r" b="b"/>
              <a:pathLst>
                <a:path w="2924175" h="2080895">
                  <a:moveTo>
                    <a:pt x="1591589" y="0"/>
                  </a:moveTo>
                  <a:lnTo>
                    <a:pt x="0" y="810134"/>
                  </a:lnTo>
                  <a:lnTo>
                    <a:pt x="1165890" y="2080560"/>
                  </a:lnTo>
                  <a:lnTo>
                    <a:pt x="2924035" y="1123218"/>
                  </a:lnTo>
                  <a:lnTo>
                    <a:pt x="1591589" y="0"/>
                  </a:lnTo>
                  <a:close/>
                </a:path>
              </a:pathLst>
            </a:custGeom>
            <a:solidFill>
              <a:srgbClr val="C0C0C0"/>
            </a:solidFill>
          </p:spPr>
          <p:txBody>
            <a:bodyPr wrap="square" lIns="0" tIns="0" rIns="0" bIns="0" rtlCol="0"/>
            <a:lstStyle/>
            <a:p>
              <a:endParaRPr/>
            </a:p>
          </p:txBody>
        </p:sp>
        <p:sp>
          <p:nvSpPr>
            <p:cNvPr id="11" name="object 11"/>
            <p:cNvSpPr/>
            <p:nvPr/>
          </p:nvSpPr>
          <p:spPr>
            <a:xfrm>
              <a:off x="9019062" y="1471607"/>
              <a:ext cx="2924175" cy="2080895"/>
            </a:xfrm>
            <a:custGeom>
              <a:avLst/>
              <a:gdLst/>
              <a:ahLst/>
              <a:cxnLst/>
              <a:rect l="l" t="t" r="r" b="b"/>
              <a:pathLst>
                <a:path w="2924175" h="2080895">
                  <a:moveTo>
                    <a:pt x="0" y="810133"/>
                  </a:moveTo>
                  <a:lnTo>
                    <a:pt x="1165890" y="2080560"/>
                  </a:lnTo>
                  <a:lnTo>
                    <a:pt x="2924034" y="1123217"/>
                  </a:lnTo>
                  <a:lnTo>
                    <a:pt x="1591589" y="0"/>
                  </a:lnTo>
                  <a:lnTo>
                    <a:pt x="0" y="810133"/>
                  </a:lnTo>
                  <a:close/>
                </a:path>
              </a:pathLst>
            </a:custGeom>
            <a:ln w="17647">
              <a:solidFill>
                <a:srgbClr val="000000"/>
              </a:solidFill>
            </a:ln>
          </p:spPr>
          <p:txBody>
            <a:bodyPr wrap="square" lIns="0" tIns="0" rIns="0" bIns="0" rtlCol="0"/>
            <a:lstStyle/>
            <a:p>
              <a:endParaRPr/>
            </a:p>
          </p:txBody>
        </p:sp>
        <p:sp>
          <p:nvSpPr>
            <p:cNvPr id="12" name="object 12"/>
            <p:cNvSpPr/>
            <p:nvPr/>
          </p:nvSpPr>
          <p:spPr>
            <a:xfrm>
              <a:off x="9150242" y="1590695"/>
              <a:ext cx="1610360" cy="826769"/>
            </a:xfrm>
            <a:custGeom>
              <a:avLst/>
              <a:gdLst/>
              <a:ahLst/>
              <a:cxnLst/>
              <a:rect l="l" t="t" r="r" b="b"/>
              <a:pathLst>
                <a:path w="1610359" h="826769">
                  <a:moveTo>
                    <a:pt x="0" y="826765"/>
                  </a:moveTo>
                  <a:lnTo>
                    <a:pt x="1610208" y="0"/>
                  </a:lnTo>
                </a:path>
              </a:pathLst>
            </a:custGeom>
            <a:ln w="16973">
              <a:solidFill>
                <a:srgbClr val="000000"/>
              </a:solidFill>
            </a:ln>
          </p:spPr>
          <p:txBody>
            <a:bodyPr wrap="square" lIns="0" tIns="0" rIns="0" bIns="0" rtlCol="0"/>
            <a:lstStyle/>
            <a:p>
              <a:endParaRPr/>
            </a:p>
          </p:txBody>
        </p:sp>
        <p:sp>
          <p:nvSpPr>
            <p:cNvPr id="13" name="object 13"/>
            <p:cNvSpPr/>
            <p:nvPr/>
          </p:nvSpPr>
          <p:spPr>
            <a:xfrm>
              <a:off x="9019062" y="2284152"/>
              <a:ext cx="1166495" cy="1473200"/>
            </a:xfrm>
            <a:custGeom>
              <a:avLst/>
              <a:gdLst/>
              <a:ahLst/>
              <a:cxnLst/>
              <a:rect l="l" t="t" r="r" b="b"/>
              <a:pathLst>
                <a:path w="1166495" h="1473200">
                  <a:moveTo>
                    <a:pt x="0" y="0"/>
                  </a:moveTo>
                  <a:lnTo>
                    <a:pt x="0" y="195392"/>
                  </a:lnTo>
                  <a:lnTo>
                    <a:pt x="1165890" y="1472738"/>
                  </a:lnTo>
                  <a:lnTo>
                    <a:pt x="1165890" y="1265793"/>
                  </a:lnTo>
                  <a:lnTo>
                    <a:pt x="0" y="0"/>
                  </a:lnTo>
                  <a:close/>
                </a:path>
              </a:pathLst>
            </a:custGeom>
            <a:solidFill>
              <a:srgbClr val="000000"/>
            </a:solidFill>
          </p:spPr>
          <p:txBody>
            <a:bodyPr wrap="square" lIns="0" tIns="0" rIns="0" bIns="0" rtlCol="0"/>
            <a:lstStyle/>
            <a:p>
              <a:endParaRPr/>
            </a:p>
          </p:txBody>
        </p:sp>
        <p:sp>
          <p:nvSpPr>
            <p:cNvPr id="14" name="object 14"/>
            <p:cNvSpPr/>
            <p:nvPr/>
          </p:nvSpPr>
          <p:spPr>
            <a:xfrm>
              <a:off x="9019062" y="2284152"/>
              <a:ext cx="1166495" cy="1473200"/>
            </a:xfrm>
            <a:custGeom>
              <a:avLst/>
              <a:gdLst/>
              <a:ahLst/>
              <a:cxnLst/>
              <a:rect l="l" t="t" r="r" b="b"/>
              <a:pathLst>
                <a:path w="1166495" h="1473200">
                  <a:moveTo>
                    <a:pt x="0" y="0"/>
                  </a:moveTo>
                  <a:lnTo>
                    <a:pt x="0" y="195391"/>
                  </a:lnTo>
                  <a:lnTo>
                    <a:pt x="1165890" y="1472738"/>
                  </a:lnTo>
                  <a:lnTo>
                    <a:pt x="1165890" y="1265793"/>
                  </a:lnTo>
                  <a:lnTo>
                    <a:pt x="0" y="0"/>
                  </a:lnTo>
                  <a:close/>
                </a:path>
              </a:pathLst>
            </a:custGeom>
            <a:ln w="19120">
              <a:solidFill>
                <a:srgbClr val="000000"/>
              </a:solidFill>
            </a:ln>
          </p:spPr>
          <p:txBody>
            <a:bodyPr wrap="square" lIns="0" tIns="0" rIns="0" bIns="0" rtlCol="0"/>
            <a:lstStyle/>
            <a:p>
              <a:endParaRPr/>
            </a:p>
          </p:txBody>
        </p:sp>
        <p:sp>
          <p:nvSpPr>
            <p:cNvPr id="15" name="object 15"/>
            <p:cNvSpPr/>
            <p:nvPr/>
          </p:nvSpPr>
          <p:spPr>
            <a:xfrm>
              <a:off x="10197648" y="2603075"/>
              <a:ext cx="1745614" cy="1151255"/>
            </a:xfrm>
            <a:custGeom>
              <a:avLst/>
              <a:gdLst/>
              <a:ahLst/>
              <a:cxnLst/>
              <a:rect l="l" t="t" r="r" b="b"/>
              <a:pathLst>
                <a:path w="1745615" h="1151254">
                  <a:moveTo>
                    <a:pt x="1745449" y="0"/>
                  </a:moveTo>
                  <a:lnTo>
                    <a:pt x="0" y="951593"/>
                  </a:lnTo>
                  <a:lnTo>
                    <a:pt x="0" y="1150641"/>
                  </a:lnTo>
                  <a:lnTo>
                    <a:pt x="1745449" y="186631"/>
                  </a:lnTo>
                  <a:lnTo>
                    <a:pt x="1745449" y="0"/>
                  </a:lnTo>
                  <a:close/>
                </a:path>
              </a:pathLst>
            </a:custGeom>
            <a:solidFill>
              <a:srgbClr val="5F5F7F"/>
            </a:solidFill>
          </p:spPr>
          <p:txBody>
            <a:bodyPr wrap="square" lIns="0" tIns="0" rIns="0" bIns="0" rtlCol="0"/>
            <a:lstStyle/>
            <a:p>
              <a:endParaRPr/>
            </a:p>
          </p:txBody>
        </p:sp>
        <p:sp>
          <p:nvSpPr>
            <p:cNvPr id="16" name="object 16"/>
            <p:cNvSpPr/>
            <p:nvPr/>
          </p:nvSpPr>
          <p:spPr>
            <a:xfrm>
              <a:off x="10197647" y="2603076"/>
              <a:ext cx="1745614" cy="1151255"/>
            </a:xfrm>
            <a:custGeom>
              <a:avLst/>
              <a:gdLst/>
              <a:ahLst/>
              <a:cxnLst/>
              <a:rect l="l" t="t" r="r" b="b"/>
              <a:pathLst>
                <a:path w="1745615" h="1151254">
                  <a:moveTo>
                    <a:pt x="1745449" y="0"/>
                  </a:moveTo>
                  <a:lnTo>
                    <a:pt x="1745449" y="186631"/>
                  </a:lnTo>
                  <a:lnTo>
                    <a:pt x="0" y="1150640"/>
                  </a:lnTo>
                  <a:lnTo>
                    <a:pt x="0" y="951592"/>
                  </a:lnTo>
                  <a:lnTo>
                    <a:pt x="1745449" y="0"/>
                  </a:lnTo>
                  <a:close/>
                </a:path>
              </a:pathLst>
            </a:custGeom>
            <a:ln w="17471">
              <a:solidFill>
                <a:srgbClr val="000000"/>
              </a:solidFill>
            </a:ln>
          </p:spPr>
          <p:txBody>
            <a:bodyPr wrap="square" lIns="0" tIns="0" rIns="0" bIns="0" rtlCol="0"/>
            <a:lstStyle/>
            <a:p>
              <a:endParaRPr/>
            </a:p>
          </p:txBody>
        </p:sp>
        <p:sp>
          <p:nvSpPr>
            <p:cNvPr id="17" name="object 17"/>
            <p:cNvSpPr/>
            <p:nvPr/>
          </p:nvSpPr>
          <p:spPr>
            <a:xfrm>
              <a:off x="8997905" y="1620785"/>
              <a:ext cx="2909570" cy="1933575"/>
            </a:xfrm>
            <a:custGeom>
              <a:avLst/>
              <a:gdLst/>
              <a:ahLst/>
              <a:cxnLst/>
              <a:rect l="l" t="t" r="r" b="b"/>
              <a:pathLst>
                <a:path w="2909570" h="1933575">
                  <a:moveTo>
                    <a:pt x="1600390" y="0"/>
                  </a:moveTo>
                  <a:lnTo>
                    <a:pt x="0" y="859901"/>
                  </a:lnTo>
                  <a:lnTo>
                    <a:pt x="1308747" y="1932969"/>
                  </a:lnTo>
                  <a:lnTo>
                    <a:pt x="2909308" y="1072178"/>
                  </a:lnTo>
                  <a:lnTo>
                    <a:pt x="1600390" y="0"/>
                  </a:lnTo>
                  <a:close/>
                </a:path>
              </a:pathLst>
            </a:custGeom>
            <a:solidFill>
              <a:srgbClr val="FFFFFF"/>
            </a:solidFill>
          </p:spPr>
          <p:txBody>
            <a:bodyPr wrap="square" lIns="0" tIns="0" rIns="0" bIns="0" rtlCol="0"/>
            <a:lstStyle/>
            <a:p>
              <a:endParaRPr/>
            </a:p>
          </p:txBody>
        </p:sp>
        <p:sp>
          <p:nvSpPr>
            <p:cNvPr id="18" name="object 18"/>
            <p:cNvSpPr/>
            <p:nvPr/>
          </p:nvSpPr>
          <p:spPr>
            <a:xfrm>
              <a:off x="8997905" y="1620785"/>
              <a:ext cx="2909570" cy="1933575"/>
            </a:xfrm>
            <a:custGeom>
              <a:avLst/>
              <a:gdLst/>
              <a:ahLst/>
              <a:cxnLst/>
              <a:rect l="l" t="t" r="r" b="b"/>
              <a:pathLst>
                <a:path w="2909570" h="1933575">
                  <a:moveTo>
                    <a:pt x="0" y="859901"/>
                  </a:moveTo>
                  <a:lnTo>
                    <a:pt x="1308748" y="1932969"/>
                  </a:lnTo>
                  <a:lnTo>
                    <a:pt x="2909308" y="1072179"/>
                  </a:lnTo>
                  <a:lnTo>
                    <a:pt x="1600390" y="0"/>
                  </a:lnTo>
                  <a:lnTo>
                    <a:pt x="0" y="859901"/>
                  </a:lnTo>
                  <a:close/>
                </a:path>
              </a:pathLst>
            </a:custGeom>
            <a:ln w="17489">
              <a:solidFill>
                <a:srgbClr val="000000"/>
              </a:solidFill>
            </a:ln>
          </p:spPr>
          <p:txBody>
            <a:bodyPr wrap="square" lIns="0" tIns="0" rIns="0" bIns="0" rtlCol="0"/>
            <a:lstStyle/>
            <a:p>
              <a:endParaRPr/>
            </a:p>
          </p:txBody>
        </p:sp>
        <p:sp>
          <p:nvSpPr>
            <p:cNvPr id="19" name="object 19"/>
            <p:cNvSpPr/>
            <p:nvPr/>
          </p:nvSpPr>
          <p:spPr>
            <a:xfrm>
              <a:off x="9503146" y="2033932"/>
              <a:ext cx="2436938" cy="1727879"/>
            </a:xfrm>
            <a:prstGeom prst="rect">
              <a:avLst/>
            </a:prstGeom>
            <a:blipFill>
              <a:blip r:embed="rId3" cstate="print"/>
              <a:stretch>
                <a:fillRect/>
              </a:stretch>
            </a:blipFill>
          </p:spPr>
          <p:txBody>
            <a:bodyPr wrap="square" lIns="0" tIns="0" rIns="0" bIns="0" rtlCol="0"/>
            <a:lstStyle/>
            <a:p>
              <a:endParaRPr/>
            </a:p>
          </p:txBody>
        </p:sp>
        <p:sp>
          <p:nvSpPr>
            <p:cNvPr id="20" name="object 20"/>
            <p:cNvSpPr/>
            <p:nvPr/>
          </p:nvSpPr>
          <p:spPr>
            <a:xfrm>
              <a:off x="9019062" y="1471606"/>
              <a:ext cx="2924175" cy="2080895"/>
            </a:xfrm>
            <a:custGeom>
              <a:avLst/>
              <a:gdLst/>
              <a:ahLst/>
              <a:cxnLst/>
              <a:rect l="l" t="t" r="r" b="b"/>
              <a:pathLst>
                <a:path w="2924175" h="2080895">
                  <a:moveTo>
                    <a:pt x="1591589" y="0"/>
                  </a:moveTo>
                  <a:lnTo>
                    <a:pt x="0" y="810134"/>
                  </a:lnTo>
                  <a:lnTo>
                    <a:pt x="1165890" y="2080560"/>
                  </a:lnTo>
                  <a:lnTo>
                    <a:pt x="2924035" y="1123218"/>
                  </a:lnTo>
                  <a:lnTo>
                    <a:pt x="1591589" y="0"/>
                  </a:lnTo>
                  <a:close/>
                </a:path>
              </a:pathLst>
            </a:custGeom>
            <a:solidFill>
              <a:srgbClr val="C0C0C0"/>
            </a:solidFill>
          </p:spPr>
          <p:txBody>
            <a:bodyPr wrap="square" lIns="0" tIns="0" rIns="0" bIns="0" rtlCol="0"/>
            <a:lstStyle/>
            <a:p>
              <a:endParaRPr/>
            </a:p>
          </p:txBody>
        </p:sp>
        <p:sp>
          <p:nvSpPr>
            <p:cNvPr id="21" name="object 21"/>
            <p:cNvSpPr/>
            <p:nvPr/>
          </p:nvSpPr>
          <p:spPr>
            <a:xfrm>
              <a:off x="9019062" y="1471607"/>
              <a:ext cx="2924175" cy="2080895"/>
            </a:xfrm>
            <a:custGeom>
              <a:avLst/>
              <a:gdLst/>
              <a:ahLst/>
              <a:cxnLst/>
              <a:rect l="l" t="t" r="r" b="b"/>
              <a:pathLst>
                <a:path w="2924175" h="2080895">
                  <a:moveTo>
                    <a:pt x="0" y="810133"/>
                  </a:moveTo>
                  <a:lnTo>
                    <a:pt x="1165890" y="2080560"/>
                  </a:lnTo>
                  <a:lnTo>
                    <a:pt x="2924034" y="1123217"/>
                  </a:lnTo>
                  <a:lnTo>
                    <a:pt x="1591589" y="0"/>
                  </a:lnTo>
                  <a:lnTo>
                    <a:pt x="0" y="810133"/>
                  </a:lnTo>
                  <a:close/>
                </a:path>
              </a:pathLst>
            </a:custGeom>
            <a:ln w="17647">
              <a:solidFill>
                <a:srgbClr val="000000"/>
              </a:solidFill>
            </a:ln>
          </p:spPr>
          <p:txBody>
            <a:bodyPr wrap="square" lIns="0" tIns="0" rIns="0" bIns="0" rtlCol="0"/>
            <a:lstStyle/>
            <a:p>
              <a:endParaRPr/>
            </a:p>
          </p:txBody>
        </p:sp>
        <p:sp>
          <p:nvSpPr>
            <p:cNvPr id="22" name="object 22"/>
            <p:cNvSpPr/>
            <p:nvPr/>
          </p:nvSpPr>
          <p:spPr>
            <a:xfrm>
              <a:off x="9150242" y="1590695"/>
              <a:ext cx="1610360" cy="826769"/>
            </a:xfrm>
            <a:custGeom>
              <a:avLst/>
              <a:gdLst/>
              <a:ahLst/>
              <a:cxnLst/>
              <a:rect l="l" t="t" r="r" b="b"/>
              <a:pathLst>
                <a:path w="1610359" h="826769">
                  <a:moveTo>
                    <a:pt x="0" y="826765"/>
                  </a:moveTo>
                  <a:lnTo>
                    <a:pt x="1610208" y="0"/>
                  </a:lnTo>
                </a:path>
              </a:pathLst>
            </a:custGeom>
            <a:ln w="16973">
              <a:solidFill>
                <a:srgbClr val="000000"/>
              </a:solidFill>
            </a:ln>
          </p:spPr>
          <p:txBody>
            <a:bodyPr wrap="square" lIns="0" tIns="0" rIns="0" bIns="0" rtlCol="0"/>
            <a:lstStyle/>
            <a:p>
              <a:endParaRPr/>
            </a:p>
          </p:txBody>
        </p:sp>
        <p:sp>
          <p:nvSpPr>
            <p:cNvPr id="23" name="object 23"/>
            <p:cNvSpPr/>
            <p:nvPr/>
          </p:nvSpPr>
          <p:spPr>
            <a:xfrm>
              <a:off x="9019062" y="2284152"/>
              <a:ext cx="1166495" cy="1473200"/>
            </a:xfrm>
            <a:custGeom>
              <a:avLst/>
              <a:gdLst/>
              <a:ahLst/>
              <a:cxnLst/>
              <a:rect l="l" t="t" r="r" b="b"/>
              <a:pathLst>
                <a:path w="1166495" h="1473200">
                  <a:moveTo>
                    <a:pt x="0" y="0"/>
                  </a:moveTo>
                  <a:lnTo>
                    <a:pt x="0" y="195392"/>
                  </a:lnTo>
                  <a:lnTo>
                    <a:pt x="1165890" y="1472738"/>
                  </a:lnTo>
                  <a:lnTo>
                    <a:pt x="1165890" y="1265793"/>
                  </a:lnTo>
                  <a:lnTo>
                    <a:pt x="0" y="0"/>
                  </a:lnTo>
                  <a:close/>
                </a:path>
              </a:pathLst>
            </a:custGeom>
            <a:solidFill>
              <a:srgbClr val="000000"/>
            </a:solidFill>
          </p:spPr>
          <p:txBody>
            <a:bodyPr wrap="square" lIns="0" tIns="0" rIns="0" bIns="0" rtlCol="0"/>
            <a:lstStyle/>
            <a:p>
              <a:endParaRPr/>
            </a:p>
          </p:txBody>
        </p:sp>
        <p:sp>
          <p:nvSpPr>
            <p:cNvPr id="24" name="object 24"/>
            <p:cNvSpPr/>
            <p:nvPr/>
          </p:nvSpPr>
          <p:spPr>
            <a:xfrm>
              <a:off x="9019062" y="2284152"/>
              <a:ext cx="1166495" cy="1473200"/>
            </a:xfrm>
            <a:custGeom>
              <a:avLst/>
              <a:gdLst/>
              <a:ahLst/>
              <a:cxnLst/>
              <a:rect l="l" t="t" r="r" b="b"/>
              <a:pathLst>
                <a:path w="1166495" h="1473200">
                  <a:moveTo>
                    <a:pt x="0" y="0"/>
                  </a:moveTo>
                  <a:lnTo>
                    <a:pt x="0" y="195391"/>
                  </a:lnTo>
                  <a:lnTo>
                    <a:pt x="1165890" y="1472738"/>
                  </a:lnTo>
                  <a:lnTo>
                    <a:pt x="1165890" y="1265793"/>
                  </a:lnTo>
                  <a:lnTo>
                    <a:pt x="0" y="0"/>
                  </a:lnTo>
                  <a:close/>
                </a:path>
              </a:pathLst>
            </a:custGeom>
            <a:ln w="19120">
              <a:solidFill>
                <a:srgbClr val="000000"/>
              </a:solidFill>
            </a:ln>
          </p:spPr>
          <p:txBody>
            <a:bodyPr wrap="square" lIns="0" tIns="0" rIns="0" bIns="0" rtlCol="0"/>
            <a:lstStyle/>
            <a:p>
              <a:endParaRPr/>
            </a:p>
          </p:txBody>
        </p:sp>
        <p:sp>
          <p:nvSpPr>
            <p:cNvPr id="25" name="object 25"/>
            <p:cNvSpPr/>
            <p:nvPr/>
          </p:nvSpPr>
          <p:spPr>
            <a:xfrm>
              <a:off x="10197648" y="2603075"/>
              <a:ext cx="1745614" cy="1151255"/>
            </a:xfrm>
            <a:custGeom>
              <a:avLst/>
              <a:gdLst/>
              <a:ahLst/>
              <a:cxnLst/>
              <a:rect l="l" t="t" r="r" b="b"/>
              <a:pathLst>
                <a:path w="1745615" h="1151254">
                  <a:moveTo>
                    <a:pt x="1745449" y="0"/>
                  </a:moveTo>
                  <a:lnTo>
                    <a:pt x="0" y="951593"/>
                  </a:lnTo>
                  <a:lnTo>
                    <a:pt x="0" y="1150641"/>
                  </a:lnTo>
                  <a:lnTo>
                    <a:pt x="1745449" y="186631"/>
                  </a:lnTo>
                  <a:lnTo>
                    <a:pt x="1745449" y="0"/>
                  </a:lnTo>
                  <a:close/>
                </a:path>
              </a:pathLst>
            </a:custGeom>
            <a:solidFill>
              <a:srgbClr val="5F5F7F"/>
            </a:solidFill>
          </p:spPr>
          <p:txBody>
            <a:bodyPr wrap="square" lIns="0" tIns="0" rIns="0" bIns="0" rtlCol="0"/>
            <a:lstStyle/>
            <a:p>
              <a:endParaRPr/>
            </a:p>
          </p:txBody>
        </p:sp>
        <p:sp>
          <p:nvSpPr>
            <p:cNvPr id="26" name="object 26"/>
            <p:cNvSpPr/>
            <p:nvPr/>
          </p:nvSpPr>
          <p:spPr>
            <a:xfrm>
              <a:off x="10197647" y="2603076"/>
              <a:ext cx="1745614" cy="1151255"/>
            </a:xfrm>
            <a:custGeom>
              <a:avLst/>
              <a:gdLst/>
              <a:ahLst/>
              <a:cxnLst/>
              <a:rect l="l" t="t" r="r" b="b"/>
              <a:pathLst>
                <a:path w="1745615" h="1151254">
                  <a:moveTo>
                    <a:pt x="1745449" y="0"/>
                  </a:moveTo>
                  <a:lnTo>
                    <a:pt x="1745449" y="186631"/>
                  </a:lnTo>
                  <a:lnTo>
                    <a:pt x="0" y="1150640"/>
                  </a:lnTo>
                  <a:lnTo>
                    <a:pt x="0" y="951592"/>
                  </a:lnTo>
                  <a:lnTo>
                    <a:pt x="1745449" y="0"/>
                  </a:lnTo>
                  <a:close/>
                </a:path>
              </a:pathLst>
            </a:custGeom>
            <a:ln w="17471">
              <a:solidFill>
                <a:srgbClr val="000000"/>
              </a:solidFill>
            </a:ln>
          </p:spPr>
          <p:txBody>
            <a:bodyPr wrap="square" lIns="0" tIns="0" rIns="0" bIns="0" rtlCol="0"/>
            <a:lstStyle/>
            <a:p>
              <a:endParaRPr/>
            </a:p>
          </p:txBody>
        </p:sp>
        <p:sp>
          <p:nvSpPr>
            <p:cNvPr id="27" name="object 27"/>
            <p:cNvSpPr/>
            <p:nvPr/>
          </p:nvSpPr>
          <p:spPr>
            <a:xfrm>
              <a:off x="9019062" y="1471606"/>
              <a:ext cx="2924175" cy="2080895"/>
            </a:xfrm>
            <a:custGeom>
              <a:avLst/>
              <a:gdLst/>
              <a:ahLst/>
              <a:cxnLst/>
              <a:rect l="l" t="t" r="r" b="b"/>
              <a:pathLst>
                <a:path w="2924175" h="2080895">
                  <a:moveTo>
                    <a:pt x="1591589" y="0"/>
                  </a:moveTo>
                  <a:lnTo>
                    <a:pt x="0" y="810134"/>
                  </a:lnTo>
                  <a:lnTo>
                    <a:pt x="1165890" y="2080560"/>
                  </a:lnTo>
                  <a:lnTo>
                    <a:pt x="2924035" y="1123218"/>
                  </a:lnTo>
                  <a:lnTo>
                    <a:pt x="1591589" y="0"/>
                  </a:lnTo>
                  <a:close/>
                </a:path>
              </a:pathLst>
            </a:custGeom>
            <a:solidFill>
              <a:srgbClr val="C0C0C0"/>
            </a:solidFill>
          </p:spPr>
          <p:txBody>
            <a:bodyPr wrap="square" lIns="0" tIns="0" rIns="0" bIns="0" rtlCol="0"/>
            <a:lstStyle/>
            <a:p>
              <a:endParaRPr/>
            </a:p>
          </p:txBody>
        </p:sp>
        <p:sp>
          <p:nvSpPr>
            <p:cNvPr id="28" name="object 28"/>
            <p:cNvSpPr/>
            <p:nvPr/>
          </p:nvSpPr>
          <p:spPr>
            <a:xfrm>
              <a:off x="9019062" y="1471607"/>
              <a:ext cx="2924175" cy="2080895"/>
            </a:xfrm>
            <a:custGeom>
              <a:avLst/>
              <a:gdLst/>
              <a:ahLst/>
              <a:cxnLst/>
              <a:rect l="l" t="t" r="r" b="b"/>
              <a:pathLst>
                <a:path w="2924175" h="2080895">
                  <a:moveTo>
                    <a:pt x="0" y="810133"/>
                  </a:moveTo>
                  <a:lnTo>
                    <a:pt x="1165890" y="2080560"/>
                  </a:lnTo>
                  <a:lnTo>
                    <a:pt x="2924034" y="1123217"/>
                  </a:lnTo>
                  <a:lnTo>
                    <a:pt x="1591589" y="0"/>
                  </a:lnTo>
                  <a:lnTo>
                    <a:pt x="0" y="810133"/>
                  </a:lnTo>
                  <a:close/>
                </a:path>
              </a:pathLst>
            </a:custGeom>
            <a:ln w="17647">
              <a:solidFill>
                <a:srgbClr val="000000"/>
              </a:solidFill>
            </a:ln>
          </p:spPr>
          <p:txBody>
            <a:bodyPr wrap="square" lIns="0" tIns="0" rIns="0" bIns="0" rtlCol="0"/>
            <a:lstStyle/>
            <a:p>
              <a:endParaRPr/>
            </a:p>
          </p:txBody>
        </p:sp>
        <p:sp>
          <p:nvSpPr>
            <p:cNvPr id="29" name="object 29"/>
            <p:cNvSpPr/>
            <p:nvPr/>
          </p:nvSpPr>
          <p:spPr>
            <a:xfrm>
              <a:off x="9150242" y="1590695"/>
              <a:ext cx="1610360" cy="826769"/>
            </a:xfrm>
            <a:custGeom>
              <a:avLst/>
              <a:gdLst/>
              <a:ahLst/>
              <a:cxnLst/>
              <a:rect l="l" t="t" r="r" b="b"/>
              <a:pathLst>
                <a:path w="1610359" h="826769">
                  <a:moveTo>
                    <a:pt x="0" y="826765"/>
                  </a:moveTo>
                  <a:lnTo>
                    <a:pt x="1610208" y="0"/>
                  </a:lnTo>
                </a:path>
              </a:pathLst>
            </a:custGeom>
            <a:ln w="16973">
              <a:solidFill>
                <a:srgbClr val="000000"/>
              </a:solidFill>
            </a:ln>
          </p:spPr>
          <p:txBody>
            <a:bodyPr wrap="square" lIns="0" tIns="0" rIns="0" bIns="0" rtlCol="0"/>
            <a:lstStyle/>
            <a:p>
              <a:endParaRPr/>
            </a:p>
          </p:txBody>
        </p:sp>
        <p:sp>
          <p:nvSpPr>
            <p:cNvPr id="30" name="object 30"/>
            <p:cNvSpPr/>
            <p:nvPr/>
          </p:nvSpPr>
          <p:spPr>
            <a:xfrm>
              <a:off x="9019062" y="2284152"/>
              <a:ext cx="1166495" cy="1473200"/>
            </a:xfrm>
            <a:custGeom>
              <a:avLst/>
              <a:gdLst/>
              <a:ahLst/>
              <a:cxnLst/>
              <a:rect l="l" t="t" r="r" b="b"/>
              <a:pathLst>
                <a:path w="1166495" h="1473200">
                  <a:moveTo>
                    <a:pt x="0" y="0"/>
                  </a:moveTo>
                  <a:lnTo>
                    <a:pt x="0" y="195392"/>
                  </a:lnTo>
                  <a:lnTo>
                    <a:pt x="1165890" y="1472738"/>
                  </a:lnTo>
                  <a:lnTo>
                    <a:pt x="1165890" y="1265793"/>
                  </a:lnTo>
                  <a:lnTo>
                    <a:pt x="0" y="0"/>
                  </a:lnTo>
                  <a:close/>
                </a:path>
              </a:pathLst>
            </a:custGeom>
            <a:solidFill>
              <a:srgbClr val="000000"/>
            </a:solidFill>
          </p:spPr>
          <p:txBody>
            <a:bodyPr wrap="square" lIns="0" tIns="0" rIns="0" bIns="0" rtlCol="0"/>
            <a:lstStyle/>
            <a:p>
              <a:endParaRPr/>
            </a:p>
          </p:txBody>
        </p:sp>
        <p:sp>
          <p:nvSpPr>
            <p:cNvPr id="31" name="object 31"/>
            <p:cNvSpPr/>
            <p:nvPr/>
          </p:nvSpPr>
          <p:spPr>
            <a:xfrm>
              <a:off x="9019062" y="2284152"/>
              <a:ext cx="1166495" cy="1473200"/>
            </a:xfrm>
            <a:custGeom>
              <a:avLst/>
              <a:gdLst/>
              <a:ahLst/>
              <a:cxnLst/>
              <a:rect l="l" t="t" r="r" b="b"/>
              <a:pathLst>
                <a:path w="1166495" h="1473200">
                  <a:moveTo>
                    <a:pt x="0" y="0"/>
                  </a:moveTo>
                  <a:lnTo>
                    <a:pt x="0" y="195391"/>
                  </a:lnTo>
                  <a:lnTo>
                    <a:pt x="1165890" y="1472738"/>
                  </a:lnTo>
                  <a:lnTo>
                    <a:pt x="1165890" y="1265793"/>
                  </a:lnTo>
                  <a:lnTo>
                    <a:pt x="0" y="0"/>
                  </a:lnTo>
                  <a:close/>
                </a:path>
              </a:pathLst>
            </a:custGeom>
            <a:ln w="19120">
              <a:solidFill>
                <a:srgbClr val="000000"/>
              </a:solidFill>
            </a:ln>
          </p:spPr>
          <p:txBody>
            <a:bodyPr wrap="square" lIns="0" tIns="0" rIns="0" bIns="0" rtlCol="0"/>
            <a:lstStyle/>
            <a:p>
              <a:endParaRPr/>
            </a:p>
          </p:txBody>
        </p:sp>
        <p:sp>
          <p:nvSpPr>
            <p:cNvPr id="32" name="object 32"/>
            <p:cNvSpPr/>
            <p:nvPr/>
          </p:nvSpPr>
          <p:spPr>
            <a:xfrm>
              <a:off x="10197648" y="2603075"/>
              <a:ext cx="1745614" cy="1151255"/>
            </a:xfrm>
            <a:custGeom>
              <a:avLst/>
              <a:gdLst/>
              <a:ahLst/>
              <a:cxnLst/>
              <a:rect l="l" t="t" r="r" b="b"/>
              <a:pathLst>
                <a:path w="1745615" h="1151254">
                  <a:moveTo>
                    <a:pt x="1745449" y="0"/>
                  </a:moveTo>
                  <a:lnTo>
                    <a:pt x="0" y="951593"/>
                  </a:lnTo>
                  <a:lnTo>
                    <a:pt x="0" y="1150641"/>
                  </a:lnTo>
                  <a:lnTo>
                    <a:pt x="1745449" y="186631"/>
                  </a:lnTo>
                  <a:lnTo>
                    <a:pt x="1745449" y="0"/>
                  </a:lnTo>
                  <a:close/>
                </a:path>
              </a:pathLst>
            </a:custGeom>
            <a:solidFill>
              <a:srgbClr val="5F5F7F"/>
            </a:solidFill>
          </p:spPr>
          <p:txBody>
            <a:bodyPr wrap="square" lIns="0" tIns="0" rIns="0" bIns="0" rtlCol="0"/>
            <a:lstStyle/>
            <a:p>
              <a:endParaRPr/>
            </a:p>
          </p:txBody>
        </p:sp>
        <p:sp>
          <p:nvSpPr>
            <p:cNvPr id="33" name="object 33"/>
            <p:cNvSpPr/>
            <p:nvPr/>
          </p:nvSpPr>
          <p:spPr>
            <a:xfrm>
              <a:off x="10197647" y="2603076"/>
              <a:ext cx="1745614" cy="1151255"/>
            </a:xfrm>
            <a:custGeom>
              <a:avLst/>
              <a:gdLst/>
              <a:ahLst/>
              <a:cxnLst/>
              <a:rect l="l" t="t" r="r" b="b"/>
              <a:pathLst>
                <a:path w="1745615" h="1151254">
                  <a:moveTo>
                    <a:pt x="1745449" y="0"/>
                  </a:moveTo>
                  <a:lnTo>
                    <a:pt x="1745449" y="186631"/>
                  </a:lnTo>
                  <a:lnTo>
                    <a:pt x="0" y="1150640"/>
                  </a:lnTo>
                  <a:lnTo>
                    <a:pt x="0" y="951592"/>
                  </a:lnTo>
                  <a:lnTo>
                    <a:pt x="1745449" y="0"/>
                  </a:lnTo>
                  <a:close/>
                </a:path>
              </a:pathLst>
            </a:custGeom>
            <a:ln w="17471">
              <a:solidFill>
                <a:srgbClr val="000000"/>
              </a:solidFill>
            </a:ln>
          </p:spPr>
          <p:txBody>
            <a:bodyPr wrap="square" lIns="0" tIns="0" rIns="0" bIns="0" rtlCol="0"/>
            <a:lstStyle/>
            <a:p>
              <a:endParaRPr/>
            </a:p>
          </p:txBody>
        </p:sp>
        <p:sp>
          <p:nvSpPr>
            <p:cNvPr id="34" name="object 34"/>
            <p:cNvSpPr/>
            <p:nvPr/>
          </p:nvSpPr>
          <p:spPr>
            <a:xfrm>
              <a:off x="8997905" y="1620785"/>
              <a:ext cx="2909570" cy="1933575"/>
            </a:xfrm>
            <a:custGeom>
              <a:avLst/>
              <a:gdLst/>
              <a:ahLst/>
              <a:cxnLst/>
              <a:rect l="l" t="t" r="r" b="b"/>
              <a:pathLst>
                <a:path w="2909570" h="1933575">
                  <a:moveTo>
                    <a:pt x="1600390" y="0"/>
                  </a:moveTo>
                  <a:lnTo>
                    <a:pt x="0" y="859901"/>
                  </a:lnTo>
                  <a:lnTo>
                    <a:pt x="1308747" y="1932969"/>
                  </a:lnTo>
                  <a:lnTo>
                    <a:pt x="2909308" y="1072178"/>
                  </a:lnTo>
                  <a:lnTo>
                    <a:pt x="1600390" y="0"/>
                  </a:lnTo>
                  <a:close/>
                </a:path>
              </a:pathLst>
            </a:custGeom>
            <a:solidFill>
              <a:srgbClr val="FFFFFF"/>
            </a:solidFill>
          </p:spPr>
          <p:txBody>
            <a:bodyPr wrap="square" lIns="0" tIns="0" rIns="0" bIns="0" rtlCol="0"/>
            <a:lstStyle/>
            <a:p>
              <a:endParaRPr/>
            </a:p>
          </p:txBody>
        </p:sp>
        <p:sp>
          <p:nvSpPr>
            <p:cNvPr id="35" name="object 35"/>
            <p:cNvSpPr/>
            <p:nvPr/>
          </p:nvSpPr>
          <p:spPr>
            <a:xfrm>
              <a:off x="8997905" y="1620785"/>
              <a:ext cx="2909570" cy="1933575"/>
            </a:xfrm>
            <a:custGeom>
              <a:avLst/>
              <a:gdLst/>
              <a:ahLst/>
              <a:cxnLst/>
              <a:rect l="l" t="t" r="r" b="b"/>
              <a:pathLst>
                <a:path w="2909570" h="1933575">
                  <a:moveTo>
                    <a:pt x="0" y="859901"/>
                  </a:moveTo>
                  <a:lnTo>
                    <a:pt x="1308748" y="1932969"/>
                  </a:lnTo>
                  <a:lnTo>
                    <a:pt x="2909308" y="1072179"/>
                  </a:lnTo>
                  <a:lnTo>
                    <a:pt x="1600390" y="0"/>
                  </a:lnTo>
                  <a:lnTo>
                    <a:pt x="0" y="859901"/>
                  </a:lnTo>
                  <a:close/>
                </a:path>
              </a:pathLst>
            </a:custGeom>
            <a:ln w="17489">
              <a:solidFill>
                <a:srgbClr val="000000"/>
              </a:solidFill>
            </a:ln>
          </p:spPr>
          <p:txBody>
            <a:bodyPr wrap="square" lIns="0" tIns="0" rIns="0" bIns="0" rtlCol="0"/>
            <a:lstStyle/>
            <a:p>
              <a:endParaRPr/>
            </a:p>
          </p:txBody>
        </p:sp>
        <p:sp>
          <p:nvSpPr>
            <p:cNvPr id="36" name="object 36"/>
            <p:cNvSpPr/>
            <p:nvPr/>
          </p:nvSpPr>
          <p:spPr>
            <a:xfrm>
              <a:off x="10328827" y="2655511"/>
              <a:ext cx="427990" cy="257175"/>
            </a:xfrm>
            <a:custGeom>
              <a:avLst/>
              <a:gdLst/>
              <a:ahLst/>
              <a:cxnLst/>
              <a:rect l="l" t="t" r="r" b="b"/>
              <a:pathLst>
                <a:path w="427990" h="257175">
                  <a:moveTo>
                    <a:pt x="333281" y="0"/>
                  </a:moveTo>
                  <a:lnTo>
                    <a:pt x="300951" y="0"/>
                  </a:lnTo>
                  <a:lnTo>
                    <a:pt x="264728" y="1776"/>
                  </a:lnTo>
                  <a:lnTo>
                    <a:pt x="226983" y="7998"/>
                  </a:lnTo>
                  <a:lnTo>
                    <a:pt x="151829" y="33008"/>
                  </a:lnTo>
                  <a:lnTo>
                    <a:pt x="85986" y="68685"/>
                  </a:lnTo>
                  <a:lnTo>
                    <a:pt x="33514" y="112486"/>
                  </a:lnTo>
                  <a:lnTo>
                    <a:pt x="6601" y="157049"/>
                  </a:lnTo>
                  <a:lnTo>
                    <a:pt x="0" y="198184"/>
                  </a:lnTo>
                  <a:lnTo>
                    <a:pt x="7955" y="216974"/>
                  </a:lnTo>
                  <a:lnTo>
                    <a:pt x="21496" y="231194"/>
                  </a:lnTo>
                  <a:lnTo>
                    <a:pt x="41638" y="243762"/>
                  </a:lnTo>
                  <a:lnTo>
                    <a:pt x="67198" y="251762"/>
                  </a:lnTo>
                  <a:lnTo>
                    <a:pt x="95295" y="257093"/>
                  </a:lnTo>
                  <a:lnTo>
                    <a:pt x="127624" y="257093"/>
                  </a:lnTo>
                  <a:lnTo>
                    <a:pt x="200239" y="248206"/>
                  </a:lnTo>
                  <a:lnTo>
                    <a:pt x="237816" y="238304"/>
                  </a:lnTo>
                  <a:lnTo>
                    <a:pt x="275391" y="224083"/>
                  </a:lnTo>
                  <a:lnTo>
                    <a:pt x="342590" y="188408"/>
                  </a:lnTo>
                  <a:lnTo>
                    <a:pt x="395062" y="143718"/>
                  </a:lnTo>
                  <a:lnTo>
                    <a:pt x="420621" y="99028"/>
                  </a:lnTo>
                  <a:lnTo>
                    <a:pt x="427391" y="58019"/>
                  </a:lnTo>
                  <a:lnTo>
                    <a:pt x="419266" y="39230"/>
                  </a:lnTo>
                  <a:lnTo>
                    <a:pt x="405725" y="25010"/>
                  </a:lnTo>
                  <a:lnTo>
                    <a:pt x="385583" y="12440"/>
                  </a:lnTo>
                  <a:lnTo>
                    <a:pt x="361378" y="5331"/>
                  </a:lnTo>
                  <a:lnTo>
                    <a:pt x="333281" y="0"/>
                  </a:lnTo>
                  <a:close/>
                </a:path>
              </a:pathLst>
            </a:custGeom>
            <a:solidFill>
              <a:srgbClr val="FFFFFF"/>
            </a:solidFill>
          </p:spPr>
          <p:txBody>
            <a:bodyPr wrap="square" lIns="0" tIns="0" rIns="0" bIns="0" rtlCol="0"/>
            <a:lstStyle/>
            <a:p>
              <a:endParaRPr/>
            </a:p>
          </p:txBody>
        </p:sp>
        <p:sp>
          <p:nvSpPr>
            <p:cNvPr id="37" name="object 37"/>
            <p:cNvSpPr/>
            <p:nvPr/>
          </p:nvSpPr>
          <p:spPr>
            <a:xfrm>
              <a:off x="10328826" y="2655511"/>
              <a:ext cx="427990" cy="257175"/>
            </a:xfrm>
            <a:custGeom>
              <a:avLst/>
              <a:gdLst/>
              <a:ahLst/>
              <a:cxnLst/>
              <a:rect l="l" t="t" r="r" b="b"/>
              <a:pathLst>
                <a:path w="427990" h="257175">
                  <a:moveTo>
                    <a:pt x="405725" y="25011"/>
                  </a:moveTo>
                  <a:lnTo>
                    <a:pt x="385583" y="12442"/>
                  </a:lnTo>
                  <a:lnTo>
                    <a:pt x="361378" y="5332"/>
                  </a:lnTo>
                  <a:lnTo>
                    <a:pt x="333280" y="0"/>
                  </a:lnTo>
                  <a:lnTo>
                    <a:pt x="300951" y="0"/>
                  </a:lnTo>
                  <a:lnTo>
                    <a:pt x="226982" y="7998"/>
                  </a:lnTo>
                  <a:lnTo>
                    <a:pt x="151829" y="33009"/>
                  </a:lnTo>
                  <a:lnTo>
                    <a:pt x="85986" y="68685"/>
                  </a:lnTo>
                  <a:lnTo>
                    <a:pt x="33514" y="112486"/>
                  </a:lnTo>
                  <a:lnTo>
                    <a:pt x="6601" y="157049"/>
                  </a:lnTo>
                  <a:lnTo>
                    <a:pt x="0" y="198184"/>
                  </a:lnTo>
                  <a:lnTo>
                    <a:pt x="7955" y="216975"/>
                  </a:lnTo>
                  <a:lnTo>
                    <a:pt x="21496" y="231194"/>
                  </a:lnTo>
                  <a:lnTo>
                    <a:pt x="41638" y="243763"/>
                  </a:lnTo>
                  <a:lnTo>
                    <a:pt x="67197" y="251762"/>
                  </a:lnTo>
                  <a:lnTo>
                    <a:pt x="95295" y="257094"/>
                  </a:lnTo>
                  <a:lnTo>
                    <a:pt x="127625" y="257094"/>
                  </a:lnTo>
                  <a:lnTo>
                    <a:pt x="200239" y="248207"/>
                  </a:lnTo>
                  <a:lnTo>
                    <a:pt x="237815" y="238304"/>
                  </a:lnTo>
                  <a:lnTo>
                    <a:pt x="275392" y="224084"/>
                  </a:lnTo>
                  <a:lnTo>
                    <a:pt x="342590" y="188408"/>
                  </a:lnTo>
                  <a:lnTo>
                    <a:pt x="395062" y="143718"/>
                  </a:lnTo>
                  <a:lnTo>
                    <a:pt x="420620" y="99028"/>
                  </a:lnTo>
                  <a:lnTo>
                    <a:pt x="427391" y="58020"/>
                  </a:lnTo>
                  <a:lnTo>
                    <a:pt x="419266" y="39230"/>
                  </a:lnTo>
                  <a:lnTo>
                    <a:pt x="405725" y="25011"/>
                  </a:lnTo>
                  <a:close/>
                </a:path>
              </a:pathLst>
            </a:custGeom>
            <a:ln w="17275">
              <a:solidFill>
                <a:srgbClr val="000000"/>
              </a:solidFill>
            </a:ln>
          </p:spPr>
          <p:txBody>
            <a:bodyPr wrap="square" lIns="0" tIns="0" rIns="0" bIns="0" rtlCol="0"/>
            <a:lstStyle/>
            <a:p>
              <a:endParaRPr/>
            </a:p>
          </p:txBody>
        </p:sp>
        <p:sp>
          <p:nvSpPr>
            <p:cNvPr id="38" name="object 38"/>
            <p:cNvSpPr/>
            <p:nvPr/>
          </p:nvSpPr>
          <p:spPr>
            <a:xfrm>
              <a:off x="10563595" y="2042928"/>
              <a:ext cx="431800" cy="265430"/>
            </a:xfrm>
            <a:custGeom>
              <a:avLst/>
              <a:gdLst/>
              <a:ahLst/>
              <a:cxnLst/>
              <a:rect l="l" t="t" r="r" b="b"/>
              <a:pathLst>
                <a:path w="431800" h="265430">
                  <a:moveTo>
                    <a:pt x="297228" y="0"/>
                  </a:moveTo>
                  <a:lnTo>
                    <a:pt x="225968" y="7998"/>
                  </a:lnTo>
                  <a:lnTo>
                    <a:pt x="186867" y="19678"/>
                  </a:lnTo>
                  <a:lnTo>
                    <a:pt x="149291" y="33135"/>
                  </a:lnTo>
                  <a:lnTo>
                    <a:pt x="82094" y="68050"/>
                  </a:lnTo>
                  <a:lnTo>
                    <a:pt x="32330" y="112867"/>
                  </a:lnTo>
                  <a:lnTo>
                    <a:pt x="4062" y="158445"/>
                  </a:lnTo>
                  <a:lnTo>
                    <a:pt x="0" y="181806"/>
                  </a:lnTo>
                  <a:lnTo>
                    <a:pt x="0" y="200596"/>
                  </a:lnTo>
                  <a:lnTo>
                    <a:pt x="24206" y="236399"/>
                  </a:lnTo>
                  <a:lnTo>
                    <a:pt x="69907" y="258744"/>
                  </a:lnTo>
                  <a:lnTo>
                    <a:pt x="134396" y="264965"/>
                  </a:lnTo>
                  <a:lnTo>
                    <a:pt x="170788" y="264076"/>
                  </a:lnTo>
                  <a:lnTo>
                    <a:pt x="244756" y="246175"/>
                  </a:lnTo>
                  <a:lnTo>
                    <a:pt x="282332" y="232844"/>
                  </a:lnTo>
                  <a:lnTo>
                    <a:pt x="349530" y="197930"/>
                  </a:lnTo>
                  <a:lnTo>
                    <a:pt x="399294" y="153113"/>
                  </a:lnTo>
                  <a:lnTo>
                    <a:pt x="427560" y="107407"/>
                  </a:lnTo>
                  <a:lnTo>
                    <a:pt x="431623" y="84174"/>
                  </a:lnTo>
                  <a:lnTo>
                    <a:pt x="431623" y="65384"/>
                  </a:lnTo>
                  <a:lnTo>
                    <a:pt x="408773" y="29580"/>
                  </a:lnTo>
                  <a:lnTo>
                    <a:pt x="361717" y="7109"/>
                  </a:lnTo>
                  <a:lnTo>
                    <a:pt x="297228" y="0"/>
                  </a:lnTo>
                  <a:close/>
                </a:path>
              </a:pathLst>
            </a:custGeom>
            <a:solidFill>
              <a:srgbClr val="FFFFFF"/>
            </a:solidFill>
          </p:spPr>
          <p:txBody>
            <a:bodyPr wrap="square" lIns="0" tIns="0" rIns="0" bIns="0" rtlCol="0"/>
            <a:lstStyle/>
            <a:p>
              <a:endParaRPr/>
            </a:p>
          </p:txBody>
        </p:sp>
        <p:sp>
          <p:nvSpPr>
            <p:cNvPr id="39" name="object 39"/>
            <p:cNvSpPr/>
            <p:nvPr/>
          </p:nvSpPr>
          <p:spPr>
            <a:xfrm>
              <a:off x="10563596" y="2042928"/>
              <a:ext cx="431800" cy="265430"/>
            </a:xfrm>
            <a:custGeom>
              <a:avLst/>
              <a:gdLst/>
              <a:ahLst/>
              <a:cxnLst/>
              <a:rect l="l" t="t" r="r" b="b"/>
              <a:pathLst>
                <a:path w="431800" h="265430">
                  <a:moveTo>
                    <a:pt x="408772" y="29581"/>
                  </a:moveTo>
                  <a:lnTo>
                    <a:pt x="385921" y="16123"/>
                  </a:lnTo>
                  <a:lnTo>
                    <a:pt x="361717" y="7109"/>
                  </a:lnTo>
                  <a:lnTo>
                    <a:pt x="330741" y="1777"/>
                  </a:lnTo>
                  <a:lnTo>
                    <a:pt x="297227" y="0"/>
                  </a:lnTo>
                  <a:lnTo>
                    <a:pt x="260835" y="1777"/>
                  </a:lnTo>
                  <a:lnTo>
                    <a:pt x="186867" y="19678"/>
                  </a:lnTo>
                  <a:lnTo>
                    <a:pt x="149290" y="33136"/>
                  </a:lnTo>
                  <a:lnTo>
                    <a:pt x="82093" y="68050"/>
                  </a:lnTo>
                  <a:lnTo>
                    <a:pt x="32329" y="112867"/>
                  </a:lnTo>
                  <a:lnTo>
                    <a:pt x="4062" y="158446"/>
                  </a:lnTo>
                  <a:lnTo>
                    <a:pt x="0" y="181807"/>
                  </a:lnTo>
                  <a:lnTo>
                    <a:pt x="0" y="200597"/>
                  </a:lnTo>
                  <a:lnTo>
                    <a:pt x="24204" y="236399"/>
                  </a:lnTo>
                  <a:lnTo>
                    <a:pt x="69906" y="258744"/>
                  </a:lnTo>
                  <a:lnTo>
                    <a:pt x="134395" y="264966"/>
                  </a:lnTo>
                  <a:lnTo>
                    <a:pt x="170787" y="264077"/>
                  </a:lnTo>
                  <a:lnTo>
                    <a:pt x="244755" y="246175"/>
                  </a:lnTo>
                  <a:lnTo>
                    <a:pt x="282332" y="232845"/>
                  </a:lnTo>
                  <a:lnTo>
                    <a:pt x="349530" y="197931"/>
                  </a:lnTo>
                  <a:lnTo>
                    <a:pt x="399293" y="153114"/>
                  </a:lnTo>
                  <a:lnTo>
                    <a:pt x="427560" y="107408"/>
                  </a:lnTo>
                  <a:lnTo>
                    <a:pt x="431623" y="84174"/>
                  </a:lnTo>
                  <a:lnTo>
                    <a:pt x="431623" y="65384"/>
                  </a:lnTo>
                  <a:lnTo>
                    <a:pt x="423498" y="44816"/>
                  </a:lnTo>
                  <a:lnTo>
                    <a:pt x="408772" y="29581"/>
                  </a:lnTo>
                  <a:close/>
                </a:path>
              </a:pathLst>
            </a:custGeom>
            <a:ln w="17317">
              <a:solidFill>
                <a:srgbClr val="000000"/>
              </a:solidFill>
            </a:ln>
          </p:spPr>
          <p:txBody>
            <a:bodyPr wrap="square" lIns="0" tIns="0" rIns="0" bIns="0" rtlCol="0"/>
            <a:lstStyle/>
            <a:p>
              <a:endParaRPr/>
            </a:p>
          </p:txBody>
        </p:sp>
        <p:sp>
          <p:nvSpPr>
            <p:cNvPr id="40" name="object 40"/>
            <p:cNvSpPr/>
            <p:nvPr/>
          </p:nvSpPr>
          <p:spPr>
            <a:xfrm>
              <a:off x="9975404" y="2377721"/>
              <a:ext cx="427990" cy="260350"/>
            </a:xfrm>
            <a:custGeom>
              <a:avLst/>
              <a:gdLst/>
              <a:ahLst/>
              <a:cxnLst/>
              <a:rect l="l" t="t" r="r" b="b"/>
              <a:pathLst>
                <a:path w="427990" h="260350">
                  <a:moveTo>
                    <a:pt x="330573" y="0"/>
                  </a:moveTo>
                  <a:lnTo>
                    <a:pt x="298411" y="0"/>
                  </a:lnTo>
                  <a:lnTo>
                    <a:pt x="263375" y="2792"/>
                  </a:lnTo>
                  <a:lnTo>
                    <a:pt x="189575" y="19678"/>
                  </a:lnTo>
                  <a:lnTo>
                    <a:pt x="151829" y="33136"/>
                  </a:lnTo>
                  <a:lnTo>
                    <a:pt x="116960" y="51037"/>
                  </a:lnTo>
                  <a:lnTo>
                    <a:pt x="56365" y="91283"/>
                  </a:lnTo>
                  <a:lnTo>
                    <a:pt x="16079" y="136862"/>
                  </a:lnTo>
                  <a:lnTo>
                    <a:pt x="0" y="179776"/>
                  </a:lnTo>
                  <a:lnTo>
                    <a:pt x="0" y="199454"/>
                  </a:lnTo>
                  <a:lnTo>
                    <a:pt x="21496" y="233479"/>
                  </a:lnTo>
                  <a:lnTo>
                    <a:pt x="65843" y="253159"/>
                  </a:lnTo>
                  <a:lnTo>
                    <a:pt x="96818" y="260268"/>
                  </a:lnTo>
                  <a:lnTo>
                    <a:pt x="127624" y="260268"/>
                  </a:lnTo>
                  <a:lnTo>
                    <a:pt x="200239" y="251381"/>
                  </a:lnTo>
                  <a:lnTo>
                    <a:pt x="275562" y="226369"/>
                  </a:lnTo>
                  <a:lnTo>
                    <a:pt x="310429" y="208469"/>
                  </a:lnTo>
                  <a:lnTo>
                    <a:pt x="371026" y="169110"/>
                  </a:lnTo>
                  <a:lnTo>
                    <a:pt x="409957" y="123532"/>
                  </a:lnTo>
                  <a:lnTo>
                    <a:pt x="427391" y="79603"/>
                  </a:lnTo>
                  <a:lnTo>
                    <a:pt x="427391" y="59924"/>
                  </a:lnTo>
                  <a:lnTo>
                    <a:pt x="405894" y="26916"/>
                  </a:lnTo>
                  <a:lnTo>
                    <a:pt x="360193" y="6347"/>
                  </a:lnTo>
                  <a:lnTo>
                    <a:pt x="330573" y="0"/>
                  </a:lnTo>
                  <a:close/>
                </a:path>
              </a:pathLst>
            </a:custGeom>
            <a:solidFill>
              <a:srgbClr val="FFFFFF"/>
            </a:solidFill>
          </p:spPr>
          <p:txBody>
            <a:bodyPr wrap="square" lIns="0" tIns="0" rIns="0" bIns="0" rtlCol="0"/>
            <a:lstStyle/>
            <a:p>
              <a:endParaRPr/>
            </a:p>
          </p:txBody>
        </p:sp>
        <p:sp>
          <p:nvSpPr>
            <p:cNvPr id="41" name="object 41"/>
            <p:cNvSpPr/>
            <p:nvPr/>
          </p:nvSpPr>
          <p:spPr>
            <a:xfrm>
              <a:off x="9975403" y="2377722"/>
              <a:ext cx="427990" cy="260350"/>
            </a:xfrm>
            <a:custGeom>
              <a:avLst/>
              <a:gdLst/>
              <a:ahLst/>
              <a:cxnLst/>
              <a:rect l="l" t="t" r="r" b="b"/>
              <a:pathLst>
                <a:path w="427990" h="260350">
                  <a:moveTo>
                    <a:pt x="405894" y="26915"/>
                  </a:moveTo>
                  <a:lnTo>
                    <a:pt x="385752" y="14346"/>
                  </a:lnTo>
                  <a:lnTo>
                    <a:pt x="360193" y="6348"/>
                  </a:lnTo>
                  <a:lnTo>
                    <a:pt x="330572" y="0"/>
                  </a:lnTo>
                  <a:lnTo>
                    <a:pt x="298412" y="0"/>
                  </a:lnTo>
                  <a:lnTo>
                    <a:pt x="227152" y="9014"/>
                  </a:lnTo>
                  <a:lnTo>
                    <a:pt x="189575" y="19678"/>
                  </a:lnTo>
                  <a:lnTo>
                    <a:pt x="151829" y="33136"/>
                  </a:lnTo>
                  <a:lnTo>
                    <a:pt x="116961" y="51038"/>
                  </a:lnTo>
                  <a:lnTo>
                    <a:pt x="56364" y="91284"/>
                  </a:lnTo>
                  <a:lnTo>
                    <a:pt x="16080" y="136863"/>
                  </a:lnTo>
                  <a:lnTo>
                    <a:pt x="0" y="179775"/>
                  </a:lnTo>
                  <a:lnTo>
                    <a:pt x="0" y="199454"/>
                  </a:lnTo>
                  <a:lnTo>
                    <a:pt x="21496" y="233479"/>
                  </a:lnTo>
                  <a:lnTo>
                    <a:pt x="65843" y="253158"/>
                  </a:lnTo>
                  <a:lnTo>
                    <a:pt x="96818" y="260268"/>
                  </a:lnTo>
                  <a:lnTo>
                    <a:pt x="127625" y="260268"/>
                  </a:lnTo>
                  <a:lnTo>
                    <a:pt x="200239" y="251381"/>
                  </a:lnTo>
                  <a:lnTo>
                    <a:pt x="275561" y="226370"/>
                  </a:lnTo>
                  <a:lnTo>
                    <a:pt x="310430" y="208468"/>
                  </a:lnTo>
                  <a:lnTo>
                    <a:pt x="371026" y="169111"/>
                  </a:lnTo>
                  <a:lnTo>
                    <a:pt x="409957" y="123532"/>
                  </a:lnTo>
                  <a:lnTo>
                    <a:pt x="427391" y="79604"/>
                  </a:lnTo>
                  <a:lnTo>
                    <a:pt x="427391" y="59925"/>
                  </a:lnTo>
                  <a:lnTo>
                    <a:pt x="419266" y="41262"/>
                  </a:lnTo>
                  <a:lnTo>
                    <a:pt x="405894" y="26915"/>
                  </a:lnTo>
                  <a:close/>
                </a:path>
              </a:pathLst>
            </a:custGeom>
            <a:ln w="17300">
              <a:solidFill>
                <a:srgbClr val="000000"/>
              </a:solidFill>
            </a:ln>
          </p:spPr>
          <p:txBody>
            <a:bodyPr wrap="square" lIns="0" tIns="0" rIns="0" bIns="0" rtlCol="0"/>
            <a:lstStyle/>
            <a:p>
              <a:endParaRPr/>
            </a:p>
          </p:txBody>
        </p:sp>
        <p:sp>
          <p:nvSpPr>
            <p:cNvPr id="42" name="object 42"/>
            <p:cNvSpPr/>
            <p:nvPr/>
          </p:nvSpPr>
          <p:spPr>
            <a:xfrm>
              <a:off x="9512128" y="2620596"/>
              <a:ext cx="423545" cy="257175"/>
            </a:xfrm>
            <a:custGeom>
              <a:avLst/>
              <a:gdLst/>
              <a:ahLst/>
              <a:cxnLst/>
              <a:rect l="l" t="t" r="r" b="b"/>
              <a:pathLst>
                <a:path w="423545" h="257175">
                  <a:moveTo>
                    <a:pt x="293165" y="0"/>
                  </a:moveTo>
                  <a:lnTo>
                    <a:pt x="220889" y="9776"/>
                  </a:lnTo>
                  <a:lnTo>
                    <a:pt x="148614" y="32120"/>
                  </a:lnTo>
                  <a:lnTo>
                    <a:pt x="84293" y="67796"/>
                  </a:lnTo>
                  <a:lnTo>
                    <a:pt x="34700" y="109820"/>
                  </a:lnTo>
                  <a:lnTo>
                    <a:pt x="6601" y="155272"/>
                  </a:lnTo>
                  <a:lnTo>
                    <a:pt x="0" y="176729"/>
                  </a:lnTo>
                  <a:lnTo>
                    <a:pt x="1184" y="197295"/>
                  </a:lnTo>
                  <a:lnTo>
                    <a:pt x="22682" y="229417"/>
                  </a:lnTo>
                  <a:lnTo>
                    <a:pt x="68214" y="250873"/>
                  </a:lnTo>
                  <a:lnTo>
                    <a:pt x="129825" y="257094"/>
                  </a:lnTo>
                  <a:lnTo>
                    <a:pt x="164693" y="254427"/>
                  </a:lnTo>
                  <a:lnTo>
                    <a:pt x="235615" y="237416"/>
                  </a:lnTo>
                  <a:lnTo>
                    <a:pt x="274377" y="224974"/>
                  </a:lnTo>
                  <a:lnTo>
                    <a:pt x="337343" y="190186"/>
                  </a:lnTo>
                  <a:lnTo>
                    <a:pt x="388292" y="147274"/>
                  </a:lnTo>
                  <a:lnTo>
                    <a:pt x="416389" y="101822"/>
                  </a:lnTo>
                  <a:lnTo>
                    <a:pt x="423160" y="81254"/>
                  </a:lnTo>
                  <a:lnTo>
                    <a:pt x="420452" y="59797"/>
                  </a:lnTo>
                  <a:lnTo>
                    <a:pt x="398955" y="27677"/>
                  </a:lnTo>
                  <a:lnTo>
                    <a:pt x="354778" y="6221"/>
                  </a:lnTo>
                  <a:lnTo>
                    <a:pt x="293165" y="0"/>
                  </a:lnTo>
                  <a:close/>
                </a:path>
              </a:pathLst>
            </a:custGeom>
            <a:solidFill>
              <a:srgbClr val="FFFFFF"/>
            </a:solidFill>
          </p:spPr>
          <p:txBody>
            <a:bodyPr wrap="square" lIns="0" tIns="0" rIns="0" bIns="0" rtlCol="0"/>
            <a:lstStyle/>
            <a:p>
              <a:endParaRPr/>
            </a:p>
          </p:txBody>
        </p:sp>
        <p:sp>
          <p:nvSpPr>
            <p:cNvPr id="43" name="object 43"/>
            <p:cNvSpPr/>
            <p:nvPr/>
          </p:nvSpPr>
          <p:spPr>
            <a:xfrm>
              <a:off x="9512128" y="2620597"/>
              <a:ext cx="423545" cy="257175"/>
            </a:xfrm>
            <a:custGeom>
              <a:avLst/>
              <a:gdLst/>
              <a:ahLst/>
              <a:cxnLst/>
              <a:rect l="l" t="t" r="r" b="b"/>
              <a:pathLst>
                <a:path w="423545" h="257175">
                  <a:moveTo>
                    <a:pt x="398955" y="27677"/>
                  </a:moveTo>
                  <a:lnTo>
                    <a:pt x="378812" y="15235"/>
                  </a:lnTo>
                  <a:lnTo>
                    <a:pt x="354777" y="6221"/>
                  </a:lnTo>
                  <a:lnTo>
                    <a:pt x="326679" y="888"/>
                  </a:lnTo>
                  <a:lnTo>
                    <a:pt x="293165" y="0"/>
                  </a:lnTo>
                  <a:lnTo>
                    <a:pt x="258296" y="3554"/>
                  </a:lnTo>
                  <a:lnTo>
                    <a:pt x="186021" y="19678"/>
                  </a:lnTo>
                  <a:lnTo>
                    <a:pt x="148613" y="32120"/>
                  </a:lnTo>
                  <a:lnTo>
                    <a:pt x="84293" y="67796"/>
                  </a:lnTo>
                  <a:lnTo>
                    <a:pt x="34699" y="109820"/>
                  </a:lnTo>
                  <a:lnTo>
                    <a:pt x="6601" y="155272"/>
                  </a:lnTo>
                  <a:lnTo>
                    <a:pt x="0" y="176728"/>
                  </a:lnTo>
                  <a:lnTo>
                    <a:pt x="1184" y="197296"/>
                  </a:lnTo>
                  <a:lnTo>
                    <a:pt x="22681" y="229417"/>
                  </a:lnTo>
                  <a:lnTo>
                    <a:pt x="68213" y="250873"/>
                  </a:lnTo>
                  <a:lnTo>
                    <a:pt x="129825" y="257094"/>
                  </a:lnTo>
                  <a:lnTo>
                    <a:pt x="164693" y="254428"/>
                  </a:lnTo>
                  <a:lnTo>
                    <a:pt x="235615" y="237415"/>
                  </a:lnTo>
                  <a:lnTo>
                    <a:pt x="274376" y="224973"/>
                  </a:lnTo>
                  <a:lnTo>
                    <a:pt x="337343" y="190186"/>
                  </a:lnTo>
                  <a:lnTo>
                    <a:pt x="388291" y="147273"/>
                  </a:lnTo>
                  <a:lnTo>
                    <a:pt x="416389" y="101822"/>
                  </a:lnTo>
                  <a:lnTo>
                    <a:pt x="423159" y="81254"/>
                  </a:lnTo>
                  <a:lnTo>
                    <a:pt x="420451" y="59798"/>
                  </a:lnTo>
                  <a:lnTo>
                    <a:pt x="412326" y="41896"/>
                  </a:lnTo>
                  <a:lnTo>
                    <a:pt x="398955" y="27677"/>
                  </a:lnTo>
                  <a:close/>
                </a:path>
              </a:pathLst>
            </a:custGeom>
            <a:ln w="17295">
              <a:solidFill>
                <a:srgbClr val="000000"/>
              </a:solidFill>
            </a:ln>
          </p:spPr>
          <p:txBody>
            <a:bodyPr wrap="square" lIns="0" tIns="0" rIns="0" bIns="0" rtlCol="0"/>
            <a:lstStyle/>
            <a:p>
              <a:endParaRPr/>
            </a:p>
          </p:txBody>
        </p:sp>
        <p:sp>
          <p:nvSpPr>
            <p:cNvPr id="44" name="object 44"/>
            <p:cNvSpPr/>
            <p:nvPr/>
          </p:nvSpPr>
          <p:spPr>
            <a:xfrm>
              <a:off x="9626381" y="2103234"/>
              <a:ext cx="429895" cy="262255"/>
            </a:xfrm>
            <a:custGeom>
              <a:avLst/>
              <a:gdLst/>
              <a:ahLst/>
              <a:cxnLst/>
              <a:rect l="l" t="t" r="r" b="b"/>
              <a:pathLst>
                <a:path w="429895" h="262255">
                  <a:moveTo>
                    <a:pt x="330065" y="0"/>
                  </a:moveTo>
                  <a:lnTo>
                    <a:pt x="297905" y="0"/>
                  </a:lnTo>
                  <a:lnTo>
                    <a:pt x="261682" y="1776"/>
                  </a:lnTo>
                  <a:lnTo>
                    <a:pt x="187883" y="19551"/>
                  </a:lnTo>
                  <a:lnTo>
                    <a:pt x="150307" y="32120"/>
                  </a:lnTo>
                  <a:lnTo>
                    <a:pt x="114084" y="49006"/>
                  </a:lnTo>
                  <a:lnTo>
                    <a:pt x="55011" y="90013"/>
                  </a:lnTo>
                  <a:lnTo>
                    <a:pt x="14725" y="134449"/>
                  </a:lnTo>
                  <a:lnTo>
                    <a:pt x="0" y="179901"/>
                  </a:lnTo>
                  <a:lnTo>
                    <a:pt x="1184" y="199454"/>
                  </a:lnTo>
                  <a:lnTo>
                    <a:pt x="22680" y="234241"/>
                  </a:lnTo>
                  <a:lnTo>
                    <a:pt x="68383" y="254681"/>
                  </a:lnTo>
                  <a:lnTo>
                    <a:pt x="99189" y="261791"/>
                  </a:lnTo>
                  <a:lnTo>
                    <a:pt x="131518" y="261791"/>
                  </a:lnTo>
                  <a:lnTo>
                    <a:pt x="205317" y="253792"/>
                  </a:lnTo>
                  <a:lnTo>
                    <a:pt x="280470" y="229797"/>
                  </a:lnTo>
                  <a:lnTo>
                    <a:pt x="315338" y="212911"/>
                  </a:lnTo>
                  <a:lnTo>
                    <a:pt x="374412" y="171903"/>
                  </a:lnTo>
                  <a:lnTo>
                    <a:pt x="414696" y="127340"/>
                  </a:lnTo>
                  <a:lnTo>
                    <a:pt x="429423" y="81888"/>
                  </a:lnTo>
                  <a:lnTo>
                    <a:pt x="428068" y="62337"/>
                  </a:lnTo>
                  <a:lnTo>
                    <a:pt x="406572" y="27550"/>
                  </a:lnTo>
                  <a:lnTo>
                    <a:pt x="361040" y="7109"/>
                  </a:lnTo>
                  <a:lnTo>
                    <a:pt x="330065" y="0"/>
                  </a:lnTo>
                  <a:close/>
                </a:path>
              </a:pathLst>
            </a:custGeom>
            <a:solidFill>
              <a:srgbClr val="FFFFFF"/>
            </a:solidFill>
          </p:spPr>
          <p:txBody>
            <a:bodyPr wrap="square" lIns="0" tIns="0" rIns="0" bIns="0" rtlCol="0"/>
            <a:lstStyle/>
            <a:p>
              <a:endParaRPr/>
            </a:p>
          </p:txBody>
        </p:sp>
        <p:sp>
          <p:nvSpPr>
            <p:cNvPr id="45" name="object 45"/>
            <p:cNvSpPr/>
            <p:nvPr/>
          </p:nvSpPr>
          <p:spPr>
            <a:xfrm>
              <a:off x="9626381" y="2103234"/>
              <a:ext cx="429895" cy="262255"/>
            </a:xfrm>
            <a:custGeom>
              <a:avLst/>
              <a:gdLst/>
              <a:ahLst/>
              <a:cxnLst/>
              <a:rect l="l" t="t" r="r" b="b"/>
              <a:pathLst>
                <a:path w="429895" h="262255">
                  <a:moveTo>
                    <a:pt x="406572" y="27550"/>
                  </a:moveTo>
                  <a:lnTo>
                    <a:pt x="386429" y="15996"/>
                  </a:lnTo>
                  <a:lnTo>
                    <a:pt x="361040" y="7109"/>
                  </a:lnTo>
                  <a:lnTo>
                    <a:pt x="330064" y="0"/>
                  </a:lnTo>
                  <a:lnTo>
                    <a:pt x="297904" y="0"/>
                  </a:lnTo>
                  <a:lnTo>
                    <a:pt x="225459" y="7998"/>
                  </a:lnTo>
                  <a:lnTo>
                    <a:pt x="187882" y="19551"/>
                  </a:lnTo>
                  <a:lnTo>
                    <a:pt x="150306" y="32120"/>
                  </a:lnTo>
                  <a:lnTo>
                    <a:pt x="114083" y="49006"/>
                  </a:lnTo>
                  <a:lnTo>
                    <a:pt x="55010" y="90014"/>
                  </a:lnTo>
                  <a:lnTo>
                    <a:pt x="14725" y="134450"/>
                  </a:lnTo>
                  <a:lnTo>
                    <a:pt x="0" y="179902"/>
                  </a:lnTo>
                  <a:lnTo>
                    <a:pt x="1184" y="199454"/>
                  </a:lnTo>
                  <a:lnTo>
                    <a:pt x="22681" y="234241"/>
                  </a:lnTo>
                  <a:lnTo>
                    <a:pt x="68382" y="254682"/>
                  </a:lnTo>
                  <a:lnTo>
                    <a:pt x="99188" y="261792"/>
                  </a:lnTo>
                  <a:lnTo>
                    <a:pt x="131518" y="261792"/>
                  </a:lnTo>
                  <a:lnTo>
                    <a:pt x="205317" y="253793"/>
                  </a:lnTo>
                  <a:lnTo>
                    <a:pt x="280470" y="229798"/>
                  </a:lnTo>
                  <a:lnTo>
                    <a:pt x="315338" y="212912"/>
                  </a:lnTo>
                  <a:lnTo>
                    <a:pt x="374411" y="171904"/>
                  </a:lnTo>
                  <a:lnTo>
                    <a:pt x="414696" y="127341"/>
                  </a:lnTo>
                  <a:lnTo>
                    <a:pt x="429422" y="81889"/>
                  </a:lnTo>
                  <a:lnTo>
                    <a:pt x="428068" y="62337"/>
                  </a:lnTo>
                  <a:lnTo>
                    <a:pt x="419943" y="42785"/>
                  </a:lnTo>
                  <a:lnTo>
                    <a:pt x="406572" y="27550"/>
                  </a:lnTo>
                  <a:close/>
                </a:path>
              </a:pathLst>
            </a:custGeom>
            <a:ln w="17302">
              <a:solidFill>
                <a:srgbClr val="000000"/>
              </a:solidFill>
            </a:ln>
          </p:spPr>
          <p:txBody>
            <a:bodyPr wrap="square" lIns="0" tIns="0" rIns="0" bIns="0" rtlCol="0"/>
            <a:lstStyle/>
            <a:p>
              <a:endParaRPr/>
            </a:p>
          </p:txBody>
        </p:sp>
        <p:sp>
          <p:nvSpPr>
            <p:cNvPr id="46" name="object 46"/>
            <p:cNvSpPr/>
            <p:nvPr/>
          </p:nvSpPr>
          <p:spPr>
            <a:xfrm>
              <a:off x="10396363" y="2949042"/>
              <a:ext cx="569595" cy="360680"/>
            </a:xfrm>
            <a:custGeom>
              <a:avLst/>
              <a:gdLst/>
              <a:ahLst/>
              <a:cxnLst/>
              <a:rect l="l" t="t" r="r" b="b"/>
              <a:pathLst>
                <a:path w="569595" h="360679">
                  <a:moveTo>
                    <a:pt x="376443" y="0"/>
                  </a:moveTo>
                  <a:lnTo>
                    <a:pt x="0" y="203009"/>
                  </a:lnTo>
                  <a:lnTo>
                    <a:pt x="192961" y="360312"/>
                  </a:lnTo>
                  <a:lnTo>
                    <a:pt x="569234" y="158319"/>
                  </a:lnTo>
                  <a:lnTo>
                    <a:pt x="376443" y="0"/>
                  </a:lnTo>
                  <a:close/>
                </a:path>
              </a:pathLst>
            </a:custGeom>
            <a:solidFill>
              <a:srgbClr val="FFFFFF"/>
            </a:solidFill>
          </p:spPr>
          <p:txBody>
            <a:bodyPr wrap="square" lIns="0" tIns="0" rIns="0" bIns="0" rtlCol="0"/>
            <a:lstStyle/>
            <a:p>
              <a:endParaRPr/>
            </a:p>
          </p:txBody>
        </p:sp>
        <p:sp>
          <p:nvSpPr>
            <p:cNvPr id="47" name="object 47"/>
            <p:cNvSpPr/>
            <p:nvPr/>
          </p:nvSpPr>
          <p:spPr>
            <a:xfrm>
              <a:off x="10396363" y="2949043"/>
              <a:ext cx="569595" cy="360680"/>
            </a:xfrm>
            <a:custGeom>
              <a:avLst/>
              <a:gdLst/>
              <a:ahLst/>
              <a:cxnLst/>
              <a:rect l="l" t="t" r="r" b="b"/>
              <a:pathLst>
                <a:path w="569595" h="360679">
                  <a:moveTo>
                    <a:pt x="0" y="203009"/>
                  </a:moveTo>
                  <a:lnTo>
                    <a:pt x="192960" y="360313"/>
                  </a:lnTo>
                  <a:lnTo>
                    <a:pt x="569234" y="158319"/>
                  </a:lnTo>
                  <a:lnTo>
                    <a:pt x="376443" y="0"/>
                  </a:lnTo>
                  <a:lnTo>
                    <a:pt x="0" y="203009"/>
                  </a:lnTo>
                  <a:close/>
                </a:path>
              </a:pathLst>
            </a:custGeom>
            <a:ln w="17382">
              <a:solidFill>
                <a:srgbClr val="000000"/>
              </a:solidFill>
            </a:ln>
          </p:spPr>
          <p:txBody>
            <a:bodyPr wrap="square" lIns="0" tIns="0" rIns="0" bIns="0" rtlCol="0"/>
            <a:lstStyle/>
            <a:p>
              <a:endParaRPr/>
            </a:p>
          </p:txBody>
        </p:sp>
        <p:sp>
          <p:nvSpPr>
            <p:cNvPr id="48" name="object 48"/>
            <p:cNvSpPr/>
            <p:nvPr/>
          </p:nvSpPr>
          <p:spPr>
            <a:xfrm>
              <a:off x="10443508" y="2899366"/>
              <a:ext cx="196256" cy="197876"/>
            </a:xfrm>
            <a:prstGeom prst="rect">
              <a:avLst/>
            </a:prstGeom>
            <a:blipFill>
              <a:blip r:embed="rId4" cstate="print"/>
              <a:stretch>
                <a:fillRect/>
              </a:stretch>
            </a:blipFill>
          </p:spPr>
          <p:txBody>
            <a:bodyPr wrap="square" lIns="0" tIns="0" rIns="0" bIns="0" rtlCol="0"/>
            <a:lstStyle/>
            <a:p>
              <a:endParaRPr/>
            </a:p>
          </p:txBody>
        </p:sp>
        <p:sp>
          <p:nvSpPr>
            <p:cNvPr id="49" name="object 49"/>
            <p:cNvSpPr/>
            <p:nvPr/>
          </p:nvSpPr>
          <p:spPr>
            <a:xfrm>
              <a:off x="9791413" y="2674555"/>
              <a:ext cx="552450" cy="273050"/>
            </a:xfrm>
            <a:custGeom>
              <a:avLst/>
              <a:gdLst/>
              <a:ahLst/>
              <a:cxnLst/>
              <a:rect l="l" t="t" r="r" b="b"/>
              <a:pathLst>
                <a:path w="552450" h="273050">
                  <a:moveTo>
                    <a:pt x="274039" y="0"/>
                  </a:moveTo>
                  <a:lnTo>
                    <a:pt x="0" y="147655"/>
                  </a:lnTo>
                  <a:lnTo>
                    <a:pt x="29452" y="170761"/>
                  </a:lnTo>
                  <a:lnTo>
                    <a:pt x="64489" y="192979"/>
                  </a:lnTo>
                  <a:lnTo>
                    <a:pt x="99358" y="211642"/>
                  </a:lnTo>
                  <a:lnTo>
                    <a:pt x="136935" y="228528"/>
                  </a:lnTo>
                  <a:lnTo>
                    <a:pt x="214965" y="254300"/>
                  </a:lnTo>
                  <a:lnTo>
                    <a:pt x="256604" y="263188"/>
                  </a:lnTo>
                  <a:lnTo>
                    <a:pt x="296889" y="269410"/>
                  </a:lnTo>
                  <a:lnTo>
                    <a:pt x="338527" y="272964"/>
                  </a:lnTo>
                  <a:lnTo>
                    <a:pt x="377459" y="272964"/>
                  </a:lnTo>
                  <a:lnTo>
                    <a:pt x="417743" y="270297"/>
                  </a:lnTo>
                  <a:lnTo>
                    <a:pt x="489004" y="255189"/>
                  </a:lnTo>
                  <a:lnTo>
                    <a:pt x="552138" y="229416"/>
                  </a:lnTo>
                  <a:lnTo>
                    <a:pt x="274039" y="0"/>
                  </a:lnTo>
                  <a:close/>
                </a:path>
              </a:pathLst>
            </a:custGeom>
            <a:solidFill>
              <a:srgbClr val="FFFFFF"/>
            </a:solidFill>
          </p:spPr>
          <p:txBody>
            <a:bodyPr wrap="square" lIns="0" tIns="0" rIns="0" bIns="0" rtlCol="0"/>
            <a:lstStyle/>
            <a:p>
              <a:endParaRPr/>
            </a:p>
          </p:txBody>
        </p:sp>
        <p:sp>
          <p:nvSpPr>
            <p:cNvPr id="50" name="object 50"/>
            <p:cNvSpPr/>
            <p:nvPr/>
          </p:nvSpPr>
          <p:spPr>
            <a:xfrm>
              <a:off x="9797676" y="2815735"/>
              <a:ext cx="544195" cy="128905"/>
            </a:xfrm>
            <a:custGeom>
              <a:avLst/>
              <a:gdLst/>
              <a:ahLst/>
              <a:cxnLst/>
              <a:rect l="l" t="t" r="r" b="b"/>
              <a:pathLst>
                <a:path w="544195" h="128905">
                  <a:moveTo>
                    <a:pt x="0" y="0"/>
                  </a:moveTo>
                  <a:lnTo>
                    <a:pt x="29621" y="24884"/>
                  </a:lnTo>
                  <a:lnTo>
                    <a:pt x="63135" y="46213"/>
                  </a:lnTo>
                  <a:lnTo>
                    <a:pt x="98003" y="64749"/>
                  </a:lnTo>
                  <a:lnTo>
                    <a:pt x="134226" y="83412"/>
                  </a:lnTo>
                  <a:lnTo>
                    <a:pt x="173157" y="96743"/>
                  </a:lnTo>
                  <a:lnTo>
                    <a:pt x="213441" y="109947"/>
                  </a:lnTo>
                  <a:lnTo>
                    <a:pt x="252372" y="118834"/>
                  </a:lnTo>
                  <a:lnTo>
                    <a:pt x="291303" y="124167"/>
                  </a:lnTo>
                  <a:lnTo>
                    <a:pt x="332942" y="127721"/>
                  </a:lnTo>
                  <a:lnTo>
                    <a:pt x="371872" y="128610"/>
                  </a:lnTo>
                  <a:lnTo>
                    <a:pt x="409449" y="125055"/>
                  </a:lnTo>
                  <a:lnTo>
                    <a:pt x="448380" y="118834"/>
                  </a:lnTo>
                  <a:lnTo>
                    <a:pt x="480709" y="109947"/>
                  </a:lnTo>
                  <a:lnTo>
                    <a:pt x="515578" y="97632"/>
                  </a:lnTo>
                  <a:lnTo>
                    <a:pt x="543845" y="83412"/>
                  </a:lnTo>
                </a:path>
              </a:pathLst>
            </a:custGeom>
            <a:ln w="16150">
              <a:solidFill>
                <a:srgbClr val="000000"/>
              </a:solidFill>
            </a:ln>
          </p:spPr>
          <p:txBody>
            <a:bodyPr wrap="square" lIns="0" tIns="0" rIns="0" bIns="0" rtlCol="0"/>
            <a:lstStyle/>
            <a:p>
              <a:endParaRPr/>
            </a:p>
          </p:txBody>
        </p:sp>
        <p:sp>
          <p:nvSpPr>
            <p:cNvPr id="51" name="object 51"/>
            <p:cNvSpPr/>
            <p:nvPr/>
          </p:nvSpPr>
          <p:spPr>
            <a:xfrm>
              <a:off x="10478964" y="2255585"/>
              <a:ext cx="463550" cy="433705"/>
            </a:xfrm>
            <a:custGeom>
              <a:avLst/>
              <a:gdLst/>
              <a:ahLst/>
              <a:cxnLst/>
              <a:rect l="l" t="t" r="r" b="b"/>
              <a:pathLst>
                <a:path w="463550" h="433705">
                  <a:moveTo>
                    <a:pt x="350545" y="0"/>
                  </a:moveTo>
                  <a:lnTo>
                    <a:pt x="0" y="184092"/>
                  </a:lnTo>
                  <a:lnTo>
                    <a:pt x="304844" y="433188"/>
                  </a:lnTo>
                  <a:lnTo>
                    <a:pt x="335819" y="416302"/>
                  </a:lnTo>
                  <a:lnTo>
                    <a:pt x="360024" y="396750"/>
                  </a:lnTo>
                  <a:lnTo>
                    <a:pt x="385414" y="377198"/>
                  </a:lnTo>
                  <a:lnTo>
                    <a:pt x="424345" y="331873"/>
                  </a:lnTo>
                  <a:lnTo>
                    <a:pt x="452611" y="281979"/>
                  </a:lnTo>
                  <a:lnTo>
                    <a:pt x="462090" y="228655"/>
                  </a:lnTo>
                  <a:lnTo>
                    <a:pt x="463275" y="201994"/>
                  </a:lnTo>
                  <a:lnTo>
                    <a:pt x="462090" y="174316"/>
                  </a:lnTo>
                  <a:lnTo>
                    <a:pt x="455320" y="147655"/>
                  </a:lnTo>
                  <a:lnTo>
                    <a:pt x="445841" y="120992"/>
                  </a:lnTo>
                  <a:lnTo>
                    <a:pt x="432469" y="96109"/>
                  </a:lnTo>
                  <a:lnTo>
                    <a:pt x="417743" y="68558"/>
                  </a:lnTo>
                  <a:lnTo>
                    <a:pt x="397601" y="45325"/>
                  </a:lnTo>
                  <a:lnTo>
                    <a:pt x="373396" y="20440"/>
                  </a:lnTo>
                  <a:lnTo>
                    <a:pt x="350545" y="0"/>
                  </a:lnTo>
                  <a:close/>
                </a:path>
              </a:pathLst>
            </a:custGeom>
            <a:solidFill>
              <a:srgbClr val="FFFFFF"/>
            </a:solidFill>
          </p:spPr>
          <p:txBody>
            <a:bodyPr wrap="square" lIns="0" tIns="0" rIns="0" bIns="0" rtlCol="0"/>
            <a:lstStyle/>
            <a:p>
              <a:endParaRPr/>
            </a:p>
          </p:txBody>
        </p:sp>
        <p:sp>
          <p:nvSpPr>
            <p:cNvPr id="52" name="object 52"/>
            <p:cNvSpPr/>
            <p:nvPr/>
          </p:nvSpPr>
          <p:spPr>
            <a:xfrm>
              <a:off x="10770944" y="2257110"/>
              <a:ext cx="165100" cy="427355"/>
            </a:xfrm>
            <a:custGeom>
              <a:avLst/>
              <a:gdLst/>
              <a:ahLst/>
              <a:cxnLst/>
              <a:rect l="l" t="t" r="r" b="b"/>
              <a:pathLst>
                <a:path w="165100" h="427355">
                  <a:moveTo>
                    <a:pt x="0" y="426967"/>
                  </a:moveTo>
                  <a:lnTo>
                    <a:pt x="60427" y="391418"/>
                  </a:lnTo>
                  <a:lnTo>
                    <a:pt x="107313" y="350537"/>
                  </a:lnTo>
                  <a:lnTo>
                    <a:pt x="140827" y="304196"/>
                  </a:lnTo>
                  <a:lnTo>
                    <a:pt x="160970" y="253539"/>
                  </a:lnTo>
                  <a:lnTo>
                    <a:pt x="165032" y="226877"/>
                  </a:lnTo>
                  <a:lnTo>
                    <a:pt x="165032" y="200216"/>
                  </a:lnTo>
                  <a:lnTo>
                    <a:pt x="162324" y="173554"/>
                  </a:lnTo>
                  <a:lnTo>
                    <a:pt x="154368" y="147654"/>
                  </a:lnTo>
                  <a:lnTo>
                    <a:pt x="147598" y="119215"/>
                  </a:lnTo>
                  <a:lnTo>
                    <a:pt x="130163" y="94331"/>
                  </a:lnTo>
                  <a:lnTo>
                    <a:pt x="116792" y="70335"/>
                  </a:lnTo>
                  <a:lnTo>
                    <a:pt x="96649" y="45451"/>
                  </a:lnTo>
                  <a:lnTo>
                    <a:pt x="73799" y="21456"/>
                  </a:lnTo>
                  <a:lnTo>
                    <a:pt x="46886" y="0"/>
                  </a:lnTo>
                </a:path>
              </a:pathLst>
            </a:custGeom>
            <a:ln w="20470">
              <a:solidFill>
                <a:srgbClr val="000000"/>
              </a:solidFill>
            </a:ln>
          </p:spPr>
          <p:txBody>
            <a:bodyPr wrap="square" lIns="0" tIns="0" rIns="0" bIns="0" rtlCol="0"/>
            <a:lstStyle/>
            <a:p>
              <a:endParaRPr/>
            </a:p>
          </p:txBody>
        </p:sp>
        <p:sp>
          <p:nvSpPr>
            <p:cNvPr id="53" name="object 53"/>
            <p:cNvSpPr/>
            <p:nvPr/>
          </p:nvSpPr>
          <p:spPr>
            <a:xfrm>
              <a:off x="10303437" y="2590380"/>
              <a:ext cx="154940" cy="120650"/>
            </a:xfrm>
            <a:custGeom>
              <a:avLst/>
              <a:gdLst/>
              <a:ahLst/>
              <a:cxnLst/>
              <a:rect l="l" t="t" r="r" b="b"/>
              <a:pathLst>
                <a:path w="154940" h="120650">
                  <a:moveTo>
                    <a:pt x="154368" y="120612"/>
                  </a:moveTo>
                  <a:lnTo>
                    <a:pt x="0" y="0"/>
                  </a:lnTo>
                </a:path>
              </a:pathLst>
            </a:custGeom>
            <a:ln w="17874">
              <a:solidFill>
                <a:srgbClr val="000000"/>
              </a:solidFill>
            </a:ln>
          </p:spPr>
          <p:txBody>
            <a:bodyPr wrap="square" lIns="0" tIns="0" rIns="0" bIns="0" rtlCol="0"/>
            <a:lstStyle/>
            <a:p>
              <a:endParaRPr/>
            </a:p>
          </p:txBody>
        </p:sp>
        <p:sp>
          <p:nvSpPr>
            <p:cNvPr id="54" name="object 54"/>
            <p:cNvSpPr/>
            <p:nvPr/>
          </p:nvSpPr>
          <p:spPr>
            <a:xfrm>
              <a:off x="9954245" y="2315892"/>
              <a:ext cx="146685" cy="117475"/>
            </a:xfrm>
            <a:custGeom>
              <a:avLst/>
              <a:gdLst/>
              <a:ahLst/>
              <a:cxnLst/>
              <a:rect l="l" t="t" r="r" b="b"/>
              <a:pathLst>
                <a:path w="146684" h="117475">
                  <a:moveTo>
                    <a:pt x="146074" y="117438"/>
                  </a:moveTo>
                  <a:lnTo>
                    <a:pt x="0" y="0"/>
                  </a:lnTo>
                </a:path>
              </a:pathLst>
            </a:custGeom>
            <a:ln w="17946">
              <a:solidFill>
                <a:srgbClr val="000000"/>
              </a:solidFill>
            </a:ln>
          </p:spPr>
          <p:txBody>
            <a:bodyPr wrap="square" lIns="0" tIns="0" rIns="0" bIns="0" rtlCol="0"/>
            <a:lstStyle/>
            <a:p>
              <a:endParaRPr/>
            </a:p>
          </p:txBody>
        </p:sp>
        <p:sp>
          <p:nvSpPr>
            <p:cNvPr id="55" name="object 55"/>
            <p:cNvSpPr/>
            <p:nvPr/>
          </p:nvSpPr>
          <p:spPr>
            <a:xfrm>
              <a:off x="9512128" y="2330112"/>
              <a:ext cx="391795" cy="373380"/>
            </a:xfrm>
            <a:custGeom>
              <a:avLst/>
              <a:gdLst/>
              <a:ahLst/>
              <a:cxnLst/>
              <a:rect l="l" t="t" r="r" b="b"/>
              <a:pathLst>
                <a:path w="391795" h="373380">
                  <a:moveTo>
                    <a:pt x="111206" y="0"/>
                  </a:moveTo>
                  <a:lnTo>
                    <a:pt x="61611" y="35802"/>
                  </a:lnTo>
                  <a:lnTo>
                    <a:pt x="26743" y="79476"/>
                  </a:lnTo>
                  <a:lnTo>
                    <a:pt x="5247" y="130388"/>
                  </a:lnTo>
                  <a:lnTo>
                    <a:pt x="0" y="155272"/>
                  </a:lnTo>
                  <a:lnTo>
                    <a:pt x="0" y="184726"/>
                  </a:lnTo>
                  <a:lnTo>
                    <a:pt x="13371" y="240969"/>
                  </a:lnTo>
                  <a:lnTo>
                    <a:pt x="44178" y="296325"/>
                  </a:lnTo>
                  <a:lnTo>
                    <a:pt x="89710" y="348886"/>
                  </a:lnTo>
                  <a:lnTo>
                    <a:pt x="116453" y="373009"/>
                  </a:lnTo>
                  <a:lnTo>
                    <a:pt x="391337" y="226623"/>
                  </a:lnTo>
                  <a:lnTo>
                    <a:pt x="111206" y="0"/>
                  </a:lnTo>
                  <a:close/>
                </a:path>
              </a:pathLst>
            </a:custGeom>
            <a:solidFill>
              <a:srgbClr val="FFFFFF"/>
            </a:solidFill>
          </p:spPr>
          <p:txBody>
            <a:bodyPr wrap="square" lIns="0" tIns="0" rIns="0" bIns="0" rtlCol="0"/>
            <a:lstStyle/>
            <a:p>
              <a:endParaRPr/>
            </a:p>
          </p:txBody>
        </p:sp>
        <p:sp>
          <p:nvSpPr>
            <p:cNvPr id="56" name="object 56"/>
            <p:cNvSpPr/>
            <p:nvPr/>
          </p:nvSpPr>
          <p:spPr>
            <a:xfrm>
              <a:off x="9518391" y="2333286"/>
              <a:ext cx="125095" cy="368300"/>
            </a:xfrm>
            <a:custGeom>
              <a:avLst/>
              <a:gdLst/>
              <a:ahLst/>
              <a:cxnLst/>
              <a:rect l="l" t="t" r="r" b="b"/>
              <a:pathLst>
                <a:path w="125095" h="368300">
                  <a:moveTo>
                    <a:pt x="118146" y="0"/>
                  </a:moveTo>
                  <a:lnTo>
                    <a:pt x="63135" y="36691"/>
                  </a:lnTo>
                  <a:lnTo>
                    <a:pt x="25558" y="78715"/>
                  </a:lnTo>
                  <a:lnTo>
                    <a:pt x="2708" y="126960"/>
                  </a:lnTo>
                  <a:lnTo>
                    <a:pt x="0" y="153748"/>
                  </a:lnTo>
                  <a:lnTo>
                    <a:pt x="0" y="181426"/>
                  </a:lnTo>
                  <a:lnTo>
                    <a:pt x="14725" y="237796"/>
                  </a:lnTo>
                  <a:lnTo>
                    <a:pt x="47055" y="291373"/>
                  </a:lnTo>
                  <a:lnTo>
                    <a:pt x="95295" y="343173"/>
                  </a:lnTo>
                  <a:lnTo>
                    <a:pt x="124747" y="368184"/>
                  </a:lnTo>
                </a:path>
              </a:pathLst>
            </a:custGeom>
            <a:ln w="20613">
              <a:solidFill>
                <a:srgbClr val="000000"/>
              </a:solidFill>
            </a:ln>
          </p:spPr>
          <p:txBody>
            <a:bodyPr wrap="square" lIns="0" tIns="0" rIns="0" bIns="0" rtlCol="0"/>
            <a:lstStyle/>
            <a:p>
              <a:endParaRPr/>
            </a:p>
          </p:txBody>
        </p:sp>
        <p:sp>
          <p:nvSpPr>
            <p:cNvPr id="57" name="object 57"/>
            <p:cNvSpPr/>
            <p:nvPr/>
          </p:nvSpPr>
          <p:spPr>
            <a:xfrm>
              <a:off x="8997905" y="1620785"/>
              <a:ext cx="2909570" cy="1933575"/>
            </a:xfrm>
            <a:custGeom>
              <a:avLst/>
              <a:gdLst/>
              <a:ahLst/>
              <a:cxnLst/>
              <a:rect l="l" t="t" r="r" b="b"/>
              <a:pathLst>
                <a:path w="2909570" h="1933575">
                  <a:moveTo>
                    <a:pt x="1600390" y="0"/>
                  </a:moveTo>
                  <a:lnTo>
                    <a:pt x="0" y="859901"/>
                  </a:lnTo>
                  <a:lnTo>
                    <a:pt x="1308747" y="1932969"/>
                  </a:lnTo>
                  <a:lnTo>
                    <a:pt x="2909308" y="1072178"/>
                  </a:lnTo>
                  <a:lnTo>
                    <a:pt x="1600390" y="0"/>
                  </a:lnTo>
                  <a:close/>
                </a:path>
              </a:pathLst>
            </a:custGeom>
            <a:solidFill>
              <a:srgbClr val="FFFFFF"/>
            </a:solidFill>
          </p:spPr>
          <p:txBody>
            <a:bodyPr wrap="square" lIns="0" tIns="0" rIns="0" bIns="0" rtlCol="0"/>
            <a:lstStyle/>
            <a:p>
              <a:endParaRPr/>
            </a:p>
          </p:txBody>
        </p:sp>
        <p:sp>
          <p:nvSpPr>
            <p:cNvPr id="58" name="object 58"/>
            <p:cNvSpPr/>
            <p:nvPr/>
          </p:nvSpPr>
          <p:spPr>
            <a:xfrm>
              <a:off x="8997905" y="1620785"/>
              <a:ext cx="2909570" cy="1933575"/>
            </a:xfrm>
            <a:custGeom>
              <a:avLst/>
              <a:gdLst/>
              <a:ahLst/>
              <a:cxnLst/>
              <a:rect l="l" t="t" r="r" b="b"/>
              <a:pathLst>
                <a:path w="2909570" h="1933575">
                  <a:moveTo>
                    <a:pt x="0" y="859901"/>
                  </a:moveTo>
                  <a:lnTo>
                    <a:pt x="1308748" y="1932969"/>
                  </a:lnTo>
                  <a:lnTo>
                    <a:pt x="2909308" y="1072179"/>
                  </a:lnTo>
                  <a:lnTo>
                    <a:pt x="1600390" y="0"/>
                  </a:lnTo>
                  <a:lnTo>
                    <a:pt x="0" y="859901"/>
                  </a:lnTo>
                  <a:close/>
                </a:path>
              </a:pathLst>
            </a:custGeom>
            <a:ln w="17489">
              <a:solidFill>
                <a:srgbClr val="000000"/>
              </a:solidFill>
            </a:ln>
          </p:spPr>
          <p:txBody>
            <a:bodyPr wrap="square" lIns="0" tIns="0" rIns="0" bIns="0" rtlCol="0"/>
            <a:lstStyle/>
            <a:p>
              <a:endParaRPr/>
            </a:p>
          </p:txBody>
        </p:sp>
        <p:sp>
          <p:nvSpPr>
            <p:cNvPr id="59" name="object 59"/>
            <p:cNvSpPr/>
            <p:nvPr/>
          </p:nvSpPr>
          <p:spPr>
            <a:xfrm>
              <a:off x="9503146" y="2033932"/>
              <a:ext cx="2436938" cy="1727879"/>
            </a:xfrm>
            <a:prstGeom prst="rect">
              <a:avLst/>
            </a:prstGeom>
            <a:blipFill>
              <a:blip r:embed="rId5" cstate="print"/>
              <a:stretch>
                <a:fillRect/>
              </a:stretch>
            </a:blipFill>
          </p:spPr>
          <p:txBody>
            <a:bodyPr wrap="square" lIns="0" tIns="0" rIns="0" bIns="0" rtlCol="0"/>
            <a:lstStyle/>
            <a:p>
              <a:endParaRPr/>
            </a:p>
          </p:txBody>
        </p:sp>
        <p:sp>
          <p:nvSpPr>
            <p:cNvPr id="60" name="object 60"/>
            <p:cNvSpPr txBox="1"/>
            <p:nvPr/>
          </p:nvSpPr>
          <p:spPr>
            <a:xfrm>
              <a:off x="8432798" y="4648200"/>
              <a:ext cx="3556000" cy="1478280"/>
            </a:xfrm>
            <a:prstGeom prst="rect">
              <a:avLst/>
            </a:prstGeom>
            <a:ln w="12699">
              <a:solidFill>
                <a:srgbClr val="55677D"/>
              </a:solidFill>
            </a:ln>
          </p:spPr>
          <p:txBody>
            <a:bodyPr vert="horz" wrap="square" lIns="0" tIns="48895" rIns="0" bIns="0" rtlCol="0">
              <a:spAutoFit/>
            </a:bodyPr>
            <a:lstStyle/>
            <a:p>
              <a:pPr marL="91440" marR="266700">
                <a:lnSpc>
                  <a:spcPct val="99000"/>
                </a:lnSpc>
                <a:spcBef>
                  <a:spcPts val="385"/>
                </a:spcBef>
              </a:pPr>
              <a:r>
                <a:rPr sz="1800" b="1" i="1" spc="-5" dirty="0">
                  <a:solidFill>
                    <a:srgbClr val="44546A"/>
                  </a:solidFill>
                  <a:latin typeface="Arial" panose="020B0604020202020204"/>
                  <a:cs typeface="Arial" panose="020B0604020202020204"/>
                </a:rPr>
                <a:t>“</a:t>
              </a:r>
              <a:r>
                <a:rPr sz="1800" b="1" i="1" spc="-5" dirty="0">
                  <a:solidFill>
                    <a:srgbClr val="44546A"/>
                  </a:solidFill>
                  <a:latin typeface="Calibri" panose="020F0502020204030204"/>
                  <a:cs typeface="Calibri" panose="020F0502020204030204"/>
                </a:rPr>
                <a:t>Nobody can talk </a:t>
              </a:r>
              <a:r>
                <a:rPr sz="1800" b="1" i="1" spc="55" dirty="0">
                  <a:solidFill>
                    <a:srgbClr val="44546A"/>
                  </a:solidFill>
                  <a:latin typeface="Calibri" panose="020F0502020204030204"/>
                  <a:cs typeface="Calibri" panose="020F0502020204030204"/>
                </a:rPr>
                <a:t>be=er </a:t>
              </a:r>
              <a:r>
                <a:rPr sz="1800" b="1" i="1" spc="-5" dirty="0">
                  <a:solidFill>
                    <a:srgbClr val="44546A"/>
                  </a:solidFill>
                  <a:latin typeface="Calibri" panose="020F0502020204030204"/>
                  <a:cs typeface="Calibri" panose="020F0502020204030204"/>
                </a:rPr>
                <a:t>about  what </a:t>
              </a:r>
              <a:r>
                <a:rPr sz="1800" b="1" i="1" dirty="0">
                  <a:solidFill>
                    <a:srgbClr val="44546A"/>
                  </a:solidFill>
                  <a:latin typeface="Calibri" panose="020F0502020204030204"/>
                  <a:cs typeface="Calibri" panose="020F0502020204030204"/>
                </a:rPr>
                <a:t>they do, and </a:t>
              </a:r>
              <a:r>
                <a:rPr sz="1800" b="1" i="1" spc="-5" dirty="0">
                  <a:solidFill>
                    <a:srgbClr val="44546A"/>
                  </a:solidFill>
                  <a:latin typeface="Calibri" panose="020F0502020204030204"/>
                  <a:cs typeface="Calibri" panose="020F0502020204030204"/>
                </a:rPr>
                <a:t>why </a:t>
              </a:r>
              <a:r>
                <a:rPr sz="1800" b="1" i="1" dirty="0">
                  <a:solidFill>
                    <a:srgbClr val="44546A"/>
                  </a:solidFill>
                  <a:latin typeface="Calibri" panose="020F0502020204030204"/>
                  <a:cs typeface="Calibri" panose="020F0502020204030204"/>
                </a:rPr>
                <a:t>they do</a:t>
              </a:r>
              <a:r>
                <a:rPr sz="1800" b="1" i="1" spc="-80" dirty="0">
                  <a:solidFill>
                    <a:srgbClr val="44546A"/>
                  </a:solidFill>
                  <a:latin typeface="Calibri" panose="020F0502020204030204"/>
                  <a:cs typeface="Calibri" panose="020F0502020204030204"/>
                </a:rPr>
                <a:t> </a:t>
              </a:r>
              <a:r>
                <a:rPr sz="1800" b="1" i="1" spc="-5" dirty="0">
                  <a:solidFill>
                    <a:srgbClr val="44546A"/>
                  </a:solidFill>
                  <a:latin typeface="Calibri" panose="020F0502020204030204"/>
                  <a:cs typeface="Calibri" panose="020F0502020204030204"/>
                </a:rPr>
                <a:t>it,  than </a:t>
              </a:r>
              <a:r>
                <a:rPr sz="1800" b="1" i="1" dirty="0">
                  <a:solidFill>
                    <a:srgbClr val="44546A"/>
                  </a:solidFill>
                  <a:latin typeface="Calibri" panose="020F0502020204030204"/>
                  <a:cs typeface="Calibri" panose="020F0502020204030204"/>
                </a:rPr>
                <a:t>they can </a:t>
              </a:r>
              <a:r>
                <a:rPr sz="1800" b="1" i="1" spc="-5" dirty="0">
                  <a:solidFill>
                    <a:srgbClr val="44546A"/>
                  </a:solidFill>
                  <a:latin typeface="Calibri" panose="020F0502020204030204"/>
                  <a:cs typeface="Calibri" panose="020F0502020204030204"/>
                </a:rPr>
                <a:t>while </a:t>
              </a:r>
              <a:r>
                <a:rPr sz="1800" b="1" i="1" dirty="0">
                  <a:solidFill>
                    <a:srgbClr val="44546A"/>
                  </a:solidFill>
                  <a:latin typeface="Calibri" panose="020F0502020204030204"/>
                  <a:cs typeface="Calibri" panose="020F0502020204030204"/>
                </a:rPr>
                <a:t>in the middle  </a:t>
              </a:r>
              <a:r>
                <a:rPr sz="1800" b="1" i="1" spc="-5" dirty="0">
                  <a:solidFill>
                    <a:srgbClr val="44546A"/>
                  </a:solidFill>
                  <a:latin typeface="Calibri" panose="020F0502020204030204"/>
                  <a:cs typeface="Calibri" panose="020F0502020204030204"/>
                </a:rPr>
                <a:t>of doing</a:t>
              </a:r>
              <a:r>
                <a:rPr sz="1800" b="1" i="1" spc="-10" dirty="0">
                  <a:solidFill>
                    <a:srgbClr val="44546A"/>
                  </a:solidFill>
                  <a:latin typeface="Calibri" panose="020F0502020204030204"/>
                  <a:cs typeface="Calibri" panose="020F0502020204030204"/>
                </a:rPr>
                <a:t> </a:t>
              </a:r>
              <a:r>
                <a:rPr sz="1800" b="1" i="1" spc="-5" dirty="0">
                  <a:solidFill>
                    <a:srgbClr val="44546A"/>
                  </a:solidFill>
                  <a:latin typeface="Calibri" panose="020F0502020204030204"/>
                  <a:cs typeface="Calibri" panose="020F0502020204030204"/>
                </a:rPr>
                <a:t>it.</a:t>
              </a:r>
              <a:r>
                <a:rPr sz="1800" b="1" i="1" spc="-5" dirty="0">
                  <a:solidFill>
                    <a:srgbClr val="44546A"/>
                  </a:solidFill>
                  <a:latin typeface="Arial" panose="020B0604020202020204"/>
                  <a:cs typeface="Arial" panose="020B0604020202020204"/>
                </a:rPr>
                <a:t>”</a:t>
              </a:r>
              <a:endParaRPr sz="1800">
                <a:latin typeface="Arial" panose="020B0604020202020204"/>
                <a:cs typeface="Arial" panose="020B0604020202020204"/>
              </a:endParaRPr>
            </a:p>
            <a:p>
              <a:pPr marL="91440">
                <a:lnSpc>
                  <a:spcPct val="100000"/>
                </a:lnSpc>
                <a:spcBef>
                  <a:spcPts val="40"/>
                </a:spcBef>
              </a:pPr>
              <a:r>
                <a:rPr sz="1800" b="1" i="1" dirty="0">
                  <a:solidFill>
                    <a:srgbClr val="44546A"/>
                  </a:solidFill>
                  <a:latin typeface="Calibri" panose="020F0502020204030204"/>
                  <a:cs typeface="Calibri" panose="020F0502020204030204"/>
                </a:rPr>
                <a:t>[Beyer </a:t>
              </a:r>
              <a:r>
                <a:rPr sz="1800" b="1" i="1" spc="-5" dirty="0">
                  <a:solidFill>
                    <a:srgbClr val="44546A"/>
                  </a:solidFill>
                  <a:latin typeface="Calibri" panose="020F0502020204030204"/>
                  <a:cs typeface="Calibri" panose="020F0502020204030204"/>
                </a:rPr>
                <a:t>and</a:t>
              </a:r>
              <a:r>
                <a:rPr sz="1800" b="1" i="1" spc="-20" dirty="0">
                  <a:solidFill>
                    <a:srgbClr val="44546A"/>
                  </a:solidFill>
                  <a:latin typeface="Calibri" panose="020F0502020204030204"/>
                  <a:cs typeface="Calibri" panose="020F0502020204030204"/>
                </a:rPr>
                <a:t> </a:t>
              </a:r>
              <a:r>
                <a:rPr sz="1800" b="1" i="1" spc="25" dirty="0">
                  <a:solidFill>
                    <a:srgbClr val="44546A"/>
                  </a:solidFill>
                  <a:latin typeface="Calibri" panose="020F0502020204030204"/>
                  <a:cs typeface="Calibri" panose="020F0502020204030204"/>
                </a:rPr>
                <a:t>Holtzbla=]</a:t>
              </a:r>
              <a:endParaRPr sz="1800">
                <a:latin typeface="Calibri" panose="020F0502020204030204"/>
                <a:cs typeface="Calibri" panose="020F0502020204030204"/>
              </a:endParaRPr>
            </a:p>
          </p:txBody>
        </p:sp>
      </p:grpSp>
      <p:sp>
        <p:nvSpPr>
          <p:cNvPr id="63" name="标题 62"/>
          <p:cNvSpPr>
            <a:spLocks noGrp="1"/>
          </p:cNvSpPr>
          <p:nvPr>
            <p:ph type="title"/>
          </p:nvPr>
        </p:nvSpPr>
        <p:spPr/>
        <p:txBody>
          <a:bodyPr/>
          <a:lstStyle/>
          <a:p>
            <a:r>
              <a:rPr lang="zh-CN" altLang="en-US" spc="-5" dirty="0"/>
              <a:t>亲身实践</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41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05093"/>
    </mc:Choice>
    <mc:Fallback xmlns="">
      <p:transition spd="slow" advTm="105093"/>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20094" y="1871186"/>
            <a:ext cx="2743200" cy="914400"/>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目标</a:t>
            </a:r>
          </a:p>
          <a:p>
            <a:pPr marL="698500" lvl="1" indent="-228600">
              <a:lnSpc>
                <a:spcPct val="100000"/>
              </a:lnSpc>
              <a:spcBef>
                <a:spcPts val="172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理解待解决的问题</a:t>
            </a:r>
          </a:p>
        </p:txBody>
      </p:sp>
      <p:sp>
        <p:nvSpPr>
          <p:cNvPr id="4" name="object 4"/>
          <p:cNvSpPr txBox="1"/>
          <p:nvPr/>
        </p:nvSpPr>
        <p:spPr>
          <a:xfrm>
            <a:off x="1477294" y="2976086"/>
            <a:ext cx="4572000" cy="330200"/>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0665" algn="l"/>
                <a:tab pos="241300" algn="l"/>
              </a:tabLst>
            </a:pPr>
            <a:r>
              <a:rPr sz="2000" dirty="0">
                <a:latin typeface="微软雅黑" panose="020B0503020204020204" pitchFamily="34" charset="-122"/>
                <a:ea typeface="微软雅黑" panose="020B0503020204020204" pitchFamily="34" charset="-122"/>
                <a:cs typeface="华文细黑" panose="02010600040101010101" charset="-122"/>
              </a:rPr>
              <a:t>作为下一步业务流程建模和访谈的基础</a:t>
            </a:r>
          </a:p>
        </p:txBody>
      </p:sp>
      <p:sp>
        <p:nvSpPr>
          <p:cNvPr id="5" name="object 5"/>
          <p:cNvSpPr txBox="1"/>
          <p:nvPr/>
        </p:nvSpPr>
        <p:spPr>
          <a:xfrm>
            <a:off x="1020094" y="3585686"/>
            <a:ext cx="4521200" cy="1955800"/>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指导方针</a:t>
            </a:r>
          </a:p>
          <a:p>
            <a:pPr marL="698500" lvl="1" indent="-228600">
              <a:lnSpc>
                <a:spcPct val="100000"/>
              </a:lnSpc>
              <a:spcBef>
                <a:spcPts val="172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确定当前业务流程或产品的优缺点</a:t>
            </a:r>
          </a:p>
          <a:p>
            <a:pPr marL="698500" lvl="1" indent="-228600">
              <a:lnSpc>
                <a:spcPct val="100000"/>
              </a:lnSpc>
              <a:spcBef>
                <a:spcPts val="17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找出产品或信息中可充用的部分</a:t>
            </a:r>
          </a:p>
          <a:p>
            <a:pPr marL="698500" lvl="1" indent="-228600">
              <a:lnSpc>
                <a:spcPct val="100000"/>
              </a:lnSpc>
              <a:spcBef>
                <a:spcPts val="17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从多个来源获取用户需求</a:t>
            </a:r>
          </a:p>
        </p:txBody>
      </p:sp>
      <p:grpSp>
        <p:nvGrpSpPr>
          <p:cNvPr id="19" name="组合 18"/>
          <p:cNvGrpSpPr/>
          <p:nvPr/>
        </p:nvGrpSpPr>
        <p:grpSpPr>
          <a:xfrm>
            <a:off x="7143298" y="2785586"/>
            <a:ext cx="3002384" cy="2516547"/>
            <a:chOff x="7600498" y="2175987"/>
            <a:chExt cx="3002384" cy="2516547"/>
          </a:xfrm>
        </p:grpSpPr>
        <p:sp>
          <p:nvSpPr>
            <p:cNvPr id="6" name="object 6"/>
            <p:cNvSpPr/>
            <p:nvPr/>
          </p:nvSpPr>
          <p:spPr>
            <a:xfrm>
              <a:off x="7601988" y="2177934"/>
              <a:ext cx="3000894" cy="251460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7600498" y="2175987"/>
              <a:ext cx="2851785" cy="2362200"/>
            </a:xfrm>
            <a:custGeom>
              <a:avLst/>
              <a:gdLst/>
              <a:ahLst/>
              <a:cxnLst/>
              <a:rect l="l" t="t" r="r" b="b"/>
              <a:pathLst>
                <a:path w="2851784" h="2362200">
                  <a:moveTo>
                    <a:pt x="2851779" y="0"/>
                  </a:moveTo>
                  <a:lnTo>
                    <a:pt x="456749" y="0"/>
                  </a:lnTo>
                  <a:lnTo>
                    <a:pt x="456749" y="156166"/>
                  </a:lnTo>
                  <a:lnTo>
                    <a:pt x="216653" y="156166"/>
                  </a:lnTo>
                  <a:lnTo>
                    <a:pt x="216653" y="306210"/>
                  </a:lnTo>
                  <a:lnTo>
                    <a:pt x="0" y="306210"/>
                  </a:lnTo>
                  <a:lnTo>
                    <a:pt x="0" y="1970030"/>
                  </a:lnTo>
                  <a:lnTo>
                    <a:pt x="583975" y="2362200"/>
                  </a:lnTo>
                  <a:lnTo>
                    <a:pt x="2404383" y="2362200"/>
                  </a:lnTo>
                  <a:lnTo>
                    <a:pt x="2404383" y="2210625"/>
                  </a:lnTo>
                  <a:lnTo>
                    <a:pt x="2628016" y="2210625"/>
                  </a:lnTo>
                  <a:lnTo>
                    <a:pt x="2628016" y="2059051"/>
                  </a:lnTo>
                  <a:lnTo>
                    <a:pt x="2851779" y="2059051"/>
                  </a:lnTo>
                  <a:lnTo>
                    <a:pt x="2851779" y="0"/>
                  </a:lnTo>
                  <a:close/>
                </a:path>
              </a:pathLst>
            </a:custGeom>
            <a:solidFill>
              <a:srgbClr val="D9D7D7"/>
            </a:solidFill>
          </p:spPr>
          <p:txBody>
            <a:bodyPr wrap="square" lIns="0" tIns="0" rIns="0" bIns="0" rtlCol="0"/>
            <a:lstStyle/>
            <a:p>
              <a:endParaRPr/>
            </a:p>
          </p:txBody>
        </p:sp>
        <p:sp>
          <p:nvSpPr>
            <p:cNvPr id="8" name="object 8"/>
            <p:cNvSpPr/>
            <p:nvPr/>
          </p:nvSpPr>
          <p:spPr>
            <a:xfrm>
              <a:off x="10004882" y="2481579"/>
              <a:ext cx="224154" cy="1905000"/>
            </a:xfrm>
            <a:custGeom>
              <a:avLst/>
              <a:gdLst/>
              <a:ahLst/>
              <a:cxnLst/>
              <a:rect l="l" t="t" r="r" b="b"/>
              <a:pathLst>
                <a:path w="224154" h="1905000">
                  <a:moveTo>
                    <a:pt x="0" y="1905000"/>
                  </a:moveTo>
                  <a:lnTo>
                    <a:pt x="223633" y="1905000"/>
                  </a:lnTo>
                  <a:lnTo>
                    <a:pt x="223633" y="0"/>
                  </a:lnTo>
                  <a:lnTo>
                    <a:pt x="0" y="0"/>
                  </a:lnTo>
                  <a:lnTo>
                    <a:pt x="0" y="1905000"/>
                  </a:lnTo>
                  <a:close/>
                </a:path>
              </a:pathLst>
            </a:custGeom>
            <a:solidFill>
              <a:srgbClr val="D9D7D7"/>
            </a:solidFill>
          </p:spPr>
          <p:txBody>
            <a:bodyPr wrap="square" lIns="0" tIns="0" rIns="0" bIns="0" rtlCol="0"/>
            <a:lstStyle/>
            <a:p>
              <a:endParaRPr/>
            </a:p>
          </p:txBody>
        </p:sp>
        <p:sp>
          <p:nvSpPr>
            <p:cNvPr id="9" name="object 9"/>
            <p:cNvSpPr/>
            <p:nvPr/>
          </p:nvSpPr>
          <p:spPr>
            <a:xfrm>
              <a:off x="7817152" y="2331720"/>
              <a:ext cx="2411730" cy="149860"/>
            </a:xfrm>
            <a:custGeom>
              <a:avLst/>
              <a:gdLst/>
              <a:ahLst/>
              <a:cxnLst/>
              <a:rect l="l" t="t" r="r" b="b"/>
              <a:pathLst>
                <a:path w="2411729" h="149860">
                  <a:moveTo>
                    <a:pt x="0" y="149860"/>
                  </a:moveTo>
                  <a:lnTo>
                    <a:pt x="2411362" y="149860"/>
                  </a:lnTo>
                  <a:lnTo>
                    <a:pt x="2411362" y="0"/>
                  </a:lnTo>
                  <a:lnTo>
                    <a:pt x="0" y="0"/>
                  </a:lnTo>
                  <a:lnTo>
                    <a:pt x="0" y="149860"/>
                  </a:lnTo>
                  <a:close/>
                </a:path>
              </a:pathLst>
            </a:custGeom>
            <a:solidFill>
              <a:srgbClr val="D9D7D7"/>
            </a:solidFill>
          </p:spPr>
          <p:txBody>
            <a:bodyPr wrap="square" lIns="0" tIns="0" rIns="0" bIns="0" rtlCol="0"/>
            <a:lstStyle/>
            <a:p>
              <a:endParaRPr/>
            </a:p>
          </p:txBody>
        </p:sp>
        <p:sp>
          <p:nvSpPr>
            <p:cNvPr id="10" name="object 10"/>
            <p:cNvSpPr/>
            <p:nvPr/>
          </p:nvSpPr>
          <p:spPr>
            <a:xfrm>
              <a:off x="7600498" y="4144487"/>
              <a:ext cx="584200" cy="393700"/>
            </a:xfrm>
            <a:custGeom>
              <a:avLst/>
              <a:gdLst/>
              <a:ahLst/>
              <a:cxnLst/>
              <a:rect l="l" t="t" r="r" b="b"/>
              <a:pathLst>
                <a:path w="584200" h="393700">
                  <a:moveTo>
                    <a:pt x="583975" y="0"/>
                  </a:moveTo>
                  <a:lnTo>
                    <a:pt x="0" y="1530"/>
                  </a:lnTo>
                  <a:lnTo>
                    <a:pt x="583975" y="393700"/>
                  </a:lnTo>
                  <a:lnTo>
                    <a:pt x="583975" y="0"/>
                  </a:lnTo>
                  <a:close/>
                </a:path>
              </a:pathLst>
            </a:custGeom>
            <a:solidFill>
              <a:srgbClr val="D9D7D7"/>
            </a:solidFill>
          </p:spPr>
          <p:txBody>
            <a:bodyPr wrap="square" lIns="0" tIns="0" rIns="0" bIns="0" rtlCol="0"/>
            <a:lstStyle/>
            <a:p>
              <a:endParaRPr/>
            </a:p>
          </p:txBody>
        </p:sp>
        <p:sp>
          <p:nvSpPr>
            <p:cNvPr id="11" name="object 11"/>
            <p:cNvSpPr/>
            <p:nvPr/>
          </p:nvSpPr>
          <p:spPr>
            <a:xfrm>
              <a:off x="7600498" y="2175987"/>
              <a:ext cx="2851785" cy="2362200"/>
            </a:xfrm>
            <a:custGeom>
              <a:avLst/>
              <a:gdLst/>
              <a:ahLst/>
              <a:cxnLst/>
              <a:rect l="l" t="t" r="r" b="b"/>
              <a:pathLst>
                <a:path w="2851784" h="2362200">
                  <a:moveTo>
                    <a:pt x="0" y="1970030"/>
                  </a:moveTo>
                  <a:lnTo>
                    <a:pt x="0" y="306211"/>
                  </a:lnTo>
                  <a:lnTo>
                    <a:pt x="216652" y="306211"/>
                  </a:lnTo>
                  <a:lnTo>
                    <a:pt x="216652" y="156167"/>
                  </a:lnTo>
                  <a:lnTo>
                    <a:pt x="456748" y="156167"/>
                  </a:lnTo>
                  <a:lnTo>
                    <a:pt x="456748" y="0"/>
                  </a:lnTo>
                  <a:lnTo>
                    <a:pt x="2851779" y="0"/>
                  </a:lnTo>
                  <a:lnTo>
                    <a:pt x="2851779" y="2059050"/>
                  </a:lnTo>
                  <a:lnTo>
                    <a:pt x="2628015" y="2059050"/>
                  </a:lnTo>
                  <a:lnTo>
                    <a:pt x="2628015" y="2210625"/>
                  </a:lnTo>
                  <a:lnTo>
                    <a:pt x="2404382" y="2210625"/>
                  </a:lnTo>
                  <a:lnTo>
                    <a:pt x="2404382" y="2362199"/>
                  </a:lnTo>
                  <a:lnTo>
                    <a:pt x="583974" y="2362199"/>
                  </a:lnTo>
                  <a:lnTo>
                    <a:pt x="0" y="1970030"/>
                  </a:lnTo>
                  <a:close/>
                </a:path>
              </a:pathLst>
            </a:custGeom>
            <a:ln w="9524">
              <a:solidFill>
                <a:srgbClr val="000000"/>
              </a:solidFill>
            </a:ln>
          </p:spPr>
          <p:txBody>
            <a:bodyPr wrap="square" lIns="0" tIns="0" rIns="0" bIns="0" rtlCol="0"/>
            <a:lstStyle/>
            <a:p>
              <a:endParaRPr/>
            </a:p>
          </p:txBody>
        </p:sp>
        <p:sp>
          <p:nvSpPr>
            <p:cNvPr id="12" name="object 12"/>
            <p:cNvSpPr/>
            <p:nvPr/>
          </p:nvSpPr>
          <p:spPr>
            <a:xfrm>
              <a:off x="7817151" y="2332155"/>
              <a:ext cx="2411730" cy="2054860"/>
            </a:xfrm>
            <a:custGeom>
              <a:avLst/>
              <a:gdLst/>
              <a:ahLst/>
              <a:cxnLst/>
              <a:rect l="l" t="t" r="r" b="b"/>
              <a:pathLst>
                <a:path w="2411729" h="2054860">
                  <a:moveTo>
                    <a:pt x="242466" y="0"/>
                  </a:moveTo>
                  <a:lnTo>
                    <a:pt x="2411362" y="0"/>
                  </a:lnTo>
                  <a:lnTo>
                    <a:pt x="2411362" y="2054457"/>
                  </a:lnTo>
                  <a:lnTo>
                    <a:pt x="2187729" y="2054457"/>
                  </a:lnTo>
                  <a:lnTo>
                    <a:pt x="2187729" y="150043"/>
                  </a:lnTo>
                  <a:lnTo>
                    <a:pt x="0" y="150043"/>
                  </a:lnTo>
                  <a:lnTo>
                    <a:pt x="0" y="0"/>
                  </a:lnTo>
                  <a:lnTo>
                    <a:pt x="242466" y="0"/>
                  </a:lnTo>
                  <a:close/>
                </a:path>
              </a:pathLst>
            </a:custGeom>
            <a:ln w="9524">
              <a:solidFill>
                <a:srgbClr val="000000"/>
              </a:solidFill>
            </a:ln>
          </p:spPr>
          <p:txBody>
            <a:bodyPr wrap="square" lIns="0" tIns="0" rIns="0" bIns="0" rtlCol="0"/>
            <a:lstStyle/>
            <a:p>
              <a:endParaRPr/>
            </a:p>
          </p:txBody>
        </p:sp>
        <p:sp>
          <p:nvSpPr>
            <p:cNvPr id="13" name="object 13"/>
            <p:cNvSpPr/>
            <p:nvPr/>
          </p:nvSpPr>
          <p:spPr>
            <a:xfrm>
              <a:off x="7600498" y="4144486"/>
              <a:ext cx="584200" cy="393700"/>
            </a:xfrm>
            <a:custGeom>
              <a:avLst/>
              <a:gdLst/>
              <a:ahLst/>
              <a:cxnLst/>
              <a:rect l="l" t="t" r="r" b="b"/>
              <a:pathLst>
                <a:path w="584200" h="393700">
                  <a:moveTo>
                    <a:pt x="0" y="1530"/>
                  </a:moveTo>
                  <a:lnTo>
                    <a:pt x="583974" y="0"/>
                  </a:lnTo>
                  <a:lnTo>
                    <a:pt x="583974" y="393699"/>
                  </a:lnTo>
                  <a:lnTo>
                    <a:pt x="0" y="1530"/>
                  </a:lnTo>
                  <a:close/>
                </a:path>
              </a:pathLst>
            </a:custGeom>
            <a:ln w="9524">
              <a:solidFill>
                <a:srgbClr val="000000"/>
              </a:solidFill>
            </a:ln>
          </p:spPr>
          <p:txBody>
            <a:bodyPr wrap="square" lIns="0" tIns="0" rIns="0" bIns="0" rtlCol="0"/>
            <a:lstStyle/>
            <a:p>
              <a:endParaRPr/>
            </a:p>
          </p:txBody>
        </p:sp>
        <p:sp>
          <p:nvSpPr>
            <p:cNvPr id="14" name="object 14"/>
            <p:cNvSpPr txBox="1"/>
            <p:nvPr/>
          </p:nvSpPr>
          <p:spPr>
            <a:xfrm>
              <a:off x="8521325" y="2572544"/>
              <a:ext cx="804545" cy="223520"/>
            </a:xfrm>
            <a:prstGeom prst="rect">
              <a:avLst/>
            </a:prstGeom>
          </p:spPr>
          <p:txBody>
            <a:bodyPr vert="horz" wrap="square" lIns="0" tIns="12700" rIns="0" bIns="0" rtlCol="0">
              <a:spAutoFit/>
            </a:bodyPr>
            <a:lstStyle/>
            <a:p>
              <a:pPr marL="12700">
                <a:lnSpc>
                  <a:spcPct val="100000"/>
                </a:lnSpc>
                <a:spcBef>
                  <a:spcPts val="100"/>
                </a:spcBef>
              </a:pPr>
              <a:r>
                <a:rPr sz="1300" b="1" dirty="0">
                  <a:latin typeface="Calibri" panose="020F0502020204030204"/>
                  <a:cs typeface="Calibri" panose="020F0502020204030204"/>
                </a:rPr>
                <a:t>D</a:t>
              </a:r>
              <a:r>
                <a:rPr sz="1300" b="1" spc="-5" dirty="0">
                  <a:latin typeface="Calibri" panose="020F0502020204030204"/>
                  <a:cs typeface="Calibri" panose="020F0502020204030204"/>
                </a:rPr>
                <a:t>ocument</a:t>
              </a:r>
              <a:r>
                <a:rPr sz="1300" b="1" dirty="0">
                  <a:latin typeface="Calibri" panose="020F0502020204030204"/>
                  <a:cs typeface="Calibri" panose="020F0502020204030204"/>
                </a:rPr>
                <a:t>s</a:t>
              </a:r>
              <a:endParaRPr sz="1300">
                <a:latin typeface="Calibri" panose="020F0502020204030204"/>
                <a:cs typeface="Calibri" panose="020F0502020204030204"/>
              </a:endParaRPr>
            </a:p>
          </p:txBody>
        </p:sp>
        <p:sp>
          <p:nvSpPr>
            <p:cNvPr id="15" name="object 15"/>
            <p:cNvSpPr txBox="1"/>
            <p:nvPr/>
          </p:nvSpPr>
          <p:spPr>
            <a:xfrm>
              <a:off x="7679240" y="2902744"/>
              <a:ext cx="1547495" cy="1214120"/>
            </a:xfrm>
            <a:prstGeom prst="rect">
              <a:avLst/>
            </a:prstGeom>
          </p:spPr>
          <p:txBody>
            <a:bodyPr vert="horz" wrap="square" lIns="0" tIns="12700" rIns="0" bIns="0" rtlCol="0">
              <a:spAutoFit/>
            </a:bodyPr>
            <a:lstStyle/>
            <a:p>
              <a:pPr marL="132080" indent="-120015">
                <a:lnSpc>
                  <a:spcPct val="100000"/>
                </a:lnSpc>
                <a:spcBef>
                  <a:spcPts val="100"/>
                </a:spcBef>
                <a:buChar char="•"/>
                <a:tabLst>
                  <a:tab pos="132715" algn="l"/>
                </a:tabLst>
              </a:pPr>
              <a:r>
                <a:rPr sz="1300" spc="-5" dirty="0">
                  <a:latin typeface="Calibri" panose="020F0502020204030204"/>
                  <a:cs typeface="Calibri" panose="020F0502020204030204"/>
                </a:rPr>
                <a:t>Request for</a:t>
              </a:r>
              <a:r>
                <a:rPr sz="1300" spc="-20" dirty="0">
                  <a:latin typeface="Calibri" panose="020F0502020204030204"/>
                  <a:cs typeface="Calibri" panose="020F0502020204030204"/>
                </a:rPr>
                <a:t> </a:t>
              </a:r>
              <a:r>
                <a:rPr sz="1300" spc="-5" dirty="0">
                  <a:latin typeface="Calibri" panose="020F0502020204030204"/>
                  <a:cs typeface="Calibri" panose="020F0502020204030204"/>
                </a:rPr>
                <a:t>Proposal</a:t>
              </a:r>
              <a:endParaRPr sz="1300" dirty="0">
                <a:latin typeface="Calibri" panose="020F0502020204030204"/>
                <a:cs typeface="Calibri" panose="020F0502020204030204"/>
              </a:endParaRPr>
            </a:p>
            <a:p>
              <a:pPr marL="132080" indent="-120015">
                <a:lnSpc>
                  <a:spcPts val="1530"/>
                </a:lnSpc>
                <a:spcBef>
                  <a:spcPts val="40"/>
                </a:spcBef>
                <a:buChar char="•"/>
                <a:tabLst>
                  <a:tab pos="132715" algn="l"/>
                </a:tabLst>
              </a:pPr>
              <a:r>
                <a:rPr sz="1300" spc="-5" dirty="0">
                  <a:latin typeface="Calibri" panose="020F0502020204030204"/>
                  <a:cs typeface="Calibri" panose="020F0502020204030204"/>
                </a:rPr>
                <a:t>Statement of</a:t>
              </a:r>
              <a:r>
                <a:rPr sz="1300" spc="-15" dirty="0">
                  <a:latin typeface="Calibri" panose="020F0502020204030204"/>
                  <a:cs typeface="Calibri" panose="020F0502020204030204"/>
                </a:rPr>
                <a:t> </a:t>
              </a:r>
              <a:r>
                <a:rPr sz="1300" spc="-5" dirty="0">
                  <a:latin typeface="Calibri" panose="020F0502020204030204"/>
                  <a:cs typeface="Calibri" panose="020F0502020204030204"/>
                </a:rPr>
                <a:t>Work</a:t>
              </a:r>
              <a:endParaRPr sz="1300" dirty="0">
                <a:latin typeface="Calibri" panose="020F0502020204030204"/>
                <a:cs typeface="Calibri" panose="020F0502020204030204"/>
              </a:endParaRPr>
            </a:p>
            <a:p>
              <a:pPr marL="132080" indent="-120015">
                <a:lnSpc>
                  <a:spcPts val="1530"/>
                </a:lnSpc>
                <a:buChar char="•"/>
                <a:tabLst>
                  <a:tab pos="132715" algn="l"/>
                </a:tabLst>
              </a:pPr>
              <a:r>
                <a:rPr sz="1300" spc="-5" dirty="0">
                  <a:latin typeface="Calibri" panose="020F0502020204030204"/>
                  <a:cs typeface="Calibri" panose="020F0502020204030204"/>
                </a:rPr>
                <a:t>Contract/Task</a:t>
              </a:r>
              <a:r>
                <a:rPr sz="1300" spc="-25" dirty="0">
                  <a:latin typeface="Calibri" panose="020F0502020204030204"/>
                  <a:cs typeface="Calibri" panose="020F0502020204030204"/>
                </a:rPr>
                <a:t> </a:t>
              </a:r>
              <a:r>
                <a:rPr sz="1300" dirty="0">
                  <a:latin typeface="Calibri" panose="020F0502020204030204"/>
                  <a:cs typeface="Calibri" panose="020F0502020204030204"/>
                </a:rPr>
                <a:t>Order</a:t>
              </a:r>
            </a:p>
            <a:p>
              <a:pPr marL="132080" indent="-120015">
                <a:lnSpc>
                  <a:spcPts val="1530"/>
                </a:lnSpc>
                <a:spcBef>
                  <a:spcPts val="40"/>
                </a:spcBef>
                <a:buChar char="•"/>
                <a:tabLst>
                  <a:tab pos="132715" algn="l"/>
                </a:tabLst>
              </a:pPr>
              <a:r>
                <a:rPr sz="1300" spc="-5" dirty="0">
                  <a:latin typeface="Calibri" panose="020F0502020204030204"/>
                  <a:cs typeface="Calibri" panose="020F0502020204030204"/>
                </a:rPr>
                <a:t>Proposal</a:t>
              </a:r>
              <a:endParaRPr sz="1300" dirty="0">
                <a:latin typeface="Calibri" panose="020F0502020204030204"/>
                <a:cs typeface="Calibri" panose="020F0502020204030204"/>
              </a:endParaRPr>
            </a:p>
            <a:p>
              <a:pPr marL="132080" indent="-120015">
                <a:lnSpc>
                  <a:spcPts val="1530"/>
                </a:lnSpc>
                <a:buChar char="•"/>
                <a:tabLst>
                  <a:tab pos="132715" algn="l"/>
                </a:tabLst>
              </a:pPr>
              <a:r>
                <a:rPr sz="1300" spc="-5" dirty="0">
                  <a:latin typeface="Calibri" panose="020F0502020204030204"/>
                  <a:cs typeface="Calibri" panose="020F0502020204030204"/>
                </a:rPr>
                <a:t>Standards</a:t>
              </a:r>
              <a:endParaRPr sz="1300" dirty="0">
                <a:latin typeface="Calibri" panose="020F0502020204030204"/>
                <a:cs typeface="Calibri" panose="020F0502020204030204"/>
              </a:endParaRPr>
            </a:p>
            <a:p>
              <a:pPr marL="132080" indent="-120015">
                <a:lnSpc>
                  <a:spcPct val="100000"/>
                </a:lnSpc>
                <a:spcBef>
                  <a:spcPts val="40"/>
                </a:spcBef>
                <a:buChar char="•"/>
                <a:tabLst>
                  <a:tab pos="132715" algn="l"/>
                </a:tabLst>
              </a:pPr>
              <a:r>
                <a:rPr sz="1300" dirty="0">
                  <a:latin typeface="Calibri" panose="020F0502020204030204"/>
                  <a:cs typeface="Calibri" panose="020F0502020204030204"/>
                </a:rPr>
                <a:t>Other</a:t>
              </a:r>
              <a:r>
                <a:rPr sz="1300" spc="-10" dirty="0">
                  <a:latin typeface="Calibri" panose="020F0502020204030204"/>
                  <a:cs typeface="Calibri" panose="020F0502020204030204"/>
                </a:rPr>
                <a:t> </a:t>
              </a:r>
              <a:r>
                <a:rPr sz="1300" spc="-5" dirty="0">
                  <a:latin typeface="Calibri" panose="020F0502020204030204"/>
                  <a:cs typeface="Calibri" panose="020F0502020204030204"/>
                </a:rPr>
                <a:t>Documents</a:t>
              </a:r>
              <a:endParaRPr sz="1300" dirty="0">
                <a:latin typeface="Calibri" panose="020F0502020204030204"/>
                <a:cs typeface="Calibri" panose="020F0502020204030204"/>
              </a:endParaRPr>
            </a:p>
          </p:txBody>
        </p:sp>
      </p:grpSp>
      <p:sp>
        <p:nvSpPr>
          <p:cNvPr id="18" name="标题 17"/>
          <p:cNvSpPr>
            <a:spLocks noGrp="1"/>
          </p:cNvSpPr>
          <p:nvPr>
            <p:ph type="title"/>
          </p:nvPr>
        </p:nvSpPr>
        <p:spPr/>
        <p:txBody>
          <a:bodyPr/>
          <a:lstStyle/>
          <a:p>
            <a:r>
              <a:rPr lang="zh-CN" altLang="en-US" spc="-5" dirty="0"/>
              <a:t>文档分析</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42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1949"/>
    </mc:Choice>
    <mc:Fallback xmlns="">
      <p:transition spd="slow" advTm="41949"/>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16117" y="1606786"/>
            <a:ext cx="4267200" cy="4527550"/>
          </a:xfrm>
          <a:prstGeom prst="rect">
            <a:avLst/>
          </a:prstGeom>
        </p:spPr>
        <p:txBody>
          <a:bodyPr vert="horz" wrap="square" lIns="0" tIns="155575" rIns="0" bIns="0" rtlCol="0">
            <a:spAutoFit/>
          </a:bodyPr>
          <a:lstStyle/>
          <a:p>
            <a:pPr marL="241300" indent="-228600">
              <a:lnSpc>
                <a:spcPct val="100000"/>
              </a:lnSpc>
              <a:spcBef>
                <a:spcPts val="1225"/>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目标</a:t>
            </a:r>
          </a:p>
          <a:p>
            <a:pPr marL="698500" lvl="1" indent="-228600">
              <a:lnSpc>
                <a:spcPct val="100000"/>
              </a:lnSpc>
              <a:spcBef>
                <a:spcPts val="94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明确含糊、不确定的需求</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简化需求文档，确认需求</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尽早获得最终用户和客户的反馈</a:t>
            </a:r>
          </a:p>
          <a:p>
            <a:pPr marL="241300" indent="-228600">
              <a:lnSpc>
                <a:spcPct val="100000"/>
              </a:lnSpc>
              <a:spcBef>
                <a:spcPts val="148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指导方针</a:t>
            </a:r>
          </a:p>
          <a:p>
            <a:pPr marL="698500" lvl="1" indent="-228600">
              <a:lnSpc>
                <a:spcPct val="100000"/>
              </a:lnSpc>
              <a:spcBef>
                <a:spcPts val="104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用于确认需求</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用于提供需求评估的数据基础</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用于评估不同的用户界面方案</a:t>
            </a:r>
          </a:p>
          <a:p>
            <a:pPr marL="698500" lvl="1" indent="-228600">
              <a:lnSpc>
                <a:spcPct val="100000"/>
              </a:lnSpc>
              <a:spcBef>
                <a:spcPts val="9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帮助用户可视化关键的功能</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直观、有效的沟通工具</a:t>
            </a:r>
          </a:p>
        </p:txBody>
      </p:sp>
      <p:grpSp>
        <p:nvGrpSpPr>
          <p:cNvPr id="47" name="组合 46"/>
          <p:cNvGrpSpPr/>
          <p:nvPr/>
        </p:nvGrpSpPr>
        <p:grpSpPr>
          <a:xfrm>
            <a:off x="7353298" y="2307114"/>
            <a:ext cx="3251217" cy="3161030"/>
            <a:chOff x="8737598" y="1524000"/>
            <a:chExt cx="3251217" cy="3161030"/>
          </a:xfrm>
        </p:grpSpPr>
        <p:sp>
          <p:nvSpPr>
            <p:cNvPr id="4" name="object 4"/>
            <p:cNvSpPr/>
            <p:nvPr/>
          </p:nvSpPr>
          <p:spPr>
            <a:xfrm>
              <a:off x="8737598" y="1524000"/>
              <a:ext cx="2681605" cy="2132330"/>
            </a:xfrm>
            <a:custGeom>
              <a:avLst/>
              <a:gdLst/>
              <a:ahLst/>
              <a:cxnLst/>
              <a:rect l="l" t="t" r="r" b="b"/>
              <a:pathLst>
                <a:path w="2681604" h="2132329">
                  <a:moveTo>
                    <a:pt x="0" y="0"/>
                  </a:moveTo>
                  <a:lnTo>
                    <a:pt x="2680999" y="0"/>
                  </a:lnTo>
                  <a:lnTo>
                    <a:pt x="2680999" y="2131855"/>
                  </a:lnTo>
                  <a:lnTo>
                    <a:pt x="0" y="2131855"/>
                  </a:lnTo>
                  <a:lnTo>
                    <a:pt x="0" y="0"/>
                  </a:lnTo>
                  <a:close/>
                </a:path>
              </a:pathLst>
            </a:custGeom>
            <a:ln w="20637">
              <a:solidFill>
                <a:srgbClr val="000000"/>
              </a:solidFill>
            </a:ln>
          </p:spPr>
          <p:txBody>
            <a:bodyPr wrap="square" lIns="0" tIns="0" rIns="0" bIns="0" rtlCol="0"/>
            <a:lstStyle/>
            <a:p>
              <a:endParaRPr/>
            </a:p>
          </p:txBody>
        </p:sp>
        <p:sp>
          <p:nvSpPr>
            <p:cNvPr id="5" name="object 5"/>
            <p:cNvSpPr txBox="1"/>
            <p:nvPr/>
          </p:nvSpPr>
          <p:spPr>
            <a:xfrm>
              <a:off x="8816338" y="1557020"/>
              <a:ext cx="6858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panose="02020603050405020304"/>
                  <a:cs typeface="Times New Roman" panose="02020603050405020304"/>
                </a:rPr>
                <a:t>H</a:t>
              </a:r>
              <a:r>
                <a:rPr sz="1800" spc="-5" dirty="0">
                  <a:latin typeface="Times New Roman" panose="02020603050405020304"/>
                  <a:cs typeface="Times New Roman" panose="02020603050405020304"/>
                </a:rPr>
                <a:t>ea</a:t>
              </a:r>
              <a:r>
                <a:rPr sz="1800" dirty="0">
                  <a:latin typeface="Times New Roman" panose="02020603050405020304"/>
                  <a:cs typeface="Times New Roman" panose="02020603050405020304"/>
                </a:rPr>
                <a:t>d</a:t>
              </a:r>
              <a:r>
                <a:rPr sz="1800" spc="-5" dirty="0">
                  <a:latin typeface="Times New Roman" panose="02020603050405020304"/>
                  <a:cs typeface="Times New Roman" panose="02020603050405020304"/>
                </a:rPr>
                <a:t>e</a:t>
              </a:r>
              <a:r>
                <a:rPr sz="1800" dirty="0">
                  <a:latin typeface="Times New Roman" panose="02020603050405020304"/>
                  <a:cs typeface="Times New Roman" panose="02020603050405020304"/>
                </a:rPr>
                <a:t>r</a:t>
              </a:r>
              <a:endParaRPr sz="1800">
                <a:latin typeface="Times New Roman" panose="02020603050405020304"/>
                <a:cs typeface="Times New Roman" panose="02020603050405020304"/>
              </a:endParaRPr>
            </a:p>
          </p:txBody>
        </p:sp>
        <p:sp>
          <p:nvSpPr>
            <p:cNvPr id="6" name="object 6"/>
            <p:cNvSpPr/>
            <p:nvPr/>
          </p:nvSpPr>
          <p:spPr>
            <a:xfrm>
              <a:off x="10536867" y="2733931"/>
              <a:ext cx="721360" cy="146050"/>
            </a:xfrm>
            <a:custGeom>
              <a:avLst/>
              <a:gdLst/>
              <a:ahLst/>
              <a:cxnLst/>
              <a:rect l="l" t="t" r="r" b="b"/>
              <a:pathLst>
                <a:path w="721359" h="146050">
                  <a:moveTo>
                    <a:pt x="696334" y="0"/>
                  </a:moveTo>
                  <a:lnTo>
                    <a:pt x="36215" y="71153"/>
                  </a:lnTo>
                  <a:lnTo>
                    <a:pt x="0" y="106164"/>
                  </a:lnTo>
                  <a:lnTo>
                    <a:pt x="18108" y="133271"/>
                  </a:lnTo>
                  <a:lnTo>
                    <a:pt x="79016" y="145694"/>
                  </a:lnTo>
                  <a:lnTo>
                    <a:pt x="146509" y="145694"/>
                  </a:lnTo>
                  <a:lnTo>
                    <a:pt x="184372" y="142306"/>
                  </a:lnTo>
                  <a:lnTo>
                    <a:pt x="217295" y="138917"/>
                  </a:lnTo>
                  <a:lnTo>
                    <a:pt x="260097" y="133271"/>
                  </a:lnTo>
                  <a:lnTo>
                    <a:pt x="465538" y="133271"/>
                  </a:lnTo>
                  <a:lnTo>
                    <a:pt x="480684" y="131011"/>
                  </a:lnTo>
                  <a:lnTo>
                    <a:pt x="513608" y="125365"/>
                  </a:lnTo>
                  <a:lnTo>
                    <a:pt x="719562" y="125365"/>
                  </a:lnTo>
                  <a:lnTo>
                    <a:pt x="696334" y="0"/>
                  </a:lnTo>
                  <a:close/>
                </a:path>
                <a:path w="721359" h="146050">
                  <a:moveTo>
                    <a:pt x="465538" y="133271"/>
                  </a:moveTo>
                  <a:lnTo>
                    <a:pt x="260097" y="133271"/>
                  </a:lnTo>
                  <a:lnTo>
                    <a:pt x="304543" y="134400"/>
                  </a:lnTo>
                  <a:lnTo>
                    <a:pt x="348990" y="136659"/>
                  </a:lnTo>
                  <a:lnTo>
                    <a:pt x="398376" y="140047"/>
                  </a:lnTo>
                  <a:lnTo>
                    <a:pt x="442822" y="136659"/>
                  </a:lnTo>
                  <a:lnTo>
                    <a:pt x="465538" y="133271"/>
                  </a:lnTo>
                  <a:close/>
                </a:path>
                <a:path w="721359" h="146050">
                  <a:moveTo>
                    <a:pt x="719562" y="125365"/>
                  </a:moveTo>
                  <a:lnTo>
                    <a:pt x="513608" y="125365"/>
                  </a:lnTo>
                  <a:lnTo>
                    <a:pt x="541594" y="126494"/>
                  </a:lnTo>
                  <a:lnTo>
                    <a:pt x="605793" y="133271"/>
                  </a:lnTo>
                  <a:lnTo>
                    <a:pt x="628840" y="135529"/>
                  </a:lnTo>
                  <a:lnTo>
                    <a:pt x="660119" y="136659"/>
                  </a:lnTo>
                  <a:lnTo>
                    <a:pt x="721027" y="133271"/>
                  </a:lnTo>
                  <a:lnTo>
                    <a:pt x="719562" y="125365"/>
                  </a:lnTo>
                  <a:close/>
                </a:path>
              </a:pathLst>
            </a:custGeom>
            <a:solidFill>
              <a:srgbClr val="BC7C00"/>
            </a:solidFill>
          </p:spPr>
          <p:txBody>
            <a:bodyPr wrap="square" lIns="0" tIns="0" rIns="0" bIns="0" rtlCol="0"/>
            <a:lstStyle/>
            <a:p>
              <a:endParaRPr/>
            </a:p>
          </p:txBody>
        </p:sp>
        <p:sp>
          <p:nvSpPr>
            <p:cNvPr id="7" name="object 7"/>
            <p:cNvSpPr/>
            <p:nvPr/>
          </p:nvSpPr>
          <p:spPr>
            <a:xfrm>
              <a:off x="10536867" y="2733931"/>
              <a:ext cx="721360" cy="146050"/>
            </a:xfrm>
            <a:custGeom>
              <a:avLst/>
              <a:gdLst/>
              <a:ahLst/>
              <a:cxnLst/>
              <a:rect l="l" t="t" r="r" b="b"/>
              <a:pathLst>
                <a:path w="721359" h="146050">
                  <a:moveTo>
                    <a:pt x="36215" y="71153"/>
                  </a:moveTo>
                  <a:lnTo>
                    <a:pt x="0" y="106165"/>
                  </a:lnTo>
                  <a:lnTo>
                    <a:pt x="18108" y="133271"/>
                  </a:lnTo>
                  <a:lnTo>
                    <a:pt x="79016" y="145695"/>
                  </a:lnTo>
                  <a:lnTo>
                    <a:pt x="146509" y="145695"/>
                  </a:lnTo>
                  <a:lnTo>
                    <a:pt x="184372" y="142306"/>
                  </a:lnTo>
                  <a:lnTo>
                    <a:pt x="217296" y="138918"/>
                  </a:lnTo>
                  <a:lnTo>
                    <a:pt x="260096" y="133271"/>
                  </a:lnTo>
                  <a:lnTo>
                    <a:pt x="304543" y="134400"/>
                  </a:lnTo>
                  <a:lnTo>
                    <a:pt x="348990" y="136659"/>
                  </a:lnTo>
                  <a:lnTo>
                    <a:pt x="398375" y="140048"/>
                  </a:lnTo>
                  <a:lnTo>
                    <a:pt x="442822" y="136659"/>
                  </a:lnTo>
                  <a:lnTo>
                    <a:pt x="480684" y="131012"/>
                  </a:lnTo>
                  <a:lnTo>
                    <a:pt x="513608" y="125365"/>
                  </a:lnTo>
                  <a:lnTo>
                    <a:pt x="541593" y="126495"/>
                  </a:lnTo>
                  <a:lnTo>
                    <a:pt x="574516" y="129883"/>
                  </a:lnTo>
                  <a:lnTo>
                    <a:pt x="605793" y="133271"/>
                  </a:lnTo>
                  <a:lnTo>
                    <a:pt x="628840" y="135530"/>
                  </a:lnTo>
                  <a:lnTo>
                    <a:pt x="660118" y="136659"/>
                  </a:lnTo>
                  <a:lnTo>
                    <a:pt x="721026" y="133271"/>
                  </a:lnTo>
                  <a:lnTo>
                    <a:pt x="696334" y="0"/>
                  </a:lnTo>
                  <a:lnTo>
                    <a:pt x="36215" y="71153"/>
                  </a:lnTo>
                  <a:close/>
                </a:path>
              </a:pathLst>
            </a:custGeom>
            <a:ln w="12699">
              <a:solidFill>
                <a:srgbClr val="000000"/>
              </a:solidFill>
            </a:ln>
          </p:spPr>
          <p:txBody>
            <a:bodyPr wrap="square" lIns="0" tIns="0" rIns="0" bIns="0" rtlCol="0"/>
            <a:lstStyle/>
            <a:p>
              <a:endParaRPr/>
            </a:p>
          </p:txBody>
        </p:sp>
        <p:sp>
          <p:nvSpPr>
            <p:cNvPr id="8" name="object 8"/>
            <p:cNvSpPr/>
            <p:nvPr/>
          </p:nvSpPr>
          <p:spPr>
            <a:xfrm>
              <a:off x="10421635" y="2653742"/>
              <a:ext cx="1567180" cy="867410"/>
            </a:xfrm>
            <a:custGeom>
              <a:avLst/>
              <a:gdLst/>
              <a:ahLst/>
              <a:cxnLst/>
              <a:rect l="l" t="t" r="r" b="b"/>
              <a:pathLst>
                <a:path w="1567179" h="867410">
                  <a:moveTo>
                    <a:pt x="92185" y="131013"/>
                  </a:moveTo>
                  <a:lnTo>
                    <a:pt x="62555" y="133271"/>
                  </a:lnTo>
                  <a:lnTo>
                    <a:pt x="34569" y="138918"/>
                  </a:lnTo>
                  <a:lnTo>
                    <a:pt x="11522" y="145695"/>
                  </a:lnTo>
                  <a:lnTo>
                    <a:pt x="0" y="155859"/>
                  </a:lnTo>
                  <a:lnTo>
                    <a:pt x="4939" y="167154"/>
                  </a:lnTo>
                  <a:lnTo>
                    <a:pt x="29631" y="214589"/>
                  </a:lnTo>
                  <a:lnTo>
                    <a:pt x="49385" y="269930"/>
                  </a:lnTo>
                  <a:lnTo>
                    <a:pt x="49385" y="313979"/>
                  </a:lnTo>
                  <a:lnTo>
                    <a:pt x="74077" y="333179"/>
                  </a:lnTo>
                  <a:lnTo>
                    <a:pt x="134987" y="364803"/>
                  </a:lnTo>
                  <a:lnTo>
                    <a:pt x="195896" y="407720"/>
                  </a:lnTo>
                  <a:lnTo>
                    <a:pt x="230464" y="459673"/>
                  </a:lnTo>
                  <a:lnTo>
                    <a:pt x="256804" y="530828"/>
                  </a:lnTo>
                  <a:lnTo>
                    <a:pt x="299604" y="562452"/>
                  </a:lnTo>
                  <a:lnTo>
                    <a:pt x="368744" y="598592"/>
                  </a:lnTo>
                  <a:lnTo>
                    <a:pt x="439530" y="646028"/>
                  </a:lnTo>
                  <a:lnTo>
                    <a:pt x="576163" y="704758"/>
                  </a:lnTo>
                  <a:lnTo>
                    <a:pt x="638718" y="725088"/>
                  </a:lnTo>
                  <a:lnTo>
                    <a:pt x="699626" y="736382"/>
                  </a:lnTo>
                  <a:lnTo>
                    <a:pt x="729258" y="770265"/>
                  </a:lnTo>
                  <a:lnTo>
                    <a:pt x="768766" y="815442"/>
                  </a:lnTo>
                  <a:lnTo>
                    <a:pt x="836259" y="856101"/>
                  </a:lnTo>
                  <a:lnTo>
                    <a:pt x="860952" y="867396"/>
                  </a:lnTo>
                  <a:lnTo>
                    <a:pt x="898814" y="851583"/>
                  </a:lnTo>
                  <a:lnTo>
                    <a:pt x="935029" y="835771"/>
                  </a:lnTo>
                  <a:lnTo>
                    <a:pt x="1009108" y="812054"/>
                  </a:lnTo>
                  <a:lnTo>
                    <a:pt x="1180311" y="762359"/>
                  </a:lnTo>
                  <a:lnTo>
                    <a:pt x="1264265" y="740900"/>
                  </a:lnTo>
                  <a:lnTo>
                    <a:pt x="1358098" y="726217"/>
                  </a:lnTo>
                  <a:lnTo>
                    <a:pt x="1437115" y="717182"/>
                  </a:lnTo>
                  <a:lnTo>
                    <a:pt x="1551092" y="717182"/>
                  </a:lnTo>
                  <a:lnTo>
                    <a:pt x="1479915" y="682170"/>
                  </a:lnTo>
                  <a:lnTo>
                    <a:pt x="1453577" y="665229"/>
                  </a:lnTo>
                  <a:lnTo>
                    <a:pt x="1400900" y="646028"/>
                  </a:lnTo>
                  <a:lnTo>
                    <a:pt x="1379499" y="631346"/>
                  </a:lnTo>
                  <a:lnTo>
                    <a:pt x="1367976" y="617794"/>
                  </a:lnTo>
                  <a:lnTo>
                    <a:pt x="1376206" y="586169"/>
                  </a:lnTo>
                  <a:lnTo>
                    <a:pt x="1394315" y="486780"/>
                  </a:lnTo>
                  <a:lnTo>
                    <a:pt x="1367976" y="377226"/>
                  </a:lnTo>
                  <a:lnTo>
                    <a:pt x="1367976" y="309462"/>
                  </a:lnTo>
                  <a:lnTo>
                    <a:pt x="413190" y="309462"/>
                  </a:lnTo>
                  <a:lnTo>
                    <a:pt x="309481" y="269930"/>
                  </a:lnTo>
                  <a:lnTo>
                    <a:pt x="299604" y="217978"/>
                  </a:lnTo>
                  <a:lnTo>
                    <a:pt x="238696" y="175060"/>
                  </a:lnTo>
                  <a:lnTo>
                    <a:pt x="169556" y="147953"/>
                  </a:lnTo>
                  <a:lnTo>
                    <a:pt x="121817" y="134400"/>
                  </a:lnTo>
                  <a:lnTo>
                    <a:pt x="92185" y="131013"/>
                  </a:lnTo>
                  <a:close/>
                </a:path>
                <a:path w="1567179" h="867410">
                  <a:moveTo>
                    <a:pt x="1551092" y="717182"/>
                  </a:moveTo>
                  <a:lnTo>
                    <a:pt x="1437115" y="717182"/>
                  </a:lnTo>
                  <a:lnTo>
                    <a:pt x="1509547" y="720571"/>
                  </a:lnTo>
                  <a:lnTo>
                    <a:pt x="1567163" y="725088"/>
                  </a:lnTo>
                  <a:lnTo>
                    <a:pt x="1551092" y="717182"/>
                  </a:lnTo>
                  <a:close/>
                </a:path>
                <a:path w="1567179" h="867410">
                  <a:moveTo>
                    <a:pt x="1189198" y="125365"/>
                  </a:moveTo>
                  <a:lnTo>
                    <a:pt x="676579" y="125365"/>
                  </a:lnTo>
                  <a:lnTo>
                    <a:pt x="681518" y="142307"/>
                  </a:lnTo>
                  <a:lnTo>
                    <a:pt x="683164" y="155859"/>
                  </a:lnTo>
                  <a:lnTo>
                    <a:pt x="681518" y="222496"/>
                  </a:lnTo>
                  <a:lnTo>
                    <a:pt x="638718" y="277837"/>
                  </a:lnTo>
                  <a:lnTo>
                    <a:pt x="576163" y="297037"/>
                  </a:lnTo>
                  <a:lnTo>
                    <a:pt x="413190" y="309462"/>
                  </a:lnTo>
                  <a:lnTo>
                    <a:pt x="1367976" y="309462"/>
                  </a:lnTo>
                  <a:lnTo>
                    <a:pt x="1367976" y="306072"/>
                  </a:lnTo>
                  <a:lnTo>
                    <a:pt x="1384438" y="247342"/>
                  </a:lnTo>
                  <a:lnTo>
                    <a:pt x="1394315" y="220237"/>
                  </a:lnTo>
                  <a:lnTo>
                    <a:pt x="1386083" y="204425"/>
                  </a:lnTo>
                  <a:lnTo>
                    <a:pt x="1374560" y="194260"/>
                  </a:lnTo>
                  <a:lnTo>
                    <a:pt x="1356452" y="184095"/>
                  </a:lnTo>
                  <a:lnTo>
                    <a:pt x="1335051" y="179577"/>
                  </a:lnTo>
                  <a:lnTo>
                    <a:pt x="1305421" y="172801"/>
                  </a:lnTo>
                  <a:lnTo>
                    <a:pt x="1264265" y="162636"/>
                  </a:lnTo>
                  <a:lnTo>
                    <a:pt x="1237927" y="147953"/>
                  </a:lnTo>
                  <a:lnTo>
                    <a:pt x="1189198" y="125365"/>
                  </a:lnTo>
                  <a:close/>
                </a:path>
                <a:path w="1567179" h="867410">
                  <a:moveTo>
                    <a:pt x="716088" y="0"/>
                  </a:moveTo>
                  <a:lnTo>
                    <a:pt x="645302" y="5646"/>
                  </a:lnTo>
                  <a:lnTo>
                    <a:pt x="559701" y="27105"/>
                  </a:lnTo>
                  <a:lnTo>
                    <a:pt x="520193" y="31623"/>
                  </a:lnTo>
                  <a:lnTo>
                    <a:pt x="434591" y="33882"/>
                  </a:lnTo>
                  <a:lnTo>
                    <a:pt x="376975" y="40659"/>
                  </a:lnTo>
                  <a:lnTo>
                    <a:pt x="329236" y="50824"/>
                  </a:lnTo>
                  <a:lnTo>
                    <a:pt x="273265" y="64376"/>
                  </a:lnTo>
                  <a:lnTo>
                    <a:pt x="153094" y="76800"/>
                  </a:lnTo>
                  <a:lnTo>
                    <a:pt x="108647" y="80189"/>
                  </a:lnTo>
                  <a:lnTo>
                    <a:pt x="93832" y="84706"/>
                  </a:lnTo>
                  <a:lnTo>
                    <a:pt x="82308" y="91483"/>
                  </a:lnTo>
                  <a:lnTo>
                    <a:pt x="79016" y="105036"/>
                  </a:lnTo>
                  <a:lnTo>
                    <a:pt x="82308" y="119719"/>
                  </a:lnTo>
                  <a:lnTo>
                    <a:pt x="121817" y="134400"/>
                  </a:lnTo>
                  <a:lnTo>
                    <a:pt x="169556" y="147953"/>
                  </a:lnTo>
                  <a:lnTo>
                    <a:pt x="299604" y="155859"/>
                  </a:lnTo>
                  <a:lnTo>
                    <a:pt x="409898" y="147953"/>
                  </a:lnTo>
                  <a:lnTo>
                    <a:pt x="533634" y="147953"/>
                  </a:lnTo>
                  <a:lnTo>
                    <a:pt x="576163" y="142307"/>
                  </a:lnTo>
                  <a:lnTo>
                    <a:pt x="638718" y="131013"/>
                  </a:lnTo>
                  <a:lnTo>
                    <a:pt x="676579" y="125365"/>
                  </a:lnTo>
                  <a:lnTo>
                    <a:pt x="1189198" y="125365"/>
                  </a:lnTo>
                  <a:lnTo>
                    <a:pt x="1177018" y="119719"/>
                  </a:lnTo>
                  <a:lnTo>
                    <a:pt x="1091417" y="99388"/>
                  </a:lnTo>
                  <a:lnTo>
                    <a:pt x="977831" y="76800"/>
                  </a:lnTo>
                  <a:lnTo>
                    <a:pt x="831321" y="33882"/>
                  </a:lnTo>
                  <a:lnTo>
                    <a:pt x="758889" y="5646"/>
                  </a:lnTo>
                  <a:lnTo>
                    <a:pt x="716088" y="0"/>
                  </a:lnTo>
                  <a:close/>
                </a:path>
                <a:path w="1567179" h="867410">
                  <a:moveTo>
                    <a:pt x="533634" y="147953"/>
                  </a:moveTo>
                  <a:lnTo>
                    <a:pt x="409898" y="147953"/>
                  </a:lnTo>
                  <a:lnTo>
                    <a:pt x="446114" y="151342"/>
                  </a:lnTo>
                  <a:lnTo>
                    <a:pt x="525131" y="149082"/>
                  </a:lnTo>
                  <a:lnTo>
                    <a:pt x="533634" y="147953"/>
                  </a:lnTo>
                  <a:close/>
                </a:path>
              </a:pathLst>
            </a:custGeom>
            <a:solidFill>
              <a:srgbClr val="BC7C00"/>
            </a:solidFill>
          </p:spPr>
          <p:txBody>
            <a:bodyPr wrap="square" lIns="0" tIns="0" rIns="0" bIns="0" rtlCol="0"/>
            <a:lstStyle/>
            <a:p>
              <a:endParaRPr/>
            </a:p>
          </p:txBody>
        </p:sp>
        <p:sp>
          <p:nvSpPr>
            <p:cNvPr id="9" name="object 9"/>
            <p:cNvSpPr/>
            <p:nvPr/>
          </p:nvSpPr>
          <p:spPr>
            <a:xfrm>
              <a:off x="10421635" y="2653742"/>
              <a:ext cx="1567180" cy="867410"/>
            </a:xfrm>
            <a:custGeom>
              <a:avLst/>
              <a:gdLst/>
              <a:ahLst/>
              <a:cxnLst/>
              <a:rect l="l" t="t" r="r" b="b"/>
              <a:pathLst>
                <a:path w="1567179" h="867410">
                  <a:moveTo>
                    <a:pt x="413190" y="309461"/>
                  </a:moveTo>
                  <a:lnTo>
                    <a:pt x="309481" y="269931"/>
                  </a:lnTo>
                  <a:lnTo>
                    <a:pt x="299604" y="217978"/>
                  </a:lnTo>
                  <a:lnTo>
                    <a:pt x="238696" y="175060"/>
                  </a:lnTo>
                  <a:lnTo>
                    <a:pt x="169556" y="147954"/>
                  </a:lnTo>
                  <a:lnTo>
                    <a:pt x="121817" y="134401"/>
                  </a:lnTo>
                  <a:lnTo>
                    <a:pt x="92185" y="131012"/>
                  </a:lnTo>
                  <a:lnTo>
                    <a:pt x="62555" y="133271"/>
                  </a:lnTo>
                  <a:lnTo>
                    <a:pt x="34569" y="138919"/>
                  </a:lnTo>
                  <a:lnTo>
                    <a:pt x="11523" y="145695"/>
                  </a:lnTo>
                  <a:lnTo>
                    <a:pt x="0" y="155860"/>
                  </a:lnTo>
                  <a:lnTo>
                    <a:pt x="4938" y="167154"/>
                  </a:lnTo>
                  <a:lnTo>
                    <a:pt x="29631" y="214590"/>
                  </a:lnTo>
                  <a:lnTo>
                    <a:pt x="49385" y="269931"/>
                  </a:lnTo>
                  <a:lnTo>
                    <a:pt x="49385" y="291390"/>
                  </a:lnTo>
                  <a:lnTo>
                    <a:pt x="49385" y="313979"/>
                  </a:lnTo>
                  <a:lnTo>
                    <a:pt x="74078" y="333179"/>
                  </a:lnTo>
                  <a:lnTo>
                    <a:pt x="134987" y="364803"/>
                  </a:lnTo>
                  <a:lnTo>
                    <a:pt x="195895" y="407721"/>
                  </a:lnTo>
                  <a:lnTo>
                    <a:pt x="230464" y="459674"/>
                  </a:lnTo>
                  <a:lnTo>
                    <a:pt x="256804" y="530827"/>
                  </a:lnTo>
                  <a:lnTo>
                    <a:pt x="299604" y="562452"/>
                  </a:lnTo>
                  <a:lnTo>
                    <a:pt x="368744" y="598593"/>
                  </a:lnTo>
                  <a:lnTo>
                    <a:pt x="439530" y="646029"/>
                  </a:lnTo>
                  <a:lnTo>
                    <a:pt x="576163" y="704759"/>
                  </a:lnTo>
                  <a:lnTo>
                    <a:pt x="638718" y="725088"/>
                  </a:lnTo>
                  <a:lnTo>
                    <a:pt x="699626" y="736382"/>
                  </a:lnTo>
                  <a:lnTo>
                    <a:pt x="729257" y="770265"/>
                  </a:lnTo>
                  <a:lnTo>
                    <a:pt x="768766" y="815442"/>
                  </a:lnTo>
                  <a:lnTo>
                    <a:pt x="836259" y="856101"/>
                  </a:lnTo>
                  <a:lnTo>
                    <a:pt x="860951" y="867395"/>
                  </a:lnTo>
                  <a:lnTo>
                    <a:pt x="898814" y="851583"/>
                  </a:lnTo>
                  <a:lnTo>
                    <a:pt x="935030" y="835771"/>
                  </a:lnTo>
                  <a:lnTo>
                    <a:pt x="1009108" y="812054"/>
                  </a:lnTo>
                  <a:lnTo>
                    <a:pt x="1117755" y="780430"/>
                  </a:lnTo>
                  <a:lnTo>
                    <a:pt x="1180311" y="762359"/>
                  </a:lnTo>
                  <a:lnTo>
                    <a:pt x="1264265" y="740900"/>
                  </a:lnTo>
                  <a:lnTo>
                    <a:pt x="1358097" y="726217"/>
                  </a:lnTo>
                  <a:lnTo>
                    <a:pt x="1437114" y="717182"/>
                  </a:lnTo>
                  <a:lnTo>
                    <a:pt x="1509546" y="720571"/>
                  </a:lnTo>
                  <a:lnTo>
                    <a:pt x="1567163" y="725088"/>
                  </a:lnTo>
                  <a:lnTo>
                    <a:pt x="1479915" y="682170"/>
                  </a:lnTo>
                  <a:lnTo>
                    <a:pt x="1453576" y="665229"/>
                  </a:lnTo>
                  <a:lnTo>
                    <a:pt x="1400899" y="646029"/>
                  </a:lnTo>
                  <a:lnTo>
                    <a:pt x="1379499" y="631346"/>
                  </a:lnTo>
                  <a:lnTo>
                    <a:pt x="1367975" y="617793"/>
                  </a:lnTo>
                  <a:lnTo>
                    <a:pt x="1376206" y="586169"/>
                  </a:lnTo>
                  <a:lnTo>
                    <a:pt x="1394314" y="486780"/>
                  </a:lnTo>
                  <a:lnTo>
                    <a:pt x="1367975" y="377226"/>
                  </a:lnTo>
                  <a:lnTo>
                    <a:pt x="1367975" y="306073"/>
                  </a:lnTo>
                  <a:lnTo>
                    <a:pt x="1384437" y="247343"/>
                  </a:lnTo>
                  <a:lnTo>
                    <a:pt x="1394314" y="220237"/>
                  </a:lnTo>
                  <a:lnTo>
                    <a:pt x="1386083" y="204425"/>
                  </a:lnTo>
                  <a:lnTo>
                    <a:pt x="1374559" y="194260"/>
                  </a:lnTo>
                  <a:lnTo>
                    <a:pt x="1356452" y="184095"/>
                  </a:lnTo>
                  <a:lnTo>
                    <a:pt x="1335052" y="179578"/>
                  </a:lnTo>
                  <a:lnTo>
                    <a:pt x="1305420" y="172801"/>
                  </a:lnTo>
                  <a:lnTo>
                    <a:pt x="1264265" y="162636"/>
                  </a:lnTo>
                  <a:lnTo>
                    <a:pt x="1237927" y="147954"/>
                  </a:lnTo>
                  <a:lnTo>
                    <a:pt x="1177018" y="119718"/>
                  </a:lnTo>
                  <a:lnTo>
                    <a:pt x="1091417" y="99389"/>
                  </a:lnTo>
                  <a:lnTo>
                    <a:pt x="977830" y="76800"/>
                  </a:lnTo>
                  <a:lnTo>
                    <a:pt x="831321" y="33882"/>
                  </a:lnTo>
                  <a:lnTo>
                    <a:pt x="796751" y="20329"/>
                  </a:lnTo>
                  <a:lnTo>
                    <a:pt x="758889" y="5646"/>
                  </a:lnTo>
                  <a:lnTo>
                    <a:pt x="716088" y="0"/>
                  </a:lnTo>
                  <a:lnTo>
                    <a:pt x="645302" y="5646"/>
                  </a:lnTo>
                  <a:lnTo>
                    <a:pt x="600855" y="16941"/>
                  </a:lnTo>
                  <a:lnTo>
                    <a:pt x="559701" y="27106"/>
                  </a:lnTo>
                  <a:lnTo>
                    <a:pt x="520192" y="31623"/>
                  </a:lnTo>
                  <a:lnTo>
                    <a:pt x="472454" y="32753"/>
                  </a:lnTo>
                  <a:lnTo>
                    <a:pt x="434591" y="33882"/>
                  </a:lnTo>
                  <a:lnTo>
                    <a:pt x="376975" y="40659"/>
                  </a:lnTo>
                  <a:lnTo>
                    <a:pt x="329235" y="50824"/>
                  </a:lnTo>
                  <a:lnTo>
                    <a:pt x="273266" y="64377"/>
                  </a:lnTo>
                  <a:lnTo>
                    <a:pt x="153094" y="76800"/>
                  </a:lnTo>
                  <a:lnTo>
                    <a:pt x="108647" y="80188"/>
                  </a:lnTo>
                  <a:lnTo>
                    <a:pt x="93832" y="84706"/>
                  </a:lnTo>
                  <a:lnTo>
                    <a:pt x="82308" y="91483"/>
                  </a:lnTo>
                  <a:lnTo>
                    <a:pt x="79016" y="105036"/>
                  </a:lnTo>
                  <a:lnTo>
                    <a:pt x="82308" y="119718"/>
                  </a:lnTo>
                  <a:lnTo>
                    <a:pt x="103709" y="127624"/>
                  </a:lnTo>
                  <a:lnTo>
                    <a:pt x="121817" y="134401"/>
                  </a:lnTo>
                  <a:lnTo>
                    <a:pt x="169556" y="147954"/>
                  </a:lnTo>
                  <a:lnTo>
                    <a:pt x="299604" y="155860"/>
                  </a:lnTo>
                  <a:lnTo>
                    <a:pt x="409898" y="147954"/>
                  </a:lnTo>
                  <a:lnTo>
                    <a:pt x="446114" y="151342"/>
                  </a:lnTo>
                  <a:lnTo>
                    <a:pt x="525131" y="149083"/>
                  </a:lnTo>
                  <a:lnTo>
                    <a:pt x="576163" y="142307"/>
                  </a:lnTo>
                  <a:lnTo>
                    <a:pt x="638718" y="131012"/>
                  </a:lnTo>
                  <a:lnTo>
                    <a:pt x="676580" y="125365"/>
                  </a:lnTo>
                  <a:lnTo>
                    <a:pt x="681518" y="142307"/>
                  </a:lnTo>
                  <a:lnTo>
                    <a:pt x="683164" y="155860"/>
                  </a:lnTo>
                  <a:lnTo>
                    <a:pt x="694687" y="172801"/>
                  </a:lnTo>
                  <a:lnTo>
                    <a:pt x="681518" y="222496"/>
                  </a:lnTo>
                  <a:lnTo>
                    <a:pt x="638718" y="277837"/>
                  </a:lnTo>
                  <a:lnTo>
                    <a:pt x="576163" y="297037"/>
                  </a:lnTo>
                  <a:lnTo>
                    <a:pt x="413190" y="309461"/>
                  </a:lnTo>
                  <a:close/>
                </a:path>
              </a:pathLst>
            </a:custGeom>
            <a:ln w="12699">
              <a:solidFill>
                <a:srgbClr val="000000"/>
              </a:solidFill>
            </a:ln>
          </p:spPr>
          <p:txBody>
            <a:bodyPr wrap="square" lIns="0" tIns="0" rIns="0" bIns="0" rtlCol="0"/>
            <a:lstStyle/>
            <a:p>
              <a:endParaRPr/>
            </a:p>
          </p:txBody>
        </p:sp>
        <p:sp>
          <p:nvSpPr>
            <p:cNvPr id="10" name="object 10"/>
            <p:cNvSpPr/>
            <p:nvPr/>
          </p:nvSpPr>
          <p:spPr>
            <a:xfrm>
              <a:off x="10760747" y="2851391"/>
              <a:ext cx="49530" cy="13970"/>
            </a:xfrm>
            <a:custGeom>
              <a:avLst/>
              <a:gdLst/>
              <a:ahLst/>
              <a:cxnLst/>
              <a:rect l="l" t="t" r="r" b="b"/>
              <a:pathLst>
                <a:path w="49529" h="13969">
                  <a:moveTo>
                    <a:pt x="0" y="0"/>
                  </a:moveTo>
                  <a:lnTo>
                    <a:pt x="4937" y="3388"/>
                  </a:lnTo>
                  <a:lnTo>
                    <a:pt x="23046" y="9036"/>
                  </a:lnTo>
                  <a:lnTo>
                    <a:pt x="49385" y="13553"/>
                  </a:lnTo>
                  <a:lnTo>
                    <a:pt x="0" y="0"/>
                  </a:lnTo>
                  <a:close/>
                </a:path>
              </a:pathLst>
            </a:custGeom>
            <a:solidFill>
              <a:srgbClr val="BC7C00"/>
            </a:solidFill>
          </p:spPr>
          <p:txBody>
            <a:bodyPr wrap="square" lIns="0" tIns="0" rIns="0" bIns="0" rtlCol="0"/>
            <a:lstStyle/>
            <a:p>
              <a:endParaRPr/>
            </a:p>
          </p:txBody>
        </p:sp>
        <p:sp>
          <p:nvSpPr>
            <p:cNvPr id="11" name="object 11"/>
            <p:cNvSpPr/>
            <p:nvPr/>
          </p:nvSpPr>
          <p:spPr>
            <a:xfrm>
              <a:off x="10760747" y="2851391"/>
              <a:ext cx="49530" cy="13970"/>
            </a:xfrm>
            <a:custGeom>
              <a:avLst/>
              <a:gdLst/>
              <a:ahLst/>
              <a:cxnLst/>
              <a:rect l="l" t="t" r="r" b="b"/>
              <a:pathLst>
                <a:path w="49529" h="13969">
                  <a:moveTo>
                    <a:pt x="49385" y="13553"/>
                  </a:moveTo>
                  <a:lnTo>
                    <a:pt x="23046" y="9035"/>
                  </a:lnTo>
                  <a:lnTo>
                    <a:pt x="4938" y="3388"/>
                  </a:lnTo>
                  <a:lnTo>
                    <a:pt x="0" y="0"/>
                  </a:lnTo>
                </a:path>
              </a:pathLst>
            </a:custGeom>
            <a:ln w="12699">
              <a:solidFill>
                <a:srgbClr val="000000"/>
              </a:solidFill>
            </a:ln>
          </p:spPr>
          <p:txBody>
            <a:bodyPr wrap="square" lIns="0" tIns="0" rIns="0" bIns="0" rtlCol="0"/>
            <a:lstStyle/>
            <a:p>
              <a:endParaRPr/>
            </a:p>
          </p:txBody>
        </p:sp>
        <p:sp>
          <p:nvSpPr>
            <p:cNvPr id="12" name="object 12"/>
            <p:cNvSpPr/>
            <p:nvPr/>
          </p:nvSpPr>
          <p:spPr>
            <a:xfrm>
              <a:off x="11676024" y="2909858"/>
              <a:ext cx="3810" cy="46990"/>
            </a:xfrm>
            <a:custGeom>
              <a:avLst/>
              <a:gdLst/>
              <a:ahLst/>
              <a:cxnLst/>
              <a:rect l="l" t="t" r="r" b="b"/>
              <a:pathLst>
                <a:path w="3809" h="46989">
                  <a:moveTo>
                    <a:pt x="3257" y="0"/>
                  </a:moveTo>
                  <a:lnTo>
                    <a:pt x="1645" y="7038"/>
                  </a:lnTo>
                  <a:lnTo>
                    <a:pt x="0" y="46568"/>
                  </a:lnTo>
                  <a:lnTo>
                    <a:pt x="3257" y="0"/>
                  </a:lnTo>
                  <a:close/>
                </a:path>
              </a:pathLst>
            </a:custGeom>
            <a:solidFill>
              <a:srgbClr val="BC7C00"/>
            </a:solidFill>
          </p:spPr>
          <p:txBody>
            <a:bodyPr wrap="square" lIns="0" tIns="0" rIns="0" bIns="0" rtlCol="0"/>
            <a:lstStyle/>
            <a:p>
              <a:endParaRPr/>
            </a:p>
          </p:txBody>
        </p:sp>
        <p:sp>
          <p:nvSpPr>
            <p:cNvPr id="13" name="object 13"/>
            <p:cNvSpPr/>
            <p:nvPr/>
          </p:nvSpPr>
          <p:spPr>
            <a:xfrm>
              <a:off x="11679282" y="2815249"/>
              <a:ext cx="16510" cy="94615"/>
            </a:xfrm>
            <a:custGeom>
              <a:avLst/>
              <a:gdLst/>
              <a:ahLst/>
              <a:cxnLst/>
              <a:rect l="l" t="t" r="r" b="b"/>
              <a:pathLst>
                <a:path w="16509" h="94614">
                  <a:moveTo>
                    <a:pt x="6618" y="0"/>
                  </a:moveTo>
                  <a:lnTo>
                    <a:pt x="0" y="94608"/>
                  </a:lnTo>
                  <a:lnTo>
                    <a:pt x="16495" y="22588"/>
                  </a:lnTo>
                  <a:lnTo>
                    <a:pt x="6618" y="0"/>
                  </a:lnTo>
                  <a:close/>
                </a:path>
              </a:pathLst>
            </a:custGeom>
            <a:solidFill>
              <a:srgbClr val="BC7C00"/>
            </a:solidFill>
          </p:spPr>
          <p:txBody>
            <a:bodyPr wrap="square" lIns="0" tIns="0" rIns="0" bIns="0" rtlCol="0"/>
            <a:lstStyle/>
            <a:p>
              <a:endParaRPr/>
            </a:p>
          </p:txBody>
        </p:sp>
        <p:sp>
          <p:nvSpPr>
            <p:cNvPr id="14" name="object 14"/>
            <p:cNvSpPr/>
            <p:nvPr/>
          </p:nvSpPr>
          <p:spPr>
            <a:xfrm>
              <a:off x="11676023" y="2815249"/>
              <a:ext cx="20320" cy="141605"/>
            </a:xfrm>
            <a:custGeom>
              <a:avLst/>
              <a:gdLst/>
              <a:ahLst/>
              <a:cxnLst/>
              <a:rect l="l" t="t" r="r" b="b"/>
              <a:pathLst>
                <a:path w="20320" h="141605">
                  <a:moveTo>
                    <a:pt x="9876" y="0"/>
                  </a:moveTo>
                  <a:lnTo>
                    <a:pt x="19753" y="22588"/>
                  </a:lnTo>
                  <a:lnTo>
                    <a:pt x="1646" y="101648"/>
                  </a:lnTo>
                  <a:lnTo>
                    <a:pt x="0" y="141177"/>
                  </a:lnTo>
                </a:path>
              </a:pathLst>
            </a:custGeom>
            <a:ln w="12699">
              <a:solidFill>
                <a:srgbClr val="000000"/>
              </a:solidFill>
            </a:ln>
          </p:spPr>
          <p:txBody>
            <a:bodyPr wrap="square" lIns="0" tIns="0" rIns="0" bIns="0" rtlCol="0"/>
            <a:lstStyle/>
            <a:p>
              <a:endParaRPr/>
            </a:p>
          </p:txBody>
        </p:sp>
        <p:sp>
          <p:nvSpPr>
            <p:cNvPr id="15" name="object 15"/>
            <p:cNvSpPr/>
            <p:nvPr/>
          </p:nvSpPr>
          <p:spPr>
            <a:xfrm>
              <a:off x="10474547" y="2793087"/>
              <a:ext cx="76900" cy="83853"/>
            </a:xfrm>
            <a:prstGeom prst="rect">
              <a:avLst/>
            </a:prstGeom>
            <a:blipFill>
              <a:blip r:embed="rId3" cstate="print"/>
              <a:stretch>
                <a:fillRect/>
              </a:stretch>
            </a:blipFill>
          </p:spPr>
          <p:txBody>
            <a:bodyPr wrap="square" lIns="0" tIns="0" rIns="0" bIns="0" rtlCol="0"/>
            <a:lstStyle/>
            <a:p>
              <a:endParaRPr/>
            </a:p>
          </p:txBody>
        </p:sp>
        <p:sp>
          <p:nvSpPr>
            <p:cNvPr id="16" name="object 16"/>
            <p:cNvSpPr/>
            <p:nvPr/>
          </p:nvSpPr>
          <p:spPr>
            <a:xfrm>
              <a:off x="11048829" y="2738448"/>
              <a:ext cx="48260" cy="37465"/>
            </a:xfrm>
            <a:custGeom>
              <a:avLst/>
              <a:gdLst/>
              <a:ahLst/>
              <a:cxnLst/>
              <a:rect l="l" t="t" r="r" b="b"/>
              <a:pathLst>
                <a:path w="48259" h="37464">
                  <a:moveTo>
                    <a:pt x="0" y="0"/>
                  </a:moveTo>
                  <a:lnTo>
                    <a:pt x="0" y="12424"/>
                  </a:lnTo>
                  <a:lnTo>
                    <a:pt x="4937" y="23718"/>
                  </a:lnTo>
                  <a:lnTo>
                    <a:pt x="23046" y="32754"/>
                  </a:lnTo>
                  <a:lnTo>
                    <a:pt x="47738" y="37271"/>
                  </a:lnTo>
                  <a:lnTo>
                    <a:pt x="0" y="0"/>
                  </a:lnTo>
                  <a:close/>
                </a:path>
              </a:pathLst>
            </a:custGeom>
            <a:solidFill>
              <a:srgbClr val="BC7C00"/>
            </a:solidFill>
          </p:spPr>
          <p:txBody>
            <a:bodyPr wrap="square" lIns="0" tIns="0" rIns="0" bIns="0" rtlCol="0"/>
            <a:lstStyle/>
            <a:p>
              <a:endParaRPr/>
            </a:p>
          </p:txBody>
        </p:sp>
        <p:sp>
          <p:nvSpPr>
            <p:cNvPr id="17" name="object 17"/>
            <p:cNvSpPr/>
            <p:nvPr/>
          </p:nvSpPr>
          <p:spPr>
            <a:xfrm>
              <a:off x="11048830" y="2738449"/>
              <a:ext cx="48260" cy="37465"/>
            </a:xfrm>
            <a:custGeom>
              <a:avLst/>
              <a:gdLst/>
              <a:ahLst/>
              <a:cxnLst/>
              <a:rect l="l" t="t" r="r" b="b"/>
              <a:pathLst>
                <a:path w="48259" h="37464">
                  <a:moveTo>
                    <a:pt x="0" y="0"/>
                  </a:moveTo>
                  <a:lnTo>
                    <a:pt x="0" y="12423"/>
                  </a:lnTo>
                  <a:lnTo>
                    <a:pt x="4938" y="23717"/>
                  </a:lnTo>
                  <a:lnTo>
                    <a:pt x="23046" y="32753"/>
                  </a:lnTo>
                  <a:lnTo>
                    <a:pt x="47738" y="37270"/>
                  </a:lnTo>
                </a:path>
              </a:pathLst>
            </a:custGeom>
            <a:ln w="12699">
              <a:solidFill>
                <a:srgbClr val="000000"/>
              </a:solidFill>
            </a:ln>
          </p:spPr>
          <p:txBody>
            <a:bodyPr wrap="square" lIns="0" tIns="0" rIns="0" bIns="0" rtlCol="0"/>
            <a:lstStyle/>
            <a:p>
              <a:endParaRPr/>
            </a:p>
          </p:txBody>
        </p:sp>
        <p:sp>
          <p:nvSpPr>
            <p:cNvPr id="18" name="object 18"/>
            <p:cNvSpPr/>
            <p:nvPr/>
          </p:nvSpPr>
          <p:spPr>
            <a:xfrm>
              <a:off x="10749224" y="2770072"/>
              <a:ext cx="93980" cy="34290"/>
            </a:xfrm>
            <a:custGeom>
              <a:avLst/>
              <a:gdLst/>
              <a:ahLst/>
              <a:cxnLst/>
              <a:rect l="l" t="t" r="r" b="b"/>
              <a:pathLst>
                <a:path w="93979" h="34289">
                  <a:moveTo>
                    <a:pt x="0" y="0"/>
                  </a:moveTo>
                  <a:lnTo>
                    <a:pt x="0" y="9036"/>
                  </a:lnTo>
                  <a:lnTo>
                    <a:pt x="4939" y="18070"/>
                  </a:lnTo>
                  <a:lnTo>
                    <a:pt x="29631" y="28235"/>
                  </a:lnTo>
                  <a:lnTo>
                    <a:pt x="47739" y="32753"/>
                  </a:lnTo>
                  <a:lnTo>
                    <a:pt x="72431" y="33883"/>
                  </a:lnTo>
                  <a:lnTo>
                    <a:pt x="93832" y="33883"/>
                  </a:lnTo>
                  <a:lnTo>
                    <a:pt x="0" y="0"/>
                  </a:lnTo>
                  <a:close/>
                </a:path>
              </a:pathLst>
            </a:custGeom>
            <a:solidFill>
              <a:srgbClr val="BC7C00"/>
            </a:solidFill>
          </p:spPr>
          <p:txBody>
            <a:bodyPr wrap="square" lIns="0" tIns="0" rIns="0" bIns="0" rtlCol="0"/>
            <a:lstStyle/>
            <a:p>
              <a:endParaRPr/>
            </a:p>
          </p:txBody>
        </p:sp>
        <p:sp>
          <p:nvSpPr>
            <p:cNvPr id="19" name="object 19"/>
            <p:cNvSpPr/>
            <p:nvPr/>
          </p:nvSpPr>
          <p:spPr>
            <a:xfrm>
              <a:off x="10749224" y="2770072"/>
              <a:ext cx="93980" cy="34290"/>
            </a:xfrm>
            <a:custGeom>
              <a:avLst/>
              <a:gdLst/>
              <a:ahLst/>
              <a:cxnLst/>
              <a:rect l="l" t="t" r="r" b="b"/>
              <a:pathLst>
                <a:path w="93979" h="34289">
                  <a:moveTo>
                    <a:pt x="0" y="0"/>
                  </a:moveTo>
                  <a:lnTo>
                    <a:pt x="0" y="9035"/>
                  </a:lnTo>
                  <a:lnTo>
                    <a:pt x="4938" y="18070"/>
                  </a:lnTo>
                  <a:lnTo>
                    <a:pt x="29631" y="28235"/>
                  </a:lnTo>
                  <a:lnTo>
                    <a:pt x="47738" y="32753"/>
                  </a:lnTo>
                  <a:lnTo>
                    <a:pt x="72432" y="33882"/>
                  </a:lnTo>
                  <a:lnTo>
                    <a:pt x="93832" y="33882"/>
                  </a:lnTo>
                </a:path>
              </a:pathLst>
            </a:custGeom>
            <a:ln w="12699">
              <a:solidFill>
                <a:srgbClr val="000000"/>
              </a:solidFill>
            </a:ln>
          </p:spPr>
          <p:txBody>
            <a:bodyPr wrap="square" lIns="0" tIns="0" rIns="0" bIns="0" rtlCol="0"/>
            <a:lstStyle/>
            <a:p>
              <a:endParaRPr/>
            </a:p>
          </p:txBody>
        </p:sp>
        <p:sp>
          <p:nvSpPr>
            <p:cNvPr id="20" name="object 20"/>
            <p:cNvSpPr/>
            <p:nvPr/>
          </p:nvSpPr>
          <p:spPr>
            <a:xfrm>
              <a:off x="10829887" y="2963204"/>
              <a:ext cx="44450" cy="21590"/>
            </a:xfrm>
            <a:custGeom>
              <a:avLst/>
              <a:gdLst/>
              <a:ahLst/>
              <a:cxnLst/>
              <a:rect l="l" t="t" r="r" b="b"/>
              <a:pathLst>
                <a:path w="44450" h="21589">
                  <a:moveTo>
                    <a:pt x="0" y="0"/>
                  </a:moveTo>
                  <a:lnTo>
                    <a:pt x="44446" y="21459"/>
                  </a:lnTo>
                </a:path>
              </a:pathLst>
            </a:custGeom>
            <a:ln w="12699">
              <a:solidFill>
                <a:srgbClr val="000000"/>
              </a:solidFill>
            </a:ln>
          </p:spPr>
          <p:txBody>
            <a:bodyPr wrap="square" lIns="0" tIns="0" rIns="0" bIns="0" rtlCol="0"/>
            <a:lstStyle/>
            <a:p>
              <a:endParaRPr/>
            </a:p>
          </p:txBody>
        </p:sp>
        <p:sp>
          <p:nvSpPr>
            <p:cNvPr id="21" name="object 21"/>
            <p:cNvSpPr/>
            <p:nvPr/>
          </p:nvSpPr>
          <p:spPr>
            <a:xfrm>
              <a:off x="10249866" y="2862592"/>
              <a:ext cx="51435" cy="2540"/>
            </a:xfrm>
            <a:custGeom>
              <a:avLst/>
              <a:gdLst/>
              <a:ahLst/>
              <a:cxnLst/>
              <a:rect l="l" t="t" r="r" b="b"/>
              <a:pathLst>
                <a:path w="51434" h="2539">
                  <a:moveTo>
                    <a:pt x="-12699" y="1123"/>
                  </a:moveTo>
                  <a:lnTo>
                    <a:pt x="63734" y="1123"/>
                  </a:lnTo>
                </a:path>
              </a:pathLst>
            </a:custGeom>
            <a:ln w="27647">
              <a:solidFill>
                <a:srgbClr val="000000"/>
              </a:solidFill>
            </a:ln>
          </p:spPr>
          <p:txBody>
            <a:bodyPr wrap="square" lIns="0" tIns="0" rIns="0" bIns="0" rtlCol="0"/>
            <a:lstStyle/>
            <a:p>
              <a:endParaRPr/>
            </a:p>
          </p:txBody>
        </p:sp>
        <p:sp>
          <p:nvSpPr>
            <p:cNvPr id="22" name="object 22"/>
            <p:cNvSpPr/>
            <p:nvPr/>
          </p:nvSpPr>
          <p:spPr>
            <a:xfrm>
              <a:off x="10259744" y="2840109"/>
              <a:ext cx="187960" cy="39370"/>
            </a:xfrm>
            <a:custGeom>
              <a:avLst/>
              <a:gdLst/>
              <a:ahLst/>
              <a:cxnLst/>
              <a:rect l="l" t="t" r="r" b="b"/>
              <a:pathLst>
                <a:path w="187959" h="39369">
                  <a:moveTo>
                    <a:pt x="161335" y="0"/>
                  </a:moveTo>
                  <a:lnTo>
                    <a:pt x="138287" y="1123"/>
                  </a:lnTo>
                  <a:lnTo>
                    <a:pt x="108654" y="2249"/>
                  </a:lnTo>
                  <a:lnTo>
                    <a:pt x="92193" y="4497"/>
                  </a:lnTo>
                  <a:lnTo>
                    <a:pt x="62558" y="7868"/>
                  </a:lnTo>
                  <a:lnTo>
                    <a:pt x="41158" y="12365"/>
                  </a:lnTo>
                  <a:lnTo>
                    <a:pt x="27986" y="14613"/>
                  </a:lnTo>
                  <a:lnTo>
                    <a:pt x="16463" y="17985"/>
                  </a:lnTo>
                  <a:lnTo>
                    <a:pt x="0" y="23606"/>
                  </a:lnTo>
                  <a:lnTo>
                    <a:pt x="9878" y="26978"/>
                  </a:lnTo>
                  <a:lnTo>
                    <a:pt x="24693" y="32599"/>
                  </a:lnTo>
                  <a:lnTo>
                    <a:pt x="49389" y="35972"/>
                  </a:lnTo>
                  <a:lnTo>
                    <a:pt x="92193" y="38220"/>
                  </a:lnTo>
                  <a:lnTo>
                    <a:pt x="121826" y="39344"/>
                  </a:lnTo>
                  <a:lnTo>
                    <a:pt x="158043" y="39344"/>
                  </a:lnTo>
                  <a:lnTo>
                    <a:pt x="187676" y="37096"/>
                  </a:lnTo>
                  <a:lnTo>
                    <a:pt x="166274" y="21358"/>
                  </a:lnTo>
                  <a:lnTo>
                    <a:pt x="161335" y="0"/>
                  </a:lnTo>
                  <a:close/>
                </a:path>
              </a:pathLst>
            </a:custGeom>
            <a:solidFill>
              <a:srgbClr val="126BFC"/>
            </a:solidFill>
          </p:spPr>
          <p:txBody>
            <a:bodyPr wrap="square" lIns="0" tIns="0" rIns="0" bIns="0" rtlCol="0"/>
            <a:lstStyle/>
            <a:p>
              <a:endParaRPr/>
            </a:p>
          </p:txBody>
        </p:sp>
        <p:sp>
          <p:nvSpPr>
            <p:cNvPr id="23" name="object 23"/>
            <p:cNvSpPr/>
            <p:nvPr/>
          </p:nvSpPr>
          <p:spPr>
            <a:xfrm>
              <a:off x="10259744" y="2840109"/>
              <a:ext cx="187960" cy="39370"/>
            </a:xfrm>
            <a:custGeom>
              <a:avLst/>
              <a:gdLst/>
              <a:ahLst/>
              <a:cxnLst/>
              <a:rect l="l" t="t" r="r" b="b"/>
              <a:pathLst>
                <a:path w="187959" h="39369">
                  <a:moveTo>
                    <a:pt x="161335" y="0"/>
                  </a:moveTo>
                  <a:lnTo>
                    <a:pt x="138287" y="1123"/>
                  </a:lnTo>
                  <a:lnTo>
                    <a:pt x="108654" y="2248"/>
                  </a:lnTo>
                  <a:lnTo>
                    <a:pt x="92192" y="4496"/>
                  </a:lnTo>
                  <a:lnTo>
                    <a:pt x="62558" y="7868"/>
                  </a:lnTo>
                  <a:lnTo>
                    <a:pt x="41157" y="12365"/>
                  </a:lnTo>
                  <a:lnTo>
                    <a:pt x="27986" y="14613"/>
                  </a:lnTo>
                  <a:lnTo>
                    <a:pt x="16462" y="17985"/>
                  </a:lnTo>
                  <a:lnTo>
                    <a:pt x="0" y="23606"/>
                  </a:lnTo>
                  <a:lnTo>
                    <a:pt x="9877" y="26978"/>
                  </a:lnTo>
                  <a:lnTo>
                    <a:pt x="24693" y="32599"/>
                  </a:lnTo>
                  <a:lnTo>
                    <a:pt x="49388" y="35971"/>
                  </a:lnTo>
                  <a:lnTo>
                    <a:pt x="70790" y="37095"/>
                  </a:lnTo>
                  <a:lnTo>
                    <a:pt x="92192" y="38219"/>
                  </a:lnTo>
                  <a:lnTo>
                    <a:pt x="121825" y="39344"/>
                  </a:lnTo>
                  <a:lnTo>
                    <a:pt x="158043" y="39344"/>
                  </a:lnTo>
                  <a:lnTo>
                    <a:pt x="187676" y="37095"/>
                  </a:lnTo>
                  <a:lnTo>
                    <a:pt x="166274" y="21357"/>
                  </a:lnTo>
                  <a:lnTo>
                    <a:pt x="161335" y="0"/>
                  </a:lnTo>
                  <a:close/>
                </a:path>
              </a:pathLst>
            </a:custGeom>
            <a:ln w="12699">
              <a:solidFill>
                <a:srgbClr val="000000"/>
              </a:solidFill>
            </a:ln>
          </p:spPr>
          <p:txBody>
            <a:bodyPr wrap="square" lIns="0" tIns="0" rIns="0" bIns="0" rtlCol="0"/>
            <a:lstStyle/>
            <a:p>
              <a:endParaRPr/>
            </a:p>
          </p:txBody>
        </p:sp>
        <p:sp>
          <p:nvSpPr>
            <p:cNvPr id="24" name="object 24"/>
            <p:cNvSpPr/>
            <p:nvPr/>
          </p:nvSpPr>
          <p:spPr>
            <a:xfrm>
              <a:off x="10370046" y="2838986"/>
              <a:ext cx="66040" cy="40640"/>
            </a:xfrm>
            <a:custGeom>
              <a:avLst/>
              <a:gdLst/>
              <a:ahLst/>
              <a:cxnLst/>
              <a:rect l="l" t="t" r="r" b="b"/>
              <a:pathLst>
                <a:path w="66040" h="40639">
                  <a:moveTo>
                    <a:pt x="52679" y="0"/>
                  </a:moveTo>
                  <a:lnTo>
                    <a:pt x="0" y="4497"/>
                  </a:lnTo>
                  <a:lnTo>
                    <a:pt x="9876" y="11242"/>
                  </a:lnTo>
                  <a:lnTo>
                    <a:pt x="13169" y="20234"/>
                  </a:lnTo>
                  <a:lnTo>
                    <a:pt x="11523" y="30351"/>
                  </a:lnTo>
                  <a:lnTo>
                    <a:pt x="0" y="39344"/>
                  </a:lnTo>
                  <a:lnTo>
                    <a:pt x="41156" y="40468"/>
                  </a:lnTo>
                  <a:lnTo>
                    <a:pt x="65850" y="39344"/>
                  </a:lnTo>
                  <a:lnTo>
                    <a:pt x="64203" y="35971"/>
                  </a:lnTo>
                  <a:lnTo>
                    <a:pt x="55972" y="21358"/>
                  </a:lnTo>
                  <a:lnTo>
                    <a:pt x="47741" y="8992"/>
                  </a:lnTo>
                  <a:lnTo>
                    <a:pt x="52679" y="0"/>
                  </a:lnTo>
                  <a:close/>
                </a:path>
              </a:pathLst>
            </a:custGeom>
            <a:solidFill>
              <a:srgbClr val="126BFC"/>
            </a:solidFill>
          </p:spPr>
          <p:txBody>
            <a:bodyPr wrap="square" lIns="0" tIns="0" rIns="0" bIns="0" rtlCol="0"/>
            <a:lstStyle/>
            <a:p>
              <a:endParaRPr/>
            </a:p>
          </p:txBody>
        </p:sp>
        <p:sp>
          <p:nvSpPr>
            <p:cNvPr id="25" name="object 25"/>
            <p:cNvSpPr/>
            <p:nvPr/>
          </p:nvSpPr>
          <p:spPr>
            <a:xfrm>
              <a:off x="10370046" y="2838986"/>
              <a:ext cx="66040" cy="40640"/>
            </a:xfrm>
            <a:custGeom>
              <a:avLst/>
              <a:gdLst/>
              <a:ahLst/>
              <a:cxnLst/>
              <a:rect l="l" t="t" r="r" b="b"/>
              <a:pathLst>
                <a:path w="66040" h="40639">
                  <a:moveTo>
                    <a:pt x="0" y="4496"/>
                  </a:moveTo>
                  <a:lnTo>
                    <a:pt x="52680" y="0"/>
                  </a:lnTo>
                  <a:lnTo>
                    <a:pt x="47742" y="8992"/>
                  </a:lnTo>
                  <a:lnTo>
                    <a:pt x="55973" y="21358"/>
                  </a:lnTo>
                  <a:lnTo>
                    <a:pt x="64204" y="35971"/>
                  </a:lnTo>
                  <a:lnTo>
                    <a:pt x="65851" y="39343"/>
                  </a:lnTo>
                  <a:lnTo>
                    <a:pt x="41157" y="40468"/>
                  </a:lnTo>
                  <a:lnTo>
                    <a:pt x="0" y="39343"/>
                  </a:lnTo>
                  <a:lnTo>
                    <a:pt x="11524" y="30350"/>
                  </a:lnTo>
                  <a:lnTo>
                    <a:pt x="13170" y="20234"/>
                  </a:lnTo>
                  <a:lnTo>
                    <a:pt x="9877" y="11241"/>
                  </a:lnTo>
                  <a:lnTo>
                    <a:pt x="0" y="4496"/>
                  </a:lnTo>
                  <a:close/>
                </a:path>
              </a:pathLst>
            </a:custGeom>
            <a:ln w="12699">
              <a:solidFill>
                <a:srgbClr val="000000"/>
              </a:solidFill>
            </a:ln>
          </p:spPr>
          <p:txBody>
            <a:bodyPr wrap="square" lIns="0" tIns="0" rIns="0" bIns="0" rtlCol="0"/>
            <a:lstStyle/>
            <a:p>
              <a:endParaRPr/>
            </a:p>
          </p:txBody>
        </p:sp>
        <p:sp>
          <p:nvSpPr>
            <p:cNvPr id="26" name="object 26"/>
            <p:cNvSpPr/>
            <p:nvPr/>
          </p:nvSpPr>
          <p:spPr>
            <a:xfrm>
              <a:off x="11133919" y="2787277"/>
              <a:ext cx="532130" cy="22860"/>
            </a:xfrm>
            <a:custGeom>
              <a:avLst/>
              <a:gdLst/>
              <a:ahLst/>
              <a:cxnLst/>
              <a:rect l="l" t="t" r="r" b="b"/>
              <a:pathLst>
                <a:path w="532129" h="22860">
                  <a:moveTo>
                    <a:pt x="502116" y="0"/>
                  </a:moveTo>
                  <a:lnTo>
                    <a:pt x="419801" y="0"/>
                  </a:lnTo>
                  <a:lnTo>
                    <a:pt x="197553" y="3373"/>
                  </a:lnTo>
                  <a:lnTo>
                    <a:pt x="125116" y="5621"/>
                  </a:lnTo>
                  <a:lnTo>
                    <a:pt x="69143" y="5621"/>
                  </a:lnTo>
                  <a:lnTo>
                    <a:pt x="30340" y="8029"/>
                  </a:lnTo>
                  <a:lnTo>
                    <a:pt x="4937" y="12365"/>
                  </a:lnTo>
                  <a:lnTo>
                    <a:pt x="0" y="22482"/>
                  </a:lnTo>
                  <a:lnTo>
                    <a:pt x="531749" y="15737"/>
                  </a:lnTo>
                  <a:lnTo>
                    <a:pt x="531749" y="6744"/>
                  </a:lnTo>
                  <a:lnTo>
                    <a:pt x="520225" y="2249"/>
                  </a:lnTo>
                  <a:lnTo>
                    <a:pt x="502116" y="0"/>
                  </a:lnTo>
                  <a:close/>
                </a:path>
                <a:path w="532129" h="22860">
                  <a:moveTo>
                    <a:pt x="37863" y="6744"/>
                  </a:moveTo>
                  <a:lnTo>
                    <a:pt x="14815" y="8992"/>
                  </a:lnTo>
                  <a:lnTo>
                    <a:pt x="30340" y="8029"/>
                  </a:lnTo>
                  <a:lnTo>
                    <a:pt x="37863" y="6744"/>
                  </a:lnTo>
                  <a:close/>
                </a:path>
              </a:pathLst>
            </a:custGeom>
            <a:solidFill>
              <a:srgbClr val="126BFC"/>
            </a:solidFill>
          </p:spPr>
          <p:txBody>
            <a:bodyPr wrap="square" lIns="0" tIns="0" rIns="0" bIns="0" rtlCol="0"/>
            <a:lstStyle/>
            <a:p>
              <a:endParaRPr/>
            </a:p>
          </p:txBody>
        </p:sp>
        <p:sp>
          <p:nvSpPr>
            <p:cNvPr id="27" name="object 27"/>
            <p:cNvSpPr/>
            <p:nvPr/>
          </p:nvSpPr>
          <p:spPr>
            <a:xfrm>
              <a:off x="11133918" y="2787277"/>
              <a:ext cx="532130" cy="22860"/>
            </a:xfrm>
            <a:custGeom>
              <a:avLst/>
              <a:gdLst/>
              <a:ahLst/>
              <a:cxnLst/>
              <a:rect l="l" t="t" r="r" b="b"/>
              <a:pathLst>
                <a:path w="532129" h="22860">
                  <a:moveTo>
                    <a:pt x="531748" y="15737"/>
                  </a:moveTo>
                  <a:lnTo>
                    <a:pt x="531748" y="6744"/>
                  </a:lnTo>
                  <a:lnTo>
                    <a:pt x="520224" y="2248"/>
                  </a:lnTo>
                  <a:lnTo>
                    <a:pt x="502115" y="0"/>
                  </a:lnTo>
                  <a:lnTo>
                    <a:pt x="477421" y="0"/>
                  </a:lnTo>
                  <a:lnTo>
                    <a:pt x="419801" y="0"/>
                  </a:lnTo>
                  <a:lnTo>
                    <a:pt x="339134" y="1123"/>
                  </a:lnTo>
                  <a:lnTo>
                    <a:pt x="256819" y="2248"/>
                  </a:lnTo>
                  <a:lnTo>
                    <a:pt x="197553" y="3372"/>
                  </a:lnTo>
                  <a:lnTo>
                    <a:pt x="125117" y="5620"/>
                  </a:lnTo>
                  <a:lnTo>
                    <a:pt x="69143" y="5620"/>
                  </a:lnTo>
                  <a:lnTo>
                    <a:pt x="14816" y="8992"/>
                  </a:lnTo>
                  <a:lnTo>
                    <a:pt x="37864" y="6744"/>
                  </a:lnTo>
                  <a:lnTo>
                    <a:pt x="4938" y="12365"/>
                  </a:lnTo>
                  <a:lnTo>
                    <a:pt x="0" y="22481"/>
                  </a:lnTo>
                  <a:lnTo>
                    <a:pt x="531748" y="15737"/>
                  </a:lnTo>
                  <a:close/>
                </a:path>
              </a:pathLst>
            </a:custGeom>
            <a:ln w="12699">
              <a:solidFill>
                <a:srgbClr val="000000"/>
              </a:solidFill>
            </a:ln>
          </p:spPr>
          <p:txBody>
            <a:bodyPr wrap="square" lIns="0" tIns="0" rIns="0" bIns="0" rtlCol="0"/>
            <a:lstStyle/>
            <a:p>
              <a:endParaRPr/>
            </a:p>
          </p:txBody>
        </p:sp>
        <p:sp>
          <p:nvSpPr>
            <p:cNvPr id="28" name="object 28"/>
            <p:cNvSpPr/>
            <p:nvPr/>
          </p:nvSpPr>
          <p:spPr>
            <a:xfrm>
              <a:off x="11803956" y="2796271"/>
              <a:ext cx="38100" cy="17145"/>
            </a:xfrm>
            <a:custGeom>
              <a:avLst/>
              <a:gdLst/>
              <a:ahLst/>
              <a:cxnLst/>
              <a:rect l="l" t="t" r="r" b="b"/>
              <a:pathLst>
                <a:path w="38100" h="17144">
                  <a:moveTo>
                    <a:pt x="36217" y="0"/>
                  </a:moveTo>
                  <a:lnTo>
                    <a:pt x="0" y="2247"/>
                  </a:lnTo>
                  <a:lnTo>
                    <a:pt x="0" y="16861"/>
                  </a:lnTo>
                  <a:lnTo>
                    <a:pt x="37865" y="12364"/>
                  </a:lnTo>
                  <a:lnTo>
                    <a:pt x="36217" y="0"/>
                  </a:lnTo>
                  <a:close/>
                </a:path>
              </a:pathLst>
            </a:custGeom>
            <a:solidFill>
              <a:srgbClr val="126BFC"/>
            </a:solidFill>
          </p:spPr>
          <p:txBody>
            <a:bodyPr wrap="square" lIns="0" tIns="0" rIns="0" bIns="0" rtlCol="0"/>
            <a:lstStyle/>
            <a:p>
              <a:endParaRPr/>
            </a:p>
          </p:txBody>
        </p:sp>
        <p:sp>
          <p:nvSpPr>
            <p:cNvPr id="29" name="object 29"/>
            <p:cNvSpPr/>
            <p:nvPr/>
          </p:nvSpPr>
          <p:spPr>
            <a:xfrm>
              <a:off x="11803957" y="2796271"/>
              <a:ext cx="38100" cy="17145"/>
            </a:xfrm>
            <a:custGeom>
              <a:avLst/>
              <a:gdLst/>
              <a:ahLst/>
              <a:cxnLst/>
              <a:rect l="l" t="t" r="r" b="b"/>
              <a:pathLst>
                <a:path w="38100" h="17144">
                  <a:moveTo>
                    <a:pt x="0" y="2248"/>
                  </a:moveTo>
                  <a:lnTo>
                    <a:pt x="36218" y="0"/>
                  </a:lnTo>
                  <a:lnTo>
                    <a:pt x="37865" y="12365"/>
                  </a:lnTo>
                  <a:lnTo>
                    <a:pt x="0" y="16862"/>
                  </a:lnTo>
                  <a:lnTo>
                    <a:pt x="0" y="2248"/>
                  </a:lnTo>
                  <a:close/>
                </a:path>
              </a:pathLst>
            </a:custGeom>
            <a:ln w="12699">
              <a:solidFill>
                <a:srgbClr val="000000"/>
              </a:solidFill>
            </a:ln>
          </p:spPr>
          <p:txBody>
            <a:bodyPr wrap="square" lIns="0" tIns="0" rIns="0" bIns="0" rtlCol="0"/>
            <a:lstStyle/>
            <a:p>
              <a:endParaRPr/>
            </a:p>
          </p:txBody>
        </p:sp>
        <p:sp>
          <p:nvSpPr>
            <p:cNvPr id="30" name="object 30"/>
            <p:cNvSpPr/>
            <p:nvPr/>
          </p:nvSpPr>
          <p:spPr>
            <a:xfrm>
              <a:off x="10579122" y="2796271"/>
              <a:ext cx="1155700" cy="80010"/>
            </a:xfrm>
            <a:custGeom>
              <a:avLst/>
              <a:gdLst/>
              <a:ahLst/>
              <a:cxnLst/>
              <a:rect l="l" t="t" r="r" b="b"/>
              <a:pathLst>
                <a:path w="1155700" h="80010">
                  <a:moveTo>
                    <a:pt x="1119471" y="0"/>
                  </a:moveTo>
                  <a:lnTo>
                    <a:pt x="1056913" y="0"/>
                  </a:lnTo>
                  <a:lnTo>
                    <a:pt x="958136" y="1123"/>
                  </a:lnTo>
                  <a:lnTo>
                    <a:pt x="834664" y="5619"/>
                  </a:lnTo>
                  <a:lnTo>
                    <a:pt x="757289" y="5619"/>
                  </a:lnTo>
                  <a:lnTo>
                    <a:pt x="678268" y="7867"/>
                  </a:lnTo>
                  <a:lnTo>
                    <a:pt x="577844" y="8992"/>
                  </a:lnTo>
                  <a:lnTo>
                    <a:pt x="451081" y="13488"/>
                  </a:lnTo>
                  <a:lnTo>
                    <a:pt x="330902" y="19109"/>
                  </a:lnTo>
                  <a:lnTo>
                    <a:pt x="177797" y="24729"/>
                  </a:lnTo>
                  <a:lnTo>
                    <a:pt x="74082" y="30350"/>
                  </a:lnTo>
                  <a:lnTo>
                    <a:pt x="0" y="32598"/>
                  </a:lnTo>
                  <a:lnTo>
                    <a:pt x="47741" y="49460"/>
                  </a:lnTo>
                  <a:lnTo>
                    <a:pt x="67496" y="58453"/>
                  </a:lnTo>
                  <a:lnTo>
                    <a:pt x="87252" y="70817"/>
                  </a:lnTo>
                  <a:lnTo>
                    <a:pt x="105361" y="78686"/>
                  </a:lnTo>
                  <a:lnTo>
                    <a:pt x="149811" y="79810"/>
                  </a:lnTo>
                  <a:lnTo>
                    <a:pt x="302916" y="76438"/>
                  </a:lnTo>
                  <a:lnTo>
                    <a:pt x="360535" y="74189"/>
                  </a:lnTo>
                  <a:lnTo>
                    <a:pt x="423094" y="70817"/>
                  </a:lnTo>
                  <a:lnTo>
                    <a:pt x="477422" y="70817"/>
                  </a:lnTo>
                  <a:lnTo>
                    <a:pt x="528455" y="69693"/>
                  </a:lnTo>
                  <a:lnTo>
                    <a:pt x="579490" y="66321"/>
                  </a:lnTo>
                  <a:lnTo>
                    <a:pt x="688145" y="62948"/>
                  </a:lnTo>
                  <a:lnTo>
                    <a:pt x="992708" y="44963"/>
                  </a:lnTo>
                  <a:lnTo>
                    <a:pt x="1119471" y="35970"/>
                  </a:lnTo>
                  <a:lnTo>
                    <a:pt x="1152398" y="29226"/>
                  </a:lnTo>
                  <a:lnTo>
                    <a:pt x="1155689" y="16860"/>
                  </a:lnTo>
                  <a:lnTo>
                    <a:pt x="1150752" y="10116"/>
                  </a:lnTo>
                  <a:lnTo>
                    <a:pt x="1137580" y="4495"/>
                  </a:lnTo>
                  <a:lnTo>
                    <a:pt x="1119471" y="0"/>
                  </a:lnTo>
                  <a:close/>
                </a:path>
              </a:pathLst>
            </a:custGeom>
            <a:solidFill>
              <a:srgbClr val="126BFC"/>
            </a:solidFill>
          </p:spPr>
          <p:txBody>
            <a:bodyPr wrap="square" lIns="0" tIns="0" rIns="0" bIns="0" rtlCol="0"/>
            <a:lstStyle/>
            <a:p>
              <a:endParaRPr/>
            </a:p>
          </p:txBody>
        </p:sp>
        <p:sp>
          <p:nvSpPr>
            <p:cNvPr id="31" name="object 31"/>
            <p:cNvSpPr/>
            <p:nvPr/>
          </p:nvSpPr>
          <p:spPr>
            <a:xfrm>
              <a:off x="10579123" y="2796271"/>
              <a:ext cx="1155700" cy="80010"/>
            </a:xfrm>
            <a:custGeom>
              <a:avLst/>
              <a:gdLst/>
              <a:ahLst/>
              <a:cxnLst/>
              <a:rect l="l" t="t" r="r" b="b"/>
              <a:pathLst>
                <a:path w="1155700" h="80010">
                  <a:moveTo>
                    <a:pt x="74083" y="30350"/>
                  </a:moveTo>
                  <a:lnTo>
                    <a:pt x="177798" y="24730"/>
                  </a:lnTo>
                  <a:lnTo>
                    <a:pt x="330903" y="19109"/>
                  </a:lnTo>
                  <a:lnTo>
                    <a:pt x="451081" y="13489"/>
                  </a:lnTo>
                  <a:lnTo>
                    <a:pt x="577845" y="8992"/>
                  </a:lnTo>
                  <a:lnTo>
                    <a:pt x="678268" y="7868"/>
                  </a:lnTo>
                  <a:lnTo>
                    <a:pt x="757290" y="5620"/>
                  </a:lnTo>
                  <a:lnTo>
                    <a:pt x="834665" y="5620"/>
                  </a:lnTo>
                  <a:lnTo>
                    <a:pt x="958136" y="1123"/>
                  </a:lnTo>
                  <a:lnTo>
                    <a:pt x="1056913" y="0"/>
                  </a:lnTo>
                  <a:lnTo>
                    <a:pt x="1119472" y="0"/>
                  </a:lnTo>
                  <a:lnTo>
                    <a:pt x="1137581" y="4496"/>
                  </a:lnTo>
                  <a:lnTo>
                    <a:pt x="1150751" y="10116"/>
                  </a:lnTo>
                  <a:lnTo>
                    <a:pt x="1155690" y="16861"/>
                  </a:lnTo>
                  <a:lnTo>
                    <a:pt x="1152397" y="29226"/>
                  </a:lnTo>
                  <a:lnTo>
                    <a:pt x="1119472" y="35971"/>
                  </a:lnTo>
                  <a:lnTo>
                    <a:pt x="1070084" y="39343"/>
                  </a:lnTo>
                  <a:lnTo>
                    <a:pt x="992708" y="44963"/>
                  </a:lnTo>
                  <a:lnTo>
                    <a:pt x="888992" y="51708"/>
                  </a:lnTo>
                  <a:lnTo>
                    <a:pt x="795154" y="57329"/>
                  </a:lnTo>
                  <a:lnTo>
                    <a:pt x="688146" y="62949"/>
                  </a:lnTo>
                  <a:lnTo>
                    <a:pt x="579491" y="66321"/>
                  </a:lnTo>
                  <a:lnTo>
                    <a:pt x="528456" y="69694"/>
                  </a:lnTo>
                  <a:lnTo>
                    <a:pt x="477421" y="70818"/>
                  </a:lnTo>
                  <a:lnTo>
                    <a:pt x="423095" y="70818"/>
                  </a:lnTo>
                  <a:lnTo>
                    <a:pt x="360536" y="74190"/>
                  </a:lnTo>
                  <a:lnTo>
                    <a:pt x="302916" y="76438"/>
                  </a:lnTo>
                  <a:lnTo>
                    <a:pt x="240357" y="77562"/>
                  </a:lnTo>
                  <a:lnTo>
                    <a:pt x="149811" y="79811"/>
                  </a:lnTo>
                  <a:lnTo>
                    <a:pt x="105361" y="78687"/>
                  </a:lnTo>
                  <a:lnTo>
                    <a:pt x="87252" y="70818"/>
                  </a:lnTo>
                  <a:lnTo>
                    <a:pt x="67497" y="58453"/>
                  </a:lnTo>
                  <a:lnTo>
                    <a:pt x="47742" y="49460"/>
                  </a:lnTo>
                  <a:lnTo>
                    <a:pt x="0" y="32598"/>
                  </a:lnTo>
                  <a:lnTo>
                    <a:pt x="74083" y="30350"/>
                  </a:lnTo>
                  <a:close/>
                </a:path>
              </a:pathLst>
            </a:custGeom>
            <a:ln w="12699">
              <a:solidFill>
                <a:srgbClr val="000000"/>
              </a:solidFill>
            </a:ln>
          </p:spPr>
          <p:txBody>
            <a:bodyPr wrap="square" lIns="0" tIns="0" rIns="0" bIns="0" rtlCol="0"/>
            <a:lstStyle/>
            <a:p>
              <a:endParaRPr/>
            </a:p>
          </p:txBody>
        </p:sp>
        <p:sp>
          <p:nvSpPr>
            <p:cNvPr id="32" name="object 32"/>
            <p:cNvSpPr/>
            <p:nvPr/>
          </p:nvSpPr>
          <p:spPr>
            <a:xfrm>
              <a:off x="11683777" y="2795146"/>
              <a:ext cx="130175" cy="34290"/>
            </a:xfrm>
            <a:custGeom>
              <a:avLst/>
              <a:gdLst/>
              <a:ahLst/>
              <a:cxnLst/>
              <a:rect l="l" t="t" r="r" b="b"/>
              <a:pathLst>
                <a:path w="130175" h="34289">
                  <a:moveTo>
                    <a:pt x="108654" y="0"/>
                  </a:moveTo>
                  <a:lnTo>
                    <a:pt x="72436" y="0"/>
                  </a:lnTo>
                  <a:lnTo>
                    <a:pt x="9878" y="1123"/>
                  </a:lnTo>
                  <a:lnTo>
                    <a:pt x="0" y="12365"/>
                  </a:lnTo>
                  <a:lnTo>
                    <a:pt x="1647" y="22482"/>
                  </a:lnTo>
                  <a:lnTo>
                    <a:pt x="4939" y="28102"/>
                  </a:lnTo>
                  <a:lnTo>
                    <a:pt x="13171" y="33723"/>
                  </a:lnTo>
                  <a:lnTo>
                    <a:pt x="47743" y="31475"/>
                  </a:lnTo>
                  <a:lnTo>
                    <a:pt x="77376" y="28102"/>
                  </a:lnTo>
                  <a:lnTo>
                    <a:pt x="102069" y="23606"/>
                  </a:lnTo>
                  <a:lnTo>
                    <a:pt x="118532" y="20233"/>
                  </a:lnTo>
                  <a:lnTo>
                    <a:pt x="130055" y="16861"/>
                  </a:lnTo>
                  <a:lnTo>
                    <a:pt x="120178" y="12365"/>
                  </a:lnTo>
                  <a:lnTo>
                    <a:pt x="118532" y="5621"/>
                  </a:lnTo>
                  <a:lnTo>
                    <a:pt x="126763" y="1123"/>
                  </a:lnTo>
                  <a:lnTo>
                    <a:pt x="108654" y="0"/>
                  </a:lnTo>
                  <a:close/>
                </a:path>
              </a:pathLst>
            </a:custGeom>
            <a:solidFill>
              <a:srgbClr val="126BFC"/>
            </a:solidFill>
          </p:spPr>
          <p:txBody>
            <a:bodyPr wrap="square" lIns="0" tIns="0" rIns="0" bIns="0" rtlCol="0"/>
            <a:lstStyle/>
            <a:p>
              <a:endParaRPr/>
            </a:p>
          </p:txBody>
        </p:sp>
        <p:sp>
          <p:nvSpPr>
            <p:cNvPr id="33" name="object 33"/>
            <p:cNvSpPr/>
            <p:nvPr/>
          </p:nvSpPr>
          <p:spPr>
            <a:xfrm>
              <a:off x="11683777" y="2795146"/>
              <a:ext cx="130175" cy="34290"/>
            </a:xfrm>
            <a:custGeom>
              <a:avLst/>
              <a:gdLst/>
              <a:ahLst/>
              <a:cxnLst/>
              <a:rect l="l" t="t" r="r" b="b"/>
              <a:pathLst>
                <a:path w="130175" h="34289">
                  <a:moveTo>
                    <a:pt x="9877" y="1123"/>
                  </a:moveTo>
                  <a:lnTo>
                    <a:pt x="0" y="12365"/>
                  </a:lnTo>
                  <a:lnTo>
                    <a:pt x="1646" y="22481"/>
                  </a:lnTo>
                  <a:lnTo>
                    <a:pt x="4938" y="28102"/>
                  </a:lnTo>
                  <a:lnTo>
                    <a:pt x="13170" y="33723"/>
                  </a:lnTo>
                  <a:lnTo>
                    <a:pt x="47742" y="31474"/>
                  </a:lnTo>
                  <a:lnTo>
                    <a:pt x="77375" y="28102"/>
                  </a:lnTo>
                  <a:lnTo>
                    <a:pt x="102068" y="23605"/>
                  </a:lnTo>
                  <a:lnTo>
                    <a:pt x="118532" y="20233"/>
                  </a:lnTo>
                  <a:lnTo>
                    <a:pt x="130055" y="16861"/>
                  </a:lnTo>
                  <a:lnTo>
                    <a:pt x="120177" y="12365"/>
                  </a:lnTo>
                  <a:lnTo>
                    <a:pt x="118532" y="5620"/>
                  </a:lnTo>
                  <a:lnTo>
                    <a:pt x="126763" y="1123"/>
                  </a:lnTo>
                  <a:lnTo>
                    <a:pt x="108654" y="0"/>
                  </a:lnTo>
                  <a:lnTo>
                    <a:pt x="72435" y="0"/>
                  </a:lnTo>
                  <a:lnTo>
                    <a:pt x="9877" y="1123"/>
                  </a:lnTo>
                  <a:close/>
                </a:path>
              </a:pathLst>
            </a:custGeom>
            <a:ln w="12699">
              <a:solidFill>
                <a:srgbClr val="000000"/>
              </a:solidFill>
            </a:ln>
          </p:spPr>
          <p:txBody>
            <a:bodyPr wrap="square" lIns="0" tIns="0" rIns="0" bIns="0" rtlCol="0"/>
            <a:lstStyle/>
            <a:p>
              <a:endParaRPr/>
            </a:p>
          </p:txBody>
        </p:sp>
        <p:sp>
          <p:nvSpPr>
            <p:cNvPr id="34" name="object 34"/>
            <p:cNvSpPr/>
            <p:nvPr/>
          </p:nvSpPr>
          <p:spPr>
            <a:xfrm>
              <a:off x="11655791" y="2798519"/>
              <a:ext cx="15240" cy="34925"/>
            </a:xfrm>
            <a:custGeom>
              <a:avLst/>
              <a:gdLst/>
              <a:ahLst/>
              <a:cxnLst/>
              <a:rect l="l" t="t" r="r" b="b"/>
              <a:pathLst>
                <a:path w="15240" h="34925">
                  <a:moveTo>
                    <a:pt x="11523" y="0"/>
                  </a:moveTo>
                  <a:lnTo>
                    <a:pt x="0" y="10116"/>
                  </a:lnTo>
                  <a:lnTo>
                    <a:pt x="0" y="17985"/>
                  </a:lnTo>
                  <a:lnTo>
                    <a:pt x="4939" y="28102"/>
                  </a:lnTo>
                  <a:lnTo>
                    <a:pt x="14817" y="34846"/>
                  </a:lnTo>
                  <a:lnTo>
                    <a:pt x="11523" y="0"/>
                  </a:lnTo>
                  <a:close/>
                </a:path>
              </a:pathLst>
            </a:custGeom>
            <a:solidFill>
              <a:srgbClr val="126BFC"/>
            </a:solidFill>
          </p:spPr>
          <p:txBody>
            <a:bodyPr wrap="square" lIns="0" tIns="0" rIns="0" bIns="0" rtlCol="0"/>
            <a:lstStyle/>
            <a:p>
              <a:endParaRPr/>
            </a:p>
          </p:txBody>
        </p:sp>
        <p:sp>
          <p:nvSpPr>
            <p:cNvPr id="35" name="object 35"/>
            <p:cNvSpPr/>
            <p:nvPr/>
          </p:nvSpPr>
          <p:spPr>
            <a:xfrm>
              <a:off x="11655791" y="2798520"/>
              <a:ext cx="15240" cy="34925"/>
            </a:xfrm>
            <a:custGeom>
              <a:avLst/>
              <a:gdLst/>
              <a:ahLst/>
              <a:cxnLst/>
              <a:rect l="l" t="t" r="r" b="b"/>
              <a:pathLst>
                <a:path w="15240" h="34925">
                  <a:moveTo>
                    <a:pt x="11524" y="0"/>
                  </a:moveTo>
                  <a:lnTo>
                    <a:pt x="0" y="10116"/>
                  </a:lnTo>
                  <a:lnTo>
                    <a:pt x="0" y="17985"/>
                  </a:lnTo>
                  <a:lnTo>
                    <a:pt x="4939" y="28102"/>
                  </a:lnTo>
                  <a:lnTo>
                    <a:pt x="14816" y="34847"/>
                  </a:lnTo>
                </a:path>
              </a:pathLst>
            </a:custGeom>
            <a:ln w="12699">
              <a:solidFill>
                <a:srgbClr val="000000"/>
              </a:solidFill>
            </a:ln>
          </p:spPr>
          <p:txBody>
            <a:bodyPr wrap="square" lIns="0" tIns="0" rIns="0" bIns="0" rtlCol="0"/>
            <a:lstStyle/>
            <a:p>
              <a:endParaRPr/>
            </a:p>
          </p:txBody>
        </p:sp>
        <p:sp>
          <p:nvSpPr>
            <p:cNvPr id="36" name="object 36"/>
            <p:cNvSpPr/>
            <p:nvPr/>
          </p:nvSpPr>
          <p:spPr>
            <a:xfrm>
              <a:off x="10368399" y="2843483"/>
              <a:ext cx="16510" cy="33020"/>
            </a:xfrm>
            <a:custGeom>
              <a:avLst/>
              <a:gdLst/>
              <a:ahLst/>
              <a:cxnLst/>
              <a:rect l="l" t="t" r="r" b="b"/>
              <a:pathLst>
                <a:path w="16509" h="33019">
                  <a:moveTo>
                    <a:pt x="0" y="0"/>
                  </a:moveTo>
                  <a:lnTo>
                    <a:pt x="9876" y="32599"/>
                  </a:lnTo>
                  <a:lnTo>
                    <a:pt x="13169" y="30350"/>
                  </a:lnTo>
                  <a:lnTo>
                    <a:pt x="16463" y="22482"/>
                  </a:lnTo>
                  <a:lnTo>
                    <a:pt x="16463" y="13489"/>
                  </a:lnTo>
                  <a:lnTo>
                    <a:pt x="11523" y="5621"/>
                  </a:lnTo>
                  <a:lnTo>
                    <a:pt x="0" y="0"/>
                  </a:lnTo>
                  <a:close/>
                </a:path>
              </a:pathLst>
            </a:custGeom>
            <a:solidFill>
              <a:srgbClr val="126BFC"/>
            </a:solidFill>
          </p:spPr>
          <p:txBody>
            <a:bodyPr wrap="square" lIns="0" tIns="0" rIns="0" bIns="0" rtlCol="0"/>
            <a:lstStyle/>
            <a:p>
              <a:endParaRPr/>
            </a:p>
          </p:txBody>
        </p:sp>
        <p:sp>
          <p:nvSpPr>
            <p:cNvPr id="37" name="object 37"/>
            <p:cNvSpPr/>
            <p:nvPr/>
          </p:nvSpPr>
          <p:spPr>
            <a:xfrm>
              <a:off x="10368398" y="2843483"/>
              <a:ext cx="16510" cy="36195"/>
            </a:xfrm>
            <a:custGeom>
              <a:avLst/>
              <a:gdLst/>
              <a:ahLst/>
              <a:cxnLst/>
              <a:rect l="l" t="t" r="r" b="b"/>
              <a:pathLst>
                <a:path w="16509" h="36194">
                  <a:moveTo>
                    <a:pt x="0" y="0"/>
                  </a:moveTo>
                  <a:lnTo>
                    <a:pt x="11524" y="5620"/>
                  </a:lnTo>
                  <a:lnTo>
                    <a:pt x="16463" y="13489"/>
                  </a:lnTo>
                  <a:lnTo>
                    <a:pt x="16463" y="22481"/>
                  </a:lnTo>
                  <a:lnTo>
                    <a:pt x="13170" y="30350"/>
                  </a:lnTo>
                  <a:lnTo>
                    <a:pt x="4939" y="35971"/>
                  </a:lnTo>
                  <a:lnTo>
                    <a:pt x="9877" y="32598"/>
                  </a:lnTo>
                </a:path>
              </a:pathLst>
            </a:custGeom>
            <a:ln w="12699">
              <a:solidFill>
                <a:srgbClr val="000000"/>
              </a:solidFill>
            </a:ln>
          </p:spPr>
          <p:txBody>
            <a:bodyPr wrap="square" lIns="0" tIns="0" rIns="0" bIns="0" rtlCol="0"/>
            <a:lstStyle/>
            <a:p>
              <a:endParaRPr/>
            </a:p>
          </p:txBody>
        </p:sp>
        <p:sp>
          <p:nvSpPr>
            <p:cNvPr id="38" name="object 38"/>
            <p:cNvSpPr txBox="1"/>
            <p:nvPr/>
          </p:nvSpPr>
          <p:spPr>
            <a:xfrm>
              <a:off x="9032377" y="3352081"/>
              <a:ext cx="6223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panose="02020603050405020304"/>
                  <a:cs typeface="Times New Roman" panose="02020603050405020304"/>
                </a:rPr>
                <a:t>Foo</a:t>
              </a:r>
              <a:r>
                <a:rPr sz="1800" spc="-5" dirty="0">
                  <a:latin typeface="Times New Roman" panose="02020603050405020304"/>
                  <a:cs typeface="Times New Roman" panose="02020603050405020304"/>
                </a:rPr>
                <a:t>te</a:t>
              </a:r>
              <a:r>
                <a:rPr sz="1800" dirty="0">
                  <a:latin typeface="Times New Roman" panose="02020603050405020304"/>
                  <a:cs typeface="Times New Roman" panose="02020603050405020304"/>
                </a:rPr>
                <a:t>r</a:t>
              </a:r>
              <a:endParaRPr sz="1800">
                <a:latin typeface="Times New Roman" panose="02020603050405020304"/>
                <a:cs typeface="Times New Roman" panose="02020603050405020304"/>
              </a:endParaRPr>
            </a:p>
          </p:txBody>
        </p:sp>
        <p:sp>
          <p:nvSpPr>
            <p:cNvPr id="39" name="object 39"/>
            <p:cNvSpPr/>
            <p:nvPr/>
          </p:nvSpPr>
          <p:spPr>
            <a:xfrm>
              <a:off x="9077593" y="1945881"/>
              <a:ext cx="1108710" cy="276860"/>
            </a:xfrm>
            <a:custGeom>
              <a:avLst/>
              <a:gdLst/>
              <a:ahLst/>
              <a:cxnLst/>
              <a:rect l="l" t="t" r="r" b="b"/>
              <a:pathLst>
                <a:path w="1108709" h="276860">
                  <a:moveTo>
                    <a:pt x="0" y="0"/>
                  </a:moveTo>
                  <a:lnTo>
                    <a:pt x="1108524" y="0"/>
                  </a:lnTo>
                  <a:lnTo>
                    <a:pt x="1108524" y="276527"/>
                  </a:lnTo>
                  <a:lnTo>
                    <a:pt x="0" y="276527"/>
                  </a:lnTo>
                  <a:lnTo>
                    <a:pt x="0" y="0"/>
                  </a:lnTo>
                  <a:close/>
                </a:path>
              </a:pathLst>
            </a:custGeom>
            <a:solidFill>
              <a:srgbClr val="6CACDD"/>
            </a:solidFill>
          </p:spPr>
          <p:txBody>
            <a:bodyPr wrap="square" lIns="0" tIns="0" rIns="0" bIns="0" rtlCol="0"/>
            <a:lstStyle/>
            <a:p>
              <a:endParaRPr/>
            </a:p>
          </p:txBody>
        </p:sp>
        <p:sp>
          <p:nvSpPr>
            <p:cNvPr id="40" name="object 40"/>
            <p:cNvSpPr/>
            <p:nvPr/>
          </p:nvSpPr>
          <p:spPr>
            <a:xfrm>
              <a:off x="9077592" y="1945881"/>
              <a:ext cx="1108710" cy="276860"/>
            </a:xfrm>
            <a:custGeom>
              <a:avLst/>
              <a:gdLst/>
              <a:ahLst/>
              <a:cxnLst/>
              <a:rect l="l" t="t" r="r" b="b"/>
              <a:pathLst>
                <a:path w="1108709" h="276860">
                  <a:moveTo>
                    <a:pt x="0" y="0"/>
                  </a:moveTo>
                  <a:lnTo>
                    <a:pt x="1108524" y="0"/>
                  </a:lnTo>
                  <a:lnTo>
                    <a:pt x="1108524" y="276526"/>
                  </a:lnTo>
                  <a:lnTo>
                    <a:pt x="0" y="276526"/>
                  </a:lnTo>
                  <a:lnTo>
                    <a:pt x="0" y="0"/>
                  </a:lnTo>
                  <a:close/>
                </a:path>
              </a:pathLst>
            </a:custGeom>
            <a:ln w="12699">
              <a:solidFill>
                <a:srgbClr val="000000"/>
              </a:solidFill>
            </a:ln>
          </p:spPr>
          <p:txBody>
            <a:bodyPr wrap="square" lIns="0" tIns="0" rIns="0" bIns="0" rtlCol="0"/>
            <a:lstStyle/>
            <a:p>
              <a:endParaRPr/>
            </a:p>
          </p:txBody>
        </p:sp>
        <p:sp>
          <p:nvSpPr>
            <p:cNvPr id="41" name="object 41"/>
            <p:cNvSpPr txBox="1"/>
            <p:nvPr/>
          </p:nvSpPr>
          <p:spPr>
            <a:xfrm>
              <a:off x="9194433" y="1888564"/>
              <a:ext cx="87249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Times New Roman" panose="02020603050405020304"/>
                  <a:cs typeface="Times New Roman" panose="02020603050405020304"/>
                </a:rPr>
                <a:t>LOGO</a:t>
              </a:r>
              <a:endParaRPr sz="2400">
                <a:latin typeface="Times New Roman" panose="02020603050405020304"/>
                <a:cs typeface="Times New Roman" panose="02020603050405020304"/>
              </a:endParaRPr>
            </a:p>
          </p:txBody>
        </p:sp>
        <p:sp>
          <p:nvSpPr>
            <p:cNvPr id="42" name="object 42"/>
            <p:cNvSpPr txBox="1"/>
            <p:nvPr/>
          </p:nvSpPr>
          <p:spPr>
            <a:xfrm>
              <a:off x="9632681" y="2292663"/>
              <a:ext cx="648335" cy="826769"/>
            </a:xfrm>
            <a:prstGeom prst="rect">
              <a:avLst/>
            </a:prstGeom>
          </p:spPr>
          <p:txBody>
            <a:bodyPr vert="horz" wrap="square" lIns="0" tIns="47625" rIns="0" bIns="0" rtlCol="0">
              <a:spAutoFit/>
            </a:bodyPr>
            <a:lstStyle/>
            <a:p>
              <a:pPr marL="12700">
                <a:lnSpc>
                  <a:spcPct val="100000"/>
                </a:lnSpc>
                <a:spcBef>
                  <a:spcPts val="375"/>
                </a:spcBef>
              </a:pPr>
              <a:r>
                <a:rPr sz="2400" spc="-20" dirty="0">
                  <a:latin typeface="Times New Roman" panose="02020603050405020304"/>
                  <a:cs typeface="Times New Roman" panose="02020603050405020304"/>
                </a:rPr>
                <a:t>Title</a:t>
              </a:r>
              <a:endParaRPr sz="2400">
                <a:latin typeface="Times New Roman" panose="02020603050405020304"/>
                <a:cs typeface="Times New Roman" panose="02020603050405020304"/>
              </a:endParaRPr>
            </a:p>
            <a:p>
              <a:pPr marL="313690">
                <a:lnSpc>
                  <a:spcPct val="100000"/>
                </a:lnSpc>
                <a:spcBef>
                  <a:spcPts val="270"/>
                </a:spcBef>
              </a:pPr>
              <a:r>
                <a:rPr sz="2400" dirty="0">
                  <a:latin typeface="Times New Roman" panose="02020603050405020304"/>
                  <a:cs typeface="Times New Roman" panose="02020603050405020304"/>
                </a:rPr>
                <a:t>Ar</a:t>
              </a:r>
              <a:endParaRPr sz="2400">
                <a:latin typeface="Times New Roman" panose="02020603050405020304"/>
                <a:cs typeface="Times New Roman" panose="02020603050405020304"/>
              </a:endParaRPr>
            </a:p>
          </p:txBody>
        </p:sp>
        <p:sp>
          <p:nvSpPr>
            <p:cNvPr id="43" name="object 43"/>
            <p:cNvSpPr txBox="1"/>
            <p:nvPr/>
          </p:nvSpPr>
          <p:spPr>
            <a:xfrm>
              <a:off x="8737598" y="4038600"/>
              <a:ext cx="2743200" cy="646430"/>
            </a:xfrm>
            <a:prstGeom prst="rect">
              <a:avLst/>
            </a:prstGeom>
            <a:ln w="12699">
              <a:solidFill>
                <a:srgbClr val="55677D"/>
              </a:solidFill>
            </a:ln>
          </p:spPr>
          <p:txBody>
            <a:bodyPr vert="horz" wrap="square" lIns="0" tIns="60960" rIns="0" bIns="0" rtlCol="0">
              <a:spAutoFit/>
            </a:bodyPr>
            <a:lstStyle/>
            <a:p>
              <a:pPr marL="1045845" marR="146050" indent="-887095">
                <a:lnSpc>
                  <a:spcPts val="2100"/>
                </a:lnSpc>
                <a:spcBef>
                  <a:spcPts val="480"/>
                </a:spcBef>
              </a:pPr>
              <a:r>
                <a:rPr sz="1800" b="1" i="1" dirty="0">
                  <a:solidFill>
                    <a:srgbClr val="44546A"/>
                  </a:solidFill>
                  <a:latin typeface="Calibri" panose="020F0502020204030204"/>
                  <a:cs typeface="Calibri" panose="020F0502020204030204"/>
                </a:rPr>
                <a:t>A </a:t>
              </a:r>
              <a:r>
                <a:rPr sz="1800" b="1" i="1" spc="-5" dirty="0">
                  <a:solidFill>
                    <a:srgbClr val="44546A"/>
                  </a:solidFill>
                  <a:latin typeface="Calibri" panose="020F0502020204030204"/>
                  <a:cs typeface="Calibri" panose="020F0502020204030204"/>
                </a:rPr>
                <a:t>picture says </a:t>
              </a:r>
              <a:r>
                <a:rPr sz="1800" b="1" i="1" dirty="0">
                  <a:solidFill>
                    <a:srgbClr val="44546A"/>
                  </a:solidFill>
                  <a:latin typeface="Calibri" panose="020F0502020204030204"/>
                  <a:cs typeface="Calibri" panose="020F0502020204030204"/>
                </a:rPr>
                <a:t>a </a:t>
              </a:r>
              <a:r>
                <a:rPr sz="1800" b="1" i="1" spc="-5" dirty="0">
                  <a:solidFill>
                    <a:srgbClr val="44546A"/>
                  </a:solidFill>
                  <a:latin typeface="Calibri" panose="020F0502020204030204"/>
                  <a:cs typeface="Calibri" panose="020F0502020204030204"/>
                </a:rPr>
                <a:t>thousand  words!</a:t>
              </a:r>
              <a:endParaRPr sz="1800">
                <a:latin typeface="Calibri" panose="020F0502020204030204"/>
                <a:cs typeface="Calibri" panose="020F0502020204030204"/>
              </a:endParaRPr>
            </a:p>
          </p:txBody>
        </p:sp>
      </p:grpSp>
      <p:sp>
        <p:nvSpPr>
          <p:cNvPr id="46" name="标题 45"/>
          <p:cNvSpPr>
            <a:spLocks noGrp="1"/>
          </p:cNvSpPr>
          <p:nvPr>
            <p:ph type="title"/>
          </p:nvPr>
        </p:nvSpPr>
        <p:spPr/>
        <p:txBody>
          <a:bodyPr/>
          <a:lstStyle/>
          <a:p>
            <a:r>
              <a:rPr lang="zh-CN" altLang="en-US" spc="-5" dirty="0"/>
              <a:t>原型、仿真</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43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9484"/>
    </mc:Choice>
    <mc:Fallback xmlns="">
      <p:transition spd="slow" advTm="69484"/>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95292" y="1547494"/>
            <a:ext cx="5537200" cy="4808855"/>
          </a:xfrm>
          <a:prstGeom prst="rect">
            <a:avLst/>
          </a:prstGeom>
        </p:spPr>
        <p:txBody>
          <a:bodyPr vert="horz" wrap="square" lIns="0" tIns="76200" rIns="0" bIns="0" rtlCol="0">
            <a:spAutoFit/>
          </a:bodyPr>
          <a:lstStyle/>
          <a:p>
            <a:pPr marL="241300" indent="-228600">
              <a:lnSpc>
                <a:spcPct val="100000"/>
              </a:lnSpc>
              <a:spcBef>
                <a:spcPts val="60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目标</a:t>
            </a:r>
          </a:p>
          <a:p>
            <a:pPr marL="698500" lvl="1" indent="-228600">
              <a:lnSpc>
                <a:spcPct val="100000"/>
              </a:lnSpc>
              <a:spcBef>
                <a:spcPts val="42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用图形描述现实</a:t>
            </a:r>
          </a:p>
          <a:p>
            <a:pPr marL="698500" lvl="1" indent="-228600">
              <a:lnSpc>
                <a:spcPct val="100000"/>
              </a:lnSpc>
              <a:spcBef>
                <a:spcPts val="5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建立未来系统模型，即未来系统的抽象表示</a:t>
            </a:r>
          </a:p>
          <a:p>
            <a:pPr marL="698500" lvl="1" indent="-228600">
              <a:lnSpc>
                <a:spcPct val="100000"/>
              </a:lnSpc>
              <a:spcBef>
                <a:spcPts val="5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在建模过程中对原始需求进行评估、扩展</a:t>
            </a:r>
          </a:p>
          <a:p>
            <a:pPr marL="698500" lvl="1" indent="-228600">
              <a:lnSpc>
                <a:spcPct val="100000"/>
              </a:lnSpc>
              <a:spcBef>
                <a:spcPts val="5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清楚、完整、正确、一致的描述</a:t>
            </a:r>
          </a:p>
          <a:p>
            <a:pPr marL="241300" indent="-228600">
              <a:lnSpc>
                <a:spcPct val="100000"/>
              </a:lnSpc>
              <a:spcBef>
                <a:spcPts val="100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指导原则</a:t>
            </a:r>
          </a:p>
          <a:p>
            <a:pPr marL="698500" lvl="1" indent="-228600">
              <a:lnSpc>
                <a:spcPct val="100000"/>
              </a:lnSpc>
              <a:spcBef>
                <a:spcPts val="52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模型类型</a:t>
            </a:r>
          </a:p>
          <a:p>
            <a:pPr marL="1155700" lvl="2" indent="-228600">
              <a:lnSpc>
                <a:spcPct val="100000"/>
              </a:lnSpc>
              <a:spcBef>
                <a:spcPts val="500"/>
              </a:spcBef>
              <a:buFont typeface="Arial" panose="020B0604020202020204"/>
              <a:buChar char="•"/>
              <a:tabLst>
                <a:tab pos="1155065" algn="l"/>
                <a:tab pos="1155700" algn="l"/>
              </a:tabLst>
            </a:pPr>
            <a:r>
              <a:rPr sz="1800" dirty="0">
                <a:latin typeface="微软雅黑" panose="020B0503020204020204" pitchFamily="34" charset="-122"/>
                <a:ea typeface="微软雅黑" panose="020B0503020204020204" pitchFamily="34" charset="-122"/>
                <a:cs typeface="华文细黑" panose="02010600040101010101" charset="-122"/>
              </a:rPr>
              <a:t>分解</a:t>
            </a:r>
          </a:p>
          <a:p>
            <a:pPr marL="1155700" lvl="2" indent="-228600">
              <a:lnSpc>
                <a:spcPct val="100000"/>
              </a:lnSpc>
              <a:spcBef>
                <a:spcPts val="540"/>
              </a:spcBef>
              <a:buFont typeface="Arial" panose="020B0604020202020204"/>
              <a:buChar char="•"/>
              <a:tabLst>
                <a:tab pos="1155065" algn="l"/>
                <a:tab pos="1155700" algn="l"/>
              </a:tabLst>
            </a:pPr>
            <a:r>
              <a:rPr sz="1800" dirty="0">
                <a:latin typeface="微软雅黑" panose="020B0503020204020204" pitchFamily="34" charset="-122"/>
                <a:ea typeface="微软雅黑" panose="020B0503020204020204" pitchFamily="34" charset="-122"/>
                <a:cs typeface="华文细黑" panose="02010600040101010101" charset="-122"/>
              </a:rPr>
              <a:t>数据</a:t>
            </a:r>
          </a:p>
          <a:p>
            <a:pPr marL="1155700" lvl="2" indent="-228600">
              <a:lnSpc>
                <a:spcPct val="100000"/>
              </a:lnSpc>
              <a:spcBef>
                <a:spcPts val="440"/>
              </a:spcBef>
              <a:buFont typeface="Arial" panose="020B0604020202020204"/>
              <a:buChar char="•"/>
              <a:tabLst>
                <a:tab pos="1155065" algn="l"/>
                <a:tab pos="1155700" algn="l"/>
              </a:tabLst>
            </a:pPr>
            <a:r>
              <a:rPr sz="1800" dirty="0">
                <a:latin typeface="微软雅黑" panose="020B0503020204020204" pitchFamily="34" charset="-122"/>
                <a:ea typeface="微软雅黑" panose="020B0503020204020204" pitchFamily="34" charset="-122"/>
                <a:cs typeface="华文细黑" panose="02010600040101010101" charset="-122"/>
              </a:rPr>
              <a:t>面向对象</a:t>
            </a:r>
          </a:p>
          <a:p>
            <a:pPr marL="1155700" lvl="2" indent="-228600">
              <a:lnSpc>
                <a:spcPct val="100000"/>
              </a:lnSpc>
              <a:spcBef>
                <a:spcPts val="540"/>
              </a:spcBef>
              <a:buFont typeface="Arial" panose="020B0604020202020204"/>
              <a:buChar char="•"/>
              <a:tabLst>
                <a:tab pos="1155065" algn="l"/>
                <a:tab pos="1155700" algn="l"/>
              </a:tabLst>
            </a:pPr>
            <a:r>
              <a:rPr sz="1800" dirty="0">
                <a:latin typeface="微软雅黑" panose="020B0503020204020204" pitchFamily="34" charset="-122"/>
                <a:ea typeface="微软雅黑" panose="020B0503020204020204" pitchFamily="34" charset="-122"/>
                <a:cs typeface="华文细黑" panose="02010600040101010101" charset="-122"/>
              </a:rPr>
              <a:t>用例</a:t>
            </a:r>
          </a:p>
          <a:p>
            <a:pPr marL="1155700" lvl="2" indent="-228600">
              <a:lnSpc>
                <a:spcPct val="100000"/>
              </a:lnSpc>
              <a:spcBef>
                <a:spcPts val="540"/>
              </a:spcBef>
              <a:buFont typeface="Arial" panose="020B0604020202020204"/>
              <a:buChar char="•"/>
              <a:tabLst>
                <a:tab pos="1155065" algn="l"/>
                <a:tab pos="1155700" algn="l"/>
              </a:tabLst>
            </a:pPr>
            <a:r>
              <a:rPr sz="1800" dirty="0">
                <a:latin typeface="微软雅黑" panose="020B0503020204020204" pitchFamily="34" charset="-122"/>
                <a:ea typeface="微软雅黑" panose="020B0503020204020204" pitchFamily="34" charset="-122"/>
                <a:cs typeface="华文细黑" panose="02010600040101010101" charset="-122"/>
              </a:rPr>
              <a:t>过程</a:t>
            </a:r>
          </a:p>
          <a:p>
            <a:pPr marL="1155700" lvl="2" indent="-228600">
              <a:lnSpc>
                <a:spcPct val="100000"/>
              </a:lnSpc>
              <a:spcBef>
                <a:spcPts val="440"/>
              </a:spcBef>
              <a:buFont typeface="Arial" panose="020B0604020202020204"/>
              <a:buChar char="•"/>
              <a:tabLst>
                <a:tab pos="1155065" algn="l"/>
                <a:tab pos="1155700" algn="l"/>
              </a:tabLst>
            </a:pPr>
            <a:r>
              <a:rPr sz="1800" dirty="0">
                <a:latin typeface="微软雅黑" panose="020B0503020204020204" pitchFamily="34" charset="-122"/>
                <a:ea typeface="微软雅黑" panose="020B0503020204020204" pitchFamily="34" charset="-122"/>
                <a:cs typeface="华文细黑" panose="02010600040101010101" charset="-122"/>
              </a:rPr>
              <a:t>活动</a:t>
            </a:r>
          </a:p>
        </p:txBody>
      </p:sp>
      <p:grpSp>
        <p:nvGrpSpPr>
          <p:cNvPr id="33" name="组合 32"/>
          <p:cNvGrpSpPr/>
          <p:nvPr/>
        </p:nvGrpSpPr>
        <p:grpSpPr>
          <a:xfrm>
            <a:off x="7262158" y="3270250"/>
            <a:ext cx="2946040" cy="2641970"/>
            <a:chOff x="7503458" y="3130550"/>
            <a:chExt cx="2946040" cy="2641970"/>
          </a:xfrm>
        </p:grpSpPr>
        <p:sp>
          <p:nvSpPr>
            <p:cNvPr id="4" name="object 4"/>
            <p:cNvSpPr/>
            <p:nvPr/>
          </p:nvSpPr>
          <p:spPr>
            <a:xfrm>
              <a:off x="9626391" y="3690646"/>
              <a:ext cx="506730" cy="325755"/>
            </a:xfrm>
            <a:custGeom>
              <a:avLst/>
              <a:gdLst/>
              <a:ahLst/>
              <a:cxnLst/>
              <a:rect l="l" t="t" r="r" b="b"/>
              <a:pathLst>
                <a:path w="506729" h="325754">
                  <a:moveTo>
                    <a:pt x="306270" y="0"/>
                  </a:moveTo>
                  <a:lnTo>
                    <a:pt x="127754" y="168308"/>
                  </a:lnTo>
                  <a:lnTo>
                    <a:pt x="0" y="301452"/>
                  </a:lnTo>
                  <a:lnTo>
                    <a:pt x="29781" y="325405"/>
                  </a:lnTo>
                  <a:lnTo>
                    <a:pt x="506277" y="325405"/>
                  </a:lnTo>
                  <a:lnTo>
                    <a:pt x="306270" y="0"/>
                  </a:lnTo>
                  <a:close/>
                </a:path>
              </a:pathLst>
            </a:custGeom>
            <a:solidFill>
              <a:srgbClr val="F1EBDA"/>
            </a:solidFill>
          </p:spPr>
          <p:txBody>
            <a:bodyPr wrap="square" lIns="0" tIns="0" rIns="0" bIns="0" rtlCol="0"/>
            <a:lstStyle/>
            <a:p>
              <a:endParaRPr/>
            </a:p>
          </p:txBody>
        </p:sp>
        <p:sp>
          <p:nvSpPr>
            <p:cNvPr id="5" name="object 5"/>
            <p:cNvSpPr/>
            <p:nvPr/>
          </p:nvSpPr>
          <p:spPr>
            <a:xfrm>
              <a:off x="8384319" y="3272485"/>
              <a:ext cx="1418590" cy="184785"/>
            </a:xfrm>
            <a:custGeom>
              <a:avLst/>
              <a:gdLst/>
              <a:ahLst/>
              <a:cxnLst/>
              <a:rect l="l" t="t" r="r" b="b"/>
              <a:pathLst>
                <a:path w="1418590" h="184785">
                  <a:moveTo>
                    <a:pt x="8392" y="0"/>
                  </a:moveTo>
                  <a:lnTo>
                    <a:pt x="0" y="168309"/>
                  </a:lnTo>
                  <a:lnTo>
                    <a:pt x="1418559" y="184362"/>
                  </a:lnTo>
                  <a:lnTo>
                    <a:pt x="1408068" y="12995"/>
                  </a:lnTo>
                  <a:lnTo>
                    <a:pt x="8392" y="0"/>
                  </a:lnTo>
                  <a:close/>
                </a:path>
              </a:pathLst>
            </a:custGeom>
            <a:solidFill>
              <a:srgbClr val="F1EBDA"/>
            </a:solidFill>
          </p:spPr>
          <p:txBody>
            <a:bodyPr wrap="square" lIns="0" tIns="0" rIns="0" bIns="0" rtlCol="0"/>
            <a:lstStyle/>
            <a:p>
              <a:endParaRPr/>
            </a:p>
          </p:txBody>
        </p:sp>
        <p:sp>
          <p:nvSpPr>
            <p:cNvPr id="6" name="object 6"/>
            <p:cNvSpPr/>
            <p:nvPr/>
          </p:nvSpPr>
          <p:spPr>
            <a:xfrm>
              <a:off x="7650477" y="3674846"/>
              <a:ext cx="1138555" cy="232410"/>
            </a:xfrm>
            <a:custGeom>
              <a:avLst/>
              <a:gdLst/>
              <a:ahLst/>
              <a:cxnLst/>
              <a:rect l="l" t="t" r="r" b="b"/>
              <a:pathLst>
                <a:path w="1138554" h="232410">
                  <a:moveTo>
                    <a:pt x="31498" y="0"/>
                  </a:moveTo>
                  <a:lnTo>
                    <a:pt x="8401" y="62303"/>
                  </a:lnTo>
                  <a:lnTo>
                    <a:pt x="0" y="165124"/>
                  </a:lnTo>
                  <a:lnTo>
                    <a:pt x="8401" y="224242"/>
                  </a:lnTo>
                  <a:lnTo>
                    <a:pt x="742233" y="225771"/>
                  </a:lnTo>
                  <a:lnTo>
                    <a:pt x="1116510" y="232142"/>
                  </a:lnTo>
                  <a:lnTo>
                    <a:pt x="1137932" y="67400"/>
                  </a:lnTo>
                  <a:lnTo>
                    <a:pt x="1137932" y="6370"/>
                  </a:lnTo>
                  <a:lnTo>
                    <a:pt x="559097" y="6370"/>
                  </a:lnTo>
                  <a:lnTo>
                    <a:pt x="31498" y="0"/>
                  </a:lnTo>
                  <a:close/>
                </a:path>
                <a:path w="1138554" h="232410">
                  <a:moveTo>
                    <a:pt x="1137932" y="1529"/>
                  </a:moveTo>
                  <a:lnTo>
                    <a:pt x="559097" y="6370"/>
                  </a:lnTo>
                  <a:lnTo>
                    <a:pt x="1137932" y="6370"/>
                  </a:lnTo>
                  <a:lnTo>
                    <a:pt x="1137932" y="1529"/>
                  </a:lnTo>
                  <a:close/>
                </a:path>
              </a:pathLst>
            </a:custGeom>
            <a:solidFill>
              <a:srgbClr val="F1EBDA"/>
            </a:solidFill>
          </p:spPr>
          <p:txBody>
            <a:bodyPr wrap="square" lIns="0" tIns="0" rIns="0" bIns="0" rtlCol="0"/>
            <a:lstStyle/>
            <a:p>
              <a:endParaRPr/>
            </a:p>
          </p:txBody>
        </p:sp>
        <p:sp>
          <p:nvSpPr>
            <p:cNvPr id="7" name="object 7"/>
            <p:cNvSpPr/>
            <p:nvPr/>
          </p:nvSpPr>
          <p:spPr>
            <a:xfrm>
              <a:off x="9824199" y="5257858"/>
              <a:ext cx="568325" cy="256540"/>
            </a:xfrm>
            <a:custGeom>
              <a:avLst/>
              <a:gdLst/>
              <a:ahLst/>
              <a:cxnLst/>
              <a:rect l="l" t="t" r="r" b="b"/>
              <a:pathLst>
                <a:path w="568325" h="256539">
                  <a:moveTo>
                    <a:pt x="338251" y="0"/>
                  </a:moveTo>
                  <a:lnTo>
                    <a:pt x="268028" y="46504"/>
                  </a:lnTo>
                  <a:lnTo>
                    <a:pt x="12689" y="201791"/>
                  </a:lnTo>
                  <a:lnTo>
                    <a:pt x="0" y="232166"/>
                  </a:lnTo>
                  <a:lnTo>
                    <a:pt x="12689" y="246703"/>
                  </a:lnTo>
                  <a:lnTo>
                    <a:pt x="134014" y="256195"/>
                  </a:lnTo>
                  <a:lnTo>
                    <a:pt x="552810" y="240384"/>
                  </a:lnTo>
                  <a:lnTo>
                    <a:pt x="568039" y="216341"/>
                  </a:lnTo>
                  <a:lnTo>
                    <a:pt x="465836" y="129677"/>
                  </a:lnTo>
                  <a:lnTo>
                    <a:pt x="338251" y="0"/>
                  </a:lnTo>
                  <a:close/>
                </a:path>
              </a:pathLst>
            </a:custGeom>
            <a:solidFill>
              <a:srgbClr val="F1EBDA"/>
            </a:solidFill>
          </p:spPr>
          <p:txBody>
            <a:bodyPr wrap="square" lIns="0" tIns="0" rIns="0" bIns="0" rtlCol="0"/>
            <a:lstStyle/>
            <a:p>
              <a:endParaRPr/>
            </a:p>
          </p:txBody>
        </p:sp>
        <p:sp>
          <p:nvSpPr>
            <p:cNvPr id="8" name="object 8"/>
            <p:cNvSpPr/>
            <p:nvPr/>
          </p:nvSpPr>
          <p:spPr>
            <a:xfrm>
              <a:off x="7847903" y="4929240"/>
              <a:ext cx="2601595" cy="843280"/>
            </a:xfrm>
            <a:custGeom>
              <a:avLst/>
              <a:gdLst/>
              <a:ahLst/>
              <a:cxnLst/>
              <a:rect l="l" t="t" r="r" b="b"/>
              <a:pathLst>
                <a:path w="2601595" h="843279">
                  <a:moveTo>
                    <a:pt x="1961112" y="636057"/>
                  </a:moveTo>
                  <a:lnTo>
                    <a:pt x="1618922" y="636057"/>
                  </a:lnTo>
                  <a:lnTo>
                    <a:pt x="1757166" y="700260"/>
                  </a:lnTo>
                  <a:lnTo>
                    <a:pt x="1876460" y="773958"/>
                  </a:lnTo>
                  <a:lnTo>
                    <a:pt x="2023846" y="842909"/>
                  </a:lnTo>
                  <a:lnTo>
                    <a:pt x="2032883" y="842909"/>
                  </a:lnTo>
                  <a:lnTo>
                    <a:pt x="2152782" y="809382"/>
                  </a:lnTo>
                  <a:lnTo>
                    <a:pt x="2195253" y="773958"/>
                  </a:lnTo>
                  <a:lnTo>
                    <a:pt x="2182562" y="740431"/>
                  </a:lnTo>
                  <a:lnTo>
                    <a:pt x="2018766" y="666738"/>
                  </a:lnTo>
                  <a:lnTo>
                    <a:pt x="1961112" y="636057"/>
                  </a:lnTo>
                  <a:close/>
                </a:path>
                <a:path w="2601595" h="843279">
                  <a:moveTo>
                    <a:pt x="1091754" y="291617"/>
                  </a:moveTo>
                  <a:lnTo>
                    <a:pt x="546921" y="291617"/>
                  </a:lnTo>
                  <a:lnTo>
                    <a:pt x="759467" y="363731"/>
                  </a:lnTo>
                  <a:lnTo>
                    <a:pt x="768282" y="548132"/>
                  </a:lnTo>
                  <a:lnTo>
                    <a:pt x="599834" y="552871"/>
                  </a:lnTo>
                  <a:lnTo>
                    <a:pt x="415022" y="554451"/>
                  </a:lnTo>
                  <a:lnTo>
                    <a:pt x="385191" y="565842"/>
                  </a:lnTo>
                  <a:lnTo>
                    <a:pt x="336458" y="677810"/>
                  </a:lnTo>
                  <a:lnTo>
                    <a:pt x="346966" y="705012"/>
                  </a:lnTo>
                  <a:lnTo>
                    <a:pt x="438542" y="700260"/>
                  </a:lnTo>
                  <a:lnTo>
                    <a:pt x="685116" y="682550"/>
                  </a:lnTo>
                  <a:lnTo>
                    <a:pt x="1008562" y="669898"/>
                  </a:lnTo>
                  <a:lnTo>
                    <a:pt x="1282853" y="663579"/>
                  </a:lnTo>
                  <a:lnTo>
                    <a:pt x="1610557" y="663579"/>
                  </a:lnTo>
                  <a:lnTo>
                    <a:pt x="1618922" y="636057"/>
                  </a:lnTo>
                  <a:lnTo>
                    <a:pt x="1961112" y="636057"/>
                  </a:lnTo>
                  <a:lnTo>
                    <a:pt x="1852940" y="578493"/>
                  </a:lnTo>
                  <a:lnTo>
                    <a:pt x="1674423" y="492147"/>
                  </a:lnTo>
                  <a:lnTo>
                    <a:pt x="1497429" y="439004"/>
                  </a:lnTo>
                  <a:lnTo>
                    <a:pt x="1552929" y="410223"/>
                  </a:lnTo>
                  <a:lnTo>
                    <a:pt x="1765457" y="366891"/>
                  </a:lnTo>
                  <a:lnTo>
                    <a:pt x="1853975" y="339689"/>
                  </a:lnTo>
                  <a:lnTo>
                    <a:pt x="1182883" y="339689"/>
                  </a:lnTo>
                  <a:lnTo>
                    <a:pt x="1091754" y="291617"/>
                  </a:lnTo>
                  <a:close/>
                </a:path>
                <a:path w="2601595" h="843279">
                  <a:moveTo>
                    <a:pt x="1610557" y="663579"/>
                  </a:moveTo>
                  <a:lnTo>
                    <a:pt x="1429406" y="663579"/>
                  </a:lnTo>
                  <a:lnTo>
                    <a:pt x="1606231" y="677810"/>
                  </a:lnTo>
                  <a:lnTo>
                    <a:pt x="1610557" y="663579"/>
                  </a:lnTo>
                  <a:close/>
                </a:path>
                <a:path w="2601595" h="843279">
                  <a:moveTo>
                    <a:pt x="274713" y="0"/>
                  </a:moveTo>
                  <a:lnTo>
                    <a:pt x="212968" y="11377"/>
                  </a:lnTo>
                  <a:lnTo>
                    <a:pt x="85265" y="64202"/>
                  </a:lnTo>
                  <a:lnTo>
                    <a:pt x="27716" y="70534"/>
                  </a:lnTo>
                  <a:lnTo>
                    <a:pt x="0" y="94564"/>
                  </a:lnTo>
                  <a:lnTo>
                    <a:pt x="27716" y="139476"/>
                  </a:lnTo>
                  <a:lnTo>
                    <a:pt x="215066" y="200519"/>
                  </a:lnTo>
                  <a:lnTo>
                    <a:pt x="461639" y="264415"/>
                  </a:lnTo>
                  <a:lnTo>
                    <a:pt x="253291" y="296357"/>
                  </a:lnTo>
                  <a:lnTo>
                    <a:pt x="191546" y="315659"/>
                  </a:lnTo>
                  <a:lnTo>
                    <a:pt x="221377" y="333369"/>
                  </a:lnTo>
                  <a:lnTo>
                    <a:pt x="483062" y="414963"/>
                  </a:lnTo>
                  <a:lnTo>
                    <a:pt x="493570" y="413383"/>
                  </a:lnTo>
                  <a:lnTo>
                    <a:pt x="546921" y="291617"/>
                  </a:lnTo>
                  <a:lnTo>
                    <a:pt x="1091754" y="291617"/>
                  </a:lnTo>
                  <a:lnTo>
                    <a:pt x="906477" y="193880"/>
                  </a:lnTo>
                  <a:lnTo>
                    <a:pt x="621256" y="99316"/>
                  </a:lnTo>
                  <a:lnTo>
                    <a:pt x="423415" y="25622"/>
                  </a:lnTo>
                  <a:lnTo>
                    <a:pt x="274713" y="0"/>
                  </a:lnTo>
                  <a:close/>
                </a:path>
                <a:path w="2601595" h="843279">
                  <a:moveTo>
                    <a:pt x="2450592" y="61042"/>
                  </a:moveTo>
                  <a:lnTo>
                    <a:pt x="2399828" y="65782"/>
                  </a:lnTo>
                  <a:lnTo>
                    <a:pt x="2333837" y="94564"/>
                  </a:lnTo>
                  <a:lnTo>
                    <a:pt x="2250584" y="112274"/>
                  </a:lnTo>
                  <a:lnTo>
                    <a:pt x="1820959" y="229313"/>
                  </a:lnTo>
                  <a:lnTo>
                    <a:pt x="1652932" y="282125"/>
                  </a:lnTo>
                  <a:lnTo>
                    <a:pt x="1548700" y="293197"/>
                  </a:lnTo>
                  <a:lnTo>
                    <a:pt x="1448695" y="309327"/>
                  </a:lnTo>
                  <a:lnTo>
                    <a:pt x="1306374" y="327036"/>
                  </a:lnTo>
                  <a:lnTo>
                    <a:pt x="1182883" y="339689"/>
                  </a:lnTo>
                  <a:lnTo>
                    <a:pt x="1853975" y="339689"/>
                  </a:lnTo>
                  <a:lnTo>
                    <a:pt x="1952774" y="309327"/>
                  </a:lnTo>
                  <a:lnTo>
                    <a:pt x="2082558" y="286877"/>
                  </a:lnTo>
                  <a:lnTo>
                    <a:pt x="2229264" y="245125"/>
                  </a:lnTo>
                  <a:lnTo>
                    <a:pt x="2391030" y="205271"/>
                  </a:lnTo>
                  <a:lnTo>
                    <a:pt x="2503893" y="185981"/>
                  </a:lnTo>
                  <a:lnTo>
                    <a:pt x="2583277" y="185981"/>
                  </a:lnTo>
                  <a:lnTo>
                    <a:pt x="2601019" y="166652"/>
                  </a:lnTo>
                  <a:lnTo>
                    <a:pt x="2601019" y="135119"/>
                  </a:lnTo>
                  <a:lnTo>
                    <a:pt x="2599667" y="121766"/>
                  </a:lnTo>
                  <a:lnTo>
                    <a:pt x="2595097" y="107534"/>
                  </a:lnTo>
                  <a:lnTo>
                    <a:pt x="2512353" y="64202"/>
                  </a:lnTo>
                  <a:lnTo>
                    <a:pt x="2450592" y="61042"/>
                  </a:lnTo>
                  <a:close/>
                </a:path>
                <a:path w="2601595" h="843279">
                  <a:moveTo>
                    <a:pt x="2583277" y="185981"/>
                  </a:moveTo>
                  <a:lnTo>
                    <a:pt x="2503893" y="185981"/>
                  </a:lnTo>
                  <a:lnTo>
                    <a:pt x="2580377" y="189141"/>
                  </a:lnTo>
                  <a:lnTo>
                    <a:pt x="2583277" y="185981"/>
                  </a:lnTo>
                  <a:close/>
                </a:path>
              </a:pathLst>
            </a:custGeom>
            <a:solidFill>
              <a:srgbClr val="F1EBDA"/>
            </a:solidFill>
          </p:spPr>
          <p:txBody>
            <a:bodyPr wrap="square" lIns="0" tIns="0" rIns="0" bIns="0" rtlCol="0"/>
            <a:lstStyle/>
            <a:p>
              <a:endParaRPr/>
            </a:p>
          </p:txBody>
        </p:sp>
        <p:sp>
          <p:nvSpPr>
            <p:cNvPr id="9" name="object 9"/>
            <p:cNvSpPr/>
            <p:nvPr/>
          </p:nvSpPr>
          <p:spPr>
            <a:xfrm>
              <a:off x="8964828" y="4970993"/>
              <a:ext cx="1484630" cy="448945"/>
            </a:xfrm>
            <a:custGeom>
              <a:avLst/>
              <a:gdLst/>
              <a:ahLst/>
              <a:cxnLst/>
              <a:rect l="l" t="t" r="r" b="b"/>
              <a:pathLst>
                <a:path w="1484629" h="448945">
                  <a:moveTo>
                    <a:pt x="1348389" y="0"/>
                  </a:moveTo>
                  <a:lnTo>
                    <a:pt x="1271906" y="11059"/>
                  </a:lnTo>
                  <a:lnTo>
                    <a:pt x="1171902" y="57564"/>
                  </a:lnTo>
                  <a:lnTo>
                    <a:pt x="1067837" y="76854"/>
                  </a:lnTo>
                  <a:lnTo>
                    <a:pt x="885090" y="123346"/>
                  </a:lnTo>
                  <a:lnTo>
                    <a:pt x="767826" y="163518"/>
                  </a:lnTo>
                  <a:lnTo>
                    <a:pt x="521288" y="230574"/>
                  </a:lnTo>
                  <a:lnTo>
                    <a:pt x="412485" y="248285"/>
                  </a:lnTo>
                  <a:lnTo>
                    <a:pt x="297760" y="264415"/>
                  </a:lnTo>
                  <a:lnTo>
                    <a:pt x="163831" y="275487"/>
                  </a:lnTo>
                  <a:lnTo>
                    <a:pt x="59646" y="293197"/>
                  </a:lnTo>
                  <a:lnTo>
                    <a:pt x="21423" y="310907"/>
                  </a:lnTo>
                  <a:lnTo>
                    <a:pt x="0" y="321979"/>
                  </a:lnTo>
                  <a:lnTo>
                    <a:pt x="36126" y="358978"/>
                  </a:lnTo>
                  <a:lnTo>
                    <a:pt x="125605" y="387760"/>
                  </a:lnTo>
                  <a:lnTo>
                    <a:pt x="204152" y="424454"/>
                  </a:lnTo>
                  <a:lnTo>
                    <a:pt x="233968" y="446916"/>
                  </a:lnTo>
                  <a:lnTo>
                    <a:pt x="248688" y="448497"/>
                  </a:lnTo>
                  <a:lnTo>
                    <a:pt x="297760" y="431092"/>
                  </a:lnTo>
                  <a:lnTo>
                    <a:pt x="326428" y="424454"/>
                  </a:lnTo>
                  <a:lnTo>
                    <a:pt x="259518" y="424454"/>
                  </a:lnTo>
                  <a:lnTo>
                    <a:pt x="195760" y="394093"/>
                  </a:lnTo>
                  <a:lnTo>
                    <a:pt x="74352" y="347601"/>
                  </a:lnTo>
                  <a:lnTo>
                    <a:pt x="38225" y="318819"/>
                  </a:lnTo>
                  <a:lnTo>
                    <a:pt x="82762" y="304586"/>
                  </a:lnTo>
                  <a:lnTo>
                    <a:pt x="180633" y="290037"/>
                  </a:lnTo>
                  <a:lnTo>
                    <a:pt x="382704" y="269154"/>
                  </a:lnTo>
                  <a:lnTo>
                    <a:pt x="527549" y="251444"/>
                  </a:lnTo>
                  <a:lnTo>
                    <a:pt x="627551" y="222662"/>
                  </a:lnTo>
                  <a:lnTo>
                    <a:pt x="797778" y="171418"/>
                  </a:lnTo>
                  <a:lnTo>
                    <a:pt x="908103" y="141056"/>
                  </a:lnTo>
                  <a:lnTo>
                    <a:pt x="1055146" y="97723"/>
                  </a:lnTo>
                  <a:lnTo>
                    <a:pt x="1163610" y="76854"/>
                  </a:lnTo>
                  <a:lnTo>
                    <a:pt x="1255153" y="51231"/>
                  </a:lnTo>
                  <a:lnTo>
                    <a:pt x="1303886" y="27202"/>
                  </a:lnTo>
                  <a:lnTo>
                    <a:pt x="1411425" y="27202"/>
                  </a:lnTo>
                  <a:lnTo>
                    <a:pt x="1408120" y="22449"/>
                  </a:lnTo>
                  <a:lnTo>
                    <a:pt x="1348389" y="0"/>
                  </a:lnTo>
                  <a:close/>
                </a:path>
                <a:path w="1484629" h="448945">
                  <a:moveTo>
                    <a:pt x="1457191" y="51231"/>
                  </a:moveTo>
                  <a:lnTo>
                    <a:pt x="1463452" y="68941"/>
                  </a:lnTo>
                  <a:lnTo>
                    <a:pt x="1471912" y="105636"/>
                  </a:lnTo>
                  <a:lnTo>
                    <a:pt x="1471912" y="118606"/>
                  </a:lnTo>
                  <a:lnTo>
                    <a:pt x="1439932" y="134736"/>
                  </a:lnTo>
                  <a:lnTo>
                    <a:pt x="1346358" y="141056"/>
                  </a:lnTo>
                  <a:lnTo>
                    <a:pt x="1199652" y="171418"/>
                  </a:lnTo>
                  <a:lnTo>
                    <a:pt x="961572" y="234053"/>
                  </a:lnTo>
                  <a:lnTo>
                    <a:pt x="840080" y="253024"/>
                  </a:lnTo>
                  <a:lnTo>
                    <a:pt x="699805" y="299516"/>
                  </a:lnTo>
                  <a:lnTo>
                    <a:pt x="561559" y="330196"/>
                  </a:lnTo>
                  <a:lnTo>
                    <a:pt x="438205" y="358978"/>
                  </a:lnTo>
                  <a:lnTo>
                    <a:pt x="357492" y="394093"/>
                  </a:lnTo>
                  <a:lnTo>
                    <a:pt x="259518" y="424454"/>
                  </a:lnTo>
                  <a:lnTo>
                    <a:pt x="326428" y="424454"/>
                  </a:lnTo>
                  <a:lnTo>
                    <a:pt x="374243" y="413382"/>
                  </a:lnTo>
                  <a:lnTo>
                    <a:pt x="442266" y="378280"/>
                  </a:lnTo>
                  <a:lnTo>
                    <a:pt x="682544" y="321979"/>
                  </a:lnTo>
                  <a:lnTo>
                    <a:pt x="774087" y="294777"/>
                  </a:lnTo>
                  <a:lnTo>
                    <a:pt x="846340" y="275487"/>
                  </a:lnTo>
                  <a:lnTo>
                    <a:pt x="963604" y="258083"/>
                  </a:lnTo>
                  <a:lnTo>
                    <a:pt x="1025366" y="235633"/>
                  </a:lnTo>
                  <a:lnTo>
                    <a:pt x="1110140" y="213170"/>
                  </a:lnTo>
                  <a:lnTo>
                    <a:pt x="1237894" y="187561"/>
                  </a:lnTo>
                  <a:lnTo>
                    <a:pt x="1371908" y="158766"/>
                  </a:lnTo>
                  <a:lnTo>
                    <a:pt x="1463452" y="153708"/>
                  </a:lnTo>
                  <a:lnTo>
                    <a:pt x="1484095" y="140581"/>
                  </a:lnTo>
                  <a:lnTo>
                    <a:pt x="1484095" y="73703"/>
                  </a:lnTo>
                  <a:lnTo>
                    <a:pt x="1457191" y="51231"/>
                  </a:lnTo>
                  <a:close/>
                </a:path>
                <a:path w="1484629" h="448945">
                  <a:moveTo>
                    <a:pt x="1411425" y="27202"/>
                  </a:moveTo>
                  <a:lnTo>
                    <a:pt x="1303886" y="27202"/>
                  </a:lnTo>
                  <a:lnTo>
                    <a:pt x="1361418" y="28782"/>
                  </a:lnTo>
                  <a:lnTo>
                    <a:pt x="1416918" y="35101"/>
                  </a:lnTo>
                  <a:lnTo>
                    <a:pt x="1411425" y="27202"/>
                  </a:lnTo>
                  <a:close/>
                </a:path>
              </a:pathLst>
            </a:custGeom>
            <a:solidFill>
              <a:srgbClr val="000000"/>
            </a:solidFill>
          </p:spPr>
          <p:txBody>
            <a:bodyPr wrap="square" lIns="0" tIns="0" rIns="0" bIns="0" rtlCol="0"/>
            <a:lstStyle/>
            <a:p>
              <a:endParaRPr/>
            </a:p>
          </p:txBody>
        </p:sp>
        <p:sp>
          <p:nvSpPr>
            <p:cNvPr id="10" name="object 10"/>
            <p:cNvSpPr/>
            <p:nvPr/>
          </p:nvSpPr>
          <p:spPr>
            <a:xfrm>
              <a:off x="7835297" y="4919748"/>
              <a:ext cx="1334135" cy="574040"/>
            </a:xfrm>
            <a:custGeom>
              <a:avLst/>
              <a:gdLst/>
              <a:ahLst/>
              <a:cxnLst/>
              <a:rect l="l" t="t" r="r" b="b"/>
              <a:pathLst>
                <a:path w="1334134" h="574039">
                  <a:moveTo>
                    <a:pt x="325544" y="0"/>
                  </a:moveTo>
                  <a:lnTo>
                    <a:pt x="231868" y="9491"/>
                  </a:lnTo>
                  <a:lnTo>
                    <a:pt x="121408" y="62303"/>
                  </a:lnTo>
                  <a:lnTo>
                    <a:pt x="36126" y="73694"/>
                  </a:lnTo>
                  <a:lnTo>
                    <a:pt x="0" y="104056"/>
                  </a:lnTo>
                  <a:lnTo>
                    <a:pt x="27732" y="158460"/>
                  </a:lnTo>
                  <a:lnTo>
                    <a:pt x="267995" y="232154"/>
                  </a:lnTo>
                  <a:lnTo>
                    <a:pt x="540204" y="304269"/>
                  </a:lnTo>
                  <a:lnTo>
                    <a:pt x="738045" y="366891"/>
                  </a:lnTo>
                  <a:lnTo>
                    <a:pt x="901858" y="442178"/>
                  </a:lnTo>
                  <a:lnTo>
                    <a:pt x="1093405" y="549393"/>
                  </a:lnTo>
                  <a:lnTo>
                    <a:pt x="1142136" y="573435"/>
                  </a:lnTo>
                  <a:lnTo>
                    <a:pt x="1197588" y="562363"/>
                  </a:lnTo>
                  <a:lnTo>
                    <a:pt x="1214298" y="549393"/>
                  </a:lnTo>
                  <a:lnTo>
                    <a:pt x="1140039" y="549393"/>
                  </a:lnTo>
                  <a:lnTo>
                    <a:pt x="1035856" y="490249"/>
                  </a:lnTo>
                  <a:lnTo>
                    <a:pt x="889269" y="414976"/>
                  </a:lnTo>
                  <a:lnTo>
                    <a:pt x="763663" y="357412"/>
                  </a:lnTo>
                  <a:lnTo>
                    <a:pt x="672087" y="325151"/>
                  </a:lnTo>
                  <a:lnTo>
                    <a:pt x="523401" y="278646"/>
                  </a:lnTo>
                  <a:lnTo>
                    <a:pt x="346542" y="234053"/>
                  </a:lnTo>
                  <a:lnTo>
                    <a:pt x="199955" y="190720"/>
                  </a:lnTo>
                  <a:lnTo>
                    <a:pt x="93675" y="155300"/>
                  </a:lnTo>
                  <a:lnTo>
                    <a:pt x="46634" y="128098"/>
                  </a:lnTo>
                  <a:lnTo>
                    <a:pt x="31929" y="105636"/>
                  </a:lnTo>
                  <a:lnTo>
                    <a:pt x="59646" y="88244"/>
                  </a:lnTo>
                  <a:lnTo>
                    <a:pt x="121408" y="81606"/>
                  </a:lnTo>
                  <a:lnTo>
                    <a:pt x="159632" y="68954"/>
                  </a:lnTo>
                  <a:lnTo>
                    <a:pt x="259601" y="28782"/>
                  </a:lnTo>
                  <a:lnTo>
                    <a:pt x="293630" y="20869"/>
                  </a:lnTo>
                  <a:lnTo>
                    <a:pt x="416756" y="20869"/>
                  </a:lnTo>
                  <a:lnTo>
                    <a:pt x="325544" y="0"/>
                  </a:lnTo>
                  <a:close/>
                </a:path>
                <a:path w="1334134" h="574039">
                  <a:moveTo>
                    <a:pt x="1301753" y="442178"/>
                  </a:moveTo>
                  <a:lnTo>
                    <a:pt x="1189177" y="538321"/>
                  </a:lnTo>
                  <a:lnTo>
                    <a:pt x="1140039" y="549393"/>
                  </a:lnTo>
                  <a:lnTo>
                    <a:pt x="1214298" y="549393"/>
                  </a:lnTo>
                  <a:lnTo>
                    <a:pt x="1333682" y="456727"/>
                  </a:lnTo>
                  <a:lnTo>
                    <a:pt x="1301753" y="442178"/>
                  </a:lnTo>
                  <a:close/>
                </a:path>
                <a:path w="1334134" h="574039">
                  <a:moveTo>
                    <a:pt x="416756" y="20869"/>
                  </a:moveTo>
                  <a:lnTo>
                    <a:pt x="293630" y="20869"/>
                  </a:lnTo>
                  <a:lnTo>
                    <a:pt x="344444" y="28782"/>
                  </a:lnTo>
                  <a:lnTo>
                    <a:pt x="438119" y="44912"/>
                  </a:lnTo>
                  <a:lnTo>
                    <a:pt x="587245" y="99316"/>
                  </a:lnTo>
                  <a:lnTo>
                    <a:pt x="940083" y="222662"/>
                  </a:lnTo>
                  <a:lnTo>
                    <a:pt x="1074080" y="293197"/>
                  </a:lnTo>
                  <a:lnTo>
                    <a:pt x="1197588" y="360572"/>
                  </a:lnTo>
                  <a:lnTo>
                    <a:pt x="1223206" y="346021"/>
                  </a:lnTo>
                  <a:lnTo>
                    <a:pt x="1074080" y="267587"/>
                  </a:lnTo>
                  <a:lnTo>
                    <a:pt x="925395" y="198633"/>
                  </a:lnTo>
                  <a:lnTo>
                    <a:pt x="585147" y="75274"/>
                  </a:lnTo>
                  <a:lnTo>
                    <a:pt x="444431" y="27202"/>
                  </a:lnTo>
                  <a:lnTo>
                    <a:pt x="416756" y="20869"/>
                  </a:lnTo>
                  <a:close/>
                </a:path>
              </a:pathLst>
            </a:custGeom>
            <a:solidFill>
              <a:srgbClr val="000000"/>
            </a:solidFill>
          </p:spPr>
          <p:txBody>
            <a:bodyPr wrap="square" lIns="0" tIns="0" rIns="0" bIns="0" rtlCol="0"/>
            <a:lstStyle/>
            <a:p>
              <a:endParaRPr/>
            </a:p>
          </p:txBody>
        </p:sp>
        <p:sp>
          <p:nvSpPr>
            <p:cNvPr id="11" name="object 11"/>
            <p:cNvSpPr/>
            <p:nvPr/>
          </p:nvSpPr>
          <p:spPr>
            <a:xfrm>
              <a:off x="8009618" y="5188916"/>
              <a:ext cx="413384" cy="168275"/>
            </a:xfrm>
            <a:custGeom>
              <a:avLst/>
              <a:gdLst/>
              <a:ahLst/>
              <a:cxnLst/>
              <a:rect l="l" t="t" r="r" b="b"/>
              <a:pathLst>
                <a:path w="413384" h="168275">
                  <a:moveTo>
                    <a:pt x="299925" y="0"/>
                  </a:moveTo>
                  <a:lnTo>
                    <a:pt x="40746" y="30361"/>
                  </a:lnTo>
                  <a:lnTo>
                    <a:pt x="0" y="55984"/>
                  </a:lnTo>
                  <a:lnTo>
                    <a:pt x="44959" y="78433"/>
                  </a:lnTo>
                  <a:lnTo>
                    <a:pt x="325544" y="168257"/>
                  </a:lnTo>
                  <a:lnTo>
                    <a:pt x="357474" y="160357"/>
                  </a:lnTo>
                  <a:lnTo>
                    <a:pt x="360455" y="153708"/>
                  </a:lnTo>
                  <a:lnTo>
                    <a:pt x="327660" y="153708"/>
                  </a:lnTo>
                  <a:lnTo>
                    <a:pt x="61761" y="60723"/>
                  </a:lnTo>
                  <a:lnTo>
                    <a:pt x="85281" y="54391"/>
                  </a:lnTo>
                  <a:lnTo>
                    <a:pt x="325544" y="19290"/>
                  </a:lnTo>
                  <a:lnTo>
                    <a:pt x="299925" y="0"/>
                  </a:lnTo>
                  <a:close/>
                </a:path>
                <a:path w="413384" h="168275">
                  <a:moveTo>
                    <a:pt x="383092" y="25609"/>
                  </a:moveTo>
                  <a:lnTo>
                    <a:pt x="327660" y="153708"/>
                  </a:lnTo>
                  <a:lnTo>
                    <a:pt x="360455" y="153708"/>
                  </a:lnTo>
                  <a:lnTo>
                    <a:pt x="412925" y="36681"/>
                  </a:lnTo>
                  <a:lnTo>
                    <a:pt x="383092" y="25609"/>
                  </a:lnTo>
                  <a:close/>
                </a:path>
              </a:pathLst>
            </a:custGeom>
            <a:solidFill>
              <a:srgbClr val="000000"/>
            </a:solidFill>
          </p:spPr>
          <p:txBody>
            <a:bodyPr wrap="square" lIns="0" tIns="0" rIns="0" bIns="0" rtlCol="0"/>
            <a:lstStyle/>
            <a:p>
              <a:endParaRPr/>
            </a:p>
          </p:txBody>
        </p:sp>
        <p:sp>
          <p:nvSpPr>
            <p:cNvPr id="12" name="object 12"/>
            <p:cNvSpPr/>
            <p:nvPr/>
          </p:nvSpPr>
          <p:spPr>
            <a:xfrm>
              <a:off x="8588471" y="5283480"/>
              <a:ext cx="55244" cy="192405"/>
            </a:xfrm>
            <a:custGeom>
              <a:avLst/>
              <a:gdLst/>
              <a:ahLst/>
              <a:cxnLst/>
              <a:rect l="l" t="t" r="r" b="b"/>
              <a:pathLst>
                <a:path w="55245" h="192404">
                  <a:moveTo>
                    <a:pt x="0" y="0"/>
                  </a:moveTo>
                  <a:lnTo>
                    <a:pt x="10490" y="192299"/>
                  </a:lnTo>
                  <a:lnTo>
                    <a:pt x="55026" y="192299"/>
                  </a:lnTo>
                  <a:lnTo>
                    <a:pt x="36108" y="12651"/>
                  </a:lnTo>
                  <a:lnTo>
                    <a:pt x="0" y="0"/>
                  </a:lnTo>
                  <a:close/>
                </a:path>
              </a:pathLst>
            </a:custGeom>
            <a:solidFill>
              <a:srgbClr val="000000"/>
            </a:solidFill>
          </p:spPr>
          <p:txBody>
            <a:bodyPr wrap="square" lIns="0" tIns="0" rIns="0" bIns="0" rtlCol="0"/>
            <a:lstStyle/>
            <a:p>
              <a:endParaRPr/>
            </a:p>
          </p:txBody>
        </p:sp>
        <p:sp>
          <p:nvSpPr>
            <p:cNvPr id="13" name="object 13"/>
            <p:cNvSpPr/>
            <p:nvPr/>
          </p:nvSpPr>
          <p:spPr>
            <a:xfrm>
              <a:off x="8162940" y="5441939"/>
              <a:ext cx="1318895" cy="199390"/>
            </a:xfrm>
            <a:custGeom>
              <a:avLst/>
              <a:gdLst/>
              <a:ahLst/>
              <a:cxnLst/>
              <a:rect l="l" t="t" r="r" b="b"/>
              <a:pathLst>
                <a:path w="1318895" h="199389">
                  <a:moveTo>
                    <a:pt x="755271" y="0"/>
                  </a:moveTo>
                  <a:lnTo>
                    <a:pt x="516684" y="16130"/>
                  </a:lnTo>
                  <a:lnTo>
                    <a:pt x="348658" y="22462"/>
                  </a:lnTo>
                  <a:lnTo>
                    <a:pt x="99985" y="24042"/>
                  </a:lnTo>
                  <a:lnTo>
                    <a:pt x="59646" y="40172"/>
                  </a:lnTo>
                  <a:lnTo>
                    <a:pt x="0" y="168271"/>
                  </a:lnTo>
                  <a:lnTo>
                    <a:pt x="8409" y="193893"/>
                  </a:lnTo>
                  <a:lnTo>
                    <a:pt x="53351" y="198951"/>
                  </a:lnTo>
                  <a:lnTo>
                    <a:pt x="298814" y="182821"/>
                  </a:lnTo>
                  <a:lnTo>
                    <a:pt x="44536" y="182821"/>
                  </a:lnTo>
                  <a:lnTo>
                    <a:pt x="27732" y="161939"/>
                  </a:lnTo>
                  <a:lnTo>
                    <a:pt x="50830" y="97736"/>
                  </a:lnTo>
                  <a:lnTo>
                    <a:pt x="84858" y="48084"/>
                  </a:lnTo>
                  <a:lnTo>
                    <a:pt x="121408" y="37012"/>
                  </a:lnTo>
                  <a:lnTo>
                    <a:pt x="525495" y="37012"/>
                  </a:lnTo>
                  <a:lnTo>
                    <a:pt x="648567" y="29100"/>
                  </a:lnTo>
                  <a:lnTo>
                    <a:pt x="778367" y="24042"/>
                  </a:lnTo>
                  <a:lnTo>
                    <a:pt x="755271" y="0"/>
                  </a:lnTo>
                  <a:close/>
                </a:path>
                <a:path w="1318895" h="199389">
                  <a:moveTo>
                    <a:pt x="1063607" y="139489"/>
                  </a:moveTo>
                  <a:lnTo>
                    <a:pt x="850620" y="139489"/>
                  </a:lnTo>
                  <a:lnTo>
                    <a:pt x="663694" y="144228"/>
                  </a:lnTo>
                  <a:lnTo>
                    <a:pt x="244475" y="168271"/>
                  </a:lnTo>
                  <a:lnTo>
                    <a:pt x="97871" y="174909"/>
                  </a:lnTo>
                  <a:lnTo>
                    <a:pt x="44536" y="182821"/>
                  </a:lnTo>
                  <a:lnTo>
                    <a:pt x="298814" y="182821"/>
                  </a:lnTo>
                  <a:lnTo>
                    <a:pt x="419219" y="174909"/>
                  </a:lnTo>
                  <a:lnTo>
                    <a:pt x="763664" y="158779"/>
                  </a:lnTo>
                  <a:lnTo>
                    <a:pt x="993434" y="152459"/>
                  </a:lnTo>
                  <a:lnTo>
                    <a:pt x="1237903" y="152459"/>
                  </a:lnTo>
                  <a:lnTo>
                    <a:pt x="1063607" y="139489"/>
                  </a:lnTo>
                  <a:close/>
                </a:path>
                <a:path w="1318895" h="199389">
                  <a:moveTo>
                    <a:pt x="1237903" y="152459"/>
                  </a:moveTo>
                  <a:lnTo>
                    <a:pt x="993434" y="152459"/>
                  </a:lnTo>
                  <a:lnTo>
                    <a:pt x="1205913" y="163531"/>
                  </a:lnTo>
                  <a:lnTo>
                    <a:pt x="1310147" y="174909"/>
                  </a:lnTo>
                  <a:lnTo>
                    <a:pt x="1314209" y="155619"/>
                  </a:lnTo>
                  <a:lnTo>
                    <a:pt x="1280365" y="155619"/>
                  </a:lnTo>
                  <a:lnTo>
                    <a:pt x="1237903" y="152459"/>
                  </a:lnTo>
                  <a:close/>
                </a:path>
                <a:path w="1318895" h="199389">
                  <a:moveTo>
                    <a:pt x="1318607" y="134736"/>
                  </a:moveTo>
                  <a:lnTo>
                    <a:pt x="1282396" y="134736"/>
                  </a:lnTo>
                  <a:lnTo>
                    <a:pt x="1280365" y="155619"/>
                  </a:lnTo>
                  <a:lnTo>
                    <a:pt x="1314209" y="155619"/>
                  </a:lnTo>
                  <a:lnTo>
                    <a:pt x="1318607" y="134736"/>
                  </a:lnTo>
                  <a:close/>
                </a:path>
                <a:path w="1318895" h="199389">
                  <a:moveTo>
                    <a:pt x="525495" y="37012"/>
                  </a:moveTo>
                  <a:lnTo>
                    <a:pt x="121408" y="37012"/>
                  </a:lnTo>
                  <a:lnTo>
                    <a:pt x="287319" y="40172"/>
                  </a:lnTo>
                  <a:lnTo>
                    <a:pt x="476345" y="40172"/>
                  </a:lnTo>
                  <a:lnTo>
                    <a:pt x="525495" y="37012"/>
                  </a:lnTo>
                  <a:close/>
                </a:path>
              </a:pathLst>
            </a:custGeom>
            <a:solidFill>
              <a:srgbClr val="000000"/>
            </a:solidFill>
          </p:spPr>
          <p:txBody>
            <a:bodyPr wrap="square" lIns="0" tIns="0" rIns="0" bIns="0" rtlCol="0"/>
            <a:lstStyle/>
            <a:p>
              <a:endParaRPr/>
            </a:p>
          </p:txBody>
        </p:sp>
        <p:sp>
          <p:nvSpPr>
            <p:cNvPr id="14" name="object 14"/>
            <p:cNvSpPr/>
            <p:nvPr/>
          </p:nvSpPr>
          <p:spPr>
            <a:xfrm>
              <a:off x="9047590" y="5352434"/>
              <a:ext cx="1012825" cy="419734"/>
            </a:xfrm>
            <a:custGeom>
              <a:avLst/>
              <a:gdLst/>
              <a:ahLst/>
              <a:cxnLst/>
              <a:rect l="l" t="t" r="r" b="b"/>
              <a:pathLst>
                <a:path w="1012825" h="419735">
                  <a:moveTo>
                    <a:pt x="36531" y="75274"/>
                  </a:moveTo>
                  <a:lnTo>
                    <a:pt x="0" y="87925"/>
                  </a:lnTo>
                  <a:lnTo>
                    <a:pt x="159666" y="134418"/>
                  </a:lnTo>
                  <a:lnTo>
                    <a:pt x="272529" y="176170"/>
                  </a:lnTo>
                  <a:lnTo>
                    <a:pt x="395715" y="219502"/>
                  </a:lnTo>
                  <a:lnTo>
                    <a:pt x="485227" y="253037"/>
                  </a:lnTo>
                  <a:lnTo>
                    <a:pt x="587261" y="302689"/>
                  </a:lnTo>
                  <a:lnTo>
                    <a:pt x="725506" y="384292"/>
                  </a:lnTo>
                  <a:lnTo>
                    <a:pt x="792411" y="419715"/>
                  </a:lnTo>
                  <a:lnTo>
                    <a:pt x="870952" y="419715"/>
                  </a:lnTo>
                  <a:lnTo>
                    <a:pt x="906429" y="406748"/>
                  </a:lnTo>
                  <a:lnTo>
                    <a:pt x="853090" y="406748"/>
                  </a:lnTo>
                  <a:lnTo>
                    <a:pt x="810788" y="400422"/>
                  </a:lnTo>
                  <a:lnTo>
                    <a:pt x="695556" y="344439"/>
                  </a:lnTo>
                  <a:lnTo>
                    <a:pt x="551050" y="260937"/>
                  </a:lnTo>
                  <a:lnTo>
                    <a:pt x="425496" y="204952"/>
                  </a:lnTo>
                  <a:lnTo>
                    <a:pt x="276760" y="152128"/>
                  </a:lnTo>
                  <a:lnTo>
                    <a:pt x="36531" y="75274"/>
                  </a:lnTo>
                  <a:close/>
                </a:path>
                <a:path w="1012825" h="419735">
                  <a:moveTo>
                    <a:pt x="315001" y="0"/>
                  </a:moveTo>
                  <a:lnTo>
                    <a:pt x="278960" y="27202"/>
                  </a:lnTo>
                  <a:lnTo>
                    <a:pt x="372534" y="39855"/>
                  </a:lnTo>
                  <a:lnTo>
                    <a:pt x="527530" y="104056"/>
                  </a:lnTo>
                  <a:lnTo>
                    <a:pt x="695556" y="188822"/>
                  </a:lnTo>
                  <a:lnTo>
                    <a:pt x="968155" y="320400"/>
                  </a:lnTo>
                  <a:lnTo>
                    <a:pt x="968155" y="353927"/>
                  </a:lnTo>
                  <a:lnTo>
                    <a:pt x="853090" y="406748"/>
                  </a:lnTo>
                  <a:lnTo>
                    <a:pt x="906429" y="406748"/>
                  </a:lnTo>
                  <a:lnTo>
                    <a:pt x="980845" y="379547"/>
                  </a:lnTo>
                  <a:lnTo>
                    <a:pt x="1012826" y="347601"/>
                  </a:lnTo>
                  <a:lnTo>
                    <a:pt x="997597" y="312493"/>
                  </a:lnTo>
                  <a:lnTo>
                    <a:pt x="904361" y="272327"/>
                  </a:lnTo>
                  <a:lnTo>
                    <a:pt x="768316" y="204952"/>
                  </a:lnTo>
                  <a:lnTo>
                    <a:pt x="649023" y="140750"/>
                  </a:lnTo>
                  <a:lnTo>
                    <a:pt x="504517" y="70534"/>
                  </a:lnTo>
                  <a:lnTo>
                    <a:pt x="399945" y="27202"/>
                  </a:lnTo>
                  <a:lnTo>
                    <a:pt x="315001" y="0"/>
                  </a:lnTo>
                  <a:close/>
                </a:path>
              </a:pathLst>
            </a:custGeom>
            <a:solidFill>
              <a:srgbClr val="000000"/>
            </a:solidFill>
          </p:spPr>
          <p:txBody>
            <a:bodyPr wrap="square" lIns="0" tIns="0" rIns="0" bIns="0" rtlCol="0"/>
            <a:lstStyle/>
            <a:p>
              <a:endParaRPr/>
            </a:p>
          </p:txBody>
        </p:sp>
        <p:sp>
          <p:nvSpPr>
            <p:cNvPr id="15" name="object 15"/>
            <p:cNvSpPr/>
            <p:nvPr/>
          </p:nvSpPr>
          <p:spPr>
            <a:xfrm>
              <a:off x="9809140" y="5249640"/>
              <a:ext cx="595630" cy="271145"/>
            </a:xfrm>
            <a:custGeom>
              <a:avLst/>
              <a:gdLst/>
              <a:ahLst/>
              <a:cxnLst/>
              <a:rect l="l" t="t" r="r" b="b"/>
              <a:pathLst>
                <a:path w="595629" h="271145">
                  <a:moveTo>
                    <a:pt x="355340" y="0"/>
                  </a:moveTo>
                  <a:lnTo>
                    <a:pt x="319299" y="1898"/>
                  </a:lnTo>
                  <a:lnTo>
                    <a:pt x="138583" y="126836"/>
                  </a:lnTo>
                  <a:lnTo>
                    <a:pt x="13027" y="210009"/>
                  </a:lnTo>
                  <a:lnTo>
                    <a:pt x="0" y="248602"/>
                  </a:lnTo>
                  <a:lnTo>
                    <a:pt x="31981" y="271064"/>
                  </a:lnTo>
                  <a:lnTo>
                    <a:pt x="123522" y="271064"/>
                  </a:lnTo>
                  <a:lnTo>
                    <a:pt x="525567" y="264413"/>
                  </a:lnTo>
                  <a:lnTo>
                    <a:pt x="591390" y="258094"/>
                  </a:lnTo>
                  <a:lnTo>
                    <a:pt x="591872" y="253342"/>
                  </a:lnTo>
                  <a:lnTo>
                    <a:pt x="79020" y="253342"/>
                  </a:lnTo>
                  <a:lnTo>
                    <a:pt x="40779" y="240384"/>
                  </a:lnTo>
                  <a:lnTo>
                    <a:pt x="45008" y="213182"/>
                  </a:lnTo>
                  <a:lnTo>
                    <a:pt x="119293" y="161937"/>
                  </a:lnTo>
                  <a:lnTo>
                    <a:pt x="289349" y="65782"/>
                  </a:lnTo>
                  <a:lnTo>
                    <a:pt x="359572" y="20869"/>
                  </a:lnTo>
                  <a:lnTo>
                    <a:pt x="355340" y="0"/>
                  </a:lnTo>
                  <a:close/>
                </a:path>
                <a:path w="595629" h="271145">
                  <a:moveTo>
                    <a:pt x="378861" y="37000"/>
                  </a:moveTo>
                  <a:lnTo>
                    <a:pt x="378861" y="48072"/>
                  </a:lnTo>
                  <a:lnTo>
                    <a:pt x="453315" y="128416"/>
                  </a:lnTo>
                  <a:lnTo>
                    <a:pt x="549088" y="216341"/>
                  </a:lnTo>
                  <a:lnTo>
                    <a:pt x="542658" y="234052"/>
                  </a:lnTo>
                  <a:lnTo>
                    <a:pt x="79020" y="253342"/>
                  </a:lnTo>
                  <a:lnTo>
                    <a:pt x="591872" y="253342"/>
                  </a:lnTo>
                  <a:lnTo>
                    <a:pt x="595621" y="216341"/>
                  </a:lnTo>
                  <a:lnTo>
                    <a:pt x="408642" y="56301"/>
                  </a:lnTo>
                  <a:lnTo>
                    <a:pt x="378861" y="37000"/>
                  </a:lnTo>
                  <a:close/>
                </a:path>
              </a:pathLst>
            </a:custGeom>
            <a:solidFill>
              <a:srgbClr val="000000"/>
            </a:solidFill>
          </p:spPr>
          <p:txBody>
            <a:bodyPr wrap="square" lIns="0" tIns="0" rIns="0" bIns="0" rtlCol="0"/>
            <a:lstStyle/>
            <a:p>
              <a:endParaRPr/>
            </a:p>
          </p:txBody>
        </p:sp>
        <p:sp>
          <p:nvSpPr>
            <p:cNvPr id="16" name="object 16"/>
            <p:cNvSpPr/>
            <p:nvPr/>
          </p:nvSpPr>
          <p:spPr>
            <a:xfrm>
              <a:off x="9894421" y="3676375"/>
              <a:ext cx="257810" cy="339725"/>
            </a:xfrm>
            <a:custGeom>
              <a:avLst/>
              <a:gdLst/>
              <a:ahLst/>
              <a:cxnLst/>
              <a:rect l="l" t="t" r="r" b="b"/>
              <a:pathLst>
                <a:path w="257809" h="339725">
                  <a:moveTo>
                    <a:pt x="31979" y="0"/>
                  </a:moveTo>
                  <a:lnTo>
                    <a:pt x="0" y="9556"/>
                  </a:lnTo>
                  <a:lnTo>
                    <a:pt x="210497" y="333433"/>
                  </a:lnTo>
                  <a:lnTo>
                    <a:pt x="257538" y="339676"/>
                  </a:lnTo>
                  <a:lnTo>
                    <a:pt x="31979" y="0"/>
                  </a:lnTo>
                  <a:close/>
                </a:path>
              </a:pathLst>
            </a:custGeom>
            <a:solidFill>
              <a:srgbClr val="000000"/>
            </a:solidFill>
          </p:spPr>
          <p:txBody>
            <a:bodyPr wrap="square" lIns="0" tIns="0" rIns="0" bIns="0" rtlCol="0"/>
            <a:lstStyle/>
            <a:p>
              <a:endParaRPr/>
            </a:p>
          </p:txBody>
        </p:sp>
        <p:sp>
          <p:nvSpPr>
            <p:cNvPr id="17" name="object 17"/>
            <p:cNvSpPr/>
            <p:nvPr/>
          </p:nvSpPr>
          <p:spPr>
            <a:xfrm>
              <a:off x="9615899" y="3670132"/>
              <a:ext cx="536575" cy="355600"/>
            </a:xfrm>
            <a:custGeom>
              <a:avLst/>
              <a:gdLst/>
              <a:ahLst/>
              <a:cxnLst/>
              <a:rect l="l" t="t" r="r" b="b"/>
              <a:pathLst>
                <a:path w="536575" h="355600">
                  <a:moveTo>
                    <a:pt x="308301" y="0"/>
                  </a:moveTo>
                  <a:lnTo>
                    <a:pt x="0" y="307441"/>
                  </a:lnTo>
                  <a:lnTo>
                    <a:pt x="2199" y="338020"/>
                  </a:lnTo>
                  <a:lnTo>
                    <a:pt x="40272" y="352290"/>
                  </a:lnTo>
                  <a:lnTo>
                    <a:pt x="536059" y="355475"/>
                  </a:lnTo>
                  <a:lnTo>
                    <a:pt x="527260" y="333051"/>
                  </a:lnTo>
                  <a:lnTo>
                    <a:pt x="48733" y="331395"/>
                  </a:lnTo>
                  <a:lnTo>
                    <a:pt x="34011" y="315596"/>
                  </a:lnTo>
                  <a:lnTo>
                    <a:pt x="142474" y="196976"/>
                  </a:lnTo>
                  <a:lnTo>
                    <a:pt x="314562" y="41408"/>
                  </a:lnTo>
                  <a:lnTo>
                    <a:pt x="308301" y="0"/>
                  </a:lnTo>
                  <a:close/>
                </a:path>
              </a:pathLst>
            </a:custGeom>
            <a:solidFill>
              <a:srgbClr val="000000"/>
            </a:solidFill>
          </p:spPr>
          <p:txBody>
            <a:bodyPr wrap="square" lIns="0" tIns="0" rIns="0" bIns="0" rtlCol="0"/>
            <a:lstStyle/>
            <a:p>
              <a:endParaRPr/>
            </a:p>
          </p:txBody>
        </p:sp>
        <p:sp>
          <p:nvSpPr>
            <p:cNvPr id="18" name="object 18"/>
            <p:cNvSpPr/>
            <p:nvPr/>
          </p:nvSpPr>
          <p:spPr>
            <a:xfrm>
              <a:off x="7643756" y="3670132"/>
              <a:ext cx="1165860" cy="243840"/>
            </a:xfrm>
            <a:custGeom>
              <a:avLst/>
              <a:gdLst/>
              <a:ahLst/>
              <a:cxnLst/>
              <a:rect l="l" t="t" r="r" b="b"/>
              <a:pathLst>
                <a:path w="1165859" h="243839">
                  <a:moveTo>
                    <a:pt x="4201" y="206532"/>
                  </a:moveTo>
                  <a:lnTo>
                    <a:pt x="0" y="236856"/>
                  </a:lnTo>
                  <a:lnTo>
                    <a:pt x="1082908" y="243481"/>
                  </a:lnTo>
                  <a:lnTo>
                    <a:pt x="1138359" y="222586"/>
                  </a:lnTo>
                  <a:lnTo>
                    <a:pt x="1065683" y="222586"/>
                  </a:lnTo>
                  <a:lnTo>
                    <a:pt x="4201" y="206532"/>
                  </a:lnTo>
                  <a:close/>
                </a:path>
                <a:path w="1165859" h="243839">
                  <a:moveTo>
                    <a:pt x="1165651" y="0"/>
                  </a:moveTo>
                  <a:lnTo>
                    <a:pt x="1127428" y="4714"/>
                  </a:lnTo>
                  <a:lnTo>
                    <a:pt x="1121133" y="89442"/>
                  </a:lnTo>
                  <a:lnTo>
                    <a:pt x="1106429" y="169838"/>
                  </a:lnTo>
                  <a:lnTo>
                    <a:pt x="1112723" y="195447"/>
                  </a:lnTo>
                  <a:lnTo>
                    <a:pt x="1065683" y="222586"/>
                  </a:lnTo>
                  <a:lnTo>
                    <a:pt x="1138359" y="222586"/>
                  </a:lnTo>
                  <a:lnTo>
                    <a:pt x="1165651" y="0"/>
                  </a:lnTo>
                  <a:close/>
                </a:path>
              </a:pathLst>
            </a:custGeom>
            <a:solidFill>
              <a:srgbClr val="000000"/>
            </a:solidFill>
          </p:spPr>
          <p:txBody>
            <a:bodyPr wrap="square" lIns="0" tIns="0" rIns="0" bIns="0" rtlCol="0"/>
            <a:lstStyle/>
            <a:p>
              <a:endParaRPr/>
            </a:p>
          </p:txBody>
        </p:sp>
        <p:sp>
          <p:nvSpPr>
            <p:cNvPr id="19" name="object 19"/>
            <p:cNvSpPr/>
            <p:nvPr/>
          </p:nvSpPr>
          <p:spPr>
            <a:xfrm>
              <a:off x="7643756" y="3658665"/>
              <a:ext cx="1165860" cy="252095"/>
            </a:xfrm>
            <a:custGeom>
              <a:avLst/>
              <a:gdLst/>
              <a:ahLst/>
              <a:cxnLst/>
              <a:rect l="l" t="t" r="r" b="b"/>
              <a:pathLst>
                <a:path w="1165859" h="252095">
                  <a:moveTo>
                    <a:pt x="23522" y="0"/>
                  </a:moveTo>
                  <a:lnTo>
                    <a:pt x="0" y="61029"/>
                  </a:lnTo>
                  <a:lnTo>
                    <a:pt x="0" y="251508"/>
                  </a:lnTo>
                  <a:lnTo>
                    <a:pt x="31923" y="229339"/>
                  </a:lnTo>
                  <a:lnTo>
                    <a:pt x="23522" y="118619"/>
                  </a:lnTo>
                  <a:lnTo>
                    <a:pt x="47052" y="24081"/>
                  </a:lnTo>
                  <a:lnTo>
                    <a:pt x="1155019" y="24081"/>
                  </a:lnTo>
                  <a:lnTo>
                    <a:pt x="1165651" y="12995"/>
                  </a:lnTo>
                  <a:lnTo>
                    <a:pt x="910686" y="9810"/>
                  </a:lnTo>
                  <a:lnTo>
                    <a:pt x="493565" y="9810"/>
                  </a:lnTo>
                  <a:lnTo>
                    <a:pt x="23522" y="0"/>
                  </a:lnTo>
                  <a:close/>
                </a:path>
                <a:path w="1165859" h="252095">
                  <a:moveTo>
                    <a:pt x="1155019" y="24081"/>
                  </a:moveTo>
                  <a:lnTo>
                    <a:pt x="47052" y="24081"/>
                  </a:lnTo>
                  <a:lnTo>
                    <a:pt x="1142555" y="37076"/>
                  </a:lnTo>
                  <a:lnTo>
                    <a:pt x="1155019" y="24081"/>
                  </a:lnTo>
                  <a:close/>
                </a:path>
              </a:pathLst>
            </a:custGeom>
            <a:solidFill>
              <a:srgbClr val="000000"/>
            </a:solidFill>
          </p:spPr>
          <p:txBody>
            <a:bodyPr wrap="square" lIns="0" tIns="0" rIns="0" bIns="0" rtlCol="0"/>
            <a:lstStyle/>
            <a:p>
              <a:endParaRPr/>
            </a:p>
          </p:txBody>
        </p:sp>
        <p:sp>
          <p:nvSpPr>
            <p:cNvPr id="20" name="object 20"/>
            <p:cNvSpPr/>
            <p:nvPr/>
          </p:nvSpPr>
          <p:spPr>
            <a:xfrm>
              <a:off x="8369190" y="3258342"/>
              <a:ext cx="1442085" cy="191135"/>
            </a:xfrm>
            <a:custGeom>
              <a:avLst/>
              <a:gdLst/>
              <a:ahLst/>
              <a:cxnLst/>
              <a:rect l="l" t="t" r="r" b="b"/>
              <a:pathLst>
                <a:path w="1442084" h="191135">
                  <a:moveTo>
                    <a:pt x="13028" y="0"/>
                  </a:moveTo>
                  <a:lnTo>
                    <a:pt x="0" y="190605"/>
                  </a:lnTo>
                  <a:lnTo>
                    <a:pt x="27734" y="188822"/>
                  </a:lnTo>
                  <a:lnTo>
                    <a:pt x="44536" y="28667"/>
                  </a:lnTo>
                  <a:lnTo>
                    <a:pt x="1436049" y="28667"/>
                  </a:lnTo>
                  <a:lnTo>
                    <a:pt x="1441978" y="18856"/>
                  </a:lnTo>
                  <a:lnTo>
                    <a:pt x="13028" y="0"/>
                  </a:lnTo>
                  <a:close/>
                </a:path>
                <a:path w="1442084" h="191135">
                  <a:moveTo>
                    <a:pt x="1436049" y="28667"/>
                  </a:moveTo>
                  <a:lnTo>
                    <a:pt x="44536" y="28667"/>
                  </a:lnTo>
                  <a:lnTo>
                    <a:pt x="1427426" y="42937"/>
                  </a:lnTo>
                  <a:lnTo>
                    <a:pt x="1436049" y="28667"/>
                  </a:lnTo>
                  <a:close/>
                </a:path>
              </a:pathLst>
            </a:custGeom>
            <a:solidFill>
              <a:srgbClr val="000000"/>
            </a:solidFill>
          </p:spPr>
          <p:txBody>
            <a:bodyPr wrap="square" lIns="0" tIns="0" rIns="0" bIns="0" rtlCol="0"/>
            <a:lstStyle/>
            <a:p>
              <a:endParaRPr/>
            </a:p>
          </p:txBody>
        </p:sp>
        <p:sp>
          <p:nvSpPr>
            <p:cNvPr id="21" name="object 21"/>
            <p:cNvSpPr/>
            <p:nvPr/>
          </p:nvSpPr>
          <p:spPr>
            <a:xfrm>
              <a:off x="8373386" y="3280766"/>
              <a:ext cx="1444625" cy="184150"/>
            </a:xfrm>
            <a:custGeom>
              <a:avLst/>
              <a:gdLst/>
              <a:ahLst/>
              <a:cxnLst/>
              <a:rect l="l" t="t" r="r" b="b"/>
              <a:pathLst>
                <a:path w="1444625" h="184150">
                  <a:moveTo>
                    <a:pt x="2115" y="147413"/>
                  </a:moveTo>
                  <a:lnTo>
                    <a:pt x="0" y="171367"/>
                  </a:lnTo>
                  <a:lnTo>
                    <a:pt x="1444551" y="184108"/>
                  </a:lnTo>
                  <a:lnTo>
                    <a:pt x="1443552" y="163212"/>
                  </a:lnTo>
                  <a:lnTo>
                    <a:pt x="1416800" y="163212"/>
                  </a:lnTo>
                  <a:lnTo>
                    <a:pt x="2115" y="147413"/>
                  </a:lnTo>
                  <a:close/>
                </a:path>
                <a:path w="1444625" h="184150">
                  <a:moveTo>
                    <a:pt x="1435752" y="0"/>
                  </a:moveTo>
                  <a:lnTo>
                    <a:pt x="1399710" y="15798"/>
                  </a:lnTo>
                  <a:lnTo>
                    <a:pt x="1416800" y="163212"/>
                  </a:lnTo>
                  <a:lnTo>
                    <a:pt x="1443552" y="163212"/>
                  </a:lnTo>
                  <a:lnTo>
                    <a:pt x="1435752" y="0"/>
                  </a:lnTo>
                  <a:close/>
                </a:path>
              </a:pathLst>
            </a:custGeom>
            <a:solidFill>
              <a:srgbClr val="000000"/>
            </a:solidFill>
          </p:spPr>
          <p:txBody>
            <a:bodyPr wrap="square" lIns="0" tIns="0" rIns="0" bIns="0" rtlCol="0"/>
            <a:lstStyle/>
            <a:p>
              <a:endParaRPr/>
            </a:p>
          </p:txBody>
        </p:sp>
        <p:sp>
          <p:nvSpPr>
            <p:cNvPr id="22" name="object 22"/>
            <p:cNvSpPr/>
            <p:nvPr/>
          </p:nvSpPr>
          <p:spPr>
            <a:xfrm>
              <a:off x="7503458" y="3130550"/>
              <a:ext cx="2746375" cy="1363345"/>
            </a:xfrm>
            <a:custGeom>
              <a:avLst/>
              <a:gdLst/>
              <a:ahLst/>
              <a:cxnLst/>
              <a:rect l="l" t="t" r="r" b="b"/>
              <a:pathLst>
                <a:path w="2746375" h="1363345">
                  <a:moveTo>
                    <a:pt x="150870" y="0"/>
                  </a:moveTo>
                  <a:lnTo>
                    <a:pt x="23990" y="0"/>
                  </a:lnTo>
                  <a:lnTo>
                    <a:pt x="10500" y="31597"/>
                  </a:lnTo>
                  <a:lnTo>
                    <a:pt x="0" y="124607"/>
                  </a:lnTo>
                  <a:lnTo>
                    <a:pt x="4199" y="335854"/>
                  </a:lnTo>
                  <a:lnTo>
                    <a:pt x="10500" y="549010"/>
                  </a:lnTo>
                  <a:lnTo>
                    <a:pt x="25622" y="746114"/>
                  </a:lnTo>
                  <a:lnTo>
                    <a:pt x="47045" y="976983"/>
                  </a:lnTo>
                  <a:lnTo>
                    <a:pt x="65948" y="1181986"/>
                  </a:lnTo>
                  <a:lnTo>
                    <a:pt x="61747" y="1308376"/>
                  </a:lnTo>
                  <a:lnTo>
                    <a:pt x="55446" y="1359724"/>
                  </a:lnTo>
                  <a:lnTo>
                    <a:pt x="133997" y="1362781"/>
                  </a:lnTo>
                  <a:lnTo>
                    <a:pt x="127697" y="1335643"/>
                  </a:lnTo>
                  <a:lnTo>
                    <a:pt x="112574" y="1285952"/>
                  </a:lnTo>
                  <a:lnTo>
                    <a:pt x="97873" y="1069610"/>
                  </a:lnTo>
                  <a:lnTo>
                    <a:pt x="65948" y="853649"/>
                  </a:lnTo>
                  <a:lnTo>
                    <a:pt x="61747" y="629024"/>
                  </a:lnTo>
                  <a:lnTo>
                    <a:pt x="29823" y="368087"/>
                  </a:lnTo>
                  <a:lnTo>
                    <a:pt x="29823" y="127792"/>
                  </a:lnTo>
                  <a:lnTo>
                    <a:pt x="36125" y="55678"/>
                  </a:lnTo>
                  <a:lnTo>
                    <a:pt x="76448" y="31597"/>
                  </a:lnTo>
                  <a:lnTo>
                    <a:pt x="363768" y="28412"/>
                  </a:lnTo>
                  <a:lnTo>
                    <a:pt x="1010848" y="28412"/>
                  </a:lnTo>
                  <a:lnTo>
                    <a:pt x="835917" y="23315"/>
                  </a:lnTo>
                  <a:lnTo>
                    <a:pt x="570887" y="12231"/>
                  </a:lnTo>
                  <a:lnTo>
                    <a:pt x="261701" y="12231"/>
                  </a:lnTo>
                  <a:lnTo>
                    <a:pt x="150870" y="0"/>
                  </a:lnTo>
                  <a:close/>
                </a:path>
                <a:path w="2746375" h="1363345">
                  <a:moveTo>
                    <a:pt x="1010848" y="28412"/>
                  </a:moveTo>
                  <a:lnTo>
                    <a:pt x="363768" y="28412"/>
                  </a:lnTo>
                  <a:lnTo>
                    <a:pt x="717030" y="42682"/>
                  </a:lnTo>
                  <a:lnTo>
                    <a:pt x="1276135" y="58736"/>
                  </a:lnTo>
                  <a:lnTo>
                    <a:pt x="1823092" y="61921"/>
                  </a:lnTo>
                  <a:lnTo>
                    <a:pt x="2320740" y="55678"/>
                  </a:lnTo>
                  <a:lnTo>
                    <a:pt x="2716523" y="42682"/>
                  </a:lnTo>
                  <a:lnTo>
                    <a:pt x="1771821" y="42682"/>
                  </a:lnTo>
                  <a:lnTo>
                    <a:pt x="1229500" y="34782"/>
                  </a:lnTo>
                  <a:lnTo>
                    <a:pt x="1010848" y="28412"/>
                  </a:lnTo>
                  <a:close/>
                </a:path>
                <a:path w="2746375" h="1363345">
                  <a:moveTo>
                    <a:pt x="2746305" y="15416"/>
                  </a:moveTo>
                  <a:lnTo>
                    <a:pt x="2531238" y="28412"/>
                  </a:lnTo>
                  <a:lnTo>
                    <a:pt x="1771821" y="42682"/>
                  </a:lnTo>
                  <a:lnTo>
                    <a:pt x="2716523" y="42682"/>
                  </a:lnTo>
                  <a:lnTo>
                    <a:pt x="2746305" y="15416"/>
                  </a:lnTo>
                  <a:close/>
                </a:path>
                <a:path w="2746375" h="1363345">
                  <a:moveTo>
                    <a:pt x="497767" y="9173"/>
                  </a:moveTo>
                  <a:lnTo>
                    <a:pt x="261701" y="12231"/>
                  </a:lnTo>
                  <a:lnTo>
                    <a:pt x="570887" y="12231"/>
                  </a:lnTo>
                  <a:lnTo>
                    <a:pt x="497767" y="9173"/>
                  </a:lnTo>
                  <a:close/>
                </a:path>
              </a:pathLst>
            </a:custGeom>
            <a:solidFill>
              <a:srgbClr val="919191"/>
            </a:solidFill>
          </p:spPr>
          <p:txBody>
            <a:bodyPr wrap="square" lIns="0" tIns="0" rIns="0" bIns="0" rtlCol="0"/>
            <a:lstStyle/>
            <a:p>
              <a:endParaRPr/>
            </a:p>
          </p:txBody>
        </p:sp>
        <p:sp>
          <p:nvSpPr>
            <p:cNvPr id="23" name="object 23"/>
            <p:cNvSpPr/>
            <p:nvPr/>
          </p:nvSpPr>
          <p:spPr>
            <a:xfrm>
              <a:off x="7579907" y="3157433"/>
              <a:ext cx="2736215" cy="1374775"/>
            </a:xfrm>
            <a:custGeom>
              <a:avLst/>
              <a:gdLst/>
              <a:ahLst/>
              <a:cxnLst/>
              <a:rect l="l" t="t" r="r" b="b"/>
              <a:pathLst>
                <a:path w="2736215" h="1374775">
                  <a:moveTo>
                    <a:pt x="2472684" y="1324941"/>
                  </a:moveTo>
                  <a:lnTo>
                    <a:pt x="1050984" y="1324941"/>
                  </a:lnTo>
                  <a:lnTo>
                    <a:pt x="1404245" y="1331183"/>
                  </a:lnTo>
                  <a:lnTo>
                    <a:pt x="1659161" y="1331183"/>
                  </a:lnTo>
                  <a:lnTo>
                    <a:pt x="2367815" y="1347339"/>
                  </a:lnTo>
                  <a:lnTo>
                    <a:pt x="2622815" y="1355251"/>
                  </a:lnTo>
                  <a:lnTo>
                    <a:pt x="2710127" y="1374541"/>
                  </a:lnTo>
                  <a:lnTo>
                    <a:pt x="2735847" y="1363469"/>
                  </a:lnTo>
                  <a:lnTo>
                    <a:pt x="2735079" y="1339465"/>
                  </a:lnTo>
                  <a:lnTo>
                    <a:pt x="2706067" y="1339465"/>
                  </a:lnTo>
                  <a:lnTo>
                    <a:pt x="2622815" y="1327998"/>
                  </a:lnTo>
                  <a:lnTo>
                    <a:pt x="2472684" y="1324941"/>
                  </a:lnTo>
                  <a:close/>
                </a:path>
                <a:path w="2736215" h="1374775">
                  <a:moveTo>
                    <a:pt x="2648535" y="0"/>
                  </a:moveTo>
                  <a:lnTo>
                    <a:pt x="2627045" y="7899"/>
                  </a:lnTo>
                  <a:lnTo>
                    <a:pt x="2644305" y="62303"/>
                  </a:lnTo>
                  <a:lnTo>
                    <a:pt x="2608093" y="232142"/>
                  </a:lnTo>
                  <a:lnTo>
                    <a:pt x="2597264" y="397266"/>
                  </a:lnTo>
                  <a:lnTo>
                    <a:pt x="2608093" y="709676"/>
                  </a:lnTo>
                  <a:lnTo>
                    <a:pt x="2648535" y="919393"/>
                  </a:lnTo>
                  <a:lnTo>
                    <a:pt x="2699298" y="1155103"/>
                  </a:lnTo>
                  <a:lnTo>
                    <a:pt x="2706067" y="1339465"/>
                  </a:lnTo>
                  <a:lnTo>
                    <a:pt x="2735079" y="1339465"/>
                  </a:lnTo>
                  <a:lnTo>
                    <a:pt x="2731279" y="1220847"/>
                  </a:lnTo>
                  <a:lnTo>
                    <a:pt x="2714358" y="1116497"/>
                  </a:lnTo>
                  <a:lnTo>
                    <a:pt x="2688807" y="969083"/>
                  </a:lnTo>
                  <a:lnTo>
                    <a:pt x="2663087" y="837850"/>
                  </a:lnTo>
                  <a:lnTo>
                    <a:pt x="2644305" y="684066"/>
                  </a:lnTo>
                  <a:lnTo>
                    <a:pt x="2622815" y="451670"/>
                  </a:lnTo>
                  <a:lnTo>
                    <a:pt x="2627045" y="304256"/>
                  </a:lnTo>
                  <a:lnTo>
                    <a:pt x="2659026" y="169838"/>
                  </a:lnTo>
                  <a:lnTo>
                    <a:pt x="2674086" y="68546"/>
                  </a:lnTo>
                  <a:lnTo>
                    <a:pt x="2648535" y="0"/>
                  </a:lnTo>
                  <a:close/>
                </a:path>
                <a:path w="2736215" h="1374775">
                  <a:moveTo>
                    <a:pt x="29824" y="1300860"/>
                  </a:moveTo>
                  <a:lnTo>
                    <a:pt x="0" y="1331183"/>
                  </a:lnTo>
                  <a:lnTo>
                    <a:pt x="306644" y="1324941"/>
                  </a:lnTo>
                  <a:lnTo>
                    <a:pt x="2472684" y="1324941"/>
                  </a:lnTo>
                  <a:lnTo>
                    <a:pt x="1701633" y="1311945"/>
                  </a:lnTo>
                  <a:lnTo>
                    <a:pt x="1302177" y="1311945"/>
                  </a:lnTo>
                  <a:lnTo>
                    <a:pt x="29824" y="1300860"/>
                  </a:lnTo>
                  <a:close/>
                </a:path>
              </a:pathLst>
            </a:custGeom>
            <a:solidFill>
              <a:srgbClr val="919191"/>
            </a:solidFill>
          </p:spPr>
          <p:txBody>
            <a:bodyPr wrap="square" lIns="0" tIns="0" rIns="0" bIns="0" rtlCol="0"/>
            <a:lstStyle/>
            <a:p>
              <a:endParaRPr/>
            </a:p>
          </p:txBody>
        </p:sp>
        <p:sp>
          <p:nvSpPr>
            <p:cNvPr id="24" name="object 24"/>
            <p:cNvSpPr/>
            <p:nvPr/>
          </p:nvSpPr>
          <p:spPr>
            <a:xfrm>
              <a:off x="9011463" y="3996813"/>
              <a:ext cx="357505" cy="259715"/>
            </a:xfrm>
            <a:custGeom>
              <a:avLst/>
              <a:gdLst/>
              <a:ahLst/>
              <a:cxnLst/>
              <a:rect l="l" t="t" r="r" b="b"/>
              <a:pathLst>
                <a:path w="357504" h="259714">
                  <a:moveTo>
                    <a:pt x="97870" y="0"/>
                  </a:moveTo>
                  <a:lnTo>
                    <a:pt x="53351" y="12995"/>
                  </a:lnTo>
                  <a:lnTo>
                    <a:pt x="27716" y="33508"/>
                  </a:lnTo>
                  <a:lnTo>
                    <a:pt x="13011" y="70585"/>
                  </a:lnTo>
                  <a:lnTo>
                    <a:pt x="0" y="109063"/>
                  </a:lnTo>
                  <a:lnTo>
                    <a:pt x="8815" y="173023"/>
                  </a:lnTo>
                  <a:lnTo>
                    <a:pt x="27716" y="209972"/>
                  </a:lnTo>
                  <a:lnTo>
                    <a:pt x="51235" y="235582"/>
                  </a:lnTo>
                  <a:lnTo>
                    <a:pt x="93675" y="251508"/>
                  </a:lnTo>
                  <a:lnTo>
                    <a:pt x="129800" y="259662"/>
                  </a:lnTo>
                  <a:lnTo>
                    <a:pt x="172645" y="258133"/>
                  </a:lnTo>
                  <a:lnTo>
                    <a:pt x="202053" y="245137"/>
                  </a:lnTo>
                  <a:lnTo>
                    <a:pt x="227604" y="222713"/>
                  </a:lnTo>
                  <a:lnTo>
                    <a:pt x="238602" y="190733"/>
                  </a:lnTo>
                  <a:lnTo>
                    <a:pt x="251124" y="155313"/>
                  </a:lnTo>
                  <a:lnTo>
                    <a:pt x="259585" y="112248"/>
                  </a:lnTo>
                  <a:lnTo>
                    <a:pt x="253324" y="88295"/>
                  </a:lnTo>
                  <a:lnTo>
                    <a:pt x="291566" y="64215"/>
                  </a:lnTo>
                  <a:lnTo>
                    <a:pt x="309924" y="57589"/>
                  </a:lnTo>
                  <a:lnTo>
                    <a:pt x="229803" y="57589"/>
                  </a:lnTo>
                  <a:lnTo>
                    <a:pt x="187332" y="24080"/>
                  </a:lnTo>
                  <a:lnTo>
                    <a:pt x="129800" y="4714"/>
                  </a:lnTo>
                  <a:lnTo>
                    <a:pt x="97870" y="0"/>
                  </a:lnTo>
                  <a:close/>
                </a:path>
                <a:path w="357504" h="259714">
                  <a:moveTo>
                    <a:pt x="325577" y="9428"/>
                  </a:moveTo>
                  <a:lnTo>
                    <a:pt x="297826" y="17710"/>
                  </a:lnTo>
                  <a:lnTo>
                    <a:pt x="274645" y="48033"/>
                  </a:lnTo>
                  <a:lnTo>
                    <a:pt x="229803" y="57589"/>
                  </a:lnTo>
                  <a:lnTo>
                    <a:pt x="309924" y="57589"/>
                  </a:lnTo>
                  <a:lnTo>
                    <a:pt x="340636" y="46504"/>
                  </a:lnTo>
                  <a:lnTo>
                    <a:pt x="357389" y="28794"/>
                  </a:lnTo>
                  <a:lnTo>
                    <a:pt x="355358" y="17710"/>
                  </a:lnTo>
                  <a:lnTo>
                    <a:pt x="325577" y="9428"/>
                  </a:lnTo>
                  <a:close/>
                </a:path>
              </a:pathLst>
            </a:custGeom>
            <a:solidFill>
              <a:srgbClr val="000000"/>
            </a:solidFill>
          </p:spPr>
          <p:txBody>
            <a:bodyPr wrap="square" lIns="0" tIns="0" rIns="0" bIns="0" rtlCol="0"/>
            <a:lstStyle/>
            <a:p>
              <a:endParaRPr/>
            </a:p>
          </p:txBody>
        </p:sp>
        <p:sp>
          <p:nvSpPr>
            <p:cNvPr id="25" name="object 25"/>
            <p:cNvSpPr/>
            <p:nvPr/>
          </p:nvSpPr>
          <p:spPr>
            <a:xfrm>
              <a:off x="9130757" y="4275459"/>
              <a:ext cx="306705" cy="396240"/>
            </a:xfrm>
            <a:custGeom>
              <a:avLst/>
              <a:gdLst/>
              <a:ahLst/>
              <a:cxnLst/>
              <a:rect l="l" t="t" r="r" b="b"/>
              <a:pathLst>
                <a:path w="306704" h="396239">
                  <a:moveTo>
                    <a:pt x="104250" y="0"/>
                  </a:moveTo>
                  <a:lnTo>
                    <a:pt x="40322" y="8281"/>
                  </a:lnTo>
                  <a:lnTo>
                    <a:pt x="8392" y="35420"/>
                  </a:lnTo>
                  <a:lnTo>
                    <a:pt x="0" y="59500"/>
                  </a:lnTo>
                  <a:lnTo>
                    <a:pt x="0" y="89824"/>
                  </a:lnTo>
                  <a:lnTo>
                    <a:pt x="23520" y="123715"/>
                  </a:lnTo>
                  <a:lnTo>
                    <a:pt x="53351" y="152510"/>
                  </a:lnTo>
                  <a:lnTo>
                    <a:pt x="72269" y="182834"/>
                  </a:lnTo>
                  <a:lnTo>
                    <a:pt x="85298" y="202072"/>
                  </a:lnTo>
                  <a:lnTo>
                    <a:pt x="85298" y="226152"/>
                  </a:lnTo>
                  <a:lnTo>
                    <a:pt x="70068" y="259674"/>
                  </a:lnTo>
                  <a:lnTo>
                    <a:pt x="53351" y="285296"/>
                  </a:lnTo>
                  <a:lnTo>
                    <a:pt x="48731" y="327049"/>
                  </a:lnTo>
                  <a:lnTo>
                    <a:pt x="61743" y="360570"/>
                  </a:lnTo>
                  <a:lnTo>
                    <a:pt x="78529" y="378293"/>
                  </a:lnTo>
                  <a:lnTo>
                    <a:pt x="110510" y="392844"/>
                  </a:lnTo>
                  <a:lnTo>
                    <a:pt x="150783" y="396003"/>
                  </a:lnTo>
                  <a:lnTo>
                    <a:pt x="197822" y="389352"/>
                  </a:lnTo>
                  <a:lnTo>
                    <a:pt x="234034" y="371961"/>
                  </a:lnTo>
                  <a:lnTo>
                    <a:pt x="278536" y="306179"/>
                  </a:lnTo>
                  <a:lnTo>
                    <a:pt x="295796" y="264427"/>
                  </a:lnTo>
                  <a:lnTo>
                    <a:pt x="306287" y="211628"/>
                  </a:lnTo>
                  <a:lnTo>
                    <a:pt x="304087" y="165124"/>
                  </a:lnTo>
                  <a:lnTo>
                    <a:pt x="289366" y="125243"/>
                  </a:lnTo>
                  <a:lnTo>
                    <a:pt x="272276" y="85110"/>
                  </a:lnTo>
                  <a:lnTo>
                    <a:pt x="246556" y="53129"/>
                  </a:lnTo>
                  <a:lnTo>
                    <a:pt x="210513" y="25991"/>
                  </a:lnTo>
                  <a:lnTo>
                    <a:pt x="161781" y="8281"/>
                  </a:lnTo>
                  <a:lnTo>
                    <a:pt x="104250" y="0"/>
                  </a:lnTo>
                  <a:close/>
                </a:path>
              </a:pathLst>
            </a:custGeom>
            <a:solidFill>
              <a:srgbClr val="000000"/>
            </a:solidFill>
          </p:spPr>
          <p:txBody>
            <a:bodyPr wrap="square" lIns="0" tIns="0" rIns="0" bIns="0" rtlCol="0"/>
            <a:lstStyle/>
            <a:p>
              <a:endParaRPr/>
            </a:p>
          </p:txBody>
        </p:sp>
        <p:sp>
          <p:nvSpPr>
            <p:cNvPr id="26" name="object 26"/>
            <p:cNvSpPr/>
            <p:nvPr/>
          </p:nvSpPr>
          <p:spPr>
            <a:xfrm>
              <a:off x="8650215" y="3817419"/>
              <a:ext cx="557530" cy="553085"/>
            </a:xfrm>
            <a:custGeom>
              <a:avLst/>
              <a:gdLst/>
              <a:ahLst/>
              <a:cxnLst/>
              <a:rect l="l" t="t" r="r" b="b"/>
              <a:pathLst>
                <a:path w="557529" h="553085">
                  <a:moveTo>
                    <a:pt x="42421" y="31979"/>
                  </a:moveTo>
                  <a:lnTo>
                    <a:pt x="8393" y="31979"/>
                  </a:lnTo>
                  <a:lnTo>
                    <a:pt x="0" y="59245"/>
                  </a:lnTo>
                  <a:lnTo>
                    <a:pt x="31913" y="94665"/>
                  </a:lnTo>
                  <a:lnTo>
                    <a:pt x="74352" y="111993"/>
                  </a:lnTo>
                  <a:lnTo>
                    <a:pt x="80646" y="142699"/>
                  </a:lnTo>
                  <a:lnTo>
                    <a:pt x="104166" y="235327"/>
                  </a:lnTo>
                  <a:lnTo>
                    <a:pt x="157096" y="370127"/>
                  </a:lnTo>
                  <a:lnTo>
                    <a:pt x="212545" y="461479"/>
                  </a:lnTo>
                  <a:lnTo>
                    <a:pt x="308319" y="519070"/>
                  </a:lnTo>
                  <a:lnTo>
                    <a:pt x="422992" y="543151"/>
                  </a:lnTo>
                  <a:lnTo>
                    <a:pt x="512471" y="552579"/>
                  </a:lnTo>
                  <a:lnTo>
                    <a:pt x="544351" y="541493"/>
                  </a:lnTo>
                  <a:lnTo>
                    <a:pt x="557042" y="519070"/>
                  </a:lnTo>
                  <a:lnTo>
                    <a:pt x="542286" y="496646"/>
                  </a:lnTo>
                  <a:lnTo>
                    <a:pt x="438120" y="496646"/>
                  </a:lnTo>
                  <a:lnTo>
                    <a:pt x="386866" y="488746"/>
                  </a:lnTo>
                  <a:lnTo>
                    <a:pt x="331839" y="478936"/>
                  </a:lnTo>
                  <a:lnTo>
                    <a:pt x="286898" y="453326"/>
                  </a:lnTo>
                  <a:lnTo>
                    <a:pt x="252869" y="411918"/>
                  </a:lnTo>
                  <a:lnTo>
                    <a:pt x="199939" y="341332"/>
                  </a:lnTo>
                  <a:lnTo>
                    <a:pt x="159193" y="264504"/>
                  </a:lnTo>
                  <a:lnTo>
                    <a:pt x="133997" y="187293"/>
                  </a:lnTo>
                  <a:lnTo>
                    <a:pt x="120970" y="129703"/>
                  </a:lnTo>
                  <a:lnTo>
                    <a:pt x="129378" y="102565"/>
                  </a:lnTo>
                  <a:lnTo>
                    <a:pt x="157767" y="72114"/>
                  </a:lnTo>
                  <a:lnTo>
                    <a:pt x="118870" y="72114"/>
                  </a:lnTo>
                  <a:lnTo>
                    <a:pt x="119753" y="67144"/>
                  </a:lnTo>
                  <a:lnTo>
                    <a:pt x="70138" y="67144"/>
                  </a:lnTo>
                  <a:lnTo>
                    <a:pt x="42421" y="31979"/>
                  </a:lnTo>
                  <a:close/>
                </a:path>
                <a:path w="557529" h="553085">
                  <a:moveTo>
                    <a:pt x="497344" y="493461"/>
                  </a:moveTo>
                  <a:lnTo>
                    <a:pt x="438120" y="496646"/>
                  </a:lnTo>
                  <a:lnTo>
                    <a:pt x="542286" y="496646"/>
                  </a:lnTo>
                  <a:lnTo>
                    <a:pt x="497344" y="493461"/>
                  </a:lnTo>
                  <a:close/>
                </a:path>
                <a:path w="557529" h="553085">
                  <a:moveTo>
                    <a:pt x="152899" y="11084"/>
                  </a:moveTo>
                  <a:lnTo>
                    <a:pt x="118870" y="72114"/>
                  </a:lnTo>
                  <a:lnTo>
                    <a:pt x="157767" y="72114"/>
                  </a:lnTo>
                  <a:lnTo>
                    <a:pt x="159193" y="70585"/>
                  </a:lnTo>
                  <a:lnTo>
                    <a:pt x="189025" y="43064"/>
                  </a:lnTo>
                  <a:lnTo>
                    <a:pt x="180616" y="17454"/>
                  </a:lnTo>
                  <a:lnTo>
                    <a:pt x="152899" y="11084"/>
                  </a:lnTo>
                  <a:close/>
                </a:path>
                <a:path w="557529" h="553085">
                  <a:moveTo>
                    <a:pt x="89056" y="0"/>
                  </a:moveTo>
                  <a:lnTo>
                    <a:pt x="65942" y="17454"/>
                  </a:lnTo>
                  <a:lnTo>
                    <a:pt x="89056" y="63959"/>
                  </a:lnTo>
                  <a:lnTo>
                    <a:pt x="70138" y="67144"/>
                  </a:lnTo>
                  <a:lnTo>
                    <a:pt x="119753" y="67144"/>
                  </a:lnTo>
                  <a:lnTo>
                    <a:pt x="125166" y="36694"/>
                  </a:lnTo>
                  <a:lnTo>
                    <a:pt x="89056" y="0"/>
                  </a:lnTo>
                  <a:close/>
                </a:path>
              </a:pathLst>
            </a:custGeom>
            <a:solidFill>
              <a:srgbClr val="000000"/>
            </a:solidFill>
          </p:spPr>
          <p:txBody>
            <a:bodyPr wrap="square" lIns="0" tIns="0" rIns="0" bIns="0" rtlCol="0"/>
            <a:lstStyle/>
            <a:p>
              <a:endParaRPr/>
            </a:p>
          </p:txBody>
        </p:sp>
        <p:sp>
          <p:nvSpPr>
            <p:cNvPr id="27" name="object 27"/>
            <p:cNvSpPr/>
            <p:nvPr/>
          </p:nvSpPr>
          <p:spPr>
            <a:xfrm>
              <a:off x="9266818" y="3926227"/>
              <a:ext cx="678815" cy="439420"/>
            </a:xfrm>
            <a:custGeom>
              <a:avLst/>
              <a:gdLst/>
              <a:ahLst/>
              <a:cxnLst/>
              <a:rect l="l" t="t" r="r" b="b"/>
              <a:pathLst>
                <a:path w="678815" h="439420">
                  <a:moveTo>
                    <a:pt x="438086" y="43446"/>
                  </a:moveTo>
                  <a:lnTo>
                    <a:pt x="412535" y="43446"/>
                  </a:lnTo>
                  <a:lnTo>
                    <a:pt x="400014" y="59500"/>
                  </a:lnTo>
                  <a:lnTo>
                    <a:pt x="421333" y="76955"/>
                  </a:lnTo>
                  <a:lnTo>
                    <a:pt x="478528" y="83581"/>
                  </a:lnTo>
                  <a:lnTo>
                    <a:pt x="485127" y="100909"/>
                  </a:lnTo>
                  <a:lnTo>
                    <a:pt x="459576" y="201818"/>
                  </a:lnTo>
                  <a:lnTo>
                    <a:pt x="423534" y="267689"/>
                  </a:lnTo>
                  <a:lnTo>
                    <a:pt x="389354" y="304638"/>
                  </a:lnTo>
                  <a:lnTo>
                    <a:pt x="312531" y="339803"/>
                  </a:lnTo>
                  <a:lnTo>
                    <a:pt x="187316" y="370127"/>
                  </a:lnTo>
                  <a:lnTo>
                    <a:pt x="93742" y="381467"/>
                  </a:lnTo>
                  <a:lnTo>
                    <a:pt x="21489" y="386308"/>
                  </a:lnTo>
                  <a:lnTo>
                    <a:pt x="0" y="404018"/>
                  </a:lnTo>
                  <a:lnTo>
                    <a:pt x="21489" y="432685"/>
                  </a:lnTo>
                  <a:lnTo>
                    <a:pt x="59731" y="439056"/>
                  </a:lnTo>
                  <a:lnTo>
                    <a:pt x="138244" y="416632"/>
                  </a:lnTo>
                  <a:lnTo>
                    <a:pt x="208467" y="404018"/>
                  </a:lnTo>
                  <a:lnTo>
                    <a:pt x="295780" y="386308"/>
                  </a:lnTo>
                  <a:lnTo>
                    <a:pt x="357541" y="362228"/>
                  </a:lnTo>
                  <a:lnTo>
                    <a:pt x="404074" y="339803"/>
                  </a:lnTo>
                  <a:lnTo>
                    <a:pt x="429794" y="328719"/>
                  </a:lnTo>
                  <a:lnTo>
                    <a:pt x="459576" y="298013"/>
                  </a:lnTo>
                  <a:lnTo>
                    <a:pt x="493586" y="230995"/>
                  </a:lnTo>
                  <a:lnTo>
                    <a:pt x="508308" y="179649"/>
                  </a:lnTo>
                  <a:lnTo>
                    <a:pt x="517107" y="137985"/>
                  </a:lnTo>
                  <a:lnTo>
                    <a:pt x="529798" y="100909"/>
                  </a:lnTo>
                  <a:lnTo>
                    <a:pt x="549088" y="91480"/>
                  </a:lnTo>
                  <a:lnTo>
                    <a:pt x="630577" y="91480"/>
                  </a:lnTo>
                  <a:lnTo>
                    <a:pt x="646553" y="89824"/>
                  </a:lnTo>
                  <a:lnTo>
                    <a:pt x="678365" y="70585"/>
                  </a:lnTo>
                  <a:lnTo>
                    <a:pt x="549088" y="70585"/>
                  </a:lnTo>
                  <a:lnTo>
                    <a:pt x="544349" y="65871"/>
                  </a:lnTo>
                  <a:lnTo>
                    <a:pt x="552881" y="61156"/>
                  </a:lnTo>
                  <a:lnTo>
                    <a:pt x="493586" y="61156"/>
                  </a:lnTo>
                  <a:lnTo>
                    <a:pt x="474296" y="56060"/>
                  </a:lnTo>
                  <a:lnTo>
                    <a:pt x="438086" y="43446"/>
                  </a:lnTo>
                  <a:close/>
                </a:path>
                <a:path w="678815" h="439420">
                  <a:moveTo>
                    <a:pt x="630577" y="91480"/>
                  </a:moveTo>
                  <a:lnTo>
                    <a:pt x="549088" y="91480"/>
                  </a:lnTo>
                  <a:lnTo>
                    <a:pt x="599851" y="94665"/>
                  </a:lnTo>
                  <a:lnTo>
                    <a:pt x="630577" y="91480"/>
                  </a:lnTo>
                  <a:close/>
                </a:path>
                <a:path w="678815" h="439420">
                  <a:moveTo>
                    <a:pt x="651121" y="41790"/>
                  </a:moveTo>
                  <a:lnTo>
                    <a:pt x="640123" y="59500"/>
                  </a:lnTo>
                  <a:lnTo>
                    <a:pt x="610341" y="67400"/>
                  </a:lnTo>
                  <a:lnTo>
                    <a:pt x="576331" y="70585"/>
                  </a:lnTo>
                  <a:lnTo>
                    <a:pt x="678365" y="70585"/>
                  </a:lnTo>
                  <a:lnTo>
                    <a:pt x="674303" y="48160"/>
                  </a:lnTo>
                  <a:lnTo>
                    <a:pt x="651121" y="41790"/>
                  </a:lnTo>
                  <a:close/>
                </a:path>
                <a:path w="678815" h="439420">
                  <a:moveTo>
                    <a:pt x="585130" y="0"/>
                  </a:moveTo>
                  <a:lnTo>
                    <a:pt x="563808" y="7899"/>
                  </a:lnTo>
                  <a:lnTo>
                    <a:pt x="544349" y="35420"/>
                  </a:lnTo>
                  <a:lnTo>
                    <a:pt x="517107" y="52875"/>
                  </a:lnTo>
                  <a:lnTo>
                    <a:pt x="493586" y="61156"/>
                  </a:lnTo>
                  <a:lnTo>
                    <a:pt x="552881" y="61156"/>
                  </a:lnTo>
                  <a:lnTo>
                    <a:pt x="567870" y="52875"/>
                  </a:lnTo>
                  <a:lnTo>
                    <a:pt x="602051" y="25736"/>
                  </a:lnTo>
                  <a:lnTo>
                    <a:pt x="608312" y="1656"/>
                  </a:lnTo>
                  <a:lnTo>
                    <a:pt x="585130" y="0"/>
                  </a:lnTo>
                  <a:close/>
                </a:path>
              </a:pathLst>
            </a:custGeom>
            <a:solidFill>
              <a:srgbClr val="000000"/>
            </a:solidFill>
          </p:spPr>
          <p:txBody>
            <a:bodyPr wrap="square" lIns="0" tIns="0" rIns="0" bIns="0" rtlCol="0"/>
            <a:lstStyle/>
            <a:p>
              <a:endParaRPr/>
            </a:p>
          </p:txBody>
        </p:sp>
        <p:sp>
          <p:nvSpPr>
            <p:cNvPr id="28" name="object 28"/>
            <p:cNvSpPr/>
            <p:nvPr/>
          </p:nvSpPr>
          <p:spPr>
            <a:xfrm>
              <a:off x="9143362" y="4594597"/>
              <a:ext cx="217804" cy="562610"/>
            </a:xfrm>
            <a:custGeom>
              <a:avLst/>
              <a:gdLst/>
              <a:ahLst/>
              <a:cxnLst/>
              <a:rect l="l" t="t" r="r" b="b"/>
              <a:pathLst>
                <a:path w="217804" h="562610">
                  <a:moveTo>
                    <a:pt x="97905" y="0"/>
                  </a:moveTo>
                  <a:lnTo>
                    <a:pt x="55434" y="6332"/>
                  </a:lnTo>
                  <a:lnTo>
                    <a:pt x="49138" y="38273"/>
                  </a:lnTo>
                  <a:lnTo>
                    <a:pt x="49138" y="99316"/>
                  </a:lnTo>
                  <a:lnTo>
                    <a:pt x="59664" y="177763"/>
                  </a:lnTo>
                  <a:lnTo>
                    <a:pt x="44942" y="251457"/>
                  </a:lnTo>
                  <a:lnTo>
                    <a:pt x="47040" y="350773"/>
                  </a:lnTo>
                  <a:lnTo>
                    <a:pt x="47040" y="421308"/>
                  </a:lnTo>
                  <a:lnTo>
                    <a:pt x="38225" y="475700"/>
                  </a:lnTo>
                  <a:lnTo>
                    <a:pt x="19324" y="498162"/>
                  </a:lnTo>
                  <a:lnTo>
                    <a:pt x="0" y="531684"/>
                  </a:lnTo>
                  <a:lnTo>
                    <a:pt x="0" y="543074"/>
                  </a:lnTo>
                  <a:lnTo>
                    <a:pt x="21422" y="555726"/>
                  </a:lnTo>
                  <a:lnTo>
                    <a:pt x="44942" y="562364"/>
                  </a:lnTo>
                  <a:lnTo>
                    <a:pt x="74724" y="552566"/>
                  </a:lnTo>
                  <a:lnTo>
                    <a:pt x="119226" y="519032"/>
                  </a:lnTo>
                  <a:lnTo>
                    <a:pt x="148259" y="499742"/>
                  </a:lnTo>
                  <a:lnTo>
                    <a:pt x="76923" y="499742"/>
                  </a:lnTo>
                  <a:lnTo>
                    <a:pt x="65924" y="491843"/>
                  </a:lnTo>
                  <a:lnTo>
                    <a:pt x="68125" y="474120"/>
                  </a:lnTo>
                  <a:lnTo>
                    <a:pt x="85215" y="392526"/>
                  </a:lnTo>
                  <a:lnTo>
                    <a:pt x="106704" y="296369"/>
                  </a:lnTo>
                  <a:lnTo>
                    <a:pt x="121425" y="203385"/>
                  </a:lnTo>
                  <a:lnTo>
                    <a:pt x="129717" y="107228"/>
                  </a:lnTo>
                  <a:lnTo>
                    <a:pt x="125656" y="48084"/>
                  </a:lnTo>
                  <a:lnTo>
                    <a:pt x="119226" y="15824"/>
                  </a:lnTo>
                  <a:lnTo>
                    <a:pt x="97905" y="0"/>
                  </a:lnTo>
                  <a:close/>
                </a:path>
                <a:path w="217804" h="562610">
                  <a:moveTo>
                    <a:pt x="195709" y="433960"/>
                  </a:moveTo>
                  <a:lnTo>
                    <a:pt x="157468" y="443758"/>
                  </a:lnTo>
                  <a:lnTo>
                    <a:pt x="138178" y="456410"/>
                  </a:lnTo>
                  <a:lnTo>
                    <a:pt x="112965" y="488670"/>
                  </a:lnTo>
                  <a:lnTo>
                    <a:pt x="76923" y="499742"/>
                  </a:lnTo>
                  <a:lnTo>
                    <a:pt x="148259" y="499742"/>
                  </a:lnTo>
                  <a:lnTo>
                    <a:pt x="170158" y="485192"/>
                  </a:lnTo>
                  <a:lnTo>
                    <a:pt x="217199" y="469380"/>
                  </a:lnTo>
                  <a:lnTo>
                    <a:pt x="210938" y="440598"/>
                  </a:lnTo>
                  <a:lnTo>
                    <a:pt x="195709" y="433960"/>
                  </a:lnTo>
                  <a:close/>
                </a:path>
              </a:pathLst>
            </a:custGeom>
            <a:solidFill>
              <a:srgbClr val="000000"/>
            </a:solidFill>
          </p:spPr>
          <p:txBody>
            <a:bodyPr wrap="square" lIns="0" tIns="0" rIns="0" bIns="0" rtlCol="0"/>
            <a:lstStyle/>
            <a:p>
              <a:endParaRPr/>
            </a:p>
          </p:txBody>
        </p:sp>
        <p:sp>
          <p:nvSpPr>
            <p:cNvPr id="29" name="object 29"/>
            <p:cNvSpPr/>
            <p:nvPr/>
          </p:nvSpPr>
          <p:spPr>
            <a:xfrm>
              <a:off x="9284078" y="4600929"/>
              <a:ext cx="227329" cy="564515"/>
            </a:xfrm>
            <a:custGeom>
              <a:avLst/>
              <a:gdLst/>
              <a:ahLst/>
              <a:cxnLst/>
              <a:rect l="l" t="t" r="r" b="b"/>
              <a:pathLst>
                <a:path w="227329" h="564514">
                  <a:moveTo>
                    <a:pt x="38242" y="0"/>
                  </a:moveTo>
                  <a:lnTo>
                    <a:pt x="0" y="9491"/>
                  </a:lnTo>
                  <a:lnTo>
                    <a:pt x="0" y="43332"/>
                  </a:lnTo>
                  <a:lnTo>
                    <a:pt x="6261" y="104056"/>
                  </a:lnTo>
                  <a:lnTo>
                    <a:pt x="27242" y="177750"/>
                  </a:lnTo>
                  <a:lnTo>
                    <a:pt x="20981" y="256197"/>
                  </a:lnTo>
                  <a:lnTo>
                    <a:pt x="40272" y="352341"/>
                  </a:lnTo>
                  <a:lnTo>
                    <a:pt x="50763" y="422875"/>
                  </a:lnTo>
                  <a:lnTo>
                    <a:pt x="48732" y="477279"/>
                  </a:lnTo>
                  <a:lnTo>
                    <a:pt x="36041" y="502902"/>
                  </a:lnTo>
                  <a:lnTo>
                    <a:pt x="20981" y="536742"/>
                  </a:lnTo>
                  <a:lnTo>
                    <a:pt x="20981" y="547814"/>
                  </a:lnTo>
                  <a:lnTo>
                    <a:pt x="44502" y="562364"/>
                  </a:lnTo>
                  <a:lnTo>
                    <a:pt x="72252" y="563944"/>
                  </a:lnTo>
                  <a:lnTo>
                    <a:pt x="95435" y="554452"/>
                  </a:lnTo>
                  <a:lnTo>
                    <a:pt x="134015" y="517452"/>
                  </a:lnTo>
                  <a:lnTo>
                    <a:pt x="153464" y="501322"/>
                  </a:lnTo>
                  <a:lnTo>
                    <a:pt x="93235" y="501322"/>
                  </a:lnTo>
                  <a:lnTo>
                    <a:pt x="82744" y="493410"/>
                  </a:lnTo>
                  <a:lnTo>
                    <a:pt x="78513" y="475700"/>
                  </a:lnTo>
                  <a:lnTo>
                    <a:pt x="84775" y="394093"/>
                  </a:lnTo>
                  <a:lnTo>
                    <a:pt x="91203" y="293197"/>
                  </a:lnTo>
                  <a:lnTo>
                    <a:pt x="93235" y="200212"/>
                  </a:lnTo>
                  <a:lnTo>
                    <a:pt x="84775" y="104056"/>
                  </a:lnTo>
                  <a:lnTo>
                    <a:pt x="76483" y="44912"/>
                  </a:lnTo>
                  <a:lnTo>
                    <a:pt x="63454" y="11071"/>
                  </a:lnTo>
                  <a:lnTo>
                    <a:pt x="38242" y="0"/>
                  </a:lnTo>
                  <a:close/>
                </a:path>
                <a:path w="227329" h="564514">
                  <a:moveTo>
                    <a:pt x="200007" y="422875"/>
                  </a:moveTo>
                  <a:lnTo>
                    <a:pt x="161258" y="437426"/>
                  </a:lnTo>
                  <a:lnTo>
                    <a:pt x="148736" y="450077"/>
                  </a:lnTo>
                  <a:lnTo>
                    <a:pt x="123016" y="485510"/>
                  </a:lnTo>
                  <a:lnTo>
                    <a:pt x="93235" y="501322"/>
                  </a:lnTo>
                  <a:lnTo>
                    <a:pt x="153464" y="501322"/>
                  </a:lnTo>
                  <a:lnTo>
                    <a:pt x="180548" y="478859"/>
                  </a:lnTo>
                  <a:lnTo>
                    <a:pt x="227249" y="458308"/>
                  </a:lnTo>
                  <a:lnTo>
                    <a:pt x="216758" y="431106"/>
                  </a:lnTo>
                  <a:lnTo>
                    <a:pt x="200007" y="422875"/>
                  </a:lnTo>
                  <a:close/>
                </a:path>
              </a:pathLst>
            </a:custGeom>
            <a:solidFill>
              <a:srgbClr val="000000"/>
            </a:solidFill>
          </p:spPr>
          <p:txBody>
            <a:bodyPr wrap="square" lIns="0" tIns="0" rIns="0" bIns="0" rtlCol="0"/>
            <a:lstStyle/>
            <a:p>
              <a:endParaRPr/>
            </a:p>
          </p:txBody>
        </p:sp>
      </p:grpSp>
      <p:sp>
        <p:nvSpPr>
          <p:cNvPr id="32" name="标题 31"/>
          <p:cNvSpPr>
            <a:spLocks noGrp="1"/>
          </p:cNvSpPr>
          <p:nvPr>
            <p:ph type="title"/>
          </p:nvPr>
        </p:nvSpPr>
        <p:spPr/>
        <p:txBody>
          <a:bodyPr/>
          <a:lstStyle/>
          <a:p>
            <a:r>
              <a:rPr lang="zh-CN" altLang="en-US" spc="-5" dirty="0"/>
              <a:t>概念建模</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44</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7004"/>
    </mc:Choice>
    <mc:Fallback xmlns="">
      <p:transition spd="slow" advTm="67004"/>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23264" y="2159679"/>
            <a:ext cx="10630536" cy="3642360"/>
          </a:xfrm>
          <a:prstGeom prst="rect">
            <a:avLst/>
          </a:prstGeom>
        </p:spPr>
        <p:txBody>
          <a:bodyPr vert="horz" wrap="square" lIns="0" tIns="12700" rIns="0" bIns="0" rtlCol="0">
            <a:spAutoFit/>
          </a:bodyPr>
          <a:lstStyle/>
          <a:p>
            <a:pPr marL="317500" indent="-304800">
              <a:lnSpc>
                <a:spcPct val="100000"/>
              </a:lnSpc>
              <a:spcBef>
                <a:spcPts val="100"/>
              </a:spcBef>
              <a:buClr>
                <a:srgbClr val="000000"/>
              </a:buClr>
              <a:buFont typeface="Arial" panose="020B0604020202020204"/>
              <a:buChar char="•"/>
              <a:tabLst>
                <a:tab pos="316865" algn="l"/>
                <a:tab pos="317500" algn="l"/>
              </a:tabLst>
            </a:pPr>
            <a:r>
              <a:rPr sz="2400" b="1" spc="-5" dirty="0" err="1">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Need（需求</a:t>
            </a:r>
            <a:r>
              <a:rPr sz="2400" b="1" spc="-5" dirty="0">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a:t>
            </a:r>
            <a:r>
              <a:rPr lang="en-US" altLang="zh-CN" sz="2400" spc="-5" dirty="0">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a:t>
            </a:r>
            <a:r>
              <a:rPr sz="2400" dirty="0" err="1">
                <a:latin typeface="微软雅黑" panose="020B0503020204020204" pitchFamily="34" charset="-122"/>
                <a:ea typeface="微软雅黑" panose="020B0503020204020204" pitchFamily="34" charset="-122"/>
                <a:cs typeface="华文细黑" panose="02010600040101010101" charset="-122"/>
              </a:rPr>
              <a:t>现在市场上未被满足但又急需满足的客户需求是什么</a:t>
            </a:r>
            <a:r>
              <a:rPr sz="2400" dirty="0">
                <a:latin typeface="微软雅黑" panose="020B0503020204020204" pitchFamily="34" charset="-122"/>
                <a:ea typeface="微软雅黑" panose="020B0503020204020204" pitchFamily="34" charset="-122"/>
                <a:cs typeface="华文细黑" panose="02010600040101010101" charset="-122"/>
              </a:rPr>
              <a:t>？</a:t>
            </a:r>
          </a:p>
          <a:p>
            <a:pPr marL="241300" indent="-228600">
              <a:lnSpc>
                <a:spcPct val="100000"/>
              </a:lnSpc>
              <a:spcBef>
                <a:spcPts val="2420"/>
              </a:spcBef>
              <a:buFont typeface="Arial" panose="020B0604020202020204"/>
              <a:buChar char="•"/>
              <a:tabLst>
                <a:tab pos="241300" algn="l"/>
              </a:tabLst>
            </a:pPr>
            <a:r>
              <a:rPr sz="2400" b="1" spc="-5" dirty="0" err="1">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Approach（方法</a:t>
            </a:r>
            <a:r>
              <a:rPr sz="2400" b="1" spc="-5" dirty="0">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a:t>
            </a:r>
            <a:r>
              <a:rPr lang="en-US" altLang="zh-CN" sz="2400" spc="-5" dirty="0">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a:t>
            </a:r>
            <a:r>
              <a:rPr sz="2400" dirty="0" err="1">
                <a:latin typeface="微软雅黑" panose="020B0503020204020204" pitchFamily="34" charset="-122"/>
                <a:ea typeface="微软雅黑" panose="020B0503020204020204" pitchFamily="34" charset="-122"/>
                <a:cs typeface="华文细黑" panose="02010600040101010101" charset="-122"/>
              </a:rPr>
              <a:t>要满足这种需求，我能够提出什么独特的方法吗</a:t>
            </a:r>
            <a:r>
              <a:rPr sz="2400" dirty="0">
                <a:latin typeface="微软雅黑" panose="020B0503020204020204" pitchFamily="34" charset="-122"/>
                <a:ea typeface="微软雅黑" panose="020B0503020204020204" pitchFamily="34" charset="-122"/>
                <a:cs typeface="华文细黑" panose="02010600040101010101" charset="-122"/>
              </a:rPr>
              <a:t>？</a:t>
            </a:r>
          </a:p>
          <a:p>
            <a:pPr marL="241300" indent="-228600">
              <a:lnSpc>
                <a:spcPct val="100000"/>
              </a:lnSpc>
              <a:spcBef>
                <a:spcPts val="2420"/>
              </a:spcBef>
              <a:buFont typeface="Arial" panose="020B0604020202020204"/>
              <a:buChar char="•"/>
              <a:tabLst>
                <a:tab pos="241300" algn="l"/>
              </a:tabLst>
            </a:pPr>
            <a:r>
              <a:rPr sz="2400" b="1" spc="-5" dirty="0" err="1">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Benefits（收益</a:t>
            </a:r>
            <a:r>
              <a:rPr sz="2400" b="1" spc="-5" dirty="0">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a:t>
            </a:r>
            <a:r>
              <a:rPr lang="en-US" altLang="zh-CN" sz="2400" spc="-5" dirty="0">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a:t>
            </a:r>
            <a:r>
              <a:rPr sz="2400" dirty="0" err="1">
                <a:latin typeface="微软雅黑" panose="020B0503020204020204" pitchFamily="34" charset="-122"/>
                <a:ea typeface="微软雅黑" panose="020B0503020204020204" pitchFamily="34" charset="-122"/>
                <a:cs typeface="华文细黑" panose="02010600040101010101" charset="-122"/>
              </a:rPr>
              <a:t>该方法给顾客提供的便利是什么</a:t>
            </a:r>
            <a:r>
              <a:rPr sz="2400" dirty="0">
                <a:latin typeface="微软雅黑" panose="020B0503020204020204" pitchFamily="34" charset="-122"/>
                <a:ea typeface="微软雅黑" panose="020B0503020204020204" pitchFamily="34" charset="-122"/>
                <a:cs typeface="华文细黑" panose="02010600040101010101" charset="-122"/>
              </a:rPr>
              <a:t>？</a:t>
            </a:r>
          </a:p>
          <a:p>
            <a:pPr marL="241300" marR="212090" indent="-228600">
              <a:lnSpc>
                <a:spcPct val="149000"/>
              </a:lnSpc>
              <a:spcBef>
                <a:spcPts val="1000"/>
              </a:spcBef>
              <a:buFont typeface="Arial" panose="020B0604020202020204"/>
              <a:buChar char="•"/>
              <a:tabLst>
                <a:tab pos="241300" algn="l"/>
              </a:tabLst>
            </a:pPr>
            <a:r>
              <a:rPr sz="2400" b="1" spc="-5" dirty="0">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Competition</a:t>
            </a:r>
            <a:r>
              <a:rPr sz="2400" b="1" spc="-35" dirty="0">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 </a:t>
            </a:r>
            <a:r>
              <a:rPr sz="2400" b="1" spc="-10" dirty="0">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a:t>
            </a:r>
            <a:r>
              <a:rPr sz="2400" b="1" spc="-5" dirty="0">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竞争)</a:t>
            </a:r>
            <a:r>
              <a:rPr sz="2400" b="1" spc="-35" dirty="0">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 </a:t>
            </a:r>
            <a:r>
              <a:rPr sz="2400" dirty="0">
                <a:latin typeface="微软雅黑" panose="020B0503020204020204" pitchFamily="34" charset="-122"/>
                <a:ea typeface="微软雅黑" panose="020B0503020204020204" pitchFamily="34" charset="-122"/>
                <a:cs typeface="华文细黑" panose="02010600040101010101" charset="-122"/>
              </a:rPr>
              <a:t>—</a:t>
            </a:r>
            <a:r>
              <a:rPr sz="2400" dirty="0" err="1">
                <a:latin typeface="微软雅黑" panose="020B0503020204020204" pitchFamily="34" charset="-122"/>
                <a:ea typeface="微软雅黑" panose="020B0503020204020204" pitchFamily="34" charset="-122"/>
                <a:cs typeface="华文细黑" panose="02010600040101010101" charset="-122"/>
              </a:rPr>
              <a:t>对于竞争对手和其他可选择的方案来说，这种单位成本收益的优势在哪里</a:t>
            </a:r>
            <a:r>
              <a:rPr sz="2400" dirty="0">
                <a:latin typeface="微软雅黑" panose="020B0503020204020204" pitchFamily="34" charset="-122"/>
                <a:ea typeface="微软雅黑" panose="020B0503020204020204" pitchFamily="34" charset="-122"/>
                <a:cs typeface="华文细黑" panose="02010600040101010101" charset="-122"/>
              </a:rPr>
              <a:t>？</a:t>
            </a:r>
          </a:p>
          <a:p>
            <a:pPr>
              <a:lnSpc>
                <a:spcPct val="100000"/>
              </a:lnSpc>
              <a:spcBef>
                <a:spcPts val="45"/>
              </a:spcBef>
              <a:buChar char="•"/>
            </a:pPr>
            <a:endParaRPr sz="2150" dirty="0">
              <a:latin typeface="微软雅黑" panose="020B0503020204020204" pitchFamily="34" charset="-122"/>
              <a:ea typeface="微软雅黑" panose="020B0503020204020204" pitchFamily="34" charset="-122"/>
              <a:cs typeface="Times New Roman" panose="02020603050405020304"/>
            </a:endParaRPr>
          </a:p>
          <a:p>
            <a:pPr marL="241300" indent="-228600">
              <a:lnSpc>
                <a:spcPct val="100000"/>
              </a:lnSpc>
              <a:buFont typeface="Arial" panose="020B0604020202020204"/>
              <a:buChar char="•"/>
              <a:tabLst>
                <a:tab pos="241300" algn="l"/>
              </a:tabLst>
            </a:pPr>
            <a:r>
              <a:rPr sz="2400" b="1" spc="-5" dirty="0">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Delivery</a:t>
            </a:r>
            <a:r>
              <a:rPr sz="2400" b="1" spc="-10" dirty="0">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 </a:t>
            </a:r>
            <a:r>
              <a:rPr sz="2400" b="1" spc="-5" dirty="0">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(推广) </a:t>
            </a:r>
            <a:r>
              <a:rPr sz="2400" dirty="0">
                <a:latin typeface="微软雅黑" panose="020B0503020204020204" pitchFamily="34" charset="-122"/>
                <a:ea typeface="微软雅黑" panose="020B0503020204020204" pitchFamily="34" charset="-122"/>
                <a:cs typeface="华文细黑" panose="02010600040101010101" charset="-122"/>
              </a:rPr>
              <a:t>—</a:t>
            </a:r>
            <a:r>
              <a:rPr sz="2400" spc="-5" dirty="0">
                <a:latin typeface="微软雅黑" panose="020B0503020204020204" pitchFamily="34" charset="-122"/>
                <a:ea typeface="微软雅黑" panose="020B0503020204020204" pitchFamily="34" charset="-122"/>
                <a:cs typeface="华文细黑" panose="02010600040101010101" charset="-122"/>
              </a:rPr>
              <a:t> </a:t>
            </a:r>
            <a:r>
              <a:rPr sz="2400" dirty="0">
                <a:latin typeface="微软雅黑" panose="020B0503020204020204" pitchFamily="34" charset="-122"/>
                <a:ea typeface="微软雅黑" panose="020B0503020204020204" pitchFamily="34" charset="-122"/>
                <a:cs typeface="华文细黑" panose="02010600040101010101" charset="-122"/>
              </a:rPr>
              <a:t>产品研发完成后的交付与推广方案？</a:t>
            </a:r>
          </a:p>
        </p:txBody>
      </p:sp>
      <p:sp>
        <p:nvSpPr>
          <p:cNvPr id="5" name="object 5"/>
          <p:cNvSpPr txBox="1"/>
          <p:nvPr/>
        </p:nvSpPr>
        <p:spPr>
          <a:xfrm>
            <a:off x="11072524" y="6506358"/>
            <a:ext cx="220345" cy="196215"/>
          </a:xfrm>
          <a:prstGeom prst="rect">
            <a:avLst/>
          </a:prstGeom>
        </p:spPr>
        <p:txBody>
          <a:bodyPr vert="horz" wrap="square" lIns="0" tIns="0" rIns="0" bIns="0" rtlCol="0">
            <a:spAutoFit/>
          </a:bodyPr>
          <a:lstStyle/>
          <a:p>
            <a:pPr marL="25400">
              <a:lnSpc>
                <a:spcPts val="1425"/>
              </a:lnSpc>
            </a:pPr>
            <a:fld id="{81D60167-4931-47E6-BA6A-407CBD079E47}" type="slidenum">
              <a:rPr sz="1200" dirty="0">
                <a:solidFill>
                  <a:srgbClr val="FFFFFF"/>
                </a:solidFill>
                <a:latin typeface="Arial" panose="020B0604020202020204"/>
                <a:cs typeface="Arial" panose="020B0604020202020204"/>
              </a:rPr>
              <a:t>45</a:t>
            </a:fld>
            <a:endParaRPr sz="1200">
              <a:latin typeface="Arial" panose="020B0604020202020204"/>
              <a:cs typeface="Arial" panose="020B0604020202020204"/>
            </a:endParaRPr>
          </a:p>
        </p:txBody>
      </p:sp>
      <p:sp>
        <p:nvSpPr>
          <p:cNvPr id="7" name="标题 6"/>
          <p:cNvSpPr>
            <a:spLocks noGrp="1"/>
          </p:cNvSpPr>
          <p:nvPr>
            <p:ph type="title"/>
          </p:nvPr>
        </p:nvSpPr>
        <p:spPr/>
        <p:txBody>
          <a:bodyPr/>
          <a:lstStyle/>
          <a:p>
            <a:r>
              <a:rPr lang="zh-CN" altLang="en-US" dirty="0">
                <a:latin typeface="Microsoft JhengHei" panose="020B0604030504040204" charset="-120"/>
                <a:cs typeface="Microsoft JhengHei" panose="020B0604030504040204" charset="-120"/>
              </a:rPr>
              <a:t>竞争性需求分析</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45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88483"/>
    </mc:Choice>
    <mc:Fallback xmlns="">
      <p:transition spd="slow" advTm="188483"/>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318830" y="1765991"/>
            <a:ext cx="4337651" cy="4121641"/>
          </a:xfrm>
          <a:prstGeom prst="rect">
            <a:avLst/>
          </a:prstGeom>
        </p:spPr>
        <p:txBody>
          <a:bodyPr vert="horz" wrap="square" lIns="0" tIns="91440" rIns="0" bIns="0" rtlCol="0">
            <a:spAutoFit/>
          </a:bodyPr>
          <a:lstStyle/>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确定待试验的两种UI</a:t>
            </a:r>
          </a:p>
          <a:p>
            <a:pPr marL="241300" indent="-228600">
              <a:lnSpc>
                <a:spcPct val="100000"/>
              </a:lnSpc>
              <a:spcBef>
                <a:spcPts val="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确定衡量标准</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确定数据搜集流程</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确定试验运行时间</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确定人数（5-10</a:t>
            </a:r>
            <a:r>
              <a:rPr sz="2400" spc="-5" dirty="0">
                <a:latin typeface="微软雅黑" panose="020B0503020204020204" pitchFamily="34" charset="-122"/>
                <a:ea typeface="微软雅黑" panose="020B0503020204020204" pitchFamily="34" charset="-122"/>
                <a:cs typeface="华文细黑" panose="02010600040101010101" charset="-122"/>
              </a:rPr>
              <a:t>%</a:t>
            </a:r>
            <a:r>
              <a:rPr sz="2400" dirty="0">
                <a:latin typeface="微软雅黑" panose="020B0503020204020204" pitchFamily="34" charset="-122"/>
                <a:ea typeface="微软雅黑" panose="020B0503020204020204" pitchFamily="34" charset="-122"/>
                <a:cs typeface="华文细黑" panose="02010600040101010101" charset="-122"/>
              </a:rPr>
              <a:t>的用户）</a:t>
            </a:r>
          </a:p>
          <a:p>
            <a:pPr marL="241300" indent="-228600">
              <a:lnSpc>
                <a:spcPct val="100000"/>
              </a:lnSpc>
              <a:spcBef>
                <a:spcPts val="720"/>
              </a:spcBef>
              <a:buFont typeface="Arial" panose="020B0604020202020204"/>
              <a:buChar char="•"/>
              <a:tabLst>
                <a:tab pos="241300" algn="l"/>
              </a:tabLst>
            </a:pPr>
            <a:r>
              <a:rPr sz="2400" spc="-5" dirty="0">
                <a:latin typeface="微软雅黑" panose="020B0503020204020204" pitchFamily="34" charset="-122"/>
                <a:ea typeface="微软雅黑" panose="020B0503020204020204" pitchFamily="34" charset="-122"/>
                <a:cs typeface="华文细黑" panose="02010600040101010101" charset="-122"/>
              </a:rPr>
              <a:t>A/B</a:t>
            </a:r>
            <a:r>
              <a:rPr sz="2400" dirty="0">
                <a:latin typeface="微软雅黑" panose="020B0503020204020204" pitchFamily="34" charset="-122"/>
                <a:ea typeface="微软雅黑" panose="020B0503020204020204" pitchFamily="34" charset="-122"/>
                <a:cs typeface="华文细黑" panose="02010600040101010101" charset="-122"/>
              </a:rPr>
              <a:t>测试的技术实现</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搜集数据</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分析数据</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作出结论</a:t>
            </a:r>
          </a:p>
        </p:txBody>
      </p:sp>
      <p:sp>
        <p:nvSpPr>
          <p:cNvPr id="4" name="object 4"/>
          <p:cNvSpPr/>
          <p:nvPr/>
        </p:nvSpPr>
        <p:spPr>
          <a:xfrm>
            <a:off x="6233128" y="1540082"/>
            <a:ext cx="4544025" cy="4422853"/>
          </a:xfrm>
          <a:prstGeom prst="rect">
            <a:avLst/>
          </a:prstGeom>
          <a:blipFill>
            <a:blip r:embed="rId3" cstate="print"/>
            <a:stretch>
              <a:fillRect/>
            </a:stretch>
          </a:blipFill>
        </p:spPr>
        <p:txBody>
          <a:bodyPr wrap="square" lIns="0" tIns="0" rIns="0" bIns="0" rtlCol="0"/>
          <a:lstStyle/>
          <a:p>
            <a:endParaRPr/>
          </a:p>
        </p:txBody>
      </p:sp>
      <p:sp>
        <p:nvSpPr>
          <p:cNvPr id="6" name="object 6"/>
          <p:cNvSpPr txBox="1"/>
          <p:nvPr/>
        </p:nvSpPr>
        <p:spPr>
          <a:xfrm>
            <a:off x="11072524" y="6506358"/>
            <a:ext cx="220345" cy="196215"/>
          </a:xfrm>
          <a:prstGeom prst="rect">
            <a:avLst/>
          </a:prstGeom>
        </p:spPr>
        <p:txBody>
          <a:bodyPr vert="horz" wrap="square" lIns="0" tIns="0" rIns="0" bIns="0" rtlCol="0">
            <a:spAutoFit/>
          </a:bodyPr>
          <a:lstStyle/>
          <a:p>
            <a:pPr marL="25400">
              <a:lnSpc>
                <a:spcPts val="1425"/>
              </a:lnSpc>
            </a:pPr>
            <a:fld id="{81D60167-4931-47E6-BA6A-407CBD079E47}" type="slidenum">
              <a:rPr sz="1200" dirty="0">
                <a:solidFill>
                  <a:srgbClr val="FFFFFF"/>
                </a:solidFill>
                <a:latin typeface="Arial" panose="020B0604020202020204"/>
                <a:cs typeface="Arial" panose="020B0604020202020204"/>
              </a:rPr>
              <a:t>46</a:t>
            </a:fld>
            <a:endParaRPr sz="1200">
              <a:latin typeface="Arial" panose="020B0604020202020204"/>
              <a:cs typeface="Arial" panose="020B0604020202020204"/>
            </a:endParaRPr>
          </a:p>
        </p:txBody>
      </p:sp>
      <p:sp>
        <p:nvSpPr>
          <p:cNvPr id="8" name="标题 7"/>
          <p:cNvSpPr>
            <a:spLocks noGrp="1"/>
          </p:cNvSpPr>
          <p:nvPr>
            <p:ph type="title"/>
          </p:nvPr>
        </p:nvSpPr>
        <p:spPr/>
        <p:txBody>
          <a:bodyPr/>
          <a:lstStyle/>
          <a:p>
            <a:r>
              <a:rPr lang="en-US" altLang="zh-CN" spc="-5" dirty="0"/>
              <a:t>A/B</a:t>
            </a:r>
            <a:r>
              <a:rPr lang="zh-CN" altLang="en-US" spc="-5" dirty="0"/>
              <a:t>测试</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46</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92111"/>
    </mc:Choice>
    <mc:Fallback xmlns="">
      <p:transition spd="slow" advTm="92111"/>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47419" y="1690688"/>
            <a:ext cx="10297161" cy="2272417"/>
          </a:xfrm>
          <a:prstGeom prst="rect">
            <a:avLst/>
          </a:prstGeom>
        </p:spPr>
        <p:txBody>
          <a:bodyPr vert="horz" wrap="square" lIns="0" tIns="12700" rIns="0" bIns="0" rtlCol="0">
            <a:spAutoFit/>
          </a:bodyPr>
          <a:lstStyle/>
          <a:p>
            <a:pPr marL="12700">
              <a:lnSpc>
                <a:spcPct val="100000"/>
              </a:lnSpc>
              <a:spcBef>
                <a:spcPts val="100"/>
              </a:spcBef>
            </a:pPr>
            <a:r>
              <a:rPr sz="2800" dirty="0" err="1">
                <a:latin typeface="微软雅黑" panose="020B0503020204020204" pitchFamily="34" charset="-122"/>
                <a:ea typeface="微软雅黑" panose="020B0503020204020204" pitchFamily="34" charset="-122"/>
                <a:cs typeface="华文细黑" panose="02010600040101010101" charset="-122"/>
              </a:rPr>
              <a:t>用户操作数据采集</a:t>
            </a:r>
            <a:endParaRPr sz="2800" dirty="0">
              <a:latin typeface="微软雅黑" panose="020B0503020204020204" pitchFamily="34" charset="-122"/>
              <a:ea typeface="微软雅黑" panose="020B0503020204020204" pitchFamily="34" charset="-122"/>
              <a:cs typeface="华文细黑" panose="02010600040101010101" charset="-122"/>
            </a:endParaRPr>
          </a:p>
          <a:p>
            <a:pPr marL="469900">
              <a:lnSpc>
                <a:spcPct val="100000"/>
              </a:lnSpc>
              <a:spcBef>
                <a:spcPts val="1740"/>
              </a:spcBef>
            </a:pPr>
            <a:r>
              <a:rPr sz="2000" dirty="0">
                <a:latin typeface="微软雅黑" panose="020B0503020204020204" pitchFamily="34" charset="-122"/>
                <a:ea typeface="微软雅黑" panose="020B0503020204020204" pitchFamily="34" charset="-122"/>
                <a:cs typeface="华文细黑" panose="02010600040101010101" charset="-122"/>
              </a:rPr>
              <a:t>交互过程数据、眼动数据、页面访问时间、访问内容数据、用户偏好数据等</a:t>
            </a:r>
          </a:p>
          <a:p>
            <a:pPr>
              <a:lnSpc>
                <a:spcPct val="100000"/>
              </a:lnSpc>
              <a:spcBef>
                <a:spcPts val="10"/>
              </a:spcBef>
            </a:pPr>
            <a:endParaRPr sz="2250" dirty="0">
              <a:latin typeface="微软雅黑" panose="020B0503020204020204" pitchFamily="34" charset="-122"/>
              <a:ea typeface="微软雅黑" panose="020B0503020204020204" pitchFamily="34" charset="-122"/>
              <a:cs typeface="Times New Roman" panose="02020603050405020304"/>
            </a:endParaRPr>
          </a:p>
          <a:p>
            <a:pPr marL="12700">
              <a:lnSpc>
                <a:spcPct val="100000"/>
              </a:lnSpc>
            </a:pPr>
            <a:r>
              <a:rPr sz="2800" dirty="0" err="1">
                <a:latin typeface="微软雅黑" panose="020B0503020204020204" pitchFamily="34" charset="-122"/>
                <a:ea typeface="微软雅黑" panose="020B0503020204020204" pitchFamily="34" charset="-122"/>
                <a:cs typeface="华文细黑" panose="02010600040101010101" charset="-122"/>
              </a:rPr>
              <a:t>操作数据统计</a:t>
            </a:r>
            <a:endParaRPr sz="2800" dirty="0">
              <a:latin typeface="微软雅黑" panose="020B0503020204020204" pitchFamily="34" charset="-122"/>
              <a:ea typeface="微软雅黑" panose="020B0503020204020204" pitchFamily="34" charset="-122"/>
              <a:cs typeface="华文细黑" panose="02010600040101010101" charset="-122"/>
            </a:endParaRPr>
          </a:p>
          <a:p>
            <a:pPr marL="469900">
              <a:lnSpc>
                <a:spcPct val="100000"/>
              </a:lnSpc>
              <a:spcBef>
                <a:spcPts val="1740"/>
              </a:spcBef>
            </a:pPr>
            <a:r>
              <a:rPr sz="2000" dirty="0">
                <a:latin typeface="微软雅黑" panose="020B0503020204020204" pitchFamily="34" charset="-122"/>
                <a:ea typeface="微软雅黑" panose="020B0503020204020204" pitchFamily="34" charset="-122"/>
                <a:cs typeface="华文细黑" panose="02010600040101010101" charset="-122"/>
              </a:rPr>
              <a:t>厂商、版本、IP地址、日访问量、地域信息、访问频次、用户身份、访问时长、打分等</a:t>
            </a:r>
          </a:p>
        </p:txBody>
      </p:sp>
      <p:sp>
        <p:nvSpPr>
          <p:cNvPr id="4" name="object 4"/>
          <p:cNvSpPr/>
          <p:nvPr/>
        </p:nvSpPr>
        <p:spPr>
          <a:xfrm>
            <a:off x="1058256" y="4288725"/>
            <a:ext cx="4427664" cy="1418932"/>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5587254" y="4287137"/>
            <a:ext cx="2560843" cy="1440475"/>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8324649" y="4269021"/>
            <a:ext cx="2611751" cy="1443925"/>
          </a:xfrm>
          <a:prstGeom prst="rect">
            <a:avLst/>
          </a:prstGeom>
          <a:blipFill>
            <a:blip r:embed="rId5" cstate="print"/>
            <a:stretch>
              <a:fillRect/>
            </a:stretch>
          </a:blipFill>
        </p:spPr>
        <p:txBody>
          <a:bodyPr wrap="square" lIns="0" tIns="0" rIns="0" bIns="0" rtlCol="0"/>
          <a:lstStyle/>
          <a:p>
            <a:endParaRPr/>
          </a:p>
        </p:txBody>
      </p:sp>
      <p:sp>
        <p:nvSpPr>
          <p:cNvPr id="9" name="标题 8"/>
          <p:cNvSpPr>
            <a:spLocks noGrp="1"/>
          </p:cNvSpPr>
          <p:nvPr>
            <p:ph type="title"/>
          </p:nvPr>
        </p:nvSpPr>
        <p:spPr/>
        <p:txBody>
          <a:bodyPr/>
          <a:lstStyle/>
          <a:p>
            <a:r>
              <a:rPr lang="zh-CN" altLang="en-US" dirty="0"/>
              <a:t>用户行为数据在线采集</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47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05181"/>
    </mc:Choice>
    <mc:Fallback xmlns="">
      <p:transition spd="slow" advTm="105181"/>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672686" y="4246386"/>
            <a:ext cx="5080635" cy="1611980"/>
          </a:xfrm>
          <a:prstGeom prst="rect">
            <a:avLst/>
          </a:prstGeom>
          <a:solidFill>
            <a:srgbClr val="DEE3EA"/>
          </a:solidFill>
        </p:spPr>
        <p:txBody>
          <a:bodyPr vert="horz" wrap="square" lIns="0" tIns="105410" rIns="0" bIns="0" rtlCol="0">
            <a:spAutoFit/>
          </a:bodyPr>
          <a:lstStyle/>
          <a:p>
            <a:pPr marL="318770" indent="-229235">
              <a:lnSpc>
                <a:spcPct val="100000"/>
              </a:lnSpc>
              <a:spcBef>
                <a:spcPts val="830"/>
              </a:spcBef>
              <a:buFont typeface="Arial" panose="020B0604020202020204"/>
              <a:buChar char="•"/>
              <a:tabLst>
                <a:tab pos="319405" algn="l"/>
              </a:tabLst>
            </a:pPr>
            <a:r>
              <a:rPr sz="2400" dirty="0">
                <a:latin typeface="微软雅黑" panose="020B0503020204020204" pitchFamily="34" charset="-122"/>
                <a:ea typeface="微软雅黑" panose="020B0503020204020204" pitchFamily="34" charset="-122"/>
                <a:cs typeface="华文细黑" panose="02010600040101010101" charset="-122"/>
              </a:rPr>
              <a:t>建立完整精确的模型很难</a:t>
            </a:r>
          </a:p>
          <a:p>
            <a:pPr marL="318770" indent="-229235">
              <a:lnSpc>
                <a:spcPct val="100000"/>
              </a:lnSpc>
              <a:spcBef>
                <a:spcPts val="1520"/>
              </a:spcBef>
              <a:buFont typeface="Arial" panose="020B0604020202020204"/>
              <a:buChar char="•"/>
              <a:tabLst>
                <a:tab pos="319405" algn="l"/>
              </a:tabLst>
            </a:pPr>
            <a:r>
              <a:rPr sz="2400" dirty="0">
                <a:latin typeface="微软雅黑" panose="020B0503020204020204" pitchFamily="34" charset="-122"/>
                <a:ea typeface="微软雅黑" panose="020B0503020204020204" pitchFamily="34" charset="-122"/>
                <a:cs typeface="华文细黑" panose="02010600040101010101" charset="-122"/>
              </a:rPr>
              <a:t>建立完整的原型也不现实</a:t>
            </a:r>
          </a:p>
          <a:p>
            <a:pPr marL="318770" indent="-229235">
              <a:lnSpc>
                <a:spcPct val="100000"/>
              </a:lnSpc>
              <a:spcBef>
                <a:spcPts val="1620"/>
              </a:spcBef>
              <a:buFont typeface="Arial" panose="020B0604020202020204"/>
              <a:buChar char="•"/>
              <a:tabLst>
                <a:tab pos="319405" algn="l"/>
              </a:tabLst>
            </a:pPr>
            <a:r>
              <a:rPr sz="2400" dirty="0">
                <a:latin typeface="微软雅黑" panose="020B0503020204020204" pitchFamily="34" charset="-122"/>
                <a:ea typeface="微软雅黑" panose="020B0503020204020204" pitchFamily="34" charset="-122"/>
                <a:cs typeface="华文细黑" panose="02010600040101010101" charset="-122"/>
              </a:rPr>
              <a:t>要根据需要和客观条件灵活运用</a:t>
            </a:r>
          </a:p>
        </p:txBody>
      </p:sp>
      <p:sp>
        <p:nvSpPr>
          <p:cNvPr id="4" name="object 4"/>
          <p:cNvSpPr txBox="1"/>
          <p:nvPr/>
        </p:nvSpPr>
        <p:spPr>
          <a:xfrm>
            <a:off x="6154737" y="1506728"/>
            <a:ext cx="246380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44546A"/>
                </a:solidFill>
                <a:latin typeface="微软雅黑" panose="020B0503020204020204" pitchFamily="34" charset="-122"/>
                <a:ea typeface="微软雅黑" panose="020B0503020204020204" pitchFamily="34" charset="-122"/>
                <a:cs typeface="Microsoft JhengHei" panose="020B0604030504040204" charset="-120"/>
              </a:rPr>
              <a:t>原型</a:t>
            </a:r>
            <a:r>
              <a:rPr sz="2400" b="1" dirty="0">
                <a:solidFill>
                  <a:srgbClr val="55677D"/>
                </a:solidFill>
                <a:latin typeface="微软雅黑" panose="020B0503020204020204" pitchFamily="34" charset="-122"/>
                <a:ea typeface="微软雅黑" panose="020B0503020204020204" pitchFamily="34" charset="-122"/>
                <a:cs typeface="Microsoft JhengHei" panose="020B0604030504040204" charset="-120"/>
              </a:rPr>
              <a:t>、</a:t>
            </a:r>
            <a:r>
              <a:rPr sz="2400" b="1" dirty="0">
                <a:solidFill>
                  <a:srgbClr val="44546A"/>
                </a:solidFill>
                <a:latin typeface="微软雅黑" panose="020B0503020204020204" pitchFamily="34" charset="-122"/>
                <a:ea typeface="微软雅黑" panose="020B0503020204020204" pitchFamily="34" charset="-122"/>
                <a:cs typeface="Microsoft JhengHei" panose="020B0604030504040204" charset="-120"/>
              </a:rPr>
              <a:t>情景与建模</a:t>
            </a:r>
            <a:endParaRPr sz="2400">
              <a:latin typeface="微软雅黑" panose="020B0503020204020204" pitchFamily="34" charset="-122"/>
              <a:ea typeface="微软雅黑" panose="020B0503020204020204" pitchFamily="34" charset="-122"/>
              <a:cs typeface="Microsoft JhengHei" panose="020B0604030504040204" charset="-120"/>
            </a:endParaRPr>
          </a:p>
        </p:txBody>
      </p:sp>
      <p:sp>
        <p:nvSpPr>
          <p:cNvPr id="5" name="object 5"/>
          <p:cNvSpPr txBox="1"/>
          <p:nvPr/>
        </p:nvSpPr>
        <p:spPr>
          <a:xfrm>
            <a:off x="6173962" y="3284054"/>
            <a:ext cx="4597400" cy="382156"/>
          </a:xfrm>
          <a:prstGeom prst="rect">
            <a:avLst/>
          </a:prstGeom>
        </p:spPr>
        <p:txBody>
          <a:bodyPr vert="horz" wrap="square" lIns="0" tIns="12700" rIns="0" bIns="0" rtlCol="0">
            <a:spAutoFit/>
          </a:bodyPr>
          <a:lstStyle/>
          <a:p>
            <a:pPr marL="12700">
              <a:lnSpc>
                <a:spcPct val="100000"/>
              </a:lnSpc>
              <a:spcBef>
                <a:spcPts val="100"/>
              </a:spcBef>
            </a:pPr>
            <a:r>
              <a:rPr sz="2400" dirty="0" err="1">
                <a:latin typeface="微软雅黑" panose="020B0503020204020204" pitchFamily="34" charset="-122"/>
                <a:ea typeface="微软雅黑" panose="020B0503020204020204" pitchFamily="34" charset="-122"/>
                <a:cs typeface="Arial Unicode MS"/>
              </a:rPr>
              <a:t>参与观察、亲身实践、面谈和情景</a:t>
            </a:r>
            <a:endParaRPr sz="2400" dirty="0">
              <a:latin typeface="微软雅黑" panose="020B0503020204020204" pitchFamily="34" charset="-122"/>
              <a:ea typeface="微软雅黑" panose="020B0503020204020204" pitchFamily="34" charset="-122"/>
              <a:cs typeface="Arial Unicode MS"/>
            </a:endParaRPr>
          </a:p>
        </p:txBody>
      </p:sp>
      <p:sp>
        <p:nvSpPr>
          <p:cNvPr id="6" name="object 6"/>
          <p:cNvSpPr/>
          <p:nvPr/>
        </p:nvSpPr>
        <p:spPr>
          <a:xfrm>
            <a:off x="566737" y="2057400"/>
            <a:ext cx="4267200" cy="2681605"/>
          </a:xfrm>
          <a:custGeom>
            <a:avLst/>
            <a:gdLst/>
            <a:ahLst/>
            <a:cxnLst/>
            <a:rect l="l" t="t" r="r" b="b"/>
            <a:pathLst>
              <a:path w="4267200" h="2681604">
                <a:moveTo>
                  <a:pt x="2133599" y="0"/>
                </a:moveTo>
                <a:lnTo>
                  <a:pt x="2074871" y="498"/>
                </a:lnTo>
                <a:lnTo>
                  <a:pt x="2016535" y="1983"/>
                </a:lnTo>
                <a:lnTo>
                  <a:pt x="1958611" y="4444"/>
                </a:lnTo>
                <a:lnTo>
                  <a:pt x="1901120" y="7866"/>
                </a:lnTo>
                <a:lnTo>
                  <a:pt x="1844082" y="12238"/>
                </a:lnTo>
                <a:lnTo>
                  <a:pt x="1787518" y="17546"/>
                </a:lnTo>
                <a:lnTo>
                  <a:pt x="1731448" y="23778"/>
                </a:lnTo>
                <a:lnTo>
                  <a:pt x="1675892" y="30921"/>
                </a:lnTo>
                <a:lnTo>
                  <a:pt x="1620871" y="38962"/>
                </a:lnTo>
                <a:lnTo>
                  <a:pt x="1566404" y="47889"/>
                </a:lnTo>
                <a:lnTo>
                  <a:pt x="1512513" y="57688"/>
                </a:lnTo>
                <a:lnTo>
                  <a:pt x="1459217" y="68346"/>
                </a:lnTo>
                <a:lnTo>
                  <a:pt x="1406537" y="79852"/>
                </a:lnTo>
                <a:lnTo>
                  <a:pt x="1354493" y="92192"/>
                </a:lnTo>
                <a:lnTo>
                  <a:pt x="1303106" y="105354"/>
                </a:lnTo>
                <a:lnTo>
                  <a:pt x="1252396" y="119324"/>
                </a:lnTo>
                <a:lnTo>
                  <a:pt x="1202383" y="134091"/>
                </a:lnTo>
                <a:lnTo>
                  <a:pt x="1153087" y="149640"/>
                </a:lnTo>
                <a:lnTo>
                  <a:pt x="1104530" y="165960"/>
                </a:lnTo>
                <a:lnTo>
                  <a:pt x="1056731" y="183037"/>
                </a:lnTo>
                <a:lnTo>
                  <a:pt x="1009710" y="200859"/>
                </a:lnTo>
                <a:lnTo>
                  <a:pt x="963488" y="219413"/>
                </a:lnTo>
                <a:lnTo>
                  <a:pt x="918086" y="238686"/>
                </a:lnTo>
                <a:lnTo>
                  <a:pt x="873523" y="258666"/>
                </a:lnTo>
                <a:lnTo>
                  <a:pt x="829820" y="279340"/>
                </a:lnTo>
                <a:lnTo>
                  <a:pt x="786997" y="300694"/>
                </a:lnTo>
                <a:lnTo>
                  <a:pt x="745075" y="322717"/>
                </a:lnTo>
                <a:lnTo>
                  <a:pt x="704074" y="345395"/>
                </a:lnTo>
                <a:lnTo>
                  <a:pt x="664015" y="368715"/>
                </a:lnTo>
                <a:lnTo>
                  <a:pt x="624916" y="392665"/>
                </a:lnTo>
                <a:lnTo>
                  <a:pt x="586800" y="417233"/>
                </a:lnTo>
                <a:lnTo>
                  <a:pt x="549686" y="442404"/>
                </a:lnTo>
                <a:lnTo>
                  <a:pt x="513595" y="468167"/>
                </a:lnTo>
                <a:lnTo>
                  <a:pt x="478547" y="494509"/>
                </a:lnTo>
                <a:lnTo>
                  <a:pt x="444562" y="521416"/>
                </a:lnTo>
                <a:lnTo>
                  <a:pt x="411661" y="548877"/>
                </a:lnTo>
                <a:lnTo>
                  <a:pt x="379863" y="576878"/>
                </a:lnTo>
                <a:lnTo>
                  <a:pt x="349190" y="605406"/>
                </a:lnTo>
                <a:lnTo>
                  <a:pt x="319662" y="634450"/>
                </a:lnTo>
                <a:lnTo>
                  <a:pt x="291298" y="663995"/>
                </a:lnTo>
                <a:lnTo>
                  <a:pt x="264120" y="694030"/>
                </a:lnTo>
                <a:lnTo>
                  <a:pt x="238148" y="724541"/>
                </a:lnTo>
                <a:lnTo>
                  <a:pt x="213402" y="755515"/>
                </a:lnTo>
                <a:lnTo>
                  <a:pt x="189902" y="786941"/>
                </a:lnTo>
                <a:lnTo>
                  <a:pt x="167668" y="818805"/>
                </a:lnTo>
                <a:lnTo>
                  <a:pt x="146722" y="851094"/>
                </a:lnTo>
                <a:lnTo>
                  <a:pt x="127083" y="883795"/>
                </a:lnTo>
                <a:lnTo>
                  <a:pt x="91809" y="950385"/>
                </a:lnTo>
                <a:lnTo>
                  <a:pt x="62008" y="1018471"/>
                </a:lnTo>
                <a:lnTo>
                  <a:pt x="37843" y="1087952"/>
                </a:lnTo>
                <a:lnTo>
                  <a:pt x="19477" y="1158726"/>
                </a:lnTo>
                <a:lnTo>
                  <a:pt x="7072" y="1230690"/>
                </a:lnTo>
                <a:lnTo>
                  <a:pt x="792" y="1303741"/>
                </a:lnTo>
                <a:lnTo>
                  <a:pt x="0" y="1340643"/>
                </a:lnTo>
                <a:lnTo>
                  <a:pt x="792" y="1377545"/>
                </a:lnTo>
                <a:lnTo>
                  <a:pt x="7072" y="1450597"/>
                </a:lnTo>
                <a:lnTo>
                  <a:pt x="19477" y="1522561"/>
                </a:lnTo>
                <a:lnTo>
                  <a:pt x="37843" y="1593334"/>
                </a:lnTo>
                <a:lnTo>
                  <a:pt x="62008" y="1662816"/>
                </a:lnTo>
                <a:lnTo>
                  <a:pt x="91809" y="1730902"/>
                </a:lnTo>
                <a:lnTo>
                  <a:pt x="127083" y="1797492"/>
                </a:lnTo>
                <a:lnTo>
                  <a:pt x="146722" y="1830193"/>
                </a:lnTo>
                <a:lnTo>
                  <a:pt x="167668" y="1862483"/>
                </a:lnTo>
                <a:lnTo>
                  <a:pt x="189902" y="1894346"/>
                </a:lnTo>
                <a:lnTo>
                  <a:pt x="213402" y="1925772"/>
                </a:lnTo>
                <a:lnTo>
                  <a:pt x="238148" y="1956746"/>
                </a:lnTo>
                <a:lnTo>
                  <a:pt x="264120" y="1987257"/>
                </a:lnTo>
                <a:lnTo>
                  <a:pt x="291298" y="2017292"/>
                </a:lnTo>
                <a:lnTo>
                  <a:pt x="319662" y="2046837"/>
                </a:lnTo>
                <a:lnTo>
                  <a:pt x="349190" y="2075881"/>
                </a:lnTo>
                <a:lnTo>
                  <a:pt x="379863" y="2104409"/>
                </a:lnTo>
                <a:lnTo>
                  <a:pt x="411661" y="2132410"/>
                </a:lnTo>
                <a:lnTo>
                  <a:pt x="444562" y="2159871"/>
                </a:lnTo>
                <a:lnTo>
                  <a:pt x="478547" y="2186778"/>
                </a:lnTo>
                <a:lnTo>
                  <a:pt x="513595" y="2213120"/>
                </a:lnTo>
                <a:lnTo>
                  <a:pt x="549686" y="2238883"/>
                </a:lnTo>
                <a:lnTo>
                  <a:pt x="586800" y="2264054"/>
                </a:lnTo>
                <a:lnTo>
                  <a:pt x="624916" y="2288622"/>
                </a:lnTo>
                <a:lnTo>
                  <a:pt x="664015" y="2312572"/>
                </a:lnTo>
                <a:lnTo>
                  <a:pt x="704074" y="2335892"/>
                </a:lnTo>
                <a:lnTo>
                  <a:pt x="745075" y="2358570"/>
                </a:lnTo>
                <a:lnTo>
                  <a:pt x="786997" y="2380593"/>
                </a:lnTo>
                <a:lnTo>
                  <a:pt x="829820" y="2401947"/>
                </a:lnTo>
                <a:lnTo>
                  <a:pt x="873523" y="2422621"/>
                </a:lnTo>
                <a:lnTo>
                  <a:pt x="918086" y="2442600"/>
                </a:lnTo>
                <a:lnTo>
                  <a:pt x="963488" y="2461874"/>
                </a:lnTo>
                <a:lnTo>
                  <a:pt x="1009710" y="2480428"/>
                </a:lnTo>
                <a:lnTo>
                  <a:pt x="1056731" y="2498250"/>
                </a:lnTo>
                <a:lnTo>
                  <a:pt x="1104530" y="2515327"/>
                </a:lnTo>
                <a:lnTo>
                  <a:pt x="1153087" y="2531647"/>
                </a:lnTo>
                <a:lnTo>
                  <a:pt x="1202383" y="2547196"/>
                </a:lnTo>
                <a:lnTo>
                  <a:pt x="1252396" y="2561962"/>
                </a:lnTo>
                <a:lnTo>
                  <a:pt x="1303106" y="2575933"/>
                </a:lnTo>
                <a:lnTo>
                  <a:pt x="1354493" y="2589094"/>
                </a:lnTo>
                <a:lnTo>
                  <a:pt x="1406537" y="2601434"/>
                </a:lnTo>
                <a:lnTo>
                  <a:pt x="1459217" y="2612940"/>
                </a:lnTo>
                <a:lnTo>
                  <a:pt x="1512513" y="2623599"/>
                </a:lnTo>
                <a:lnTo>
                  <a:pt x="1566404" y="2633398"/>
                </a:lnTo>
                <a:lnTo>
                  <a:pt x="1620871" y="2642324"/>
                </a:lnTo>
                <a:lnTo>
                  <a:pt x="1675892" y="2650365"/>
                </a:lnTo>
                <a:lnTo>
                  <a:pt x="1731448" y="2657508"/>
                </a:lnTo>
                <a:lnTo>
                  <a:pt x="1787518" y="2663740"/>
                </a:lnTo>
                <a:lnTo>
                  <a:pt x="1844082" y="2669049"/>
                </a:lnTo>
                <a:lnTo>
                  <a:pt x="1901120" y="2673420"/>
                </a:lnTo>
                <a:lnTo>
                  <a:pt x="1958611" y="2676843"/>
                </a:lnTo>
                <a:lnTo>
                  <a:pt x="2016535" y="2679303"/>
                </a:lnTo>
                <a:lnTo>
                  <a:pt x="2074871" y="2680789"/>
                </a:lnTo>
                <a:lnTo>
                  <a:pt x="2133599" y="2681287"/>
                </a:lnTo>
                <a:lnTo>
                  <a:pt x="2192328" y="2680789"/>
                </a:lnTo>
                <a:lnTo>
                  <a:pt x="2250664" y="2679303"/>
                </a:lnTo>
                <a:lnTo>
                  <a:pt x="2308587" y="2676843"/>
                </a:lnTo>
                <a:lnTo>
                  <a:pt x="2366078" y="2673420"/>
                </a:lnTo>
                <a:lnTo>
                  <a:pt x="2423116" y="2669049"/>
                </a:lnTo>
                <a:lnTo>
                  <a:pt x="2479680" y="2663740"/>
                </a:lnTo>
                <a:lnTo>
                  <a:pt x="2535750" y="2657508"/>
                </a:lnTo>
                <a:lnTo>
                  <a:pt x="2591306" y="2650365"/>
                </a:lnTo>
                <a:lnTo>
                  <a:pt x="2646328" y="2642324"/>
                </a:lnTo>
                <a:lnTo>
                  <a:pt x="2700794" y="2633398"/>
                </a:lnTo>
                <a:lnTo>
                  <a:pt x="2754686" y="2623599"/>
                </a:lnTo>
                <a:lnTo>
                  <a:pt x="2807982" y="2612940"/>
                </a:lnTo>
                <a:lnTo>
                  <a:pt x="2860661" y="2601434"/>
                </a:lnTo>
                <a:lnTo>
                  <a:pt x="2912705" y="2589094"/>
                </a:lnTo>
                <a:lnTo>
                  <a:pt x="2964092" y="2575933"/>
                </a:lnTo>
                <a:lnTo>
                  <a:pt x="3014803" y="2561962"/>
                </a:lnTo>
                <a:lnTo>
                  <a:pt x="3064816" y="2547196"/>
                </a:lnTo>
                <a:lnTo>
                  <a:pt x="3114111" y="2531647"/>
                </a:lnTo>
                <a:lnTo>
                  <a:pt x="3162668" y="2515327"/>
                </a:lnTo>
                <a:lnTo>
                  <a:pt x="3210468" y="2498250"/>
                </a:lnTo>
                <a:lnTo>
                  <a:pt x="3257488" y="2480428"/>
                </a:lnTo>
                <a:lnTo>
                  <a:pt x="3303710" y="2461874"/>
                </a:lnTo>
                <a:lnTo>
                  <a:pt x="3349113" y="2442600"/>
                </a:lnTo>
                <a:lnTo>
                  <a:pt x="3393675" y="2422621"/>
                </a:lnTo>
                <a:lnTo>
                  <a:pt x="3437378" y="2401947"/>
                </a:lnTo>
                <a:lnTo>
                  <a:pt x="3480201" y="2380593"/>
                </a:lnTo>
                <a:lnTo>
                  <a:pt x="3522123" y="2358570"/>
                </a:lnTo>
                <a:lnTo>
                  <a:pt x="3563124" y="2335892"/>
                </a:lnTo>
                <a:lnTo>
                  <a:pt x="3603184" y="2312572"/>
                </a:lnTo>
                <a:lnTo>
                  <a:pt x="3642282" y="2288622"/>
                </a:lnTo>
                <a:lnTo>
                  <a:pt x="3680398" y="2264054"/>
                </a:lnTo>
                <a:lnTo>
                  <a:pt x="3717512" y="2238883"/>
                </a:lnTo>
                <a:lnTo>
                  <a:pt x="3753603" y="2213120"/>
                </a:lnTo>
                <a:lnTo>
                  <a:pt x="3788652" y="2186778"/>
                </a:lnTo>
                <a:lnTo>
                  <a:pt x="3822637" y="2159871"/>
                </a:lnTo>
                <a:lnTo>
                  <a:pt x="3855538" y="2132410"/>
                </a:lnTo>
                <a:lnTo>
                  <a:pt x="3887335" y="2104409"/>
                </a:lnTo>
                <a:lnTo>
                  <a:pt x="3918008" y="2075881"/>
                </a:lnTo>
                <a:lnTo>
                  <a:pt x="3947537" y="2046837"/>
                </a:lnTo>
                <a:lnTo>
                  <a:pt x="3975900" y="2017292"/>
                </a:lnTo>
                <a:lnTo>
                  <a:pt x="4003078" y="1987257"/>
                </a:lnTo>
                <a:lnTo>
                  <a:pt x="4029050" y="1956746"/>
                </a:lnTo>
                <a:lnTo>
                  <a:pt x="4053797" y="1925772"/>
                </a:lnTo>
                <a:lnTo>
                  <a:pt x="4077297" y="1894346"/>
                </a:lnTo>
                <a:lnTo>
                  <a:pt x="4099530" y="1862483"/>
                </a:lnTo>
                <a:lnTo>
                  <a:pt x="4120477" y="1830193"/>
                </a:lnTo>
                <a:lnTo>
                  <a:pt x="4140115" y="1797492"/>
                </a:lnTo>
                <a:lnTo>
                  <a:pt x="4175390" y="1730902"/>
                </a:lnTo>
                <a:lnTo>
                  <a:pt x="4205191" y="1662816"/>
                </a:lnTo>
                <a:lnTo>
                  <a:pt x="4229356" y="1593334"/>
                </a:lnTo>
                <a:lnTo>
                  <a:pt x="4247722" y="1522561"/>
                </a:lnTo>
                <a:lnTo>
                  <a:pt x="4260126" y="1450597"/>
                </a:lnTo>
                <a:lnTo>
                  <a:pt x="4266406" y="1377545"/>
                </a:lnTo>
                <a:lnTo>
                  <a:pt x="4267199" y="1340643"/>
                </a:lnTo>
                <a:lnTo>
                  <a:pt x="4266406" y="1303741"/>
                </a:lnTo>
                <a:lnTo>
                  <a:pt x="4260126" y="1230690"/>
                </a:lnTo>
                <a:lnTo>
                  <a:pt x="4247722" y="1158726"/>
                </a:lnTo>
                <a:lnTo>
                  <a:pt x="4229356" y="1087952"/>
                </a:lnTo>
                <a:lnTo>
                  <a:pt x="4205191" y="1018471"/>
                </a:lnTo>
                <a:lnTo>
                  <a:pt x="4175390" y="950385"/>
                </a:lnTo>
                <a:lnTo>
                  <a:pt x="4140115" y="883795"/>
                </a:lnTo>
                <a:lnTo>
                  <a:pt x="4120477" y="851094"/>
                </a:lnTo>
                <a:lnTo>
                  <a:pt x="4099530" y="818805"/>
                </a:lnTo>
                <a:lnTo>
                  <a:pt x="4077297" y="786941"/>
                </a:lnTo>
                <a:lnTo>
                  <a:pt x="4053797" y="755515"/>
                </a:lnTo>
                <a:lnTo>
                  <a:pt x="4029050" y="724541"/>
                </a:lnTo>
                <a:lnTo>
                  <a:pt x="4003078" y="694030"/>
                </a:lnTo>
                <a:lnTo>
                  <a:pt x="3975900" y="663995"/>
                </a:lnTo>
                <a:lnTo>
                  <a:pt x="3947537" y="634450"/>
                </a:lnTo>
                <a:lnTo>
                  <a:pt x="3918008" y="605406"/>
                </a:lnTo>
                <a:lnTo>
                  <a:pt x="3887335" y="576878"/>
                </a:lnTo>
                <a:lnTo>
                  <a:pt x="3855538" y="548877"/>
                </a:lnTo>
                <a:lnTo>
                  <a:pt x="3822637" y="521416"/>
                </a:lnTo>
                <a:lnTo>
                  <a:pt x="3788652" y="494509"/>
                </a:lnTo>
                <a:lnTo>
                  <a:pt x="3753603" y="468167"/>
                </a:lnTo>
                <a:lnTo>
                  <a:pt x="3717512" y="442404"/>
                </a:lnTo>
                <a:lnTo>
                  <a:pt x="3680398" y="417233"/>
                </a:lnTo>
                <a:lnTo>
                  <a:pt x="3642282" y="392665"/>
                </a:lnTo>
                <a:lnTo>
                  <a:pt x="3603184" y="368715"/>
                </a:lnTo>
                <a:lnTo>
                  <a:pt x="3563124" y="345395"/>
                </a:lnTo>
                <a:lnTo>
                  <a:pt x="3522123" y="322717"/>
                </a:lnTo>
                <a:lnTo>
                  <a:pt x="3480201" y="300694"/>
                </a:lnTo>
                <a:lnTo>
                  <a:pt x="3437378" y="279340"/>
                </a:lnTo>
                <a:lnTo>
                  <a:pt x="3393675" y="258666"/>
                </a:lnTo>
                <a:lnTo>
                  <a:pt x="3349113" y="238686"/>
                </a:lnTo>
                <a:lnTo>
                  <a:pt x="3303710" y="219413"/>
                </a:lnTo>
                <a:lnTo>
                  <a:pt x="3257488" y="200859"/>
                </a:lnTo>
                <a:lnTo>
                  <a:pt x="3210468" y="183037"/>
                </a:lnTo>
                <a:lnTo>
                  <a:pt x="3162668" y="165960"/>
                </a:lnTo>
                <a:lnTo>
                  <a:pt x="3114111" y="149640"/>
                </a:lnTo>
                <a:lnTo>
                  <a:pt x="3064816" y="134091"/>
                </a:lnTo>
                <a:lnTo>
                  <a:pt x="3014803" y="119324"/>
                </a:lnTo>
                <a:lnTo>
                  <a:pt x="2964092" y="105354"/>
                </a:lnTo>
                <a:lnTo>
                  <a:pt x="2912705" y="92192"/>
                </a:lnTo>
                <a:lnTo>
                  <a:pt x="2860661" y="79852"/>
                </a:lnTo>
                <a:lnTo>
                  <a:pt x="2807982" y="68346"/>
                </a:lnTo>
                <a:lnTo>
                  <a:pt x="2754686" y="57688"/>
                </a:lnTo>
                <a:lnTo>
                  <a:pt x="2700794" y="47889"/>
                </a:lnTo>
                <a:lnTo>
                  <a:pt x="2646328" y="38962"/>
                </a:lnTo>
                <a:lnTo>
                  <a:pt x="2591306" y="30921"/>
                </a:lnTo>
                <a:lnTo>
                  <a:pt x="2535750" y="23778"/>
                </a:lnTo>
                <a:lnTo>
                  <a:pt x="2479680" y="17546"/>
                </a:lnTo>
                <a:lnTo>
                  <a:pt x="2423116" y="12238"/>
                </a:lnTo>
                <a:lnTo>
                  <a:pt x="2366078" y="7866"/>
                </a:lnTo>
                <a:lnTo>
                  <a:pt x="2308587" y="4444"/>
                </a:lnTo>
                <a:lnTo>
                  <a:pt x="2250664" y="1983"/>
                </a:lnTo>
                <a:lnTo>
                  <a:pt x="2192328" y="498"/>
                </a:lnTo>
                <a:lnTo>
                  <a:pt x="2133599" y="0"/>
                </a:lnTo>
                <a:close/>
              </a:path>
            </a:pathLst>
          </a:custGeom>
          <a:solidFill>
            <a:srgbClr val="2662C9"/>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 name="object 7"/>
          <p:cNvSpPr/>
          <p:nvPr/>
        </p:nvSpPr>
        <p:spPr>
          <a:xfrm>
            <a:off x="1151322" y="2424113"/>
            <a:ext cx="3101340" cy="1949450"/>
          </a:xfrm>
          <a:custGeom>
            <a:avLst/>
            <a:gdLst/>
            <a:ahLst/>
            <a:cxnLst/>
            <a:rect l="l" t="t" r="r" b="b"/>
            <a:pathLst>
              <a:path w="3101340" h="1949450">
                <a:moveTo>
                  <a:pt x="1550362" y="0"/>
                </a:moveTo>
                <a:lnTo>
                  <a:pt x="1492239" y="672"/>
                </a:lnTo>
                <a:lnTo>
                  <a:pt x="1434656" y="2673"/>
                </a:lnTo>
                <a:lnTo>
                  <a:pt x="1377651" y="5980"/>
                </a:lnTo>
                <a:lnTo>
                  <a:pt x="1321260" y="10568"/>
                </a:lnTo>
                <a:lnTo>
                  <a:pt x="1265522" y="16415"/>
                </a:lnTo>
                <a:lnTo>
                  <a:pt x="1210474" y="23496"/>
                </a:lnTo>
                <a:lnTo>
                  <a:pt x="1156153" y="31788"/>
                </a:lnTo>
                <a:lnTo>
                  <a:pt x="1102596" y="41268"/>
                </a:lnTo>
                <a:lnTo>
                  <a:pt x="1049842" y="51912"/>
                </a:lnTo>
                <a:lnTo>
                  <a:pt x="997928" y="63697"/>
                </a:lnTo>
                <a:lnTo>
                  <a:pt x="946891" y="76598"/>
                </a:lnTo>
                <a:lnTo>
                  <a:pt x="896768" y="90593"/>
                </a:lnTo>
                <a:lnTo>
                  <a:pt x="847597" y="105657"/>
                </a:lnTo>
                <a:lnTo>
                  <a:pt x="799416" y="121768"/>
                </a:lnTo>
                <a:lnTo>
                  <a:pt x="752263" y="138901"/>
                </a:lnTo>
                <a:lnTo>
                  <a:pt x="706173" y="157034"/>
                </a:lnTo>
                <a:lnTo>
                  <a:pt x="661186" y="176142"/>
                </a:lnTo>
                <a:lnTo>
                  <a:pt x="617338" y="196201"/>
                </a:lnTo>
                <a:lnTo>
                  <a:pt x="574667" y="217190"/>
                </a:lnTo>
                <a:lnTo>
                  <a:pt x="533210" y="239083"/>
                </a:lnTo>
                <a:lnTo>
                  <a:pt x="493005" y="261857"/>
                </a:lnTo>
                <a:lnTo>
                  <a:pt x="454090" y="285490"/>
                </a:lnTo>
                <a:lnTo>
                  <a:pt x="416501" y="309956"/>
                </a:lnTo>
                <a:lnTo>
                  <a:pt x="380277" y="335233"/>
                </a:lnTo>
                <a:lnTo>
                  <a:pt x="345455" y="361297"/>
                </a:lnTo>
                <a:lnTo>
                  <a:pt x="312071" y="388125"/>
                </a:lnTo>
                <a:lnTo>
                  <a:pt x="280165" y="415692"/>
                </a:lnTo>
                <a:lnTo>
                  <a:pt x="249772" y="443976"/>
                </a:lnTo>
                <a:lnTo>
                  <a:pt x="220932" y="472953"/>
                </a:lnTo>
                <a:lnTo>
                  <a:pt x="193680" y="502599"/>
                </a:lnTo>
                <a:lnTo>
                  <a:pt x="168055" y="532891"/>
                </a:lnTo>
                <a:lnTo>
                  <a:pt x="144094" y="563805"/>
                </a:lnTo>
                <a:lnTo>
                  <a:pt x="121835" y="595317"/>
                </a:lnTo>
                <a:lnTo>
                  <a:pt x="82570" y="660044"/>
                </a:lnTo>
                <a:lnTo>
                  <a:pt x="50562" y="726882"/>
                </a:lnTo>
                <a:lnTo>
                  <a:pt x="26109" y="795644"/>
                </a:lnTo>
                <a:lnTo>
                  <a:pt x="9511" y="866140"/>
                </a:lnTo>
                <a:lnTo>
                  <a:pt x="1069" y="938182"/>
                </a:lnTo>
                <a:lnTo>
                  <a:pt x="0" y="974725"/>
                </a:lnTo>
                <a:lnTo>
                  <a:pt x="1069" y="1011267"/>
                </a:lnTo>
                <a:lnTo>
                  <a:pt x="9511" y="1083309"/>
                </a:lnTo>
                <a:lnTo>
                  <a:pt x="26109" y="1153805"/>
                </a:lnTo>
                <a:lnTo>
                  <a:pt x="50562" y="1222566"/>
                </a:lnTo>
                <a:lnTo>
                  <a:pt x="82570" y="1289405"/>
                </a:lnTo>
                <a:lnTo>
                  <a:pt x="121835" y="1354131"/>
                </a:lnTo>
                <a:lnTo>
                  <a:pt x="144094" y="1385644"/>
                </a:lnTo>
                <a:lnTo>
                  <a:pt x="168055" y="1416558"/>
                </a:lnTo>
                <a:lnTo>
                  <a:pt x="193680" y="1446849"/>
                </a:lnTo>
                <a:lnTo>
                  <a:pt x="220932" y="1476495"/>
                </a:lnTo>
                <a:lnTo>
                  <a:pt x="249772" y="1505472"/>
                </a:lnTo>
                <a:lnTo>
                  <a:pt x="280165" y="1533756"/>
                </a:lnTo>
                <a:lnTo>
                  <a:pt x="312071" y="1561324"/>
                </a:lnTo>
                <a:lnTo>
                  <a:pt x="345455" y="1588151"/>
                </a:lnTo>
                <a:lnTo>
                  <a:pt x="380277" y="1614215"/>
                </a:lnTo>
                <a:lnTo>
                  <a:pt x="416501" y="1639492"/>
                </a:lnTo>
                <a:lnTo>
                  <a:pt x="454090" y="1663959"/>
                </a:lnTo>
                <a:lnTo>
                  <a:pt x="493005" y="1687591"/>
                </a:lnTo>
                <a:lnTo>
                  <a:pt x="533210" y="1710366"/>
                </a:lnTo>
                <a:lnTo>
                  <a:pt x="574667" y="1732259"/>
                </a:lnTo>
                <a:lnTo>
                  <a:pt x="617338" y="1753247"/>
                </a:lnTo>
                <a:lnTo>
                  <a:pt x="661186" y="1773307"/>
                </a:lnTo>
                <a:lnTo>
                  <a:pt x="706173" y="1792415"/>
                </a:lnTo>
                <a:lnTo>
                  <a:pt x="752263" y="1810548"/>
                </a:lnTo>
                <a:lnTo>
                  <a:pt x="799416" y="1827681"/>
                </a:lnTo>
                <a:lnTo>
                  <a:pt x="847597" y="1843792"/>
                </a:lnTo>
                <a:lnTo>
                  <a:pt x="896768" y="1858856"/>
                </a:lnTo>
                <a:lnTo>
                  <a:pt x="946891" y="1872851"/>
                </a:lnTo>
                <a:lnTo>
                  <a:pt x="997928" y="1885752"/>
                </a:lnTo>
                <a:lnTo>
                  <a:pt x="1049842" y="1897537"/>
                </a:lnTo>
                <a:lnTo>
                  <a:pt x="1102596" y="1908181"/>
                </a:lnTo>
                <a:lnTo>
                  <a:pt x="1156153" y="1917661"/>
                </a:lnTo>
                <a:lnTo>
                  <a:pt x="1210474" y="1925953"/>
                </a:lnTo>
                <a:lnTo>
                  <a:pt x="1265522" y="1933034"/>
                </a:lnTo>
                <a:lnTo>
                  <a:pt x="1321260" y="1938881"/>
                </a:lnTo>
                <a:lnTo>
                  <a:pt x="1377651" y="1943469"/>
                </a:lnTo>
                <a:lnTo>
                  <a:pt x="1434656" y="1946776"/>
                </a:lnTo>
                <a:lnTo>
                  <a:pt x="1492239" y="1948777"/>
                </a:lnTo>
                <a:lnTo>
                  <a:pt x="1550362" y="1949450"/>
                </a:lnTo>
                <a:lnTo>
                  <a:pt x="1608484" y="1948777"/>
                </a:lnTo>
                <a:lnTo>
                  <a:pt x="1666067" y="1946776"/>
                </a:lnTo>
                <a:lnTo>
                  <a:pt x="1723072" y="1943469"/>
                </a:lnTo>
                <a:lnTo>
                  <a:pt x="1779463" y="1938881"/>
                </a:lnTo>
                <a:lnTo>
                  <a:pt x="1835201" y="1933034"/>
                </a:lnTo>
                <a:lnTo>
                  <a:pt x="1890249" y="1925953"/>
                </a:lnTo>
                <a:lnTo>
                  <a:pt x="1944570" y="1917661"/>
                </a:lnTo>
                <a:lnTo>
                  <a:pt x="1998126" y="1908181"/>
                </a:lnTo>
                <a:lnTo>
                  <a:pt x="2050880" y="1897537"/>
                </a:lnTo>
                <a:lnTo>
                  <a:pt x="2102795" y="1885752"/>
                </a:lnTo>
                <a:lnTo>
                  <a:pt x="2153832" y="1872851"/>
                </a:lnTo>
                <a:lnTo>
                  <a:pt x="2203955" y="1858856"/>
                </a:lnTo>
                <a:lnTo>
                  <a:pt x="2253125" y="1843792"/>
                </a:lnTo>
                <a:lnTo>
                  <a:pt x="2301306" y="1827681"/>
                </a:lnTo>
                <a:lnTo>
                  <a:pt x="2348460" y="1810548"/>
                </a:lnTo>
                <a:lnTo>
                  <a:pt x="2394549" y="1792415"/>
                </a:lnTo>
                <a:lnTo>
                  <a:pt x="2439537" y="1773307"/>
                </a:lnTo>
                <a:lnTo>
                  <a:pt x="2483385" y="1753247"/>
                </a:lnTo>
                <a:lnTo>
                  <a:pt x="2526056" y="1732259"/>
                </a:lnTo>
                <a:lnTo>
                  <a:pt x="2567512" y="1710366"/>
                </a:lnTo>
                <a:lnTo>
                  <a:pt x="2607717" y="1687591"/>
                </a:lnTo>
                <a:lnTo>
                  <a:pt x="2646632" y="1663959"/>
                </a:lnTo>
                <a:lnTo>
                  <a:pt x="2684221" y="1639492"/>
                </a:lnTo>
                <a:lnTo>
                  <a:pt x="2720445" y="1614215"/>
                </a:lnTo>
                <a:lnTo>
                  <a:pt x="2755268" y="1588151"/>
                </a:lnTo>
                <a:lnTo>
                  <a:pt x="2788651" y="1561324"/>
                </a:lnTo>
                <a:lnTo>
                  <a:pt x="2820558" y="1533756"/>
                </a:lnTo>
                <a:lnTo>
                  <a:pt x="2850950" y="1505472"/>
                </a:lnTo>
                <a:lnTo>
                  <a:pt x="2879791" y="1476495"/>
                </a:lnTo>
                <a:lnTo>
                  <a:pt x="2907042" y="1446849"/>
                </a:lnTo>
                <a:lnTo>
                  <a:pt x="2932667" y="1416558"/>
                </a:lnTo>
                <a:lnTo>
                  <a:pt x="2956628" y="1385644"/>
                </a:lnTo>
                <a:lnTo>
                  <a:pt x="2978888" y="1354131"/>
                </a:lnTo>
                <a:lnTo>
                  <a:pt x="3018152" y="1289405"/>
                </a:lnTo>
                <a:lnTo>
                  <a:pt x="3050161" y="1222566"/>
                </a:lnTo>
                <a:lnTo>
                  <a:pt x="3074614" y="1153805"/>
                </a:lnTo>
                <a:lnTo>
                  <a:pt x="3091211" y="1083309"/>
                </a:lnTo>
                <a:lnTo>
                  <a:pt x="3099654" y="1011267"/>
                </a:lnTo>
                <a:lnTo>
                  <a:pt x="3100723" y="974725"/>
                </a:lnTo>
                <a:lnTo>
                  <a:pt x="3099654" y="938182"/>
                </a:lnTo>
                <a:lnTo>
                  <a:pt x="3091211" y="866140"/>
                </a:lnTo>
                <a:lnTo>
                  <a:pt x="3074614" y="795644"/>
                </a:lnTo>
                <a:lnTo>
                  <a:pt x="3050161" y="726882"/>
                </a:lnTo>
                <a:lnTo>
                  <a:pt x="3018152" y="660044"/>
                </a:lnTo>
                <a:lnTo>
                  <a:pt x="2978888" y="595317"/>
                </a:lnTo>
                <a:lnTo>
                  <a:pt x="2956628" y="563805"/>
                </a:lnTo>
                <a:lnTo>
                  <a:pt x="2932667" y="532891"/>
                </a:lnTo>
                <a:lnTo>
                  <a:pt x="2907042" y="502599"/>
                </a:lnTo>
                <a:lnTo>
                  <a:pt x="2879791" y="472953"/>
                </a:lnTo>
                <a:lnTo>
                  <a:pt x="2850950" y="443976"/>
                </a:lnTo>
                <a:lnTo>
                  <a:pt x="2820558" y="415692"/>
                </a:lnTo>
                <a:lnTo>
                  <a:pt x="2788651" y="388125"/>
                </a:lnTo>
                <a:lnTo>
                  <a:pt x="2755268" y="361297"/>
                </a:lnTo>
                <a:lnTo>
                  <a:pt x="2720445" y="335233"/>
                </a:lnTo>
                <a:lnTo>
                  <a:pt x="2684221" y="309956"/>
                </a:lnTo>
                <a:lnTo>
                  <a:pt x="2646632" y="285490"/>
                </a:lnTo>
                <a:lnTo>
                  <a:pt x="2607717" y="261857"/>
                </a:lnTo>
                <a:lnTo>
                  <a:pt x="2567512" y="239083"/>
                </a:lnTo>
                <a:lnTo>
                  <a:pt x="2526056" y="217190"/>
                </a:lnTo>
                <a:lnTo>
                  <a:pt x="2483385" y="196201"/>
                </a:lnTo>
                <a:lnTo>
                  <a:pt x="2439537" y="176142"/>
                </a:lnTo>
                <a:lnTo>
                  <a:pt x="2394549" y="157034"/>
                </a:lnTo>
                <a:lnTo>
                  <a:pt x="2348460" y="138901"/>
                </a:lnTo>
                <a:lnTo>
                  <a:pt x="2301306" y="121768"/>
                </a:lnTo>
                <a:lnTo>
                  <a:pt x="2253125" y="105657"/>
                </a:lnTo>
                <a:lnTo>
                  <a:pt x="2203955" y="90593"/>
                </a:lnTo>
                <a:lnTo>
                  <a:pt x="2153832" y="76598"/>
                </a:lnTo>
                <a:lnTo>
                  <a:pt x="2102795" y="63697"/>
                </a:lnTo>
                <a:lnTo>
                  <a:pt x="2050880" y="51912"/>
                </a:lnTo>
                <a:lnTo>
                  <a:pt x="1998126" y="41268"/>
                </a:lnTo>
                <a:lnTo>
                  <a:pt x="1944570" y="31788"/>
                </a:lnTo>
                <a:lnTo>
                  <a:pt x="1890249" y="23496"/>
                </a:lnTo>
                <a:lnTo>
                  <a:pt x="1835201" y="16415"/>
                </a:lnTo>
                <a:lnTo>
                  <a:pt x="1779463" y="10568"/>
                </a:lnTo>
                <a:lnTo>
                  <a:pt x="1723072" y="5980"/>
                </a:lnTo>
                <a:lnTo>
                  <a:pt x="1666067" y="2673"/>
                </a:lnTo>
                <a:lnTo>
                  <a:pt x="1608484" y="672"/>
                </a:lnTo>
                <a:lnTo>
                  <a:pt x="1550362" y="0"/>
                </a:lnTo>
                <a:close/>
              </a:path>
            </a:pathLst>
          </a:custGeom>
          <a:solidFill>
            <a:srgbClr val="00AAD6"/>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 name="object 8"/>
          <p:cNvSpPr/>
          <p:nvPr/>
        </p:nvSpPr>
        <p:spPr>
          <a:xfrm>
            <a:off x="1151322" y="2424113"/>
            <a:ext cx="3101340" cy="1949450"/>
          </a:xfrm>
          <a:custGeom>
            <a:avLst/>
            <a:gdLst/>
            <a:ahLst/>
            <a:cxnLst/>
            <a:rect l="l" t="t" r="r" b="b"/>
            <a:pathLst>
              <a:path w="3101340" h="1949450">
                <a:moveTo>
                  <a:pt x="0" y="974724"/>
                </a:moveTo>
                <a:lnTo>
                  <a:pt x="4252" y="901980"/>
                </a:lnTo>
                <a:lnTo>
                  <a:pt x="16809" y="830687"/>
                </a:lnTo>
                <a:lnTo>
                  <a:pt x="37372" y="761034"/>
                </a:lnTo>
                <a:lnTo>
                  <a:pt x="65640" y="693211"/>
                </a:lnTo>
                <a:lnTo>
                  <a:pt x="101314" y="627405"/>
                </a:lnTo>
                <a:lnTo>
                  <a:pt x="144094" y="563805"/>
                </a:lnTo>
                <a:lnTo>
                  <a:pt x="168055" y="532891"/>
                </a:lnTo>
                <a:lnTo>
                  <a:pt x="193680" y="502599"/>
                </a:lnTo>
                <a:lnTo>
                  <a:pt x="220932" y="472953"/>
                </a:lnTo>
                <a:lnTo>
                  <a:pt x="249772" y="443977"/>
                </a:lnTo>
                <a:lnTo>
                  <a:pt x="280165" y="415693"/>
                </a:lnTo>
                <a:lnTo>
                  <a:pt x="312071" y="388125"/>
                </a:lnTo>
                <a:lnTo>
                  <a:pt x="345455" y="361297"/>
                </a:lnTo>
                <a:lnTo>
                  <a:pt x="380277" y="335233"/>
                </a:lnTo>
                <a:lnTo>
                  <a:pt x="416501" y="309956"/>
                </a:lnTo>
                <a:lnTo>
                  <a:pt x="454090" y="285490"/>
                </a:lnTo>
                <a:lnTo>
                  <a:pt x="493005" y="261858"/>
                </a:lnTo>
                <a:lnTo>
                  <a:pt x="533210" y="239083"/>
                </a:lnTo>
                <a:lnTo>
                  <a:pt x="574667" y="217190"/>
                </a:lnTo>
                <a:lnTo>
                  <a:pt x="617338" y="196202"/>
                </a:lnTo>
                <a:lnTo>
                  <a:pt x="661186" y="176142"/>
                </a:lnTo>
                <a:lnTo>
                  <a:pt x="706173" y="157034"/>
                </a:lnTo>
                <a:lnTo>
                  <a:pt x="752262" y="138901"/>
                </a:lnTo>
                <a:lnTo>
                  <a:pt x="799416" y="121768"/>
                </a:lnTo>
                <a:lnTo>
                  <a:pt x="847597" y="105657"/>
                </a:lnTo>
                <a:lnTo>
                  <a:pt x="896768" y="90593"/>
                </a:lnTo>
                <a:lnTo>
                  <a:pt x="946890" y="76598"/>
                </a:lnTo>
                <a:lnTo>
                  <a:pt x="997928" y="63697"/>
                </a:lnTo>
                <a:lnTo>
                  <a:pt x="1049842" y="51912"/>
                </a:lnTo>
                <a:lnTo>
                  <a:pt x="1102596" y="41268"/>
                </a:lnTo>
                <a:lnTo>
                  <a:pt x="1156152" y="31788"/>
                </a:lnTo>
                <a:lnTo>
                  <a:pt x="1210474" y="23496"/>
                </a:lnTo>
                <a:lnTo>
                  <a:pt x="1265522" y="16415"/>
                </a:lnTo>
                <a:lnTo>
                  <a:pt x="1321260" y="10568"/>
                </a:lnTo>
                <a:lnTo>
                  <a:pt x="1377650" y="5980"/>
                </a:lnTo>
                <a:lnTo>
                  <a:pt x="1434656" y="2673"/>
                </a:lnTo>
                <a:lnTo>
                  <a:pt x="1492238" y="672"/>
                </a:lnTo>
                <a:lnTo>
                  <a:pt x="1550361" y="0"/>
                </a:lnTo>
                <a:lnTo>
                  <a:pt x="1608484" y="672"/>
                </a:lnTo>
                <a:lnTo>
                  <a:pt x="1666066" y="2673"/>
                </a:lnTo>
                <a:lnTo>
                  <a:pt x="1723072" y="5980"/>
                </a:lnTo>
                <a:lnTo>
                  <a:pt x="1779462" y="10568"/>
                </a:lnTo>
                <a:lnTo>
                  <a:pt x="1835200" y="16415"/>
                </a:lnTo>
                <a:lnTo>
                  <a:pt x="1890249" y="23496"/>
                </a:lnTo>
                <a:lnTo>
                  <a:pt x="1944570" y="31788"/>
                </a:lnTo>
                <a:lnTo>
                  <a:pt x="1998126" y="41268"/>
                </a:lnTo>
                <a:lnTo>
                  <a:pt x="2050880" y="51912"/>
                </a:lnTo>
                <a:lnTo>
                  <a:pt x="2102795" y="63697"/>
                </a:lnTo>
                <a:lnTo>
                  <a:pt x="2153832" y="76598"/>
                </a:lnTo>
                <a:lnTo>
                  <a:pt x="2203955" y="90593"/>
                </a:lnTo>
                <a:lnTo>
                  <a:pt x="2253125" y="105657"/>
                </a:lnTo>
                <a:lnTo>
                  <a:pt x="2301306" y="121768"/>
                </a:lnTo>
                <a:lnTo>
                  <a:pt x="2348460" y="138901"/>
                </a:lnTo>
                <a:lnTo>
                  <a:pt x="2394550" y="157034"/>
                </a:lnTo>
                <a:lnTo>
                  <a:pt x="2439537" y="176142"/>
                </a:lnTo>
                <a:lnTo>
                  <a:pt x="2483385" y="196202"/>
                </a:lnTo>
                <a:lnTo>
                  <a:pt x="2526056" y="217190"/>
                </a:lnTo>
                <a:lnTo>
                  <a:pt x="2567512" y="239083"/>
                </a:lnTo>
                <a:lnTo>
                  <a:pt x="2607717" y="261858"/>
                </a:lnTo>
                <a:lnTo>
                  <a:pt x="2646633" y="285490"/>
                </a:lnTo>
                <a:lnTo>
                  <a:pt x="2684221" y="309956"/>
                </a:lnTo>
                <a:lnTo>
                  <a:pt x="2720445" y="335233"/>
                </a:lnTo>
                <a:lnTo>
                  <a:pt x="2755268" y="361297"/>
                </a:lnTo>
                <a:lnTo>
                  <a:pt x="2788651" y="388125"/>
                </a:lnTo>
                <a:lnTo>
                  <a:pt x="2820558" y="415693"/>
                </a:lnTo>
                <a:lnTo>
                  <a:pt x="2850950" y="443977"/>
                </a:lnTo>
                <a:lnTo>
                  <a:pt x="2879791" y="472953"/>
                </a:lnTo>
                <a:lnTo>
                  <a:pt x="2907042" y="502599"/>
                </a:lnTo>
                <a:lnTo>
                  <a:pt x="2932667" y="532891"/>
                </a:lnTo>
                <a:lnTo>
                  <a:pt x="2956628" y="563805"/>
                </a:lnTo>
                <a:lnTo>
                  <a:pt x="2978888" y="595318"/>
                </a:lnTo>
                <a:lnTo>
                  <a:pt x="3018152" y="660044"/>
                </a:lnTo>
                <a:lnTo>
                  <a:pt x="3050160" y="726882"/>
                </a:lnTo>
                <a:lnTo>
                  <a:pt x="3074613" y="795644"/>
                </a:lnTo>
                <a:lnTo>
                  <a:pt x="3091211" y="866140"/>
                </a:lnTo>
                <a:lnTo>
                  <a:pt x="3099653" y="938182"/>
                </a:lnTo>
                <a:lnTo>
                  <a:pt x="3100723" y="974724"/>
                </a:lnTo>
                <a:lnTo>
                  <a:pt x="3099653" y="1011267"/>
                </a:lnTo>
                <a:lnTo>
                  <a:pt x="3091211" y="1083309"/>
                </a:lnTo>
                <a:lnTo>
                  <a:pt x="3074613" y="1153805"/>
                </a:lnTo>
                <a:lnTo>
                  <a:pt x="3050160" y="1222567"/>
                </a:lnTo>
                <a:lnTo>
                  <a:pt x="3018152" y="1289405"/>
                </a:lnTo>
                <a:lnTo>
                  <a:pt x="2978888" y="1354131"/>
                </a:lnTo>
                <a:lnTo>
                  <a:pt x="2956628" y="1385644"/>
                </a:lnTo>
                <a:lnTo>
                  <a:pt x="2932667" y="1416558"/>
                </a:lnTo>
                <a:lnTo>
                  <a:pt x="2907042" y="1446849"/>
                </a:lnTo>
                <a:lnTo>
                  <a:pt x="2879791" y="1476495"/>
                </a:lnTo>
                <a:lnTo>
                  <a:pt x="2850950" y="1505472"/>
                </a:lnTo>
                <a:lnTo>
                  <a:pt x="2820558" y="1533756"/>
                </a:lnTo>
                <a:lnTo>
                  <a:pt x="2788651" y="1561324"/>
                </a:lnTo>
                <a:lnTo>
                  <a:pt x="2755268" y="1588151"/>
                </a:lnTo>
                <a:lnTo>
                  <a:pt x="2720445" y="1614215"/>
                </a:lnTo>
                <a:lnTo>
                  <a:pt x="2684221" y="1639492"/>
                </a:lnTo>
                <a:lnTo>
                  <a:pt x="2646633" y="1663959"/>
                </a:lnTo>
                <a:lnTo>
                  <a:pt x="2607717" y="1687591"/>
                </a:lnTo>
                <a:lnTo>
                  <a:pt x="2567512" y="1710366"/>
                </a:lnTo>
                <a:lnTo>
                  <a:pt x="2526056" y="1732259"/>
                </a:lnTo>
                <a:lnTo>
                  <a:pt x="2483385" y="1753247"/>
                </a:lnTo>
                <a:lnTo>
                  <a:pt x="2439537" y="1773307"/>
                </a:lnTo>
                <a:lnTo>
                  <a:pt x="2394550" y="1792415"/>
                </a:lnTo>
                <a:lnTo>
                  <a:pt x="2348460" y="1810547"/>
                </a:lnTo>
                <a:lnTo>
                  <a:pt x="2301306" y="1827681"/>
                </a:lnTo>
                <a:lnTo>
                  <a:pt x="2253125" y="1843791"/>
                </a:lnTo>
                <a:lnTo>
                  <a:pt x="2203955" y="1858856"/>
                </a:lnTo>
                <a:lnTo>
                  <a:pt x="2153832" y="1872850"/>
                </a:lnTo>
                <a:lnTo>
                  <a:pt x="2102795" y="1885752"/>
                </a:lnTo>
                <a:lnTo>
                  <a:pt x="2050880" y="1897536"/>
                </a:lnTo>
                <a:lnTo>
                  <a:pt x="1998126" y="1908180"/>
                </a:lnTo>
                <a:lnTo>
                  <a:pt x="1944570" y="1917660"/>
                </a:lnTo>
                <a:lnTo>
                  <a:pt x="1890249" y="1925953"/>
                </a:lnTo>
                <a:lnTo>
                  <a:pt x="1835200" y="1933034"/>
                </a:lnTo>
                <a:lnTo>
                  <a:pt x="1779462" y="1938880"/>
                </a:lnTo>
                <a:lnTo>
                  <a:pt x="1723072" y="1943469"/>
                </a:lnTo>
                <a:lnTo>
                  <a:pt x="1666066" y="1946775"/>
                </a:lnTo>
                <a:lnTo>
                  <a:pt x="1608484" y="1948777"/>
                </a:lnTo>
                <a:lnTo>
                  <a:pt x="1550361" y="1949449"/>
                </a:lnTo>
                <a:lnTo>
                  <a:pt x="1492238" y="1948777"/>
                </a:lnTo>
                <a:lnTo>
                  <a:pt x="1434656" y="1946775"/>
                </a:lnTo>
                <a:lnTo>
                  <a:pt x="1377650" y="1943469"/>
                </a:lnTo>
                <a:lnTo>
                  <a:pt x="1321260" y="1938880"/>
                </a:lnTo>
                <a:lnTo>
                  <a:pt x="1265522" y="1933034"/>
                </a:lnTo>
                <a:lnTo>
                  <a:pt x="1210474" y="1925953"/>
                </a:lnTo>
                <a:lnTo>
                  <a:pt x="1156152" y="1917660"/>
                </a:lnTo>
                <a:lnTo>
                  <a:pt x="1102596" y="1908180"/>
                </a:lnTo>
                <a:lnTo>
                  <a:pt x="1049842" y="1897536"/>
                </a:lnTo>
                <a:lnTo>
                  <a:pt x="997928" y="1885752"/>
                </a:lnTo>
                <a:lnTo>
                  <a:pt x="946890" y="1872850"/>
                </a:lnTo>
                <a:lnTo>
                  <a:pt x="896768" y="1858856"/>
                </a:lnTo>
                <a:lnTo>
                  <a:pt x="847597" y="1843791"/>
                </a:lnTo>
                <a:lnTo>
                  <a:pt x="799416" y="1827681"/>
                </a:lnTo>
                <a:lnTo>
                  <a:pt x="752262" y="1810547"/>
                </a:lnTo>
                <a:lnTo>
                  <a:pt x="706173" y="1792415"/>
                </a:lnTo>
                <a:lnTo>
                  <a:pt x="661186" y="1773307"/>
                </a:lnTo>
                <a:lnTo>
                  <a:pt x="617338" y="1753247"/>
                </a:lnTo>
                <a:lnTo>
                  <a:pt x="574667" y="1732259"/>
                </a:lnTo>
                <a:lnTo>
                  <a:pt x="533210" y="1710366"/>
                </a:lnTo>
                <a:lnTo>
                  <a:pt x="493005" y="1687591"/>
                </a:lnTo>
                <a:lnTo>
                  <a:pt x="454090" y="1663959"/>
                </a:lnTo>
                <a:lnTo>
                  <a:pt x="416501" y="1639492"/>
                </a:lnTo>
                <a:lnTo>
                  <a:pt x="380277" y="1614215"/>
                </a:lnTo>
                <a:lnTo>
                  <a:pt x="345455" y="1588151"/>
                </a:lnTo>
                <a:lnTo>
                  <a:pt x="312071" y="1561324"/>
                </a:lnTo>
                <a:lnTo>
                  <a:pt x="280165" y="1533756"/>
                </a:lnTo>
                <a:lnTo>
                  <a:pt x="249772" y="1505472"/>
                </a:lnTo>
                <a:lnTo>
                  <a:pt x="220932" y="1476495"/>
                </a:lnTo>
                <a:lnTo>
                  <a:pt x="193680" y="1446849"/>
                </a:lnTo>
                <a:lnTo>
                  <a:pt x="168055" y="1416558"/>
                </a:lnTo>
                <a:lnTo>
                  <a:pt x="144094" y="1385644"/>
                </a:lnTo>
                <a:lnTo>
                  <a:pt x="121835" y="1354131"/>
                </a:lnTo>
                <a:lnTo>
                  <a:pt x="82570" y="1289405"/>
                </a:lnTo>
                <a:lnTo>
                  <a:pt x="50562" y="1222567"/>
                </a:lnTo>
                <a:lnTo>
                  <a:pt x="26109" y="1153805"/>
                </a:lnTo>
                <a:lnTo>
                  <a:pt x="9511" y="1083309"/>
                </a:lnTo>
                <a:lnTo>
                  <a:pt x="1069" y="1011267"/>
                </a:lnTo>
                <a:lnTo>
                  <a:pt x="0" y="974724"/>
                </a:lnTo>
                <a:close/>
              </a:path>
            </a:pathLst>
          </a:custGeom>
          <a:ln w="9524">
            <a:solidFill>
              <a:srgbClr val="FFFFFF"/>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9" name="object 9"/>
          <p:cNvSpPr/>
          <p:nvPr/>
        </p:nvSpPr>
        <p:spPr>
          <a:xfrm>
            <a:off x="1924483" y="2909888"/>
            <a:ext cx="1554480" cy="974725"/>
          </a:xfrm>
          <a:custGeom>
            <a:avLst/>
            <a:gdLst/>
            <a:ahLst/>
            <a:cxnLst/>
            <a:rect l="l" t="t" r="r" b="b"/>
            <a:pathLst>
              <a:path w="1554479" h="974725">
                <a:moveTo>
                  <a:pt x="777201" y="0"/>
                </a:moveTo>
                <a:lnTo>
                  <a:pt x="719198" y="1336"/>
                </a:lnTo>
                <a:lnTo>
                  <a:pt x="662352" y="5284"/>
                </a:lnTo>
                <a:lnTo>
                  <a:pt x="606814" y="11748"/>
                </a:lnTo>
                <a:lnTo>
                  <a:pt x="552735" y="20634"/>
                </a:lnTo>
                <a:lnTo>
                  <a:pt x="500264" y="31848"/>
                </a:lnTo>
                <a:lnTo>
                  <a:pt x="449553" y="45296"/>
                </a:lnTo>
                <a:lnTo>
                  <a:pt x="400750" y="60884"/>
                </a:lnTo>
                <a:lnTo>
                  <a:pt x="354007" y="78517"/>
                </a:lnTo>
                <a:lnTo>
                  <a:pt x="309473" y="98101"/>
                </a:lnTo>
                <a:lnTo>
                  <a:pt x="267300" y="119541"/>
                </a:lnTo>
                <a:lnTo>
                  <a:pt x="227637" y="142745"/>
                </a:lnTo>
                <a:lnTo>
                  <a:pt x="190634" y="167617"/>
                </a:lnTo>
                <a:lnTo>
                  <a:pt x="156442" y="194062"/>
                </a:lnTo>
                <a:lnTo>
                  <a:pt x="125211" y="221988"/>
                </a:lnTo>
                <a:lnTo>
                  <a:pt x="97092" y="251300"/>
                </a:lnTo>
                <a:lnTo>
                  <a:pt x="72235" y="281902"/>
                </a:lnTo>
                <a:lnTo>
                  <a:pt x="50789" y="313702"/>
                </a:lnTo>
                <a:lnTo>
                  <a:pt x="18735" y="380517"/>
                </a:lnTo>
                <a:lnTo>
                  <a:pt x="2131" y="450990"/>
                </a:lnTo>
                <a:lnTo>
                  <a:pt x="0" y="487362"/>
                </a:lnTo>
                <a:lnTo>
                  <a:pt x="2131" y="523735"/>
                </a:lnTo>
                <a:lnTo>
                  <a:pt x="18735" y="594207"/>
                </a:lnTo>
                <a:lnTo>
                  <a:pt x="50789" y="661022"/>
                </a:lnTo>
                <a:lnTo>
                  <a:pt x="72235" y="692822"/>
                </a:lnTo>
                <a:lnTo>
                  <a:pt x="97092" y="723425"/>
                </a:lnTo>
                <a:lnTo>
                  <a:pt x="125211" y="752737"/>
                </a:lnTo>
                <a:lnTo>
                  <a:pt x="156442" y="780663"/>
                </a:lnTo>
                <a:lnTo>
                  <a:pt x="190634" y="807109"/>
                </a:lnTo>
                <a:lnTo>
                  <a:pt x="227637" y="831980"/>
                </a:lnTo>
                <a:lnTo>
                  <a:pt x="267300" y="855184"/>
                </a:lnTo>
                <a:lnTo>
                  <a:pt x="309473" y="876625"/>
                </a:lnTo>
                <a:lnTo>
                  <a:pt x="354007" y="896209"/>
                </a:lnTo>
                <a:lnTo>
                  <a:pt x="400750" y="913841"/>
                </a:lnTo>
                <a:lnTo>
                  <a:pt x="449553" y="929429"/>
                </a:lnTo>
                <a:lnTo>
                  <a:pt x="500264" y="942877"/>
                </a:lnTo>
                <a:lnTo>
                  <a:pt x="552735" y="954091"/>
                </a:lnTo>
                <a:lnTo>
                  <a:pt x="606814" y="962978"/>
                </a:lnTo>
                <a:lnTo>
                  <a:pt x="662352" y="969442"/>
                </a:lnTo>
                <a:lnTo>
                  <a:pt x="719198" y="973389"/>
                </a:lnTo>
                <a:lnTo>
                  <a:pt x="777201" y="974726"/>
                </a:lnTo>
                <a:lnTo>
                  <a:pt x="835205" y="973389"/>
                </a:lnTo>
                <a:lnTo>
                  <a:pt x="892050" y="969442"/>
                </a:lnTo>
                <a:lnTo>
                  <a:pt x="947588" y="962978"/>
                </a:lnTo>
                <a:lnTo>
                  <a:pt x="1001667" y="954091"/>
                </a:lnTo>
                <a:lnTo>
                  <a:pt x="1054138" y="942877"/>
                </a:lnTo>
                <a:lnTo>
                  <a:pt x="1104850" y="929429"/>
                </a:lnTo>
                <a:lnTo>
                  <a:pt x="1153652" y="913841"/>
                </a:lnTo>
                <a:lnTo>
                  <a:pt x="1200396" y="896209"/>
                </a:lnTo>
                <a:lnTo>
                  <a:pt x="1244929" y="876625"/>
                </a:lnTo>
                <a:lnTo>
                  <a:pt x="1287103" y="855184"/>
                </a:lnTo>
                <a:lnTo>
                  <a:pt x="1326766" y="831980"/>
                </a:lnTo>
                <a:lnTo>
                  <a:pt x="1363768" y="807109"/>
                </a:lnTo>
                <a:lnTo>
                  <a:pt x="1397960" y="780663"/>
                </a:lnTo>
                <a:lnTo>
                  <a:pt x="1429191" y="752737"/>
                </a:lnTo>
                <a:lnTo>
                  <a:pt x="1457310" y="723425"/>
                </a:lnTo>
                <a:lnTo>
                  <a:pt x="1482168" y="692822"/>
                </a:lnTo>
                <a:lnTo>
                  <a:pt x="1503614" y="661022"/>
                </a:lnTo>
                <a:lnTo>
                  <a:pt x="1535668" y="594207"/>
                </a:lnTo>
                <a:lnTo>
                  <a:pt x="1552272" y="523735"/>
                </a:lnTo>
                <a:lnTo>
                  <a:pt x="1554403" y="487362"/>
                </a:lnTo>
                <a:lnTo>
                  <a:pt x="1552272" y="450990"/>
                </a:lnTo>
                <a:lnTo>
                  <a:pt x="1535668" y="380517"/>
                </a:lnTo>
                <a:lnTo>
                  <a:pt x="1503614" y="313702"/>
                </a:lnTo>
                <a:lnTo>
                  <a:pt x="1482168" y="281902"/>
                </a:lnTo>
                <a:lnTo>
                  <a:pt x="1457310" y="251300"/>
                </a:lnTo>
                <a:lnTo>
                  <a:pt x="1429191" y="221988"/>
                </a:lnTo>
                <a:lnTo>
                  <a:pt x="1397960" y="194062"/>
                </a:lnTo>
                <a:lnTo>
                  <a:pt x="1363768" y="167617"/>
                </a:lnTo>
                <a:lnTo>
                  <a:pt x="1326766" y="142745"/>
                </a:lnTo>
                <a:lnTo>
                  <a:pt x="1287103" y="119541"/>
                </a:lnTo>
                <a:lnTo>
                  <a:pt x="1244929" y="98101"/>
                </a:lnTo>
                <a:lnTo>
                  <a:pt x="1200396" y="78517"/>
                </a:lnTo>
                <a:lnTo>
                  <a:pt x="1153652" y="60884"/>
                </a:lnTo>
                <a:lnTo>
                  <a:pt x="1104850" y="45296"/>
                </a:lnTo>
                <a:lnTo>
                  <a:pt x="1054138" y="31848"/>
                </a:lnTo>
                <a:lnTo>
                  <a:pt x="1001667" y="20634"/>
                </a:lnTo>
                <a:lnTo>
                  <a:pt x="947588" y="11748"/>
                </a:lnTo>
                <a:lnTo>
                  <a:pt x="892050" y="5284"/>
                </a:lnTo>
                <a:lnTo>
                  <a:pt x="835205" y="1336"/>
                </a:lnTo>
                <a:lnTo>
                  <a:pt x="777201" y="0"/>
                </a:lnTo>
                <a:close/>
              </a:path>
            </a:pathLst>
          </a:custGeom>
          <a:solidFill>
            <a:srgbClr val="73FDFF"/>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0" name="object 10"/>
          <p:cNvSpPr/>
          <p:nvPr/>
        </p:nvSpPr>
        <p:spPr>
          <a:xfrm>
            <a:off x="1924483" y="2909888"/>
            <a:ext cx="1554480" cy="974725"/>
          </a:xfrm>
          <a:custGeom>
            <a:avLst/>
            <a:gdLst/>
            <a:ahLst/>
            <a:cxnLst/>
            <a:rect l="l" t="t" r="r" b="b"/>
            <a:pathLst>
              <a:path w="1554479" h="974725">
                <a:moveTo>
                  <a:pt x="0" y="487362"/>
                </a:moveTo>
                <a:lnTo>
                  <a:pt x="8426" y="415343"/>
                </a:lnTo>
                <a:lnTo>
                  <a:pt x="32905" y="346606"/>
                </a:lnTo>
                <a:lnTo>
                  <a:pt x="72235" y="281903"/>
                </a:lnTo>
                <a:lnTo>
                  <a:pt x="97092" y="251300"/>
                </a:lnTo>
                <a:lnTo>
                  <a:pt x="125212" y="221988"/>
                </a:lnTo>
                <a:lnTo>
                  <a:pt x="156442" y="194062"/>
                </a:lnTo>
                <a:lnTo>
                  <a:pt x="190634" y="167617"/>
                </a:lnTo>
                <a:lnTo>
                  <a:pt x="227637" y="142745"/>
                </a:lnTo>
                <a:lnTo>
                  <a:pt x="267300" y="119541"/>
                </a:lnTo>
                <a:lnTo>
                  <a:pt x="309473" y="98101"/>
                </a:lnTo>
                <a:lnTo>
                  <a:pt x="354007" y="78517"/>
                </a:lnTo>
                <a:lnTo>
                  <a:pt x="400750" y="60884"/>
                </a:lnTo>
                <a:lnTo>
                  <a:pt x="449553" y="45296"/>
                </a:lnTo>
                <a:lnTo>
                  <a:pt x="500264" y="31848"/>
                </a:lnTo>
                <a:lnTo>
                  <a:pt x="552735" y="20634"/>
                </a:lnTo>
                <a:lnTo>
                  <a:pt x="606814" y="11748"/>
                </a:lnTo>
                <a:lnTo>
                  <a:pt x="662352" y="5284"/>
                </a:lnTo>
                <a:lnTo>
                  <a:pt x="719198" y="1336"/>
                </a:lnTo>
                <a:lnTo>
                  <a:pt x="777201" y="0"/>
                </a:lnTo>
                <a:lnTo>
                  <a:pt x="835205" y="1336"/>
                </a:lnTo>
                <a:lnTo>
                  <a:pt x="892050" y="5284"/>
                </a:lnTo>
                <a:lnTo>
                  <a:pt x="947588" y="11748"/>
                </a:lnTo>
                <a:lnTo>
                  <a:pt x="1001667" y="20634"/>
                </a:lnTo>
                <a:lnTo>
                  <a:pt x="1054138" y="31848"/>
                </a:lnTo>
                <a:lnTo>
                  <a:pt x="1104850" y="45296"/>
                </a:lnTo>
                <a:lnTo>
                  <a:pt x="1153653" y="60884"/>
                </a:lnTo>
                <a:lnTo>
                  <a:pt x="1200396" y="78517"/>
                </a:lnTo>
                <a:lnTo>
                  <a:pt x="1244929" y="98101"/>
                </a:lnTo>
                <a:lnTo>
                  <a:pt x="1287103" y="119541"/>
                </a:lnTo>
                <a:lnTo>
                  <a:pt x="1326766" y="142745"/>
                </a:lnTo>
                <a:lnTo>
                  <a:pt x="1363769" y="167617"/>
                </a:lnTo>
                <a:lnTo>
                  <a:pt x="1397960" y="194062"/>
                </a:lnTo>
                <a:lnTo>
                  <a:pt x="1429191" y="221988"/>
                </a:lnTo>
                <a:lnTo>
                  <a:pt x="1457310" y="251300"/>
                </a:lnTo>
                <a:lnTo>
                  <a:pt x="1482168" y="281903"/>
                </a:lnTo>
                <a:lnTo>
                  <a:pt x="1503614" y="313703"/>
                </a:lnTo>
                <a:lnTo>
                  <a:pt x="1535668" y="380517"/>
                </a:lnTo>
                <a:lnTo>
                  <a:pt x="1552271" y="450990"/>
                </a:lnTo>
                <a:lnTo>
                  <a:pt x="1554403" y="487362"/>
                </a:lnTo>
                <a:lnTo>
                  <a:pt x="1552271" y="523735"/>
                </a:lnTo>
                <a:lnTo>
                  <a:pt x="1535668" y="594207"/>
                </a:lnTo>
                <a:lnTo>
                  <a:pt x="1503614" y="661022"/>
                </a:lnTo>
                <a:lnTo>
                  <a:pt x="1482168" y="692822"/>
                </a:lnTo>
                <a:lnTo>
                  <a:pt x="1457310" y="723425"/>
                </a:lnTo>
                <a:lnTo>
                  <a:pt x="1429191" y="752736"/>
                </a:lnTo>
                <a:lnTo>
                  <a:pt x="1397960" y="780662"/>
                </a:lnTo>
                <a:lnTo>
                  <a:pt x="1363769" y="807108"/>
                </a:lnTo>
                <a:lnTo>
                  <a:pt x="1326766" y="831980"/>
                </a:lnTo>
                <a:lnTo>
                  <a:pt x="1287103" y="855183"/>
                </a:lnTo>
                <a:lnTo>
                  <a:pt x="1244929" y="876624"/>
                </a:lnTo>
                <a:lnTo>
                  <a:pt x="1200396" y="896208"/>
                </a:lnTo>
                <a:lnTo>
                  <a:pt x="1153653" y="913841"/>
                </a:lnTo>
                <a:lnTo>
                  <a:pt x="1104850" y="929428"/>
                </a:lnTo>
                <a:lnTo>
                  <a:pt x="1054138" y="942876"/>
                </a:lnTo>
                <a:lnTo>
                  <a:pt x="1001667" y="954091"/>
                </a:lnTo>
                <a:lnTo>
                  <a:pt x="947588" y="962977"/>
                </a:lnTo>
                <a:lnTo>
                  <a:pt x="892050" y="969441"/>
                </a:lnTo>
                <a:lnTo>
                  <a:pt x="835205" y="973388"/>
                </a:lnTo>
                <a:lnTo>
                  <a:pt x="777201" y="974725"/>
                </a:lnTo>
                <a:lnTo>
                  <a:pt x="719198" y="973388"/>
                </a:lnTo>
                <a:lnTo>
                  <a:pt x="662352" y="969441"/>
                </a:lnTo>
                <a:lnTo>
                  <a:pt x="606814" y="962977"/>
                </a:lnTo>
                <a:lnTo>
                  <a:pt x="552735" y="954091"/>
                </a:lnTo>
                <a:lnTo>
                  <a:pt x="500264" y="942876"/>
                </a:lnTo>
                <a:lnTo>
                  <a:pt x="449553" y="929428"/>
                </a:lnTo>
                <a:lnTo>
                  <a:pt x="400750" y="913841"/>
                </a:lnTo>
                <a:lnTo>
                  <a:pt x="354007" y="896208"/>
                </a:lnTo>
                <a:lnTo>
                  <a:pt x="309473" y="876624"/>
                </a:lnTo>
                <a:lnTo>
                  <a:pt x="267300" y="855183"/>
                </a:lnTo>
                <a:lnTo>
                  <a:pt x="227637" y="831980"/>
                </a:lnTo>
                <a:lnTo>
                  <a:pt x="190634" y="807108"/>
                </a:lnTo>
                <a:lnTo>
                  <a:pt x="156442" y="780662"/>
                </a:lnTo>
                <a:lnTo>
                  <a:pt x="125212" y="752736"/>
                </a:lnTo>
                <a:lnTo>
                  <a:pt x="97092" y="723425"/>
                </a:lnTo>
                <a:lnTo>
                  <a:pt x="72235" y="692822"/>
                </a:lnTo>
                <a:lnTo>
                  <a:pt x="50789" y="661022"/>
                </a:lnTo>
                <a:lnTo>
                  <a:pt x="18735" y="594207"/>
                </a:lnTo>
                <a:lnTo>
                  <a:pt x="2131" y="523735"/>
                </a:lnTo>
                <a:lnTo>
                  <a:pt x="0" y="487362"/>
                </a:lnTo>
                <a:close/>
              </a:path>
            </a:pathLst>
          </a:custGeom>
          <a:ln w="9524">
            <a:solidFill>
              <a:srgbClr val="FFFFFF"/>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1" name="object 11"/>
          <p:cNvSpPr txBox="1"/>
          <p:nvPr/>
        </p:nvSpPr>
        <p:spPr>
          <a:xfrm>
            <a:off x="2065759" y="3189478"/>
            <a:ext cx="1244600" cy="391160"/>
          </a:xfrm>
          <a:prstGeom prst="rect">
            <a:avLst/>
          </a:prstGeom>
        </p:spPr>
        <p:txBody>
          <a:bodyPr vert="horz" wrap="square" lIns="0" tIns="12700" rIns="0" bIns="0" rtlCol="0">
            <a:spAutoFit/>
          </a:bodyPr>
          <a:lstStyle/>
          <a:p>
            <a:pPr marL="12700">
              <a:lnSpc>
                <a:spcPct val="100000"/>
              </a:lnSpc>
              <a:spcBef>
                <a:spcPts val="100"/>
              </a:spcBef>
            </a:pPr>
            <a:r>
              <a:rPr sz="2400" b="1" dirty="0">
                <a:latin typeface="微软雅黑" panose="020B0503020204020204" pitchFamily="34" charset="-122"/>
                <a:ea typeface="微软雅黑" panose="020B0503020204020204" pitchFamily="34" charset="-122"/>
                <a:cs typeface="Microsoft JhengHei" panose="020B0604030504040204" charset="-120"/>
              </a:rPr>
              <a:t>业务逻辑</a:t>
            </a:r>
            <a:endParaRPr sz="2400">
              <a:latin typeface="微软雅黑" panose="020B0503020204020204" pitchFamily="34" charset="-122"/>
              <a:ea typeface="微软雅黑" panose="020B0503020204020204" pitchFamily="34" charset="-122"/>
              <a:cs typeface="Microsoft JhengHei" panose="020B0604030504040204" charset="-120"/>
            </a:endParaRPr>
          </a:p>
        </p:txBody>
      </p:sp>
      <p:sp>
        <p:nvSpPr>
          <p:cNvPr id="12" name="object 12"/>
          <p:cNvSpPr txBox="1"/>
          <p:nvPr/>
        </p:nvSpPr>
        <p:spPr>
          <a:xfrm>
            <a:off x="2346323" y="2082476"/>
            <a:ext cx="635000" cy="382156"/>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FFFFFF"/>
                </a:solidFill>
                <a:latin typeface="微软雅黑" panose="020B0503020204020204" pitchFamily="34" charset="-122"/>
                <a:ea typeface="微软雅黑" panose="020B0503020204020204" pitchFamily="34" charset="-122"/>
                <a:cs typeface="Microsoft JhengHei" panose="020B0604030504040204" charset="-120"/>
              </a:rPr>
              <a:t>界</a:t>
            </a:r>
            <a:r>
              <a:rPr lang="zh-CN" altLang="en-US" sz="2400" b="1" dirty="0">
                <a:solidFill>
                  <a:srgbClr val="FFFFFF"/>
                </a:solidFill>
                <a:latin typeface="微软雅黑" panose="020B0503020204020204" pitchFamily="34" charset="-122"/>
                <a:ea typeface="微软雅黑" panose="020B0503020204020204" pitchFamily="34" charset="-122"/>
                <a:cs typeface="Microsoft JhengHei" panose="020B0604030504040204" charset="-120"/>
              </a:rPr>
              <a:t>面</a:t>
            </a:r>
            <a:endParaRPr sz="2400" dirty="0">
              <a:latin typeface="微软雅黑" panose="020B0503020204020204" pitchFamily="34" charset="-122"/>
              <a:ea typeface="微软雅黑" panose="020B0503020204020204" pitchFamily="34" charset="-122"/>
              <a:cs typeface="Microsoft JhengHei" panose="020B0604030504040204" charset="-120"/>
            </a:endParaRPr>
          </a:p>
        </p:txBody>
      </p:sp>
      <p:sp>
        <p:nvSpPr>
          <p:cNvPr id="13" name="object 13"/>
          <p:cNvSpPr txBox="1"/>
          <p:nvPr/>
        </p:nvSpPr>
        <p:spPr>
          <a:xfrm>
            <a:off x="2367541" y="3885299"/>
            <a:ext cx="63500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FFFFFF"/>
                </a:solidFill>
                <a:latin typeface="微软雅黑" panose="020B0503020204020204" pitchFamily="34" charset="-122"/>
                <a:ea typeface="微软雅黑" panose="020B0503020204020204" pitchFamily="34" charset="-122"/>
                <a:cs typeface="Microsoft JhengHei" panose="020B0604030504040204" charset="-120"/>
              </a:rPr>
              <a:t>信息</a:t>
            </a:r>
            <a:endParaRPr sz="2400">
              <a:latin typeface="微软雅黑" panose="020B0503020204020204" pitchFamily="34" charset="-122"/>
              <a:ea typeface="微软雅黑" panose="020B0503020204020204" pitchFamily="34" charset="-122"/>
              <a:cs typeface="Microsoft JhengHei" panose="020B0604030504040204" charset="-120"/>
            </a:endParaRPr>
          </a:p>
        </p:txBody>
      </p:sp>
      <p:sp>
        <p:nvSpPr>
          <p:cNvPr id="14" name="object 14"/>
          <p:cNvSpPr txBox="1"/>
          <p:nvPr/>
        </p:nvSpPr>
        <p:spPr>
          <a:xfrm>
            <a:off x="1319212" y="5170677"/>
            <a:ext cx="2768600" cy="382156"/>
          </a:xfrm>
          <a:prstGeom prst="rect">
            <a:avLst/>
          </a:prstGeom>
        </p:spPr>
        <p:txBody>
          <a:bodyPr vert="horz" wrap="square" lIns="0" tIns="12700" rIns="0" bIns="0" rtlCol="0">
            <a:spAutoFit/>
          </a:bodyPr>
          <a:lstStyle/>
          <a:p>
            <a:pPr marL="12700">
              <a:lnSpc>
                <a:spcPct val="100000"/>
              </a:lnSpc>
              <a:spcBef>
                <a:spcPts val="100"/>
              </a:spcBef>
            </a:pPr>
            <a:r>
              <a:rPr lang="zh-CN" altLang="en-US" sz="2400" b="1" dirty="0">
                <a:latin typeface="微软雅黑" panose="020B0503020204020204" pitchFamily="34" charset="-122"/>
                <a:ea typeface="微软雅黑" panose="020B0503020204020204" pitchFamily="34" charset="-122"/>
                <a:cs typeface="Microsoft JhengHei" panose="020B0604030504040204" charset="-120"/>
              </a:rPr>
              <a:t>面</a:t>
            </a:r>
            <a:r>
              <a:rPr sz="2400" b="1" dirty="0" err="1">
                <a:latin typeface="微软雅黑" panose="020B0503020204020204" pitchFamily="34" charset="-122"/>
                <a:ea typeface="微软雅黑" panose="020B0503020204020204" pitchFamily="34" charset="-122"/>
                <a:cs typeface="Microsoft JhengHei" panose="020B0604030504040204" charset="-120"/>
              </a:rPr>
              <a:t>谈、现有系统分析</a:t>
            </a:r>
            <a:endParaRPr sz="2400" dirty="0">
              <a:latin typeface="微软雅黑" panose="020B0503020204020204" pitchFamily="34" charset="-122"/>
              <a:ea typeface="微软雅黑" panose="020B0503020204020204" pitchFamily="34" charset="-122"/>
              <a:cs typeface="Microsoft JhengHei" panose="020B0604030504040204" charset="-120"/>
            </a:endParaRPr>
          </a:p>
        </p:txBody>
      </p:sp>
      <p:sp>
        <p:nvSpPr>
          <p:cNvPr id="15" name="object 15"/>
          <p:cNvSpPr/>
          <p:nvPr/>
        </p:nvSpPr>
        <p:spPr>
          <a:xfrm>
            <a:off x="2700337" y="1716088"/>
            <a:ext cx="3351529" cy="341630"/>
          </a:xfrm>
          <a:custGeom>
            <a:avLst/>
            <a:gdLst/>
            <a:ahLst/>
            <a:cxnLst/>
            <a:rect l="l" t="t" r="r" b="b"/>
            <a:pathLst>
              <a:path w="3351529" h="341630">
                <a:moveTo>
                  <a:pt x="0" y="341312"/>
                </a:moveTo>
                <a:lnTo>
                  <a:pt x="0" y="0"/>
                </a:lnTo>
                <a:lnTo>
                  <a:pt x="3351211" y="0"/>
                </a:lnTo>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6" name="object 16"/>
          <p:cNvSpPr/>
          <p:nvPr/>
        </p:nvSpPr>
        <p:spPr>
          <a:xfrm>
            <a:off x="6000748" y="1677988"/>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7" name="object 17"/>
          <p:cNvSpPr/>
          <p:nvPr/>
        </p:nvSpPr>
        <p:spPr>
          <a:xfrm>
            <a:off x="2701924" y="4373564"/>
            <a:ext cx="0" cy="782955"/>
          </a:xfrm>
          <a:custGeom>
            <a:avLst/>
            <a:gdLst/>
            <a:ahLst/>
            <a:cxnLst/>
            <a:rect l="l" t="t" r="r" b="b"/>
            <a:pathLst>
              <a:path h="782954">
                <a:moveTo>
                  <a:pt x="0" y="0"/>
                </a:moveTo>
                <a:lnTo>
                  <a:pt x="0" y="782636"/>
                </a:lnTo>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8" name="object 18"/>
          <p:cNvSpPr/>
          <p:nvPr/>
        </p:nvSpPr>
        <p:spPr>
          <a:xfrm>
            <a:off x="2663823" y="5105400"/>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9" name="object 19"/>
          <p:cNvSpPr/>
          <p:nvPr/>
        </p:nvSpPr>
        <p:spPr>
          <a:xfrm>
            <a:off x="3478885" y="3397251"/>
            <a:ext cx="2616200" cy="42545"/>
          </a:xfrm>
          <a:custGeom>
            <a:avLst/>
            <a:gdLst/>
            <a:ahLst/>
            <a:cxnLst/>
            <a:rect l="l" t="t" r="r" b="b"/>
            <a:pathLst>
              <a:path w="2616200" h="42545">
                <a:moveTo>
                  <a:pt x="0" y="0"/>
                </a:moveTo>
                <a:lnTo>
                  <a:pt x="2616203" y="42450"/>
                </a:lnTo>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0" name="object 20"/>
          <p:cNvSpPr/>
          <p:nvPr/>
        </p:nvSpPr>
        <p:spPr>
          <a:xfrm>
            <a:off x="6043677" y="3400781"/>
            <a:ext cx="76835" cy="76200"/>
          </a:xfrm>
          <a:custGeom>
            <a:avLst/>
            <a:gdLst/>
            <a:ahLst/>
            <a:cxnLst/>
            <a:rect l="l" t="t" r="r" b="b"/>
            <a:pathLst>
              <a:path w="76835" h="76200">
                <a:moveTo>
                  <a:pt x="1236" y="0"/>
                </a:moveTo>
                <a:lnTo>
                  <a:pt x="0" y="76191"/>
                </a:lnTo>
                <a:lnTo>
                  <a:pt x="76808" y="39331"/>
                </a:lnTo>
                <a:lnTo>
                  <a:pt x="1236" y="0"/>
                </a:lnTo>
                <a:close/>
              </a:path>
            </a:pathLst>
          </a:custGeom>
          <a:solidFill>
            <a:srgbClr val="0000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3" name="标题 22"/>
          <p:cNvSpPr>
            <a:spLocks noGrp="1"/>
          </p:cNvSpPr>
          <p:nvPr>
            <p:ph type="title"/>
          </p:nvPr>
        </p:nvSpPr>
        <p:spPr/>
        <p:txBody>
          <a:bodyPr/>
          <a:lstStyle/>
          <a:p>
            <a:r>
              <a:rPr lang="zh-CN" altLang="en-US" dirty="0"/>
              <a:t>获取技术选择</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48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77557"/>
    </mc:Choice>
    <mc:Fallback xmlns="">
      <p:transition spd="slow" advTm="77557"/>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以下哪种需求获取方法是面向创新型产品的？</a:t>
            </a:r>
          </a:p>
        </p:txBody>
      </p:sp>
      <p:sp>
        <p:nvSpPr>
          <p:cNvPr id="5" name="文本框 4"/>
          <p:cNvSpPr txBox="1"/>
          <p:nvPr>
            <p:custDataLst>
              <p:tags r:id="rId3"/>
            </p:custDataLst>
          </p:nvPr>
        </p:nvSpPr>
        <p:spPr>
          <a:xfrm>
            <a:off x="3025775" y="2186974"/>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竞争性需求分析</a:t>
            </a:r>
          </a:p>
        </p:txBody>
      </p:sp>
      <p:sp>
        <p:nvSpPr>
          <p:cNvPr id="6" name="文本框 5"/>
          <p:cNvSpPr txBox="1"/>
          <p:nvPr>
            <p:custDataLst>
              <p:tags r:id="rId4"/>
            </p:custDataLst>
          </p:nvPr>
        </p:nvSpPr>
        <p:spPr>
          <a:xfrm>
            <a:off x="3025775" y="3044224"/>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A/B</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测试</a:t>
            </a:r>
          </a:p>
        </p:txBody>
      </p:sp>
      <p:sp>
        <p:nvSpPr>
          <p:cNvPr id="7" name="文本框 6"/>
          <p:cNvSpPr txBox="1"/>
          <p:nvPr>
            <p:custDataLst>
              <p:tags r:id="rId5"/>
            </p:custDataLst>
          </p:nvPr>
        </p:nvSpPr>
        <p:spPr>
          <a:xfrm>
            <a:off x="3025775" y="3901474"/>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用户行为数据采集</a:t>
            </a:r>
          </a:p>
        </p:txBody>
      </p:sp>
      <p:sp>
        <p:nvSpPr>
          <p:cNvPr id="8" name="文本框 7"/>
          <p:cNvSpPr txBox="1"/>
          <p:nvPr>
            <p:custDataLst>
              <p:tags r:id="rId6"/>
            </p:custDataLst>
          </p:nvPr>
        </p:nvSpPr>
        <p:spPr>
          <a:xfrm>
            <a:off x="3025775" y="4758724"/>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可用性分析</a:t>
            </a:r>
          </a:p>
        </p:txBody>
      </p:sp>
      <p:sp>
        <p:nvSpPr>
          <p:cNvPr id="13" name="矩形: 圆角 12"/>
          <p:cNvSpPr/>
          <p:nvPr>
            <p:custDataLst>
              <p:tags r:id="rId7"/>
            </p:custDataLst>
          </p:nvPr>
        </p:nvSpPr>
        <p:spPr>
          <a:xfrm>
            <a:off x="8073368" y="1451706"/>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sp>
        <p:nvSpPr>
          <p:cNvPr id="2" name="矩形 1"/>
          <p:cNvSpPr/>
          <p:nvPr>
            <p:custDataLst>
              <p:tags r:id="rId8"/>
            </p:custDataLst>
          </p:nvPr>
        </p:nvSpPr>
        <p:spPr>
          <a:xfrm>
            <a:off x="12573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23" name="文本框 22"/>
          <p:cNvSpPr txBox="1"/>
          <p:nvPr>
            <p:custDataLst>
              <p:tags r:id="rId9"/>
            </p:custDataLst>
          </p:nvPr>
        </p:nvSpPr>
        <p:spPr>
          <a:xfrm>
            <a:off x="12661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可为此题添加文本、图片、公式等解析，且需将内容全部放在本区域内。正常使用需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a:t>
            </a:r>
          </a:p>
        </p:txBody>
      </p:sp>
      <p:sp>
        <p:nvSpPr>
          <p:cNvPr id="24" name="文本框 23"/>
          <p:cNvSpPr txBox="1"/>
          <p:nvPr>
            <p:custDataLst>
              <p:tags r:id="rId10"/>
            </p:custDataLst>
          </p:nvPr>
        </p:nvSpPr>
        <p:spPr>
          <a:xfrm>
            <a:off x="12827000" y="1312040"/>
            <a:ext cx="3332480" cy="5012141"/>
          </a:xfrm>
          <a:prstGeom prst="rect">
            <a:avLst/>
          </a:prstGeom>
          <a:noFill/>
        </p:spPr>
        <p:txBody>
          <a:bodyPr vert="horz" rtlCol="0" anchor="t" anchorCtr="0">
            <a:spAutoFit/>
          </a:bodyPr>
          <a:lstStyle/>
          <a:p>
            <a:pPr marL="317500" marR="0" lvl="0" indent="-304800" algn="l" defTabSz="914400" rtl="0" eaLnBrk="1" fontAlgn="auto" latinLnBrk="0" hangingPunct="1">
              <a:lnSpc>
                <a:spcPct val="100000"/>
              </a:lnSpc>
              <a:spcBef>
                <a:spcPts val="100"/>
              </a:spcBef>
              <a:spcAft>
                <a:spcPts val="0"/>
              </a:spcAft>
              <a:buClr>
                <a:srgbClr val="000000"/>
              </a:buClr>
              <a:buSzTx/>
              <a:buFont typeface="Arial" panose="020B0604020202020204"/>
              <a:buChar char="•"/>
              <a:tabLst>
                <a:tab pos="316865" algn="l"/>
                <a:tab pos="317500" algn="l"/>
              </a:tabLst>
              <a:defRPr/>
            </a:pPr>
            <a:r>
              <a:rPr kumimoji="0" lang="en-US" altLang="zh-CN" sz="1600" b="1" i="0" u="none" strike="noStrike" kern="1200" cap="none" spc="-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Need</a:t>
            </a:r>
            <a:r>
              <a:rPr kumimoji="0" lang="zh-CN" altLang="en-US" sz="1600" b="1" i="0" u="none" strike="noStrike" kern="1200" cap="none" spc="-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（需求）</a:t>
            </a:r>
            <a:r>
              <a:rPr kumimoji="0" lang="en-US" altLang="zh-CN" sz="1600" b="0" i="0" u="none" strike="noStrike" kern="1200" cap="none" spc="-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a:t>
            </a: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华文细黑" panose="02010600040101010101" charset="-122"/>
              </a:rPr>
              <a:t>现在市场上未被满足但又急需满足的客户需求是什么？</a:t>
            </a:r>
          </a:p>
          <a:p>
            <a:pPr marL="241300" marR="0" lvl="0" indent="-228600" algn="l" defTabSz="914400" rtl="0" eaLnBrk="1" fontAlgn="auto" latinLnBrk="0" hangingPunct="1">
              <a:lnSpc>
                <a:spcPct val="100000"/>
              </a:lnSpc>
              <a:spcBef>
                <a:spcPts val="2420"/>
              </a:spcBef>
              <a:spcAft>
                <a:spcPts val="0"/>
              </a:spcAft>
              <a:buClrTx/>
              <a:buSzTx/>
              <a:buFont typeface="Arial" panose="020B0604020202020204"/>
              <a:buChar char="•"/>
              <a:tabLst>
                <a:tab pos="241300" algn="l"/>
              </a:tabLst>
              <a:defRPr/>
            </a:pPr>
            <a:r>
              <a:rPr kumimoji="0" lang="en-US" altLang="zh-CN" sz="1600" b="1" i="0" u="none" strike="noStrike" kern="1200" cap="none" spc="-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Approach</a:t>
            </a:r>
            <a:r>
              <a:rPr kumimoji="0" lang="zh-CN" altLang="en-US" sz="1600" b="1" i="0" u="none" strike="noStrike" kern="1200" cap="none" spc="-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（方法）</a:t>
            </a:r>
            <a:r>
              <a:rPr kumimoji="0" lang="en-US" altLang="zh-CN" sz="1600" b="0" i="0" u="none" strike="noStrike" kern="1200" cap="none" spc="-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a:t>
            </a: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华文细黑" panose="02010600040101010101" charset="-122"/>
              </a:rPr>
              <a:t>要满足这种需求，我能够提出什么独特的方法吗？</a:t>
            </a:r>
          </a:p>
          <a:p>
            <a:pPr marL="241300" marR="0" lvl="0" indent="-228600" algn="l" defTabSz="914400" rtl="0" eaLnBrk="1" fontAlgn="auto" latinLnBrk="0" hangingPunct="1">
              <a:lnSpc>
                <a:spcPct val="100000"/>
              </a:lnSpc>
              <a:spcBef>
                <a:spcPts val="2420"/>
              </a:spcBef>
              <a:spcAft>
                <a:spcPts val="0"/>
              </a:spcAft>
              <a:buClrTx/>
              <a:buSzTx/>
              <a:buFont typeface="Arial" panose="020B0604020202020204"/>
              <a:buChar char="•"/>
              <a:tabLst>
                <a:tab pos="241300" algn="l"/>
              </a:tabLst>
              <a:defRPr/>
            </a:pPr>
            <a:r>
              <a:rPr kumimoji="0" lang="en-US" altLang="zh-CN" sz="1600" b="1" i="0" u="none" strike="noStrike" kern="1200" cap="none" spc="-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Benefits</a:t>
            </a:r>
            <a:r>
              <a:rPr kumimoji="0" lang="zh-CN" altLang="en-US" sz="1600" b="1" i="0" u="none" strike="noStrike" kern="1200" cap="none" spc="-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（收益）</a:t>
            </a:r>
            <a:r>
              <a:rPr kumimoji="0" lang="en-US" altLang="zh-CN" sz="1600" b="0" i="0" u="none" strike="noStrike" kern="1200" cap="none" spc="-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a:t>
            </a: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华文细黑" panose="02010600040101010101" charset="-122"/>
              </a:rPr>
              <a:t>该方法给顾客提供的便利是什么？</a:t>
            </a:r>
          </a:p>
          <a:p>
            <a:pPr marL="241300" marR="212090" lvl="0" indent="-228600" algn="l" defTabSz="914400" rtl="0" eaLnBrk="1" fontAlgn="auto" latinLnBrk="0" hangingPunct="1">
              <a:lnSpc>
                <a:spcPct val="149000"/>
              </a:lnSpc>
              <a:spcBef>
                <a:spcPts val="1000"/>
              </a:spcBef>
              <a:spcAft>
                <a:spcPts val="0"/>
              </a:spcAft>
              <a:buClrTx/>
              <a:buSzTx/>
              <a:buFont typeface="Arial" panose="020B0604020202020204"/>
              <a:buChar char="•"/>
              <a:tabLst>
                <a:tab pos="241300" algn="l"/>
              </a:tabLst>
              <a:defRPr/>
            </a:pPr>
            <a:r>
              <a:rPr kumimoji="0" lang="en-US" altLang="zh-CN" sz="1600" b="1" i="0" u="none" strike="noStrike" kern="1200" cap="none" spc="-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Competition</a:t>
            </a:r>
            <a:r>
              <a:rPr kumimoji="0" lang="zh-CN" altLang="en-US" sz="1600" b="1" i="0" u="none" strike="noStrike" kern="1200" cap="none" spc="-3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 </a:t>
            </a:r>
            <a:r>
              <a:rPr kumimoji="0" lang="en-US" altLang="zh-CN" sz="1600" b="1" i="0" u="none" strike="noStrike" kern="1200" cap="none" spc="-10"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a:t>
            </a:r>
            <a:r>
              <a:rPr kumimoji="0" lang="zh-CN" altLang="en-US" sz="1600" b="1" i="0" u="none" strike="noStrike" kern="1200" cap="none" spc="-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竞争</a:t>
            </a:r>
            <a:r>
              <a:rPr kumimoji="0" lang="en-US" altLang="zh-CN" sz="1600" b="1" i="0" u="none" strike="noStrike" kern="1200" cap="none" spc="-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a:t>
            </a:r>
            <a:r>
              <a:rPr kumimoji="0" lang="zh-CN" altLang="en-US" sz="1600" b="1" i="0" u="none" strike="noStrike" kern="1200" cap="none" spc="-3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 </a:t>
            </a: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华文细黑" panose="02010600040101010101" charset="-122"/>
              </a:rPr>
              <a:t>—</a:t>
            </a: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华文细黑" panose="02010600040101010101" charset="-122"/>
              </a:rPr>
              <a:t>对于竞争对手和其他可选择的方案来说，这种单位成本收益的优势在哪里？</a:t>
            </a:r>
          </a:p>
          <a:p>
            <a:pPr marL="0" marR="0" lvl="0" indent="0" algn="l" defTabSz="914400" rtl="0" eaLnBrk="1" fontAlgn="auto" latinLnBrk="0" hangingPunct="1">
              <a:lnSpc>
                <a:spcPct val="100000"/>
              </a:lnSpc>
              <a:spcBef>
                <a:spcPts val="45"/>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a:endParaRPr>
          </a:p>
          <a:p>
            <a:pPr marL="241300" marR="0" lvl="0" indent="-228600" algn="l" defTabSz="914400" rtl="0" eaLnBrk="1" fontAlgn="auto" latinLnBrk="0" hangingPunct="1">
              <a:lnSpc>
                <a:spcPct val="100000"/>
              </a:lnSpc>
              <a:spcBef>
                <a:spcPts val="0"/>
              </a:spcBef>
              <a:spcAft>
                <a:spcPts val="0"/>
              </a:spcAft>
              <a:buClrTx/>
              <a:buSzTx/>
              <a:buFont typeface="Arial" panose="020B0604020202020204"/>
              <a:buChar char="•"/>
              <a:tabLst>
                <a:tab pos="241300" algn="l"/>
              </a:tabLst>
              <a:defRPr/>
            </a:pPr>
            <a:r>
              <a:rPr kumimoji="0" lang="en-US" altLang="zh-CN" sz="1600" b="1" i="0" u="none" strike="noStrike" kern="1200" cap="none" spc="-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Delivery</a:t>
            </a:r>
            <a:r>
              <a:rPr kumimoji="0" lang="zh-CN" altLang="en-US" sz="1600" b="1" i="0" u="none" strike="noStrike" kern="1200" cap="none" spc="-10"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 </a:t>
            </a:r>
            <a:r>
              <a:rPr kumimoji="0" lang="en-US" altLang="zh-CN" sz="1600" b="1" i="0" u="none" strike="noStrike" kern="1200" cap="none" spc="-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a:t>
            </a:r>
            <a:r>
              <a:rPr kumimoji="0" lang="zh-CN" altLang="en-US" sz="1600" b="1" i="0" u="none" strike="noStrike" kern="1200" cap="none" spc="-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推广</a:t>
            </a:r>
            <a:r>
              <a:rPr kumimoji="0" lang="en-US" altLang="zh-CN" sz="1600" b="1" i="0" u="none" strike="noStrike" kern="1200" cap="none" spc="-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 </a:t>
            </a: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华文细黑" panose="02010600040101010101" charset="-122"/>
              </a:rPr>
              <a:t>—</a:t>
            </a:r>
            <a:r>
              <a:rPr kumimoji="0" lang="zh-CN" altLang="en-US" sz="1600" b="0" i="0" u="none" strike="noStrike" kern="1200" cap="none" spc="-5"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华文细黑" panose="02010600040101010101" charset="-122"/>
              </a:rPr>
              <a:t> </a:t>
            </a: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华文细黑" panose="02010600040101010101" charset="-122"/>
              </a:rPr>
              <a:t>产品研发完成后的交付与推广方案？</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华文细黑" panose="02010600040101010101" charset="-122"/>
            </a:endParaRPr>
          </a:p>
        </p:txBody>
      </p:sp>
      <p:grpSp>
        <p:nvGrpSpPr>
          <p:cNvPr id="22" name="组合 21"/>
          <p:cNvGrpSpPr/>
          <p:nvPr>
            <p:custDataLst>
              <p:tags r:id="rId11"/>
            </p:custDataLst>
          </p:nvPr>
        </p:nvGrpSpPr>
        <p:grpSpPr>
          <a:xfrm>
            <a:off x="12585700" y="0"/>
            <a:ext cx="3815080" cy="647700"/>
            <a:chOff x="12585700" y="0"/>
            <a:chExt cx="3815080" cy="647700"/>
          </a:xfrm>
        </p:grpSpPr>
        <p:sp>
          <p:nvSpPr>
            <p:cNvPr id="19" name="RemarkBack"/>
            <p:cNvSpPr/>
            <p:nvPr>
              <p:custDataLst>
                <p:tags r:id="rId22"/>
              </p:custDataLst>
            </p:nvPr>
          </p:nvSpPr>
          <p:spPr>
            <a:xfrm>
              <a:off x="12585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RemarkBlock"/>
            <p:cNvSpPr/>
            <p:nvPr>
              <p:custDataLst>
                <p:tags r:id="rId23"/>
              </p:custDataLst>
            </p:nvPr>
          </p:nvSpPr>
          <p:spPr>
            <a:xfrm>
              <a:off x="12585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RemarkTitleText"/>
            <p:cNvSpPr txBox="1"/>
            <p:nvPr>
              <p:custDataLst>
                <p:tags r:id="rId24"/>
              </p:custDataLst>
            </p:nvPr>
          </p:nvSpPr>
          <p:spPr>
            <a:xfrm>
              <a:off x="12827000" y="0"/>
              <a:ext cx="1905000" cy="635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p>
          </p:txBody>
        </p:sp>
      </p:grpSp>
      <p:grpSp>
        <p:nvGrpSpPr>
          <p:cNvPr id="28" name="组合 27"/>
          <p:cNvGrpSpPr/>
          <p:nvPr>
            <p:custDataLst>
              <p:tags r:id="rId12"/>
            </p:custDataLst>
          </p:nvPr>
        </p:nvGrpSpPr>
        <p:grpSpPr>
          <a:xfrm>
            <a:off x="12585700" y="0"/>
            <a:ext cx="3813810" cy="647700"/>
            <a:chOff x="19820" y="0"/>
            <a:chExt cx="6006" cy="1020"/>
          </a:xfrm>
        </p:grpSpPr>
        <p:sp>
          <p:nvSpPr>
            <p:cNvPr id="25" name="RemarkBack"/>
            <p:cNvSpPr/>
            <p:nvPr>
              <p:custDataLst>
                <p:tags r:id="rId19"/>
              </p:custDataLst>
            </p:nvPr>
          </p:nvSpPr>
          <p:spPr>
            <a:xfrm>
              <a:off x="19820" y="20"/>
              <a:ext cx="6007"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RemarkBlock"/>
            <p:cNvSpPr/>
            <p:nvPr>
              <p:custDataLst>
                <p:tags r:id="rId20"/>
              </p:custDataLst>
            </p:nvPr>
          </p:nvSpPr>
          <p:spPr>
            <a:xfrm>
              <a:off x="19820" y="2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RemarkTitleText"/>
            <p:cNvSpPr txBox="1"/>
            <p:nvPr>
              <p:custDataLst>
                <p:tags r:id="rId21"/>
              </p:custDataLst>
            </p:nvPr>
          </p:nvSpPr>
          <p:spPr>
            <a:xfrm>
              <a:off x="20200" y="0"/>
              <a:ext cx="3000" cy="1000"/>
            </a:xfrm>
            <a:prstGeom prst="rect">
              <a:avLst/>
            </a:prstGeom>
            <a:noFill/>
          </p:spPr>
          <p:txBody>
            <a:bodyPr wrap="none" rtlCol="0" anchor="ctr" anchorCtr="0">
              <a:noAutofit/>
            </a:bodyPr>
            <a:lstStyle/>
            <a:p>
              <a:pPr lvl="0" algn="l">
                <a:buNone/>
              </a:pPr>
              <a:r>
                <a:rPr lang="zh-CN" altLang="en-US">
                  <a:solidFill>
                    <a:srgbClr val="000000"/>
                  </a:solidFill>
                  <a:latin typeface="微软雅黑" panose="020B0503020204020204" pitchFamily="34" charset="-122"/>
                  <a:ea typeface="微软雅黑" panose="020B0503020204020204" pitchFamily="34" charset="-122"/>
                </a:rPr>
                <a:t>答案解析</a:t>
              </a:r>
            </a:p>
          </p:txBody>
        </p:sp>
      </p:grpSp>
      <p:grpSp>
        <p:nvGrpSpPr>
          <p:cNvPr id="18" name="组合 17"/>
          <p:cNvGrpSpPr/>
          <p:nvPr>
            <p:custDataLst>
              <p:tags r:id="rId13"/>
            </p:custDataLst>
          </p:nvPr>
        </p:nvGrpSpPr>
        <p:grpSpPr>
          <a:xfrm>
            <a:off x="0" y="0"/>
            <a:ext cx="12192000" cy="635000"/>
            <a:chOff x="0" y="0"/>
            <a:chExt cx="12192000" cy="635000"/>
          </a:xfrm>
        </p:grpSpPr>
        <p:sp>
          <p:nvSpPr>
            <p:cNvPr id="14" name="TitleBackground"/>
            <p:cNvSpPr/>
            <p:nvPr>
              <p:custDataLst>
                <p:tags r:id="rId15"/>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6"/>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14"/>
            </p:custDataLst>
          </p:nvPr>
        </p:nvPicPr>
        <p:blipFill>
          <a:blip r:embed="rId26">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9" name="文本框 28">
            <a:extLst>
              <a:ext uri="{FF2B5EF4-FFF2-40B4-BE49-F238E27FC236}">
                <a16:creationId xmlns:a16="http://schemas.microsoft.com/office/drawing/2014/main" id="{338719CF-1B34-2F77-CA25-5DF1487EB6A6}"/>
              </a:ext>
            </a:extLst>
          </p:cNvPr>
          <p:cNvSpPr txBox="1"/>
          <p:nvPr/>
        </p:nvSpPr>
        <p:spPr>
          <a:xfrm>
            <a:off x="2235460" y="2308008"/>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下面哪种需求获取技术是上下文无关的？</a:t>
            </a:r>
          </a:p>
        </p:txBody>
      </p:sp>
      <p:sp>
        <p:nvSpPr>
          <p:cNvPr id="5" name="文本框 4"/>
          <p:cNvSpPr txBox="1"/>
          <p:nvPr>
            <p:custDataLst>
              <p:tags r:id="rId3"/>
            </p:custDataLst>
          </p:nvPr>
        </p:nvSpPr>
        <p:spPr>
          <a:xfrm>
            <a:off x="2879835" y="219868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面谈</a:t>
            </a:r>
          </a:p>
        </p:txBody>
      </p:sp>
      <p:sp>
        <p:nvSpPr>
          <p:cNvPr id="6" name="文本框 5"/>
          <p:cNvSpPr txBox="1"/>
          <p:nvPr>
            <p:custDataLst>
              <p:tags r:id="rId4"/>
            </p:custDataLst>
          </p:nvPr>
        </p:nvSpPr>
        <p:spPr>
          <a:xfrm>
            <a:off x="2879835" y="305593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问卷调查</a:t>
            </a:r>
          </a:p>
        </p:txBody>
      </p:sp>
      <p:sp>
        <p:nvSpPr>
          <p:cNvPr id="7" name="文本框 6"/>
          <p:cNvSpPr txBox="1"/>
          <p:nvPr>
            <p:custDataLst>
              <p:tags r:id="rId5"/>
            </p:custDataLst>
          </p:nvPr>
        </p:nvSpPr>
        <p:spPr>
          <a:xfrm>
            <a:off x="2879835" y="391318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头脑风暴</a:t>
            </a:r>
          </a:p>
        </p:txBody>
      </p:sp>
      <p:sp>
        <p:nvSpPr>
          <p:cNvPr id="8" name="文本框 7"/>
          <p:cNvSpPr txBox="1"/>
          <p:nvPr>
            <p:custDataLst>
              <p:tags r:id="rId6"/>
            </p:custDataLst>
          </p:nvPr>
        </p:nvSpPr>
        <p:spPr>
          <a:xfrm>
            <a:off x="2879835" y="477043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参与观察</a:t>
            </a:r>
          </a:p>
        </p:txBody>
      </p:sp>
      <p:sp>
        <p:nvSpPr>
          <p:cNvPr id="13" name="矩形: 圆角 12"/>
          <p:cNvSpPr/>
          <p:nvPr>
            <p:custDataLst>
              <p:tags r:id="rId7"/>
            </p:custDataLst>
          </p:nvPr>
        </p:nvSpPr>
        <p:spPr>
          <a:xfrm>
            <a:off x="7696200" y="150939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BBF2F0D6-D794-B039-7183-9983BFE24207}"/>
              </a:ext>
            </a:extLst>
          </p:cNvPr>
          <p:cNvSpPr txBox="1"/>
          <p:nvPr/>
        </p:nvSpPr>
        <p:spPr>
          <a:xfrm>
            <a:off x="2235460" y="2308008"/>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场景一：现在需要分析大家对在线教学工具的使用情况，用以下哪种需求获取技术比较好？</a:t>
            </a:r>
          </a:p>
        </p:txBody>
      </p:sp>
      <p:sp>
        <p:nvSpPr>
          <p:cNvPr id="5" name="文本框 4"/>
          <p:cNvSpPr txBox="1"/>
          <p:nvPr>
            <p:custDataLst>
              <p:tags r:id="rId3"/>
            </p:custDataLst>
          </p:nvPr>
        </p:nvSpPr>
        <p:spPr>
          <a:xfrm>
            <a:off x="3163613" y="236537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参与调查</a:t>
            </a:r>
          </a:p>
        </p:txBody>
      </p:sp>
      <p:sp>
        <p:nvSpPr>
          <p:cNvPr id="6" name="文本框 5"/>
          <p:cNvSpPr txBox="1"/>
          <p:nvPr>
            <p:custDataLst>
              <p:tags r:id="rId4"/>
            </p:custDataLst>
          </p:nvPr>
        </p:nvSpPr>
        <p:spPr>
          <a:xfrm>
            <a:off x="3163613" y="322262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亲身实践</a:t>
            </a:r>
          </a:p>
        </p:txBody>
      </p:sp>
      <p:sp>
        <p:nvSpPr>
          <p:cNvPr id="7" name="文本框 6"/>
          <p:cNvSpPr txBox="1"/>
          <p:nvPr>
            <p:custDataLst>
              <p:tags r:id="rId5"/>
            </p:custDataLst>
          </p:nvPr>
        </p:nvSpPr>
        <p:spPr>
          <a:xfrm>
            <a:off x="3163613" y="407987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群体诱导</a:t>
            </a:r>
          </a:p>
        </p:txBody>
      </p:sp>
      <p:sp>
        <p:nvSpPr>
          <p:cNvPr id="8" name="文本框 7"/>
          <p:cNvSpPr txBox="1"/>
          <p:nvPr>
            <p:custDataLst>
              <p:tags r:id="rId6"/>
            </p:custDataLst>
          </p:nvPr>
        </p:nvSpPr>
        <p:spPr>
          <a:xfrm>
            <a:off x="3163613" y="493712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问卷调查</a:t>
            </a:r>
          </a:p>
        </p:txBody>
      </p:sp>
      <p:sp>
        <p:nvSpPr>
          <p:cNvPr id="13" name="矩形: 圆角 12"/>
          <p:cNvSpPr/>
          <p:nvPr>
            <p:custDataLst>
              <p:tags r:id="rId7"/>
            </p:custDataLst>
          </p:nvPr>
        </p:nvSpPr>
        <p:spPr>
          <a:xfrm>
            <a:off x="8400394" y="1856582"/>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732AA4D9-372D-B8A8-AF96-D74236004FD1}"/>
              </a:ext>
            </a:extLst>
          </p:cNvPr>
          <p:cNvSpPr txBox="1"/>
          <p:nvPr/>
        </p:nvSpPr>
        <p:spPr>
          <a:xfrm>
            <a:off x="2243383" y="2482115"/>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场景：在淘宝的某个版本中，欲将“淘宝直播”放到首页，吸引更多流量，但不确定这样的改动是否有利于用户体验，如果是你，你会怎么做？</a:t>
            </a:r>
          </a:p>
        </p:txBody>
      </p:sp>
      <p:sp>
        <p:nvSpPr>
          <p:cNvPr id="5" name="矩形: 圆角 4"/>
          <p:cNvSpPr/>
          <p:nvPr>
            <p:custDataLst>
              <p:tags r:id="rId3"/>
            </p:custDataLst>
          </p:nvPr>
        </p:nvSpPr>
        <p:spPr>
          <a:xfrm>
            <a:off x="8547539" y="2563971"/>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1" name="矩形 10"/>
          <p:cNvSpPr/>
          <p:nvPr>
            <p:custDataLst>
              <p:tags r:id="rId4"/>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10" name="组合 9"/>
          <p:cNvGrpSpPr/>
          <p:nvPr>
            <p:custDataLst>
              <p:tags r:id="rId5"/>
            </p:custDataLst>
          </p:nvPr>
        </p:nvGrpSpPr>
        <p:grpSpPr>
          <a:xfrm>
            <a:off x="0" y="0"/>
            <a:ext cx="12192000" cy="635000"/>
            <a:chOff x="0" y="0"/>
            <a:chExt cx="12192000" cy="635000"/>
          </a:xfrm>
        </p:grpSpPr>
        <p:sp>
          <p:nvSpPr>
            <p:cNvPr id="6" name="TitleBackground"/>
            <p:cNvSpPr/>
            <p:nvPr>
              <p:custDataLst>
                <p:tags r:id="rId7"/>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9"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505461" y="1591099"/>
            <a:ext cx="11181077" cy="1028487"/>
          </a:xfrm>
          <a:prstGeom prst="rect">
            <a:avLst/>
          </a:prstGeom>
        </p:spPr>
        <p:txBody>
          <a:bodyPr vert="horz" wrap="square" lIns="0" tIns="12700" rIns="0" bIns="0" rtlCol="0">
            <a:spAutoFit/>
          </a:bodyPr>
          <a:lstStyle/>
          <a:p>
            <a:pPr marL="49530" algn="ctr">
              <a:lnSpc>
                <a:spcPct val="100000"/>
              </a:lnSpc>
              <a:spcBef>
                <a:spcPts val="100"/>
              </a:spcBef>
            </a:pPr>
            <a:r>
              <a:rPr sz="6600" spc="-5" dirty="0"/>
              <a:t>注意事项</a:t>
            </a:r>
          </a:p>
        </p:txBody>
      </p:sp>
      <p:sp>
        <p:nvSpPr>
          <p:cNvPr id="3" name="object 3"/>
          <p:cNvSpPr/>
          <p:nvPr/>
        </p:nvSpPr>
        <p:spPr>
          <a:xfrm>
            <a:off x="3265487" y="2790825"/>
            <a:ext cx="5651500" cy="0"/>
          </a:xfrm>
          <a:custGeom>
            <a:avLst/>
            <a:gdLst/>
            <a:ahLst/>
            <a:cxnLst/>
            <a:rect l="l" t="t" r="r" b="b"/>
            <a:pathLst>
              <a:path w="5651500">
                <a:moveTo>
                  <a:pt x="0" y="0"/>
                </a:moveTo>
                <a:lnTo>
                  <a:pt x="5651498" y="1"/>
                </a:lnTo>
              </a:path>
            </a:pathLst>
          </a:custGeom>
          <a:ln w="28574">
            <a:solidFill>
              <a:srgbClr val="7A4779"/>
            </a:solidFill>
          </a:ln>
        </p:spPr>
        <p:txBody>
          <a:bodyPr wrap="square" lIns="0" tIns="0" rIns="0" bIns="0" rtlCol="0"/>
          <a:lstStyle/>
          <a:p>
            <a:endParaRPr/>
          </a:p>
        </p:txBody>
      </p:sp>
      <p:sp>
        <p:nvSpPr>
          <p:cNvPr id="4" name="object 4"/>
          <p:cNvSpPr/>
          <p:nvPr/>
        </p:nvSpPr>
        <p:spPr>
          <a:xfrm>
            <a:off x="10809893" y="6506825"/>
            <a:ext cx="154548" cy="154548"/>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0528705" y="6506826"/>
            <a:ext cx="154547" cy="154547"/>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11091082" y="6506824"/>
            <a:ext cx="154547" cy="154548"/>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867631" y="577954"/>
            <a:ext cx="154547" cy="154548"/>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1148820" y="577954"/>
            <a:ext cx="154548" cy="154547"/>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1430009" y="577952"/>
            <a:ext cx="154547" cy="154547"/>
          </a:xfrm>
          <a:prstGeom prst="rect">
            <a:avLst/>
          </a:prstGeom>
          <a:blipFill>
            <a:blip r:embed="rId4" cstate="print"/>
            <a:stretch>
              <a:fillRect/>
            </a:stretch>
          </a:blipFill>
        </p:spPr>
        <p:txBody>
          <a:bodyPr wrap="square" lIns="0" tIns="0" rIns="0" bIns="0" rtlCol="0"/>
          <a:lstStyle/>
          <a:p>
            <a:endParaRPr/>
          </a:p>
        </p:txBody>
      </p:sp>
      <p:sp>
        <p:nvSpPr>
          <p:cNvPr id="10" name="object 10"/>
          <p:cNvSpPr txBox="1"/>
          <p:nvPr/>
        </p:nvSpPr>
        <p:spPr>
          <a:xfrm>
            <a:off x="4328707" y="3157061"/>
            <a:ext cx="3525520" cy="391160"/>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华文细黑" panose="02010600040101010101" charset="-122"/>
                <a:cs typeface="华文细黑" panose="02010600040101010101" charset="-122"/>
              </a:rPr>
              <a:t>Requirements</a:t>
            </a:r>
            <a:r>
              <a:rPr sz="2400" b="1" spc="-40" dirty="0">
                <a:latin typeface="华文细黑" panose="02010600040101010101" charset="-122"/>
                <a:cs typeface="华文细黑" panose="02010600040101010101" charset="-122"/>
              </a:rPr>
              <a:t> </a:t>
            </a:r>
            <a:r>
              <a:rPr sz="2400" b="1" spc="-5" dirty="0">
                <a:latin typeface="华文细黑" panose="02010600040101010101" charset="-122"/>
                <a:cs typeface="华文细黑" panose="02010600040101010101" charset="-122"/>
              </a:rPr>
              <a:t>Elicitation</a:t>
            </a:r>
            <a:endParaRPr sz="2400">
              <a:latin typeface="华文细黑" panose="02010600040101010101" charset="-122"/>
              <a:cs typeface="华文细黑" panose="02010600040101010101" charset="-122"/>
            </a:endParaRPr>
          </a:p>
        </p:txBody>
      </p:sp>
      <p:sp>
        <p:nvSpPr>
          <p:cNvPr id="11" name="灯片编号占位符 10"/>
          <p:cNvSpPr>
            <a:spLocks noGrp="1"/>
          </p:cNvSpPr>
          <p:nvPr>
            <p:ph type="sldNum" sz="quarter" idx="7"/>
          </p:nvPr>
        </p:nvSpPr>
        <p:spPr/>
        <p:txBody>
          <a:bodyPr/>
          <a:lstStyle/>
          <a:p>
            <a:fld id="{B6F15528-21DE-4FAA-801E-634DDDAF4B2B}" type="slidenum">
              <a:rPr lang="en-US" altLang="zh-CN" smtClean="0"/>
              <a:t>53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150"/>
    </mc:Choice>
    <mc:Fallback xmlns="">
      <p:transition spd="slow" advTm="6150"/>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30274" y="1425258"/>
            <a:ext cx="7874000" cy="1714500"/>
          </a:xfrm>
          <a:prstGeom prst="rect">
            <a:avLst/>
          </a:prstGeom>
        </p:spPr>
        <p:txBody>
          <a:bodyPr vert="horz" wrap="square" lIns="0" tIns="205740" rIns="0" bIns="0" rtlCol="0">
            <a:spAutoFit/>
          </a:bodyPr>
          <a:lstStyle/>
          <a:p>
            <a:pPr marL="241300" indent="-228600">
              <a:lnSpc>
                <a:spcPct val="100000"/>
              </a:lnSpc>
              <a:spcBef>
                <a:spcPts val="1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倾听干系人的艺术</a:t>
            </a:r>
          </a:p>
          <a:p>
            <a:pPr marL="241300" indent="-228600">
              <a:lnSpc>
                <a:spcPct val="100000"/>
              </a:lnSpc>
              <a:spcBef>
                <a:spcPts val="1520"/>
              </a:spcBef>
              <a:buFont typeface="Arial" panose="020B0604020202020204"/>
              <a:buChar char="•"/>
              <a:tabLst>
                <a:tab pos="241300" algn="l"/>
              </a:tabLst>
            </a:pPr>
            <a:r>
              <a:rPr sz="2400" dirty="0">
                <a:solidFill>
                  <a:srgbClr val="FF0000"/>
                </a:solidFill>
                <a:latin typeface="微软雅黑" panose="020B0503020204020204" pitchFamily="34" charset="-122"/>
                <a:ea typeface="微软雅黑" panose="020B0503020204020204" pitchFamily="34" charset="-122"/>
                <a:cs typeface="华文细黑" panose="02010600040101010101" charset="-122"/>
              </a:rPr>
              <a:t>引导</a:t>
            </a:r>
            <a:r>
              <a:rPr sz="2400" dirty="0">
                <a:latin typeface="微软雅黑" panose="020B0503020204020204" pitchFamily="34" charset="-122"/>
                <a:ea typeface="微软雅黑" panose="020B0503020204020204" pitchFamily="34" charset="-122"/>
                <a:cs typeface="华文细黑" panose="02010600040101010101" charset="-122"/>
              </a:rPr>
              <a:t>干系人的艺术，使得干系人的回答给出有价值的信息</a:t>
            </a:r>
          </a:p>
          <a:p>
            <a:pPr marL="241300" indent="-228600">
              <a:lnSpc>
                <a:spcPct val="100000"/>
              </a:lnSpc>
              <a:spcBef>
                <a:spcPts val="1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协助和鼓励干系人表述他们需求的艺术</a:t>
            </a:r>
          </a:p>
        </p:txBody>
      </p:sp>
      <p:sp>
        <p:nvSpPr>
          <p:cNvPr id="5" name="object 5"/>
          <p:cNvSpPr/>
          <p:nvPr/>
        </p:nvSpPr>
        <p:spPr>
          <a:xfrm>
            <a:off x="2124075" y="3429000"/>
            <a:ext cx="7581898" cy="2679698"/>
          </a:xfrm>
          <a:prstGeom prst="rect">
            <a:avLst/>
          </a:prstGeom>
          <a:blipFill>
            <a:blip r:embed="rId3" cstate="print"/>
            <a:stretch>
              <a:fillRect/>
            </a:stretch>
          </a:blipFill>
        </p:spPr>
        <p:txBody>
          <a:bodyPr wrap="square" lIns="0" tIns="0" rIns="0" bIns="0" rtlCol="0"/>
          <a:lstStyle/>
          <a:p>
            <a:endParaRPr/>
          </a:p>
        </p:txBody>
      </p:sp>
      <p:sp>
        <p:nvSpPr>
          <p:cNvPr id="8" name="标题 7"/>
          <p:cNvSpPr>
            <a:spLocks noGrp="1"/>
          </p:cNvSpPr>
          <p:nvPr>
            <p:ph type="title"/>
          </p:nvPr>
        </p:nvSpPr>
        <p:spPr/>
        <p:txBody>
          <a:bodyPr/>
          <a:lstStyle/>
          <a:p>
            <a:r>
              <a:rPr lang="zh-CN" altLang="en-US" spc="-5" dirty="0"/>
              <a:t>用户需求获取是一门倾听的艺术</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54</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6322"/>
    </mc:Choice>
    <mc:Fallback xmlns="">
      <p:transition spd="slow" advTm="26322"/>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16000" y="1690688"/>
            <a:ext cx="10160000" cy="4117281"/>
          </a:xfrm>
          <a:prstGeom prst="rect">
            <a:avLst/>
          </a:prstGeom>
        </p:spPr>
        <p:txBody>
          <a:bodyPr vert="horz" wrap="square" lIns="0" tIns="154940" rIns="0" bIns="0" rtlCol="0">
            <a:spAutoFit/>
          </a:bodyPr>
          <a:lstStyle/>
          <a:p>
            <a:pPr marL="241300" indent="-228600">
              <a:lnSpc>
                <a:spcPct val="100000"/>
              </a:lnSpc>
              <a:spcBef>
                <a:spcPts val="12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什么是“足够多”的人寿保险</a:t>
            </a:r>
            <a:r>
              <a:rPr sz="2400" spc="-235" dirty="0">
                <a:latin typeface="微软雅黑" panose="020B0503020204020204" pitchFamily="34" charset="-122"/>
                <a:ea typeface="微软雅黑" panose="020B0503020204020204" pitchFamily="34" charset="-122"/>
                <a:cs typeface="华文细黑" panose="02010600040101010101" charset="-122"/>
              </a:rPr>
              <a:t>?</a:t>
            </a:r>
            <a:endParaRPr sz="2400" dirty="0">
              <a:latin typeface="微软雅黑" panose="020B0503020204020204" pitchFamily="34" charset="-122"/>
              <a:ea typeface="微软雅黑" panose="020B0503020204020204" pitchFamily="34" charset="-122"/>
              <a:cs typeface="华文细黑" panose="02010600040101010101" charset="-122"/>
            </a:endParaRPr>
          </a:p>
          <a:p>
            <a:pPr marL="698500" marR="5080" lvl="1" indent="-228600">
              <a:lnSpc>
                <a:spcPct val="139000"/>
              </a:lnSpc>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细黑" panose="02010600040101010101" charset="-122"/>
              </a:rPr>
              <a:t>足够多，所以你晚上可以睡得很安心，即使你不在了你关心的人也能得 到很好的照顾</a:t>
            </a:r>
          </a:p>
          <a:p>
            <a:pPr marL="698500" lvl="1" indent="-228600">
              <a:lnSpc>
                <a:spcPct val="100000"/>
              </a:lnSpc>
              <a:spcBef>
                <a:spcPts val="1120"/>
              </a:spcBef>
              <a:buFont typeface="Arial" panose="020B0604020202020204"/>
              <a:buChar char="•"/>
              <a:tabLst>
                <a:tab pos="698500" algn="l"/>
              </a:tabLst>
            </a:pPr>
            <a:r>
              <a:rPr sz="2400" dirty="0" err="1">
                <a:latin typeface="微软雅黑" panose="020B0503020204020204" pitchFamily="34" charset="-122"/>
                <a:ea typeface="微软雅黑" panose="020B0503020204020204" pitchFamily="34" charset="-122"/>
                <a:cs typeface="华文细黑" panose="02010600040101010101" charset="-122"/>
              </a:rPr>
              <a:t>但还没有太多，以致你因为担心保险支付的问题而无法入睡</a:t>
            </a:r>
            <a:endParaRPr lang="en-US" altLang="zh-CN" sz="2400" dirty="0">
              <a:latin typeface="微软雅黑" panose="020B0503020204020204" pitchFamily="34" charset="-122"/>
              <a:ea typeface="微软雅黑" panose="020B0503020204020204" pitchFamily="34" charset="-122"/>
              <a:cs typeface="华文细黑" panose="02010600040101010101" charset="-122"/>
            </a:endParaRPr>
          </a:p>
          <a:p>
            <a:pPr marL="698500" lvl="1" indent="-228600">
              <a:lnSpc>
                <a:spcPct val="100000"/>
              </a:lnSpc>
              <a:spcBef>
                <a:spcPts val="1120"/>
              </a:spcBef>
              <a:buFont typeface="Arial" panose="020B0604020202020204"/>
              <a:buChar char="•"/>
              <a:tabLst>
                <a:tab pos="698500" algn="l"/>
              </a:tabLst>
            </a:pPr>
            <a:endParaRPr sz="24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12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什么是“足够好”的需求管理？</a:t>
            </a:r>
          </a:p>
          <a:p>
            <a:pPr marL="698500" lvl="1" indent="-228600">
              <a:lnSpc>
                <a:spcPct val="100000"/>
              </a:lnSpc>
              <a:spcBef>
                <a:spcPts val="11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细黑" panose="02010600040101010101" charset="-122"/>
              </a:rPr>
              <a:t>足够好，所以你能让客户满意</a:t>
            </a:r>
          </a:p>
          <a:p>
            <a:pPr marL="698500" lvl="1" indent="-228600">
              <a:lnSpc>
                <a:spcPct val="100000"/>
              </a:lnSpc>
              <a:spcBef>
                <a:spcPts val="11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细黑" panose="02010600040101010101" charset="-122"/>
              </a:rPr>
              <a:t>但还没有超过一定限度，以致项目延期或超支</a:t>
            </a:r>
          </a:p>
        </p:txBody>
      </p:sp>
      <p:sp>
        <p:nvSpPr>
          <p:cNvPr id="7" name="标题 6"/>
          <p:cNvSpPr>
            <a:spLocks noGrp="1"/>
          </p:cNvSpPr>
          <p:nvPr>
            <p:ph type="title"/>
          </p:nvPr>
        </p:nvSpPr>
        <p:spPr/>
        <p:txBody>
          <a:bodyPr/>
          <a:lstStyle/>
          <a:p>
            <a:r>
              <a:rPr lang="zh-CN" altLang="en-US" spc="-5" dirty="0"/>
              <a:t>什么是“足够好”的需求管理</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55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2433"/>
    </mc:Choice>
    <mc:Fallback xmlns="">
      <p:transition spd="slow" advTm="42433"/>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1690688"/>
            <a:ext cx="10566400" cy="2484120"/>
          </a:xfrm>
          <a:prstGeom prst="rect">
            <a:avLst/>
          </a:prstGeom>
        </p:spPr>
        <p:txBody>
          <a:bodyPr vert="horz" wrap="square" lIns="0" tIns="220980" rIns="0" bIns="0" rtlCol="0">
            <a:spAutoFit/>
          </a:bodyPr>
          <a:lstStyle/>
          <a:p>
            <a:pPr marL="241300" indent="-228600">
              <a:lnSpc>
                <a:spcPct val="100000"/>
              </a:lnSpc>
              <a:spcBef>
                <a:spcPts val="17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细黑" panose="02010600040101010101" charset="-122"/>
              </a:rPr>
              <a:t>经验表明很大一部分需求沟通错误是由术语表达存在歧义造成的。</a:t>
            </a:r>
          </a:p>
          <a:p>
            <a:pPr marL="241300" indent="-228600">
              <a:lnSpc>
                <a:spcPct val="100000"/>
              </a:lnSpc>
              <a:spcBef>
                <a:spcPts val="1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细黑" panose="02010600040101010101" charset="-122"/>
              </a:rPr>
              <a:t>确定术语表</a:t>
            </a:r>
          </a:p>
          <a:p>
            <a:pPr marL="698500" lvl="1" indent="-228600">
              <a:lnSpc>
                <a:spcPct val="100000"/>
              </a:lnSpc>
              <a:spcBef>
                <a:spcPts val="1540"/>
              </a:spcBef>
              <a:buFont typeface="Arial" panose="020B0604020202020204"/>
              <a:buChar char="•"/>
              <a:tabLst>
                <a:tab pos="698500" algn="l"/>
              </a:tabLst>
            </a:pPr>
            <a:r>
              <a:rPr sz="2600" dirty="0">
                <a:latin typeface="微软雅黑" panose="020B0503020204020204" pitchFamily="34" charset="-122"/>
                <a:ea typeface="微软雅黑" panose="020B0503020204020204" pitchFamily="34" charset="-122"/>
                <a:cs typeface="华文细黑" panose="02010600040101010101" charset="-122"/>
              </a:rPr>
              <a:t>问这样的问题“X的含义是？”</a:t>
            </a:r>
          </a:p>
          <a:p>
            <a:pPr marL="698500" lvl="1" indent="-228600">
              <a:lnSpc>
                <a:spcPct val="100000"/>
              </a:lnSpc>
              <a:spcBef>
                <a:spcPts val="1580"/>
              </a:spcBef>
              <a:buFont typeface="Arial" panose="020B0604020202020204"/>
              <a:buChar char="•"/>
              <a:tabLst>
                <a:tab pos="698500" algn="l"/>
              </a:tabLst>
            </a:pPr>
            <a:r>
              <a:rPr sz="2600" dirty="0">
                <a:latin typeface="微软雅黑" panose="020B0503020204020204" pitchFamily="34" charset="-122"/>
                <a:ea typeface="微软雅黑" panose="020B0503020204020204" pitchFamily="34" charset="-122"/>
                <a:cs typeface="华文细黑" panose="02010600040101010101" charset="-122"/>
              </a:rPr>
              <a:t>记录所有取得共识的术语定义</a:t>
            </a:r>
          </a:p>
        </p:txBody>
      </p:sp>
      <p:sp>
        <p:nvSpPr>
          <p:cNvPr id="4" name="object 4"/>
          <p:cNvSpPr/>
          <p:nvPr/>
        </p:nvSpPr>
        <p:spPr>
          <a:xfrm>
            <a:off x="2540000" y="4770247"/>
            <a:ext cx="7265986" cy="1117822"/>
          </a:xfrm>
          <a:prstGeom prst="rect">
            <a:avLst/>
          </a:prstGeom>
          <a:blipFill>
            <a:blip r:embed="rId3" cstate="print"/>
            <a:stretch>
              <a:fillRect/>
            </a:stretch>
          </a:blipFill>
        </p:spPr>
        <p:txBody>
          <a:bodyPr wrap="square" lIns="0" tIns="0" rIns="0" bIns="0" rtlCol="0"/>
          <a:lstStyle/>
          <a:p>
            <a:endParaRPr/>
          </a:p>
        </p:txBody>
      </p:sp>
      <p:sp>
        <p:nvSpPr>
          <p:cNvPr id="8" name="标题 7"/>
          <p:cNvSpPr>
            <a:spLocks noGrp="1"/>
          </p:cNvSpPr>
          <p:nvPr>
            <p:ph type="title"/>
          </p:nvPr>
        </p:nvSpPr>
        <p:spPr/>
        <p:txBody>
          <a:bodyPr/>
          <a:lstStyle/>
          <a:p>
            <a:r>
              <a:rPr lang="zh-CN" altLang="en-US" spc="-5" dirty="0"/>
              <a:t>维护术语表</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56</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9933"/>
    </mc:Choice>
    <mc:Fallback xmlns="">
      <p:transition spd="slow" advTm="49933"/>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spc="-5" dirty="0">
                <a:latin typeface="华文细黑" panose="02010600040101010101" charset="-122"/>
                <a:cs typeface="华文细黑" panose="02010600040101010101" charset="-122"/>
              </a:rPr>
              <a:t>采用合适的需求获取技术</a:t>
            </a:r>
            <a:endParaRPr lang="zh-CN" altLang="en-US" dirty="0"/>
          </a:p>
        </p:txBody>
      </p:sp>
      <p:sp>
        <p:nvSpPr>
          <p:cNvPr id="3" name="内容占位符 2"/>
          <p:cNvSpPr>
            <a:spLocks noGrp="1"/>
          </p:cNvSpPr>
          <p:nvPr>
            <p:ph idx="1"/>
          </p:nvPr>
        </p:nvSpPr>
        <p:spPr/>
        <p:txBody>
          <a:bodyPr/>
          <a:lstStyle/>
          <a:p>
            <a:pPr marL="241300">
              <a:lnSpc>
                <a:spcPct val="100000"/>
              </a:lnSpc>
              <a:buFont typeface="Arial" panose="020B0604020202020204"/>
              <a:buChar char="•"/>
              <a:tabLst>
                <a:tab pos="241300" algn="l"/>
              </a:tabLst>
            </a:pPr>
            <a:endParaRPr lang="en-US" altLang="zh-CN" dirty="0">
              <a:latin typeface="华文细黑" panose="02010600040101010101" charset="-122"/>
              <a:cs typeface="华文细黑" panose="02010600040101010101" charset="-122"/>
            </a:endParaRPr>
          </a:p>
          <a:p>
            <a:pPr marL="241300">
              <a:lnSpc>
                <a:spcPct val="100000"/>
              </a:lnSpc>
              <a:buFont typeface="Arial" panose="020B0604020202020204"/>
              <a:buChar char="•"/>
              <a:tabLst>
                <a:tab pos="241300" algn="l"/>
              </a:tabLst>
            </a:pPr>
            <a:r>
              <a:rPr lang="zh-CN" altLang="en-US" dirty="0">
                <a:latin typeface="华文细黑" panose="02010600040101010101" charset="-122"/>
                <a:cs typeface="华文细黑" panose="02010600040101010101" charset="-122"/>
              </a:rPr>
              <a:t>只采用一种获取技术是不够的</a:t>
            </a:r>
          </a:p>
          <a:p>
            <a:pPr marL="241300">
              <a:lnSpc>
                <a:spcPct val="100000"/>
              </a:lnSpc>
              <a:spcBef>
                <a:spcPts val="1640"/>
              </a:spcBef>
              <a:buFont typeface="Arial" panose="020B0604020202020204"/>
              <a:buChar char="•"/>
              <a:tabLst>
                <a:tab pos="241300" algn="l"/>
              </a:tabLst>
            </a:pPr>
            <a:r>
              <a:rPr lang="zh-CN" altLang="en-US" dirty="0">
                <a:latin typeface="华文细黑" panose="02010600040101010101" charset="-122"/>
                <a:cs typeface="华文细黑" panose="02010600040101010101" charset="-122"/>
              </a:rPr>
              <a:t>获取技术的选择与项目参与人相关</a:t>
            </a:r>
          </a:p>
          <a:p>
            <a:pPr marL="241300">
              <a:lnSpc>
                <a:spcPct val="100000"/>
              </a:lnSpc>
              <a:spcBef>
                <a:spcPts val="1640"/>
              </a:spcBef>
              <a:buFont typeface="Arial" panose="020B0604020202020204"/>
              <a:buChar char="•"/>
              <a:tabLst>
                <a:tab pos="241300" algn="l"/>
              </a:tabLst>
            </a:pPr>
            <a:r>
              <a:rPr lang="zh-CN" altLang="en-US" dirty="0">
                <a:latin typeface="华文细黑" panose="02010600040101010101" charset="-122"/>
                <a:cs typeface="华文细黑" panose="02010600040101010101" charset="-122"/>
              </a:rPr>
              <a:t>与待理解的需求相关</a:t>
            </a:r>
          </a:p>
          <a:p>
            <a:pPr marL="241300">
              <a:lnSpc>
                <a:spcPct val="100000"/>
              </a:lnSpc>
              <a:spcBef>
                <a:spcPts val="1740"/>
              </a:spcBef>
              <a:buFont typeface="Arial" panose="020B0604020202020204"/>
              <a:buChar char="•"/>
              <a:tabLst>
                <a:tab pos="241300" algn="l"/>
              </a:tabLst>
            </a:pPr>
            <a:r>
              <a:rPr lang="zh-CN" altLang="en-US" dirty="0">
                <a:latin typeface="华文细黑" panose="02010600040101010101" charset="-122"/>
                <a:cs typeface="华文细黑" panose="02010600040101010101" charset="-122"/>
              </a:rPr>
              <a:t>与具体应用领域相关</a:t>
            </a:r>
          </a:p>
          <a:p>
            <a:endParaRPr lang="zh-CN" altLang="en-US" dirty="0"/>
          </a:p>
        </p:txBody>
      </p:sp>
      <p:sp>
        <p:nvSpPr>
          <p:cNvPr id="5" name="object 3"/>
          <p:cNvSpPr/>
          <p:nvPr/>
        </p:nvSpPr>
        <p:spPr>
          <a:xfrm>
            <a:off x="7277100" y="2406650"/>
            <a:ext cx="3484561" cy="2222500"/>
          </a:xfrm>
          <a:prstGeom prst="rect">
            <a:avLst/>
          </a:prstGeom>
          <a:blipFill>
            <a:blip r:embed="rId3" cstate="print"/>
            <a:stretch>
              <a:fillRect/>
            </a:stretch>
          </a:blipFill>
        </p:spPr>
        <p:txBody>
          <a:bodyPr wrap="square" lIns="0" tIns="0" rIns="0" bIns="0" rtlCol="0"/>
          <a:lstStyle/>
          <a:p>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t>57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6070"/>
    </mc:Choice>
    <mc:Fallback xmlns="">
      <p:transition spd="slow" advTm="26070"/>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562251"/>
            <a:ext cx="9144000" cy="2387600"/>
          </a:xfrm>
        </p:spPr>
        <p:txBody>
          <a:bodyPr>
            <a:normAutofit fontScale="90000"/>
          </a:bodyPr>
          <a:lstStyle/>
          <a:p>
            <a:r>
              <a:rPr lang="zh-CN" altLang="en-US" dirty="0"/>
              <a:t>需求文档</a:t>
            </a:r>
            <a:br>
              <a:rPr lang="en-US" altLang="zh-CN" dirty="0"/>
            </a:br>
            <a:r>
              <a:rPr lang="en-US" altLang="zh-CN" dirty="0"/>
              <a:t>Requirements Documentation</a:t>
            </a:r>
            <a:endParaRPr lang="zh-CN" altLang="en-US" dirty="0"/>
          </a:p>
        </p:txBody>
      </p:sp>
      <p:sp>
        <p:nvSpPr>
          <p:cNvPr id="3" name="副标题 2"/>
          <p:cNvSpPr>
            <a:spLocks noGrp="1"/>
          </p:cNvSpPr>
          <p:nvPr>
            <p:ph type="subTitle" idx="1"/>
          </p:nvPr>
        </p:nvSpPr>
        <p:spPr>
          <a:xfrm>
            <a:off x="1524000" y="4211637"/>
            <a:ext cx="9144000" cy="2130577"/>
          </a:xfrm>
        </p:spPr>
        <p:txBody>
          <a:bodyPr anchor="ctr">
            <a:normAutofit fontScale="92500" lnSpcReduction="20000"/>
          </a:bodyPr>
          <a:lstStyle/>
          <a:p>
            <a:r>
              <a:rPr lang="zh-CN" altLang="en-US" dirty="0"/>
              <a:t>李起成</a:t>
            </a:r>
            <a:endParaRPr lang="en-US" altLang="zh-CN" dirty="0"/>
          </a:p>
          <a:p>
            <a:r>
              <a:rPr lang="en-US" altLang="zh-CN" dirty="0"/>
              <a:t>College of</a:t>
            </a:r>
            <a:r>
              <a:rPr lang="zh-CN" altLang="en-US" dirty="0"/>
              <a:t> </a:t>
            </a:r>
            <a:r>
              <a:rPr lang="en-US" altLang="zh-CN" dirty="0"/>
              <a:t>Computer</a:t>
            </a:r>
            <a:r>
              <a:rPr lang="zh-CN" altLang="en-US" dirty="0"/>
              <a:t> </a:t>
            </a:r>
            <a:r>
              <a:rPr lang="en-US" altLang="zh-CN" dirty="0"/>
              <a:t>Science</a:t>
            </a:r>
          </a:p>
          <a:p>
            <a:r>
              <a:rPr lang="en-US" altLang="zh-CN" dirty="0"/>
              <a:t>Nankai</a:t>
            </a:r>
            <a:r>
              <a:rPr lang="zh-CN" altLang="en-US" dirty="0"/>
              <a:t> </a:t>
            </a:r>
            <a:r>
              <a:rPr lang="en-US" altLang="zh-CN" dirty="0"/>
              <a:t>University</a:t>
            </a:r>
          </a:p>
          <a:p>
            <a:endParaRPr lang="en-US" altLang="zh-CN" dirty="0"/>
          </a:p>
          <a:p>
            <a:r>
              <a:rPr lang="en-US" altLang="zh-CN" i="1" dirty="0"/>
              <a:t>Slides adapted from materials by Prof. </a:t>
            </a:r>
            <a:r>
              <a:rPr lang="en-US" altLang="zh-CN" i="1" dirty="0" err="1"/>
              <a:t>Qiang</a:t>
            </a:r>
            <a:r>
              <a:rPr lang="en-US" altLang="zh-CN" i="1" dirty="0"/>
              <a:t> Liu (Tsing Hua University) and </a:t>
            </a:r>
            <a:r>
              <a:rPr lang="en-US" altLang="en-US" i="1" dirty="0"/>
              <a:t>Ivan </a:t>
            </a:r>
            <a:r>
              <a:rPr lang="en-US" altLang="en-US" i="1" dirty="0" err="1"/>
              <a:t>Marsic</a:t>
            </a:r>
            <a:r>
              <a:rPr lang="en-US" altLang="en-US" i="1" dirty="0"/>
              <a:t> (</a:t>
            </a:r>
            <a:r>
              <a:rPr lang="en-US" altLang="en-US" i="1" dirty="0" err="1"/>
              <a:t>Rugers</a:t>
            </a:r>
            <a:r>
              <a:rPr lang="en-US" altLang="en-US" i="1" dirty="0"/>
              <a:t> University)</a:t>
            </a:r>
            <a:endParaRPr lang="zh-CN" altLang="en-US" i="1" dirty="0"/>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72729" y="225854"/>
            <a:ext cx="1846542" cy="1800378"/>
          </a:xfrm>
          <a:prstGeom prst="rect">
            <a:avLst/>
          </a:prstGeom>
        </p:spPr>
      </p:pic>
    </p:spTree>
    <p:extLst>
      <p:ext uri="{BB962C8B-B14F-4D97-AF65-F5344CB8AC3E}">
        <p14:creationId xmlns:p14="http://schemas.microsoft.com/office/powerpoint/2010/main" val="4265092123"/>
      </p:ext>
    </p:extLst>
  </p:cSld>
  <p:clrMapOvr>
    <a:masterClrMapping/>
  </p:clrMapOvr>
  <mc:AlternateContent xmlns:mc="http://schemas.openxmlformats.org/markup-compatibility/2006" xmlns:p14="http://schemas.microsoft.com/office/powerpoint/2010/main">
    <mc:Choice Requires="p14">
      <p:transition spd="slow" p14:dur="999" advTm="7158"/>
    </mc:Choice>
    <mc:Fallback xmlns="">
      <p:transition spd="slow" advTm="7158"/>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64895" y="1609817"/>
            <a:ext cx="9855200" cy="3848100"/>
          </a:xfrm>
          <a:prstGeom prst="rect">
            <a:avLst/>
          </a:prstGeom>
        </p:spPr>
        <p:txBody>
          <a:bodyPr vert="horz" wrap="square" lIns="0" tIns="220980" rIns="0" bIns="0" rtlCol="0">
            <a:spAutoFit/>
          </a:bodyPr>
          <a:lstStyle/>
          <a:p>
            <a:pPr marL="241300" indent="-228600">
              <a:lnSpc>
                <a:spcPct val="100000"/>
              </a:lnSpc>
              <a:spcBef>
                <a:spcPts val="17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是具有一定法律效力的合同文档</a:t>
            </a:r>
          </a:p>
          <a:p>
            <a:pPr marL="241300" indent="-228600">
              <a:lnSpc>
                <a:spcPct val="100000"/>
              </a:lnSpc>
              <a:spcBef>
                <a:spcPts val="1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清楚地描述软件在什么情况下，需要做什么，以及不能做什么</a:t>
            </a:r>
          </a:p>
          <a:p>
            <a:pPr marL="241300" indent="-228600">
              <a:lnSpc>
                <a:spcPct val="100000"/>
              </a:lnSpc>
              <a:spcBef>
                <a:spcPts val="1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以输入/输出、输入到输出之间的转换方式来描述功能性需求</a:t>
            </a:r>
          </a:p>
          <a:p>
            <a:pPr marL="241300" indent="-228600">
              <a:lnSpc>
                <a:spcPct val="100000"/>
              </a:lnSpc>
              <a:spcBef>
                <a:spcPts val="1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描述经过干系人磋商达成共识的非功能性需求</a:t>
            </a:r>
          </a:p>
          <a:p>
            <a:pPr marL="241300" indent="-228600">
              <a:lnSpc>
                <a:spcPct val="100000"/>
              </a:lnSpc>
              <a:spcBef>
                <a:spcPts val="17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一般参考需求定义模板，覆盖标准模板中定义的所有条目</a:t>
            </a:r>
          </a:p>
          <a:p>
            <a:pPr marL="241300" indent="-228600">
              <a:lnSpc>
                <a:spcPct val="100000"/>
              </a:lnSpc>
              <a:spcBef>
                <a:spcPts val="1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作为后续的软件评估依据和变更的基准</a:t>
            </a:r>
          </a:p>
        </p:txBody>
      </p:sp>
      <p:sp>
        <p:nvSpPr>
          <p:cNvPr id="4" name="object 4"/>
          <p:cNvSpPr/>
          <p:nvPr/>
        </p:nvSpPr>
        <p:spPr>
          <a:xfrm>
            <a:off x="8252352" y="4911877"/>
            <a:ext cx="2185035" cy="1920239"/>
          </a:xfrm>
          <a:custGeom>
            <a:avLst/>
            <a:gdLst/>
            <a:ahLst/>
            <a:cxnLst/>
            <a:rect l="l" t="t" r="r" b="b"/>
            <a:pathLst>
              <a:path w="2185034" h="1920239">
                <a:moveTo>
                  <a:pt x="1647694" y="0"/>
                </a:moveTo>
                <a:lnTo>
                  <a:pt x="768264" y="80878"/>
                </a:lnTo>
                <a:lnTo>
                  <a:pt x="0" y="1018313"/>
                </a:lnTo>
                <a:lnTo>
                  <a:pt x="131843" y="1473740"/>
                </a:lnTo>
                <a:lnTo>
                  <a:pt x="621350" y="1920231"/>
                </a:lnTo>
                <a:lnTo>
                  <a:pt x="1657863" y="1605400"/>
                </a:lnTo>
                <a:lnTo>
                  <a:pt x="2184589" y="674338"/>
                </a:lnTo>
                <a:lnTo>
                  <a:pt x="1647694" y="0"/>
                </a:lnTo>
                <a:close/>
              </a:path>
            </a:pathLst>
          </a:custGeom>
          <a:solidFill>
            <a:srgbClr val="E6E6E6"/>
          </a:solidFill>
        </p:spPr>
        <p:txBody>
          <a:bodyPr wrap="square" lIns="0" tIns="0" rIns="0" bIns="0" rtlCol="0"/>
          <a:lstStyle/>
          <a:p>
            <a:endParaRPr/>
          </a:p>
        </p:txBody>
      </p:sp>
      <p:sp>
        <p:nvSpPr>
          <p:cNvPr id="5" name="object 5"/>
          <p:cNvSpPr/>
          <p:nvPr/>
        </p:nvSpPr>
        <p:spPr>
          <a:xfrm>
            <a:off x="8412601" y="4945012"/>
            <a:ext cx="1906113" cy="1914951"/>
          </a:xfrm>
          <a:prstGeom prst="rect">
            <a:avLst/>
          </a:prstGeom>
          <a:blipFill>
            <a:blip r:embed="rId3" cstate="print"/>
            <a:stretch>
              <a:fillRect/>
            </a:stretch>
          </a:blipFill>
        </p:spPr>
        <p:txBody>
          <a:bodyPr wrap="square" lIns="0" tIns="0" rIns="0" bIns="0" rtlCol="0"/>
          <a:lstStyle/>
          <a:p>
            <a:endParaRPr/>
          </a:p>
        </p:txBody>
      </p:sp>
      <p:sp>
        <p:nvSpPr>
          <p:cNvPr id="8" name="标题 7"/>
          <p:cNvSpPr>
            <a:spLocks noGrp="1"/>
          </p:cNvSpPr>
          <p:nvPr>
            <p:ph type="title"/>
          </p:nvPr>
        </p:nvSpPr>
        <p:spPr>
          <a:xfrm>
            <a:off x="838200" y="111125"/>
            <a:ext cx="10515600" cy="1325563"/>
          </a:xfrm>
        </p:spPr>
        <p:txBody>
          <a:bodyPr/>
          <a:lstStyle/>
          <a:p>
            <a:r>
              <a:rPr lang="zh-CN" altLang="en-US" spc="-5" dirty="0"/>
              <a:t>软件需求规格说明</a:t>
            </a:r>
            <a:r>
              <a:rPr lang="zh-CN" altLang="en-US" dirty="0"/>
              <a:t> </a:t>
            </a:r>
            <a:br>
              <a:rPr lang="en-US" altLang="zh-CN" dirty="0"/>
            </a:br>
            <a:r>
              <a:rPr lang="zh-CN" altLang="en-US" spc="50" dirty="0"/>
              <a:t>（</a:t>
            </a:r>
            <a:r>
              <a:rPr lang="en-US" altLang="zh-CN" spc="50" dirty="0">
                <a:latin typeface="Calibri" panose="020F0502020204030204"/>
                <a:cs typeface="Calibri" panose="020F0502020204030204"/>
              </a:rPr>
              <a:t>Software</a:t>
            </a:r>
            <a:r>
              <a:rPr lang="en-US" altLang="zh-CN" spc="5" dirty="0">
                <a:latin typeface="Calibri" panose="020F0502020204030204"/>
                <a:cs typeface="Calibri" panose="020F0502020204030204"/>
              </a:rPr>
              <a:t> </a:t>
            </a:r>
            <a:r>
              <a:rPr lang="en-US" altLang="zh-CN" spc="-5" dirty="0">
                <a:latin typeface="Calibri" panose="020F0502020204030204"/>
                <a:cs typeface="Calibri" panose="020F0502020204030204"/>
              </a:rPr>
              <a:t>Requirements</a:t>
            </a:r>
            <a:r>
              <a:rPr lang="en-US" altLang="zh-CN" dirty="0">
                <a:latin typeface="Calibri" panose="020F0502020204030204"/>
                <a:cs typeface="Calibri" panose="020F0502020204030204"/>
              </a:rPr>
              <a:t> </a:t>
            </a:r>
            <a:r>
              <a:rPr lang="en-US" altLang="zh-CN" spc="-5" dirty="0">
                <a:latin typeface="Calibri" panose="020F0502020204030204"/>
                <a:cs typeface="Calibri" panose="020F0502020204030204"/>
              </a:rPr>
              <a:t>Speciﬁcation,</a:t>
            </a:r>
            <a:r>
              <a:rPr lang="en-US" altLang="zh-CN" spc="-10" dirty="0">
                <a:latin typeface="Calibri" panose="020F0502020204030204"/>
                <a:cs typeface="Calibri" panose="020F0502020204030204"/>
              </a:rPr>
              <a:t> </a:t>
            </a:r>
            <a:r>
              <a:rPr lang="en-US" altLang="zh-CN" spc="-5" dirty="0">
                <a:latin typeface="Calibri" panose="020F0502020204030204"/>
                <a:cs typeface="Calibri" panose="020F0502020204030204"/>
              </a:rPr>
              <a:t>SRS)</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59</a:t>
            </a:fld>
            <a:endParaRPr lang="zh-CN" altLang="en-US"/>
          </a:p>
        </p:txBody>
      </p:sp>
    </p:spTree>
    <p:extLst>
      <p:ext uri="{BB962C8B-B14F-4D97-AF65-F5344CB8AC3E}">
        <p14:creationId xmlns:p14="http://schemas.microsoft.com/office/powerpoint/2010/main" val="553205771"/>
      </p:ext>
    </p:extLst>
  </p:cSld>
  <p:clrMapOvr>
    <a:masterClrMapping/>
  </p:clrMapOvr>
  <mc:AlternateContent xmlns:mc="http://schemas.openxmlformats.org/markup-compatibility/2006" xmlns:p14="http://schemas.microsoft.com/office/powerpoint/2010/main">
    <mc:Choice Requires="p14">
      <p:transition spd="slow" p14:dur="2000" advTm="63244"/>
    </mc:Choice>
    <mc:Fallback xmlns="">
      <p:transition spd="slow" advTm="63244"/>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17600" y="1520488"/>
            <a:ext cx="5537200" cy="4527550"/>
          </a:xfrm>
          <a:prstGeom prst="rect">
            <a:avLst/>
          </a:prstGeom>
        </p:spPr>
        <p:txBody>
          <a:bodyPr vert="horz" wrap="square" lIns="0" tIns="155575" rIns="0" bIns="0" rtlCol="0">
            <a:spAutoFit/>
          </a:bodyPr>
          <a:lstStyle/>
          <a:p>
            <a:pPr marL="241300" indent="-228600">
              <a:lnSpc>
                <a:spcPct val="100000"/>
              </a:lnSpc>
              <a:spcBef>
                <a:spcPts val="1225"/>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文档需要有逻辑组织结构</a:t>
            </a:r>
          </a:p>
          <a:p>
            <a:pPr marL="698500" lvl="1" indent="-228600">
              <a:lnSpc>
                <a:spcPct val="100000"/>
              </a:lnSpc>
              <a:spcBef>
                <a:spcPts val="94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例如：参照</a:t>
            </a:r>
            <a:r>
              <a:rPr sz="2000" dirty="0">
                <a:latin typeface="微软雅黑" panose="020B0503020204020204" pitchFamily="34" charset="-122"/>
                <a:ea typeface="微软雅黑" panose="020B0503020204020204" pitchFamily="34" charset="-122"/>
                <a:cs typeface="Calibri" panose="020F0502020204030204"/>
              </a:rPr>
              <a:t>IEE</a:t>
            </a:r>
            <a:r>
              <a:rPr sz="2000" spc="-5" dirty="0">
                <a:latin typeface="微软雅黑" panose="020B0503020204020204" pitchFamily="34" charset="-122"/>
                <a:ea typeface="微软雅黑" panose="020B0503020204020204" pitchFamily="34" charset="-122"/>
                <a:cs typeface="Calibri" panose="020F0502020204030204"/>
              </a:rPr>
              <a:t>E</a:t>
            </a:r>
            <a:r>
              <a:rPr sz="2000" dirty="0">
                <a:latin typeface="微软雅黑" panose="020B0503020204020204" pitchFamily="34" charset="-122"/>
                <a:ea typeface="微软雅黑" panose="020B0503020204020204" pitchFamily="34" charset="-122"/>
                <a:cs typeface="华文新魏" panose="02010800040101010101" charset="-122"/>
              </a:rPr>
              <a:t>的模板</a:t>
            </a:r>
          </a:p>
          <a:p>
            <a:pPr marL="241300" indent="-228600">
              <a:lnSpc>
                <a:spcPct val="100000"/>
              </a:lnSpc>
              <a:spcBef>
                <a:spcPts val="158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典型的组织形式包括</a:t>
            </a:r>
          </a:p>
          <a:p>
            <a:pPr marL="698500" lvl="1" indent="-228600">
              <a:lnSpc>
                <a:spcPct val="100000"/>
              </a:lnSpc>
              <a:spcBef>
                <a:spcPts val="94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按系统能够响应的各种外部环境情况来组织</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按系统特征来组织</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按系统的响应方式来组织</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按所管理的外部数据对象来组织</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按用户类型来组织</a:t>
            </a:r>
          </a:p>
          <a:p>
            <a:pPr marL="698500" lvl="1" indent="-228600">
              <a:lnSpc>
                <a:spcPct val="100000"/>
              </a:lnSpc>
              <a:spcBef>
                <a:spcPts val="9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按软件的工作模式来组织</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按子系统的划分来组织</a:t>
            </a:r>
          </a:p>
        </p:txBody>
      </p:sp>
      <p:sp>
        <p:nvSpPr>
          <p:cNvPr id="4" name="object 4"/>
          <p:cNvSpPr/>
          <p:nvPr/>
        </p:nvSpPr>
        <p:spPr>
          <a:xfrm>
            <a:off x="7305117" y="1647488"/>
            <a:ext cx="3225798" cy="3809998"/>
          </a:xfrm>
          <a:prstGeom prst="rect">
            <a:avLst/>
          </a:prstGeom>
          <a:blipFill>
            <a:blip r:embed="rId3" cstate="print"/>
            <a:stretch>
              <a:fillRect/>
            </a:stretch>
          </a:blipFill>
        </p:spPr>
        <p:txBody>
          <a:bodyPr wrap="square" lIns="0" tIns="0" rIns="0" bIns="0" rtlCol="0"/>
          <a:lstStyle/>
          <a:p>
            <a:endParaRPr/>
          </a:p>
        </p:txBody>
      </p:sp>
      <p:sp>
        <p:nvSpPr>
          <p:cNvPr id="7" name="标题 6"/>
          <p:cNvSpPr>
            <a:spLocks noGrp="1"/>
          </p:cNvSpPr>
          <p:nvPr>
            <p:ph type="title"/>
          </p:nvPr>
        </p:nvSpPr>
        <p:spPr/>
        <p:txBody>
          <a:bodyPr/>
          <a:lstStyle/>
          <a:p>
            <a:r>
              <a:rPr lang="zh-CN" altLang="en-US" spc="-5" dirty="0"/>
              <a:t>需求文档的组织形式</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60</a:t>
            </a:fld>
            <a:endParaRPr lang="zh-CN" altLang="en-US"/>
          </a:p>
        </p:txBody>
      </p:sp>
    </p:spTree>
    <p:extLst>
      <p:ext uri="{BB962C8B-B14F-4D97-AF65-F5344CB8AC3E}">
        <p14:creationId xmlns:p14="http://schemas.microsoft.com/office/powerpoint/2010/main" val="3386433075"/>
      </p:ext>
    </p:extLst>
  </p:cSld>
  <p:clrMapOvr>
    <a:masterClrMapping/>
  </p:clrMapOvr>
  <mc:AlternateContent xmlns:mc="http://schemas.openxmlformats.org/markup-compatibility/2006" xmlns:p14="http://schemas.microsoft.com/office/powerpoint/2010/main">
    <mc:Choice Requires="p14">
      <p:transition spd="slow" p14:dur="2000" advTm="171879"/>
    </mc:Choice>
    <mc:Fallback xmlns="">
      <p:transition spd="slow" advTm="171879"/>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99160" y="193040"/>
            <a:ext cx="9097645" cy="689610"/>
          </a:xfrm>
          <a:prstGeom prst="rect">
            <a:avLst/>
          </a:prstGeom>
        </p:spPr>
        <p:txBody>
          <a:bodyPr vert="horz" wrap="square" lIns="0" tIns="12700" rIns="0" bIns="0" rtlCol="0">
            <a:spAutoFit/>
          </a:bodyPr>
          <a:lstStyle/>
          <a:p>
            <a:pPr marL="12700">
              <a:lnSpc>
                <a:spcPct val="100000"/>
              </a:lnSpc>
              <a:spcBef>
                <a:spcPts val="100"/>
              </a:spcBef>
            </a:pPr>
            <a:r>
              <a:rPr spc="-5" dirty="0">
                <a:latin typeface="微软雅黑" panose="020B0503020204020204" pitchFamily="34" charset="-122"/>
                <a:ea typeface="微软雅黑" panose="020B0503020204020204" pitchFamily="34" charset="-122"/>
              </a:rPr>
              <a:t>软件需求规格说明</a:t>
            </a:r>
            <a:r>
              <a:rPr lang="en-US" spc="-5" dirty="0">
                <a:latin typeface="微软雅黑" panose="020B0503020204020204" pitchFamily="34" charset="-122"/>
                <a:ea typeface="微软雅黑" panose="020B0503020204020204" pitchFamily="34" charset="-122"/>
              </a:rPr>
              <a:t>  </a:t>
            </a:r>
            <a:r>
              <a:rPr b="1" i="0" spc="-5" dirty="0">
                <a:latin typeface="微软雅黑" panose="020B0503020204020204" pitchFamily="34" charset="-122"/>
                <a:ea typeface="微软雅黑" panose="020B0503020204020204" pitchFamily="34" charset="-122"/>
                <a:cs typeface="Bookman Old Style" panose="02050604050505020204"/>
              </a:rPr>
              <a:t>SRS</a:t>
            </a:r>
            <a:r>
              <a:rPr spc="-5" dirty="0">
                <a:latin typeface="微软雅黑" panose="020B0503020204020204" pitchFamily="34" charset="-122"/>
                <a:ea typeface="微软雅黑" panose="020B0503020204020204" pitchFamily="34" charset="-122"/>
              </a:rPr>
              <a:t>的风格</a:t>
            </a:r>
          </a:p>
        </p:txBody>
      </p:sp>
      <p:sp>
        <p:nvSpPr>
          <p:cNvPr id="3" name="object 3"/>
          <p:cNvSpPr txBox="1"/>
          <p:nvPr/>
        </p:nvSpPr>
        <p:spPr>
          <a:xfrm>
            <a:off x="899477" y="1281899"/>
            <a:ext cx="5245100" cy="2814320"/>
          </a:xfrm>
          <a:prstGeom prst="rect">
            <a:avLst/>
          </a:prstGeom>
        </p:spPr>
        <p:txBody>
          <a:bodyPr vert="horz" wrap="square" lIns="0" tIns="151765" rIns="0" bIns="0" rtlCol="0">
            <a:spAutoFit/>
          </a:bodyPr>
          <a:lstStyle/>
          <a:p>
            <a:pPr marL="241300" indent="-228600">
              <a:lnSpc>
                <a:spcPct val="100000"/>
              </a:lnSpc>
              <a:spcBef>
                <a:spcPts val="1195"/>
              </a:spcBef>
              <a:buFont typeface="Arial" panose="020B0604020202020204"/>
              <a:buChar char="•"/>
              <a:tabLst>
                <a:tab pos="241300" algn="l"/>
              </a:tabLst>
            </a:pPr>
            <a:r>
              <a:rPr sz="2400" dirty="0">
                <a:solidFill>
                  <a:srgbClr val="FF0000"/>
                </a:solidFill>
                <a:latin typeface="微软雅黑" panose="020B0503020204020204" pitchFamily="34" charset="-122"/>
                <a:ea typeface="微软雅黑" panose="020B0503020204020204" pitchFamily="34" charset="-122"/>
                <a:cs typeface="华文新魏" panose="02010800040101010101" charset="-122"/>
              </a:rPr>
              <a:t>描述性的自然语言文本</a:t>
            </a:r>
            <a:endParaRPr sz="2400" dirty="0">
              <a:latin typeface="微软雅黑" panose="020B0503020204020204" pitchFamily="34" charset="-122"/>
              <a:ea typeface="微软雅黑" panose="020B0503020204020204" pitchFamily="34" charset="-122"/>
              <a:cs typeface="华文新魏" panose="02010800040101010101" charset="-122"/>
            </a:endParaRPr>
          </a:p>
          <a:p>
            <a:pPr marL="698500" lvl="1" indent="-228600">
              <a:lnSpc>
                <a:spcPct val="100000"/>
              </a:lnSpc>
              <a:spcBef>
                <a:spcPts val="960"/>
              </a:spcBef>
              <a:buFont typeface="Arial" panose="020B0604020202020204"/>
              <a:buChar char="•"/>
              <a:tabLst>
                <a:tab pos="697865" algn="l"/>
                <a:tab pos="698500" algn="l"/>
              </a:tabLst>
            </a:pPr>
            <a:r>
              <a:rPr sz="2100" dirty="0">
                <a:latin typeface="微软雅黑" panose="020B0503020204020204" pitchFamily="34" charset="-122"/>
                <a:ea typeface="微软雅黑" panose="020B0503020204020204" pitchFamily="34" charset="-122"/>
                <a:cs typeface="华文新魏" panose="02010800040101010101" charset="-122"/>
              </a:rPr>
              <a:t>用户故事</a:t>
            </a:r>
          </a:p>
          <a:p>
            <a:pPr marL="241300" indent="-228600">
              <a:lnSpc>
                <a:spcPct val="100000"/>
              </a:lnSpc>
              <a:spcBef>
                <a:spcPts val="154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从</a:t>
            </a:r>
            <a:r>
              <a:rPr sz="2400" dirty="0">
                <a:solidFill>
                  <a:srgbClr val="FF0000"/>
                </a:solidFill>
                <a:latin typeface="微软雅黑" panose="020B0503020204020204" pitchFamily="34" charset="-122"/>
                <a:ea typeface="微软雅黑" panose="020B0503020204020204" pitchFamily="34" charset="-122"/>
                <a:cs typeface="华文新魏" panose="02010800040101010101" charset="-122"/>
              </a:rPr>
              <a:t>用例模型</a:t>
            </a:r>
            <a:r>
              <a:rPr sz="2400" dirty="0">
                <a:latin typeface="微软雅黑" panose="020B0503020204020204" pitchFamily="34" charset="-122"/>
                <a:ea typeface="微软雅黑" panose="020B0503020204020204" pitchFamily="34" charset="-122"/>
                <a:cs typeface="华文新魏" panose="02010800040101010101" charset="-122"/>
              </a:rPr>
              <a:t>产生</a:t>
            </a:r>
          </a:p>
          <a:p>
            <a:pPr marL="698500" lvl="1" indent="-228600">
              <a:lnSpc>
                <a:spcPct val="100000"/>
              </a:lnSpc>
              <a:spcBef>
                <a:spcPts val="1060"/>
              </a:spcBef>
              <a:buFont typeface="Arial" panose="020B0604020202020204"/>
              <a:buChar char="•"/>
              <a:tabLst>
                <a:tab pos="697865" algn="l"/>
                <a:tab pos="698500" algn="l"/>
              </a:tabLst>
            </a:pPr>
            <a:r>
              <a:rPr sz="2100" dirty="0">
                <a:latin typeface="微软雅黑" panose="020B0503020204020204" pitchFamily="34" charset="-122"/>
                <a:ea typeface="微软雅黑" panose="020B0503020204020204" pitchFamily="34" charset="-122"/>
                <a:cs typeface="华文新魏" panose="02010800040101010101" charset="-122"/>
              </a:rPr>
              <a:t>用例模型与需求转化可看成可逆的过程</a:t>
            </a:r>
          </a:p>
          <a:p>
            <a:pPr marL="698500" marR="5080" lvl="1" indent="-228600">
              <a:lnSpc>
                <a:spcPct val="119000"/>
              </a:lnSpc>
              <a:spcBef>
                <a:spcPts val="500"/>
              </a:spcBef>
              <a:buFont typeface="Arial" panose="020B0604020202020204"/>
              <a:buChar char="•"/>
              <a:tabLst>
                <a:tab pos="697865" algn="l"/>
                <a:tab pos="698500" algn="l"/>
              </a:tabLst>
            </a:pPr>
            <a:r>
              <a:rPr sz="2100" dirty="0">
                <a:latin typeface="微软雅黑" panose="020B0503020204020204" pitchFamily="34" charset="-122"/>
                <a:ea typeface="微软雅黑" panose="020B0503020204020204" pitchFamily="34" charset="-122"/>
                <a:cs typeface="华文新魏" panose="02010800040101010101" charset="-122"/>
              </a:rPr>
              <a:t>如果需求模型以用例的形式表示，我们 可以逆向生成需求的完整集合</a:t>
            </a:r>
          </a:p>
        </p:txBody>
      </p:sp>
      <p:sp>
        <p:nvSpPr>
          <p:cNvPr id="4" name="object 4"/>
          <p:cNvSpPr txBox="1"/>
          <p:nvPr/>
        </p:nvSpPr>
        <p:spPr>
          <a:xfrm>
            <a:off x="6863715" y="1356510"/>
            <a:ext cx="4445000" cy="3597267"/>
          </a:xfrm>
          <a:prstGeom prst="rect">
            <a:avLst/>
          </a:prstGeom>
        </p:spPr>
        <p:txBody>
          <a:bodyPr vert="horz" wrap="square" lIns="0" tIns="151765" rIns="0" bIns="0" rtlCol="0">
            <a:spAutoFit/>
          </a:bodyPr>
          <a:lstStyle/>
          <a:p>
            <a:pPr marL="241300" indent="-228600">
              <a:lnSpc>
                <a:spcPct val="100000"/>
              </a:lnSpc>
              <a:spcBef>
                <a:spcPts val="1195"/>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从需求数据库中生成</a:t>
            </a:r>
          </a:p>
          <a:p>
            <a:pPr marL="698500" marR="5080" lvl="1" indent="-228600">
              <a:lnSpc>
                <a:spcPct val="119000"/>
              </a:lnSpc>
              <a:spcBef>
                <a:spcPts val="480"/>
              </a:spcBef>
              <a:buFont typeface="Arial" panose="020B0604020202020204"/>
              <a:buChar char="•"/>
              <a:tabLst>
                <a:tab pos="697865" algn="l"/>
                <a:tab pos="698500" algn="l"/>
              </a:tabLst>
            </a:pPr>
            <a:r>
              <a:rPr sz="2100" dirty="0">
                <a:latin typeface="微软雅黑" panose="020B0503020204020204" pitchFamily="34" charset="-122"/>
                <a:ea typeface="微软雅黑" panose="020B0503020204020204" pitchFamily="34" charset="-122"/>
                <a:cs typeface="华文新魏" panose="02010800040101010101" charset="-122"/>
              </a:rPr>
              <a:t>商业需求数据库有内置的功能来 生成经过筛选的需求规格说明</a:t>
            </a:r>
          </a:p>
          <a:p>
            <a:pPr marL="698500" marR="5080" lvl="1" indent="-228600">
              <a:lnSpc>
                <a:spcPct val="119000"/>
              </a:lnSpc>
              <a:spcBef>
                <a:spcPts val="605"/>
              </a:spcBef>
              <a:buFont typeface="Arial" panose="020B0604020202020204"/>
              <a:buChar char="•"/>
              <a:tabLst>
                <a:tab pos="697865" algn="l"/>
                <a:tab pos="698500" algn="l"/>
              </a:tabLst>
            </a:pPr>
            <a:r>
              <a:rPr sz="2100" dirty="0">
                <a:latin typeface="微软雅黑" panose="020B0503020204020204" pitchFamily="34" charset="-122"/>
                <a:ea typeface="微软雅黑" panose="020B0503020204020204" pitchFamily="34" charset="-122"/>
                <a:cs typeface="华文新魏" panose="02010800040101010101" charset="-122"/>
              </a:rPr>
              <a:t>从产品线需求规格数据库中生成 特定产品的需求规格说明</a:t>
            </a:r>
          </a:p>
          <a:p>
            <a:pPr marL="241300" indent="-228600">
              <a:lnSpc>
                <a:spcPct val="100000"/>
              </a:lnSpc>
              <a:spcBef>
                <a:spcPts val="154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从混合模型中生成</a:t>
            </a:r>
          </a:p>
          <a:p>
            <a:pPr marL="698500" lvl="1" indent="-228600">
              <a:lnSpc>
                <a:spcPct val="100000"/>
              </a:lnSpc>
              <a:spcBef>
                <a:spcPts val="1060"/>
              </a:spcBef>
              <a:buClr>
                <a:srgbClr val="FF0000"/>
              </a:buClr>
              <a:buFont typeface="Arial" panose="020B0604020202020204"/>
              <a:buChar char="•"/>
              <a:tabLst>
                <a:tab pos="697865" algn="l"/>
                <a:tab pos="698500" algn="l"/>
              </a:tabLst>
            </a:pPr>
            <a:r>
              <a:rPr sz="2100" dirty="0">
                <a:solidFill>
                  <a:srgbClr val="FF2600"/>
                </a:solidFill>
                <a:latin typeface="微软雅黑" panose="020B0503020204020204" pitchFamily="34" charset="-122"/>
                <a:ea typeface="微软雅黑" panose="020B0503020204020204" pitchFamily="34" charset="-122"/>
                <a:cs typeface="华文新魏" panose="02010800040101010101" charset="-122"/>
              </a:rPr>
              <a:t>特征模型和用例模型</a:t>
            </a:r>
            <a:endParaRPr sz="2100" dirty="0">
              <a:latin typeface="微软雅黑" panose="020B0503020204020204" pitchFamily="34" charset="-122"/>
              <a:ea typeface="微软雅黑" panose="020B0503020204020204" pitchFamily="34" charset="-122"/>
              <a:cs typeface="华文新魏" panose="02010800040101010101" charset="-122"/>
            </a:endParaRPr>
          </a:p>
          <a:p>
            <a:pPr marL="91440">
              <a:lnSpc>
                <a:spcPct val="100000"/>
              </a:lnSpc>
            </a:pPr>
            <a:r>
              <a:rPr lang="zh-CN" altLang="en-US" sz="2400" dirty="0">
                <a:latin typeface="微软雅黑" panose="020B0503020204020204" pitchFamily="34" charset="-122"/>
                <a:ea typeface="微软雅黑" panose="020B0503020204020204" pitchFamily="34" charset="-122"/>
                <a:cs typeface="Times New Roman" panose="02020603050405020304"/>
              </a:rPr>
              <a:t>     </a:t>
            </a:r>
            <a:r>
              <a:rPr sz="2000" dirty="0" err="1">
                <a:latin typeface="微软雅黑" panose="020B0503020204020204" pitchFamily="34" charset="-122"/>
                <a:ea typeface="微软雅黑" panose="020B0503020204020204" pitchFamily="34" charset="-122"/>
                <a:cs typeface="华文新魏" panose="02010800040101010101" charset="-122"/>
              </a:rPr>
              <a:t>以上两种常常通过模板完成的</a:t>
            </a:r>
            <a:endParaRPr sz="2400" dirty="0">
              <a:latin typeface="微软雅黑" panose="020B0503020204020204" pitchFamily="34" charset="-122"/>
              <a:ea typeface="微软雅黑" panose="020B0503020204020204" pitchFamily="34" charset="-122"/>
              <a:cs typeface="华文新魏" panose="02010800040101010101" charset="-122"/>
            </a:endParaRPr>
          </a:p>
        </p:txBody>
      </p:sp>
      <p:sp>
        <p:nvSpPr>
          <p:cNvPr id="5" name="object 5"/>
          <p:cNvSpPr/>
          <p:nvPr/>
        </p:nvSpPr>
        <p:spPr>
          <a:xfrm>
            <a:off x="1527142" y="4204340"/>
            <a:ext cx="3809998" cy="2133599"/>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 name="灯片编号占位符 5"/>
          <p:cNvSpPr>
            <a:spLocks noGrp="1"/>
          </p:cNvSpPr>
          <p:nvPr>
            <p:ph type="sldNum" sz="quarter" idx="7"/>
          </p:nvPr>
        </p:nvSpPr>
        <p:spPr/>
        <p:txBody>
          <a:bodyPr/>
          <a:lstStyle/>
          <a:p>
            <a:pPr marL="25400">
              <a:lnSpc>
                <a:spcPts val="1645"/>
              </a:lnSpc>
            </a:pPr>
            <a:fld id="{81D60167-4931-47E6-BA6A-407CBD079E47}" type="slidenum">
              <a:rPr lang="en-US" altLang="zh-CN" smtClean="0"/>
              <a:t>61</a:t>
            </a:fld>
            <a:endParaRPr lang="en-US" altLang="zh-CN" dirty="0"/>
          </a:p>
        </p:txBody>
      </p:sp>
    </p:spTree>
    <p:extLst>
      <p:ext uri="{BB962C8B-B14F-4D97-AF65-F5344CB8AC3E}">
        <p14:creationId xmlns:p14="http://schemas.microsoft.com/office/powerpoint/2010/main" val="2668068520"/>
      </p:ext>
    </p:extLst>
  </p:cSld>
  <p:clrMapOvr>
    <a:masterClrMapping/>
  </p:clrMapOvr>
  <mc:AlternateContent xmlns:mc="http://schemas.openxmlformats.org/markup-compatibility/2006" xmlns:p14="http://schemas.microsoft.com/office/powerpoint/2010/main">
    <mc:Choice Requires="p14">
      <p:transition spd="slow" p14:dur="2000" advTm="107051"/>
    </mc:Choice>
    <mc:Fallback xmlns="">
      <p:transition spd="slow" advTm="107051"/>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374138" y="1277462"/>
            <a:ext cx="7452361" cy="2196114"/>
          </a:xfrm>
          <a:prstGeom prst="rect">
            <a:avLst/>
          </a:prstGeom>
        </p:spPr>
        <p:txBody>
          <a:bodyPr vert="horz" wrap="square" lIns="0" tIns="155575" rIns="0" bIns="0" rtlCol="0">
            <a:spAutoFit/>
          </a:bodyPr>
          <a:lstStyle/>
          <a:p>
            <a:pPr marL="241300" indent="-228600">
              <a:lnSpc>
                <a:spcPct val="100000"/>
              </a:lnSpc>
              <a:spcBef>
                <a:spcPts val="1225"/>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考虑以下两个具体项目场景</a:t>
            </a:r>
            <a:r>
              <a:rPr sz="2400" dirty="0">
                <a:latin typeface="微软雅黑" panose="020B0503020204020204" pitchFamily="34" charset="-122"/>
                <a:ea typeface="微软雅黑" panose="020B0503020204020204" pitchFamily="34" charset="-122"/>
                <a:cs typeface="Calibri" panose="020F0502020204030204"/>
              </a:rPr>
              <a:t>:</a:t>
            </a:r>
          </a:p>
          <a:p>
            <a:pPr marL="732790" lvl="1" indent="-263525">
              <a:lnSpc>
                <a:spcPct val="100000"/>
              </a:lnSpc>
              <a:spcBef>
                <a:spcPts val="940"/>
              </a:spcBef>
              <a:buFont typeface="Calibri" panose="020F0502020204030204"/>
              <a:buAutoNum type="arabicParenR"/>
              <a:tabLst>
                <a:tab pos="733425" algn="l"/>
              </a:tabLst>
            </a:pPr>
            <a:r>
              <a:rPr dirty="0">
                <a:latin typeface="微软雅黑" panose="020B0503020204020204" pitchFamily="34" charset="-122"/>
                <a:ea typeface="微软雅黑" panose="020B0503020204020204" pitchFamily="34" charset="-122"/>
                <a:cs typeface="华文新魏" panose="02010800040101010101" charset="-122"/>
              </a:rPr>
              <a:t>小型项目，</a:t>
            </a:r>
            <a:r>
              <a:rPr spc="-45" dirty="0">
                <a:latin typeface="微软雅黑" panose="020B0503020204020204" pitchFamily="34" charset="-122"/>
                <a:ea typeface="微软雅黑" panose="020B0503020204020204" pitchFamily="34" charset="-122"/>
                <a:cs typeface="华文新魏" panose="02010800040101010101" charset="-122"/>
              </a:rPr>
              <a:t> </a:t>
            </a:r>
            <a:r>
              <a:rPr spc="-5" dirty="0">
                <a:latin typeface="微软雅黑" panose="020B0503020204020204" pitchFamily="34" charset="-122"/>
                <a:ea typeface="微软雅黑" panose="020B0503020204020204" pitchFamily="34" charset="-122"/>
                <a:cs typeface="Calibri" panose="020F0502020204030204"/>
              </a:rPr>
              <a:t>1</a:t>
            </a:r>
            <a:r>
              <a:rPr dirty="0">
                <a:latin typeface="微软雅黑" panose="020B0503020204020204" pitchFamily="34" charset="-122"/>
                <a:ea typeface="微软雅黑" panose="020B0503020204020204" pitchFamily="34" charset="-122"/>
                <a:cs typeface="华文新魏" panose="02010800040101010101" charset="-122"/>
              </a:rPr>
              <a:t>名程序</a:t>
            </a:r>
            <a:r>
              <a:rPr lang="zh-CN" altLang="en-US" dirty="0">
                <a:latin typeface="微软雅黑" panose="020B0503020204020204" pitchFamily="34" charset="-122"/>
                <a:ea typeface="微软雅黑" panose="020B0503020204020204" pitchFamily="34" charset="-122"/>
                <a:cs typeface="华文新魏" panose="02010800040101010101" charset="-122"/>
              </a:rPr>
              <a:t>员</a:t>
            </a:r>
            <a:r>
              <a:rPr dirty="0">
                <a:latin typeface="微软雅黑" panose="020B0503020204020204" pitchFamily="34" charset="-122"/>
                <a:ea typeface="微软雅黑" panose="020B0503020204020204" pitchFamily="34" charset="-122"/>
                <a:cs typeface="华文新魏" panose="02010800040101010101" charset="-122"/>
              </a:rPr>
              <a:t>，</a:t>
            </a:r>
            <a:r>
              <a:rPr spc="-45" dirty="0">
                <a:latin typeface="微软雅黑" panose="020B0503020204020204" pitchFamily="34" charset="-122"/>
                <a:ea typeface="微软雅黑" panose="020B0503020204020204" pitchFamily="34" charset="-122"/>
                <a:cs typeface="华文新魏" panose="02010800040101010101" charset="-122"/>
              </a:rPr>
              <a:t> </a:t>
            </a:r>
            <a:r>
              <a:rPr spc="-5" dirty="0">
                <a:latin typeface="微软雅黑" panose="020B0503020204020204" pitchFamily="34" charset="-122"/>
                <a:ea typeface="微软雅黑" panose="020B0503020204020204" pitchFamily="34" charset="-122"/>
                <a:cs typeface="Calibri" panose="020F0502020204030204"/>
              </a:rPr>
              <a:t>2</a:t>
            </a:r>
            <a:r>
              <a:rPr dirty="0">
                <a:latin typeface="微软雅黑" panose="020B0503020204020204" pitchFamily="34" charset="-122"/>
                <a:ea typeface="微软雅黑" panose="020B0503020204020204" pitchFamily="34" charset="-122"/>
                <a:cs typeface="华文新魏" panose="02010800040101010101" charset="-122"/>
              </a:rPr>
              <a:t>个月的开发周期</a:t>
            </a:r>
          </a:p>
          <a:p>
            <a:pPr marL="927100">
              <a:lnSpc>
                <a:spcPct val="100000"/>
              </a:lnSpc>
              <a:spcBef>
                <a:spcPts val="960"/>
              </a:spcBef>
            </a:pPr>
            <a:r>
              <a:rPr dirty="0">
                <a:latin typeface="微软雅黑" panose="020B0503020204020204" pitchFamily="34" charset="-122"/>
                <a:ea typeface="微软雅黑" panose="020B0503020204020204" pitchFamily="34" charset="-122"/>
                <a:cs typeface="华文新魏" panose="02010800040101010101" charset="-122"/>
              </a:rPr>
              <a:t>程序猿直接和用户对话，写了两页纸的备忘录</a:t>
            </a:r>
          </a:p>
          <a:p>
            <a:pPr marL="732790" lvl="1" indent="-263525">
              <a:lnSpc>
                <a:spcPct val="100000"/>
              </a:lnSpc>
              <a:spcBef>
                <a:spcPts val="980"/>
              </a:spcBef>
              <a:buFont typeface="Calibri" panose="020F0502020204030204"/>
              <a:buAutoNum type="arabicParenR" startAt="2"/>
              <a:tabLst>
                <a:tab pos="733425" algn="l"/>
              </a:tabLst>
            </a:pPr>
            <a:r>
              <a:rPr dirty="0">
                <a:latin typeface="微软雅黑" panose="020B0503020204020204" pitchFamily="34" charset="-122"/>
                <a:ea typeface="微软雅黑" panose="020B0503020204020204" pitchFamily="34" charset="-122"/>
                <a:cs typeface="华文新魏" panose="02010800040101010101" charset="-122"/>
              </a:rPr>
              <a:t>大型项目，</a:t>
            </a:r>
            <a:r>
              <a:rPr dirty="0">
                <a:latin typeface="微软雅黑" panose="020B0503020204020204" pitchFamily="34" charset="-122"/>
                <a:ea typeface="微软雅黑" panose="020B0503020204020204" pitchFamily="34" charset="-122"/>
                <a:cs typeface="Calibri" panose="020F0502020204030204"/>
              </a:rPr>
              <a:t>50</a:t>
            </a:r>
            <a:r>
              <a:rPr spc="-10" dirty="0">
                <a:latin typeface="微软雅黑" panose="020B0503020204020204" pitchFamily="34" charset="-122"/>
                <a:ea typeface="微软雅黑" panose="020B0503020204020204" pitchFamily="34" charset="-122"/>
                <a:cs typeface="Calibri" panose="020F0502020204030204"/>
              </a:rPr>
              <a:t> </a:t>
            </a:r>
            <a:r>
              <a:rPr dirty="0" err="1">
                <a:latin typeface="微软雅黑" panose="020B0503020204020204" pitchFamily="34" charset="-122"/>
                <a:ea typeface="微软雅黑" panose="020B0503020204020204" pitchFamily="34" charset="-122"/>
                <a:cs typeface="华文新魏" panose="02010800040101010101" charset="-122"/>
              </a:rPr>
              <a:t>名程序</a:t>
            </a:r>
            <a:r>
              <a:rPr lang="zh-CN" altLang="en-US" dirty="0">
                <a:latin typeface="微软雅黑" panose="020B0503020204020204" pitchFamily="34" charset="-122"/>
                <a:ea typeface="微软雅黑" panose="020B0503020204020204" pitchFamily="34" charset="-122"/>
                <a:cs typeface="华文新魏" panose="02010800040101010101" charset="-122"/>
              </a:rPr>
              <a:t>员</a:t>
            </a:r>
            <a:r>
              <a:rPr dirty="0">
                <a:latin typeface="微软雅黑" panose="020B0503020204020204" pitchFamily="34" charset="-122"/>
                <a:ea typeface="微软雅黑" panose="020B0503020204020204" pitchFamily="34" charset="-122"/>
                <a:cs typeface="华文新魏" panose="02010800040101010101" charset="-122"/>
              </a:rPr>
              <a:t>，</a:t>
            </a:r>
            <a:r>
              <a:rPr dirty="0">
                <a:latin typeface="微软雅黑" panose="020B0503020204020204" pitchFamily="34" charset="-122"/>
                <a:ea typeface="微软雅黑" panose="020B0503020204020204" pitchFamily="34" charset="-122"/>
                <a:cs typeface="Calibri" panose="020F0502020204030204"/>
              </a:rPr>
              <a:t>2</a:t>
            </a:r>
            <a:r>
              <a:rPr dirty="0">
                <a:latin typeface="微软雅黑" panose="020B0503020204020204" pitchFamily="34" charset="-122"/>
                <a:ea typeface="微软雅黑" panose="020B0503020204020204" pitchFamily="34" charset="-122"/>
                <a:cs typeface="华文新魏" panose="02010800040101010101" charset="-122"/>
              </a:rPr>
              <a:t>年的开发周期</a:t>
            </a:r>
          </a:p>
          <a:p>
            <a:pPr marL="927100">
              <a:lnSpc>
                <a:spcPct val="100000"/>
              </a:lnSpc>
              <a:spcBef>
                <a:spcPts val="960"/>
              </a:spcBef>
            </a:pPr>
            <a:r>
              <a:rPr dirty="0">
                <a:latin typeface="微软雅黑" panose="020B0503020204020204" pitchFamily="34" charset="-122"/>
                <a:ea typeface="微软雅黑" panose="020B0503020204020204" pitchFamily="34" charset="-122"/>
                <a:cs typeface="华文新魏" panose="02010800040101010101" charset="-122"/>
              </a:rPr>
              <a:t>专门的团队进行需求建模与分析，撰写了</a:t>
            </a:r>
            <a:r>
              <a:rPr spc="-5" dirty="0">
                <a:latin typeface="微软雅黑" panose="020B0503020204020204" pitchFamily="34" charset="-122"/>
                <a:ea typeface="微软雅黑" panose="020B0503020204020204" pitchFamily="34" charset="-122"/>
                <a:cs typeface="Calibri" panose="020F0502020204030204"/>
              </a:rPr>
              <a:t>50</a:t>
            </a:r>
            <a:r>
              <a:rPr dirty="0">
                <a:latin typeface="微软雅黑" panose="020B0503020204020204" pitchFamily="34" charset="-122"/>
                <a:ea typeface="微软雅黑" panose="020B0503020204020204" pitchFamily="34" charset="-122"/>
                <a:cs typeface="Calibri" panose="020F0502020204030204"/>
              </a:rPr>
              <a:t>0</a:t>
            </a:r>
            <a:r>
              <a:rPr dirty="0">
                <a:latin typeface="微软雅黑" panose="020B0503020204020204" pitchFamily="34" charset="-122"/>
                <a:ea typeface="微软雅黑" panose="020B0503020204020204" pitchFamily="34" charset="-122"/>
                <a:cs typeface="华文新魏" panose="02010800040101010101" charset="-122"/>
              </a:rPr>
              <a:t>页的需求规格说明</a:t>
            </a:r>
          </a:p>
        </p:txBody>
      </p:sp>
      <p:sp>
        <p:nvSpPr>
          <p:cNvPr id="28" name="标题 27"/>
          <p:cNvSpPr>
            <a:spLocks noGrp="1"/>
          </p:cNvSpPr>
          <p:nvPr>
            <p:ph type="title"/>
          </p:nvPr>
        </p:nvSpPr>
        <p:spPr/>
        <p:txBody>
          <a:bodyPr/>
          <a:lstStyle/>
          <a:p>
            <a:r>
              <a:rPr lang="zh-CN" altLang="en-US" spc="-5" dirty="0"/>
              <a:t>选择合适的需求规格说明方式</a:t>
            </a:r>
            <a:endParaRPr lang="zh-CN" altLang="en-US" dirty="0"/>
          </a:p>
        </p:txBody>
      </p:sp>
      <p:pic>
        <p:nvPicPr>
          <p:cNvPr id="2" name="图片 1"/>
          <p:cNvPicPr>
            <a:picLocks noChangeAspect="1"/>
          </p:cNvPicPr>
          <p:nvPr/>
        </p:nvPicPr>
        <p:blipFill>
          <a:blip r:embed="rId3"/>
          <a:stretch>
            <a:fillRect/>
          </a:stretch>
        </p:blipFill>
        <p:spPr>
          <a:xfrm>
            <a:off x="1793307" y="3354028"/>
            <a:ext cx="8605385" cy="3149357"/>
          </a:xfrm>
          <a:prstGeom prst="rect">
            <a:avLst/>
          </a:prstGeom>
        </p:spPr>
      </p:pic>
      <p:sp>
        <p:nvSpPr>
          <p:cNvPr id="4" name="灯片编号占位符 3"/>
          <p:cNvSpPr>
            <a:spLocks noGrp="1"/>
          </p:cNvSpPr>
          <p:nvPr>
            <p:ph type="sldNum" sz="quarter" idx="12"/>
          </p:nvPr>
        </p:nvSpPr>
        <p:spPr/>
        <p:txBody>
          <a:bodyPr/>
          <a:lstStyle/>
          <a:p>
            <a:fld id="{74D2AB8B-5816-41F2-8B4B-CA5C3E4E6A65}" type="slidenum">
              <a:rPr lang="zh-CN" altLang="en-US" smtClean="0"/>
              <a:t>62</a:t>
            </a:fld>
            <a:endParaRPr lang="zh-CN" altLang="en-US"/>
          </a:p>
        </p:txBody>
      </p:sp>
    </p:spTree>
    <p:extLst>
      <p:ext uri="{BB962C8B-B14F-4D97-AF65-F5344CB8AC3E}">
        <p14:creationId xmlns:p14="http://schemas.microsoft.com/office/powerpoint/2010/main" val="3591085841"/>
      </p:ext>
    </p:extLst>
  </p:cSld>
  <p:clrMapOvr>
    <a:masterClrMapping/>
  </p:clrMapOvr>
  <mc:AlternateContent xmlns:mc="http://schemas.openxmlformats.org/markup-compatibility/2006" xmlns:p14="http://schemas.microsoft.com/office/powerpoint/2010/main">
    <mc:Choice Requires="p14">
      <p:transition spd="slow" p14:dur="2000" advTm="191809"/>
    </mc:Choice>
    <mc:Fallback xmlns="">
      <p:transition spd="slow" advTm="191809"/>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nvGraphicFramePr>
        <p:xfrm>
          <a:off x="303530" y="1498604"/>
          <a:ext cx="11584939" cy="4994271"/>
        </p:xfrm>
        <a:graphic>
          <a:graphicData uri="http://schemas.openxmlformats.org/drawingml/2006/table">
            <a:tbl>
              <a:tblPr firstRow="1" bandRow="1">
                <a:tableStyleId>{2D5ABB26-0587-4C30-8999-92F81FD0307C}</a:tableStyleId>
              </a:tblPr>
              <a:tblGrid>
                <a:gridCol w="2315845">
                  <a:extLst>
                    <a:ext uri="{9D8B030D-6E8A-4147-A177-3AD203B41FA5}">
                      <a16:colId xmlns:a16="http://schemas.microsoft.com/office/drawing/2014/main" val="20000"/>
                    </a:ext>
                  </a:extLst>
                </a:gridCol>
                <a:gridCol w="1732914">
                  <a:extLst>
                    <a:ext uri="{9D8B030D-6E8A-4147-A177-3AD203B41FA5}">
                      <a16:colId xmlns:a16="http://schemas.microsoft.com/office/drawing/2014/main" val="20001"/>
                    </a:ext>
                  </a:extLst>
                </a:gridCol>
                <a:gridCol w="2901315">
                  <a:extLst>
                    <a:ext uri="{9D8B030D-6E8A-4147-A177-3AD203B41FA5}">
                      <a16:colId xmlns:a16="http://schemas.microsoft.com/office/drawing/2014/main" val="20002"/>
                    </a:ext>
                  </a:extLst>
                </a:gridCol>
                <a:gridCol w="768350">
                  <a:extLst>
                    <a:ext uri="{9D8B030D-6E8A-4147-A177-3AD203B41FA5}">
                      <a16:colId xmlns:a16="http://schemas.microsoft.com/office/drawing/2014/main" val="20003"/>
                    </a:ext>
                  </a:extLst>
                </a:gridCol>
                <a:gridCol w="3866515">
                  <a:extLst>
                    <a:ext uri="{9D8B030D-6E8A-4147-A177-3AD203B41FA5}">
                      <a16:colId xmlns:a16="http://schemas.microsoft.com/office/drawing/2014/main" val="20004"/>
                    </a:ext>
                  </a:extLst>
                </a:gridCol>
              </a:tblGrid>
              <a:tr h="676274">
                <a:tc>
                  <a:txBody>
                    <a:bodyPr/>
                    <a:lstStyle/>
                    <a:p>
                      <a:pPr marL="121285">
                        <a:lnSpc>
                          <a:spcPct val="100000"/>
                        </a:lnSpc>
                        <a:spcBef>
                          <a:spcPts val="310"/>
                        </a:spcBef>
                      </a:pPr>
                      <a:r>
                        <a:rPr sz="2000" b="1" i="1" spc="-5" dirty="0">
                          <a:solidFill>
                            <a:srgbClr val="FFFFFF"/>
                          </a:solidFill>
                          <a:latin typeface="微软雅黑" panose="020B0503020204020204" pitchFamily="34" charset="-122"/>
                          <a:ea typeface="微软雅黑" panose="020B0503020204020204" pitchFamily="34" charset="-122"/>
                          <a:cs typeface="华文新魏" panose="02010800040101010101" charset="-122"/>
                        </a:rPr>
                        <a:t>方法</a:t>
                      </a:r>
                      <a:endParaRPr sz="2000">
                        <a:latin typeface="微软雅黑" panose="020B0503020204020204" pitchFamily="34" charset="-122"/>
                        <a:ea typeface="微软雅黑" panose="020B0503020204020204" pitchFamily="34" charset="-122"/>
                        <a:cs typeface="华文新魏" panose="02010800040101010101" charset="-122"/>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6CACDD"/>
                    </a:solidFill>
                  </a:tcPr>
                </a:tc>
                <a:tc>
                  <a:txBody>
                    <a:bodyPr/>
                    <a:lstStyle/>
                    <a:p>
                      <a:pPr marL="121920">
                        <a:lnSpc>
                          <a:spcPct val="100000"/>
                        </a:lnSpc>
                        <a:spcBef>
                          <a:spcPts val="310"/>
                        </a:spcBef>
                      </a:pPr>
                      <a:r>
                        <a:rPr sz="2000" b="1" i="1" spc="-5" dirty="0">
                          <a:solidFill>
                            <a:srgbClr val="FFFFFF"/>
                          </a:solidFill>
                          <a:latin typeface="微软雅黑" panose="020B0503020204020204" pitchFamily="34" charset="-122"/>
                          <a:ea typeface="微软雅黑" panose="020B0503020204020204" pitchFamily="34" charset="-122"/>
                          <a:cs typeface="华文新魏" panose="02010800040101010101" charset="-122"/>
                        </a:rPr>
                        <a:t>使用时机</a:t>
                      </a:r>
                      <a:endParaRPr sz="2000">
                        <a:latin typeface="微软雅黑" panose="020B0503020204020204" pitchFamily="34" charset="-122"/>
                        <a:ea typeface="微软雅黑" panose="020B0503020204020204" pitchFamily="34" charset="-122"/>
                        <a:cs typeface="华文新魏" panose="02010800040101010101" charset="-122"/>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6CACDD"/>
                    </a:solidFill>
                  </a:tcPr>
                </a:tc>
                <a:tc>
                  <a:txBody>
                    <a:bodyPr/>
                    <a:lstStyle/>
                    <a:p>
                      <a:pPr marL="121285">
                        <a:lnSpc>
                          <a:spcPct val="100000"/>
                        </a:lnSpc>
                        <a:spcBef>
                          <a:spcPts val="310"/>
                        </a:spcBef>
                      </a:pPr>
                      <a:r>
                        <a:rPr sz="2000" b="1" i="1" spc="-5" dirty="0">
                          <a:solidFill>
                            <a:srgbClr val="FFFFFF"/>
                          </a:solidFill>
                          <a:latin typeface="微软雅黑" panose="020B0503020204020204" pitchFamily="34" charset="-122"/>
                          <a:ea typeface="微软雅黑" panose="020B0503020204020204" pitchFamily="34" charset="-122"/>
                          <a:cs typeface="华文新魏" panose="02010800040101010101" charset="-122"/>
                        </a:rPr>
                        <a:t>适合</a:t>
                      </a:r>
                      <a:endParaRPr sz="2000">
                        <a:latin typeface="微软雅黑" panose="020B0503020204020204" pitchFamily="34" charset="-122"/>
                        <a:ea typeface="微软雅黑" panose="020B0503020204020204" pitchFamily="34" charset="-122"/>
                        <a:cs typeface="华文新魏" panose="02010800040101010101" charset="-122"/>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6CACDD"/>
                    </a:solidFill>
                  </a:tcPr>
                </a:tc>
                <a:tc>
                  <a:txBody>
                    <a:bodyPr/>
                    <a:lstStyle/>
                    <a:p>
                      <a:pPr marL="121920">
                        <a:lnSpc>
                          <a:spcPct val="100000"/>
                        </a:lnSpc>
                        <a:spcBef>
                          <a:spcPts val="310"/>
                        </a:spcBef>
                      </a:pPr>
                      <a:r>
                        <a:rPr sz="2000" b="1" i="1" spc="-5" dirty="0">
                          <a:solidFill>
                            <a:srgbClr val="FFFFFF"/>
                          </a:solidFill>
                          <a:latin typeface="微软雅黑" panose="020B0503020204020204" pitchFamily="34" charset="-122"/>
                          <a:ea typeface="微软雅黑" panose="020B0503020204020204" pitchFamily="34" charset="-122"/>
                          <a:cs typeface="华文新魏" panose="02010800040101010101" charset="-122"/>
                        </a:rPr>
                        <a:t>效果</a:t>
                      </a:r>
                      <a:endParaRPr sz="2000">
                        <a:latin typeface="微软雅黑" panose="020B0503020204020204" pitchFamily="34" charset="-122"/>
                        <a:ea typeface="微软雅黑" panose="020B0503020204020204" pitchFamily="34" charset="-122"/>
                        <a:cs typeface="华文新魏" panose="02010800040101010101" charset="-122"/>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6CACDD"/>
                    </a:solidFill>
                  </a:tcPr>
                </a:tc>
                <a:tc>
                  <a:txBody>
                    <a:bodyPr/>
                    <a:lstStyle/>
                    <a:p>
                      <a:pPr marL="121920">
                        <a:lnSpc>
                          <a:spcPct val="100000"/>
                        </a:lnSpc>
                        <a:spcBef>
                          <a:spcPts val="310"/>
                        </a:spcBef>
                      </a:pPr>
                      <a:r>
                        <a:rPr sz="2000" b="1" i="1" spc="-5" dirty="0">
                          <a:solidFill>
                            <a:srgbClr val="FFFFFF"/>
                          </a:solidFill>
                          <a:latin typeface="微软雅黑" panose="020B0503020204020204" pitchFamily="34" charset="-122"/>
                          <a:ea typeface="微软雅黑" panose="020B0503020204020204" pitchFamily="34" charset="-122"/>
                          <a:cs typeface="华文新魏" panose="02010800040101010101" charset="-122"/>
                        </a:rPr>
                        <a:t>需要的资源</a:t>
                      </a:r>
                      <a:endParaRPr sz="2000">
                        <a:latin typeface="微软雅黑" panose="020B0503020204020204" pitchFamily="34" charset="-122"/>
                        <a:ea typeface="微软雅黑" panose="020B0503020204020204" pitchFamily="34" charset="-122"/>
                        <a:cs typeface="华文新魏" panose="02010800040101010101" charset="-122"/>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6CACDD"/>
                    </a:solidFill>
                  </a:tcPr>
                </a:tc>
                <a:extLst>
                  <a:ext uri="{0D108BD9-81ED-4DB2-BD59-A6C34878D82A}">
                    <a16:rowId xmlns:a16="http://schemas.microsoft.com/office/drawing/2014/main" val="10000"/>
                  </a:ext>
                </a:extLst>
              </a:tr>
              <a:tr h="1020762">
                <a:tc>
                  <a:txBody>
                    <a:bodyPr/>
                    <a:lstStyle/>
                    <a:p>
                      <a:pPr>
                        <a:lnSpc>
                          <a:spcPct val="100000"/>
                        </a:lnSpc>
                      </a:pPr>
                      <a:endParaRPr sz="2450" dirty="0">
                        <a:latin typeface="微软雅黑" panose="020B0503020204020204" pitchFamily="34" charset="-122"/>
                        <a:ea typeface="微软雅黑" panose="020B0503020204020204" pitchFamily="34" charset="-122"/>
                        <a:cs typeface="Times New Roman" panose="02020603050405020304"/>
                      </a:endParaRPr>
                    </a:p>
                    <a:p>
                      <a:pPr marL="121285">
                        <a:lnSpc>
                          <a:spcPct val="100000"/>
                        </a:lnSpc>
                      </a:pPr>
                      <a:r>
                        <a:rPr sz="2000" dirty="0">
                          <a:latin typeface="微软雅黑" panose="020B0503020204020204" pitchFamily="34" charset="-122"/>
                          <a:ea typeface="微软雅黑" panose="020B0503020204020204" pitchFamily="34" charset="-122"/>
                          <a:cs typeface="华文新魏" panose="02010800040101010101" charset="-122"/>
                        </a:rPr>
                        <a:t>描述性文本</a:t>
                      </a: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DDFE6"/>
                    </a:solidFill>
                  </a:tcPr>
                </a:tc>
                <a:tc>
                  <a:txBody>
                    <a:bodyPr/>
                    <a:lstStyle/>
                    <a:p>
                      <a:pPr>
                        <a:lnSpc>
                          <a:spcPct val="100000"/>
                        </a:lnSpc>
                      </a:pPr>
                      <a:endParaRPr sz="2450">
                        <a:latin typeface="微软雅黑" panose="020B0503020204020204" pitchFamily="34" charset="-122"/>
                        <a:ea typeface="微软雅黑" panose="020B0503020204020204" pitchFamily="34" charset="-122"/>
                        <a:cs typeface="Times New Roman" panose="02020603050405020304"/>
                      </a:endParaRPr>
                    </a:p>
                    <a:p>
                      <a:pPr marL="121920">
                        <a:lnSpc>
                          <a:spcPct val="100000"/>
                        </a:lnSpc>
                      </a:pPr>
                      <a:r>
                        <a:rPr sz="2000" dirty="0">
                          <a:latin typeface="微软雅黑" panose="020B0503020204020204" pitchFamily="34" charset="-122"/>
                          <a:ea typeface="微软雅黑" panose="020B0503020204020204" pitchFamily="34" charset="-122"/>
                          <a:cs typeface="华文新魏" panose="02010800040101010101" charset="-122"/>
                        </a:rPr>
                        <a:t>小项目</a:t>
                      </a:r>
                      <a:endParaRPr sz="2000">
                        <a:latin typeface="微软雅黑" panose="020B0503020204020204" pitchFamily="34" charset="-122"/>
                        <a:ea typeface="微软雅黑" panose="020B0503020204020204" pitchFamily="34" charset="-122"/>
                        <a:cs typeface="华文新魏" panose="02010800040101010101" charset="-122"/>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DDFE6"/>
                    </a:solidFill>
                  </a:tcPr>
                </a:tc>
                <a:tc>
                  <a:txBody>
                    <a:bodyPr/>
                    <a:lstStyle/>
                    <a:p>
                      <a:pPr>
                        <a:lnSpc>
                          <a:spcPct val="100000"/>
                        </a:lnSpc>
                      </a:pPr>
                      <a:endParaRPr sz="2450" dirty="0">
                        <a:latin typeface="微软雅黑" panose="020B0503020204020204" pitchFamily="34" charset="-122"/>
                        <a:ea typeface="微软雅黑" panose="020B0503020204020204" pitchFamily="34" charset="-122"/>
                        <a:cs typeface="Times New Roman" panose="02020603050405020304"/>
                      </a:endParaRPr>
                    </a:p>
                    <a:p>
                      <a:pPr marL="121285">
                        <a:lnSpc>
                          <a:spcPct val="100000"/>
                        </a:lnSpc>
                      </a:pPr>
                      <a:r>
                        <a:rPr sz="2000" dirty="0">
                          <a:latin typeface="微软雅黑" panose="020B0503020204020204" pitchFamily="34" charset="-122"/>
                          <a:ea typeface="微软雅黑" panose="020B0503020204020204" pitchFamily="34" charset="-122"/>
                          <a:cs typeface="华文新魏" panose="02010800040101010101" charset="-122"/>
                        </a:rPr>
                        <a:t>小产品的非正式说明</a:t>
                      </a: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DDFE6"/>
                    </a:solidFill>
                  </a:tcPr>
                </a:tc>
                <a:tc>
                  <a:txBody>
                    <a:bodyPr/>
                    <a:lstStyle/>
                    <a:p>
                      <a:pPr>
                        <a:lnSpc>
                          <a:spcPct val="100000"/>
                        </a:lnSpc>
                      </a:pPr>
                      <a:endParaRPr sz="2450">
                        <a:latin typeface="微软雅黑" panose="020B0503020204020204" pitchFamily="34" charset="-122"/>
                        <a:ea typeface="微软雅黑" panose="020B0503020204020204" pitchFamily="34" charset="-122"/>
                        <a:cs typeface="Times New Roman" panose="02020603050405020304"/>
                      </a:endParaRPr>
                    </a:p>
                    <a:p>
                      <a:pPr marL="121920">
                        <a:lnSpc>
                          <a:spcPct val="100000"/>
                        </a:lnSpc>
                      </a:pPr>
                      <a:r>
                        <a:rPr sz="2000" dirty="0">
                          <a:latin typeface="微软雅黑" panose="020B0503020204020204" pitchFamily="34" charset="-122"/>
                          <a:ea typeface="微软雅黑" panose="020B0503020204020204" pitchFamily="34" charset="-122"/>
                          <a:cs typeface="华文新魏" panose="02010800040101010101" charset="-122"/>
                        </a:rPr>
                        <a:t>中</a:t>
                      </a:r>
                      <a:endParaRPr sz="2000">
                        <a:latin typeface="微软雅黑" panose="020B0503020204020204" pitchFamily="34" charset="-122"/>
                        <a:ea typeface="微软雅黑" panose="020B0503020204020204" pitchFamily="34" charset="-122"/>
                        <a:cs typeface="华文新魏" panose="02010800040101010101" charset="-122"/>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DDFE6"/>
                    </a:solidFill>
                  </a:tcPr>
                </a:tc>
                <a:tc>
                  <a:txBody>
                    <a:bodyPr/>
                    <a:lstStyle/>
                    <a:p>
                      <a:pPr>
                        <a:lnSpc>
                          <a:spcPct val="100000"/>
                        </a:lnSpc>
                      </a:pPr>
                      <a:endParaRPr sz="2450" dirty="0">
                        <a:latin typeface="微软雅黑" panose="020B0503020204020204" pitchFamily="34" charset="-122"/>
                        <a:ea typeface="微软雅黑" panose="020B0503020204020204" pitchFamily="34" charset="-122"/>
                        <a:cs typeface="Times New Roman" panose="02020603050405020304"/>
                      </a:endParaRPr>
                    </a:p>
                    <a:p>
                      <a:pPr marL="121920">
                        <a:lnSpc>
                          <a:spcPct val="100000"/>
                        </a:lnSpc>
                      </a:pPr>
                      <a:r>
                        <a:rPr sz="2000" dirty="0">
                          <a:latin typeface="微软雅黑" panose="020B0503020204020204" pitchFamily="34" charset="-122"/>
                          <a:ea typeface="微软雅黑" panose="020B0503020204020204" pitchFamily="34" charset="-122"/>
                          <a:cs typeface="华文新魏" panose="02010800040101010101" charset="-122"/>
                        </a:rPr>
                        <a:t>有良好写作能力的分析师</a:t>
                      </a: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DDFE6"/>
                    </a:solidFill>
                  </a:tcPr>
                </a:tc>
                <a:extLst>
                  <a:ext uri="{0D108BD9-81ED-4DB2-BD59-A6C34878D82A}">
                    <a16:rowId xmlns:a16="http://schemas.microsoft.com/office/drawing/2014/main" val="10001"/>
                  </a:ext>
                </a:extLst>
              </a:tr>
              <a:tr h="1255711">
                <a:tc>
                  <a:txBody>
                    <a:bodyPr/>
                    <a:lstStyle/>
                    <a:p>
                      <a:pPr>
                        <a:lnSpc>
                          <a:spcPct val="100000"/>
                        </a:lnSpc>
                      </a:pPr>
                      <a:endParaRPr sz="2000" dirty="0">
                        <a:latin typeface="微软雅黑" panose="020B0503020204020204" pitchFamily="34" charset="-122"/>
                        <a:ea typeface="微软雅黑" panose="020B0503020204020204" pitchFamily="34" charset="-122"/>
                        <a:cs typeface="Times New Roman" panose="02020603050405020304"/>
                      </a:endParaRPr>
                    </a:p>
                    <a:p>
                      <a:pPr marL="121285">
                        <a:lnSpc>
                          <a:spcPct val="100000"/>
                        </a:lnSpc>
                        <a:spcBef>
                          <a:spcPts val="1440"/>
                        </a:spcBef>
                      </a:pPr>
                      <a:r>
                        <a:rPr sz="2000" dirty="0">
                          <a:latin typeface="微软雅黑" panose="020B0503020204020204" pitchFamily="34" charset="-122"/>
                          <a:ea typeface="微软雅黑" panose="020B0503020204020204" pitchFamily="34" charset="-122"/>
                          <a:cs typeface="华文新魏" panose="02010800040101010101" charset="-122"/>
                        </a:rPr>
                        <a:t>从用例模型生成</a:t>
                      </a: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FF0F3"/>
                    </a:solidFill>
                  </a:tcPr>
                </a:tc>
                <a:tc>
                  <a:txBody>
                    <a:bodyPr/>
                    <a:lstStyle/>
                    <a:p>
                      <a:pPr>
                        <a:lnSpc>
                          <a:spcPct val="100000"/>
                        </a:lnSpc>
                      </a:pPr>
                      <a:endParaRPr sz="2000" dirty="0">
                        <a:latin typeface="微软雅黑" panose="020B0503020204020204" pitchFamily="34" charset="-122"/>
                        <a:ea typeface="微软雅黑" panose="020B0503020204020204" pitchFamily="34" charset="-122"/>
                        <a:cs typeface="Times New Roman" panose="02020603050405020304"/>
                      </a:endParaRPr>
                    </a:p>
                    <a:p>
                      <a:pPr marL="121920">
                        <a:lnSpc>
                          <a:spcPct val="100000"/>
                        </a:lnSpc>
                        <a:spcBef>
                          <a:spcPts val="1440"/>
                        </a:spcBef>
                      </a:pPr>
                      <a:r>
                        <a:rPr sz="2000" dirty="0">
                          <a:latin typeface="微软雅黑" panose="020B0503020204020204" pitchFamily="34" charset="-122"/>
                          <a:ea typeface="微软雅黑" panose="020B0503020204020204" pitchFamily="34" charset="-122"/>
                          <a:cs typeface="华文新魏" panose="02010800040101010101" charset="-122"/>
                        </a:rPr>
                        <a:t>大中型项目</a:t>
                      </a: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FF0F3"/>
                    </a:solidFill>
                  </a:tcPr>
                </a:tc>
                <a:tc>
                  <a:txBody>
                    <a:bodyPr/>
                    <a:lstStyle/>
                    <a:p>
                      <a:pPr>
                        <a:lnSpc>
                          <a:spcPct val="100000"/>
                        </a:lnSpc>
                      </a:pPr>
                      <a:endParaRPr sz="2000" dirty="0">
                        <a:latin typeface="微软雅黑" panose="020B0503020204020204" pitchFamily="34" charset="-122"/>
                        <a:ea typeface="微软雅黑" panose="020B0503020204020204" pitchFamily="34" charset="-122"/>
                        <a:cs typeface="Times New Roman" panose="02020603050405020304"/>
                      </a:endParaRPr>
                    </a:p>
                    <a:p>
                      <a:pPr marL="121285">
                        <a:lnSpc>
                          <a:spcPct val="100000"/>
                        </a:lnSpc>
                        <a:spcBef>
                          <a:spcPts val="1440"/>
                        </a:spcBef>
                      </a:pPr>
                      <a:r>
                        <a:rPr sz="2000" dirty="0">
                          <a:latin typeface="微软雅黑" panose="020B0503020204020204" pitchFamily="34" charset="-122"/>
                          <a:ea typeface="微软雅黑" panose="020B0503020204020204" pitchFamily="34" charset="-122"/>
                          <a:cs typeface="华文新魏" panose="02010800040101010101" charset="-122"/>
                        </a:rPr>
                        <a:t>产品线的正式规格描述</a:t>
                      </a: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FF0F3"/>
                    </a:solidFill>
                  </a:tcPr>
                </a:tc>
                <a:tc>
                  <a:txBody>
                    <a:bodyPr/>
                    <a:lstStyle/>
                    <a:p>
                      <a:pPr>
                        <a:lnSpc>
                          <a:spcPct val="100000"/>
                        </a:lnSpc>
                      </a:pPr>
                      <a:endParaRPr sz="2000">
                        <a:latin typeface="微软雅黑" panose="020B0503020204020204" pitchFamily="34" charset="-122"/>
                        <a:ea typeface="微软雅黑" panose="020B0503020204020204" pitchFamily="34" charset="-122"/>
                        <a:cs typeface="Times New Roman" panose="02020603050405020304"/>
                      </a:endParaRPr>
                    </a:p>
                    <a:p>
                      <a:pPr marL="121920">
                        <a:lnSpc>
                          <a:spcPct val="100000"/>
                        </a:lnSpc>
                        <a:spcBef>
                          <a:spcPts val="1440"/>
                        </a:spcBef>
                      </a:pPr>
                      <a:r>
                        <a:rPr sz="2000" dirty="0">
                          <a:latin typeface="微软雅黑" panose="020B0503020204020204" pitchFamily="34" charset="-122"/>
                          <a:ea typeface="微软雅黑" panose="020B0503020204020204" pitchFamily="34" charset="-122"/>
                          <a:cs typeface="华文新魏" panose="02010800040101010101" charset="-122"/>
                        </a:rPr>
                        <a:t>中</a:t>
                      </a:r>
                      <a:endParaRPr sz="2000">
                        <a:latin typeface="微软雅黑" panose="020B0503020204020204" pitchFamily="34" charset="-122"/>
                        <a:ea typeface="微软雅黑" panose="020B0503020204020204" pitchFamily="34" charset="-122"/>
                        <a:cs typeface="华文新魏" panose="02010800040101010101" charset="-122"/>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FF0F3"/>
                    </a:solidFill>
                  </a:tcPr>
                </a:tc>
                <a:tc>
                  <a:txBody>
                    <a:bodyPr/>
                    <a:lstStyle/>
                    <a:p>
                      <a:pPr>
                        <a:lnSpc>
                          <a:spcPct val="100000"/>
                        </a:lnSpc>
                        <a:spcBef>
                          <a:spcPts val="10"/>
                        </a:spcBef>
                      </a:pPr>
                      <a:endParaRPr sz="2200" dirty="0">
                        <a:latin typeface="微软雅黑" panose="020B0503020204020204" pitchFamily="34" charset="-122"/>
                        <a:ea typeface="微软雅黑" panose="020B0503020204020204" pitchFamily="34" charset="-122"/>
                        <a:cs typeface="Times New Roman" panose="02020603050405020304"/>
                      </a:endParaRPr>
                    </a:p>
                    <a:p>
                      <a:pPr marL="121920" marR="179705">
                        <a:lnSpc>
                          <a:spcPct val="100000"/>
                        </a:lnSpc>
                      </a:pPr>
                      <a:r>
                        <a:rPr sz="2000" dirty="0">
                          <a:latin typeface="微软雅黑" panose="020B0503020204020204" pitchFamily="34" charset="-122"/>
                          <a:ea typeface="微软雅黑" panose="020B0503020204020204" pitchFamily="34" charset="-122"/>
                          <a:cs typeface="华文新魏" panose="02010800040101010101" charset="-122"/>
                        </a:rPr>
                        <a:t>有建模能力，好的过程标准，建 模工具的分析师</a:t>
                      </a: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FF0F3"/>
                    </a:solidFill>
                  </a:tcPr>
                </a:tc>
                <a:extLst>
                  <a:ext uri="{0D108BD9-81ED-4DB2-BD59-A6C34878D82A}">
                    <a16:rowId xmlns:a16="http://schemas.microsoft.com/office/drawing/2014/main" val="10002"/>
                  </a:ext>
                </a:extLst>
              </a:tr>
              <a:tr h="1020762">
                <a:tc>
                  <a:txBody>
                    <a:bodyPr/>
                    <a:lstStyle/>
                    <a:p>
                      <a:pPr>
                        <a:lnSpc>
                          <a:spcPct val="100000"/>
                        </a:lnSpc>
                      </a:pPr>
                      <a:endParaRPr sz="2450" dirty="0">
                        <a:latin typeface="微软雅黑" panose="020B0503020204020204" pitchFamily="34" charset="-122"/>
                        <a:ea typeface="微软雅黑" panose="020B0503020204020204" pitchFamily="34" charset="-122"/>
                        <a:cs typeface="Times New Roman" panose="02020603050405020304"/>
                      </a:endParaRPr>
                    </a:p>
                    <a:p>
                      <a:pPr marL="121285">
                        <a:lnSpc>
                          <a:spcPct val="100000"/>
                        </a:lnSpc>
                      </a:pPr>
                      <a:r>
                        <a:rPr sz="2000" dirty="0">
                          <a:latin typeface="微软雅黑" panose="020B0503020204020204" pitchFamily="34" charset="-122"/>
                          <a:ea typeface="微软雅黑" panose="020B0503020204020204" pitchFamily="34" charset="-122"/>
                          <a:cs typeface="华文新魏" panose="02010800040101010101" charset="-122"/>
                        </a:rPr>
                        <a:t>从需求数据库生成</a:t>
                      </a: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DDFE6"/>
                    </a:solidFill>
                  </a:tcPr>
                </a:tc>
                <a:tc>
                  <a:txBody>
                    <a:bodyPr/>
                    <a:lstStyle/>
                    <a:p>
                      <a:pPr>
                        <a:lnSpc>
                          <a:spcPct val="100000"/>
                        </a:lnSpc>
                      </a:pPr>
                      <a:endParaRPr sz="2450" dirty="0">
                        <a:latin typeface="微软雅黑" panose="020B0503020204020204" pitchFamily="34" charset="-122"/>
                        <a:ea typeface="微软雅黑" panose="020B0503020204020204" pitchFamily="34" charset="-122"/>
                        <a:cs typeface="Times New Roman" panose="02020603050405020304"/>
                      </a:endParaRPr>
                    </a:p>
                    <a:p>
                      <a:pPr marL="121920">
                        <a:lnSpc>
                          <a:spcPct val="100000"/>
                        </a:lnSpc>
                      </a:pPr>
                      <a:r>
                        <a:rPr sz="2000" dirty="0">
                          <a:latin typeface="微软雅黑" panose="020B0503020204020204" pitchFamily="34" charset="-122"/>
                          <a:ea typeface="微软雅黑" panose="020B0503020204020204" pitchFamily="34" charset="-122"/>
                          <a:cs typeface="华文新魏" panose="02010800040101010101" charset="-122"/>
                        </a:rPr>
                        <a:t>大中型项目</a:t>
                      </a: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DDFE6"/>
                    </a:solidFill>
                  </a:tcPr>
                </a:tc>
                <a:tc>
                  <a:txBody>
                    <a:bodyPr/>
                    <a:lstStyle/>
                    <a:p>
                      <a:pPr>
                        <a:lnSpc>
                          <a:spcPct val="100000"/>
                        </a:lnSpc>
                      </a:pPr>
                      <a:endParaRPr sz="2450" dirty="0">
                        <a:latin typeface="微软雅黑" panose="020B0503020204020204" pitchFamily="34" charset="-122"/>
                        <a:ea typeface="微软雅黑" panose="020B0503020204020204" pitchFamily="34" charset="-122"/>
                        <a:cs typeface="Times New Roman" panose="02020603050405020304"/>
                      </a:endParaRPr>
                    </a:p>
                    <a:p>
                      <a:pPr marL="121285">
                        <a:lnSpc>
                          <a:spcPct val="100000"/>
                        </a:lnSpc>
                      </a:pPr>
                      <a:r>
                        <a:rPr sz="2000" dirty="0">
                          <a:latin typeface="微软雅黑" panose="020B0503020204020204" pitchFamily="34" charset="-122"/>
                          <a:ea typeface="微软雅黑" panose="020B0503020204020204" pitchFamily="34" charset="-122"/>
                          <a:cs typeface="华文新魏" panose="02010800040101010101" charset="-122"/>
                        </a:rPr>
                        <a:t>产品线的正式规格描述</a:t>
                      </a: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DDFE6"/>
                    </a:solidFill>
                  </a:tcPr>
                </a:tc>
                <a:tc>
                  <a:txBody>
                    <a:bodyPr/>
                    <a:lstStyle/>
                    <a:p>
                      <a:pPr>
                        <a:lnSpc>
                          <a:spcPct val="100000"/>
                        </a:lnSpc>
                      </a:pPr>
                      <a:endParaRPr sz="2450">
                        <a:latin typeface="微软雅黑" panose="020B0503020204020204" pitchFamily="34" charset="-122"/>
                        <a:ea typeface="微软雅黑" panose="020B0503020204020204" pitchFamily="34" charset="-122"/>
                        <a:cs typeface="Times New Roman" panose="02020603050405020304"/>
                      </a:endParaRPr>
                    </a:p>
                    <a:p>
                      <a:pPr marL="121920">
                        <a:lnSpc>
                          <a:spcPct val="100000"/>
                        </a:lnSpc>
                      </a:pPr>
                      <a:r>
                        <a:rPr sz="2000" dirty="0">
                          <a:latin typeface="微软雅黑" panose="020B0503020204020204" pitchFamily="34" charset="-122"/>
                          <a:ea typeface="微软雅黑" panose="020B0503020204020204" pitchFamily="34" charset="-122"/>
                          <a:cs typeface="华文新魏" panose="02010800040101010101" charset="-122"/>
                        </a:rPr>
                        <a:t>小</a:t>
                      </a:r>
                      <a:endParaRPr sz="2000">
                        <a:latin typeface="微软雅黑" panose="020B0503020204020204" pitchFamily="34" charset="-122"/>
                        <a:ea typeface="微软雅黑" panose="020B0503020204020204" pitchFamily="34" charset="-122"/>
                        <a:cs typeface="华文新魏" panose="02010800040101010101" charset="-122"/>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DDFE6"/>
                    </a:solidFill>
                  </a:tcPr>
                </a:tc>
                <a:tc>
                  <a:txBody>
                    <a:bodyPr/>
                    <a:lstStyle/>
                    <a:p>
                      <a:pPr marL="121920" marR="179705">
                        <a:lnSpc>
                          <a:spcPct val="100000"/>
                        </a:lnSpc>
                        <a:spcBef>
                          <a:spcPts val="1615"/>
                        </a:spcBef>
                      </a:pPr>
                      <a:r>
                        <a:rPr sz="2000" dirty="0">
                          <a:latin typeface="微软雅黑" panose="020B0503020204020204" pitchFamily="34" charset="-122"/>
                          <a:ea typeface="微软雅黑" panose="020B0503020204020204" pitchFamily="34" charset="-122"/>
                          <a:cs typeface="华文新魏" panose="02010800040101010101" charset="-122"/>
                        </a:rPr>
                        <a:t>需求数据库，有数据库管理能力 的分析师</a:t>
                      </a:r>
                    </a:p>
                  </a:txBody>
                  <a:tcPr marL="0" marR="0" marT="20510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DDFE6"/>
                    </a:solidFill>
                  </a:tcPr>
                </a:tc>
                <a:extLst>
                  <a:ext uri="{0D108BD9-81ED-4DB2-BD59-A6C34878D82A}">
                    <a16:rowId xmlns:a16="http://schemas.microsoft.com/office/drawing/2014/main" val="10003"/>
                  </a:ext>
                </a:extLst>
              </a:tr>
              <a:tr h="1020762">
                <a:tc>
                  <a:txBody>
                    <a:bodyPr/>
                    <a:lstStyle/>
                    <a:p>
                      <a:pPr>
                        <a:lnSpc>
                          <a:spcPct val="100000"/>
                        </a:lnSpc>
                      </a:pPr>
                      <a:endParaRPr sz="2450" dirty="0">
                        <a:latin typeface="微软雅黑" panose="020B0503020204020204" pitchFamily="34" charset="-122"/>
                        <a:ea typeface="微软雅黑" panose="020B0503020204020204" pitchFamily="34" charset="-122"/>
                        <a:cs typeface="Times New Roman" panose="02020603050405020304"/>
                      </a:endParaRPr>
                    </a:p>
                    <a:p>
                      <a:pPr marL="121285">
                        <a:lnSpc>
                          <a:spcPct val="100000"/>
                        </a:lnSpc>
                      </a:pPr>
                      <a:r>
                        <a:rPr sz="2000" dirty="0">
                          <a:latin typeface="微软雅黑" panose="020B0503020204020204" pitchFamily="34" charset="-122"/>
                          <a:ea typeface="微软雅黑" panose="020B0503020204020204" pitchFamily="34" charset="-122"/>
                          <a:cs typeface="华文新魏" panose="02010800040101010101" charset="-122"/>
                        </a:rPr>
                        <a:t>从混合模型生成</a:t>
                      </a: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FF0F3"/>
                    </a:solidFill>
                  </a:tcPr>
                </a:tc>
                <a:tc>
                  <a:txBody>
                    <a:bodyPr/>
                    <a:lstStyle/>
                    <a:p>
                      <a:pPr>
                        <a:lnSpc>
                          <a:spcPct val="100000"/>
                        </a:lnSpc>
                      </a:pPr>
                      <a:endParaRPr sz="2450" dirty="0">
                        <a:latin typeface="微软雅黑" panose="020B0503020204020204" pitchFamily="34" charset="-122"/>
                        <a:ea typeface="微软雅黑" panose="020B0503020204020204" pitchFamily="34" charset="-122"/>
                        <a:cs typeface="Times New Roman" panose="02020603050405020304"/>
                      </a:endParaRPr>
                    </a:p>
                    <a:p>
                      <a:pPr marL="121920">
                        <a:lnSpc>
                          <a:spcPct val="100000"/>
                        </a:lnSpc>
                      </a:pPr>
                      <a:r>
                        <a:rPr sz="2000" dirty="0">
                          <a:latin typeface="微软雅黑" panose="020B0503020204020204" pitchFamily="34" charset="-122"/>
                          <a:ea typeface="微软雅黑" panose="020B0503020204020204" pitchFamily="34" charset="-122"/>
                          <a:cs typeface="华文新魏" panose="02010800040101010101" charset="-122"/>
                        </a:rPr>
                        <a:t>中小型项目</a:t>
                      </a: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FF0F3"/>
                    </a:solidFill>
                  </a:tcPr>
                </a:tc>
                <a:tc>
                  <a:txBody>
                    <a:bodyPr/>
                    <a:lstStyle/>
                    <a:p>
                      <a:pPr>
                        <a:lnSpc>
                          <a:spcPct val="100000"/>
                        </a:lnSpc>
                      </a:pPr>
                      <a:endParaRPr sz="2450" dirty="0">
                        <a:latin typeface="微软雅黑" panose="020B0503020204020204" pitchFamily="34" charset="-122"/>
                        <a:ea typeface="微软雅黑" panose="020B0503020204020204" pitchFamily="34" charset="-122"/>
                        <a:cs typeface="Times New Roman" panose="02020603050405020304"/>
                      </a:endParaRPr>
                    </a:p>
                    <a:p>
                      <a:pPr marL="121285">
                        <a:lnSpc>
                          <a:spcPct val="100000"/>
                        </a:lnSpc>
                      </a:pPr>
                      <a:r>
                        <a:rPr sz="2000" dirty="0">
                          <a:latin typeface="微软雅黑" panose="020B0503020204020204" pitchFamily="34" charset="-122"/>
                          <a:ea typeface="微软雅黑" panose="020B0503020204020204" pitchFamily="34" charset="-122"/>
                          <a:cs typeface="华文新魏" panose="02010800040101010101" charset="-122"/>
                        </a:rPr>
                        <a:t>单个产品的定义</a:t>
                      </a: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FF0F3"/>
                    </a:solidFill>
                  </a:tcPr>
                </a:tc>
                <a:tc>
                  <a:txBody>
                    <a:bodyPr/>
                    <a:lstStyle/>
                    <a:p>
                      <a:pPr>
                        <a:lnSpc>
                          <a:spcPct val="100000"/>
                        </a:lnSpc>
                      </a:pPr>
                      <a:endParaRPr sz="2450">
                        <a:latin typeface="微软雅黑" panose="020B0503020204020204" pitchFamily="34" charset="-122"/>
                        <a:ea typeface="微软雅黑" panose="020B0503020204020204" pitchFamily="34" charset="-122"/>
                        <a:cs typeface="Times New Roman" panose="02020603050405020304"/>
                      </a:endParaRPr>
                    </a:p>
                    <a:p>
                      <a:pPr marL="121920">
                        <a:lnSpc>
                          <a:spcPct val="100000"/>
                        </a:lnSpc>
                      </a:pPr>
                      <a:r>
                        <a:rPr sz="2000" dirty="0">
                          <a:latin typeface="微软雅黑" panose="020B0503020204020204" pitchFamily="34" charset="-122"/>
                          <a:ea typeface="微软雅黑" panose="020B0503020204020204" pitchFamily="34" charset="-122"/>
                          <a:cs typeface="华文新魏" panose="02010800040101010101" charset="-122"/>
                        </a:rPr>
                        <a:t>中小</a:t>
                      </a:r>
                      <a:endParaRPr sz="2000">
                        <a:latin typeface="微软雅黑" panose="020B0503020204020204" pitchFamily="34" charset="-122"/>
                        <a:ea typeface="微软雅黑" panose="020B0503020204020204" pitchFamily="34" charset="-122"/>
                        <a:cs typeface="华文新魏" panose="02010800040101010101" charset="-122"/>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FF0F3"/>
                    </a:solidFill>
                  </a:tcPr>
                </a:tc>
                <a:tc>
                  <a:txBody>
                    <a:bodyPr/>
                    <a:lstStyle/>
                    <a:p>
                      <a:pPr marL="121920" marR="179705">
                        <a:lnSpc>
                          <a:spcPct val="100000"/>
                        </a:lnSpc>
                        <a:spcBef>
                          <a:spcPts val="1615"/>
                        </a:spcBef>
                      </a:pPr>
                      <a:r>
                        <a:rPr sz="2000" dirty="0">
                          <a:latin typeface="微软雅黑" panose="020B0503020204020204" pitchFamily="34" charset="-122"/>
                          <a:ea typeface="微软雅黑" panose="020B0503020204020204" pitchFamily="34" charset="-122"/>
                          <a:cs typeface="华文新魏" panose="02010800040101010101" charset="-122"/>
                        </a:rPr>
                        <a:t>有良好协作技巧，需求工程，数 据库管理，建模能力的分析师</a:t>
                      </a:r>
                    </a:p>
                  </a:txBody>
                  <a:tcPr marL="0" marR="0" marT="20510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FF0F3"/>
                    </a:solidFill>
                  </a:tcPr>
                </a:tc>
                <a:extLst>
                  <a:ext uri="{0D108BD9-81ED-4DB2-BD59-A6C34878D82A}">
                    <a16:rowId xmlns:a16="http://schemas.microsoft.com/office/drawing/2014/main" val="10004"/>
                  </a:ext>
                </a:extLst>
              </a:tr>
            </a:tbl>
          </a:graphicData>
        </a:graphic>
      </p:graphicFrame>
      <p:sp>
        <p:nvSpPr>
          <p:cNvPr id="6" name="标题 5"/>
          <p:cNvSpPr>
            <a:spLocks noGrp="1"/>
          </p:cNvSpPr>
          <p:nvPr>
            <p:ph type="title"/>
          </p:nvPr>
        </p:nvSpPr>
        <p:spPr/>
        <p:txBody>
          <a:bodyPr/>
          <a:lstStyle/>
          <a:p>
            <a:r>
              <a:rPr lang="zh-CN" altLang="en-US" spc="-5" dirty="0"/>
              <a:t>生成不同风格</a:t>
            </a:r>
            <a:r>
              <a:rPr lang="en-US" altLang="zh-CN" b="1" spc="-5" dirty="0">
                <a:cs typeface="Bookman Old Style" panose="02050604050505020204"/>
              </a:rPr>
              <a:t>SRS</a:t>
            </a:r>
            <a:r>
              <a:rPr lang="zh-CN" altLang="en-US" spc="-5" dirty="0"/>
              <a:t>的方法总览</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63</a:t>
            </a:fld>
            <a:endParaRPr lang="zh-CN" altLang="en-US"/>
          </a:p>
        </p:txBody>
      </p:sp>
    </p:spTree>
    <p:extLst>
      <p:ext uri="{BB962C8B-B14F-4D97-AF65-F5344CB8AC3E}">
        <p14:creationId xmlns:p14="http://schemas.microsoft.com/office/powerpoint/2010/main" val="1658762777"/>
      </p:ext>
    </p:extLst>
  </p:cSld>
  <p:clrMapOvr>
    <a:masterClrMapping/>
  </p:clrMapOvr>
  <mc:AlternateContent xmlns:mc="http://schemas.openxmlformats.org/markup-compatibility/2006" xmlns:p14="http://schemas.microsoft.com/office/powerpoint/2010/main">
    <mc:Choice Requires="p14">
      <p:transition spd="slow" p14:dur="2000" advTm="113473"/>
    </mc:Choice>
    <mc:Fallback xmlns="">
      <p:transition spd="slow" advTm="113473"/>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17221" y="1386840"/>
            <a:ext cx="11090686" cy="4745355"/>
          </a:xfrm>
          <a:prstGeom prst="rect">
            <a:avLst/>
          </a:prstGeom>
        </p:spPr>
        <p:txBody>
          <a:bodyPr vert="horz" wrap="square" lIns="0" tIns="205740" rIns="0" bIns="0" rtlCol="0">
            <a:spAutoFit/>
          </a:bodyPr>
          <a:lstStyle/>
          <a:p>
            <a:pPr marL="355600" indent="-342900" algn="just">
              <a:lnSpc>
                <a:spcPct val="100000"/>
              </a:lnSpc>
              <a:spcBef>
                <a:spcPts val="1620"/>
              </a:spcBef>
              <a:buFont typeface="Arial" panose="020B0604020202020204" pitchFamily="34" charset="0"/>
              <a:buChar char="•"/>
              <a:tabLst>
                <a:tab pos="241300" algn="l"/>
              </a:tabLst>
            </a:pPr>
            <a:r>
              <a:rPr sz="2400" dirty="0">
                <a:solidFill>
                  <a:srgbClr val="FF0000"/>
                </a:solidFill>
                <a:latin typeface="微软雅黑" panose="020B0503020204020204" pitchFamily="34" charset="-122"/>
                <a:ea typeface="微软雅黑" panose="020B0503020204020204" pitchFamily="34" charset="-122"/>
                <a:cs typeface="华文新魏" panose="02010800040101010101" charset="-122"/>
              </a:rPr>
              <a:t>撰写用户手册作为一种性价比高的一箭双雕的方法</a:t>
            </a:r>
            <a:r>
              <a:rPr sz="2400" dirty="0">
                <a:latin typeface="微软雅黑" panose="020B0503020204020204" pitchFamily="34" charset="-122"/>
                <a:ea typeface="微软雅黑" panose="020B0503020204020204" pitchFamily="34" charset="-122"/>
                <a:cs typeface="华文新魏" panose="02010800040101010101" charset="-122"/>
              </a:rPr>
              <a:t>，同时获得</a:t>
            </a:r>
            <a:r>
              <a:rPr sz="2400" dirty="0">
                <a:latin typeface="微软雅黑" panose="020B0503020204020204" pitchFamily="34" charset="-122"/>
                <a:ea typeface="微软雅黑" panose="020B0503020204020204" pitchFamily="34" charset="-122"/>
                <a:cs typeface="Gill Sans MT" panose="020B0502020104020203"/>
              </a:rPr>
              <a:t>SRS</a:t>
            </a:r>
            <a:r>
              <a:rPr sz="2400" dirty="0">
                <a:latin typeface="微软雅黑" panose="020B0503020204020204" pitchFamily="34" charset="-122"/>
                <a:ea typeface="微软雅黑" panose="020B0503020204020204" pitchFamily="34" charset="-122"/>
                <a:cs typeface="华文新魏" panose="02010800040101010101" charset="-122"/>
              </a:rPr>
              <a:t>和用户手册</a:t>
            </a:r>
          </a:p>
          <a:p>
            <a:pPr marL="355600" indent="-342900" algn="just">
              <a:lnSpc>
                <a:spcPct val="100000"/>
              </a:lnSpc>
              <a:spcBef>
                <a:spcPts val="1520"/>
              </a:spcBef>
              <a:buFont typeface="Arial" panose="020B0604020202020204" pitchFamily="34" charset="0"/>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用户手册作为</a:t>
            </a:r>
            <a:r>
              <a:rPr sz="2400" dirty="0">
                <a:latin typeface="微软雅黑" panose="020B0503020204020204" pitchFamily="34" charset="-122"/>
                <a:ea typeface="微软雅黑" panose="020B0503020204020204" pitchFamily="34" charset="-122"/>
                <a:cs typeface="Gill Sans MT" panose="020B0502020104020203"/>
              </a:rPr>
              <a:t>SRS</a:t>
            </a:r>
            <a:r>
              <a:rPr sz="2400" dirty="0">
                <a:latin typeface="微软雅黑" panose="020B0503020204020204" pitchFamily="34" charset="-122"/>
                <a:ea typeface="微软雅黑" panose="020B0503020204020204" pitchFamily="34" charset="-122"/>
                <a:cs typeface="华文新魏" panose="02010800040101010101" charset="-122"/>
              </a:rPr>
              <a:t>对于和用户交互的系统是比较有效的，这样系统由交互驱动</a:t>
            </a:r>
          </a:p>
          <a:p>
            <a:pPr marL="355600" indent="-342900" algn="just">
              <a:lnSpc>
                <a:spcPct val="100000"/>
              </a:lnSpc>
              <a:spcBef>
                <a:spcPts val="1620"/>
              </a:spcBef>
              <a:buFont typeface="Arial" panose="020B0604020202020204" pitchFamily="34" charset="0"/>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好的手册描述了所有用例的所有场景</a:t>
            </a:r>
          </a:p>
          <a:p>
            <a:pPr marL="698500" lvl="1" indent="-229235" algn="just">
              <a:lnSpc>
                <a:spcPct val="100000"/>
              </a:lnSpc>
              <a:spcBef>
                <a:spcPts val="126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Gill Sans MT" panose="020B0502020104020203"/>
              </a:rPr>
              <a:t>Fred </a:t>
            </a:r>
            <a:r>
              <a:rPr sz="2400" dirty="0" err="1">
                <a:latin typeface="微软雅黑" panose="020B0503020204020204" pitchFamily="34" charset="-122"/>
                <a:ea typeface="微软雅黑" panose="020B0503020204020204" pitchFamily="34" charset="-122"/>
                <a:cs typeface="Gill Sans MT" panose="020B0502020104020203"/>
              </a:rPr>
              <a:t>Brooks</a:t>
            </a:r>
            <a:r>
              <a:rPr sz="2400" dirty="0" err="1">
                <a:latin typeface="微软雅黑" panose="020B0503020204020204" pitchFamily="34" charset="-122"/>
                <a:ea typeface="微软雅黑" panose="020B0503020204020204" pitchFamily="34" charset="-122"/>
                <a:cs typeface="华文新魏" panose="02010800040101010101" charset="-122"/>
              </a:rPr>
              <a:t>的《人月神话》中描述了将用户手册作为需求规格说明书的做法</a:t>
            </a:r>
            <a:endParaRPr sz="2400" dirty="0">
              <a:latin typeface="微软雅黑" panose="020B0503020204020204" pitchFamily="34" charset="-122"/>
              <a:ea typeface="微软雅黑" panose="020B0503020204020204" pitchFamily="34" charset="-122"/>
              <a:cs typeface="华文新魏" panose="02010800040101010101" charset="-122"/>
            </a:endParaRPr>
          </a:p>
          <a:p>
            <a:pPr marL="355600" marR="1532890" lvl="1" indent="-342900" algn="just">
              <a:lnSpc>
                <a:spcPts val="4700"/>
              </a:lnSpc>
              <a:spcBef>
                <a:spcPts val="60"/>
              </a:spcBef>
              <a:buFont typeface="Arial" panose="020B0604020202020204" pitchFamily="34" charset="0"/>
              <a:buChar char="•"/>
              <a:tabLst>
                <a:tab pos="698500" algn="l"/>
              </a:tabLst>
            </a:pPr>
            <a:r>
              <a:rPr sz="2400" dirty="0" err="1">
                <a:latin typeface="微软雅黑" panose="020B0503020204020204" pitchFamily="34" charset="-122"/>
                <a:ea typeface="微软雅黑" panose="020B0503020204020204" pitchFamily="34" charset="-122"/>
                <a:cs typeface="华文新魏" panose="02010800040101010101" charset="-122"/>
              </a:rPr>
              <a:t>据说在苹果的第一台电脑的编码工作开始之前用户手册就写好</a:t>
            </a:r>
            <a:r>
              <a:rPr lang="zh-CN" altLang="en-US" sz="2400" dirty="0">
                <a:latin typeface="微软雅黑" panose="020B0503020204020204" pitchFamily="34" charset="-122"/>
                <a:ea typeface="微软雅黑" panose="020B0503020204020204" pitchFamily="34" charset="-122"/>
                <a:cs typeface="华文新魏" panose="02010800040101010101" charset="-122"/>
              </a:rPr>
              <a:t>了，但是用户手册并没有描述：</a:t>
            </a:r>
            <a:endParaRPr sz="2400" dirty="0">
              <a:latin typeface="微软雅黑" panose="020B0503020204020204" pitchFamily="34" charset="-122"/>
              <a:ea typeface="微软雅黑" panose="020B0503020204020204" pitchFamily="34" charset="-122"/>
              <a:cs typeface="华文新魏" panose="02010800040101010101" charset="-122"/>
            </a:endParaRPr>
          </a:p>
          <a:p>
            <a:pPr marL="698500" lvl="1" indent="-229235" algn="just">
              <a:lnSpc>
                <a:spcPct val="100000"/>
              </a:lnSpc>
              <a:spcBef>
                <a:spcPts val="620"/>
              </a:spcBef>
              <a:buFont typeface="Arial" panose="020B0604020202020204"/>
              <a:buChar char="•"/>
              <a:tabLst>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非功能性需求</a:t>
            </a:r>
          </a:p>
          <a:p>
            <a:pPr marL="698500" lvl="1" indent="-229235" algn="just">
              <a:lnSpc>
                <a:spcPct val="100000"/>
              </a:lnSpc>
              <a:spcBef>
                <a:spcPts val="1120"/>
              </a:spcBef>
              <a:buFont typeface="Arial" panose="020B0604020202020204"/>
              <a:buChar char="•"/>
              <a:tabLst>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不和用户交互的功能性需求</a:t>
            </a:r>
          </a:p>
          <a:p>
            <a:pPr marL="1155700" lvl="2" indent="-228600" algn="just">
              <a:lnSpc>
                <a:spcPct val="100000"/>
              </a:lnSpc>
              <a:spcBef>
                <a:spcPts val="1080"/>
              </a:spcBef>
              <a:buFont typeface="Arial" panose="020B0604020202020204"/>
              <a:buChar char="•"/>
              <a:tabLst>
                <a:tab pos="1155065" algn="l"/>
                <a:tab pos="1155700" algn="l"/>
              </a:tabLst>
            </a:pPr>
            <a:r>
              <a:rPr sz="2000" dirty="0">
                <a:latin typeface="微软雅黑" panose="020B0503020204020204" pitchFamily="34" charset="-122"/>
                <a:ea typeface="微软雅黑" panose="020B0503020204020204" pitchFamily="34" charset="-122"/>
                <a:cs typeface="华文新魏" panose="02010800040101010101" charset="-122"/>
              </a:rPr>
              <a:t>比如：函数计算、过滤器或者翻译工具的时候</a:t>
            </a:r>
          </a:p>
        </p:txBody>
      </p:sp>
      <p:sp>
        <p:nvSpPr>
          <p:cNvPr id="6" name="标题 5"/>
          <p:cNvSpPr>
            <a:spLocks noGrp="1"/>
          </p:cNvSpPr>
          <p:nvPr>
            <p:ph type="title"/>
          </p:nvPr>
        </p:nvSpPr>
        <p:spPr/>
        <p:txBody>
          <a:bodyPr/>
          <a:lstStyle/>
          <a:p>
            <a:r>
              <a:rPr lang="zh-CN" altLang="en-US" spc="-5" dirty="0"/>
              <a:t>用户手册作为</a:t>
            </a:r>
            <a:r>
              <a:rPr lang="en-US" altLang="zh-CN" b="1" spc="-5" dirty="0">
                <a:cs typeface="Bookman Old Style" panose="02050604050505020204"/>
              </a:rPr>
              <a:t>SRS</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64</a:t>
            </a:fld>
            <a:endParaRPr lang="zh-CN" altLang="en-US"/>
          </a:p>
        </p:txBody>
      </p:sp>
    </p:spTree>
    <p:extLst>
      <p:ext uri="{BB962C8B-B14F-4D97-AF65-F5344CB8AC3E}">
        <p14:creationId xmlns:p14="http://schemas.microsoft.com/office/powerpoint/2010/main" val="3546469714"/>
      </p:ext>
    </p:extLst>
  </p:cSld>
  <p:clrMapOvr>
    <a:masterClrMapping/>
  </p:clrMapOvr>
  <mc:AlternateContent xmlns:mc="http://schemas.openxmlformats.org/markup-compatibility/2006" xmlns:p14="http://schemas.microsoft.com/office/powerpoint/2010/main">
    <mc:Choice Requires="p14">
      <p:transition spd="slow" p14:dur="2000" advTm="90601"/>
    </mc:Choice>
    <mc:Fallback xmlns="">
      <p:transition spd="slow" advTm="90601"/>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37539" y="1408475"/>
            <a:ext cx="3759200" cy="5000087"/>
          </a:xfrm>
          <a:prstGeom prst="rect">
            <a:avLst/>
          </a:prstGeom>
        </p:spPr>
        <p:txBody>
          <a:bodyPr vert="horz" wrap="square" lIns="0" tIns="36830" rIns="0" bIns="0" rtlCol="0">
            <a:spAutoFit/>
          </a:bodyPr>
          <a:lstStyle/>
          <a:p>
            <a:pPr marL="241300" indent="-228600">
              <a:lnSpc>
                <a:spcPct val="100000"/>
              </a:lnSpc>
              <a:spcBef>
                <a:spcPts val="29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介绍</a:t>
            </a:r>
          </a:p>
          <a:p>
            <a:pPr marL="698500" lvl="1" indent="-229235">
              <a:lnSpc>
                <a:spcPct val="100000"/>
              </a:lnSpc>
              <a:spcBef>
                <a:spcPts val="16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产品总览及基本原理</a:t>
            </a:r>
          </a:p>
          <a:p>
            <a:pPr marL="698500" lvl="1" indent="-229235">
              <a:lnSpc>
                <a:spcPct val="100000"/>
              </a:lnSpc>
              <a:spcBef>
                <a:spcPts val="3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术语和基本特征</a:t>
            </a:r>
          </a:p>
          <a:p>
            <a:pPr marL="698500" lvl="1" indent="-229235">
              <a:lnSpc>
                <a:spcPct val="100000"/>
              </a:lnSpc>
              <a:spcBef>
                <a:spcPts val="3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展示格式与报表格式的总结</a:t>
            </a:r>
          </a:p>
          <a:p>
            <a:pPr marL="698500" lvl="1" indent="-229235">
              <a:lnSpc>
                <a:spcPct val="100000"/>
              </a:lnSpc>
              <a:spcBef>
                <a:spcPts val="2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手册的大纲</a:t>
            </a:r>
          </a:p>
          <a:p>
            <a:pPr marL="241300" indent="-228600">
              <a:lnSpc>
                <a:spcPct val="100000"/>
              </a:lnSpc>
              <a:spcBef>
                <a:spcPts val="76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开始</a:t>
            </a:r>
          </a:p>
          <a:p>
            <a:pPr marL="698500" lvl="1" indent="-229235">
              <a:lnSpc>
                <a:spcPct val="100000"/>
              </a:lnSpc>
              <a:spcBef>
                <a:spcPts val="26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开始指令</a:t>
            </a:r>
          </a:p>
          <a:p>
            <a:pPr marL="698500" lvl="1" indent="-229235">
              <a:lnSpc>
                <a:spcPct val="100000"/>
              </a:lnSpc>
              <a:spcBef>
                <a:spcPts val="2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帮助模式</a:t>
            </a:r>
          </a:p>
          <a:p>
            <a:pPr marL="698500" lvl="1" indent="-229235">
              <a:lnSpc>
                <a:spcPct val="100000"/>
              </a:lnSpc>
              <a:spcBef>
                <a:spcPts val="3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样例运行</a:t>
            </a:r>
          </a:p>
          <a:p>
            <a:pPr marL="241300" indent="-228600">
              <a:lnSpc>
                <a:spcPct val="100000"/>
              </a:lnSpc>
              <a:spcBef>
                <a:spcPts val="76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操作模式</a:t>
            </a:r>
            <a:r>
              <a:rPr sz="2400" dirty="0">
                <a:latin typeface="微软雅黑" panose="020B0503020204020204" pitchFamily="34" charset="-122"/>
                <a:ea typeface="微软雅黑" panose="020B0503020204020204" pitchFamily="34" charset="-122"/>
                <a:cs typeface="Gill Sans MT" panose="020B0502020104020203"/>
              </a:rPr>
              <a:t>:</a:t>
            </a:r>
          </a:p>
          <a:p>
            <a:pPr marL="698500" lvl="1" indent="-229235">
              <a:lnSpc>
                <a:spcPct val="100000"/>
              </a:lnSpc>
              <a:spcBef>
                <a:spcPts val="16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命令行</a:t>
            </a:r>
            <a:r>
              <a:rPr sz="2000" dirty="0">
                <a:latin typeface="微软雅黑" panose="020B0503020204020204" pitchFamily="34" charset="-122"/>
                <a:ea typeface="微软雅黑" panose="020B0503020204020204" pitchFamily="34" charset="-122"/>
                <a:cs typeface="Gill Sans MT" panose="020B0502020104020203"/>
              </a:rPr>
              <a:t>/</a:t>
            </a:r>
            <a:r>
              <a:rPr sz="2000" dirty="0">
                <a:latin typeface="微软雅黑" panose="020B0503020204020204" pitchFamily="34" charset="-122"/>
                <a:ea typeface="微软雅黑" panose="020B0503020204020204" pitchFamily="34" charset="-122"/>
                <a:cs typeface="华文新魏" panose="02010800040101010101" charset="-122"/>
              </a:rPr>
              <a:t>对话框</a:t>
            </a:r>
            <a:r>
              <a:rPr sz="2000" dirty="0">
                <a:latin typeface="微软雅黑" panose="020B0503020204020204" pitchFamily="34" charset="-122"/>
                <a:ea typeface="微软雅黑" panose="020B0503020204020204" pitchFamily="34" charset="-122"/>
                <a:cs typeface="Gill Sans MT" panose="020B0502020104020203"/>
              </a:rPr>
              <a:t>/</a:t>
            </a:r>
            <a:r>
              <a:rPr sz="2000" dirty="0">
                <a:latin typeface="微软雅黑" panose="020B0503020204020204" pitchFamily="34" charset="-122"/>
                <a:ea typeface="微软雅黑" panose="020B0503020204020204" pitchFamily="34" charset="-122"/>
                <a:cs typeface="华文新魏" panose="02010800040101010101" charset="-122"/>
              </a:rPr>
              <a:t>报告</a:t>
            </a:r>
          </a:p>
          <a:p>
            <a:pPr marL="241300" indent="-228600">
              <a:lnSpc>
                <a:spcPct val="100000"/>
              </a:lnSpc>
              <a:spcBef>
                <a:spcPts val="76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高级特性</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命令语法和系统选项</a:t>
            </a:r>
          </a:p>
        </p:txBody>
      </p:sp>
      <p:sp>
        <p:nvSpPr>
          <p:cNvPr id="4" name="object 4"/>
          <p:cNvSpPr/>
          <p:nvPr/>
        </p:nvSpPr>
        <p:spPr>
          <a:xfrm>
            <a:off x="4422139" y="1822416"/>
            <a:ext cx="7405648" cy="4454417"/>
          </a:xfrm>
          <a:prstGeom prst="rect">
            <a:avLst/>
          </a:prstGeom>
          <a:blipFill>
            <a:blip r:embed="rId3" cstate="print"/>
            <a:stretch>
              <a:fillRect/>
            </a:stretch>
          </a:blipFill>
        </p:spPr>
        <p:txBody>
          <a:bodyPr wrap="square" lIns="0" tIns="0" rIns="0" bIns="0" rtlCol="0"/>
          <a:lstStyle/>
          <a:p>
            <a:endParaRPr/>
          </a:p>
        </p:txBody>
      </p:sp>
      <p:sp>
        <p:nvSpPr>
          <p:cNvPr id="7" name="标题 6"/>
          <p:cNvSpPr>
            <a:spLocks noGrp="1"/>
          </p:cNvSpPr>
          <p:nvPr>
            <p:ph type="title"/>
          </p:nvPr>
        </p:nvSpPr>
        <p:spPr/>
        <p:txBody>
          <a:bodyPr/>
          <a:lstStyle/>
          <a:p>
            <a:r>
              <a:rPr lang="zh-CN" altLang="en-US" spc="-5" dirty="0"/>
              <a:t>用户手册大纲</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65</a:t>
            </a:fld>
            <a:endParaRPr lang="zh-CN" altLang="en-US"/>
          </a:p>
        </p:txBody>
      </p:sp>
    </p:spTree>
    <p:extLst>
      <p:ext uri="{BB962C8B-B14F-4D97-AF65-F5344CB8AC3E}">
        <p14:creationId xmlns:p14="http://schemas.microsoft.com/office/powerpoint/2010/main" val="2398307160"/>
      </p:ext>
    </p:extLst>
  </p:cSld>
  <p:clrMapOvr>
    <a:masterClrMapping/>
  </p:clrMapOvr>
  <mc:AlternateContent xmlns:mc="http://schemas.openxmlformats.org/markup-compatibility/2006" xmlns:p14="http://schemas.microsoft.com/office/powerpoint/2010/main">
    <mc:Choice Requires="p14">
      <p:transition spd="slow" p14:dur="2000" advTm="45910"/>
    </mc:Choice>
    <mc:Fallback xmlns="">
      <p:transition spd="slow" advTm="45910"/>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02342" y="2300447"/>
            <a:ext cx="5435600" cy="3657600"/>
          </a:xfrm>
          <a:prstGeom prst="rect">
            <a:avLst/>
          </a:prstGeom>
        </p:spPr>
        <p:txBody>
          <a:bodyPr vert="horz" wrap="square" lIns="0" tIns="91440" rIns="0" bIns="0" rtlCol="0">
            <a:spAutoFit/>
          </a:bodyPr>
          <a:lstStyle/>
          <a:p>
            <a:pPr marL="12700">
              <a:lnSpc>
                <a:spcPct val="100000"/>
              </a:lnSpc>
              <a:spcBef>
                <a:spcPts val="720"/>
              </a:spcBef>
            </a:pPr>
            <a:r>
              <a:rPr sz="2400" dirty="0">
                <a:latin typeface="微软雅黑" panose="020B0503020204020204" pitchFamily="34" charset="-122"/>
                <a:ea typeface="微软雅黑" panose="020B0503020204020204" pitchFamily="34" charset="-122"/>
                <a:cs typeface="华文新魏" panose="02010800040101010101" charset="-122"/>
              </a:rPr>
              <a:t>一个高质量的需求规格说明</a:t>
            </a:r>
          </a:p>
          <a:p>
            <a:pPr marL="241300" indent="-228600">
              <a:lnSpc>
                <a:spcPct val="100000"/>
              </a:lnSpc>
              <a:spcBef>
                <a:spcPts val="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是所有需求的集合</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描述产品要提供的所有功能</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是软件系统解决方案的商业合同的基础</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是</a:t>
            </a:r>
            <a:r>
              <a:rPr sz="2400" dirty="0">
                <a:solidFill>
                  <a:srgbClr val="FF0000"/>
                </a:solidFill>
                <a:latin typeface="微软雅黑" panose="020B0503020204020204" pitchFamily="34" charset="-122"/>
                <a:ea typeface="微软雅黑" panose="020B0503020204020204" pitchFamily="34" charset="-122"/>
                <a:cs typeface="华文新魏" panose="02010800040101010101" charset="-122"/>
              </a:rPr>
              <a:t>测试计划的基础</a:t>
            </a:r>
            <a:endParaRPr sz="2400" dirty="0">
              <a:latin typeface="微软雅黑" panose="020B0503020204020204" pitchFamily="34" charset="-122"/>
              <a:ea typeface="微软雅黑" panose="020B0503020204020204" pitchFamily="34" charset="-122"/>
              <a:cs typeface="华文新魏" panose="02010800040101010101" charset="-122"/>
            </a:endParaRP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定义产品需求的度量标准</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是产品需求跟踪的先决条件</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影响开发产品的项目计划</a:t>
            </a:r>
          </a:p>
        </p:txBody>
      </p:sp>
      <p:sp>
        <p:nvSpPr>
          <p:cNvPr id="4" name="object 4"/>
          <p:cNvSpPr/>
          <p:nvPr/>
        </p:nvSpPr>
        <p:spPr>
          <a:xfrm>
            <a:off x="7543147" y="4028221"/>
            <a:ext cx="2233295" cy="1682114"/>
          </a:xfrm>
          <a:custGeom>
            <a:avLst/>
            <a:gdLst/>
            <a:ahLst/>
            <a:cxnLst/>
            <a:rect l="l" t="t" r="r" b="b"/>
            <a:pathLst>
              <a:path w="2233295" h="1682114">
                <a:moveTo>
                  <a:pt x="2232955" y="0"/>
                </a:moveTo>
                <a:lnTo>
                  <a:pt x="112044" y="183429"/>
                </a:lnTo>
                <a:lnTo>
                  <a:pt x="0" y="426674"/>
                </a:lnTo>
                <a:lnTo>
                  <a:pt x="401214" y="685375"/>
                </a:lnTo>
                <a:lnTo>
                  <a:pt x="245675" y="751812"/>
                </a:lnTo>
                <a:lnTo>
                  <a:pt x="920750" y="1203514"/>
                </a:lnTo>
                <a:lnTo>
                  <a:pt x="720326" y="1262655"/>
                </a:lnTo>
                <a:lnTo>
                  <a:pt x="1084658" y="1681797"/>
                </a:lnTo>
                <a:lnTo>
                  <a:pt x="1836957" y="1521063"/>
                </a:lnTo>
                <a:lnTo>
                  <a:pt x="2232955" y="0"/>
                </a:lnTo>
                <a:close/>
              </a:path>
            </a:pathLst>
          </a:custGeom>
          <a:solidFill>
            <a:srgbClr val="B0DBF5"/>
          </a:solidFill>
        </p:spPr>
        <p:txBody>
          <a:bodyPr wrap="square" lIns="0" tIns="0" rIns="0" bIns="0" rtlCol="0"/>
          <a:lstStyle/>
          <a:p>
            <a:endParaRPr/>
          </a:p>
        </p:txBody>
      </p:sp>
      <p:sp>
        <p:nvSpPr>
          <p:cNvPr id="5" name="object 5"/>
          <p:cNvSpPr/>
          <p:nvPr/>
        </p:nvSpPr>
        <p:spPr>
          <a:xfrm>
            <a:off x="7809007" y="4063501"/>
            <a:ext cx="1917052" cy="1485784"/>
          </a:xfrm>
          <a:prstGeom prst="rect">
            <a:avLst/>
          </a:prstGeom>
          <a:blipFill>
            <a:blip r:embed="rId3" cstate="print"/>
            <a:stretch>
              <a:fillRect/>
            </a:stretch>
          </a:blipFill>
        </p:spPr>
        <p:txBody>
          <a:bodyPr wrap="square" lIns="0" tIns="0" rIns="0" bIns="0" rtlCol="0"/>
          <a:lstStyle/>
          <a:p>
            <a:endParaRPr/>
          </a:p>
        </p:txBody>
      </p:sp>
      <p:sp>
        <p:nvSpPr>
          <p:cNvPr id="8" name="标题 7"/>
          <p:cNvSpPr>
            <a:spLocks noGrp="1"/>
          </p:cNvSpPr>
          <p:nvPr>
            <p:ph type="title"/>
          </p:nvPr>
        </p:nvSpPr>
        <p:spPr/>
        <p:txBody>
          <a:bodyPr/>
          <a:lstStyle/>
          <a:p>
            <a:r>
              <a:rPr lang="zh-CN" altLang="en-US" spc="-5" dirty="0"/>
              <a:t>高质量需求规格说明</a:t>
            </a:r>
            <a:endParaRPr lang="zh-CN" altLang="en-US" dirty="0"/>
          </a:p>
        </p:txBody>
      </p:sp>
      <p:sp>
        <p:nvSpPr>
          <p:cNvPr id="2" name="矩形 1"/>
          <p:cNvSpPr/>
          <p:nvPr/>
        </p:nvSpPr>
        <p:spPr>
          <a:xfrm>
            <a:off x="866718" y="1580069"/>
            <a:ext cx="9167648" cy="830997"/>
          </a:xfrm>
          <a:prstGeom prst="rect">
            <a:avLst/>
          </a:prstGeom>
        </p:spPr>
        <p:txBody>
          <a:bodyPr wrap="square">
            <a:spAutoFit/>
          </a:bodyPr>
          <a:lstStyle/>
          <a:p>
            <a:r>
              <a:rPr lang="zh-CN" altLang="en-US" sz="2400" dirty="0">
                <a:solidFill>
                  <a:srgbClr val="FF0000"/>
                </a:solidFill>
                <a:latin typeface="微软雅黑" panose="020B0503020204020204" pitchFamily="34" charset="-122"/>
                <a:ea typeface="微软雅黑" panose="020B0503020204020204" pitchFamily="34" charset="-122"/>
              </a:rPr>
              <a:t>需求规格说明要覆盖软件产品的功能、外部接口、性能、质量属性、设计约束！</a:t>
            </a:r>
          </a:p>
        </p:txBody>
      </p:sp>
      <p:sp>
        <p:nvSpPr>
          <p:cNvPr id="6" name="灯片编号占位符 5"/>
          <p:cNvSpPr>
            <a:spLocks noGrp="1"/>
          </p:cNvSpPr>
          <p:nvPr>
            <p:ph type="sldNum" sz="quarter" idx="12"/>
          </p:nvPr>
        </p:nvSpPr>
        <p:spPr/>
        <p:txBody>
          <a:bodyPr/>
          <a:lstStyle/>
          <a:p>
            <a:fld id="{74D2AB8B-5816-41F2-8B4B-CA5C3E4E6A65}" type="slidenum">
              <a:rPr lang="zh-CN" altLang="en-US" smtClean="0"/>
              <a:t>66</a:t>
            </a:fld>
            <a:endParaRPr lang="zh-CN" altLang="en-US"/>
          </a:p>
        </p:txBody>
      </p:sp>
    </p:spTree>
    <p:extLst>
      <p:ext uri="{BB962C8B-B14F-4D97-AF65-F5344CB8AC3E}">
        <p14:creationId xmlns:p14="http://schemas.microsoft.com/office/powerpoint/2010/main" val="3661271869"/>
      </p:ext>
    </p:extLst>
  </p:cSld>
  <p:clrMapOvr>
    <a:masterClrMapping/>
  </p:clrMapOvr>
  <mc:AlternateContent xmlns:mc="http://schemas.openxmlformats.org/markup-compatibility/2006" xmlns:p14="http://schemas.microsoft.com/office/powerpoint/2010/main">
    <mc:Choice Requires="p14">
      <p:transition spd="slow" p14:dur="2000" advTm="59847"/>
    </mc:Choice>
    <mc:Fallback xmlns="">
      <p:transition spd="slow" advTm="59847"/>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75305" y="1534791"/>
            <a:ext cx="4098399" cy="5039841"/>
          </a:xfrm>
          <a:prstGeom prst="rect">
            <a:avLst/>
          </a:prstGeom>
        </p:spPr>
        <p:txBody>
          <a:bodyPr vert="horz" wrap="square" lIns="0" tIns="91440" rIns="0" bIns="0" rtlCol="0">
            <a:spAutoFit/>
          </a:bodyPr>
          <a:lstStyle/>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正确性</a:t>
            </a:r>
            <a:r>
              <a:rPr sz="2400" spc="-45" dirty="0">
                <a:latin typeface="微软雅黑" panose="020B0503020204020204" pitchFamily="34" charset="-122"/>
                <a:ea typeface="微软雅黑" panose="020B0503020204020204" pitchFamily="34" charset="-122"/>
                <a:cs typeface="华文新魏" panose="02010800040101010101" charset="-122"/>
              </a:rPr>
              <a:t> </a:t>
            </a:r>
            <a:r>
              <a:rPr sz="2400" dirty="0">
                <a:latin typeface="微软雅黑" panose="020B0503020204020204" pitchFamily="34" charset="-122"/>
                <a:ea typeface="微软雅黑" panose="020B0503020204020204" pitchFamily="34" charset="-122"/>
                <a:cs typeface="Gill Sans MT" panose="020B0502020104020203"/>
              </a:rPr>
              <a:t>=</a:t>
            </a:r>
            <a:r>
              <a:rPr sz="2400" spc="-45" dirty="0">
                <a:latin typeface="微软雅黑" panose="020B0503020204020204" pitchFamily="34" charset="-122"/>
                <a:ea typeface="微软雅黑" panose="020B0503020204020204" pitchFamily="34" charset="-122"/>
                <a:cs typeface="Gill Sans MT" panose="020B0502020104020203"/>
              </a:rPr>
              <a:t> </a:t>
            </a:r>
            <a:r>
              <a:rPr sz="2400" dirty="0">
                <a:latin typeface="微软雅黑" panose="020B0503020204020204" pitchFamily="34" charset="-122"/>
                <a:ea typeface="微软雅黑" panose="020B0503020204020204" pitchFamily="34" charset="-122"/>
                <a:cs typeface="华文新魏" panose="02010800040101010101" charset="-122"/>
              </a:rPr>
              <a:t>经过验证的</a:t>
            </a:r>
          </a:p>
          <a:p>
            <a:pPr marL="241300" indent="-228600">
              <a:lnSpc>
                <a:spcPct val="100000"/>
              </a:lnSpc>
              <a:spcBef>
                <a:spcPts val="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无歧义</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完整的</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可测试</a:t>
            </a:r>
            <a:r>
              <a:rPr sz="2400" spc="30" dirty="0">
                <a:latin typeface="微软雅黑" panose="020B0503020204020204" pitchFamily="34" charset="-122"/>
                <a:ea typeface="微软雅黑" panose="020B0503020204020204" pitchFamily="34" charset="-122"/>
                <a:cs typeface="华文新魏" panose="02010800040101010101" charset="-122"/>
              </a:rPr>
              <a:t> </a:t>
            </a:r>
            <a:r>
              <a:rPr sz="2400" dirty="0">
                <a:latin typeface="微软雅黑" panose="020B0503020204020204" pitchFamily="34" charset="-122"/>
                <a:ea typeface="微软雅黑" panose="020B0503020204020204" pitchFamily="34" charset="-122"/>
                <a:cs typeface="Gill Sans MT" panose="020B0502020104020203"/>
              </a:rPr>
              <a:t>=</a:t>
            </a:r>
            <a:r>
              <a:rPr sz="2400" spc="-45" dirty="0">
                <a:latin typeface="微软雅黑" panose="020B0503020204020204" pitchFamily="34" charset="-122"/>
                <a:ea typeface="微软雅黑" panose="020B0503020204020204" pitchFamily="34" charset="-122"/>
                <a:cs typeface="Gill Sans MT" panose="020B0502020104020203"/>
              </a:rPr>
              <a:t> </a:t>
            </a:r>
            <a:r>
              <a:rPr sz="2400" dirty="0">
                <a:latin typeface="微软雅黑" panose="020B0503020204020204" pitchFamily="34" charset="-122"/>
                <a:ea typeface="微软雅黑" panose="020B0503020204020204" pitchFamily="34" charset="-122"/>
                <a:cs typeface="华文新魏" panose="02010800040101010101" charset="-122"/>
              </a:rPr>
              <a:t>可以证明的</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可修改的</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可跟踪的</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易理解</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一致的</a:t>
            </a:r>
          </a:p>
          <a:p>
            <a:pPr marL="241300" indent="-228600">
              <a:lnSpc>
                <a:spcPct val="100000"/>
              </a:lnSpc>
              <a:spcBef>
                <a:spcPts val="720"/>
              </a:spcBef>
              <a:buFont typeface="Arial" panose="020B0604020202020204"/>
              <a:buChar char="•"/>
              <a:tabLst>
                <a:tab pos="241300" algn="l"/>
              </a:tabLst>
            </a:pPr>
            <a:r>
              <a:rPr sz="2400" dirty="0" err="1">
                <a:latin typeface="微软雅黑" panose="020B0503020204020204" pitchFamily="34" charset="-122"/>
                <a:ea typeface="微软雅黑" panose="020B0503020204020204" pitchFamily="34" charset="-122"/>
                <a:cs typeface="华文新魏" panose="02010800040101010101" charset="-122"/>
              </a:rPr>
              <a:t>有序的</a:t>
            </a:r>
            <a:endParaRPr lang="en-US" altLang="zh-CN" sz="2400" dirty="0">
              <a:latin typeface="微软雅黑" panose="020B0503020204020204" pitchFamily="34" charset="-122"/>
              <a:ea typeface="微软雅黑" panose="020B0503020204020204" pitchFamily="34" charset="-122"/>
              <a:cs typeface="华文新魏" panose="02010800040101010101" charset="-122"/>
            </a:endParaRPr>
          </a:p>
          <a:p>
            <a:pPr marL="241300" indent="-228600">
              <a:spcBef>
                <a:spcPts val="720"/>
              </a:spcBef>
              <a:buFont typeface="Arial" panose="020B0604020202020204"/>
              <a:buChar char="•"/>
              <a:tabLst>
                <a:tab pos="241300" algn="l"/>
              </a:tabLst>
            </a:pPr>
            <a:r>
              <a:rPr lang="zh-CN" altLang="en-US" sz="2400" dirty="0">
                <a:latin typeface="微软雅黑" panose="020B0503020204020204" pitchFamily="34" charset="-122"/>
                <a:ea typeface="微软雅黑" panose="020B0503020204020204" pitchFamily="34" charset="-122"/>
                <a:cs typeface="华文新魏" panose="02010800040101010101" charset="-122"/>
              </a:rPr>
              <a:t>项目或产品特定的其他特征</a:t>
            </a:r>
          </a:p>
          <a:p>
            <a:pPr marL="241300" indent="-228600">
              <a:lnSpc>
                <a:spcPct val="100000"/>
              </a:lnSpc>
              <a:spcBef>
                <a:spcPts val="720"/>
              </a:spcBef>
              <a:buFont typeface="Arial" panose="020B0604020202020204"/>
              <a:buChar char="•"/>
              <a:tabLst>
                <a:tab pos="241300" algn="l"/>
              </a:tabLst>
            </a:pPr>
            <a:endParaRPr sz="2400" dirty="0">
              <a:latin typeface="微软雅黑" panose="020B0503020204020204" pitchFamily="34" charset="-122"/>
              <a:ea typeface="微软雅黑" panose="020B0503020204020204" pitchFamily="34" charset="-122"/>
              <a:cs typeface="华文新魏" panose="02010800040101010101" charset="-122"/>
            </a:endParaRPr>
          </a:p>
        </p:txBody>
      </p:sp>
      <p:sp>
        <p:nvSpPr>
          <p:cNvPr id="7" name="object 7"/>
          <p:cNvSpPr/>
          <p:nvPr/>
        </p:nvSpPr>
        <p:spPr>
          <a:xfrm>
            <a:off x="4825537" y="5561214"/>
            <a:ext cx="1300942" cy="527858"/>
          </a:xfrm>
          <a:prstGeom prst="rect">
            <a:avLst/>
          </a:prstGeom>
          <a:blipFill>
            <a:blip r:embed="rId3" cstate="print"/>
            <a:stretch>
              <a:fillRect/>
            </a:stretch>
          </a:blipFill>
        </p:spPr>
        <p:txBody>
          <a:bodyPr wrap="square" lIns="0" tIns="0" rIns="0" bIns="0" rtlCol="0"/>
          <a:lstStyle/>
          <a:p>
            <a:endParaRPr/>
          </a:p>
        </p:txBody>
      </p:sp>
      <p:grpSp>
        <p:nvGrpSpPr>
          <p:cNvPr id="48" name="组合 47"/>
          <p:cNvGrpSpPr/>
          <p:nvPr/>
        </p:nvGrpSpPr>
        <p:grpSpPr>
          <a:xfrm>
            <a:off x="4495291" y="1690688"/>
            <a:ext cx="7399297" cy="4616313"/>
            <a:chOff x="4546091" y="1447820"/>
            <a:chExt cx="7399297" cy="4616313"/>
          </a:xfrm>
        </p:grpSpPr>
        <p:sp>
          <p:nvSpPr>
            <p:cNvPr id="5" name="object 5"/>
            <p:cNvSpPr/>
            <p:nvPr/>
          </p:nvSpPr>
          <p:spPr>
            <a:xfrm>
              <a:off x="9149718" y="1657369"/>
              <a:ext cx="2477447" cy="1041399"/>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4763192" y="5544588"/>
              <a:ext cx="1417319" cy="519545"/>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4756634" y="5539342"/>
              <a:ext cx="1277937" cy="408413"/>
            </a:xfrm>
            <a:prstGeom prst="rect">
              <a:avLst/>
            </a:prstGeom>
            <a:blipFill>
              <a:blip r:embed="rId6" cstate="print"/>
              <a:stretch>
                <a:fillRect/>
              </a:stretch>
            </a:blipFill>
          </p:spPr>
          <p:txBody>
            <a:bodyPr wrap="square" lIns="0" tIns="0" rIns="0" bIns="0" rtlCol="0"/>
            <a:lstStyle/>
            <a:p>
              <a:endParaRPr/>
            </a:p>
          </p:txBody>
        </p:sp>
        <p:sp>
          <p:nvSpPr>
            <p:cNvPr id="9" name="object 9"/>
            <p:cNvSpPr txBox="1"/>
            <p:nvPr/>
          </p:nvSpPr>
          <p:spPr>
            <a:xfrm>
              <a:off x="4840772" y="5577442"/>
              <a:ext cx="109791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alibri" panose="020F0502020204030204"/>
                  <a:cs typeface="Calibri" panose="020F0502020204030204"/>
                </a:rPr>
                <a:t>incomplete</a:t>
              </a:r>
              <a:endParaRPr sz="1800">
                <a:latin typeface="Calibri" panose="020F0502020204030204"/>
                <a:cs typeface="Calibri" panose="020F0502020204030204"/>
              </a:endParaRPr>
            </a:p>
          </p:txBody>
        </p:sp>
        <p:sp>
          <p:nvSpPr>
            <p:cNvPr id="10" name="object 10"/>
            <p:cNvSpPr/>
            <p:nvPr/>
          </p:nvSpPr>
          <p:spPr>
            <a:xfrm>
              <a:off x="7722523" y="4330929"/>
              <a:ext cx="2231967" cy="519545"/>
            </a:xfrm>
            <a:prstGeom prst="rect">
              <a:avLst/>
            </a:prstGeom>
            <a:blipFill>
              <a:blip r:embed="rId7" cstate="print"/>
              <a:stretch>
                <a:fillRect/>
              </a:stretch>
            </a:blipFill>
          </p:spPr>
          <p:txBody>
            <a:bodyPr wrap="square" lIns="0" tIns="0" rIns="0" bIns="0" rtlCol="0"/>
            <a:lstStyle/>
            <a:p>
              <a:endParaRPr/>
            </a:p>
          </p:txBody>
        </p:sp>
        <p:sp>
          <p:nvSpPr>
            <p:cNvPr id="11" name="object 11"/>
            <p:cNvSpPr/>
            <p:nvPr/>
          </p:nvSpPr>
          <p:spPr>
            <a:xfrm>
              <a:off x="7784869" y="4347556"/>
              <a:ext cx="2115588" cy="527858"/>
            </a:xfrm>
            <a:prstGeom prst="rect">
              <a:avLst/>
            </a:prstGeom>
            <a:blipFill>
              <a:blip r:embed="rId8" cstate="print"/>
              <a:stretch>
                <a:fillRect/>
              </a:stretch>
            </a:blipFill>
          </p:spPr>
          <p:txBody>
            <a:bodyPr wrap="square" lIns="0" tIns="0" rIns="0" bIns="0" rtlCol="0"/>
            <a:lstStyle/>
            <a:p>
              <a:endParaRPr/>
            </a:p>
          </p:txBody>
        </p:sp>
        <p:sp>
          <p:nvSpPr>
            <p:cNvPr id="12" name="object 12"/>
            <p:cNvSpPr/>
            <p:nvPr/>
          </p:nvSpPr>
          <p:spPr>
            <a:xfrm>
              <a:off x="7715779" y="4325777"/>
              <a:ext cx="2093912" cy="408320"/>
            </a:xfrm>
            <a:prstGeom prst="rect">
              <a:avLst/>
            </a:prstGeom>
            <a:blipFill>
              <a:blip r:embed="rId9" cstate="print"/>
              <a:stretch>
                <a:fillRect/>
              </a:stretch>
            </a:blipFill>
          </p:spPr>
          <p:txBody>
            <a:bodyPr wrap="square" lIns="0" tIns="0" rIns="0" bIns="0" rtlCol="0"/>
            <a:lstStyle/>
            <a:p>
              <a:endParaRPr/>
            </a:p>
          </p:txBody>
        </p:sp>
        <p:sp>
          <p:nvSpPr>
            <p:cNvPr id="13" name="object 13"/>
            <p:cNvSpPr txBox="1"/>
            <p:nvPr/>
          </p:nvSpPr>
          <p:spPr>
            <a:xfrm>
              <a:off x="7799916" y="4363877"/>
              <a:ext cx="190182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panose="020F0502020204030204"/>
                  <a:cs typeface="Calibri" panose="020F0502020204030204"/>
                </a:rPr>
                <a:t>not</a:t>
              </a:r>
              <a:r>
                <a:rPr sz="1800" b="1" spc="-60" dirty="0">
                  <a:latin typeface="Calibri" panose="020F0502020204030204"/>
                  <a:cs typeface="Calibri" panose="020F0502020204030204"/>
                </a:rPr>
                <a:t> </a:t>
              </a:r>
              <a:r>
                <a:rPr sz="1800" b="1" spc="-5" dirty="0">
                  <a:latin typeface="Calibri" panose="020F0502020204030204"/>
                  <a:cs typeface="Calibri" panose="020F0502020204030204"/>
                </a:rPr>
                <a:t>understandable</a:t>
              </a:r>
              <a:endParaRPr sz="1800">
                <a:latin typeface="Calibri" panose="020F0502020204030204"/>
                <a:cs typeface="Calibri" panose="020F0502020204030204"/>
              </a:endParaRPr>
            </a:p>
          </p:txBody>
        </p:sp>
        <p:sp>
          <p:nvSpPr>
            <p:cNvPr id="14" name="object 14"/>
            <p:cNvSpPr/>
            <p:nvPr/>
          </p:nvSpPr>
          <p:spPr>
            <a:xfrm>
              <a:off x="7901246" y="1454727"/>
              <a:ext cx="1392382" cy="519545"/>
            </a:xfrm>
            <a:prstGeom prst="rect">
              <a:avLst/>
            </a:prstGeom>
            <a:blipFill>
              <a:blip r:embed="rId10" cstate="print"/>
              <a:stretch>
                <a:fillRect/>
              </a:stretch>
            </a:blipFill>
          </p:spPr>
          <p:txBody>
            <a:bodyPr wrap="square" lIns="0" tIns="0" rIns="0" bIns="0" rtlCol="0"/>
            <a:lstStyle/>
            <a:p>
              <a:endParaRPr/>
            </a:p>
          </p:txBody>
        </p:sp>
        <p:sp>
          <p:nvSpPr>
            <p:cNvPr id="15" name="object 15"/>
            <p:cNvSpPr/>
            <p:nvPr/>
          </p:nvSpPr>
          <p:spPr>
            <a:xfrm>
              <a:off x="7967748" y="1471353"/>
              <a:ext cx="1271846" cy="527858"/>
            </a:xfrm>
            <a:prstGeom prst="rect">
              <a:avLst/>
            </a:prstGeom>
            <a:blipFill>
              <a:blip r:embed="rId11" cstate="print"/>
              <a:stretch>
                <a:fillRect/>
              </a:stretch>
            </a:blipFill>
          </p:spPr>
          <p:txBody>
            <a:bodyPr wrap="square" lIns="0" tIns="0" rIns="0" bIns="0" rtlCol="0"/>
            <a:lstStyle/>
            <a:p>
              <a:endParaRPr/>
            </a:p>
          </p:txBody>
        </p:sp>
        <p:sp>
          <p:nvSpPr>
            <p:cNvPr id="16" name="object 16"/>
            <p:cNvSpPr/>
            <p:nvPr/>
          </p:nvSpPr>
          <p:spPr>
            <a:xfrm>
              <a:off x="7896614" y="1447820"/>
              <a:ext cx="1250949" cy="405918"/>
            </a:xfrm>
            <a:prstGeom prst="rect">
              <a:avLst/>
            </a:prstGeom>
            <a:blipFill>
              <a:blip r:embed="rId12" cstate="print"/>
              <a:stretch>
                <a:fillRect/>
              </a:stretch>
            </a:blipFill>
          </p:spPr>
          <p:txBody>
            <a:bodyPr wrap="square" lIns="0" tIns="0" rIns="0" bIns="0" rtlCol="0"/>
            <a:lstStyle/>
            <a:p>
              <a:endParaRPr/>
            </a:p>
          </p:txBody>
        </p:sp>
        <p:sp>
          <p:nvSpPr>
            <p:cNvPr id="17" name="object 17"/>
            <p:cNvSpPr txBox="1"/>
            <p:nvPr/>
          </p:nvSpPr>
          <p:spPr>
            <a:xfrm>
              <a:off x="7980750" y="1485918"/>
              <a:ext cx="107188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panose="020F0502020204030204"/>
                  <a:cs typeface="Calibri" panose="020F0502020204030204"/>
                </a:rPr>
                <a:t>ambiguous</a:t>
              </a:r>
              <a:endParaRPr sz="1800">
                <a:latin typeface="Calibri" panose="020F0502020204030204"/>
                <a:cs typeface="Calibri" panose="020F0502020204030204"/>
              </a:endParaRPr>
            </a:p>
          </p:txBody>
        </p:sp>
        <p:sp>
          <p:nvSpPr>
            <p:cNvPr id="18" name="object 18"/>
            <p:cNvSpPr/>
            <p:nvPr/>
          </p:nvSpPr>
          <p:spPr>
            <a:xfrm>
              <a:off x="5399116" y="2784763"/>
              <a:ext cx="1350817" cy="519545"/>
            </a:xfrm>
            <a:prstGeom prst="rect">
              <a:avLst/>
            </a:prstGeom>
            <a:blipFill>
              <a:blip r:embed="rId13" cstate="print"/>
              <a:stretch>
                <a:fillRect/>
              </a:stretch>
            </a:blipFill>
          </p:spPr>
          <p:txBody>
            <a:bodyPr wrap="square" lIns="0" tIns="0" rIns="0" bIns="0" rtlCol="0"/>
            <a:lstStyle/>
            <a:p>
              <a:endParaRPr/>
            </a:p>
          </p:txBody>
        </p:sp>
        <p:sp>
          <p:nvSpPr>
            <p:cNvPr id="19" name="object 19"/>
            <p:cNvSpPr/>
            <p:nvPr/>
          </p:nvSpPr>
          <p:spPr>
            <a:xfrm>
              <a:off x="5465617" y="2801388"/>
              <a:ext cx="1221970" cy="527858"/>
            </a:xfrm>
            <a:prstGeom prst="rect">
              <a:avLst/>
            </a:prstGeom>
            <a:blipFill>
              <a:blip r:embed="rId14" cstate="print"/>
              <a:stretch>
                <a:fillRect/>
              </a:stretch>
            </a:blipFill>
          </p:spPr>
          <p:txBody>
            <a:bodyPr wrap="square" lIns="0" tIns="0" rIns="0" bIns="0" rtlCol="0"/>
            <a:lstStyle/>
            <a:p>
              <a:endParaRPr/>
            </a:p>
          </p:txBody>
        </p:sp>
        <p:sp>
          <p:nvSpPr>
            <p:cNvPr id="20" name="object 20"/>
            <p:cNvSpPr/>
            <p:nvPr/>
          </p:nvSpPr>
          <p:spPr>
            <a:xfrm>
              <a:off x="5395381" y="2778502"/>
              <a:ext cx="1208086" cy="405272"/>
            </a:xfrm>
            <a:prstGeom prst="rect">
              <a:avLst/>
            </a:prstGeom>
            <a:blipFill>
              <a:blip r:embed="rId15" cstate="print"/>
              <a:stretch>
                <a:fillRect/>
              </a:stretch>
            </a:blipFill>
          </p:spPr>
          <p:txBody>
            <a:bodyPr wrap="square" lIns="0" tIns="0" rIns="0" bIns="0" rtlCol="0"/>
            <a:lstStyle/>
            <a:p>
              <a:endParaRPr/>
            </a:p>
          </p:txBody>
        </p:sp>
        <p:sp>
          <p:nvSpPr>
            <p:cNvPr id="21" name="object 21"/>
            <p:cNvSpPr txBox="1"/>
            <p:nvPr/>
          </p:nvSpPr>
          <p:spPr>
            <a:xfrm>
              <a:off x="5479517" y="2816602"/>
              <a:ext cx="102743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alibri" panose="020F0502020204030204"/>
                  <a:cs typeface="Calibri" panose="020F0502020204030204"/>
                </a:rPr>
                <a:t>redundant</a:t>
              </a:r>
              <a:endParaRPr sz="1800">
                <a:latin typeface="Calibri" panose="020F0502020204030204"/>
                <a:cs typeface="Calibri" panose="020F0502020204030204"/>
              </a:endParaRPr>
            </a:p>
          </p:txBody>
        </p:sp>
        <p:sp>
          <p:nvSpPr>
            <p:cNvPr id="22" name="object 22"/>
            <p:cNvSpPr/>
            <p:nvPr/>
          </p:nvSpPr>
          <p:spPr>
            <a:xfrm>
              <a:off x="10440785" y="2747355"/>
              <a:ext cx="1504603" cy="523701"/>
            </a:xfrm>
            <a:prstGeom prst="rect">
              <a:avLst/>
            </a:prstGeom>
            <a:blipFill>
              <a:blip r:embed="rId16" cstate="print"/>
              <a:stretch>
                <a:fillRect/>
              </a:stretch>
            </a:blipFill>
          </p:spPr>
          <p:txBody>
            <a:bodyPr wrap="square" lIns="0" tIns="0" rIns="0" bIns="0" rtlCol="0"/>
            <a:lstStyle/>
            <a:p>
              <a:endParaRPr/>
            </a:p>
          </p:txBody>
        </p:sp>
        <p:sp>
          <p:nvSpPr>
            <p:cNvPr id="23" name="object 23"/>
            <p:cNvSpPr/>
            <p:nvPr/>
          </p:nvSpPr>
          <p:spPr>
            <a:xfrm>
              <a:off x="10507288" y="2768138"/>
              <a:ext cx="1375756" cy="523701"/>
            </a:xfrm>
            <a:prstGeom prst="rect">
              <a:avLst/>
            </a:prstGeom>
            <a:blipFill>
              <a:blip r:embed="rId17" cstate="print"/>
              <a:stretch>
                <a:fillRect/>
              </a:stretch>
            </a:blipFill>
          </p:spPr>
          <p:txBody>
            <a:bodyPr wrap="square" lIns="0" tIns="0" rIns="0" bIns="0" rtlCol="0"/>
            <a:lstStyle/>
            <a:p>
              <a:endParaRPr/>
            </a:p>
          </p:txBody>
        </p:sp>
        <p:sp>
          <p:nvSpPr>
            <p:cNvPr id="24" name="object 24"/>
            <p:cNvSpPr/>
            <p:nvPr/>
          </p:nvSpPr>
          <p:spPr>
            <a:xfrm>
              <a:off x="10437180" y="2743218"/>
              <a:ext cx="1362075" cy="407304"/>
            </a:xfrm>
            <a:prstGeom prst="rect">
              <a:avLst/>
            </a:prstGeom>
            <a:blipFill>
              <a:blip r:embed="rId18" cstate="print"/>
              <a:stretch>
                <a:fillRect/>
              </a:stretch>
            </a:blipFill>
          </p:spPr>
          <p:txBody>
            <a:bodyPr wrap="square" lIns="0" tIns="0" rIns="0" bIns="0" rtlCol="0"/>
            <a:lstStyle/>
            <a:p>
              <a:endParaRPr/>
            </a:p>
          </p:txBody>
        </p:sp>
        <p:sp>
          <p:nvSpPr>
            <p:cNvPr id="25" name="object 25"/>
            <p:cNvSpPr txBox="1"/>
            <p:nvPr/>
          </p:nvSpPr>
          <p:spPr>
            <a:xfrm>
              <a:off x="10521315" y="2781318"/>
              <a:ext cx="11811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panose="020F0502020204030204"/>
                  <a:cs typeface="Calibri" panose="020F0502020204030204"/>
                </a:rPr>
                <a:t>inconsistent</a:t>
              </a:r>
              <a:endParaRPr sz="1800">
                <a:latin typeface="Calibri" panose="020F0502020204030204"/>
                <a:cs typeface="Calibri" panose="020F0502020204030204"/>
              </a:endParaRPr>
            </a:p>
          </p:txBody>
        </p:sp>
        <p:sp>
          <p:nvSpPr>
            <p:cNvPr id="26" name="object 26"/>
            <p:cNvSpPr/>
            <p:nvPr/>
          </p:nvSpPr>
          <p:spPr>
            <a:xfrm>
              <a:off x="5636638" y="1531958"/>
              <a:ext cx="2096135" cy="1137285"/>
            </a:xfrm>
            <a:custGeom>
              <a:avLst/>
              <a:gdLst/>
              <a:ahLst/>
              <a:cxnLst/>
              <a:rect l="l" t="t" r="r" b="b"/>
              <a:pathLst>
                <a:path w="2096134" h="1137285">
                  <a:moveTo>
                    <a:pt x="0" y="1137046"/>
                  </a:moveTo>
                  <a:lnTo>
                    <a:pt x="8901" y="1071562"/>
                  </a:lnTo>
                  <a:lnTo>
                    <a:pt x="21601" y="1012031"/>
                  </a:lnTo>
                  <a:lnTo>
                    <a:pt x="40651" y="953293"/>
                  </a:lnTo>
                  <a:lnTo>
                    <a:pt x="63670" y="895349"/>
                  </a:lnTo>
                  <a:lnTo>
                    <a:pt x="92245" y="838993"/>
                  </a:lnTo>
                  <a:lnTo>
                    <a:pt x="162888" y="729456"/>
                  </a:lnTo>
                  <a:lnTo>
                    <a:pt x="250995" y="625474"/>
                  </a:lnTo>
                  <a:lnTo>
                    <a:pt x="355770" y="527049"/>
                  </a:lnTo>
                  <a:lnTo>
                    <a:pt x="476420" y="434974"/>
                  </a:lnTo>
                  <a:lnTo>
                    <a:pt x="612151" y="350043"/>
                  </a:lnTo>
                  <a:lnTo>
                    <a:pt x="761376" y="273049"/>
                  </a:lnTo>
                  <a:lnTo>
                    <a:pt x="922507" y="203993"/>
                  </a:lnTo>
                  <a:lnTo>
                    <a:pt x="1095544" y="144462"/>
                  </a:lnTo>
                  <a:lnTo>
                    <a:pt x="1278901" y="94456"/>
                  </a:lnTo>
                  <a:lnTo>
                    <a:pt x="1471782" y="53974"/>
                  </a:lnTo>
                  <a:lnTo>
                    <a:pt x="1672600" y="24606"/>
                  </a:lnTo>
                  <a:lnTo>
                    <a:pt x="1881356" y="6349"/>
                  </a:lnTo>
                  <a:lnTo>
                    <a:pt x="2095669" y="0"/>
                  </a:lnTo>
                </a:path>
              </a:pathLst>
            </a:custGeom>
            <a:ln w="50799">
              <a:solidFill>
                <a:srgbClr val="021EAA"/>
              </a:solidFill>
            </a:ln>
          </p:spPr>
          <p:txBody>
            <a:bodyPr wrap="square" lIns="0" tIns="0" rIns="0" bIns="0" rtlCol="0"/>
            <a:lstStyle/>
            <a:p>
              <a:endParaRPr/>
            </a:p>
          </p:txBody>
        </p:sp>
        <p:sp>
          <p:nvSpPr>
            <p:cNvPr id="27" name="object 27"/>
            <p:cNvSpPr/>
            <p:nvPr/>
          </p:nvSpPr>
          <p:spPr>
            <a:xfrm>
              <a:off x="5564218" y="2570506"/>
              <a:ext cx="152400" cy="155575"/>
            </a:xfrm>
            <a:custGeom>
              <a:avLst/>
              <a:gdLst/>
              <a:ahLst/>
              <a:cxnLst/>
              <a:rect l="l" t="t" r="r" b="b"/>
              <a:pathLst>
                <a:path w="152400" h="155575">
                  <a:moveTo>
                    <a:pt x="0" y="0"/>
                  </a:moveTo>
                  <a:lnTo>
                    <a:pt x="70209" y="155251"/>
                  </a:lnTo>
                  <a:lnTo>
                    <a:pt x="152284" y="5933"/>
                  </a:lnTo>
                  <a:lnTo>
                    <a:pt x="0" y="0"/>
                  </a:lnTo>
                  <a:close/>
                </a:path>
              </a:pathLst>
            </a:custGeom>
            <a:solidFill>
              <a:srgbClr val="021EAA"/>
            </a:solidFill>
          </p:spPr>
          <p:txBody>
            <a:bodyPr wrap="square" lIns="0" tIns="0" rIns="0" bIns="0" rtlCol="0"/>
            <a:lstStyle/>
            <a:p>
              <a:endParaRPr/>
            </a:p>
          </p:txBody>
        </p:sp>
        <p:sp>
          <p:nvSpPr>
            <p:cNvPr id="28" name="object 28"/>
            <p:cNvSpPr/>
            <p:nvPr/>
          </p:nvSpPr>
          <p:spPr>
            <a:xfrm>
              <a:off x="6314442" y="3251456"/>
              <a:ext cx="1333500" cy="1099185"/>
            </a:xfrm>
            <a:custGeom>
              <a:avLst/>
              <a:gdLst/>
              <a:ahLst/>
              <a:cxnLst/>
              <a:rect l="l" t="t" r="r" b="b"/>
              <a:pathLst>
                <a:path w="1333500" h="1099185">
                  <a:moveTo>
                    <a:pt x="0" y="0"/>
                  </a:moveTo>
                  <a:lnTo>
                    <a:pt x="3719" y="61574"/>
                  </a:lnTo>
                  <a:lnTo>
                    <a:pt x="23563" y="175875"/>
                  </a:lnTo>
                  <a:lnTo>
                    <a:pt x="56900" y="287000"/>
                  </a:lnTo>
                  <a:lnTo>
                    <a:pt x="101350" y="393362"/>
                  </a:lnTo>
                  <a:lnTo>
                    <a:pt x="157707" y="494169"/>
                  </a:lnTo>
                  <a:lnTo>
                    <a:pt x="225175" y="589419"/>
                  </a:lnTo>
                  <a:lnTo>
                    <a:pt x="302169" y="678319"/>
                  </a:lnTo>
                  <a:lnTo>
                    <a:pt x="387894" y="760075"/>
                  </a:lnTo>
                  <a:lnTo>
                    <a:pt x="483144" y="834687"/>
                  </a:lnTo>
                  <a:lnTo>
                    <a:pt x="585537" y="901362"/>
                  </a:lnTo>
                  <a:lnTo>
                    <a:pt x="695869" y="959306"/>
                  </a:lnTo>
                  <a:lnTo>
                    <a:pt x="813344" y="1007725"/>
                  </a:lnTo>
                  <a:lnTo>
                    <a:pt x="935581" y="1046619"/>
                  </a:lnTo>
                  <a:lnTo>
                    <a:pt x="1064168" y="1075194"/>
                  </a:lnTo>
                  <a:lnTo>
                    <a:pt x="1196725" y="1092656"/>
                  </a:lnTo>
                  <a:lnTo>
                    <a:pt x="1333250" y="1099006"/>
                  </a:lnTo>
                </a:path>
              </a:pathLst>
            </a:custGeom>
            <a:ln w="50799">
              <a:solidFill>
                <a:srgbClr val="021EAA"/>
              </a:solidFill>
            </a:ln>
          </p:spPr>
          <p:txBody>
            <a:bodyPr wrap="square" lIns="0" tIns="0" rIns="0" bIns="0" rtlCol="0"/>
            <a:lstStyle/>
            <a:p>
              <a:endParaRPr/>
            </a:p>
          </p:txBody>
        </p:sp>
        <p:sp>
          <p:nvSpPr>
            <p:cNvPr id="29" name="object 29"/>
            <p:cNvSpPr/>
            <p:nvPr/>
          </p:nvSpPr>
          <p:spPr>
            <a:xfrm>
              <a:off x="6244145" y="3194763"/>
              <a:ext cx="152400" cy="156845"/>
            </a:xfrm>
            <a:custGeom>
              <a:avLst/>
              <a:gdLst/>
              <a:ahLst/>
              <a:cxnLst/>
              <a:rect l="l" t="t" r="r" b="b"/>
              <a:pathLst>
                <a:path w="152400" h="156845">
                  <a:moveTo>
                    <a:pt x="66873" y="0"/>
                  </a:moveTo>
                  <a:lnTo>
                    <a:pt x="0" y="156716"/>
                  </a:lnTo>
                  <a:lnTo>
                    <a:pt x="152123" y="147528"/>
                  </a:lnTo>
                  <a:lnTo>
                    <a:pt x="66873" y="0"/>
                  </a:lnTo>
                  <a:close/>
                </a:path>
              </a:pathLst>
            </a:custGeom>
            <a:solidFill>
              <a:srgbClr val="021EAA"/>
            </a:solidFill>
          </p:spPr>
          <p:txBody>
            <a:bodyPr wrap="square" lIns="0" tIns="0" rIns="0" bIns="0" rtlCol="0"/>
            <a:lstStyle/>
            <a:p>
              <a:endParaRPr/>
            </a:p>
          </p:txBody>
        </p:sp>
        <p:sp>
          <p:nvSpPr>
            <p:cNvPr id="30" name="object 30"/>
            <p:cNvSpPr/>
            <p:nvPr/>
          </p:nvSpPr>
          <p:spPr>
            <a:xfrm>
              <a:off x="6010970" y="4883208"/>
              <a:ext cx="2897287" cy="910893"/>
            </a:xfrm>
            <a:prstGeom prst="rect">
              <a:avLst/>
            </a:prstGeom>
            <a:blipFill>
              <a:blip r:embed="rId19" cstate="print"/>
              <a:stretch>
                <a:fillRect/>
              </a:stretch>
            </a:blipFill>
          </p:spPr>
          <p:txBody>
            <a:bodyPr wrap="square" lIns="0" tIns="0" rIns="0" bIns="0" rtlCol="0"/>
            <a:lstStyle/>
            <a:p>
              <a:endParaRPr/>
            </a:p>
          </p:txBody>
        </p:sp>
        <p:sp>
          <p:nvSpPr>
            <p:cNvPr id="31" name="object 31"/>
            <p:cNvSpPr/>
            <p:nvPr/>
          </p:nvSpPr>
          <p:spPr>
            <a:xfrm>
              <a:off x="5003636" y="2929611"/>
              <a:ext cx="409210" cy="2609714"/>
            </a:xfrm>
            <a:prstGeom prst="rect">
              <a:avLst/>
            </a:prstGeom>
            <a:blipFill>
              <a:blip r:embed="rId20" cstate="print"/>
              <a:stretch>
                <a:fillRect/>
              </a:stretch>
            </a:blipFill>
          </p:spPr>
          <p:txBody>
            <a:bodyPr wrap="square" lIns="0" tIns="0" rIns="0" bIns="0" rtlCol="0"/>
            <a:lstStyle/>
            <a:p>
              <a:endParaRPr/>
            </a:p>
          </p:txBody>
        </p:sp>
        <p:sp>
          <p:nvSpPr>
            <p:cNvPr id="32" name="object 32"/>
            <p:cNvSpPr/>
            <p:nvPr/>
          </p:nvSpPr>
          <p:spPr>
            <a:xfrm>
              <a:off x="6040827" y="1762120"/>
              <a:ext cx="1635125" cy="963930"/>
            </a:xfrm>
            <a:custGeom>
              <a:avLst/>
              <a:gdLst/>
              <a:ahLst/>
              <a:cxnLst/>
              <a:rect l="l" t="t" r="r" b="b"/>
              <a:pathLst>
                <a:path w="1635125" h="963930">
                  <a:moveTo>
                    <a:pt x="0" y="963637"/>
                  </a:moveTo>
                  <a:lnTo>
                    <a:pt x="8731" y="865212"/>
                  </a:lnTo>
                  <a:lnTo>
                    <a:pt x="34131" y="769168"/>
                  </a:lnTo>
                  <a:lnTo>
                    <a:pt x="76199" y="677093"/>
                  </a:lnTo>
                  <a:lnTo>
                    <a:pt x="132556" y="588193"/>
                  </a:lnTo>
                  <a:lnTo>
                    <a:pt x="203993" y="504056"/>
                  </a:lnTo>
                  <a:lnTo>
                    <a:pt x="288924" y="424681"/>
                  </a:lnTo>
                  <a:lnTo>
                    <a:pt x="386556" y="350068"/>
                  </a:lnTo>
                  <a:lnTo>
                    <a:pt x="495299" y="281806"/>
                  </a:lnTo>
                  <a:lnTo>
                    <a:pt x="615156" y="219099"/>
                  </a:lnTo>
                  <a:lnTo>
                    <a:pt x="745331" y="163537"/>
                  </a:lnTo>
                  <a:lnTo>
                    <a:pt x="885031" y="115118"/>
                  </a:lnTo>
                  <a:lnTo>
                    <a:pt x="1032668" y="74637"/>
                  </a:lnTo>
                  <a:lnTo>
                    <a:pt x="1188243" y="42093"/>
                  </a:lnTo>
                  <a:lnTo>
                    <a:pt x="1350961" y="18281"/>
                  </a:lnTo>
                  <a:lnTo>
                    <a:pt x="1518443" y="3199"/>
                  </a:lnTo>
                  <a:lnTo>
                    <a:pt x="1634705" y="0"/>
                  </a:lnTo>
                </a:path>
              </a:pathLst>
            </a:custGeom>
            <a:ln w="50799">
              <a:solidFill>
                <a:srgbClr val="021EAA"/>
              </a:solidFill>
            </a:ln>
          </p:spPr>
          <p:txBody>
            <a:bodyPr wrap="square" lIns="0" tIns="0" rIns="0" bIns="0" rtlCol="0"/>
            <a:lstStyle/>
            <a:p>
              <a:endParaRPr/>
            </a:p>
          </p:txBody>
        </p:sp>
        <p:sp>
          <p:nvSpPr>
            <p:cNvPr id="33" name="object 33"/>
            <p:cNvSpPr/>
            <p:nvPr/>
          </p:nvSpPr>
          <p:spPr>
            <a:xfrm>
              <a:off x="7577870" y="1688579"/>
              <a:ext cx="154940" cy="152400"/>
            </a:xfrm>
            <a:custGeom>
              <a:avLst/>
              <a:gdLst/>
              <a:ahLst/>
              <a:cxnLst/>
              <a:rect l="l" t="t" r="r" b="b"/>
              <a:pathLst>
                <a:path w="154940" h="152400">
                  <a:moveTo>
                    <a:pt x="0" y="0"/>
                  </a:moveTo>
                  <a:lnTo>
                    <a:pt x="4192" y="152342"/>
                  </a:lnTo>
                  <a:lnTo>
                    <a:pt x="154438" y="71978"/>
                  </a:lnTo>
                  <a:lnTo>
                    <a:pt x="0" y="0"/>
                  </a:lnTo>
                  <a:close/>
                </a:path>
              </a:pathLst>
            </a:custGeom>
            <a:solidFill>
              <a:srgbClr val="021EAA"/>
            </a:solidFill>
          </p:spPr>
          <p:txBody>
            <a:bodyPr wrap="square" lIns="0" tIns="0" rIns="0" bIns="0" rtlCol="0"/>
            <a:lstStyle/>
            <a:p>
              <a:endParaRPr/>
            </a:p>
          </p:txBody>
        </p:sp>
        <p:sp>
          <p:nvSpPr>
            <p:cNvPr id="34" name="object 34"/>
            <p:cNvSpPr/>
            <p:nvPr/>
          </p:nvSpPr>
          <p:spPr>
            <a:xfrm>
              <a:off x="9892277" y="3257568"/>
              <a:ext cx="1669414" cy="1191895"/>
            </a:xfrm>
            <a:custGeom>
              <a:avLst/>
              <a:gdLst/>
              <a:ahLst/>
              <a:cxnLst/>
              <a:rect l="l" t="t" r="r" b="b"/>
              <a:pathLst>
                <a:path w="1669415" h="1191895">
                  <a:moveTo>
                    <a:pt x="1668852" y="0"/>
                  </a:moveTo>
                  <a:lnTo>
                    <a:pt x="1660121" y="122237"/>
                  </a:lnTo>
                  <a:lnTo>
                    <a:pt x="1633927" y="240506"/>
                  </a:lnTo>
                  <a:lnTo>
                    <a:pt x="1591065" y="354806"/>
                  </a:lnTo>
                  <a:lnTo>
                    <a:pt x="1533121" y="465137"/>
                  </a:lnTo>
                  <a:lnTo>
                    <a:pt x="1460890" y="569118"/>
                  </a:lnTo>
                  <a:lnTo>
                    <a:pt x="1374371" y="667543"/>
                  </a:lnTo>
                  <a:lnTo>
                    <a:pt x="1275152" y="759618"/>
                  </a:lnTo>
                  <a:lnTo>
                    <a:pt x="1163234" y="844549"/>
                  </a:lnTo>
                  <a:lnTo>
                    <a:pt x="1040996" y="921543"/>
                  </a:lnTo>
                  <a:lnTo>
                    <a:pt x="908440" y="989806"/>
                  </a:lnTo>
                  <a:lnTo>
                    <a:pt x="765565" y="1050131"/>
                  </a:lnTo>
                  <a:lnTo>
                    <a:pt x="614753" y="1100137"/>
                  </a:lnTo>
                  <a:lnTo>
                    <a:pt x="456796" y="1139824"/>
                  </a:lnTo>
                  <a:lnTo>
                    <a:pt x="290903" y="1169193"/>
                  </a:lnTo>
                  <a:lnTo>
                    <a:pt x="119453" y="1187449"/>
                  </a:lnTo>
                  <a:lnTo>
                    <a:pt x="0" y="1191754"/>
                  </a:lnTo>
                </a:path>
              </a:pathLst>
            </a:custGeom>
            <a:ln w="50799">
              <a:solidFill>
                <a:srgbClr val="021EAA"/>
              </a:solidFill>
            </a:ln>
          </p:spPr>
          <p:txBody>
            <a:bodyPr wrap="square" lIns="0" tIns="0" rIns="0" bIns="0" rtlCol="0"/>
            <a:lstStyle/>
            <a:p>
              <a:endParaRPr/>
            </a:p>
          </p:txBody>
        </p:sp>
        <p:sp>
          <p:nvSpPr>
            <p:cNvPr id="35" name="object 35"/>
            <p:cNvSpPr/>
            <p:nvPr/>
          </p:nvSpPr>
          <p:spPr>
            <a:xfrm>
              <a:off x="9835519" y="4369730"/>
              <a:ext cx="155575" cy="152400"/>
            </a:xfrm>
            <a:custGeom>
              <a:avLst/>
              <a:gdLst/>
              <a:ahLst/>
              <a:cxnLst/>
              <a:rect l="l" t="t" r="r" b="b"/>
              <a:pathLst>
                <a:path w="155575" h="152400">
                  <a:moveTo>
                    <a:pt x="149556" y="0"/>
                  </a:moveTo>
                  <a:lnTo>
                    <a:pt x="0" y="81638"/>
                  </a:lnTo>
                  <a:lnTo>
                    <a:pt x="155045" y="152300"/>
                  </a:lnTo>
                  <a:lnTo>
                    <a:pt x="149556" y="0"/>
                  </a:lnTo>
                  <a:close/>
                </a:path>
              </a:pathLst>
            </a:custGeom>
            <a:solidFill>
              <a:srgbClr val="021EAA"/>
            </a:solidFill>
          </p:spPr>
          <p:txBody>
            <a:bodyPr wrap="square" lIns="0" tIns="0" rIns="0" bIns="0" rtlCol="0"/>
            <a:lstStyle/>
            <a:p>
              <a:endParaRPr/>
            </a:p>
          </p:txBody>
        </p:sp>
        <p:sp>
          <p:nvSpPr>
            <p:cNvPr id="36" name="object 36"/>
            <p:cNvSpPr txBox="1"/>
            <p:nvPr/>
          </p:nvSpPr>
          <p:spPr>
            <a:xfrm>
              <a:off x="5364586" y="4054712"/>
              <a:ext cx="1423035" cy="566420"/>
            </a:xfrm>
            <a:prstGeom prst="rect">
              <a:avLst/>
            </a:prstGeom>
          </p:spPr>
          <p:txBody>
            <a:bodyPr vert="horz" wrap="square" lIns="0" tIns="27939" rIns="0" bIns="0" rtlCol="0">
              <a:spAutoFit/>
            </a:bodyPr>
            <a:lstStyle/>
            <a:p>
              <a:pPr marL="12700" marR="5080">
                <a:lnSpc>
                  <a:spcPts val="2100"/>
                </a:lnSpc>
                <a:spcBef>
                  <a:spcPts val="220"/>
                </a:spcBef>
              </a:pPr>
              <a:r>
                <a:rPr sz="1800" b="1" dirty="0">
                  <a:latin typeface="Arial" panose="020B0604020202020204"/>
                  <a:cs typeface="Arial" panose="020B0604020202020204"/>
                </a:rPr>
                <a:t>add  ex</a:t>
              </a:r>
              <a:r>
                <a:rPr sz="1800" b="1" spc="-5" dirty="0">
                  <a:latin typeface="Arial" panose="020B0604020202020204"/>
                  <a:cs typeface="Arial" panose="020B0604020202020204"/>
                </a:rPr>
                <a:t>pl</a:t>
              </a:r>
              <a:r>
                <a:rPr sz="1800" b="1" dirty="0">
                  <a:latin typeface="Arial" panose="020B0604020202020204"/>
                  <a:cs typeface="Arial" panose="020B0604020202020204"/>
                </a:rPr>
                <a:t>a</a:t>
              </a:r>
              <a:r>
                <a:rPr sz="1800" b="1" spc="-5" dirty="0">
                  <a:latin typeface="Arial" panose="020B0604020202020204"/>
                  <a:cs typeface="Arial" panose="020B0604020202020204"/>
                </a:rPr>
                <a:t>n</a:t>
              </a:r>
              <a:r>
                <a:rPr sz="1800" b="1" dirty="0">
                  <a:latin typeface="Arial" panose="020B0604020202020204"/>
                  <a:cs typeface="Arial" panose="020B0604020202020204"/>
                </a:rPr>
                <a:t>at</a:t>
              </a:r>
              <a:r>
                <a:rPr sz="1800" b="1" spc="-5" dirty="0">
                  <a:latin typeface="Arial" panose="020B0604020202020204"/>
                  <a:cs typeface="Arial" panose="020B0604020202020204"/>
                </a:rPr>
                <a:t>ion</a:t>
              </a:r>
              <a:r>
                <a:rPr sz="1800" b="1" dirty="0">
                  <a:latin typeface="Arial" panose="020B0604020202020204"/>
                  <a:cs typeface="Arial" panose="020B0604020202020204"/>
                </a:rPr>
                <a:t>s</a:t>
              </a:r>
              <a:endParaRPr sz="1800">
                <a:latin typeface="Arial" panose="020B0604020202020204"/>
                <a:cs typeface="Arial" panose="020B0604020202020204"/>
              </a:endParaRPr>
            </a:p>
          </p:txBody>
        </p:sp>
        <p:sp>
          <p:nvSpPr>
            <p:cNvPr id="37" name="object 37"/>
            <p:cNvSpPr txBox="1"/>
            <p:nvPr/>
          </p:nvSpPr>
          <p:spPr>
            <a:xfrm>
              <a:off x="10115871" y="3544589"/>
              <a:ext cx="82613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panose="020B0604020202020204"/>
                  <a:cs typeface="Arial" panose="020B0604020202020204"/>
                </a:rPr>
                <a:t>resolve</a:t>
              </a:r>
              <a:endParaRPr sz="1800">
                <a:latin typeface="Arial" panose="020B0604020202020204"/>
                <a:cs typeface="Arial" panose="020B0604020202020204"/>
              </a:endParaRPr>
            </a:p>
          </p:txBody>
        </p:sp>
        <p:sp>
          <p:nvSpPr>
            <p:cNvPr id="38" name="object 38"/>
            <p:cNvSpPr txBox="1"/>
            <p:nvPr/>
          </p:nvSpPr>
          <p:spPr>
            <a:xfrm>
              <a:off x="4546091" y="3487499"/>
              <a:ext cx="77533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panose="020B0604020202020204"/>
                  <a:cs typeface="Arial" panose="020B0604020202020204"/>
                </a:rPr>
                <a:t>reduce</a:t>
              </a:r>
              <a:endParaRPr sz="1800">
                <a:latin typeface="Arial" panose="020B0604020202020204"/>
                <a:cs typeface="Arial" panose="020B0604020202020204"/>
              </a:endParaRPr>
            </a:p>
          </p:txBody>
        </p:sp>
        <p:sp>
          <p:nvSpPr>
            <p:cNvPr id="39" name="object 39"/>
            <p:cNvSpPr txBox="1"/>
            <p:nvPr/>
          </p:nvSpPr>
          <p:spPr>
            <a:xfrm>
              <a:off x="5545908" y="1539376"/>
              <a:ext cx="82613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panose="020B0604020202020204"/>
                  <a:cs typeface="Arial" panose="020B0604020202020204"/>
                </a:rPr>
                <a:t>expand</a:t>
              </a:r>
              <a:endParaRPr sz="1800">
                <a:latin typeface="Arial" panose="020B0604020202020204"/>
                <a:cs typeface="Arial" panose="020B0604020202020204"/>
              </a:endParaRPr>
            </a:p>
          </p:txBody>
        </p:sp>
        <p:sp>
          <p:nvSpPr>
            <p:cNvPr id="40" name="object 40"/>
            <p:cNvSpPr txBox="1"/>
            <p:nvPr/>
          </p:nvSpPr>
          <p:spPr>
            <a:xfrm>
              <a:off x="9506270" y="1868189"/>
              <a:ext cx="82613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panose="020B0604020202020204"/>
                  <a:cs typeface="Arial" panose="020B0604020202020204"/>
                </a:rPr>
                <a:t>expand</a:t>
              </a:r>
              <a:endParaRPr sz="1800">
                <a:latin typeface="Arial" panose="020B0604020202020204"/>
                <a:cs typeface="Arial" panose="020B0604020202020204"/>
              </a:endParaRPr>
            </a:p>
          </p:txBody>
        </p:sp>
        <p:sp>
          <p:nvSpPr>
            <p:cNvPr id="41" name="object 41"/>
            <p:cNvSpPr txBox="1"/>
            <p:nvPr/>
          </p:nvSpPr>
          <p:spPr>
            <a:xfrm>
              <a:off x="6284667" y="2172989"/>
              <a:ext cx="109283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panose="020B0604020202020204"/>
                  <a:cs typeface="Arial" panose="020B0604020202020204"/>
                </a:rPr>
                <a:t>condense</a:t>
              </a:r>
              <a:endParaRPr sz="1800">
                <a:latin typeface="Arial" panose="020B0604020202020204"/>
                <a:cs typeface="Arial" panose="020B0604020202020204"/>
              </a:endParaRPr>
            </a:p>
          </p:txBody>
        </p:sp>
        <p:sp>
          <p:nvSpPr>
            <p:cNvPr id="42" name="object 42"/>
            <p:cNvSpPr/>
            <p:nvPr/>
          </p:nvSpPr>
          <p:spPr>
            <a:xfrm>
              <a:off x="8745925" y="1987569"/>
              <a:ext cx="0" cy="2228850"/>
            </a:xfrm>
            <a:custGeom>
              <a:avLst/>
              <a:gdLst/>
              <a:ahLst/>
              <a:cxnLst/>
              <a:rect l="l" t="t" r="r" b="b"/>
              <a:pathLst>
                <a:path h="2228850">
                  <a:moveTo>
                    <a:pt x="0" y="0"/>
                  </a:moveTo>
                  <a:lnTo>
                    <a:pt x="0" y="2228849"/>
                  </a:lnTo>
                </a:path>
              </a:pathLst>
            </a:custGeom>
            <a:ln w="57149">
              <a:solidFill>
                <a:srgbClr val="021EAA"/>
              </a:solidFill>
            </a:ln>
          </p:spPr>
          <p:txBody>
            <a:bodyPr wrap="square" lIns="0" tIns="0" rIns="0" bIns="0" rtlCol="0"/>
            <a:lstStyle/>
            <a:p>
              <a:endParaRPr/>
            </a:p>
          </p:txBody>
        </p:sp>
        <p:sp>
          <p:nvSpPr>
            <p:cNvPr id="43" name="object 43"/>
            <p:cNvSpPr/>
            <p:nvPr/>
          </p:nvSpPr>
          <p:spPr>
            <a:xfrm>
              <a:off x="8660200" y="4102118"/>
              <a:ext cx="171450" cy="171450"/>
            </a:xfrm>
            <a:custGeom>
              <a:avLst/>
              <a:gdLst/>
              <a:ahLst/>
              <a:cxnLst/>
              <a:rect l="l" t="t" r="r" b="b"/>
              <a:pathLst>
                <a:path w="171450" h="171450">
                  <a:moveTo>
                    <a:pt x="171450" y="0"/>
                  </a:moveTo>
                  <a:lnTo>
                    <a:pt x="0" y="0"/>
                  </a:lnTo>
                  <a:lnTo>
                    <a:pt x="85725" y="171450"/>
                  </a:lnTo>
                  <a:lnTo>
                    <a:pt x="171450" y="0"/>
                  </a:lnTo>
                  <a:close/>
                </a:path>
              </a:pathLst>
            </a:custGeom>
            <a:solidFill>
              <a:srgbClr val="021EAA"/>
            </a:solidFill>
          </p:spPr>
          <p:txBody>
            <a:bodyPr wrap="square" lIns="0" tIns="0" rIns="0" bIns="0" rtlCol="0"/>
            <a:lstStyle/>
            <a:p>
              <a:endParaRPr/>
            </a:p>
          </p:txBody>
        </p:sp>
        <p:sp>
          <p:nvSpPr>
            <p:cNvPr id="44" name="object 44"/>
            <p:cNvSpPr txBox="1"/>
            <p:nvPr/>
          </p:nvSpPr>
          <p:spPr>
            <a:xfrm>
              <a:off x="8456869" y="2549929"/>
              <a:ext cx="254000" cy="1029335"/>
            </a:xfrm>
            <a:prstGeom prst="rect">
              <a:avLst/>
            </a:prstGeom>
          </p:spPr>
          <p:txBody>
            <a:bodyPr vert="vert270" wrap="square" lIns="0" tIns="0" rIns="0" bIns="0" rtlCol="0">
              <a:spAutoFit/>
            </a:bodyPr>
            <a:lstStyle/>
            <a:p>
              <a:pPr marL="12700">
                <a:lnSpc>
                  <a:spcPts val="1845"/>
                </a:lnSpc>
              </a:pPr>
              <a:r>
                <a:rPr sz="1800" b="1" spc="-5" dirty="0">
                  <a:latin typeface="Arial" panose="020B0604020202020204"/>
                  <a:cs typeface="Arial" panose="020B0604020202020204"/>
                </a:rPr>
                <a:t>formalize</a:t>
              </a:r>
              <a:endParaRPr sz="1800">
                <a:latin typeface="Arial" panose="020B0604020202020204"/>
                <a:cs typeface="Arial" panose="020B0604020202020204"/>
              </a:endParaRPr>
            </a:p>
          </p:txBody>
        </p:sp>
      </p:grpSp>
      <p:sp>
        <p:nvSpPr>
          <p:cNvPr id="47" name="标题 46"/>
          <p:cNvSpPr>
            <a:spLocks noGrp="1"/>
          </p:cNvSpPr>
          <p:nvPr>
            <p:ph type="title"/>
          </p:nvPr>
        </p:nvSpPr>
        <p:spPr/>
        <p:txBody>
          <a:bodyPr/>
          <a:lstStyle/>
          <a:p>
            <a:r>
              <a:rPr lang="zh-CN" altLang="en-US" spc="-5" dirty="0"/>
              <a:t>高质量需求规格说明的评价标准</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67</a:t>
            </a:fld>
            <a:endParaRPr lang="zh-CN" altLang="en-US"/>
          </a:p>
        </p:txBody>
      </p:sp>
    </p:spTree>
    <p:extLst>
      <p:ext uri="{BB962C8B-B14F-4D97-AF65-F5344CB8AC3E}">
        <p14:creationId xmlns:p14="http://schemas.microsoft.com/office/powerpoint/2010/main" val="1769058025"/>
      </p:ext>
    </p:extLst>
  </p:cSld>
  <p:clrMapOvr>
    <a:masterClrMapping/>
  </p:clrMapOvr>
  <mc:AlternateContent xmlns:mc="http://schemas.openxmlformats.org/markup-compatibility/2006" xmlns:p14="http://schemas.microsoft.com/office/powerpoint/2010/main">
    <mc:Choice Requires="p14">
      <p:transition spd="slow" p14:dur="2000" advTm="160377"/>
    </mc:Choice>
    <mc:Fallback xmlns="">
      <p:transition spd="slow" advTm="160377"/>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28649" y="681356"/>
            <a:ext cx="10471785" cy="5279650"/>
          </a:xfrm>
          <a:prstGeom prst="rect">
            <a:avLst/>
          </a:prstGeom>
        </p:spPr>
        <p:txBody>
          <a:bodyPr vert="horz" wrap="square" lIns="0" tIns="12700" rIns="0" bIns="0" rtlCol="0">
            <a:spAutoFit/>
          </a:bodyPr>
          <a:lstStyle/>
          <a:p>
            <a:pPr marL="241300">
              <a:lnSpc>
                <a:spcPct val="100000"/>
              </a:lnSpc>
              <a:spcBef>
                <a:spcPts val="100"/>
              </a:spcBef>
            </a:pPr>
            <a:r>
              <a:rPr sz="2800" b="1" spc="-5" dirty="0">
                <a:latin typeface="微软雅黑" panose="020B0503020204020204" pitchFamily="34" charset="-122"/>
                <a:ea typeface="微软雅黑" panose="020B0503020204020204" pitchFamily="34" charset="-122"/>
                <a:cs typeface="华文新魏" panose="02010800040101010101" charset="-122"/>
              </a:rPr>
              <a:t>简洁</a:t>
            </a:r>
            <a:endParaRPr sz="2800" dirty="0">
              <a:latin typeface="微软雅黑" panose="020B0503020204020204" pitchFamily="34" charset="-122"/>
              <a:ea typeface="微软雅黑" panose="020B0503020204020204" pitchFamily="34" charset="-122"/>
              <a:cs typeface="华文新魏" panose="02010800040101010101" charset="-122"/>
            </a:endParaRPr>
          </a:p>
          <a:p>
            <a:pPr>
              <a:lnSpc>
                <a:spcPct val="100000"/>
              </a:lnSpc>
              <a:spcBef>
                <a:spcPts val="15"/>
              </a:spcBef>
            </a:pPr>
            <a:endParaRPr sz="3550" dirty="0">
              <a:latin typeface="微软雅黑" panose="020B0503020204020204" pitchFamily="34" charset="-122"/>
              <a:ea typeface="微软雅黑" panose="020B0503020204020204" pitchFamily="34" charset="-122"/>
              <a:cs typeface="Times New Roman" panose="02020603050405020304"/>
            </a:endParaRPr>
          </a:p>
          <a:p>
            <a:pPr marL="241300" indent="-228600">
              <a:lnSpc>
                <a:spcPct val="100000"/>
              </a:lnSpc>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定义：需求描述尽可能简洁</a:t>
            </a:r>
          </a:p>
          <a:p>
            <a:pPr marL="698500" lvl="1" indent="-229235">
              <a:lnSpc>
                <a:spcPct val="100000"/>
              </a:lnSpc>
              <a:spcBef>
                <a:spcPts val="94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描述了系统的一个独立特征</a:t>
            </a:r>
          </a:p>
          <a:p>
            <a:pPr marL="698500" lvl="1" indent="-229235">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除了必需的信息外没有包含其他信息</a:t>
            </a:r>
          </a:p>
          <a:p>
            <a:pPr marL="698500" lvl="1" indent="-229235">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用清晰、简单、可理解的词表述</a:t>
            </a:r>
          </a:p>
          <a:p>
            <a:pPr marL="698500" lvl="1" indent="-229235">
              <a:lnSpc>
                <a:spcPct val="100000"/>
              </a:lnSpc>
              <a:spcBef>
                <a:spcPts val="9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避免“应该”、“可以”、“</a:t>
            </a:r>
            <a:r>
              <a:rPr sz="2000" dirty="0" err="1">
                <a:latin typeface="微软雅黑" panose="020B0503020204020204" pitchFamily="34" charset="-122"/>
                <a:ea typeface="微软雅黑" panose="020B0503020204020204" pitchFamily="34" charset="-122"/>
                <a:cs typeface="华文新魏" panose="02010800040101010101" charset="-122"/>
              </a:rPr>
              <a:t>可能”之类的用词</a:t>
            </a:r>
            <a:endParaRPr lang="en-US" altLang="zh-CN" sz="2000" dirty="0">
              <a:latin typeface="微软雅黑" panose="020B0503020204020204" pitchFamily="34" charset="-122"/>
              <a:ea typeface="微软雅黑" panose="020B0503020204020204" pitchFamily="34" charset="-122"/>
              <a:cs typeface="华文新魏" panose="02010800040101010101" charset="-122"/>
            </a:endParaRPr>
          </a:p>
          <a:p>
            <a:pPr marL="698500" lvl="1" indent="-229235">
              <a:lnSpc>
                <a:spcPct val="100000"/>
              </a:lnSpc>
              <a:spcBef>
                <a:spcPts val="900"/>
              </a:spcBef>
              <a:buFont typeface="Arial" panose="020B0604020202020204"/>
              <a:buChar char="•"/>
              <a:tabLst>
                <a:tab pos="697865" algn="l"/>
                <a:tab pos="698500" algn="l"/>
              </a:tabLst>
            </a:pPr>
            <a:endParaRPr sz="2000" dirty="0">
              <a:latin typeface="微软雅黑" panose="020B0503020204020204" pitchFamily="34" charset="-122"/>
              <a:ea typeface="微软雅黑" panose="020B0503020204020204" pitchFamily="34" charset="-122"/>
              <a:cs typeface="华文新魏" panose="02010800040101010101" charset="-122"/>
            </a:endParaRPr>
          </a:p>
          <a:p>
            <a:pPr marL="241300" indent="-228600">
              <a:lnSpc>
                <a:spcPct val="100000"/>
              </a:lnSpc>
              <a:spcBef>
                <a:spcPts val="158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举例</a:t>
            </a:r>
            <a:r>
              <a:rPr sz="2400" dirty="0">
                <a:latin typeface="微软雅黑" panose="020B0503020204020204" pitchFamily="34" charset="-122"/>
                <a:ea typeface="微软雅黑" panose="020B0503020204020204" pitchFamily="34" charset="-122"/>
                <a:cs typeface="Gill Sans MT" panose="020B0502020104020203"/>
              </a:rPr>
              <a:t>:</a:t>
            </a:r>
          </a:p>
          <a:p>
            <a:pPr marL="698500" lvl="1" indent="-229235">
              <a:lnSpc>
                <a:spcPct val="100000"/>
              </a:lnSpc>
              <a:spcBef>
                <a:spcPts val="104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“急救电话的响应应本着先到先响应的原则”</a:t>
            </a:r>
            <a:r>
              <a:rPr sz="2000" spc="480" dirty="0">
                <a:latin typeface="微软雅黑" panose="020B0503020204020204" pitchFamily="34" charset="-122"/>
                <a:ea typeface="微软雅黑" panose="020B0503020204020204" pitchFamily="34" charset="-122"/>
                <a:cs typeface="华文新魏" panose="02010800040101010101" charset="-122"/>
              </a:rPr>
              <a:t> </a:t>
            </a:r>
            <a:r>
              <a:rPr sz="2000" dirty="0">
                <a:latin typeface="微软雅黑" panose="020B0503020204020204" pitchFamily="34" charset="-122"/>
                <a:ea typeface="微软雅黑" panose="020B0503020204020204" pitchFamily="34" charset="-122"/>
                <a:cs typeface="华文新魏" panose="02010800040101010101" charset="-122"/>
              </a:rPr>
              <a:t>相对</a:t>
            </a:r>
          </a:p>
          <a:p>
            <a:pPr marL="698500" marR="5080" lvl="1" indent="-228600">
              <a:lnSpc>
                <a:spcPct val="117000"/>
              </a:lnSpc>
              <a:spcBef>
                <a:spcPts val="6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Gill Sans MT" panose="020B0502020104020203"/>
              </a:rPr>
              <a:t>“</a:t>
            </a:r>
            <a:r>
              <a:rPr sz="2000" dirty="0">
                <a:latin typeface="微软雅黑" panose="020B0503020204020204" pitchFamily="34" charset="-122"/>
                <a:ea typeface="微软雅黑" panose="020B0503020204020204" pitchFamily="34" charset="-122"/>
                <a:cs typeface="华文新魏" panose="02010800040101010101" charset="-122"/>
              </a:rPr>
              <a:t>急救电话应按照其拨入的次序存入一个先入先出的等待队列当中，并且按照进入队列的 次序逐一应答</a:t>
            </a:r>
            <a:r>
              <a:rPr sz="2000" dirty="0">
                <a:latin typeface="微软雅黑" panose="020B0503020204020204" pitchFamily="34" charset="-122"/>
                <a:ea typeface="微软雅黑" panose="020B0503020204020204" pitchFamily="34" charset="-122"/>
                <a:cs typeface="Gill Sans MT" panose="020B0502020104020203"/>
              </a:rPr>
              <a:t>”</a:t>
            </a:r>
            <a:r>
              <a:rPr sz="2000" spc="409" dirty="0">
                <a:latin typeface="微软雅黑" panose="020B0503020204020204" pitchFamily="34" charset="-122"/>
                <a:ea typeface="微软雅黑" panose="020B0503020204020204" pitchFamily="34" charset="-122"/>
                <a:cs typeface="Gill Sans MT" panose="020B0502020104020203"/>
              </a:rPr>
              <a:t> </a:t>
            </a:r>
            <a:r>
              <a:rPr sz="2000" dirty="0">
                <a:latin typeface="微软雅黑" panose="020B0503020204020204" pitchFamily="34" charset="-122"/>
                <a:ea typeface="微软雅黑" panose="020B0503020204020204" pitchFamily="34" charset="-122"/>
                <a:cs typeface="华文新魏" panose="02010800040101010101" charset="-122"/>
              </a:rPr>
              <a:t>是简洁的</a:t>
            </a:r>
          </a:p>
        </p:txBody>
      </p:sp>
      <p:sp>
        <p:nvSpPr>
          <p:cNvPr id="3" name="object 3"/>
          <p:cNvSpPr/>
          <p:nvPr/>
        </p:nvSpPr>
        <p:spPr>
          <a:xfrm>
            <a:off x="8290868" y="2263431"/>
            <a:ext cx="1981200" cy="1484309"/>
          </a:xfrm>
          <a:prstGeom prst="rect">
            <a:avLst/>
          </a:prstGeom>
          <a:blipFill>
            <a:blip r:embed="rId3" cstate="print"/>
            <a:stretch>
              <a:fillRect/>
            </a:stretch>
          </a:blipFill>
        </p:spPr>
        <p:txBody>
          <a:bodyPr wrap="square" lIns="0" tIns="0" rIns="0" bIns="0" rtlCol="0"/>
          <a:lstStyle/>
          <a:p>
            <a:endParaRPr/>
          </a:p>
        </p:txBody>
      </p:sp>
      <p:sp>
        <p:nvSpPr>
          <p:cNvPr id="4" name="灯片编号占位符 3"/>
          <p:cNvSpPr>
            <a:spLocks noGrp="1"/>
          </p:cNvSpPr>
          <p:nvPr>
            <p:ph type="sldNum" sz="quarter" idx="7"/>
          </p:nvPr>
        </p:nvSpPr>
        <p:spPr/>
        <p:txBody>
          <a:bodyPr/>
          <a:lstStyle/>
          <a:p>
            <a:fld id="{B6F15528-21DE-4FAA-801E-634DDDAF4B2B}" type="slidenum">
              <a:rPr lang="en-US" altLang="zh-CN" smtClean="0"/>
              <a:t>68</a:t>
            </a:fld>
            <a:endParaRPr lang="zh-CN" altLang="en-US"/>
          </a:p>
        </p:txBody>
      </p:sp>
    </p:spTree>
    <p:extLst>
      <p:ext uri="{BB962C8B-B14F-4D97-AF65-F5344CB8AC3E}">
        <p14:creationId xmlns:p14="http://schemas.microsoft.com/office/powerpoint/2010/main" val="1048092049"/>
      </p:ext>
    </p:extLst>
  </p:cSld>
  <p:clrMapOvr>
    <a:masterClrMapping/>
  </p:clrMapOvr>
  <mc:AlternateContent xmlns:mc="http://schemas.openxmlformats.org/markup-compatibility/2006" xmlns:p14="http://schemas.microsoft.com/office/powerpoint/2010/main">
    <mc:Choice Requires="p14">
      <p:transition spd="slow" p14:dur="2000" advTm="73288"/>
    </mc:Choice>
    <mc:Fallback xmlns="">
      <p:transition spd="slow" advTm="73288"/>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86251" y="1843170"/>
            <a:ext cx="9398000" cy="1143000"/>
          </a:xfrm>
          <a:prstGeom prst="rect">
            <a:avLst/>
          </a:prstGeom>
        </p:spPr>
        <p:txBody>
          <a:bodyPr vert="horz" wrap="square" lIns="0" tIns="205740" rIns="0" bIns="0" rtlCol="0">
            <a:spAutoFit/>
          </a:bodyPr>
          <a:lstStyle/>
          <a:p>
            <a:pPr marL="241300" indent="-228600">
              <a:lnSpc>
                <a:spcPct val="100000"/>
              </a:lnSpc>
              <a:spcBef>
                <a:spcPts val="1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创建任何类型的需求规格说明最优先的方式是通过需求数据库生成它</a:t>
            </a:r>
          </a:p>
          <a:p>
            <a:pPr marL="241300" indent="-228600">
              <a:lnSpc>
                <a:spcPct val="100000"/>
              </a:lnSpc>
              <a:spcBef>
                <a:spcPts val="15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不直接修改规格说明，修改数据库中的需求并且重新生成规格说明</a:t>
            </a:r>
          </a:p>
        </p:txBody>
      </p:sp>
      <p:sp>
        <p:nvSpPr>
          <p:cNvPr id="4" name="object 4"/>
          <p:cNvSpPr/>
          <p:nvPr/>
        </p:nvSpPr>
        <p:spPr>
          <a:xfrm>
            <a:off x="838200" y="3833023"/>
            <a:ext cx="2111375" cy="944880"/>
          </a:xfrm>
          <a:custGeom>
            <a:avLst/>
            <a:gdLst/>
            <a:ahLst/>
            <a:cxnLst/>
            <a:rect l="l" t="t" r="r" b="b"/>
            <a:pathLst>
              <a:path w="2111375" h="944879">
                <a:moveTo>
                  <a:pt x="1" y="0"/>
                </a:moveTo>
                <a:lnTo>
                  <a:pt x="0" y="809625"/>
                </a:lnTo>
                <a:lnTo>
                  <a:pt x="25448" y="839207"/>
                </a:lnTo>
                <a:lnTo>
                  <a:pt x="68988" y="857706"/>
                </a:lnTo>
                <a:lnTo>
                  <a:pt x="131882" y="874984"/>
                </a:lnTo>
                <a:lnTo>
                  <a:pt x="170077" y="883099"/>
                </a:lnTo>
                <a:lnTo>
                  <a:pt x="212499" y="890831"/>
                </a:lnTo>
                <a:lnTo>
                  <a:pt x="258942" y="898153"/>
                </a:lnTo>
                <a:lnTo>
                  <a:pt x="309203" y="905040"/>
                </a:lnTo>
                <a:lnTo>
                  <a:pt x="363079" y="911464"/>
                </a:lnTo>
                <a:lnTo>
                  <a:pt x="420364" y="917400"/>
                </a:lnTo>
                <a:lnTo>
                  <a:pt x="480854" y="922823"/>
                </a:lnTo>
                <a:lnTo>
                  <a:pt x="544347" y="927705"/>
                </a:lnTo>
                <a:lnTo>
                  <a:pt x="610636" y="932021"/>
                </a:lnTo>
                <a:lnTo>
                  <a:pt x="679519" y="935744"/>
                </a:lnTo>
                <a:lnTo>
                  <a:pt x="750791" y="938849"/>
                </a:lnTo>
                <a:lnTo>
                  <a:pt x="899686" y="943099"/>
                </a:lnTo>
                <a:lnTo>
                  <a:pt x="1055688" y="944562"/>
                </a:lnTo>
                <a:lnTo>
                  <a:pt x="1134475" y="944192"/>
                </a:lnTo>
                <a:lnTo>
                  <a:pt x="1211689" y="943099"/>
                </a:lnTo>
                <a:lnTo>
                  <a:pt x="1287127" y="941309"/>
                </a:lnTo>
                <a:lnTo>
                  <a:pt x="1360584" y="938849"/>
                </a:lnTo>
                <a:lnTo>
                  <a:pt x="1431856" y="935744"/>
                </a:lnTo>
                <a:lnTo>
                  <a:pt x="1500739" y="932021"/>
                </a:lnTo>
                <a:lnTo>
                  <a:pt x="1567028" y="927705"/>
                </a:lnTo>
                <a:lnTo>
                  <a:pt x="1630520" y="922823"/>
                </a:lnTo>
                <a:lnTo>
                  <a:pt x="1691011" y="917400"/>
                </a:lnTo>
                <a:lnTo>
                  <a:pt x="1748296" y="911464"/>
                </a:lnTo>
                <a:lnTo>
                  <a:pt x="1802171" y="905040"/>
                </a:lnTo>
                <a:lnTo>
                  <a:pt x="1852433" y="898153"/>
                </a:lnTo>
                <a:lnTo>
                  <a:pt x="1898876" y="890831"/>
                </a:lnTo>
                <a:lnTo>
                  <a:pt x="1941297" y="883099"/>
                </a:lnTo>
                <a:lnTo>
                  <a:pt x="1979492" y="874984"/>
                </a:lnTo>
                <a:lnTo>
                  <a:pt x="2042387" y="857706"/>
                </a:lnTo>
                <a:lnTo>
                  <a:pt x="2085927" y="839207"/>
                </a:lnTo>
                <a:lnTo>
                  <a:pt x="2111375" y="809625"/>
                </a:lnTo>
                <a:lnTo>
                  <a:pt x="2111376" y="134937"/>
                </a:lnTo>
                <a:lnTo>
                  <a:pt x="1055688" y="134937"/>
                </a:lnTo>
                <a:lnTo>
                  <a:pt x="976901" y="134567"/>
                </a:lnTo>
                <a:lnTo>
                  <a:pt x="899686" y="133474"/>
                </a:lnTo>
                <a:lnTo>
                  <a:pt x="824248" y="131684"/>
                </a:lnTo>
                <a:lnTo>
                  <a:pt x="750791" y="129224"/>
                </a:lnTo>
                <a:lnTo>
                  <a:pt x="679520" y="126119"/>
                </a:lnTo>
                <a:lnTo>
                  <a:pt x="610637" y="122396"/>
                </a:lnTo>
                <a:lnTo>
                  <a:pt x="544347" y="118080"/>
                </a:lnTo>
                <a:lnTo>
                  <a:pt x="480855" y="113198"/>
                </a:lnTo>
                <a:lnTo>
                  <a:pt x="420365" y="107775"/>
                </a:lnTo>
                <a:lnTo>
                  <a:pt x="363080" y="101839"/>
                </a:lnTo>
                <a:lnTo>
                  <a:pt x="309204" y="95415"/>
                </a:lnTo>
                <a:lnTo>
                  <a:pt x="258943" y="88528"/>
                </a:lnTo>
                <a:lnTo>
                  <a:pt x="212500" y="81206"/>
                </a:lnTo>
                <a:lnTo>
                  <a:pt x="170078" y="73474"/>
                </a:lnTo>
                <a:lnTo>
                  <a:pt x="131883" y="65359"/>
                </a:lnTo>
                <a:lnTo>
                  <a:pt x="68989" y="48081"/>
                </a:lnTo>
                <a:lnTo>
                  <a:pt x="25449" y="29582"/>
                </a:lnTo>
                <a:lnTo>
                  <a:pt x="2896" y="10070"/>
                </a:lnTo>
                <a:lnTo>
                  <a:pt x="1" y="0"/>
                </a:lnTo>
                <a:close/>
              </a:path>
              <a:path w="2111375" h="944879">
                <a:moveTo>
                  <a:pt x="2111377" y="0"/>
                </a:moveTo>
                <a:lnTo>
                  <a:pt x="2085928" y="29582"/>
                </a:lnTo>
                <a:lnTo>
                  <a:pt x="2042388" y="48081"/>
                </a:lnTo>
                <a:lnTo>
                  <a:pt x="1979494" y="65359"/>
                </a:lnTo>
                <a:lnTo>
                  <a:pt x="1941299" y="73474"/>
                </a:lnTo>
                <a:lnTo>
                  <a:pt x="1898877" y="81206"/>
                </a:lnTo>
                <a:lnTo>
                  <a:pt x="1852434" y="88528"/>
                </a:lnTo>
                <a:lnTo>
                  <a:pt x="1802172" y="95415"/>
                </a:lnTo>
                <a:lnTo>
                  <a:pt x="1748297" y="101839"/>
                </a:lnTo>
                <a:lnTo>
                  <a:pt x="1691012" y="107775"/>
                </a:lnTo>
                <a:lnTo>
                  <a:pt x="1630521" y="113198"/>
                </a:lnTo>
                <a:lnTo>
                  <a:pt x="1567029" y="118080"/>
                </a:lnTo>
                <a:lnTo>
                  <a:pt x="1500739" y="122396"/>
                </a:lnTo>
                <a:lnTo>
                  <a:pt x="1431857" y="126119"/>
                </a:lnTo>
                <a:lnTo>
                  <a:pt x="1360585" y="129224"/>
                </a:lnTo>
                <a:lnTo>
                  <a:pt x="1211690" y="133474"/>
                </a:lnTo>
                <a:lnTo>
                  <a:pt x="1055688" y="134937"/>
                </a:lnTo>
                <a:lnTo>
                  <a:pt x="2111376" y="134937"/>
                </a:lnTo>
                <a:lnTo>
                  <a:pt x="2111377" y="0"/>
                </a:lnTo>
                <a:close/>
              </a:path>
            </a:pathLst>
          </a:custGeom>
          <a:solidFill>
            <a:srgbClr val="6CACD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 name="object 5"/>
          <p:cNvSpPr/>
          <p:nvPr/>
        </p:nvSpPr>
        <p:spPr>
          <a:xfrm>
            <a:off x="838201" y="3698085"/>
            <a:ext cx="2111375" cy="269875"/>
          </a:xfrm>
          <a:custGeom>
            <a:avLst/>
            <a:gdLst/>
            <a:ahLst/>
            <a:cxnLst/>
            <a:rect l="l" t="t" r="r" b="b"/>
            <a:pathLst>
              <a:path w="2111375" h="269875">
                <a:moveTo>
                  <a:pt x="1055687" y="0"/>
                </a:moveTo>
                <a:lnTo>
                  <a:pt x="899685" y="1463"/>
                </a:lnTo>
                <a:lnTo>
                  <a:pt x="750790" y="5713"/>
                </a:lnTo>
                <a:lnTo>
                  <a:pt x="679519" y="8818"/>
                </a:lnTo>
                <a:lnTo>
                  <a:pt x="610636" y="12541"/>
                </a:lnTo>
                <a:lnTo>
                  <a:pt x="544346" y="16857"/>
                </a:lnTo>
                <a:lnTo>
                  <a:pt x="480854" y="21739"/>
                </a:lnTo>
                <a:lnTo>
                  <a:pt x="420363" y="27161"/>
                </a:lnTo>
                <a:lnTo>
                  <a:pt x="363078" y="33098"/>
                </a:lnTo>
                <a:lnTo>
                  <a:pt x="309203" y="39522"/>
                </a:lnTo>
                <a:lnTo>
                  <a:pt x="258942" y="46408"/>
                </a:lnTo>
                <a:lnTo>
                  <a:pt x="212499" y="53731"/>
                </a:lnTo>
                <a:lnTo>
                  <a:pt x="170077" y="61463"/>
                </a:lnTo>
                <a:lnTo>
                  <a:pt x="131882" y="69578"/>
                </a:lnTo>
                <a:lnTo>
                  <a:pt x="68988" y="86856"/>
                </a:lnTo>
                <a:lnTo>
                  <a:pt x="25448" y="105355"/>
                </a:lnTo>
                <a:lnTo>
                  <a:pt x="0" y="134938"/>
                </a:lnTo>
                <a:lnTo>
                  <a:pt x="2895" y="145009"/>
                </a:lnTo>
                <a:lnTo>
                  <a:pt x="44696" y="173910"/>
                </a:lnTo>
                <a:lnTo>
                  <a:pt x="98118" y="191824"/>
                </a:lnTo>
                <a:lnTo>
                  <a:pt x="170077" y="208413"/>
                </a:lnTo>
                <a:lnTo>
                  <a:pt x="212499" y="216145"/>
                </a:lnTo>
                <a:lnTo>
                  <a:pt x="258942" y="223467"/>
                </a:lnTo>
                <a:lnTo>
                  <a:pt x="309203" y="230353"/>
                </a:lnTo>
                <a:lnTo>
                  <a:pt x="363078" y="236778"/>
                </a:lnTo>
                <a:lnTo>
                  <a:pt x="420363" y="242714"/>
                </a:lnTo>
                <a:lnTo>
                  <a:pt x="480854" y="248136"/>
                </a:lnTo>
                <a:lnTo>
                  <a:pt x="544346" y="253018"/>
                </a:lnTo>
                <a:lnTo>
                  <a:pt x="610636" y="257334"/>
                </a:lnTo>
                <a:lnTo>
                  <a:pt x="679519" y="261058"/>
                </a:lnTo>
                <a:lnTo>
                  <a:pt x="750790" y="264163"/>
                </a:lnTo>
                <a:lnTo>
                  <a:pt x="899685" y="268413"/>
                </a:lnTo>
                <a:lnTo>
                  <a:pt x="1055687" y="269876"/>
                </a:lnTo>
                <a:lnTo>
                  <a:pt x="1134474" y="269506"/>
                </a:lnTo>
                <a:lnTo>
                  <a:pt x="1211689" y="268413"/>
                </a:lnTo>
                <a:lnTo>
                  <a:pt x="1287127" y="266623"/>
                </a:lnTo>
                <a:lnTo>
                  <a:pt x="1360584" y="264163"/>
                </a:lnTo>
                <a:lnTo>
                  <a:pt x="1431856" y="261058"/>
                </a:lnTo>
                <a:lnTo>
                  <a:pt x="1500738" y="257334"/>
                </a:lnTo>
                <a:lnTo>
                  <a:pt x="1567028" y="253018"/>
                </a:lnTo>
                <a:lnTo>
                  <a:pt x="1630520" y="248136"/>
                </a:lnTo>
                <a:lnTo>
                  <a:pt x="1691011" y="242714"/>
                </a:lnTo>
                <a:lnTo>
                  <a:pt x="1748296" y="236778"/>
                </a:lnTo>
                <a:lnTo>
                  <a:pt x="1802171" y="230353"/>
                </a:lnTo>
                <a:lnTo>
                  <a:pt x="1852433" y="223467"/>
                </a:lnTo>
                <a:lnTo>
                  <a:pt x="1898876" y="216145"/>
                </a:lnTo>
                <a:lnTo>
                  <a:pt x="1941298" y="208413"/>
                </a:lnTo>
                <a:lnTo>
                  <a:pt x="1979493" y="200297"/>
                </a:lnTo>
                <a:lnTo>
                  <a:pt x="2042387" y="183020"/>
                </a:lnTo>
                <a:lnTo>
                  <a:pt x="2085927" y="164521"/>
                </a:lnTo>
                <a:lnTo>
                  <a:pt x="2111376" y="134938"/>
                </a:lnTo>
                <a:lnTo>
                  <a:pt x="2108480" y="124868"/>
                </a:lnTo>
                <a:lnTo>
                  <a:pt x="2066679" y="95966"/>
                </a:lnTo>
                <a:lnTo>
                  <a:pt x="2013257" y="78051"/>
                </a:lnTo>
                <a:lnTo>
                  <a:pt x="1941298" y="61463"/>
                </a:lnTo>
                <a:lnTo>
                  <a:pt x="1898876" y="53731"/>
                </a:lnTo>
                <a:lnTo>
                  <a:pt x="1852433" y="46408"/>
                </a:lnTo>
                <a:lnTo>
                  <a:pt x="1802171" y="39522"/>
                </a:lnTo>
                <a:lnTo>
                  <a:pt x="1748296" y="33098"/>
                </a:lnTo>
                <a:lnTo>
                  <a:pt x="1691011" y="27161"/>
                </a:lnTo>
                <a:lnTo>
                  <a:pt x="1630520" y="21739"/>
                </a:lnTo>
                <a:lnTo>
                  <a:pt x="1567028" y="16857"/>
                </a:lnTo>
                <a:lnTo>
                  <a:pt x="1500738" y="12541"/>
                </a:lnTo>
                <a:lnTo>
                  <a:pt x="1431856" y="8818"/>
                </a:lnTo>
                <a:lnTo>
                  <a:pt x="1360584" y="5713"/>
                </a:lnTo>
                <a:lnTo>
                  <a:pt x="1211689" y="1463"/>
                </a:lnTo>
                <a:lnTo>
                  <a:pt x="1055687" y="0"/>
                </a:lnTo>
                <a:close/>
              </a:path>
            </a:pathLst>
          </a:custGeom>
          <a:solidFill>
            <a:srgbClr val="ACCEEB"/>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 name="object 6"/>
          <p:cNvSpPr/>
          <p:nvPr/>
        </p:nvSpPr>
        <p:spPr>
          <a:xfrm>
            <a:off x="838200" y="3698085"/>
            <a:ext cx="2111375" cy="269875"/>
          </a:xfrm>
          <a:custGeom>
            <a:avLst/>
            <a:gdLst/>
            <a:ahLst/>
            <a:cxnLst/>
            <a:rect l="l" t="t" r="r" b="b"/>
            <a:pathLst>
              <a:path w="2111375" h="269875">
                <a:moveTo>
                  <a:pt x="2111375" y="134937"/>
                </a:moveTo>
                <a:lnTo>
                  <a:pt x="2085927" y="164520"/>
                </a:lnTo>
                <a:lnTo>
                  <a:pt x="2042387" y="183019"/>
                </a:lnTo>
                <a:lnTo>
                  <a:pt x="1979492" y="200297"/>
                </a:lnTo>
                <a:lnTo>
                  <a:pt x="1941297" y="208413"/>
                </a:lnTo>
                <a:lnTo>
                  <a:pt x="1898876" y="216145"/>
                </a:lnTo>
                <a:lnTo>
                  <a:pt x="1852432" y="223467"/>
                </a:lnTo>
                <a:lnTo>
                  <a:pt x="1802171" y="230353"/>
                </a:lnTo>
                <a:lnTo>
                  <a:pt x="1748296" y="236777"/>
                </a:lnTo>
                <a:lnTo>
                  <a:pt x="1691011" y="242714"/>
                </a:lnTo>
                <a:lnTo>
                  <a:pt x="1630520" y="248136"/>
                </a:lnTo>
                <a:lnTo>
                  <a:pt x="1567028" y="253018"/>
                </a:lnTo>
                <a:lnTo>
                  <a:pt x="1500738" y="257334"/>
                </a:lnTo>
                <a:lnTo>
                  <a:pt x="1431856" y="261057"/>
                </a:lnTo>
                <a:lnTo>
                  <a:pt x="1360584" y="264162"/>
                </a:lnTo>
                <a:lnTo>
                  <a:pt x="1287127" y="266623"/>
                </a:lnTo>
                <a:lnTo>
                  <a:pt x="1211689" y="268412"/>
                </a:lnTo>
                <a:lnTo>
                  <a:pt x="1134474" y="269505"/>
                </a:lnTo>
                <a:lnTo>
                  <a:pt x="1055687" y="269875"/>
                </a:lnTo>
                <a:lnTo>
                  <a:pt x="976900" y="269505"/>
                </a:lnTo>
                <a:lnTo>
                  <a:pt x="899685" y="268412"/>
                </a:lnTo>
                <a:lnTo>
                  <a:pt x="824248" y="266623"/>
                </a:lnTo>
                <a:lnTo>
                  <a:pt x="750791" y="264162"/>
                </a:lnTo>
                <a:lnTo>
                  <a:pt x="679519" y="261057"/>
                </a:lnTo>
                <a:lnTo>
                  <a:pt x="610636" y="257334"/>
                </a:lnTo>
                <a:lnTo>
                  <a:pt x="544346" y="253018"/>
                </a:lnTo>
                <a:lnTo>
                  <a:pt x="480854" y="248136"/>
                </a:lnTo>
                <a:lnTo>
                  <a:pt x="420364" y="242714"/>
                </a:lnTo>
                <a:lnTo>
                  <a:pt x="363079" y="236777"/>
                </a:lnTo>
                <a:lnTo>
                  <a:pt x="309203" y="230353"/>
                </a:lnTo>
                <a:lnTo>
                  <a:pt x="258942" y="223467"/>
                </a:lnTo>
                <a:lnTo>
                  <a:pt x="212499" y="216145"/>
                </a:lnTo>
                <a:lnTo>
                  <a:pt x="170077" y="208413"/>
                </a:lnTo>
                <a:lnTo>
                  <a:pt x="131882" y="200297"/>
                </a:lnTo>
                <a:lnTo>
                  <a:pt x="68988" y="183019"/>
                </a:lnTo>
                <a:lnTo>
                  <a:pt x="25448" y="164520"/>
                </a:lnTo>
                <a:lnTo>
                  <a:pt x="0" y="134937"/>
                </a:lnTo>
                <a:lnTo>
                  <a:pt x="2895" y="124867"/>
                </a:lnTo>
                <a:lnTo>
                  <a:pt x="44696" y="95966"/>
                </a:lnTo>
                <a:lnTo>
                  <a:pt x="98118" y="78051"/>
                </a:lnTo>
                <a:lnTo>
                  <a:pt x="170077" y="61462"/>
                </a:lnTo>
                <a:lnTo>
                  <a:pt x="212499" y="53730"/>
                </a:lnTo>
                <a:lnTo>
                  <a:pt x="258942" y="46408"/>
                </a:lnTo>
                <a:lnTo>
                  <a:pt x="309203" y="39522"/>
                </a:lnTo>
                <a:lnTo>
                  <a:pt x="363079" y="33097"/>
                </a:lnTo>
                <a:lnTo>
                  <a:pt x="420364" y="27161"/>
                </a:lnTo>
                <a:lnTo>
                  <a:pt x="480854" y="21739"/>
                </a:lnTo>
                <a:lnTo>
                  <a:pt x="544346" y="16857"/>
                </a:lnTo>
                <a:lnTo>
                  <a:pt x="610636" y="12541"/>
                </a:lnTo>
                <a:lnTo>
                  <a:pt x="679519" y="8818"/>
                </a:lnTo>
                <a:lnTo>
                  <a:pt x="750791" y="5713"/>
                </a:lnTo>
                <a:lnTo>
                  <a:pt x="824248" y="3252"/>
                </a:lnTo>
                <a:lnTo>
                  <a:pt x="899685" y="1463"/>
                </a:lnTo>
                <a:lnTo>
                  <a:pt x="976900" y="370"/>
                </a:lnTo>
                <a:lnTo>
                  <a:pt x="1055687" y="0"/>
                </a:lnTo>
                <a:lnTo>
                  <a:pt x="1134474" y="370"/>
                </a:lnTo>
                <a:lnTo>
                  <a:pt x="1211689" y="1463"/>
                </a:lnTo>
                <a:lnTo>
                  <a:pt x="1287127" y="3252"/>
                </a:lnTo>
                <a:lnTo>
                  <a:pt x="1360584" y="5713"/>
                </a:lnTo>
                <a:lnTo>
                  <a:pt x="1431856" y="8818"/>
                </a:lnTo>
                <a:lnTo>
                  <a:pt x="1500738" y="12541"/>
                </a:lnTo>
                <a:lnTo>
                  <a:pt x="1567028" y="16857"/>
                </a:lnTo>
                <a:lnTo>
                  <a:pt x="1630520" y="21739"/>
                </a:lnTo>
                <a:lnTo>
                  <a:pt x="1691011" y="27161"/>
                </a:lnTo>
                <a:lnTo>
                  <a:pt x="1748296" y="33097"/>
                </a:lnTo>
                <a:lnTo>
                  <a:pt x="1802171" y="39522"/>
                </a:lnTo>
                <a:lnTo>
                  <a:pt x="1852432" y="46408"/>
                </a:lnTo>
                <a:lnTo>
                  <a:pt x="1898876" y="53730"/>
                </a:lnTo>
                <a:lnTo>
                  <a:pt x="1941297" y="61462"/>
                </a:lnTo>
                <a:lnTo>
                  <a:pt x="1979492" y="69578"/>
                </a:lnTo>
                <a:lnTo>
                  <a:pt x="2042387" y="86856"/>
                </a:lnTo>
                <a:lnTo>
                  <a:pt x="2085927" y="105355"/>
                </a:lnTo>
                <a:lnTo>
                  <a:pt x="2111375" y="134937"/>
                </a:lnTo>
                <a:close/>
              </a:path>
            </a:pathLst>
          </a:custGeom>
          <a:ln w="12699">
            <a:solidFill>
              <a:srgbClr val="5185AC"/>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 name="object 7"/>
          <p:cNvSpPr/>
          <p:nvPr/>
        </p:nvSpPr>
        <p:spPr>
          <a:xfrm>
            <a:off x="838200" y="3833023"/>
            <a:ext cx="2111375" cy="944880"/>
          </a:xfrm>
          <a:custGeom>
            <a:avLst/>
            <a:gdLst/>
            <a:ahLst/>
            <a:cxnLst/>
            <a:rect l="l" t="t" r="r" b="b"/>
            <a:pathLst>
              <a:path w="2111375" h="944879">
                <a:moveTo>
                  <a:pt x="2111375" y="809624"/>
                </a:moveTo>
                <a:lnTo>
                  <a:pt x="2085927" y="839207"/>
                </a:lnTo>
                <a:lnTo>
                  <a:pt x="2042387" y="857706"/>
                </a:lnTo>
                <a:lnTo>
                  <a:pt x="1979492" y="874984"/>
                </a:lnTo>
                <a:lnTo>
                  <a:pt x="1941297" y="883099"/>
                </a:lnTo>
                <a:lnTo>
                  <a:pt x="1898876" y="890831"/>
                </a:lnTo>
                <a:lnTo>
                  <a:pt x="1852432" y="898154"/>
                </a:lnTo>
                <a:lnTo>
                  <a:pt x="1802171" y="905040"/>
                </a:lnTo>
                <a:lnTo>
                  <a:pt x="1748296" y="911464"/>
                </a:lnTo>
                <a:lnTo>
                  <a:pt x="1691011" y="917401"/>
                </a:lnTo>
                <a:lnTo>
                  <a:pt x="1630520" y="922823"/>
                </a:lnTo>
                <a:lnTo>
                  <a:pt x="1567028" y="927705"/>
                </a:lnTo>
                <a:lnTo>
                  <a:pt x="1500738" y="932021"/>
                </a:lnTo>
                <a:lnTo>
                  <a:pt x="1431856" y="935744"/>
                </a:lnTo>
                <a:lnTo>
                  <a:pt x="1360584" y="938849"/>
                </a:lnTo>
                <a:lnTo>
                  <a:pt x="1287127" y="941310"/>
                </a:lnTo>
                <a:lnTo>
                  <a:pt x="1211689" y="943099"/>
                </a:lnTo>
                <a:lnTo>
                  <a:pt x="1134474" y="944192"/>
                </a:lnTo>
                <a:lnTo>
                  <a:pt x="1055687" y="944562"/>
                </a:lnTo>
                <a:lnTo>
                  <a:pt x="976900" y="944192"/>
                </a:lnTo>
                <a:lnTo>
                  <a:pt x="899685" y="943099"/>
                </a:lnTo>
                <a:lnTo>
                  <a:pt x="824248" y="941310"/>
                </a:lnTo>
                <a:lnTo>
                  <a:pt x="750791" y="938849"/>
                </a:lnTo>
                <a:lnTo>
                  <a:pt x="679519" y="935744"/>
                </a:lnTo>
                <a:lnTo>
                  <a:pt x="610636" y="932021"/>
                </a:lnTo>
                <a:lnTo>
                  <a:pt x="544346" y="927705"/>
                </a:lnTo>
                <a:lnTo>
                  <a:pt x="480854" y="922823"/>
                </a:lnTo>
                <a:lnTo>
                  <a:pt x="420364" y="917401"/>
                </a:lnTo>
                <a:lnTo>
                  <a:pt x="363079" y="911464"/>
                </a:lnTo>
                <a:lnTo>
                  <a:pt x="309203" y="905040"/>
                </a:lnTo>
                <a:lnTo>
                  <a:pt x="258942" y="898154"/>
                </a:lnTo>
                <a:lnTo>
                  <a:pt x="212499" y="890831"/>
                </a:lnTo>
                <a:lnTo>
                  <a:pt x="170077" y="883099"/>
                </a:lnTo>
                <a:lnTo>
                  <a:pt x="131882" y="874984"/>
                </a:lnTo>
                <a:lnTo>
                  <a:pt x="68988" y="857706"/>
                </a:lnTo>
                <a:lnTo>
                  <a:pt x="25448" y="839207"/>
                </a:lnTo>
                <a:lnTo>
                  <a:pt x="0" y="809624"/>
                </a:lnTo>
                <a:lnTo>
                  <a:pt x="1" y="0"/>
                </a:lnTo>
              </a:path>
            </a:pathLst>
          </a:custGeom>
          <a:ln w="12699">
            <a:solidFill>
              <a:srgbClr val="5185AC"/>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 name="object 8"/>
          <p:cNvSpPr txBox="1"/>
          <p:nvPr/>
        </p:nvSpPr>
        <p:spPr>
          <a:xfrm>
            <a:off x="1121729" y="4109723"/>
            <a:ext cx="1549400" cy="391160"/>
          </a:xfrm>
          <a:prstGeom prst="rect">
            <a:avLst/>
          </a:prstGeom>
        </p:spPr>
        <p:txBody>
          <a:bodyPr vert="horz" wrap="square" lIns="0" tIns="12700" rIns="0" bIns="0" rtlCol="0">
            <a:spAutoFit/>
          </a:bodyPr>
          <a:lstStyle/>
          <a:p>
            <a:pPr marL="12700">
              <a:lnSpc>
                <a:spcPct val="100000"/>
              </a:lnSpc>
              <a:spcBef>
                <a:spcPts val="100"/>
              </a:spcBef>
            </a:pPr>
            <a:r>
              <a:rPr sz="2400" b="1" i="1" spc="-5" dirty="0">
                <a:solidFill>
                  <a:srgbClr val="FFFFFF"/>
                </a:solidFill>
                <a:latin typeface="微软雅黑" panose="020B0503020204020204" pitchFamily="34" charset="-122"/>
                <a:ea typeface="微软雅黑" panose="020B0503020204020204" pitchFamily="34" charset="-122"/>
                <a:cs typeface="华文新魏" panose="02010800040101010101" charset="-122"/>
              </a:rPr>
              <a:t>需求数据库</a:t>
            </a:r>
            <a:endParaRPr sz="2400">
              <a:latin typeface="微软雅黑" panose="020B0503020204020204" pitchFamily="34" charset="-122"/>
              <a:ea typeface="微软雅黑" panose="020B0503020204020204" pitchFamily="34" charset="-122"/>
              <a:cs typeface="华文新魏" panose="02010800040101010101" charset="-122"/>
            </a:endParaRPr>
          </a:p>
        </p:txBody>
      </p:sp>
      <p:sp>
        <p:nvSpPr>
          <p:cNvPr id="9" name="object 9"/>
          <p:cNvSpPr/>
          <p:nvPr/>
        </p:nvSpPr>
        <p:spPr>
          <a:xfrm>
            <a:off x="4433363" y="3698085"/>
            <a:ext cx="2592705" cy="792480"/>
          </a:xfrm>
          <a:custGeom>
            <a:avLst/>
            <a:gdLst/>
            <a:ahLst/>
            <a:cxnLst/>
            <a:rect l="l" t="t" r="r" b="b"/>
            <a:pathLst>
              <a:path w="2592704" h="792479">
                <a:moveTo>
                  <a:pt x="2460357" y="0"/>
                </a:moveTo>
                <a:lnTo>
                  <a:pt x="132030" y="0"/>
                </a:lnTo>
                <a:lnTo>
                  <a:pt x="90298" y="6731"/>
                </a:lnTo>
                <a:lnTo>
                  <a:pt x="54055" y="25474"/>
                </a:lnTo>
                <a:lnTo>
                  <a:pt x="25474" y="54055"/>
                </a:lnTo>
                <a:lnTo>
                  <a:pt x="6731" y="90298"/>
                </a:lnTo>
                <a:lnTo>
                  <a:pt x="0" y="132030"/>
                </a:lnTo>
                <a:lnTo>
                  <a:pt x="0" y="660133"/>
                </a:lnTo>
                <a:lnTo>
                  <a:pt x="6731" y="701865"/>
                </a:lnTo>
                <a:lnTo>
                  <a:pt x="25474" y="738108"/>
                </a:lnTo>
                <a:lnTo>
                  <a:pt x="54055" y="766689"/>
                </a:lnTo>
                <a:lnTo>
                  <a:pt x="90298" y="785432"/>
                </a:lnTo>
                <a:lnTo>
                  <a:pt x="132030" y="792163"/>
                </a:lnTo>
                <a:lnTo>
                  <a:pt x="2460357" y="792163"/>
                </a:lnTo>
                <a:lnTo>
                  <a:pt x="2502088" y="785432"/>
                </a:lnTo>
                <a:lnTo>
                  <a:pt x="2538332" y="766689"/>
                </a:lnTo>
                <a:lnTo>
                  <a:pt x="2566912" y="738108"/>
                </a:lnTo>
                <a:lnTo>
                  <a:pt x="2585655" y="701865"/>
                </a:lnTo>
                <a:lnTo>
                  <a:pt x="2592386" y="660133"/>
                </a:lnTo>
                <a:lnTo>
                  <a:pt x="2592386" y="132030"/>
                </a:lnTo>
                <a:lnTo>
                  <a:pt x="2585655" y="90298"/>
                </a:lnTo>
                <a:lnTo>
                  <a:pt x="2566912" y="54055"/>
                </a:lnTo>
                <a:lnTo>
                  <a:pt x="2538332" y="25474"/>
                </a:lnTo>
                <a:lnTo>
                  <a:pt x="2502088" y="6731"/>
                </a:lnTo>
                <a:lnTo>
                  <a:pt x="2460357" y="0"/>
                </a:lnTo>
                <a:close/>
              </a:path>
            </a:pathLst>
          </a:custGeom>
          <a:solidFill>
            <a:srgbClr val="6CACD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0" name="object 10"/>
          <p:cNvSpPr/>
          <p:nvPr/>
        </p:nvSpPr>
        <p:spPr>
          <a:xfrm>
            <a:off x="4433363" y="3698085"/>
            <a:ext cx="2592705" cy="792480"/>
          </a:xfrm>
          <a:custGeom>
            <a:avLst/>
            <a:gdLst/>
            <a:ahLst/>
            <a:cxnLst/>
            <a:rect l="l" t="t" r="r" b="b"/>
            <a:pathLst>
              <a:path w="2592704" h="792479">
                <a:moveTo>
                  <a:pt x="0" y="132029"/>
                </a:moveTo>
                <a:lnTo>
                  <a:pt x="6730" y="90298"/>
                </a:lnTo>
                <a:lnTo>
                  <a:pt x="25474" y="54054"/>
                </a:lnTo>
                <a:lnTo>
                  <a:pt x="54054" y="25474"/>
                </a:lnTo>
                <a:lnTo>
                  <a:pt x="90298" y="6730"/>
                </a:lnTo>
                <a:lnTo>
                  <a:pt x="132029" y="0"/>
                </a:lnTo>
                <a:lnTo>
                  <a:pt x="2460356" y="0"/>
                </a:lnTo>
                <a:lnTo>
                  <a:pt x="2502088" y="6730"/>
                </a:lnTo>
                <a:lnTo>
                  <a:pt x="2538331" y="25474"/>
                </a:lnTo>
                <a:lnTo>
                  <a:pt x="2566912" y="54054"/>
                </a:lnTo>
                <a:lnTo>
                  <a:pt x="2585655" y="90298"/>
                </a:lnTo>
                <a:lnTo>
                  <a:pt x="2592386" y="132029"/>
                </a:lnTo>
                <a:lnTo>
                  <a:pt x="2592386" y="660132"/>
                </a:lnTo>
                <a:lnTo>
                  <a:pt x="2585655" y="701864"/>
                </a:lnTo>
                <a:lnTo>
                  <a:pt x="2566912" y="738108"/>
                </a:lnTo>
                <a:lnTo>
                  <a:pt x="2538331" y="766688"/>
                </a:lnTo>
                <a:lnTo>
                  <a:pt x="2502088" y="785431"/>
                </a:lnTo>
                <a:lnTo>
                  <a:pt x="2460356" y="792162"/>
                </a:lnTo>
                <a:lnTo>
                  <a:pt x="132029" y="792162"/>
                </a:lnTo>
                <a:lnTo>
                  <a:pt x="90298" y="785431"/>
                </a:lnTo>
                <a:lnTo>
                  <a:pt x="54054" y="766688"/>
                </a:lnTo>
                <a:lnTo>
                  <a:pt x="25474" y="738108"/>
                </a:lnTo>
                <a:lnTo>
                  <a:pt x="6730" y="701864"/>
                </a:lnTo>
                <a:lnTo>
                  <a:pt x="0" y="660132"/>
                </a:lnTo>
                <a:lnTo>
                  <a:pt x="0" y="132029"/>
                </a:lnTo>
                <a:close/>
              </a:path>
            </a:pathLst>
          </a:custGeom>
          <a:ln w="12699">
            <a:solidFill>
              <a:srgbClr val="5185AC"/>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1" name="object 11"/>
          <p:cNvSpPr txBox="1"/>
          <p:nvPr/>
        </p:nvSpPr>
        <p:spPr>
          <a:xfrm>
            <a:off x="4653167" y="3898586"/>
            <a:ext cx="2159000" cy="391160"/>
          </a:xfrm>
          <a:prstGeom prst="rect">
            <a:avLst/>
          </a:prstGeom>
        </p:spPr>
        <p:txBody>
          <a:bodyPr vert="horz" wrap="square" lIns="0" tIns="12700" rIns="0" bIns="0" rtlCol="0">
            <a:spAutoFit/>
          </a:bodyPr>
          <a:lstStyle/>
          <a:p>
            <a:pPr marL="12700">
              <a:lnSpc>
                <a:spcPct val="100000"/>
              </a:lnSpc>
              <a:spcBef>
                <a:spcPts val="100"/>
              </a:spcBef>
            </a:pPr>
            <a:r>
              <a:rPr sz="2400" b="1" i="1" spc="-5" dirty="0">
                <a:solidFill>
                  <a:srgbClr val="FFFFFF"/>
                </a:solidFill>
                <a:latin typeface="微软雅黑" panose="020B0503020204020204" pitchFamily="34" charset="-122"/>
                <a:ea typeface="微软雅黑" panose="020B0503020204020204" pitchFamily="34" charset="-122"/>
                <a:cs typeface="华文新魏" panose="02010800040101010101" charset="-122"/>
              </a:rPr>
              <a:t>规格说明生成器</a:t>
            </a:r>
            <a:endParaRPr sz="2400">
              <a:latin typeface="微软雅黑" panose="020B0503020204020204" pitchFamily="34" charset="-122"/>
              <a:ea typeface="微软雅黑" panose="020B0503020204020204" pitchFamily="34" charset="-122"/>
              <a:cs typeface="华文新魏" panose="02010800040101010101" charset="-122"/>
            </a:endParaRPr>
          </a:p>
        </p:txBody>
      </p:sp>
      <p:sp>
        <p:nvSpPr>
          <p:cNvPr id="12" name="object 12"/>
          <p:cNvSpPr/>
          <p:nvPr/>
        </p:nvSpPr>
        <p:spPr>
          <a:xfrm>
            <a:off x="4625451" y="4922047"/>
            <a:ext cx="2113280" cy="792480"/>
          </a:xfrm>
          <a:custGeom>
            <a:avLst/>
            <a:gdLst/>
            <a:ahLst/>
            <a:cxnLst/>
            <a:rect l="l" t="t" r="r" b="b"/>
            <a:pathLst>
              <a:path w="2113279" h="792479">
                <a:moveTo>
                  <a:pt x="1980932" y="0"/>
                </a:moveTo>
                <a:lnTo>
                  <a:pt x="0" y="0"/>
                </a:lnTo>
                <a:lnTo>
                  <a:pt x="0" y="660132"/>
                </a:lnTo>
                <a:lnTo>
                  <a:pt x="132029" y="792162"/>
                </a:lnTo>
                <a:lnTo>
                  <a:pt x="2112962" y="792162"/>
                </a:lnTo>
                <a:lnTo>
                  <a:pt x="2112962" y="132030"/>
                </a:lnTo>
                <a:lnTo>
                  <a:pt x="1980932" y="0"/>
                </a:lnTo>
                <a:close/>
              </a:path>
            </a:pathLst>
          </a:custGeom>
          <a:solidFill>
            <a:srgbClr val="6CACD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3" name="object 13"/>
          <p:cNvSpPr/>
          <p:nvPr/>
        </p:nvSpPr>
        <p:spPr>
          <a:xfrm>
            <a:off x="4625450" y="4922047"/>
            <a:ext cx="2113280" cy="792480"/>
          </a:xfrm>
          <a:custGeom>
            <a:avLst/>
            <a:gdLst/>
            <a:ahLst/>
            <a:cxnLst/>
            <a:rect l="l" t="t" r="r" b="b"/>
            <a:pathLst>
              <a:path w="2113279" h="792479">
                <a:moveTo>
                  <a:pt x="0" y="0"/>
                </a:moveTo>
                <a:lnTo>
                  <a:pt x="1980932" y="0"/>
                </a:lnTo>
                <a:lnTo>
                  <a:pt x="2112962" y="132029"/>
                </a:lnTo>
                <a:lnTo>
                  <a:pt x="2112962" y="792161"/>
                </a:lnTo>
                <a:lnTo>
                  <a:pt x="132029" y="792161"/>
                </a:lnTo>
                <a:lnTo>
                  <a:pt x="0" y="660131"/>
                </a:lnTo>
                <a:lnTo>
                  <a:pt x="0" y="0"/>
                </a:lnTo>
                <a:close/>
              </a:path>
            </a:pathLst>
          </a:custGeom>
          <a:ln w="12699">
            <a:solidFill>
              <a:srgbClr val="5185AC"/>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4" name="object 14"/>
          <p:cNvSpPr txBox="1"/>
          <p:nvPr/>
        </p:nvSpPr>
        <p:spPr>
          <a:xfrm>
            <a:off x="5062305" y="5122548"/>
            <a:ext cx="1244600" cy="391160"/>
          </a:xfrm>
          <a:prstGeom prst="rect">
            <a:avLst/>
          </a:prstGeom>
        </p:spPr>
        <p:txBody>
          <a:bodyPr vert="horz" wrap="square" lIns="0" tIns="12700" rIns="0" bIns="0" rtlCol="0">
            <a:spAutoFit/>
          </a:bodyPr>
          <a:lstStyle/>
          <a:p>
            <a:pPr marL="12700">
              <a:lnSpc>
                <a:spcPct val="100000"/>
              </a:lnSpc>
              <a:spcBef>
                <a:spcPts val="100"/>
              </a:spcBef>
            </a:pPr>
            <a:r>
              <a:rPr sz="2400" b="1" i="1" spc="-5" dirty="0">
                <a:solidFill>
                  <a:srgbClr val="FFFFFF"/>
                </a:solidFill>
                <a:latin typeface="微软雅黑" panose="020B0503020204020204" pitchFamily="34" charset="-122"/>
                <a:ea typeface="微软雅黑" panose="020B0503020204020204" pitchFamily="34" charset="-122"/>
                <a:cs typeface="华文新魏" panose="02010800040101010101" charset="-122"/>
              </a:rPr>
              <a:t>文档模板</a:t>
            </a:r>
            <a:endParaRPr sz="2400">
              <a:latin typeface="微软雅黑" panose="020B0503020204020204" pitchFamily="34" charset="-122"/>
              <a:ea typeface="微软雅黑" panose="020B0503020204020204" pitchFamily="34" charset="-122"/>
              <a:cs typeface="华文新魏" panose="02010800040101010101" charset="-122"/>
            </a:endParaRPr>
          </a:p>
        </p:txBody>
      </p:sp>
      <p:sp>
        <p:nvSpPr>
          <p:cNvPr id="15" name="object 15"/>
          <p:cNvSpPr/>
          <p:nvPr/>
        </p:nvSpPr>
        <p:spPr>
          <a:xfrm>
            <a:off x="3088751" y="3985423"/>
            <a:ext cx="1151255" cy="287655"/>
          </a:xfrm>
          <a:custGeom>
            <a:avLst/>
            <a:gdLst/>
            <a:ahLst/>
            <a:cxnLst/>
            <a:rect l="l" t="t" r="r" b="b"/>
            <a:pathLst>
              <a:path w="1151254" h="287654">
                <a:moveTo>
                  <a:pt x="1007270" y="0"/>
                </a:moveTo>
                <a:lnTo>
                  <a:pt x="1007270" y="71833"/>
                </a:lnTo>
                <a:lnTo>
                  <a:pt x="0" y="71833"/>
                </a:lnTo>
                <a:lnTo>
                  <a:pt x="0" y="215502"/>
                </a:lnTo>
                <a:lnTo>
                  <a:pt x="1007270" y="215502"/>
                </a:lnTo>
                <a:lnTo>
                  <a:pt x="1007270" y="287336"/>
                </a:lnTo>
                <a:lnTo>
                  <a:pt x="1150937" y="143668"/>
                </a:lnTo>
                <a:lnTo>
                  <a:pt x="1007270" y="0"/>
                </a:lnTo>
                <a:close/>
              </a:path>
            </a:pathLst>
          </a:custGeom>
          <a:solidFill>
            <a:srgbClr val="6CACD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6" name="object 16"/>
          <p:cNvSpPr/>
          <p:nvPr/>
        </p:nvSpPr>
        <p:spPr>
          <a:xfrm>
            <a:off x="3088751" y="3985423"/>
            <a:ext cx="1151255" cy="287655"/>
          </a:xfrm>
          <a:custGeom>
            <a:avLst/>
            <a:gdLst/>
            <a:ahLst/>
            <a:cxnLst/>
            <a:rect l="l" t="t" r="r" b="b"/>
            <a:pathLst>
              <a:path w="1151254" h="287654">
                <a:moveTo>
                  <a:pt x="0" y="71833"/>
                </a:moveTo>
                <a:lnTo>
                  <a:pt x="1007269" y="71833"/>
                </a:lnTo>
                <a:lnTo>
                  <a:pt x="1007269" y="0"/>
                </a:lnTo>
                <a:lnTo>
                  <a:pt x="1150937" y="143668"/>
                </a:lnTo>
                <a:lnTo>
                  <a:pt x="1007269" y="287336"/>
                </a:lnTo>
                <a:lnTo>
                  <a:pt x="1007269" y="215502"/>
                </a:lnTo>
                <a:lnTo>
                  <a:pt x="0" y="215502"/>
                </a:lnTo>
                <a:lnTo>
                  <a:pt x="0" y="71833"/>
                </a:lnTo>
                <a:close/>
              </a:path>
            </a:pathLst>
          </a:custGeom>
          <a:ln w="12699">
            <a:solidFill>
              <a:srgbClr val="5185AC"/>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7" name="object 17"/>
          <p:cNvSpPr/>
          <p:nvPr/>
        </p:nvSpPr>
        <p:spPr>
          <a:xfrm>
            <a:off x="8657699" y="3765555"/>
            <a:ext cx="2400300" cy="1012190"/>
          </a:xfrm>
          <a:custGeom>
            <a:avLst/>
            <a:gdLst/>
            <a:ahLst/>
            <a:cxnLst/>
            <a:rect l="l" t="t" r="r" b="b"/>
            <a:pathLst>
              <a:path w="2400300" h="1012189">
                <a:moveTo>
                  <a:pt x="2400298" y="0"/>
                </a:moveTo>
                <a:lnTo>
                  <a:pt x="2394996" y="26261"/>
                </a:lnTo>
                <a:lnTo>
                  <a:pt x="2380537" y="47707"/>
                </a:lnTo>
                <a:lnTo>
                  <a:pt x="2359091" y="62166"/>
                </a:lnTo>
                <a:lnTo>
                  <a:pt x="2332829" y="67468"/>
                </a:lnTo>
                <a:lnTo>
                  <a:pt x="67468" y="67468"/>
                </a:lnTo>
                <a:lnTo>
                  <a:pt x="41206" y="72770"/>
                </a:lnTo>
                <a:lnTo>
                  <a:pt x="19761" y="87229"/>
                </a:lnTo>
                <a:lnTo>
                  <a:pt x="5302" y="108675"/>
                </a:lnTo>
                <a:lnTo>
                  <a:pt x="0" y="134936"/>
                </a:lnTo>
                <a:lnTo>
                  <a:pt x="0" y="944561"/>
                </a:lnTo>
                <a:lnTo>
                  <a:pt x="5302" y="970823"/>
                </a:lnTo>
                <a:lnTo>
                  <a:pt x="19761" y="992268"/>
                </a:lnTo>
                <a:lnTo>
                  <a:pt x="41206" y="1006727"/>
                </a:lnTo>
                <a:lnTo>
                  <a:pt x="67468" y="1012029"/>
                </a:lnTo>
                <a:lnTo>
                  <a:pt x="93730" y="1006727"/>
                </a:lnTo>
                <a:lnTo>
                  <a:pt x="115176" y="992268"/>
                </a:lnTo>
                <a:lnTo>
                  <a:pt x="129635" y="970823"/>
                </a:lnTo>
                <a:lnTo>
                  <a:pt x="134937" y="944561"/>
                </a:lnTo>
                <a:lnTo>
                  <a:pt x="134937" y="877093"/>
                </a:lnTo>
                <a:lnTo>
                  <a:pt x="2332829" y="877093"/>
                </a:lnTo>
                <a:lnTo>
                  <a:pt x="2359091" y="871791"/>
                </a:lnTo>
                <a:lnTo>
                  <a:pt x="2380537" y="857332"/>
                </a:lnTo>
                <a:lnTo>
                  <a:pt x="2394996" y="835886"/>
                </a:lnTo>
                <a:lnTo>
                  <a:pt x="2400298" y="809625"/>
                </a:lnTo>
                <a:lnTo>
                  <a:pt x="2400298" y="202404"/>
                </a:lnTo>
                <a:lnTo>
                  <a:pt x="67468" y="202404"/>
                </a:lnTo>
                <a:lnTo>
                  <a:pt x="67470" y="134936"/>
                </a:lnTo>
                <a:lnTo>
                  <a:pt x="70120" y="121805"/>
                </a:lnTo>
                <a:lnTo>
                  <a:pt x="77350" y="111082"/>
                </a:lnTo>
                <a:lnTo>
                  <a:pt x="88072" y="103853"/>
                </a:lnTo>
                <a:lnTo>
                  <a:pt x="101203" y="101202"/>
                </a:lnTo>
                <a:lnTo>
                  <a:pt x="2400298" y="101202"/>
                </a:lnTo>
                <a:lnTo>
                  <a:pt x="2400298" y="0"/>
                </a:lnTo>
                <a:close/>
              </a:path>
              <a:path w="2400300" h="1012189">
                <a:moveTo>
                  <a:pt x="2400298" y="101202"/>
                </a:moveTo>
                <a:lnTo>
                  <a:pt x="101203" y="101202"/>
                </a:lnTo>
                <a:lnTo>
                  <a:pt x="114334" y="103853"/>
                </a:lnTo>
                <a:lnTo>
                  <a:pt x="125057" y="111082"/>
                </a:lnTo>
                <a:lnTo>
                  <a:pt x="132286" y="121805"/>
                </a:lnTo>
                <a:lnTo>
                  <a:pt x="134937" y="134937"/>
                </a:lnTo>
                <a:lnTo>
                  <a:pt x="129635" y="161198"/>
                </a:lnTo>
                <a:lnTo>
                  <a:pt x="115176" y="182643"/>
                </a:lnTo>
                <a:lnTo>
                  <a:pt x="93730" y="197102"/>
                </a:lnTo>
                <a:lnTo>
                  <a:pt x="67468" y="202404"/>
                </a:lnTo>
                <a:lnTo>
                  <a:pt x="2400298" y="202404"/>
                </a:lnTo>
                <a:lnTo>
                  <a:pt x="2400298" y="101202"/>
                </a:lnTo>
                <a:close/>
              </a:path>
              <a:path w="2400300" h="1012189">
                <a:moveTo>
                  <a:pt x="2265362" y="0"/>
                </a:moveTo>
                <a:lnTo>
                  <a:pt x="2265362" y="67468"/>
                </a:lnTo>
                <a:lnTo>
                  <a:pt x="2332829" y="67468"/>
                </a:lnTo>
                <a:lnTo>
                  <a:pt x="2332829" y="33733"/>
                </a:lnTo>
                <a:lnTo>
                  <a:pt x="2299096" y="33733"/>
                </a:lnTo>
                <a:lnTo>
                  <a:pt x="2285965" y="31082"/>
                </a:lnTo>
                <a:lnTo>
                  <a:pt x="2275242" y="23852"/>
                </a:lnTo>
                <a:lnTo>
                  <a:pt x="2268013" y="13130"/>
                </a:lnTo>
                <a:lnTo>
                  <a:pt x="2265362" y="0"/>
                </a:lnTo>
                <a:close/>
              </a:path>
              <a:path w="2400300" h="1012189">
                <a:moveTo>
                  <a:pt x="2332829" y="0"/>
                </a:moveTo>
                <a:lnTo>
                  <a:pt x="2330179" y="13130"/>
                </a:lnTo>
                <a:lnTo>
                  <a:pt x="2322949" y="23852"/>
                </a:lnTo>
                <a:lnTo>
                  <a:pt x="2312227" y="31082"/>
                </a:lnTo>
                <a:lnTo>
                  <a:pt x="2299096" y="33733"/>
                </a:lnTo>
                <a:lnTo>
                  <a:pt x="2332829" y="33733"/>
                </a:lnTo>
                <a:lnTo>
                  <a:pt x="2332829" y="0"/>
                </a:lnTo>
                <a:close/>
              </a:path>
            </a:pathLst>
          </a:custGeom>
          <a:solidFill>
            <a:srgbClr val="6CACD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8" name="object 18"/>
          <p:cNvSpPr/>
          <p:nvPr/>
        </p:nvSpPr>
        <p:spPr>
          <a:xfrm>
            <a:off x="8725168" y="3698085"/>
            <a:ext cx="2332990" cy="269875"/>
          </a:xfrm>
          <a:custGeom>
            <a:avLst/>
            <a:gdLst/>
            <a:ahLst/>
            <a:cxnLst/>
            <a:rect l="l" t="t" r="r" b="b"/>
            <a:pathLst>
              <a:path w="2332990" h="269875">
                <a:moveTo>
                  <a:pt x="33735" y="168672"/>
                </a:moveTo>
                <a:lnTo>
                  <a:pt x="1" y="202406"/>
                </a:lnTo>
                <a:lnTo>
                  <a:pt x="0" y="269875"/>
                </a:lnTo>
                <a:lnTo>
                  <a:pt x="26261" y="264572"/>
                </a:lnTo>
                <a:lnTo>
                  <a:pt x="47707" y="250113"/>
                </a:lnTo>
                <a:lnTo>
                  <a:pt x="62166" y="228668"/>
                </a:lnTo>
                <a:lnTo>
                  <a:pt x="67468" y="202406"/>
                </a:lnTo>
                <a:lnTo>
                  <a:pt x="64817" y="189275"/>
                </a:lnTo>
                <a:lnTo>
                  <a:pt x="57588" y="178552"/>
                </a:lnTo>
                <a:lnTo>
                  <a:pt x="46865" y="171323"/>
                </a:lnTo>
                <a:lnTo>
                  <a:pt x="33735" y="168672"/>
                </a:lnTo>
                <a:close/>
              </a:path>
              <a:path w="2332990" h="269875">
                <a:moveTo>
                  <a:pt x="2332829" y="67470"/>
                </a:moveTo>
                <a:lnTo>
                  <a:pt x="2265361" y="67470"/>
                </a:lnTo>
                <a:lnTo>
                  <a:pt x="2265361" y="134938"/>
                </a:lnTo>
                <a:lnTo>
                  <a:pt x="2291623" y="129636"/>
                </a:lnTo>
                <a:lnTo>
                  <a:pt x="2313068" y="115177"/>
                </a:lnTo>
                <a:lnTo>
                  <a:pt x="2327527" y="93731"/>
                </a:lnTo>
                <a:lnTo>
                  <a:pt x="2332829" y="67470"/>
                </a:lnTo>
                <a:close/>
              </a:path>
              <a:path w="2332990" h="269875">
                <a:moveTo>
                  <a:pt x="2265361" y="0"/>
                </a:moveTo>
                <a:lnTo>
                  <a:pt x="2239099" y="5302"/>
                </a:lnTo>
                <a:lnTo>
                  <a:pt x="2217653" y="19761"/>
                </a:lnTo>
                <a:lnTo>
                  <a:pt x="2203194" y="41207"/>
                </a:lnTo>
                <a:lnTo>
                  <a:pt x="2197892" y="67470"/>
                </a:lnTo>
                <a:lnTo>
                  <a:pt x="2200543" y="80600"/>
                </a:lnTo>
                <a:lnTo>
                  <a:pt x="2207772" y="91323"/>
                </a:lnTo>
                <a:lnTo>
                  <a:pt x="2218495" y="98552"/>
                </a:lnTo>
                <a:lnTo>
                  <a:pt x="2231626" y="101203"/>
                </a:lnTo>
                <a:lnTo>
                  <a:pt x="2244757" y="98552"/>
                </a:lnTo>
                <a:lnTo>
                  <a:pt x="2255480" y="91323"/>
                </a:lnTo>
                <a:lnTo>
                  <a:pt x="2262710" y="80600"/>
                </a:lnTo>
                <a:lnTo>
                  <a:pt x="2265361" y="67470"/>
                </a:lnTo>
                <a:lnTo>
                  <a:pt x="2332829" y="67470"/>
                </a:lnTo>
                <a:lnTo>
                  <a:pt x="2327527" y="41207"/>
                </a:lnTo>
                <a:lnTo>
                  <a:pt x="2313068" y="19761"/>
                </a:lnTo>
                <a:lnTo>
                  <a:pt x="2291623" y="5302"/>
                </a:lnTo>
                <a:lnTo>
                  <a:pt x="2265361" y="0"/>
                </a:lnTo>
                <a:close/>
              </a:path>
            </a:pathLst>
          </a:custGeom>
          <a:solidFill>
            <a:srgbClr val="5A90B9"/>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9" name="object 19"/>
          <p:cNvSpPr/>
          <p:nvPr/>
        </p:nvSpPr>
        <p:spPr>
          <a:xfrm>
            <a:off x="8657699" y="3698085"/>
            <a:ext cx="2400300" cy="1079500"/>
          </a:xfrm>
          <a:custGeom>
            <a:avLst/>
            <a:gdLst/>
            <a:ahLst/>
            <a:cxnLst/>
            <a:rect l="l" t="t" r="r" b="b"/>
            <a:pathLst>
              <a:path w="2400300" h="1079500">
                <a:moveTo>
                  <a:pt x="0" y="202406"/>
                </a:moveTo>
                <a:lnTo>
                  <a:pt x="5302" y="176144"/>
                </a:lnTo>
                <a:lnTo>
                  <a:pt x="19761" y="154698"/>
                </a:lnTo>
                <a:lnTo>
                  <a:pt x="41206" y="140239"/>
                </a:lnTo>
                <a:lnTo>
                  <a:pt x="67468" y="134937"/>
                </a:lnTo>
                <a:lnTo>
                  <a:pt x="2265361" y="134937"/>
                </a:lnTo>
                <a:lnTo>
                  <a:pt x="2265361" y="67469"/>
                </a:lnTo>
                <a:lnTo>
                  <a:pt x="2270663" y="41207"/>
                </a:lnTo>
                <a:lnTo>
                  <a:pt x="2285123" y="19761"/>
                </a:lnTo>
                <a:lnTo>
                  <a:pt x="2306569" y="5302"/>
                </a:lnTo>
                <a:lnTo>
                  <a:pt x="2332830" y="0"/>
                </a:lnTo>
                <a:lnTo>
                  <a:pt x="2359093" y="5302"/>
                </a:lnTo>
                <a:lnTo>
                  <a:pt x="2380539" y="19761"/>
                </a:lnTo>
                <a:lnTo>
                  <a:pt x="2394998" y="41207"/>
                </a:lnTo>
                <a:lnTo>
                  <a:pt x="2400300" y="67469"/>
                </a:lnTo>
                <a:lnTo>
                  <a:pt x="2400298" y="877093"/>
                </a:lnTo>
                <a:lnTo>
                  <a:pt x="2394996" y="903355"/>
                </a:lnTo>
                <a:lnTo>
                  <a:pt x="2380537" y="924801"/>
                </a:lnTo>
                <a:lnTo>
                  <a:pt x="2359091" y="939260"/>
                </a:lnTo>
                <a:lnTo>
                  <a:pt x="2332829" y="944562"/>
                </a:lnTo>
                <a:lnTo>
                  <a:pt x="134938" y="944562"/>
                </a:lnTo>
                <a:lnTo>
                  <a:pt x="134938" y="1012030"/>
                </a:lnTo>
                <a:lnTo>
                  <a:pt x="129636" y="1038292"/>
                </a:lnTo>
                <a:lnTo>
                  <a:pt x="115176" y="1059738"/>
                </a:lnTo>
                <a:lnTo>
                  <a:pt x="93730" y="1074197"/>
                </a:lnTo>
                <a:lnTo>
                  <a:pt x="67468" y="1079499"/>
                </a:lnTo>
                <a:lnTo>
                  <a:pt x="41206" y="1074197"/>
                </a:lnTo>
                <a:lnTo>
                  <a:pt x="19761" y="1059738"/>
                </a:lnTo>
                <a:lnTo>
                  <a:pt x="5302" y="1038292"/>
                </a:lnTo>
                <a:lnTo>
                  <a:pt x="0" y="1012030"/>
                </a:lnTo>
                <a:lnTo>
                  <a:pt x="0" y="202406"/>
                </a:lnTo>
                <a:close/>
              </a:path>
            </a:pathLst>
          </a:custGeom>
          <a:ln w="12699">
            <a:solidFill>
              <a:srgbClr val="5185AC"/>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0" name="object 20"/>
          <p:cNvSpPr/>
          <p:nvPr/>
        </p:nvSpPr>
        <p:spPr>
          <a:xfrm>
            <a:off x="10916711" y="3759204"/>
            <a:ext cx="147636" cy="80168"/>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1" name="object 21"/>
          <p:cNvSpPr/>
          <p:nvPr/>
        </p:nvSpPr>
        <p:spPr>
          <a:xfrm>
            <a:off x="8651348" y="3860407"/>
            <a:ext cx="147637" cy="113903"/>
          </a:xfrm>
          <a:prstGeom prst="rect">
            <a:avLst/>
          </a:prstGeom>
          <a:blipFill>
            <a:blip r:embed="rId4"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2" name="object 22"/>
          <p:cNvSpPr/>
          <p:nvPr/>
        </p:nvSpPr>
        <p:spPr>
          <a:xfrm>
            <a:off x="8792637" y="3900490"/>
            <a:ext cx="0" cy="742315"/>
          </a:xfrm>
          <a:custGeom>
            <a:avLst/>
            <a:gdLst/>
            <a:ahLst/>
            <a:cxnLst/>
            <a:rect l="l" t="t" r="r" b="b"/>
            <a:pathLst>
              <a:path h="742314">
                <a:moveTo>
                  <a:pt x="0" y="0"/>
                </a:moveTo>
                <a:lnTo>
                  <a:pt x="0" y="742156"/>
                </a:lnTo>
              </a:path>
            </a:pathLst>
          </a:custGeom>
          <a:ln w="12699">
            <a:solidFill>
              <a:srgbClr val="5185AC"/>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3" name="object 23"/>
          <p:cNvSpPr txBox="1"/>
          <p:nvPr/>
        </p:nvSpPr>
        <p:spPr>
          <a:xfrm>
            <a:off x="8967422" y="4042256"/>
            <a:ext cx="1854200" cy="391160"/>
          </a:xfrm>
          <a:prstGeom prst="rect">
            <a:avLst/>
          </a:prstGeom>
        </p:spPr>
        <p:txBody>
          <a:bodyPr vert="horz" wrap="square" lIns="0" tIns="12700" rIns="0" bIns="0" rtlCol="0">
            <a:spAutoFit/>
          </a:bodyPr>
          <a:lstStyle/>
          <a:p>
            <a:pPr marL="12700">
              <a:lnSpc>
                <a:spcPct val="100000"/>
              </a:lnSpc>
              <a:spcBef>
                <a:spcPts val="100"/>
              </a:spcBef>
            </a:pPr>
            <a:r>
              <a:rPr sz="2400" b="1" i="1" spc="-5" dirty="0">
                <a:solidFill>
                  <a:srgbClr val="FFFFFF"/>
                </a:solidFill>
                <a:latin typeface="微软雅黑" panose="020B0503020204020204" pitchFamily="34" charset="-122"/>
                <a:ea typeface="微软雅黑" panose="020B0503020204020204" pitchFamily="34" charset="-122"/>
                <a:cs typeface="华文新魏" panose="02010800040101010101" charset="-122"/>
              </a:rPr>
              <a:t>产品规格说明</a:t>
            </a:r>
            <a:endParaRPr sz="2400">
              <a:latin typeface="微软雅黑" panose="020B0503020204020204" pitchFamily="34" charset="-122"/>
              <a:ea typeface="微软雅黑" panose="020B0503020204020204" pitchFamily="34" charset="-122"/>
              <a:cs typeface="华文新魏" panose="02010800040101010101" charset="-122"/>
            </a:endParaRPr>
          </a:p>
        </p:txBody>
      </p:sp>
      <p:sp>
        <p:nvSpPr>
          <p:cNvPr id="24" name="object 24"/>
          <p:cNvSpPr/>
          <p:nvPr/>
        </p:nvSpPr>
        <p:spPr>
          <a:xfrm>
            <a:off x="5393799" y="4490248"/>
            <a:ext cx="382905" cy="358775"/>
          </a:xfrm>
          <a:custGeom>
            <a:avLst/>
            <a:gdLst/>
            <a:ahLst/>
            <a:cxnLst/>
            <a:rect l="l" t="t" r="r" b="b"/>
            <a:pathLst>
              <a:path w="382904" h="358775">
                <a:moveTo>
                  <a:pt x="382588" y="179387"/>
                </a:moveTo>
                <a:lnTo>
                  <a:pt x="0" y="179387"/>
                </a:lnTo>
                <a:lnTo>
                  <a:pt x="191295" y="358775"/>
                </a:lnTo>
                <a:lnTo>
                  <a:pt x="382588" y="179387"/>
                </a:lnTo>
                <a:close/>
              </a:path>
              <a:path w="382904" h="358775">
                <a:moveTo>
                  <a:pt x="286941" y="0"/>
                </a:moveTo>
                <a:lnTo>
                  <a:pt x="95647" y="0"/>
                </a:lnTo>
                <a:lnTo>
                  <a:pt x="95647" y="179387"/>
                </a:lnTo>
                <a:lnTo>
                  <a:pt x="286941" y="179387"/>
                </a:lnTo>
                <a:lnTo>
                  <a:pt x="286941" y="0"/>
                </a:lnTo>
                <a:close/>
              </a:path>
            </a:pathLst>
          </a:custGeom>
          <a:solidFill>
            <a:srgbClr val="6CACD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5" name="object 25"/>
          <p:cNvSpPr/>
          <p:nvPr/>
        </p:nvSpPr>
        <p:spPr>
          <a:xfrm>
            <a:off x="5393799" y="4490248"/>
            <a:ext cx="382905" cy="358775"/>
          </a:xfrm>
          <a:custGeom>
            <a:avLst/>
            <a:gdLst/>
            <a:ahLst/>
            <a:cxnLst/>
            <a:rect l="l" t="t" r="r" b="b"/>
            <a:pathLst>
              <a:path w="382904" h="358775">
                <a:moveTo>
                  <a:pt x="0" y="179387"/>
                </a:moveTo>
                <a:lnTo>
                  <a:pt x="95646" y="179387"/>
                </a:lnTo>
                <a:lnTo>
                  <a:pt x="95646" y="0"/>
                </a:lnTo>
                <a:lnTo>
                  <a:pt x="286940" y="0"/>
                </a:lnTo>
                <a:lnTo>
                  <a:pt x="286940" y="179387"/>
                </a:lnTo>
                <a:lnTo>
                  <a:pt x="382587" y="179387"/>
                </a:lnTo>
                <a:lnTo>
                  <a:pt x="191294" y="358774"/>
                </a:lnTo>
                <a:lnTo>
                  <a:pt x="0" y="179387"/>
                </a:lnTo>
                <a:close/>
              </a:path>
            </a:pathLst>
          </a:custGeom>
          <a:ln w="12699">
            <a:solidFill>
              <a:srgbClr val="5185AC"/>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6" name="object 26"/>
          <p:cNvSpPr/>
          <p:nvPr/>
        </p:nvSpPr>
        <p:spPr>
          <a:xfrm>
            <a:off x="7217836" y="4056860"/>
            <a:ext cx="1247775" cy="360680"/>
          </a:xfrm>
          <a:custGeom>
            <a:avLst/>
            <a:gdLst/>
            <a:ahLst/>
            <a:cxnLst/>
            <a:rect l="l" t="t" r="r" b="b"/>
            <a:pathLst>
              <a:path w="1247775" h="360679">
                <a:moveTo>
                  <a:pt x="1067593" y="0"/>
                </a:moveTo>
                <a:lnTo>
                  <a:pt x="1067593" y="90091"/>
                </a:lnTo>
                <a:lnTo>
                  <a:pt x="0" y="90091"/>
                </a:lnTo>
                <a:lnTo>
                  <a:pt x="0" y="270272"/>
                </a:lnTo>
                <a:lnTo>
                  <a:pt x="1067593" y="270272"/>
                </a:lnTo>
                <a:lnTo>
                  <a:pt x="1067593" y="360362"/>
                </a:lnTo>
                <a:lnTo>
                  <a:pt x="1247775" y="180182"/>
                </a:lnTo>
                <a:lnTo>
                  <a:pt x="1067593" y="0"/>
                </a:lnTo>
                <a:close/>
              </a:path>
            </a:pathLst>
          </a:custGeom>
          <a:solidFill>
            <a:srgbClr val="6CACD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7" name="object 27"/>
          <p:cNvSpPr/>
          <p:nvPr/>
        </p:nvSpPr>
        <p:spPr>
          <a:xfrm>
            <a:off x="7217836" y="4056860"/>
            <a:ext cx="1247775" cy="360680"/>
          </a:xfrm>
          <a:custGeom>
            <a:avLst/>
            <a:gdLst/>
            <a:ahLst/>
            <a:cxnLst/>
            <a:rect l="l" t="t" r="r" b="b"/>
            <a:pathLst>
              <a:path w="1247775" h="360679">
                <a:moveTo>
                  <a:pt x="0" y="90091"/>
                </a:moveTo>
                <a:lnTo>
                  <a:pt x="1067593" y="90091"/>
                </a:lnTo>
                <a:lnTo>
                  <a:pt x="1067593" y="0"/>
                </a:lnTo>
                <a:lnTo>
                  <a:pt x="1247774" y="180181"/>
                </a:lnTo>
                <a:lnTo>
                  <a:pt x="1067593" y="360362"/>
                </a:lnTo>
                <a:lnTo>
                  <a:pt x="1067593" y="270271"/>
                </a:lnTo>
                <a:lnTo>
                  <a:pt x="0" y="270271"/>
                </a:lnTo>
                <a:lnTo>
                  <a:pt x="0" y="90091"/>
                </a:lnTo>
                <a:close/>
              </a:path>
            </a:pathLst>
          </a:custGeom>
          <a:ln w="12699">
            <a:solidFill>
              <a:srgbClr val="5185AC"/>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0" name="标题 29"/>
          <p:cNvSpPr>
            <a:spLocks noGrp="1"/>
          </p:cNvSpPr>
          <p:nvPr>
            <p:ph type="title"/>
          </p:nvPr>
        </p:nvSpPr>
        <p:spPr/>
        <p:txBody>
          <a:bodyPr/>
          <a:lstStyle/>
          <a:p>
            <a:r>
              <a:rPr lang="zh-CN" altLang="en-US" spc="-5" dirty="0"/>
              <a:t>需求规格说明生成过程</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69</a:t>
            </a:fld>
            <a:endParaRPr lang="zh-CN" altLang="en-US"/>
          </a:p>
        </p:txBody>
      </p:sp>
    </p:spTree>
    <p:extLst>
      <p:ext uri="{BB962C8B-B14F-4D97-AF65-F5344CB8AC3E}">
        <p14:creationId xmlns:p14="http://schemas.microsoft.com/office/powerpoint/2010/main" val="895397394"/>
      </p:ext>
    </p:extLst>
  </p:cSld>
  <p:clrMapOvr>
    <a:masterClrMapping/>
  </p:clrMapOvr>
  <mc:AlternateContent xmlns:mc="http://schemas.openxmlformats.org/markup-compatibility/2006" xmlns:p14="http://schemas.microsoft.com/office/powerpoint/2010/main">
    <mc:Choice Requires="p14">
      <p:transition spd="slow" p14:dur="2000" advTm="35439"/>
    </mc:Choice>
    <mc:Fallback xmlns="">
      <p:transition spd="slow" advTm="35439"/>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13738" y="1690688"/>
            <a:ext cx="9099105" cy="2849498"/>
          </a:xfrm>
          <a:prstGeom prst="rect">
            <a:avLst/>
          </a:prstGeom>
        </p:spPr>
        <p:txBody>
          <a:bodyPr vert="horz" wrap="square" lIns="0" tIns="205740" rIns="0" bIns="0" rtlCol="0">
            <a:spAutoFit/>
          </a:bodyPr>
          <a:lstStyle/>
          <a:p>
            <a:pPr marL="241300" indent="-228600">
              <a:lnSpc>
                <a:spcPct val="100000"/>
              </a:lnSpc>
              <a:spcBef>
                <a:spcPts val="1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Gill Sans MT" panose="020B0502020104020203"/>
              </a:rPr>
              <a:t>SRS</a:t>
            </a:r>
            <a:r>
              <a:rPr sz="2400" dirty="0">
                <a:latin typeface="微软雅黑" panose="020B0503020204020204" pitchFamily="34" charset="-122"/>
                <a:ea typeface="微软雅黑" panose="020B0503020204020204" pitchFamily="34" charset="-122"/>
                <a:cs typeface="华文新魏" panose="02010800040101010101" charset="-122"/>
              </a:rPr>
              <a:t>需要根据预先定义的标准章节模式来组织，即根据模板来撰写</a:t>
            </a:r>
          </a:p>
          <a:p>
            <a:pPr marL="241300" indent="-228600">
              <a:lnSpc>
                <a:spcPct val="100000"/>
              </a:lnSpc>
              <a:spcBef>
                <a:spcPts val="15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Gill Sans MT" panose="020B0502020104020203"/>
              </a:rPr>
              <a:t>SRS</a:t>
            </a:r>
            <a:r>
              <a:rPr sz="2400" dirty="0">
                <a:latin typeface="微软雅黑" panose="020B0503020204020204" pitchFamily="34" charset="-122"/>
                <a:ea typeface="微软雅黑" panose="020B0503020204020204" pitchFamily="34" charset="-122"/>
                <a:cs typeface="华文新魏" panose="02010800040101010101" charset="-122"/>
              </a:rPr>
              <a:t>的模板使得撰写统一的</a:t>
            </a:r>
            <a:r>
              <a:rPr sz="2400" dirty="0">
                <a:latin typeface="微软雅黑" panose="020B0503020204020204" pitchFamily="34" charset="-122"/>
                <a:ea typeface="微软雅黑" panose="020B0503020204020204" pitchFamily="34" charset="-122"/>
                <a:cs typeface="Gill Sans MT" panose="020B0502020104020203"/>
              </a:rPr>
              <a:t>SRS</a:t>
            </a:r>
            <a:r>
              <a:rPr sz="2400" dirty="0">
                <a:latin typeface="微软雅黑" panose="020B0503020204020204" pitchFamily="34" charset="-122"/>
                <a:ea typeface="微软雅黑" panose="020B0503020204020204" pitchFamily="34" charset="-122"/>
                <a:cs typeface="华文新魏" panose="02010800040101010101" charset="-122"/>
              </a:rPr>
              <a:t>变得简单</a:t>
            </a:r>
          </a:p>
          <a:p>
            <a:pPr marL="241300" indent="-228600">
              <a:lnSpc>
                <a:spcPct val="100000"/>
              </a:lnSpc>
              <a:spcBef>
                <a:spcPts val="1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对于</a:t>
            </a:r>
            <a:r>
              <a:rPr sz="2400" spc="-5" dirty="0">
                <a:latin typeface="微软雅黑" panose="020B0503020204020204" pitchFamily="34" charset="-122"/>
                <a:ea typeface="微软雅黑" panose="020B0503020204020204" pitchFamily="34" charset="-122"/>
                <a:cs typeface="Gill Sans MT" panose="020B0502020104020203"/>
              </a:rPr>
              <a:t>Q</a:t>
            </a:r>
            <a:r>
              <a:rPr sz="2400" dirty="0">
                <a:latin typeface="微软雅黑" panose="020B0503020204020204" pitchFamily="34" charset="-122"/>
                <a:ea typeface="微软雅黑" panose="020B0503020204020204" pitchFamily="34" charset="-122"/>
                <a:cs typeface="Gill Sans MT" panose="020B0502020104020203"/>
              </a:rPr>
              <a:t>A</a:t>
            </a:r>
            <a:r>
              <a:rPr sz="2400" dirty="0">
                <a:latin typeface="微软雅黑" panose="020B0503020204020204" pitchFamily="34" charset="-122"/>
                <a:ea typeface="微软雅黑" panose="020B0503020204020204" pitchFamily="34" charset="-122"/>
                <a:cs typeface="华文新魏" panose="02010800040101010101" charset="-122"/>
              </a:rPr>
              <a:t>人员来说定义</a:t>
            </a:r>
            <a:r>
              <a:rPr sz="2400" dirty="0">
                <a:latin typeface="微软雅黑" panose="020B0503020204020204" pitchFamily="34" charset="-122"/>
                <a:ea typeface="微软雅黑" panose="020B0503020204020204" pitchFamily="34" charset="-122"/>
                <a:cs typeface="Gill Sans MT" panose="020B0502020104020203"/>
              </a:rPr>
              <a:t>SRS</a:t>
            </a:r>
            <a:r>
              <a:rPr sz="2400" dirty="0">
                <a:latin typeface="微软雅黑" panose="020B0503020204020204" pitchFamily="34" charset="-122"/>
                <a:ea typeface="微软雅黑" panose="020B0503020204020204" pitchFamily="34" charset="-122"/>
                <a:cs typeface="华文新魏" panose="02010800040101010101" charset="-122"/>
              </a:rPr>
              <a:t>指标变得简单</a:t>
            </a:r>
          </a:p>
          <a:p>
            <a:pPr marL="241300" indent="-228600">
              <a:lnSpc>
                <a:spcPct val="100000"/>
              </a:lnSpc>
              <a:spcBef>
                <a:spcPts val="15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模板也适用于业务需求和系统需求</a:t>
            </a:r>
          </a:p>
          <a:p>
            <a:pPr marL="241300" indent="-228600">
              <a:lnSpc>
                <a:spcPct val="100000"/>
              </a:lnSpc>
              <a:spcBef>
                <a:spcPts val="1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模板可以被用于半自动地从需求数据库或者用例模型生成</a:t>
            </a:r>
            <a:r>
              <a:rPr sz="2400" dirty="0">
                <a:latin typeface="微软雅黑" panose="020B0503020204020204" pitchFamily="34" charset="-122"/>
                <a:ea typeface="微软雅黑" panose="020B0503020204020204" pitchFamily="34" charset="-122"/>
                <a:cs typeface="Gill Sans MT" panose="020B0502020104020203"/>
              </a:rPr>
              <a:t>SRS</a:t>
            </a:r>
          </a:p>
        </p:txBody>
      </p:sp>
      <p:sp>
        <p:nvSpPr>
          <p:cNvPr id="4" name="object 4"/>
          <p:cNvSpPr/>
          <p:nvPr/>
        </p:nvSpPr>
        <p:spPr>
          <a:xfrm>
            <a:off x="9812844" y="4570488"/>
            <a:ext cx="1282189" cy="1265690"/>
          </a:xfrm>
          <a:prstGeom prst="rect">
            <a:avLst/>
          </a:prstGeom>
          <a:blipFill>
            <a:blip r:embed="rId3" cstate="print"/>
            <a:stretch>
              <a:fillRect/>
            </a:stretch>
          </a:blipFill>
        </p:spPr>
        <p:txBody>
          <a:bodyPr wrap="square" lIns="0" tIns="0" rIns="0" bIns="0" rtlCol="0"/>
          <a:lstStyle/>
          <a:p>
            <a:endParaRPr/>
          </a:p>
        </p:txBody>
      </p:sp>
      <p:sp>
        <p:nvSpPr>
          <p:cNvPr id="7" name="标题 6"/>
          <p:cNvSpPr>
            <a:spLocks noGrp="1"/>
          </p:cNvSpPr>
          <p:nvPr>
            <p:ph type="title"/>
          </p:nvPr>
        </p:nvSpPr>
        <p:spPr/>
        <p:txBody>
          <a:bodyPr/>
          <a:lstStyle/>
          <a:p>
            <a:r>
              <a:rPr lang="zh-CN" altLang="en-US" spc="-5" dirty="0"/>
              <a:t>需求规格说明</a:t>
            </a:r>
            <a:r>
              <a:rPr lang="en-US" altLang="zh-CN" b="1" spc="-5" dirty="0">
                <a:latin typeface="Bookman Old Style" panose="02050604050505020204"/>
                <a:cs typeface="Bookman Old Style" panose="02050604050505020204"/>
              </a:rPr>
              <a:t>SRS</a:t>
            </a:r>
            <a:r>
              <a:rPr lang="zh-CN" altLang="en-US" spc="-5" dirty="0"/>
              <a:t>模板</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70</a:t>
            </a:fld>
            <a:endParaRPr lang="zh-CN" altLang="en-US"/>
          </a:p>
        </p:txBody>
      </p:sp>
    </p:spTree>
    <p:extLst>
      <p:ext uri="{BB962C8B-B14F-4D97-AF65-F5344CB8AC3E}">
        <p14:creationId xmlns:p14="http://schemas.microsoft.com/office/powerpoint/2010/main" val="2815999512"/>
      </p:ext>
    </p:extLst>
  </p:cSld>
  <p:clrMapOvr>
    <a:masterClrMapping/>
  </p:clrMapOvr>
  <mc:AlternateContent xmlns:mc="http://schemas.openxmlformats.org/markup-compatibility/2006" xmlns:p14="http://schemas.microsoft.com/office/powerpoint/2010/main">
    <mc:Choice Requires="p14">
      <p:transition spd="slow" p14:dur="2000" advTm="44253"/>
    </mc:Choice>
    <mc:Fallback xmlns="">
      <p:transition spd="slow" advTm="44253"/>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85520" y="1690688"/>
            <a:ext cx="2692400" cy="4114800"/>
          </a:xfrm>
          <a:prstGeom prst="rect">
            <a:avLst/>
          </a:prstGeom>
        </p:spPr>
        <p:txBody>
          <a:bodyPr vert="horz" wrap="square" lIns="0" tIns="91440" rIns="0" bIns="0" rtlCol="0">
            <a:spAutoFit/>
          </a:bodyPr>
          <a:lstStyle/>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介绍</a:t>
            </a:r>
          </a:p>
          <a:p>
            <a:pPr marL="241300" indent="-228600">
              <a:lnSpc>
                <a:spcPct val="100000"/>
              </a:lnSpc>
              <a:spcBef>
                <a:spcPts val="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术语表</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用户需求规格说明</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系统结构</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系统需求规格说明</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系统模型</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系统的演化</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附录</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索引</a:t>
            </a:r>
          </a:p>
        </p:txBody>
      </p:sp>
      <p:sp>
        <p:nvSpPr>
          <p:cNvPr id="4" name="object 4"/>
          <p:cNvSpPr/>
          <p:nvPr/>
        </p:nvSpPr>
        <p:spPr>
          <a:xfrm>
            <a:off x="3937460" y="1451724"/>
            <a:ext cx="7996843" cy="5170516"/>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3938844" y="1452563"/>
            <a:ext cx="7844155" cy="5016500"/>
          </a:xfrm>
          <a:custGeom>
            <a:avLst/>
            <a:gdLst/>
            <a:ahLst/>
            <a:cxnLst/>
            <a:rect l="l" t="t" r="r" b="b"/>
            <a:pathLst>
              <a:path w="7844155" h="5016500">
                <a:moveTo>
                  <a:pt x="0" y="0"/>
                </a:moveTo>
                <a:lnTo>
                  <a:pt x="7843913" y="0"/>
                </a:lnTo>
                <a:lnTo>
                  <a:pt x="7843913" y="5016498"/>
                </a:lnTo>
                <a:lnTo>
                  <a:pt x="0" y="5016498"/>
                </a:lnTo>
                <a:lnTo>
                  <a:pt x="0" y="0"/>
                </a:lnTo>
                <a:close/>
              </a:path>
            </a:pathLst>
          </a:custGeom>
          <a:solidFill>
            <a:srgbClr val="FCFAD3"/>
          </a:solidFill>
        </p:spPr>
        <p:txBody>
          <a:bodyPr wrap="square" lIns="0" tIns="0" rIns="0" bIns="0" rtlCol="0"/>
          <a:lstStyle/>
          <a:p>
            <a:endParaRPr/>
          </a:p>
        </p:txBody>
      </p:sp>
      <p:sp>
        <p:nvSpPr>
          <p:cNvPr id="6" name="object 6"/>
          <p:cNvSpPr/>
          <p:nvPr/>
        </p:nvSpPr>
        <p:spPr>
          <a:xfrm>
            <a:off x="3938844" y="1452564"/>
            <a:ext cx="7844155" cy="5016500"/>
          </a:xfrm>
          <a:custGeom>
            <a:avLst/>
            <a:gdLst/>
            <a:ahLst/>
            <a:cxnLst/>
            <a:rect l="l" t="t" r="r" b="b"/>
            <a:pathLst>
              <a:path w="7844155" h="5016500">
                <a:moveTo>
                  <a:pt x="0" y="0"/>
                </a:moveTo>
                <a:lnTo>
                  <a:pt x="7843912" y="0"/>
                </a:lnTo>
                <a:lnTo>
                  <a:pt x="7843912" y="5016498"/>
                </a:lnTo>
                <a:lnTo>
                  <a:pt x="0" y="5016498"/>
                </a:lnTo>
                <a:lnTo>
                  <a:pt x="0" y="0"/>
                </a:lnTo>
                <a:close/>
              </a:path>
            </a:pathLst>
          </a:custGeom>
          <a:ln w="12699">
            <a:solidFill>
              <a:srgbClr val="000000"/>
            </a:solidFill>
          </a:ln>
        </p:spPr>
        <p:txBody>
          <a:bodyPr wrap="square" lIns="0" tIns="0" rIns="0" bIns="0" rtlCol="0"/>
          <a:lstStyle/>
          <a:p>
            <a:endParaRPr/>
          </a:p>
        </p:txBody>
      </p:sp>
      <p:sp>
        <p:nvSpPr>
          <p:cNvPr id="7" name="object 7"/>
          <p:cNvSpPr txBox="1"/>
          <p:nvPr/>
        </p:nvSpPr>
        <p:spPr>
          <a:xfrm>
            <a:off x="4017584" y="1413012"/>
            <a:ext cx="1539240" cy="878205"/>
          </a:xfrm>
          <a:prstGeom prst="rect">
            <a:avLst/>
          </a:prstGeom>
        </p:spPr>
        <p:txBody>
          <a:bodyPr vert="horz" wrap="square" lIns="0" tIns="59690" rIns="0" bIns="0" rtlCol="0">
            <a:spAutoFit/>
          </a:bodyPr>
          <a:lstStyle/>
          <a:p>
            <a:pPr marL="12700">
              <a:lnSpc>
                <a:spcPct val="100000"/>
              </a:lnSpc>
              <a:spcBef>
                <a:spcPts val="470"/>
              </a:spcBef>
            </a:pPr>
            <a:r>
              <a:rPr sz="2000" dirty="0">
                <a:latin typeface="Calibri" panose="020F0502020204030204"/>
                <a:cs typeface="Calibri" panose="020F0502020204030204"/>
              </a:rPr>
              <a:t>1</a:t>
            </a:r>
            <a:r>
              <a:rPr sz="2000" spc="-45" dirty="0">
                <a:latin typeface="Calibri" panose="020F0502020204030204"/>
                <a:cs typeface="Calibri" panose="020F0502020204030204"/>
              </a:rPr>
              <a:t> </a:t>
            </a:r>
            <a:r>
              <a:rPr sz="2000" spc="-5" dirty="0">
                <a:latin typeface="Arial" panose="020B0604020202020204"/>
                <a:cs typeface="Arial" panose="020B0604020202020204"/>
              </a:rPr>
              <a:t>Introduction</a:t>
            </a:r>
            <a:endParaRPr sz="2000">
              <a:latin typeface="Arial" panose="020B0604020202020204"/>
              <a:cs typeface="Arial" panose="020B0604020202020204"/>
            </a:endParaRPr>
          </a:p>
          <a:p>
            <a:pPr marL="469900" marR="398780">
              <a:lnSpc>
                <a:spcPts val="2000"/>
              </a:lnSpc>
              <a:spcBef>
                <a:spcPts val="60"/>
              </a:spcBef>
            </a:pPr>
            <a:r>
              <a:rPr sz="1400" dirty="0">
                <a:latin typeface="Arial" panose="020B0604020202020204"/>
                <a:cs typeface="Arial" panose="020B0604020202020204"/>
              </a:rPr>
              <a:t>Purpose  Scope</a:t>
            </a:r>
            <a:endParaRPr sz="1400">
              <a:latin typeface="Arial" panose="020B0604020202020204"/>
              <a:cs typeface="Arial" panose="020B0604020202020204"/>
            </a:endParaRPr>
          </a:p>
        </p:txBody>
      </p:sp>
      <p:sp>
        <p:nvSpPr>
          <p:cNvPr id="8" name="object 8"/>
          <p:cNvSpPr txBox="1"/>
          <p:nvPr/>
        </p:nvSpPr>
        <p:spPr>
          <a:xfrm>
            <a:off x="4474784" y="2265363"/>
            <a:ext cx="2881630" cy="533400"/>
          </a:xfrm>
          <a:prstGeom prst="rect">
            <a:avLst/>
          </a:prstGeom>
        </p:spPr>
        <p:txBody>
          <a:bodyPr vert="horz" wrap="square" lIns="0" tIns="12700" rIns="0" bIns="0" rtlCol="0">
            <a:spAutoFit/>
          </a:bodyPr>
          <a:lstStyle/>
          <a:p>
            <a:pPr marL="12700" marR="5080">
              <a:lnSpc>
                <a:spcPct val="119000"/>
              </a:lnSpc>
              <a:spcBef>
                <a:spcPts val="100"/>
              </a:spcBef>
            </a:pPr>
            <a:r>
              <a:rPr sz="1400" dirty="0">
                <a:latin typeface="Arial" panose="020B0604020202020204"/>
                <a:cs typeface="Arial" panose="020B0604020202020204"/>
              </a:rPr>
              <a:t>Definitions, acronyms,</a:t>
            </a:r>
            <a:r>
              <a:rPr sz="1400" spc="-110" dirty="0">
                <a:latin typeface="Arial" panose="020B0604020202020204"/>
                <a:cs typeface="Arial" panose="020B0604020202020204"/>
              </a:rPr>
              <a:t> </a:t>
            </a:r>
            <a:r>
              <a:rPr sz="1400" dirty="0">
                <a:latin typeface="Arial" panose="020B0604020202020204"/>
                <a:cs typeface="Arial" panose="020B0604020202020204"/>
              </a:rPr>
              <a:t>abbreviations  Reference</a:t>
            </a:r>
            <a:r>
              <a:rPr sz="1400" spc="-5" dirty="0">
                <a:latin typeface="Arial" panose="020B0604020202020204"/>
                <a:cs typeface="Arial" panose="020B0604020202020204"/>
              </a:rPr>
              <a:t> </a:t>
            </a:r>
            <a:r>
              <a:rPr sz="1400" dirty="0">
                <a:latin typeface="Arial" panose="020B0604020202020204"/>
                <a:cs typeface="Arial" panose="020B0604020202020204"/>
              </a:rPr>
              <a:t>documents</a:t>
            </a:r>
            <a:endParaRPr sz="1400">
              <a:latin typeface="Arial" panose="020B0604020202020204"/>
              <a:cs typeface="Arial" panose="020B0604020202020204"/>
            </a:endParaRPr>
          </a:p>
        </p:txBody>
      </p:sp>
      <p:sp>
        <p:nvSpPr>
          <p:cNvPr id="9" name="object 9"/>
          <p:cNvSpPr txBox="1"/>
          <p:nvPr/>
        </p:nvSpPr>
        <p:spPr>
          <a:xfrm>
            <a:off x="4017584" y="2773363"/>
            <a:ext cx="2383155" cy="1689100"/>
          </a:xfrm>
          <a:prstGeom prst="rect">
            <a:avLst/>
          </a:prstGeom>
        </p:spPr>
        <p:txBody>
          <a:bodyPr vert="horz" wrap="square" lIns="0" tIns="66040" rIns="0" bIns="0" rtlCol="0">
            <a:spAutoFit/>
          </a:bodyPr>
          <a:lstStyle/>
          <a:p>
            <a:pPr marL="469900">
              <a:lnSpc>
                <a:spcPct val="100000"/>
              </a:lnSpc>
              <a:spcBef>
                <a:spcPts val="520"/>
              </a:spcBef>
            </a:pPr>
            <a:r>
              <a:rPr sz="1400" dirty="0">
                <a:latin typeface="Arial" panose="020B0604020202020204"/>
                <a:cs typeface="Arial" panose="020B0604020202020204"/>
              </a:rPr>
              <a:t>Overview</a:t>
            </a:r>
            <a:endParaRPr sz="1400">
              <a:latin typeface="Arial" panose="020B0604020202020204"/>
              <a:cs typeface="Arial" panose="020B0604020202020204"/>
            </a:endParaRPr>
          </a:p>
          <a:p>
            <a:pPr marL="12700">
              <a:lnSpc>
                <a:spcPct val="100000"/>
              </a:lnSpc>
              <a:spcBef>
                <a:spcPts val="600"/>
              </a:spcBef>
            </a:pPr>
            <a:r>
              <a:rPr sz="2000" dirty="0">
                <a:latin typeface="Arial" panose="020B0604020202020204"/>
                <a:cs typeface="Arial" panose="020B0604020202020204"/>
              </a:rPr>
              <a:t>2 </a:t>
            </a:r>
            <a:r>
              <a:rPr sz="2000" spc="-5" dirty="0">
                <a:latin typeface="Arial" panose="020B0604020202020204"/>
                <a:cs typeface="Arial" panose="020B0604020202020204"/>
              </a:rPr>
              <a:t>Overall</a:t>
            </a:r>
            <a:r>
              <a:rPr sz="2000" spc="-20" dirty="0">
                <a:latin typeface="Arial" panose="020B0604020202020204"/>
                <a:cs typeface="Arial" panose="020B0604020202020204"/>
              </a:rPr>
              <a:t> </a:t>
            </a:r>
            <a:r>
              <a:rPr sz="2000" spc="-5" dirty="0">
                <a:latin typeface="Arial" panose="020B0604020202020204"/>
                <a:cs typeface="Arial" panose="020B0604020202020204"/>
              </a:rPr>
              <a:t>Description</a:t>
            </a:r>
            <a:endParaRPr sz="2000">
              <a:latin typeface="Arial" panose="020B0604020202020204"/>
              <a:cs typeface="Arial" panose="020B0604020202020204"/>
            </a:endParaRPr>
          </a:p>
          <a:p>
            <a:pPr marL="469900" marR="334010">
              <a:lnSpc>
                <a:spcPct val="119000"/>
              </a:lnSpc>
            </a:pPr>
            <a:r>
              <a:rPr sz="1400" dirty="0">
                <a:latin typeface="Arial" panose="020B0604020202020204"/>
                <a:cs typeface="Arial" panose="020B0604020202020204"/>
              </a:rPr>
              <a:t>Product</a:t>
            </a:r>
            <a:r>
              <a:rPr sz="1400" spc="-55" dirty="0">
                <a:latin typeface="Arial" panose="020B0604020202020204"/>
                <a:cs typeface="Arial" panose="020B0604020202020204"/>
              </a:rPr>
              <a:t> </a:t>
            </a:r>
            <a:r>
              <a:rPr sz="1400" spc="-5" dirty="0">
                <a:latin typeface="Arial" panose="020B0604020202020204"/>
                <a:cs typeface="Arial" panose="020B0604020202020204"/>
              </a:rPr>
              <a:t>perspective  </a:t>
            </a:r>
            <a:r>
              <a:rPr sz="1400" dirty="0">
                <a:latin typeface="Arial" panose="020B0604020202020204"/>
                <a:cs typeface="Arial" panose="020B0604020202020204"/>
              </a:rPr>
              <a:t>Product </a:t>
            </a:r>
            <a:r>
              <a:rPr sz="1400" spc="-5" dirty="0">
                <a:latin typeface="Arial" panose="020B0604020202020204"/>
                <a:cs typeface="Arial" panose="020B0604020202020204"/>
              </a:rPr>
              <a:t>functions  </a:t>
            </a:r>
            <a:r>
              <a:rPr sz="1400" dirty="0">
                <a:latin typeface="Arial" panose="020B0604020202020204"/>
                <a:cs typeface="Arial" panose="020B0604020202020204"/>
              </a:rPr>
              <a:t>User </a:t>
            </a:r>
            <a:r>
              <a:rPr sz="1400" spc="-5" dirty="0">
                <a:latin typeface="Arial" panose="020B0604020202020204"/>
                <a:cs typeface="Arial" panose="020B0604020202020204"/>
              </a:rPr>
              <a:t>characteristics  Constraints</a:t>
            </a:r>
            <a:endParaRPr sz="1400">
              <a:latin typeface="Arial" panose="020B0604020202020204"/>
              <a:cs typeface="Arial" panose="020B0604020202020204"/>
            </a:endParaRPr>
          </a:p>
        </p:txBody>
      </p:sp>
      <p:sp>
        <p:nvSpPr>
          <p:cNvPr id="10" name="object 10"/>
          <p:cNvSpPr txBox="1"/>
          <p:nvPr/>
        </p:nvSpPr>
        <p:spPr>
          <a:xfrm>
            <a:off x="4017584" y="4424363"/>
            <a:ext cx="3033395" cy="1054100"/>
          </a:xfrm>
          <a:prstGeom prst="rect">
            <a:avLst/>
          </a:prstGeom>
        </p:spPr>
        <p:txBody>
          <a:bodyPr vert="horz" wrap="square" lIns="0" tIns="66040" rIns="0" bIns="0" rtlCol="0">
            <a:spAutoFit/>
          </a:bodyPr>
          <a:lstStyle/>
          <a:p>
            <a:pPr marL="469900">
              <a:lnSpc>
                <a:spcPct val="100000"/>
              </a:lnSpc>
              <a:spcBef>
                <a:spcPts val="520"/>
              </a:spcBef>
            </a:pPr>
            <a:r>
              <a:rPr sz="1400" dirty="0">
                <a:latin typeface="Arial" panose="020B0604020202020204"/>
                <a:cs typeface="Arial" panose="020B0604020202020204"/>
              </a:rPr>
              <a:t>Assumptions and</a:t>
            </a:r>
            <a:r>
              <a:rPr sz="1400" spc="-90" dirty="0">
                <a:latin typeface="Arial" panose="020B0604020202020204"/>
                <a:cs typeface="Arial" panose="020B0604020202020204"/>
              </a:rPr>
              <a:t> </a:t>
            </a:r>
            <a:r>
              <a:rPr sz="1400" dirty="0">
                <a:latin typeface="Arial" panose="020B0604020202020204"/>
                <a:cs typeface="Arial" panose="020B0604020202020204"/>
              </a:rPr>
              <a:t>Dependencies</a:t>
            </a:r>
            <a:endParaRPr sz="1400">
              <a:latin typeface="Arial" panose="020B0604020202020204"/>
              <a:cs typeface="Arial" panose="020B0604020202020204"/>
            </a:endParaRPr>
          </a:p>
          <a:p>
            <a:pPr marL="12700" marR="259080">
              <a:lnSpc>
                <a:spcPct val="125000"/>
              </a:lnSpc>
            </a:pPr>
            <a:r>
              <a:rPr sz="2000" dirty="0">
                <a:latin typeface="Arial" panose="020B0604020202020204"/>
                <a:cs typeface="Arial" panose="020B0604020202020204"/>
              </a:rPr>
              <a:t>3 Specific</a:t>
            </a:r>
            <a:r>
              <a:rPr sz="2000" spc="-50" dirty="0">
                <a:latin typeface="Arial" panose="020B0604020202020204"/>
                <a:cs typeface="Arial" panose="020B0604020202020204"/>
              </a:rPr>
              <a:t> </a:t>
            </a:r>
            <a:r>
              <a:rPr sz="2000" spc="-5" dirty="0">
                <a:latin typeface="Arial" panose="020B0604020202020204"/>
                <a:cs typeface="Arial" panose="020B0604020202020204"/>
              </a:rPr>
              <a:t>Requirements  </a:t>
            </a:r>
            <a:r>
              <a:rPr sz="2000" dirty="0">
                <a:latin typeface="Arial" panose="020B0604020202020204"/>
                <a:cs typeface="Arial" panose="020B0604020202020204"/>
              </a:rPr>
              <a:t>Appendices</a:t>
            </a:r>
            <a:endParaRPr sz="2000">
              <a:latin typeface="Arial" panose="020B0604020202020204"/>
              <a:cs typeface="Arial" panose="020B0604020202020204"/>
            </a:endParaRPr>
          </a:p>
        </p:txBody>
      </p:sp>
      <p:sp>
        <p:nvSpPr>
          <p:cNvPr id="11" name="object 11"/>
          <p:cNvSpPr txBox="1"/>
          <p:nvPr/>
        </p:nvSpPr>
        <p:spPr>
          <a:xfrm>
            <a:off x="4017584" y="5529263"/>
            <a:ext cx="647065"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Arial" panose="020B0604020202020204"/>
                <a:cs typeface="Arial" panose="020B0604020202020204"/>
              </a:rPr>
              <a:t>Index</a:t>
            </a:r>
            <a:endParaRPr sz="2000">
              <a:latin typeface="Arial" panose="020B0604020202020204"/>
              <a:cs typeface="Arial" panose="020B0604020202020204"/>
            </a:endParaRPr>
          </a:p>
        </p:txBody>
      </p:sp>
      <p:sp>
        <p:nvSpPr>
          <p:cNvPr id="12" name="object 12"/>
          <p:cNvSpPr txBox="1"/>
          <p:nvPr/>
        </p:nvSpPr>
        <p:spPr>
          <a:xfrm>
            <a:off x="7337759" y="1511301"/>
            <a:ext cx="3352800" cy="484505"/>
          </a:xfrm>
          <a:prstGeom prst="rect">
            <a:avLst/>
          </a:prstGeom>
          <a:solidFill>
            <a:srgbClr val="FCFAD3"/>
          </a:solidFill>
          <a:ln w="38099">
            <a:solidFill>
              <a:srgbClr val="941100"/>
            </a:solidFill>
          </a:ln>
        </p:spPr>
        <p:txBody>
          <a:bodyPr vert="horz" wrap="square" lIns="0" tIns="53340" rIns="0" bIns="0" rtlCol="0">
            <a:spAutoFit/>
          </a:bodyPr>
          <a:lstStyle/>
          <a:p>
            <a:pPr marL="92075" marR="625475">
              <a:lnSpc>
                <a:spcPts val="1500"/>
              </a:lnSpc>
              <a:spcBef>
                <a:spcPts val="420"/>
              </a:spcBef>
            </a:pPr>
            <a:r>
              <a:rPr sz="1400" b="1" spc="-5" dirty="0">
                <a:latin typeface="Calibri" panose="020F0502020204030204"/>
                <a:cs typeface="Calibri" panose="020F0502020204030204"/>
              </a:rPr>
              <a:t>Identiﬁes the </a:t>
            </a:r>
            <a:r>
              <a:rPr sz="1400" b="1" dirty="0">
                <a:latin typeface="Calibri" panose="020F0502020204030204"/>
                <a:cs typeface="Calibri" panose="020F0502020204030204"/>
              </a:rPr>
              <a:t>product &amp; </a:t>
            </a:r>
            <a:r>
              <a:rPr sz="1400" b="1" spc="-5" dirty="0">
                <a:latin typeface="Calibri" panose="020F0502020204030204"/>
                <a:cs typeface="Calibri" panose="020F0502020204030204"/>
              </a:rPr>
              <a:t>application  </a:t>
            </a:r>
            <a:r>
              <a:rPr sz="1400" b="1" dirty="0">
                <a:latin typeface="Calibri" panose="020F0502020204030204"/>
                <a:cs typeface="Calibri" panose="020F0502020204030204"/>
              </a:rPr>
              <a:t>domain</a:t>
            </a:r>
            <a:endParaRPr sz="1400">
              <a:latin typeface="Calibri" panose="020F0502020204030204"/>
              <a:cs typeface="Calibri" panose="020F0502020204030204"/>
            </a:endParaRPr>
          </a:p>
        </p:txBody>
      </p:sp>
      <p:sp>
        <p:nvSpPr>
          <p:cNvPr id="13" name="object 13"/>
          <p:cNvSpPr txBox="1"/>
          <p:nvPr/>
        </p:nvSpPr>
        <p:spPr>
          <a:xfrm>
            <a:off x="7439359" y="2197100"/>
            <a:ext cx="4101465" cy="484505"/>
          </a:xfrm>
          <a:prstGeom prst="rect">
            <a:avLst/>
          </a:prstGeom>
          <a:ln w="38099">
            <a:solidFill>
              <a:srgbClr val="941100"/>
            </a:solidFill>
          </a:ln>
        </p:spPr>
        <p:txBody>
          <a:bodyPr vert="horz" wrap="square" lIns="0" tIns="53340" rIns="0" bIns="0" rtlCol="0">
            <a:spAutoFit/>
          </a:bodyPr>
          <a:lstStyle/>
          <a:p>
            <a:pPr marL="92075" marR="91440">
              <a:lnSpc>
                <a:spcPts val="1500"/>
              </a:lnSpc>
              <a:spcBef>
                <a:spcPts val="420"/>
              </a:spcBef>
            </a:pPr>
            <a:r>
              <a:rPr sz="1400" b="1" spc="-5" dirty="0">
                <a:latin typeface="Calibri" panose="020F0502020204030204"/>
                <a:cs typeface="Calibri" panose="020F0502020204030204"/>
              </a:rPr>
              <a:t>Describes contents and structure of the remainder of  </a:t>
            </a:r>
            <a:r>
              <a:rPr sz="1400" b="1" dirty="0">
                <a:latin typeface="Calibri" panose="020F0502020204030204"/>
                <a:cs typeface="Calibri" panose="020F0502020204030204"/>
              </a:rPr>
              <a:t>the</a:t>
            </a:r>
            <a:r>
              <a:rPr sz="1400" b="1" spc="-5" dirty="0">
                <a:latin typeface="Calibri" panose="020F0502020204030204"/>
                <a:cs typeface="Calibri" panose="020F0502020204030204"/>
              </a:rPr>
              <a:t> </a:t>
            </a:r>
            <a:r>
              <a:rPr sz="1400" b="1" dirty="0">
                <a:latin typeface="Calibri" panose="020F0502020204030204"/>
                <a:cs typeface="Calibri" panose="020F0502020204030204"/>
              </a:rPr>
              <a:t>SRS</a:t>
            </a:r>
            <a:endParaRPr sz="1400">
              <a:latin typeface="Calibri" panose="020F0502020204030204"/>
              <a:cs typeface="Calibri" panose="020F0502020204030204"/>
            </a:endParaRPr>
          </a:p>
        </p:txBody>
      </p:sp>
      <p:sp>
        <p:nvSpPr>
          <p:cNvPr id="14" name="object 14"/>
          <p:cNvSpPr txBox="1"/>
          <p:nvPr/>
        </p:nvSpPr>
        <p:spPr>
          <a:xfrm>
            <a:off x="6931358" y="2882900"/>
            <a:ext cx="4497705" cy="678180"/>
          </a:xfrm>
          <a:prstGeom prst="rect">
            <a:avLst/>
          </a:prstGeom>
          <a:ln w="38099">
            <a:solidFill>
              <a:srgbClr val="941100"/>
            </a:solidFill>
          </a:ln>
        </p:spPr>
        <p:txBody>
          <a:bodyPr vert="horz" wrap="square" lIns="0" tIns="53340" rIns="0" bIns="0" rtlCol="0">
            <a:spAutoFit/>
          </a:bodyPr>
          <a:lstStyle/>
          <a:p>
            <a:pPr marL="92075" marR="187325">
              <a:lnSpc>
                <a:spcPts val="1500"/>
              </a:lnSpc>
              <a:spcBef>
                <a:spcPts val="420"/>
              </a:spcBef>
            </a:pPr>
            <a:r>
              <a:rPr sz="1400" b="1" spc="-5" dirty="0">
                <a:latin typeface="Calibri" panose="020F0502020204030204"/>
                <a:cs typeface="Calibri" panose="020F0502020204030204"/>
              </a:rPr>
              <a:t>Describes all external interfaces: system, user, hardware,  </a:t>
            </a:r>
            <a:r>
              <a:rPr sz="1400" b="1" spc="20" dirty="0">
                <a:latin typeface="Calibri" panose="020F0502020204030204"/>
                <a:cs typeface="Calibri" panose="020F0502020204030204"/>
              </a:rPr>
              <a:t>so#ware; </a:t>
            </a:r>
            <a:r>
              <a:rPr sz="1400" b="1" dirty="0">
                <a:latin typeface="Calibri" panose="020F0502020204030204"/>
                <a:cs typeface="Calibri" panose="020F0502020204030204"/>
              </a:rPr>
              <a:t>also </a:t>
            </a:r>
            <a:r>
              <a:rPr sz="1400" b="1" spc="-5" dirty="0">
                <a:latin typeface="Calibri" panose="020F0502020204030204"/>
                <a:cs typeface="Calibri" panose="020F0502020204030204"/>
              </a:rPr>
              <a:t>operations </a:t>
            </a:r>
            <a:r>
              <a:rPr sz="1400" b="1" dirty="0">
                <a:latin typeface="Calibri" panose="020F0502020204030204"/>
                <a:cs typeface="Calibri" panose="020F0502020204030204"/>
              </a:rPr>
              <a:t>and site </a:t>
            </a:r>
            <a:r>
              <a:rPr sz="1400" b="1" spc="-5" dirty="0">
                <a:latin typeface="Calibri" panose="020F0502020204030204"/>
                <a:cs typeface="Calibri" panose="020F0502020204030204"/>
              </a:rPr>
              <a:t>adaptation, </a:t>
            </a:r>
            <a:r>
              <a:rPr sz="1400" b="1" dirty="0">
                <a:latin typeface="Calibri" panose="020F0502020204030204"/>
                <a:cs typeface="Calibri" panose="020F0502020204030204"/>
              </a:rPr>
              <a:t>and  </a:t>
            </a:r>
            <a:r>
              <a:rPr sz="1400" b="1" spc="-5" dirty="0">
                <a:latin typeface="Calibri" panose="020F0502020204030204"/>
                <a:cs typeface="Calibri" panose="020F0502020204030204"/>
              </a:rPr>
              <a:t>hardware </a:t>
            </a:r>
            <a:r>
              <a:rPr sz="1400" b="1" dirty="0">
                <a:latin typeface="Calibri" panose="020F0502020204030204"/>
                <a:cs typeface="Calibri" panose="020F0502020204030204"/>
              </a:rPr>
              <a:t>constraints</a:t>
            </a:r>
            <a:endParaRPr sz="1400">
              <a:latin typeface="Calibri" panose="020F0502020204030204"/>
              <a:cs typeface="Calibri" panose="020F0502020204030204"/>
            </a:endParaRPr>
          </a:p>
        </p:txBody>
      </p:sp>
      <p:sp>
        <p:nvSpPr>
          <p:cNvPr id="15" name="object 15"/>
          <p:cNvSpPr txBox="1"/>
          <p:nvPr/>
        </p:nvSpPr>
        <p:spPr>
          <a:xfrm>
            <a:off x="7236158" y="4025900"/>
            <a:ext cx="3657600" cy="290830"/>
          </a:xfrm>
          <a:prstGeom prst="rect">
            <a:avLst/>
          </a:prstGeom>
          <a:solidFill>
            <a:srgbClr val="FCFAD3"/>
          </a:solidFill>
          <a:ln w="38099">
            <a:solidFill>
              <a:srgbClr val="941100"/>
            </a:solidFill>
          </a:ln>
        </p:spPr>
        <p:txBody>
          <a:bodyPr vert="horz" wrap="square" lIns="0" tIns="27940" rIns="0" bIns="0" rtlCol="0">
            <a:spAutoFit/>
          </a:bodyPr>
          <a:lstStyle/>
          <a:p>
            <a:pPr marL="92075">
              <a:lnSpc>
                <a:spcPct val="100000"/>
              </a:lnSpc>
              <a:spcBef>
                <a:spcPts val="220"/>
              </a:spcBef>
            </a:pPr>
            <a:r>
              <a:rPr sz="1400" b="1" dirty="0">
                <a:latin typeface="Calibri" panose="020F0502020204030204"/>
                <a:cs typeface="Calibri" panose="020F0502020204030204"/>
              </a:rPr>
              <a:t>Summary of major </a:t>
            </a:r>
            <a:r>
              <a:rPr sz="1400" b="1" spc="-5" dirty="0">
                <a:latin typeface="Calibri" panose="020F0502020204030204"/>
                <a:cs typeface="Calibri" panose="020F0502020204030204"/>
              </a:rPr>
              <a:t>functions, e.g. </a:t>
            </a:r>
            <a:r>
              <a:rPr sz="1400" b="1" dirty="0">
                <a:latin typeface="Calibri" panose="020F0502020204030204"/>
                <a:cs typeface="Calibri" panose="020F0502020204030204"/>
              </a:rPr>
              <a:t>use</a:t>
            </a:r>
            <a:r>
              <a:rPr sz="1400" b="1" spc="-15" dirty="0">
                <a:latin typeface="Calibri" panose="020F0502020204030204"/>
                <a:cs typeface="Calibri" panose="020F0502020204030204"/>
              </a:rPr>
              <a:t> </a:t>
            </a:r>
            <a:r>
              <a:rPr sz="1400" b="1" dirty="0">
                <a:latin typeface="Calibri" panose="020F0502020204030204"/>
                <a:cs typeface="Calibri" panose="020F0502020204030204"/>
              </a:rPr>
              <a:t>cases</a:t>
            </a:r>
            <a:endParaRPr sz="1400">
              <a:latin typeface="Calibri" panose="020F0502020204030204"/>
              <a:cs typeface="Calibri" panose="020F0502020204030204"/>
            </a:endParaRPr>
          </a:p>
        </p:txBody>
      </p:sp>
      <p:sp>
        <p:nvSpPr>
          <p:cNvPr id="16" name="object 16"/>
          <p:cNvSpPr txBox="1"/>
          <p:nvPr/>
        </p:nvSpPr>
        <p:spPr>
          <a:xfrm>
            <a:off x="7134558" y="4711700"/>
            <a:ext cx="4424045" cy="678180"/>
          </a:xfrm>
          <a:prstGeom prst="rect">
            <a:avLst/>
          </a:prstGeom>
          <a:solidFill>
            <a:srgbClr val="FCFAD3"/>
          </a:solidFill>
          <a:ln w="38099">
            <a:solidFill>
              <a:srgbClr val="941100"/>
            </a:solidFill>
          </a:ln>
        </p:spPr>
        <p:txBody>
          <a:bodyPr vert="horz" wrap="square" lIns="0" tIns="53340" rIns="0" bIns="0" rtlCol="0">
            <a:spAutoFit/>
          </a:bodyPr>
          <a:lstStyle/>
          <a:p>
            <a:pPr marL="92075" marR="264795">
              <a:lnSpc>
                <a:spcPts val="1500"/>
              </a:lnSpc>
              <a:spcBef>
                <a:spcPts val="420"/>
              </a:spcBef>
            </a:pPr>
            <a:r>
              <a:rPr sz="1400" b="1" spc="-5" dirty="0">
                <a:latin typeface="Calibri" panose="020F0502020204030204"/>
                <a:cs typeface="Calibri" panose="020F0502020204030204"/>
              </a:rPr>
              <a:t>Anything </a:t>
            </a:r>
            <a:r>
              <a:rPr sz="1400" b="1" dirty="0">
                <a:latin typeface="Calibri" panose="020F0502020204030204"/>
                <a:cs typeface="Calibri" panose="020F0502020204030204"/>
              </a:rPr>
              <a:t>that will limit the </a:t>
            </a:r>
            <a:r>
              <a:rPr sz="1400" b="1" spc="-5" dirty="0">
                <a:latin typeface="Calibri" panose="020F0502020204030204"/>
                <a:cs typeface="Calibri" panose="020F0502020204030204"/>
              </a:rPr>
              <a:t>developer</a:t>
            </a:r>
            <a:r>
              <a:rPr sz="1400" b="1" i="1" spc="-5" dirty="0">
                <a:latin typeface="华文新魏" panose="02010800040101010101" charset="-122"/>
                <a:cs typeface="华文新魏" panose="02010800040101010101" charset="-122"/>
              </a:rPr>
              <a:t>’</a:t>
            </a:r>
            <a:r>
              <a:rPr sz="1400" b="1" spc="-5" dirty="0">
                <a:latin typeface="Calibri" panose="020F0502020204030204"/>
                <a:cs typeface="Calibri" panose="020F0502020204030204"/>
              </a:rPr>
              <a:t>s options (e.g.  regulations, reliability, criticality, hardware limitations,  parallelism,</a:t>
            </a:r>
            <a:r>
              <a:rPr sz="1400" b="1" spc="-10" dirty="0">
                <a:latin typeface="Calibri" panose="020F0502020204030204"/>
                <a:cs typeface="Calibri" panose="020F0502020204030204"/>
              </a:rPr>
              <a:t> </a:t>
            </a:r>
            <a:r>
              <a:rPr sz="1400" b="1" spc="-5" dirty="0">
                <a:latin typeface="Calibri" panose="020F0502020204030204"/>
                <a:cs typeface="Calibri" panose="020F0502020204030204"/>
              </a:rPr>
              <a:t>etc)</a:t>
            </a:r>
            <a:endParaRPr sz="1400">
              <a:latin typeface="Calibri" panose="020F0502020204030204"/>
              <a:cs typeface="Calibri" panose="020F0502020204030204"/>
            </a:endParaRPr>
          </a:p>
        </p:txBody>
      </p:sp>
      <p:sp>
        <p:nvSpPr>
          <p:cNvPr id="17" name="object 17"/>
          <p:cNvSpPr txBox="1"/>
          <p:nvPr/>
        </p:nvSpPr>
        <p:spPr>
          <a:xfrm>
            <a:off x="6931358" y="5778500"/>
            <a:ext cx="4627245" cy="678180"/>
          </a:xfrm>
          <a:prstGeom prst="rect">
            <a:avLst/>
          </a:prstGeom>
          <a:solidFill>
            <a:srgbClr val="FCFAD3"/>
          </a:solidFill>
          <a:ln w="38099">
            <a:solidFill>
              <a:srgbClr val="941100"/>
            </a:solidFill>
          </a:ln>
        </p:spPr>
        <p:txBody>
          <a:bodyPr vert="horz" wrap="square" lIns="0" tIns="53340" rIns="0" bIns="0" rtlCol="0">
            <a:spAutoFit/>
          </a:bodyPr>
          <a:lstStyle/>
          <a:p>
            <a:pPr marL="92075" marR="151130">
              <a:lnSpc>
                <a:spcPts val="1500"/>
              </a:lnSpc>
              <a:spcBef>
                <a:spcPts val="420"/>
              </a:spcBef>
            </a:pPr>
            <a:r>
              <a:rPr sz="1400" b="1" spc="-5" dirty="0">
                <a:latin typeface="Calibri" panose="020F0502020204030204"/>
                <a:cs typeface="Calibri" panose="020F0502020204030204"/>
              </a:rPr>
              <a:t>All </a:t>
            </a:r>
            <a:r>
              <a:rPr sz="1400" b="1" dirty="0">
                <a:latin typeface="Calibri" panose="020F0502020204030204"/>
                <a:cs typeface="Calibri" panose="020F0502020204030204"/>
              </a:rPr>
              <a:t>the requirements go in here (i.e. this is the body of the  document). IEEE </a:t>
            </a:r>
            <a:r>
              <a:rPr sz="1400" b="1" spc="-5" dirty="0">
                <a:latin typeface="Calibri" panose="020F0502020204030204"/>
                <a:cs typeface="Calibri" panose="020F0502020204030204"/>
              </a:rPr>
              <a:t>STD </a:t>
            </a:r>
            <a:r>
              <a:rPr sz="1400" b="1" dirty="0">
                <a:latin typeface="Calibri" panose="020F0502020204030204"/>
                <a:cs typeface="Calibri" panose="020F0502020204030204"/>
              </a:rPr>
              <a:t>provides 8 diﬀerent </a:t>
            </a:r>
            <a:r>
              <a:rPr sz="1400" b="1" spc="-5" dirty="0">
                <a:latin typeface="Calibri" panose="020F0502020204030204"/>
                <a:cs typeface="Calibri" panose="020F0502020204030204"/>
              </a:rPr>
              <a:t>templates </a:t>
            </a:r>
            <a:r>
              <a:rPr sz="1400" b="1" dirty="0">
                <a:latin typeface="Calibri" panose="020F0502020204030204"/>
                <a:cs typeface="Calibri" panose="020F0502020204030204"/>
              </a:rPr>
              <a:t>for</a:t>
            </a:r>
            <a:r>
              <a:rPr sz="1400" b="1" spc="-40" dirty="0">
                <a:latin typeface="Calibri" panose="020F0502020204030204"/>
                <a:cs typeface="Calibri" panose="020F0502020204030204"/>
              </a:rPr>
              <a:t> </a:t>
            </a:r>
            <a:r>
              <a:rPr sz="1400" b="1" dirty="0">
                <a:latin typeface="Calibri" panose="020F0502020204030204"/>
                <a:cs typeface="Calibri" panose="020F0502020204030204"/>
              </a:rPr>
              <a:t>this  </a:t>
            </a:r>
            <a:r>
              <a:rPr sz="1400" b="1" spc="-5" dirty="0">
                <a:latin typeface="Calibri" panose="020F0502020204030204"/>
                <a:cs typeface="Calibri" panose="020F0502020204030204"/>
              </a:rPr>
              <a:t>section</a:t>
            </a:r>
            <a:endParaRPr sz="1400">
              <a:latin typeface="Calibri" panose="020F0502020204030204"/>
              <a:cs typeface="Calibri" panose="020F0502020204030204"/>
            </a:endParaRPr>
          </a:p>
        </p:txBody>
      </p:sp>
      <p:sp>
        <p:nvSpPr>
          <p:cNvPr id="18" name="object 18"/>
          <p:cNvSpPr/>
          <p:nvPr/>
        </p:nvSpPr>
        <p:spPr>
          <a:xfrm>
            <a:off x="5122827" y="1753395"/>
            <a:ext cx="2215515" cy="384810"/>
          </a:xfrm>
          <a:custGeom>
            <a:avLst/>
            <a:gdLst/>
            <a:ahLst/>
            <a:cxnLst/>
            <a:rect l="l" t="t" r="r" b="b"/>
            <a:pathLst>
              <a:path w="2215515" h="384810">
                <a:moveTo>
                  <a:pt x="2214931" y="0"/>
                </a:moveTo>
                <a:lnTo>
                  <a:pt x="0" y="384511"/>
                </a:lnTo>
              </a:path>
            </a:pathLst>
          </a:custGeom>
          <a:ln w="38099">
            <a:solidFill>
              <a:srgbClr val="941100"/>
            </a:solidFill>
          </a:ln>
        </p:spPr>
        <p:txBody>
          <a:bodyPr wrap="square" lIns="0" tIns="0" rIns="0" bIns="0" rtlCol="0"/>
          <a:lstStyle/>
          <a:p>
            <a:endParaRPr/>
          </a:p>
        </p:txBody>
      </p:sp>
      <p:sp>
        <p:nvSpPr>
          <p:cNvPr id="19" name="object 19"/>
          <p:cNvSpPr/>
          <p:nvPr/>
        </p:nvSpPr>
        <p:spPr>
          <a:xfrm>
            <a:off x="5085289" y="2068564"/>
            <a:ext cx="122555" cy="113030"/>
          </a:xfrm>
          <a:custGeom>
            <a:avLst/>
            <a:gdLst/>
            <a:ahLst/>
            <a:cxnLst/>
            <a:rect l="l" t="t" r="r" b="b"/>
            <a:pathLst>
              <a:path w="122554" h="113030">
                <a:moveTo>
                  <a:pt x="102840" y="0"/>
                </a:moveTo>
                <a:lnTo>
                  <a:pt x="0" y="75858"/>
                </a:lnTo>
                <a:lnTo>
                  <a:pt x="122391" y="112615"/>
                </a:lnTo>
                <a:lnTo>
                  <a:pt x="102840" y="0"/>
                </a:lnTo>
                <a:close/>
              </a:path>
            </a:pathLst>
          </a:custGeom>
          <a:solidFill>
            <a:srgbClr val="941100"/>
          </a:solidFill>
        </p:spPr>
        <p:txBody>
          <a:bodyPr wrap="square" lIns="0" tIns="0" rIns="0" bIns="0" rtlCol="0"/>
          <a:lstStyle/>
          <a:p>
            <a:endParaRPr/>
          </a:p>
        </p:txBody>
      </p:sp>
      <p:sp>
        <p:nvSpPr>
          <p:cNvPr id="20" name="object 20"/>
          <p:cNvSpPr/>
          <p:nvPr/>
        </p:nvSpPr>
        <p:spPr>
          <a:xfrm>
            <a:off x="5399609" y="2461962"/>
            <a:ext cx="2066925" cy="532765"/>
          </a:xfrm>
          <a:custGeom>
            <a:avLst/>
            <a:gdLst/>
            <a:ahLst/>
            <a:cxnLst/>
            <a:rect l="l" t="t" r="r" b="b"/>
            <a:pathLst>
              <a:path w="2066925" h="532764">
                <a:moveTo>
                  <a:pt x="2066757" y="0"/>
                </a:moveTo>
                <a:lnTo>
                  <a:pt x="0" y="532420"/>
                </a:lnTo>
              </a:path>
            </a:pathLst>
          </a:custGeom>
          <a:ln w="38099">
            <a:solidFill>
              <a:srgbClr val="941100"/>
            </a:solidFill>
          </a:ln>
        </p:spPr>
        <p:txBody>
          <a:bodyPr wrap="square" lIns="0" tIns="0" rIns="0" bIns="0" rtlCol="0"/>
          <a:lstStyle/>
          <a:p>
            <a:endParaRPr/>
          </a:p>
        </p:txBody>
      </p:sp>
      <p:sp>
        <p:nvSpPr>
          <p:cNvPr id="21" name="object 21"/>
          <p:cNvSpPr/>
          <p:nvPr/>
        </p:nvSpPr>
        <p:spPr>
          <a:xfrm>
            <a:off x="5362714" y="2920029"/>
            <a:ext cx="125095" cy="111125"/>
          </a:xfrm>
          <a:custGeom>
            <a:avLst/>
            <a:gdLst/>
            <a:ahLst/>
            <a:cxnLst/>
            <a:rect l="l" t="t" r="r" b="b"/>
            <a:pathLst>
              <a:path w="125095" h="111125">
                <a:moveTo>
                  <a:pt x="96428" y="0"/>
                </a:moveTo>
                <a:lnTo>
                  <a:pt x="0" y="83858"/>
                </a:lnTo>
                <a:lnTo>
                  <a:pt x="124942" y="110686"/>
                </a:lnTo>
                <a:lnTo>
                  <a:pt x="96428" y="0"/>
                </a:lnTo>
                <a:close/>
              </a:path>
            </a:pathLst>
          </a:custGeom>
          <a:solidFill>
            <a:srgbClr val="941100"/>
          </a:solidFill>
        </p:spPr>
        <p:txBody>
          <a:bodyPr wrap="square" lIns="0" tIns="0" rIns="0" bIns="0" rtlCol="0"/>
          <a:lstStyle/>
          <a:p>
            <a:endParaRPr/>
          </a:p>
        </p:txBody>
      </p:sp>
      <p:sp>
        <p:nvSpPr>
          <p:cNvPr id="22" name="object 22"/>
          <p:cNvSpPr/>
          <p:nvPr/>
        </p:nvSpPr>
        <p:spPr>
          <a:xfrm>
            <a:off x="6230828" y="3221832"/>
            <a:ext cx="701040" cy="335280"/>
          </a:xfrm>
          <a:custGeom>
            <a:avLst/>
            <a:gdLst/>
            <a:ahLst/>
            <a:cxnLst/>
            <a:rect l="l" t="t" r="r" b="b"/>
            <a:pathLst>
              <a:path w="701040" h="335279">
                <a:moveTo>
                  <a:pt x="700530" y="0"/>
                </a:moveTo>
                <a:lnTo>
                  <a:pt x="0" y="335082"/>
                </a:lnTo>
              </a:path>
            </a:pathLst>
          </a:custGeom>
          <a:ln w="38099">
            <a:solidFill>
              <a:srgbClr val="941100"/>
            </a:solidFill>
          </a:ln>
        </p:spPr>
        <p:txBody>
          <a:bodyPr wrap="square" lIns="0" tIns="0" rIns="0" bIns="0" rtlCol="0"/>
          <a:lstStyle/>
          <a:p>
            <a:endParaRPr/>
          </a:p>
        </p:txBody>
      </p:sp>
      <p:sp>
        <p:nvSpPr>
          <p:cNvPr id="23" name="object 23"/>
          <p:cNvSpPr/>
          <p:nvPr/>
        </p:nvSpPr>
        <p:spPr>
          <a:xfrm>
            <a:off x="6196458" y="3472478"/>
            <a:ext cx="128270" cy="103505"/>
          </a:xfrm>
          <a:custGeom>
            <a:avLst/>
            <a:gdLst/>
            <a:ahLst/>
            <a:cxnLst/>
            <a:rect l="l" t="t" r="r" b="b"/>
            <a:pathLst>
              <a:path w="128270" h="103504">
                <a:moveTo>
                  <a:pt x="78450" y="0"/>
                </a:moveTo>
                <a:lnTo>
                  <a:pt x="0" y="100877"/>
                </a:lnTo>
                <a:lnTo>
                  <a:pt x="127772" y="103111"/>
                </a:lnTo>
                <a:lnTo>
                  <a:pt x="78450" y="0"/>
                </a:lnTo>
                <a:close/>
              </a:path>
            </a:pathLst>
          </a:custGeom>
          <a:solidFill>
            <a:srgbClr val="941100"/>
          </a:solidFill>
        </p:spPr>
        <p:txBody>
          <a:bodyPr wrap="square" lIns="0" tIns="0" rIns="0" bIns="0" rtlCol="0"/>
          <a:lstStyle/>
          <a:p>
            <a:endParaRPr/>
          </a:p>
        </p:txBody>
      </p:sp>
      <p:sp>
        <p:nvSpPr>
          <p:cNvPr id="24" name="object 24"/>
          <p:cNvSpPr/>
          <p:nvPr/>
        </p:nvSpPr>
        <p:spPr>
          <a:xfrm>
            <a:off x="5880760" y="3846839"/>
            <a:ext cx="1355725" cy="324485"/>
          </a:xfrm>
          <a:custGeom>
            <a:avLst/>
            <a:gdLst/>
            <a:ahLst/>
            <a:cxnLst/>
            <a:rect l="l" t="t" r="r" b="b"/>
            <a:pathLst>
              <a:path w="1355725" h="324485">
                <a:moveTo>
                  <a:pt x="1355398" y="324317"/>
                </a:moveTo>
                <a:lnTo>
                  <a:pt x="0" y="0"/>
                </a:lnTo>
              </a:path>
            </a:pathLst>
          </a:custGeom>
          <a:ln w="38099">
            <a:solidFill>
              <a:srgbClr val="941100"/>
            </a:solidFill>
          </a:ln>
        </p:spPr>
        <p:txBody>
          <a:bodyPr wrap="square" lIns="0" tIns="0" rIns="0" bIns="0" rtlCol="0"/>
          <a:lstStyle/>
          <a:p>
            <a:endParaRPr/>
          </a:p>
        </p:txBody>
      </p:sp>
      <p:sp>
        <p:nvSpPr>
          <p:cNvPr id="25" name="object 25"/>
          <p:cNvSpPr/>
          <p:nvPr/>
        </p:nvSpPr>
        <p:spPr>
          <a:xfrm>
            <a:off x="5843706" y="3808991"/>
            <a:ext cx="124460" cy="111760"/>
          </a:xfrm>
          <a:custGeom>
            <a:avLst/>
            <a:gdLst/>
            <a:ahLst/>
            <a:cxnLst/>
            <a:rect l="l" t="t" r="r" b="b"/>
            <a:pathLst>
              <a:path w="124460" h="111760">
                <a:moveTo>
                  <a:pt x="124461" y="0"/>
                </a:moveTo>
                <a:lnTo>
                  <a:pt x="0" y="28981"/>
                </a:lnTo>
                <a:lnTo>
                  <a:pt x="97862" y="111161"/>
                </a:lnTo>
                <a:lnTo>
                  <a:pt x="124461" y="0"/>
                </a:lnTo>
                <a:close/>
              </a:path>
            </a:pathLst>
          </a:custGeom>
          <a:solidFill>
            <a:srgbClr val="941100"/>
          </a:solidFill>
        </p:spPr>
        <p:txBody>
          <a:bodyPr wrap="square" lIns="0" tIns="0" rIns="0" bIns="0" rtlCol="0"/>
          <a:lstStyle/>
          <a:p>
            <a:endParaRPr/>
          </a:p>
        </p:txBody>
      </p:sp>
      <p:sp>
        <p:nvSpPr>
          <p:cNvPr id="26" name="object 26"/>
          <p:cNvSpPr/>
          <p:nvPr/>
        </p:nvSpPr>
        <p:spPr>
          <a:xfrm>
            <a:off x="5473874" y="4450717"/>
            <a:ext cx="1661160" cy="600075"/>
          </a:xfrm>
          <a:custGeom>
            <a:avLst/>
            <a:gdLst/>
            <a:ahLst/>
            <a:cxnLst/>
            <a:rect l="l" t="t" r="r" b="b"/>
            <a:pathLst>
              <a:path w="1661159" h="600075">
                <a:moveTo>
                  <a:pt x="1660684" y="599915"/>
                </a:moveTo>
                <a:lnTo>
                  <a:pt x="0" y="0"/>
                </a:lnTo>
              </a:path>
            </a:pathLst>
          </a:custGeom>
          <a:ln w="38099">
            <a:solidFill>
              <a:srgbClr val="941100"/>
            </a:solidFill>
          </a:ln>
        </p:spPr>
        <p:txBody>
          <a:bodyPr wrap="square" lIns="0" tIns="0" rIns="0" bIns="0" rtlCol="0"/>
          <a:lstStyle/>
          <a:p>
            <a:endParaRPr/>
          </a:p>
        </p:txBody>
      </p:sp>
      <p:sp>
        <p:nvSpPr>
          <p:cNvPr id="27" name="object 27"/>
          <p:cNvSpPr/>
          <p:nvPr/>
        </p:nvSpPr>
        <p:spPr>
          <a:xfrm>
            <a:off x="5438040" y="4422856"/>
            <a:ext cx="127000" cy="107950"/>
          </a:xfrm>
          <a:custGeom>
            <a:avLst/>
            <a:gdLst/>
            <a:ahLst/>
            <a:cxnLst/>
            <a:rect l="l" t="t" r="r" b="b"/>
            <a:pathLst>
              <a:path w="127000" h="107950">
                <a:moveTo>
                  <a:pt x="126918" y="0"/>
                </a:moveTo>
                <a:lnTo>
                  <a:pt x="0" y="14916"/>
                </a:lnTo>
                <a:lnTo>
                  <a:pt x="88083" y="107500"/>
                </a:lnTo>
                <a:lnTo>
                  <a:pt x="126918" y="0"/>
                </a:lnTo>
                <a:close/>
              </a:path>
            </a:pathLst>
          </a:custGeom>
          <a:solidFill>
            <a:srgbClr val="941100"/>
          </a:solidFill>
        </p:spPr>
        <p:txBody>
          <a:bodyPr wrap="square" lIns="0" tIns="0" rIns="0" bIns="0" rtlCol="0"/>
          <a:lstStyle/>
          <a:p>
            <a:endParaRPr/>
          </a:p>
        </p:txBody>
      </p:sp>
      <p:sp>
        <p:nvSpPr>
          <p:cNvPr id="28" name="object 28"/>
          <p:cNvSpPr/>
          <p:nvPr/>
        </p:nvSpPr>
        <p:spPr>
          <a:xfrm>
            <a:off x="5627556" y="5165878"/>
            <a:ext cx="1304290" cy="951865"/>
          </a:xfrm>
          <a:custGeom>
            <a:avLst/>
            <a:gdLst/>
            <a:ahLst/>
            <a:cxnLst/>
            <a:rect l="l" t="t" r="r" b="b"/>
            <a:pathLst>
              <a:path w="1304290" h="951864">
                <a:moveTo>
                  <a:pt x="1303802" y="951552"/>
                </a:moveTo>
                <a:lnTo>
                  <a:pt x="0" y="0"/>
                </a:lnTo>
              </a:path>
            </a:pathLst>
          </a:custGeom>
          <a:ln w="38099">
            <a:solidFill>
              <a:srgbClr val="941100"/>
            </a:solidFill>
          </a:ln>
        </p:spPr>
        <p:txBody>
          <a:bodyPr wrap="square" lIns="0" tIns="0" rIns="0" bIns="0" rtlCol="0"/>
          <a:lstStyle/>
          <a:p>
            <a:endParaRPr/>
          </a:p>
        </p:txBody>
      </p:sp>
      <p:sp>
        <p:nvSpPr>
          <p:cNvPr id="29" name="object 29"/>
          <p:cNvSpPr/>
          <p:nvPr/>
        </p:nvSpPr>
        <p:spPr>
          <a:xfrm>
            <a:off x="5596780" y="5143417"/>
            <a:ext cx="126364" cy="113664"/>
          </a:xfrm>
          <a:custGeom>
            <a:avLst/>
            <a:gdLst/>
            <a:ahLst/>
            <a:cxnLst/>
            <a:rect l="l" t="t" r="r" b="b"/>
            <a:pathLst>
              <a:path w="126364" h="113664">
                <a:moveTo>
                  <a:pt x="0" y="0"/>
                </a:moveTo>
                <a:lnTo>
                  <a:pt x="58634" y="113545"/>
                </a:lnTo>
                <a:lnTo>
                  <a:pt x="126017" y="21219"/>
                </a:lnTo>
                <a:lnTo>
                  <a:pt x="0" y="0"/>
                </a:lnTo>
                <a:close/>
              </a:path>
            </a:pathLst>
          </a:custGeom>
          <a:solidFill>
            <a:srgbClr val="941100"/>
          </a:solidFill>
        </p:spPr>
        <p:txBody>
          <a:bodyPr wrap="square" lIns="0" tIns="0" rIns="0" bIns="0" rtlCol="0"/>
          <a:lstStyle/>
          <a:p>
            <a:endParaRPr/>
          </a:p>
        </p:txBody>
      </p:sp>
      <p:sp>
        <p:nvSpPr>
          <p:cNvPr id="30" name="object 30"/>
          <p:cNvSpPr txBox="1"/>
          <p:nvPr/>
        </p:nvSpPr>
        <p:spPr>
          <a:xfrm>
            <a:off x="208596" y="6059898"/>
            <a:ext cx="3651885" cy="177800"/>
          </a:xfrm>
          <a:prstGeom prst="rect">
            <a:avLst/>
          </a:prstGeom>
        </p:spPr>
        <p:txBody>
          <a:bodyPr vert="horz" wrap="square" lIns="0" tIns="12700" rIns="0" bIns="0" rtlCol="0">
            <a:spAutoFit/>
          </a:bodyPr>
          <a:lstStyle/>
          <a:p>
            <a:pPr marL="12700">
              <a:lnSpc>
                <a:spcPct val="100000"/>
              </a:lnSpc>
              <a:spcBef>
                <a:spcPts val="100"/>
              </a:spcBef>
            </a:pPr>
            <a:r>
              <a:rPr sz="1000" b="1" i="1" dirty="0">
                <a:latin typeface="Times New Roman" panose="02020603050405020304"/>
                <a:cs typeface="Times New Roman" panose="02020603050405020304"/>
              </a:rPr>
              <a:t>Source: </a:t>
            </a:r>
            <a:r>
              <a:rPr sz="1000" i="1" spc="-5" dirty="0">
                <a:latin typeface="Times New Roman" panose="02020603050405020304"/>
                <a:cs typeface="Times New Roman" panose="02020603050405020304"/>
              </a:rPr>
              <a:t>Adapted </a:t>
            </a:r>
            <a:r>
              <a:rPr sz="1000" i="1" spc="-10" dirty="0">
                <a:latin typeface="Times New Roman" panose="02020603050405020304"/>
                <a:cs typeface="Times New Roman" panose="02020603050405020304"/>
              </a:rPr>
              <a:t>from </a:t>
            </a:r>
            <a:r>
              <a:rPr sz="1000" i="1" spc="-5" dirty="0">
                <a:latin typeface="Times New Roman" panose="02020603050405020304"/>
                <a:cs typeface="Times New Roman" panose="02020603050405020304"/>
              </a:rPr>
              <a:t>IEEE-STD-830-1993 </a:t>
            </a:r>
            <a:r>
              <a:rPr sz="1000" b="1" i="1" dirty="0">
                <a:latin typeface="Times New Roman" panose="02020603050405020304"/>
                <a:cs typeface="Times New Roman" panose="02020603050405020304"/>
              </a:rPr>
              <a:t>See </a:t>
            </a:r>
            <a:r>
              <a:rPr sz="1000" b="1" i="1" spc="-5" dirty="0">
                <a:latin typeface="Times New Roman" panose="02020603050405020304"/>
                <a:cs typeface="Times New Roman" panose="02020603050405020304"/>
              </a:rPr>
              <a:t>also</a:t>
            </a:r>
            <a:r>
              <a:rPr sz="1000" i="1" spc="-5" dirty="0">
                <a:latin typeface="Times New Roman" panose="02020603050405020304"/>
                <a:cs typeface="Times New Roman" panose="02020603050405020304"/>
              </a:rPr>
              <a:t>, </a:t>
            </a:r>
            <a:r>
              <a:rPr sz="1000" i="1" dirty="0">
                <a:latin typeface="Times New Roman" panose="02020603050405020304"/>
                <a:cs typeface="Times New Roman" panose="02020603050405020304"/>
              </a:rPr>
              <a:t>Blum 1992,</a:t>
            </a:r>
            <a:r>
              <a:rPr sz="1000" i="1" spc="30" dirty="0">
                <a:latin typeface="Times New Roman" panose="02020603050405020304"/>
                <a:cs typeface="Times New Roman" panose="02020603050405020304"/>
              </a:rPr>
              <a:t> </a:t>
            </a:r>
            <a:r>
              <a:rPr sz="1000" i="1" dirty="0">
                <a:latin typeface="Times New Roman" panose="02020603050405020304"/>
                <a:cs typeface="Times New Roman" panose="02020603050405020304"/>
              </a:rPr>
              <a:t>p160</a:t>
            </a:r>
            <a:endParaRPr sz="1000" dirty="0">
              <a:latin typeface="Times New Roman" panose="02020603050405020304"/>
              <a:cs typeface="Times New Roman" panose="02020603050405020304"/>
            </a:endParaRPr>
          </a:p>
        </p:txBody>
      </p:sp>
      <p:sp>
        <p:nvSpPr>
          <p:cNvPr id="33" name="标题 32"/>
          <p:cNvSpPr>
            <a:spLocks noGrp="1"/>
          </p:cNvSpPr>
          <p:nvPr>
            <p:ph type="title"/>
          </p:nvPr>
        </p:nvSpPr>
        <p:spPr>
          <a:xfrm>
            <a:off x="838200" y="365125"/>
            <a:ext cx="10515600" cy="1325563"/>
          </a:xfrm>
        </p:spPr>
        <p:txBody>
          <a:bodyPr/>
          <a:lstStyle/>
          <a:p>
            <a:r>
              <a:rPr lang="en-US" altLang="zh-CN" b="1" dirty="0">
                <a:latin typeface="Bookman Old Style" panose="02050604050505020204"/>
                <a:cs typeface="Bookman Old Style" panose="02050604050505020204"/>
              </a:rPr>
              <a:t>IEEE-830</a:t>
            </a:r>
            <a:r>
              <a:rPr lang="en-US" altLang="zh-CN" b="1" spc="-85" dirty="0">
                <a:latin typeface="Bookman Old Style" panose="02050604050505020204"/>
                <a:cs typeface="Bookman Old Style" panose="02050604050505020204"/>
              </a:rPr>
              <a:t> </a:t>
            </a:r>
            <a:r>
              <a:rPr lang="en-US" altLang="zh-CN" b="1" spc="-5" dirty="0">
                <a:latin typeface="Bookman Old Style" panose="02050604050505020204"/>
                <a:cs typeface="Bookman Old Style" panose="02050604050505020204"/>
              </a:rPr>
              <a:t>SRS</a:t>
            </a:r>
            <a:r>
              <a:rPr lang="zh-CN" altLang="en-US" spc="-5" dirty="0"/>
              <a:t>模板大纲</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71</a:t>
            </a:fld>
            <a:endParaRPr lang="zh-CN" altLang="en-US"/>
          </a:p>
        </p:txBody>
      </p:sp>
    </p:spTree>
    <p:extLst>
      <p:ext uri="{BB962C8B-B14F-4D97-AF65-F5344CB8AC3E}">
        <p14:creationId xmlns:p14="http://schemas.microsoft.com/office/powerpoint/2010/main" val="3263250455"/>
      </p:ext>
    </p:extLst>
  </p:cSld>
  <p:clrMapOvr>
    <a:masterClrMapping/>
  </p:clrMapOvr>
  <mc:AlternateContent xmlns:mc="http://schemas.openxmlformats.org/markup-compatibility/2006" xmlns:p14="http://schemas.microsoft.com/office/powerpoint/2010/main">
    <mc:Choice Requires="p14">
      <p:transition spd="slow" p14:dur="2000" advTm="47694"/>
    </mc:Choice>
    <mc:Fallback xmlns="">
      <p:transition spd="slow" advTm="47694"/>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55039" y="1331138"/>
            <a:ext cx="5344795" cy="5143500"/>
          </a:xfrm>
          <a:prstGeom prst="rect">
            <a:avLst/>
          </a:prstGeom>
        </p:spPr>
        <p:txBody>
          <a:bodyPr vert="horz" wrap="square" lIns="0" tIns="68580" rIns="0" bIns="0" rtlCol="0">
            <a:spAutoFit/>
          </a:bodyPr>
          <a:lstStyle/>
          <a:p>
            <a:pPr marL="353695" lvl="1" indent="-341630">
              <a:lnSpc>
                <a:spcPct val="100000"/>
              </a:lnSpc>
              <a:spcBef>
                <a:spcPts val="540"/>
              </a:spcBef>
              <a:buFont typeface="Calibri" panose="020F0502020204030204"/>
              <a:buAutoNum type="arabicPeriod"/>
              <a:tabLst>
                <a:tab pos="354330" algn="l"/>
              </a:tabLst>
            </a:pPr>
            <a:r>
              <a:rPr sz="1800" dirty="0">
                <a:latin typeface="微软雅黑" panose="020B0503020204020204" pitchFamily="34" charset="-122"/>
                <a:ea typeface="微软雅黑" panose="020B0503020204020204" pitchFamily="34" charset="-122"/>
                <a:cs typeface="华文新魏" panose="02010800040101010101" charset="-122"/>
              </a:rPr>
              <a:t>外部接口</a:t>
            </a:r>
          </a:p>
          <a:p>
            <a:pPr marL="984250" lvl="2" indent="-514985">
              <a:lnSpc>
                <a:spcPct val="100000"/>
              </a:lnSpc>
              <a:spcBef>
                <a:spcPts val="440"/>
              </a:spcBef>
              <a:buFont typeface="Calibri" panose="020F0502020204030204"/>
              <a:buAutoNum type="arabicPeriod"/>
              <a:tabLst>
                <a:tab pos="984885" algn="l"/>
              </a:tabLst>
            </a:pPr>
            <a:r>
              <a:rPr sz="1800" dirty="0">
                <a:latin typeface="微软雅黑" panose="020B0503020204020204" pitchFamily="34" charset="-122"/>
                <a:ea typeface="微软雅黑" panose="020B0503020204020204" pitchFamily="34" charset="-122"/>
                <a:cs typeface="华文新魏" panose="02010800040101010101" charset="-122"/>
              </a:rPr>
              <a:t>用户接口</a:t>
            </a:r>
          </a:p>
          <a:p>
            <a:pPr marL="984250" lvl="2" indent="-514985">
              <a:lnSpc>
                <a:spcPct val="100000"/>
              </a:lnSpc>
              <a:spcBef>
                <a:spcPts val="540"/>
              </a:spcBef>
              <a:buFont typeface="Calibri" panose="020F0502020204030204"/>
              <a:buAutoNum type="arabicPeriod"/>
              <a:tabLst>
                <a:tab pos="984885" algn="l"/>
              </a:tabLst>
            </a:pPr>
            <a:r>
              <a:rPr sz="1800" dirty="0">
                <a:latin typeface="微软雅黑" panose="020B0503020204020204" pitchFamily="34" charset="-122"/>
                <a:ea typeface="微软雅黑" panose="020B0503020204020204" pitchFamily="34" charset="-122"/>
                <a:cs typeface="华文新魏" panose="02010800040101010101" charset="-122"/>
              </a:rPr>
              <a:t>硬件接口</a:t>
            </a:r>
          </a:p>
          <a:p>
            <a:pPr marL="984250" lvl="2" indent="-514985">
              <a:lnSpc>
                <a:spcPct val="100000"/>
              </a:lnSpc>
              <a:spcBef>
                <a:spcPts val="440"/>
              </a:spcBef>
              <a:buFont typeface="Calibri" panose="020F0502020204030204"/>
              <a:buAutoNum type="arabicPeriod"/>
              <a:tabLst>
                <a:tab pos="984885" algn="l"/>
              </a:tabLst>
            </a:pPr>
            <a:r>
              <a:rPr sz="1800" dirty="0">
                <a:latin typeface="微软雅黑" panose="020B0503020204020204" pitchFamily="34" charset="-122"/>
                <a:ea typeface="微软雅黑" panose="020B0503020204020204" pitchFamily="34" charset="-122"/>
                <a:cs typeface="华文新魏" panose="02010800040101010101" charset="-122"/>
              </a:rPr>
              <a:t>软件接口</a:t>
            </a:r>
          </a:p>
          <a:p>
            <a:pPr marL="984250" lvl="2" indent="-514985">
              <a:lnSpc>
                <a:spcPct val="100000"/>
              </a:lnSpc>
              <a:spcBef>
                <a:spcPts val="540"/>
              </a:spcBef>
              <a:buFont typeface="Calibri" panose="020F0502020204030204"/>
              <a:buAutoNum type="arabicPeriod"/>
              <a:tabLst>
                <a:tab pos="984885" algn="l"/>
              </a:tabLst>
            </a:pPr>
            <a:r>
              <a:rPr sz="1800" dirty="0">
                <a:latin typeface="微软雅黑" panose="020B0503020204020204" pitchFamily="34" charset="-122"/>
                <a:ea typeface="微软雅黑" panose="020B0503020204020204" pitchFamily="34" charset="-122"/>
                <a:cs typeface="华文新魏" panose="02010800040101010101" charset="-122"/>
              </a:rPr>
              <a:t>通信接口</a:t>
            </a:r>
          </a:p>
          <a:p>
            <a:pPr marL="353695" lvl="1" indent="-341630">
              <a:lnSpc>
                <a:spcPct val="100000"/>
              </a:lnSpc>
              <a:spcBef>
                <a:spcPts val="1040"/>
              </a:spcBef>
              <a:buFont typeface="Calibri" panose="020F0502020204030204"/>
              <a:buAutoNum type="arabicPeriod"/>
              <a:tabLst>
                <a:tab pos="354330" algn="l"/>
              </a:tabLst>
            </a:pPr>
            <a:r>
              <a:rPr sz="1800" dirty="0">
                <a:latin typeface="微软雅黑" panose="020B0503020204020204" pitchFamily="34" charset="-122"/>
                <a:ea typeface="微软雅黑" panose="020B0503020204020204" pitchFamily="34" charset="-122"/>
                <a:cs typeface="华文新魏" panose="02010800040101010101" charset="-122"/>
              </a:rPr>
              <a:t>功能需求描述</a:t>
            </a:r>
          </a:p>
          <a:p>
            <a:pPr marL="469900">
              <a:lnSpc>
                <a:spcPct val="100000"/>
              </a:lnSpc>
              <a:spcBef>
                <a:spcPts val="390"/>
              </a:spcBef>
            </a:pPr>
            <a:r>
              <a:rPr sz="1850" i="1" spc="-50" dirty="0">
                <a:latin typeface="微软雅黑" panose="020B0503020204020204" pitchFamily="34" charset="-122"/>
                <a:ea typeface="微软雅黑" panose="020B0503020204020204" pitchFamily="34" charset="-122"/>
                <a:cs typeface="华文新魏" panose="02010800040101010101" charset="-122"/>
              </a:rPr>
              <a:t>按系统的操作模式、用户分类、特征分类来定义</a:t>
            </a:r>
            <a:r>
              <a:rPr sz="1800" i="1" spc="-50" dirty="0">
                <a:latin typeface="微软雅黑" panose="020B0503020204020204" pitchFamily="34" charset="-122"/>
                <a:ea typeface="微软雅黑" panose="020B0503020204020204" pitchFamily="34" charset="-122"/>
                <a:cs typeface="Calibri" panose="020F0502020204030204"/>
              </a:rPr>
              <a:t>:</a:t>
            </a:r>
            <a:endParaRPr sz="1800" dirty="0">
              <a:latin typeface="微软雅黑" panose="020B0503020204020204" pitchFamily="34" charset="-122"/>
              <a:ea typeface="微软雅黑" panose="020B0503020204020204" pitchFamily="34" charset="-122"/>
              <a:cs typeface="Calibri" panose="020F0502020204030204"/>
            </a:endParaRPr>
          </a:p>
          <a:p>
            <a:pPr marL="984250" lvl="2" indent="-514985">
              <a:lnSpc>
                <a:spcPct val="100000"/>
              </a:lnSpc>
              <a:spcBef>
                <a:spcPts val="530"/>
              </a:spcBef>
              <a:buFont typeface="Calibri" panose="020F0502020204030204"/>
              <a:buAutoNum type="arabicPeriod"/>
              <a:tabLst>
                <a:tab pos="984885" algn="l"/>
              </a:tabLst>
            </a:pPr>
            <a:r>
              <a:rPr sz="1800" dirty="0">
                <a:latin typeface="微软雅黑" panose="020B0503020204020204" pitchFamily="34" charset="-122"/>
                <a:ea typeface="微软雅黑" panose="020B0503020204020204" pitchFamily="34" charset="-122"/>
                <a:cs typeface="华文新魏" panose="02010800040101010101" charset="-122"/>
              </a:rPr>
              <a:t>模式</a:t>
            </a:r>
            <a:r>
              <a:rPr sz="1800" spc="-5" dirty="0">
                <a:latin typeface="微软雅黑" panose="020B0503020204020204" pitchFamily="34" charset="-122"/>
                <a:ea typeface="微软雅黑" panose="020B0503020204020204" pitchFamily="34" charset="-122"/>
                <a:cs typeface="华文新魏" panose="02010800040101010101" charset="-122"/>
              </a:rPr>
              <a:t> </a:t>
            </a:r>
            <a:r>
              <a:rPr sz="1800" dirty="0">
                <a:latin typeface="微软雅黑" panose="020B0503020204020204" pitchFamily="34" charset="-122"/>
                <a:ea typeface="微软雅黑" panose="020B0503020204020204" pitchFamily="34" charset="-122"/>
                <a:cs typeface="Calibri" panose="020F0502020204030204"/>
              </a:rPr>
              <a:t>1</a:t>
            </a:r>
          </a:p>
          <a:p>
            <a:pPr marL="1614805" lvl="3" indent="-688340">
              <a:lnSpc>
                <a:spcPct val="100000"/>
              </a:lnSpc>
              <a:spcBef>
                <a:spcPts val="390"/>
              </a:spcBef>
              <a:buSzPct val="97000"/>
              <a:buFont typeface="Calibri" panose="020F0502020204030204"/>
              <a:buAutoNum type="arabicPeriod"/>
              <a:tabLst>
                <a:tab pos="1615440" algn="l"/>
              </a:tabLst>
            </a:pPr>
            <a:r>
              <a:rPr sz="1850" i="1" spc="-50" dirty="0">
                <a:latin typeface="微软雅黑" panose="020B0503020204020204" pitchFamily="34" charset="-122"/>
                <a:ea typeface="微软雅黑" panose="020B0503020204020204" pitchFamily="34" charset="-122"/>
                <a:cs typeface="华文新魏" panose="02010800040101010101" charset="-122"/>
              </a:rPr>
              <a:t>功能需求</a:t>
            </a:r>
            <a:r>
              <a:rPr sz="1850" i="1" spc="-20" dirty="0">
                <a:latin typeface="微软雅黑" panose="020B0503020204020204" pitchFamily="34" charset="-122"/>
                <a:ea typeface="微软雅黑" panose="020B0503020204020204" pitchFamily="34" charset="-122"/>
                <a:cs typeface="华文新魏" panose="02010800040101010101" charset="-122"/>
              </a:rPr>
              <a:t> </a:t>
            </a:r>
            <a:r>
              <a:rPr sz="1800" i="1" spc="-5" dirty="0">
                <a:latin typeface="微软雅黑" panose="020B0503020204020204" pitchFamily="34" charset="-122"/>
                <a:ea typeface="微软雅黑" panose="020B0503020204020204" pitchFamily="34" charset="-122"/>
                <a:cs typeface="Calibri" panose="020F0502020204030204"/>
              </a:rPr>
              <a:t>1.1</a:t>
            </a:r>
            <a:endParaRPr sz="1800" dirty="0">
              <a:latin typeface="微软雅黑" panose="020B0503020204020204" pitchFamily="34" charset="-122"/>
              <a:ea typeface="微软雅黑" panose="020B0503020204020204" pitchFamily="34" charset="-122"/>
              <a:cs typeface="Calibri" panose="020F0502020204030204"/>
            </a:endParaRPr>
          </a:p>
          <a:p>
            <a:pPr marL="927100">
              <a:lnSpc>
                <a:spcPct val="100000"/>
              </a:lnSpc>
              <a:spcBef>
                <a:spcPts val="530"/>
              </a:spcBef>
            </a:pPr>
            <a:r>
              <a:rPr sz="1800" i="1" dirty="0">
                <a:latin typeface="微软雅黑" panose="020B0503020204020204" pitchFamily="34" charset="-122"/>
                <a:ea typeface="微软雅黑" panose="020B0503020204020204" pitchFamily="34" charset="-122"/>
                <a:cs typeface="Calibri" panose="020F0502020204030204"/>
              </a:rPr>
              <a:t>…</a:t>
            </a:r>
            <a:endParaRPr sz="1800" dirty="0">
              <a:latin typeface="微软雅黑" panose="020B0503020204020204" pitchFamily="34" charset="-122"/>
              <a:ea typeface="微软雅黑" panose="020B0503020204020204" pitchFamily="34" charset="-122"/>
              <a:cs typeface="Calibri" panose="020F0502020204030204"/>
            </a:endParaRPr>
          </a:p>
          <a:p>
            <a:pPr marL="984250" lvl="2" indent="-514985">
              <a:lnSpc>
                <a:spcPct val="100000"/>
              </a:lnSpc>
              <a:spcBef>
                <a:spcPts val="540"/>
              </a:spcBef>
              <a:buFont typeface="Calibri" panose="020F0502020204030204"/>
              <a:buAutoNum type="arabicPeriod" startAt="2"/>
              <a:tabLst>
                <a:tab pos="984885" algn="l"/>
              </a:tabLst>
            </a:pPr>
            <a:r>
              <a:rPr sz="1800" dirty="0">
                <a:latin typeface="微软雅黑" panose="020B0503020204020204" pitchFamily="34" charset="-122"/>
                <a:ea typeface="微软雅黑" panose="020B0503020204020204" pitchFamily="34" charset="-122"/>
                <a:cs typeface="华文新魏" panose="02010800040101010101" charset="-122"/>
              </a:rPr>
              <a:t>模式</a:t>
            </a:r>
            <a:r>
              <a:rPr sz="1800" spc="-5" dirty="0">
                <a:latin typeface="微软雅黑" panose="020B0503020204020204" pitchFamily="34" charset="-122"/>
                <a:ea typeface="微软雅黑" panose="020B0503020204020204" pitchFamily="34" charset="-122"/>
                <a:cs typeface="华文新魏" panose="02010800040101010101" charset="-122"/>
              </a:rPr>
              <a:t> </a:t>
            </a:r>
            <a:r>
              <a:rPr sz="1800" dirty="0">
                <a:latin typeface="微软雅黑" panose="020B0503020204020204" pitchFamily="34" charset="-122"/>
                <a:ea typeface="微软雅黑" panose="020B0503020204020204" pitchFamily="34" charset="-122"/>
                <a:cs typeface="Calibri" panose="020F0502020204030204"/>
              </a:rPr>
              <a:t>2</a:t>
            </a:r>
          </a:p>
          <a:p>
            <a:pPr marL="1614805" lvl="3" indent="-688340">
              <a:lnSpc>
                <a:spcPct val="100000"/>
              </a:lnSpc>
              <a:spcBef>
                <a:spcPts val="390"/>
              </a:spcBef>
              <a:buSzPct val="97000"/>
              <a:buFont typeface="Calibri" panose="020F0502020204030204"/>
              <a:buAutoNum type="arabicPeriod"/>
              <a:tabLst>
                <a:tab pos="1615440" algn="l"/>
              </a:tabLst>
            </a:pPr>
            <a:r>
              <a:rPr sz="1850" i="1" spc="-50" dirty="0">
                <a:latin typeface="微软雅黑" panose="020B0503020204020204" pitchFamily="34" charset="-122"/>
                <a:ea typeface="微软雅黑" panose="020B0503020204020204" pitchFamily="34" charset="-122"/>
                <a:cs typeface="华文新魏" panose="02010800040101010101" charset="-122"/>
              </a:rPr>
              <a:t>功能需求</a:t>
            </a:r>
            <a:r>
              <a:rPr sz="1850" i="1" spc="-20" dirty="0">
                <a:latin typeface="微软雅黑" panose="020B0503020204020204" pitchFamily="34" charset="-122"/>
                <a:ea typeface="微软雅黑" panose="020B0503020204020204" pitchFamily="34" charset="-122"/>
                <a:cs typeface="华文新魏" panose="02010800040101010101" charset="-122"/>
              </a:rPr>
              <a:t> </a:t>
            </a:r>
            <a:r>
              <a:rPr sz="1800" i="1" spc="-5" dirty="0">
                <a:latin typeface="微软雅黑" panose="020B0503020204020204" pitchFamily="34" charset="-122"/>
                <a:ea typeface="微软雅黑" panose="020B0503020204020204" pitchFamily="34" charset="-122"/>
                <a:cs typeface="Calibri" panose="020F0502020204030204"/>
              </a:rPr>
              <a:t>2.1</a:t>
            </a:r>
            <a:endParaRPr sz="1800" dirty="0">
              <a:latin typeface="微软雅黑" panose="020B0503020204020204" pitchFamily="34" charset="-122"/>
              <a:ea typeface="微软雅黑" panose="020B0503020204020204" pitchFamily="34" charset="-122"/>
              <a:cs typeface="Calibri" panose="020F0502020204030204"/>
            </a:endParaRPr>
          </a:p>
          <a:p>
            <a:pPr marL="927100">
              <a:lnSpc>
                <a:spcPct val="100000"/>
              </a:lnSpc>
              <a:spcBef>
                <a:spcPts val="530"/>
              </a:spcBef>
            </a:pPr>
            <a:r>
              <a:rPr sz="1800" i="1" dirty="0">
                <a:latin typeface="微软雅黑" panose="020B0503020204020204" pitchFamily="34" charset="-122"/>
                <a:ea typeface="微软雅黑" panose="020B0503020204020204" pitchFamily="34" charset="-122"/>
                <a:cs typeface="Calibri" panose="020F0502020204030204"/>
              </a:rPr>
              <a:t>…</a:t>
            </a:r>
            <a:endParaRPr sz="1800" dirty="0">
              <a:latin typeface="微软雅黑" panose="020B0503020204020204" pitchFamily="34" charset="-122"/>
              <a:ea typeface="微软雅黑" panose="020B0503020204020204" pitchFamily="34" charset="-122"/>
              <a:cs typeface="Calibri" panose="020F0502020204030204"/>
            </a:endParaRPr>
          </a:p>
          <a:p>
            <a:pPr marL="469900">
              <a:lnSpc>
                <a:spcPct val="100000"/>
              </a:lnSpc>
              <a:spcBef>
                <a:spcPts val="440"/>
              </a:spcBef>
            </a:pPr>
            <a:r>
              <a:rPr sz="1800" i="1" spc="-5" dirty="0">
                <a:latin typeface="微软雅黑" panose="020B0503020204020204" pitchFamily="34" charset="-122"/>
                <a:ea typeface="微软雅黑" panose="020B0503020204020204" pitchFamily="34" charset="-122"/>
                <a:cs typeface="Calibri" panose="020F0502020204030204"/>
              </a:rPr>
              <a:t>...</a:t>
            </a:r>
            <a:endParaRPr sz="1800" dirty="0">
              <a:latin typeface="微软雅黑" panose="020B0503020204020204" pitchFamily="34" charset="-122"/>
              <a:ea typeface="微软雅黑" panose="020B0503020204020204" pitchFamily="34" charset="-122"/>
              <a:cs typeface="Calibri" panose="020F0502020204030204"/>
            </a:endParaRPr>
          </a:p>
          <a:p>
            <a:pPr marL="469900">
              <a:lnSpc>
                <a:spcPct val="100000"/>
              </a:lnSpc>
              <a:spcBef>
                <a:spcPts val="540"/>
              </a:spcBef>
            </a:pPr>
            <a:r>
              <a:rPr sz="1800" spc="-5" dirty="0">
                <a:latin typeface="微软雅黑" panose="020B0503020204020204" pitchFamily="34" charset="-122"/>
                <a:ea typeface="微软雅黑" panose="020B0503020204020204" pitchFamily="34" charset="-122"/>
                <a:cs typeface="Calibri" panose="020F0502020204030204"/>
              </a:rPr>
              <a:t>3.2.n</a:t>
            </a:r>
            <a:r>
              <a:rPr sz="1800" spc="-10" dirty="0">
                <a:latin typeface="微软雅黑" panose="020B0503020204020204" pitchFamily="34" charset="-122"/>
                <a:ea typeface="微软雅黑" panose="020B0503020204020204" pitchFamily="34" charset="-122"/>
                <a:cs typeface="Calibri" panose="020F0502020204030204"/>
              </a:rPr>
              <a:t> </a:t>
            </a:r>
            <a:r>
              <a:rPr sz="1800" dirty="0">
                <a:latin typeface="微软雅黑" panose="020B0503020204020204" pitchFamily="34" charset="-122"/>
                <a:ea typeface="微软雅黑" panose="020B0503020204020204" pitchFamily="34" charset="-122"/>
                <a:cs typeface="华文新魏" panose="02010800040101010101" charset="-122"/>
              </a:rPr>
              <a:t>模式 </a:t>
            </a:r>
            <a:r>
              <a:rPr sz="1800" dirty="0">
                <a:latin typeface="微软雅黑" panose="020B0503020204020204" pitchFamily="34" charset="-122"/>
                <a:ea typeface="微软雅黑" panose="020B0503020204020204" pitchFamily="34" charset="-122"/>
                <a:cs typeface="Calibri" panose="020F0502020204030204"/>
              </a:rPr>
              <a:t>n</a:t>
            </a:r>
          </a:p>
        </p:txBody>
      </p:sp>
      <p:sp>
        <p:nvSpPr>
          <p:cNvPr id="4" name="object 4"/>
          <p:cNvSpPr txBox="1"/>
          <p:nvPr/>
        </p:nvSpPr>
        <p:spPr>
          <a:xfrm>
            <a:off x="1831339" y="6324282"/>
            <a:ext cx="19875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panose="020F0502020204030204"/>
                <a:cs typeface="Calibri" panose="020F0502020204030204"/>
              </a:rPr>
              <a:t>...</a:t>
            </a:r>
            <a:endParaRPr sz="1800">
              <a:latin typeface="Calibri" panose="020F0502020204030204"/>
              <a:cs typeface="Calibri" panose="020F0502020204030204"/>
            </a:endParaRPr>
          </a:p>
        </p:txBody>
      </p:sp>
      <p:sp>
        <p:nvSpPr>
          <p:cNvPr id="5" name="object 5"/>
          <p:cNvSpPr txBox="1"/>
          <p:nvPr/>
        </p:nvSpPr>
        <p:spPr>
          <a:xfrm>
            <a:off x="6722427" y="1453356"/>
            <a:ext cx="3072130" cy="4589145"/>
          </a:xfrm>
          <a:prstGeom prst="rect">
            <a:avLst/>
          </a:prstGeom>
        </p:spPr>
        <p:txBody>
          <a:bodyPr vert="horz" wrap="square" lIns="0" tIns="59690" rIns="0" bIns="0" rtlCol="0">
            <a:spAutoFit/>
          </a:bodyPr>
          <a:lstStyle/>
          <a:p>
            <a:pPr marL="353695" lvl="1" indent="-341630">
              <a:lnSpc>
                <a:spcPct val="100000"/>
              </a:lnSpc>
              <a:spcBef>
                <a:spcPts val="470"/>
              </a:spcBef>
              <a:buFont typeface="Calibri" panose="020F0502020204030204"/>
              <a:buAutoNum type="arabicPeriod" startAt="3"/>
              <a:tabLst>
                <a:tab pos="354330" algn="l"/>
              </a:tabLst>
            </a:pPr>
            <a:r>
              <a:rPr sz="1800" dirty="0">
                <a:latin typeface="微软雅黑" panose="020B0503020204020204" pitchFamily="34" charset="-122"/>
                <a:ea typeface="微软雅黑" panose="020B0503020204020204" pitchFamily="34" charset="-122"/>
                <a:cs typeface="华文新魏" panose="02010800040101010101" charset="-122"/>
              </a:rPr>
              <a:t>性能需求</a:t>
            </a:r>
          </a:p>
          <a:p>
            <a:pPr marL="469900">
              <a:lnSpc>
                <a:spcPct val="100000"/>
              </a:lnSpc>
              <a:spcBef>
                <a:spcPts val="390"/>
              </a:spcBef>
            </a:pPr>
            <a:r>
              <a:rPr sz="1850" i="1" spc="-50" dirty="0">
                <a:latin typeface="微软雅黑" panose="020B0503020204020204" pitchFamily="34" charset="-122"/>
                <a:ea typeface="微软雅黑" panose="020B0503020204020204" pitchFamily="34" charset="-122"/>
                <a:cs typeface="华文新魏" panose="02010800040101010101" charset="-122"/>
              </a:rPr>
              <a:t>要用可度量的方式来表达</a:t>
            </a:r>
            <a:r>
              <a:rPr sz="1800" i="1" spc="-50" dirty="0">
                <a:latin typeface="微软雅黑" panose="020B0503020204020204" pitchFamily="34" charset="-122"/>
                <a:ea typeface="微软雅黑" panose="020B0503020204020204" pitchFamily="34" charset="-122"/>
                <a:cs typeface="Calibri" panose="020F0502020204030204"/>
              </a:rPr>
              <a:t>!</a:t>
            </a:r>
            <a:endParaRPr sz="1800" dirty="0">
              <a:latin typeface="微软雅黑" panose="020B0503020204020204" pitchFamily="34" charset="-122"/>
              <a:ea typeface="微软雅黑" panose="020B0503020204020204" pitchFamily="34" charset="-122"/>
              <a:cs typeface="Calibri" panose="020F0502020204030204"/>
            </a:endParaRPr>
          </a:p>
          <a:p>
            <a:pPr marL="353695" lvl="1" indent="-341630">
              <a:lnSpc>
                <a:spcPct val="100000"/>
              </a:lnSpc>
              <a:spcBef>
                <a:spcPts val="1030"/>
              </a:spcBef>
              <a:buFont typeface="Calibri" panose="020F0502020204030204"/>
              <a:buAutoNum type="arabicPeriod" startAt="4"/>
              <a:tabLst>
                <a:tab pos="354330" algn="l"/>
              </a:tabLst>
            </a:pPr>
            <a:r>
              <a:rPr sz="1800" dirty="0">
                <a:latin typeface="微软雅黑" panose="020B0503020204020204" pitchFamily="34" charset="-122"/>
                <a:ea typeface="微软雅黑" panose="020B0503020204020204" pitchFamily="34" charset="-122"/>
                <a:cs typeface="华文新魏" panose="02010800040101010101" charset="-122"/>
              </a:rPr>
              <a:t>设计约束</a:t>
            </a:r>
          </a:p>
          <a:p>
            <a:pPr marL="984250" lvl="2" indent="-514985">
              <a:lnSpc>
                <a:spcPct val="100000"/>
              </a:lnSpc>
              <a:spcBef>
                <a:spcPts val="390"/>
              </a:spcBef>
              <a:buSzPct val="97000"/>
              <a:buFont typeface="Calibri" panose="020F0502020204030204"/>
              <a:buAutoNum type="arabicPeriod"/>
              <a:tabLst>
                <a:tab pos="984885" algn="l"/>
              </a:tabLst>
            </a:pPr>
            <a:r>
              <a:rPr sz="1850" i="1" spc="-50" dirty="0">
                <a:latin typeface="微软雅黑" panose="020B0503020204020204" pitchFamily="34" charset="-122"/>
                <a:ea typeface="微软雅黑" panose="020B0503020204020204" pitchFamily="34" charset="-122"/>
                <a:cs typeface="华文新魏" panose="02010800040101010101" charset="-122"/>
              </a:rPr>
              <a:t>标准依从性</a:t>
            </a:r>
            <a:endParaRPr sz="1850" dirty="0">
              <a:latin typeface="微软雅黑" panose="020B0503020204020204" pitchFamily="34" charset="-122"/>
              <a:ea typeface="微软雅黑" panose="020B0503020204020204" pitchFamily="34" charset="-122"/>
              <a:cs typeface="华文新魏" panose="02010800040101010101" charset="-122"/>
            </a:endParaRPr>
          </a:p>
          <a:p>
            <a:pPr marL="469900" marR="1164590" lvl="2">
              <a:lnSpc>
                <a:spcPts val="2700"/>
              </a:lnSpc>
              <a:spcBef>
                <a:spcPts val="170"/>
              </a:spcBef>
              <a:buSzPct val="97000"/>
              <a:buFont typeface="Calibri" panose="020F0502020204030204"/>
              <a:buAutoNum type="arabicPeriod"/>
              <a:tabLst>
                <a:tab pos="984885" algn="l"/>
              </a:tabLst>
            </a:pPr>
            <a:r>
              <a:rPr sz="1850" i="1" spc="-40" dirty="0">
                <a:latin typeface="微软雅黑" panose="020B0503020204020204" pitchFamily="34" charset="-122"/>
                <a:ea typeface="微软雅黑" panose="020B0503020204020204" pitchFamily="34" charset="-122"/>
                <a:cs typeface="华文新魏" panose="02010800040101010101" charset="-122"/>
              </a:rPr>
              <a:t>硬件限制  </a:t>
            </a:r>
            <a:r>
              <a:rPr sz="1800" i="1" spc="-5" dirty="0">
                <a:latin typeface="微软雅黑" panose="020B0503020204020204" pitchFamily="34" charset="-122"/>
                <a:ea typeface="微软雅黑" panose="020B0503020204020204" pitchFamily="34" charset="-122"/>
                <a:cs typeface="Calibri" panose="020F0502020204030204"/>
              </a:rPr>
              <a:t>etc.</a:t>
            </a:r>
            <a:endParaRPr sz="1800" dirty="0">
              <a:latin typeface="微软雅黑" panose="020B0503020204020204" pitchFamily="34" charset="-122"/>
              <a:ea typeface="微软雅黑" panose="020B0503020204020204" pitchFamily="34" charset="-122"/>
              <a:cs typeface="Calibri" panose="020F0502020204030204"/>
            </a:endParaRPr>
          </a:p>
          <a:p>
            <a:pPr marL="353695" lvl="1" indent="-341630">
              <a:lnSpc>
                <a:spcPct val="100000"/>
              </a:lnSpc>
              <a:spcBef>
                <a:spcPts val="760"/>
              </a:spcBef>
              <a:buFont typeface="Calibri" panose="020F0502020204030204"/>
              <a:buAutoNum type="arabicPeriod" startAt="4"/>
              <a:tabLst>
                <a:tab pos="354330" algn="l"/>
              </a:tabLst>
            </a:pPr>
            <a:r>
              <a:rPr sz="1800" dirty="0">
                <a:latin typeface="微软雅黑" panose="020B0503020204020204" pitchFamily="34" charset="-122"/>
                <a:ea typeface="微软雅黑" panose="020B0503020204020204" pitchFamily="34" charset="-122"/>
                <a:cs typeface="华文新魏" panose="02010800040101010101" charset="-122"/>
              </a:rPr>
              <a:t>软件质量属性</a:t>
            </a:r>
          </a:p>
          <a:p>
            <a:pPr marL="984250" lvl="2" indent="-514985">
              <a:lnSpc>
                <a:spcPct val="100000"/>
              </a:lnSpc>
              <a:spcBef>
                <a:spcPts val="540"/>
              </a:spcBef>
              <a:buFont typeface="Calibri" panose="020F0502020204030204"/>
              <a:buAutoNum type="arabicPeriod"/>
              <a:tabLst>
                <a:tab pos="984885" algn="l"/>
              </a:tabLst>
            </a:pPr>
            <a:r>
              <a:rPr sz="1800" dirty="0">
                <a:latin typeface="微软雅黑" panose="020B0503020204020204" pitchFamily="34" charset="-122"/>
                <a:ea typeface="微软雅黑" panose="020B0503020204020204" pitchFamily="34" charset="-122"/>
                <a:cs typeface="华文新魏" panose="02010800040101010101" charset="-122"/>
              </a:rPr>
              <a:t>可靠性</a:t>
            </a:r>
          </a:p>
          <a:p>
            <a:pPr marL="984250" lvl="2" indent="-514985">
              <a:lnSpc>
                <a:spcPct val="100000"/>
              </a:lnSpc>
              <a:spcBef>
                <a:spcPts val="440"/>
              </a:spcBef>
              <a:buFont typeface="Calibri" panose="020F0502020204030204"/>
              <a:buAutoNum type="arabicPeriod"/>
              <a:tabLst>
                <a:tab pos="984885" algn="l"/>
              </a:tabLst>
            </a:pPr>
            <a:r>
              <a:rPr sz="1800" dirty="0">
                <a:latin typeface="微软雅黑" panose="020B0503020204020204" pitchFamily="34" charset="-122"/>
                <a:ea typeface="微软雅黑" panose="020B0503020204020204" pitchFamily="34" charset="-122"/>
                <a:cs typeface="华文新魏" panose="02010800040101010101" charset="-122"/>
              </a:rPr>
              <a:t>可用性</a:t>
            </a:r>
          </a:p>
          <a:p>
            <a:pPr marL="984250" lvl="2" indent="-514985">
              <a:lnSpc>
                <a:spcPct val="100000"/>
              </a:lnSpc>
              <a:spcBef>
                <a:spcPts val="540"/>
              </a:spcBef>
              <a:buFont typeface="Calibri" panose="020F0502020204030204"/>
              <a:buAutoNum type="arabicPeriod"/>
              <a:tabLst>
                <a:tab pos="984885" algn="l"/>
              </a:tabLst>
            </a:pPr>
            <a:r>
              <a:rPr sz="1800" dirty="0">
                <a:latin typeface="微软雅黑" panose="020B0503020204020204" pitchFamily="34" charset="-122"/>
                <a:ea typeface="微软雅黑" panose="020B0503020204020204" pitchFamily="34" charset="-122"/>
                <a:cs typeface="华文新魏" panose="02010800040101010101" charset="-122"/>
              </a:rPr>
              <a:t>安全性</a:t>
            </a:r>
          </a:p>
          <a:p>
            <a:pPr marL="984250" lvl="2" indent="-514985">
              <a:lnSpc>
                <a:spcPct val="100000"/>
              </a:lnSpc>
              <a:spcBef>
                <a:spcPts val="540"/>
              </a:spcBef>
              <a:buFont typeface="Calibri" panose="020F0502020204030204"/>
              <a:buAutoNum type="arabicPeriod"/>
              <a:tabLst>
                <a:tab pos="984885" algn="l"/>
              </a:tabLst>
            </a:pPr>
            <a:r>
              <a:rPr sz="1800" dirty="0">
                <a:latin typeface="微软雅黑" panose="020B0503020204020204" pitchFamily="34" charset="-122"/>
                <a:ea typeface="微软雅黑" panose="020B0503020204020204" pitchFamily="34" charset="-122"/>
                <a:cs typeface="华文新魏" panose="02010800040101010101" charset="-122"/>
              </a:rPr>
              <a:t>可维护性</a:t>
            </a:r>
          </a:p>
          <a:p>
            <a:pPr marL="984250" lvl="2" indent="-514985">
              <a:lnSpc>
                <a:spcPct val="100000"/>
              </a:lnSpc>
              <a:spcBef>
                <a:spcPts val="440"/>
              </a:spcBef>
              <a:buFont typeface="Calibri" panose="020F0502020204030204"/>
              <a:buAutoNum type="arabicPeriod"/>
              <a:tabLst>
                <a:tab pos="984885" algn="l"/>
              </a:tabLst>
            </a:pPr>
            <a:r>
              <a:rPr sz="1800" dirty="0">
                <a:latin typeface="微软雅黑" panose="020B0503020204020204" pitchFamily="34" charset="-122"/>
                <a:ea typeface="微软雅黑" panose="020B0503020204020204" pitchFamily="34" charset="-122"/>
                <a:cs typeface="华文新魏" panose="02010800040101010101" charset="-122"/>
              </a:rPr>
              <a:t>可移植性</a:t>
            </a:r>
          </a:p>
          <a:p>
            <a:pPr marL="353695" lvl="1" indent="-341630">
              <a:lnSpc>
                <a:spcPct val="100000"/>
              </a:lnSpc>
              <a:spcBef>
                <a:spcPts val="1040"/>
              </a:spcBef>
              <a:buFont typeface="Calibri" panose="020F0502020204030204"/>
              <a:buAutoNum type="arabicPeriod" startAt="4"/>
              <a:tabLst>
                <a:tab pos="354330" algn="l"/>
              </a:tabLst>
            </a:pPr>
            <a:r>
              <a:rPr sz="1800" dirty="0">
                <a:latin typeface="微软雅黑" panose="020B0503020204020204" pitchFamily="34" charset="-122"/>
                <a:ea typeface="微软雅黑" panose="020B0503020204020204" pitchFamily="34" charset="-122"/>
                <a:cs typeface="华文新魏" panose="02010800040101010101" charset="-122"/>
              </a:rPr>
              <a:t>其他需求</a:t>
            </a:r>
          </a:p>
        </p:txBody>
      </p:sp>
      <p:sp>
        <p:nvSpPr>
          <p:cNvPr id="6" name="object 6"/>
          <p:cNvSpPr txBox="1"/>
          <p:nvPr/>
        </p:nvSpPr>
        <p:spPr>
          <a:xfrm>
            <a:off x="4254182" y="6271696"/>
            <a:ext cx="3683635" cy="177800"/>
          </a:xfrm>
          <a:prstGeom prst="rect">
            <a:avLst/>
          </a:prstGeom>
        </p:spPr>
        <p:txBody>
          <a:bodyPr vert="horz" wrap="square" lIns="0" tIns="12700" rIns="0" bIns="0" rtlCol="0">
            <a:spAutoFit/>
          </a:bodyPr>
          <a:lstStyle/>
          <a:p>
            <a:pPr marL="12700">
              <a:lnSpc>
                <a:spcPct val="100000"/>
              </a:lnSpc>
              <a:spcBef>
                <a:spcPts val="100"/>
              </a:spcBef>
            </a:pPr>
            <a:r>
              <a:rPr sz="1000" b="1" i="1" dirty="0">
                <a:latin typeface="Times New Roman" panose="02020603050405020304"/>
                <a:cs typeface="Times New Roman" panose="02020603050405020304"/>
              </a:rPr>
              <a:t>Source: </a:t>
            </a:r>
            <a:r>
              <a:rPr sz="1000" i="1" spc="-5" dirty="0">
                <a:latin typeface="Times New Roman" panose="02020603050405020304"/>
                <a:cs typeface="Times New Roman" panose="02020603050405020304"/>
              </a:rPr>
              <a:t>Adapted </a:t>
            </a:r>
            <a:r>
              <a:rPr sz="1000" i="1" spc="-10" dirty="0">
                <a:latin typeface="Times New Roman" panose="02020603050405020304"/>
                <a:cs typeface="Times New Roman" panose="02020603050405020304"/>
              </a:rPr>
              <a:t>from </a:t>
            </a:r>
            <a:r>
              <a:rPr sz="1000" i="1" spc="-5" dirty="0">
                <a:latin typeface="Times New Roman" panose="02020603050405020304"/>
                <a:cs typeface="Times New Roman" panose="02020603050405020304"/>
              </a:rPr>
              <a:t>IEEE-STD-830-1993. </a:t>
            </a:r>
            <a:r>
              <a:rPr sz="1000" b="1" i="1" dirty="0">
                <a:latin typeface="Times New Roman" panose="02020603050405020304"/>
                <a:cs typeface="Times New Roman" panose="02020603050405020304"/>
              </a:rPr>
              <a:t>See </a:t>
            </a:r>
            <a:r>
              <a:rPr sz="1000" b="1" i="1" spc="-5" dirty="0">
                <a:latin typeface="Times New Roman" panose="02020603050405020304"/>
                <a:cs typeface="Times New Roman" panose="02020603050405020304"/>
              </a:rPr>
              <a:t>also</a:t>
            </a:r>
            <a:r>
              <a:rPr sz="1000" i="1" spc="-5" dirty="0">
                <a:latin typeface="Times New Roman" panose="02020603050405020304"/>
                <a:cs typeface="Times New Roman" panose="02020603050405020304"/>
              </a:rPr>
              <a:t>, </a:t>
            </a:r>
            <a:r>
              <a:rPr sz="1000" i="1" dirty="0">
                <a:latin typeface="Times New Roman" panose="02020603050405020304"/>
                <a:cs typeface="Times New Roman" panose="02020603050405020304"/>
              </a:rPr>
              <a:t>Blum 1992,</a:t>
            </a:r>
            <a:r>
              <a:rPr sz="1000" i="1" spc="35" dirty="0">
                <a:latin typeface="Times New Roman" panose="02020603050405020304"/>
                <a:cs typeface="Times New Roman" panose="02020603050405020304"/>
              </a:rPr>
              <a:t> </a:t>
            </a:r>
            <a:r>
              <a:rPr sz="1000" i="1" dirty="0">
                <a:latin typeface="Times New Roman" panose="02020603050405020304"/>
                <a:cs typeface="Times New Roman" panose="02020603050405020304"/>
              </a:rPr>
              <a:t>p160</a:t>
            </a:r>
            <a:endParaRPr sz="1000" dirty="0">
              <a:latin typeface="Times New Roman" panose="02020603050405020304"/>
              <a:cs typeface="Times New Roman" panose="02020603050405020304"/>
            </a:endParaRPr>
          </a:p>
        </p:txBody>
      </p:sp>
      <p:sp>
        <p:nvSpPr>
          <p:cNvPr id="9" name="标题 8"/>
          <p:cNvSpPr>
            <a:spLocks noGrp="1"/>
          </p:cNvSpPr>
          <p:nvPr>
            <p:ph type="title"/>
          </p:nvPr>
        </p:nvSpPr>
        <p:spPr/>
        <p:txBody>
          <a:bodyPr/>
          <a:lstStyle/>
          <a:p>
            <a:r>
              <a:rPr lang="en-US" altLang="zh-CN" b="1" dirty="0">
                <a:latin typeface="Bookman Old Style" panose="02050604050505020204"/>
                <a:cs typeface="Bookman Old Style" panose="02050604050505020204"/>
              </a:rPr>
              <a:t>IEEE-830</a:t>
            </a:r>
            <a:r>
              <a:rPr lang="en-US" altLang="zh-CN" b="1" spc="-80" dirty="0">
                <a:latin typeface="Bookman Old Style" panose="02050604050505020204"/>
                <a:cs typeface="Bookman Old Style" panose="02050604050505020204"/>
              </a:rPr>
              <a:t> </a:t>
            </a:r>
            <a:r>
              <a:rPr lang="en-US" altLang="zh-CN" b="1" spc="-5" dirty="0">
                <a:latin typeface="Bookman Old Style" panose="02050604050505020204"/>
                <a:cs typeface="Bookman Old Style" panose="02050604050505020204"/>
              </a:rPr>
              <a:t>SRS</a:t>
            </a:r>
            <a:r>
              <a:rPr lang="zh-CN" altLang="en-US" spc="-5" dirty="0"/>
              <a:t>模板第三部分</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72</a:t>
            </a:fld>
            <a:endParaRPr lang="zh-CN" altLang="en-US"/>
          </a:p>
        </p:txBody>
      </p:sp>
    </p:spTree>
    <p:extLst>
      <p:ext uri="{BB962C8B-B14F-4D97-AF65-F5344CB8AC3E}">
        <p14:creationId xmlns:p14="http://schemas.microsoft.com/office/powerpoint/2010/main" val="1565637579"/>
      </p:ext>
    </p:extLst>
  </p:cSld>
  <p:clrMapOvr>
    <a:masterClrMapping/>
  </p:clrMapOvr>
  <mc:AlternateContent xmlns:mc="http://schemas.openxmlformats.org/markup-compatibility/2006" xmlns:p14="http://schemas.microsoft.com/office/powerpoint/2010/main">
    <mc:Choice Requires="p14">
      <p:transition spd="slow" p14:dur="2000" advTm="110125"/>
    </mc:Choice>
    <mc:Fallback xmlns="">
      <p:transition spd="slow" advTm="110125"/>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0" y="246380"/>
            <a:ext cx="5275580" cy="689610"/>
          </a:xfrm>
          <a:prstGeom prst="rect">
            <a:avLst/>
          </a:prstGeom>
        </p:spPr>
        <p:txBody>
          <a:bodyPr vert="horz" wrap="square" lIns="0" tIns="12700" rIns="0" bIns="0" rtlCol="0">
            <a:spAutoFit/>
          </a:bodyPr>
          <a:lstStyle/>
          <a:p>
            <a:pPr marL="12700">
              <a:lnSpc>
                <a:spcPct val="100000"/>
              </a:lnSpc>
              <a:spcBef>
                <a:spcPts val="100"/>
              </a:spcBef>
            </a:pPr>
            <a:r>
              <a:rPr b="1" i="0" dirty="0">
                <a:latin typeface="微软雅黑" panose="020B0503020204020204" pitchFamily="34" charset="-122"/>
                <a:ea typeface="微软雅黑" panose="020B0503020204020204" pitchFamily="34" charset="-122"/>
                <a:cs typeface="Bookman Old Style" panose="02050604050505020204"/>
              </a:rPr>
              <a:t>SR</a:t>
            </a:r>
            <a:r>
              <a:rPr b="1" i="0" spc="-5" dirty="0">
                <a:latin typeface="微软雅黑" panose="020B0503020204020204" pitchFamily="34" charset="-122"/>
                <a:ea typeface="微软雅黑" panose="020B0503020204020204" pitchFamily="34" charset="-122"/>
                <a:cs typeface="Bookman Old Style" panose="02050604050505020204"/>
              </a:rPr>
              <a:t>S</a:t>
            </a:r>
            <a:r>
              <a:rPr spc="-5" dirty="0">
                <a:latin typeface="微软雅黑" panose="020B0503020204020204" pitchFamily="34" charset="-122"/>
                <a:ea typeface="微软雅黑" panose="020B0503020204020204" pitchFamily="34" charset="-122"/>
              </a:rPr>
              <a:t>模板的优缺点</a:t>
            </a:r>
          </a:p>
        </p:txBody>
      </p:sp>
      <p:sp>
        <p:nvSpPr>
          <p:cNvPr id="3" name="object 3"/>
          <p:cNvSpPr txBox="1"/>
          <p:nvPr/>
        </p:nvSpPr>
        <p:spPr>
          <a:xfrm>
            <a:off x="846454" y="1486627"/>
            <a:ext cx="5130800" cy="2177327"/>
          </a:xfrm>
          <a:prstGeom prst="rect">
            <a:avLst/>
          </a:prstGeom>
        </p:spPr>
        <p:txBody>
          <a:bodyPr vert="horz" wrap="square" lIns="0" tIns="205740" rIns="0" bIns="0" rtlCol="0">
            <a:spAutoFit/>
          </a:bodyPr>
          <a:lstStyle/>
          <a:p>
            <a:pPr marL="12700">
              <a:lnSpc>
                <a:spcPct val="100000"/>
              </a:lnSpc>
              <a:spcBef>
                <a:spcPts val="1620"/>
              </a:spcBef>
            </a:pPr>
            <a:r>
              <a:rPr sz="2800" dirty="0">
                <a:latin typeface="微软雅黑" panose="020B0503020204020204" pitchFamily="34" charset="-122"/>
                <a:ea typeface="微软雅黑" panose="020B0503020204020204" pitchFamily="34" charset="-122"/>
                <a:cs typeface="华文新魏" panose="02010800040101010101" charset="-122"/>
              </a:rPr>
              <a:t>优点</a:t>
            </a:r>
          </a:p>
          <a:p>
            <a:pPr marL="241300" indent="-228600">
              <a:lnSpc>
                <a:spcPct val="100000"/>
              </a:lnSpc>
              <a:spcBef>
                <a:spcPts val="15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模板提高效率</a:t>
            </a:r>
          </a:p>
          <a:p>
            <a:pPr marL="240665" marR="5080" indent="-228600">
              <a:lnSpc>
                <a:spcPct val="118000"/>
              </a:lnSpc>
              <a:spcBef>
                <a:spcPts val="1095"/>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在有模板的情况下，面对一个完整的 大纲，不容易遗漏重要的信息</a:t>
            </a:r>
          </a:p>
        </p:txBody>
      </p:sp>
      <p:sp>
        <p:nvSpPr>
          <p:cNvPr id="4" name="object 4"/>
          <p:cNvSpPr txBox="1">
            <a:spLocks noGrp="1"/>
          </p:cNvSpPr>
          <p:nvPr>
            <p:ph sz="half" idx="3"/>
          </p:nvPr>
        </p:nvSpPr>
        <p:spPr>
          <a:xfrm>
            <a:off x="6284595" y="1487629"/>
            <a:ext cx="5303520" cy="3883307"/>
          </a:xfrm>
          <a:prstGeom prst="rect">
            <a:avLst/>
          </a:prstGeom>
        </p:spPr>
        <p:txBody>
          <a:bodyPr vert="horz" wrap="square" lIns="0" tIns="258445" rIns="0" bIns="0" rtlCol="0">
            <a:spAutoFit/>
          </a:bodyPr>
          <a:lstStyle/>
          <a:p>
            <a:pPr marL="0" indent="0">
              <a:lnSpc>
                <a:spcPct val="100000"/>
              </a:lnSpc>
              <a:spcBef>
                <a:spcPts val="2035"/>
              </a:spcBef>
              <a:buNone/>
            </a:pPr>
            <a:r>
              <a:rPr dirty="0">
                <a:latin typeface="微软雅黑" panose="020B0503020204020204" pitchFamily="34" charset="-122"/>
                <a:ea typeface="微软雅黑" panose="020B0503020204020204" pitchFamily="34" charset="-122"/>
              </a:rPr>
              <a:t>缺点</a:t>
            </a:r>
          </a:p>
          <a:p>
            <a:pPr marL="241300" marR="5080" indent="-228600" algn="just">
              <a:lnSpc>
                <a:spcPct val="121000"/>
              </a:lnSpc>
              <a:spcBef>
                <a:spcPts val="960"/>
              </a:spcBef>
              <a:buFont typeface="Arial" panose="020B0604020202020204"/>
              <a:buChar char="•"/>
              <a:tabLst>
                <a:tab pos="241300" algn="l"/>
              </a:tabLst>
            </a:pPr>
            <a:r>
              <a:rPr sz="2200" dirty="0" err="1">
                <a:latin typeface="微软雅黑" panose="020B0503020204020204" pitchFamily="34" charset="-122"/>
                <a:ea typeface="微软雅黑" panose="020B0503020204020204" pitchFamily="34" charset="-122"/>
              </a:rPr>
              <a:t>并非对于所有的系统，模板的章节设计都是类似的</a:t>
            </a:r>
            <a:endParaRPr sz="2200" dirty="0">
              <a:latin typeface="微软雅黑" panose="020B0503020204020204" pitchFamily="34" charset="-122"/>
              <a:ea typeface="微软雅黑" panose="020B0503020204020204" pitchFamily="34" charset="-122"/>
            </a:endParaRPr>
          </a:p>
          <a:p>
            <a:pPr marL="241300" marR="5080" indent="-228600" algn="just">
              <a:lnSpc>
                <a:spcPct val="121000"/>
              </a:lnSpc>
              <a:spcBef>
                <a:spcPts val="900"/>
              </a:spcBef>
              <a:buFont typeface="Arial" panose="020B0604020202020204"/>
              <a:buChar char="•"/>
              <a:tabLst>
                <a:tab pos="241300" algn="l"/>
              </a:tabLst>
            </a:pPr>
            <a:r>
              <a:rPr sz="2200" dirty="0" err="1">
                <a:latin typeface="微软雅黑" panose="020B0503020204020204" pitchFamily="34" charset="-122"/>
                <a:ea typeface="微软雅黑" panose="020B0503020204020204" pitchFamily="34" charset="-122"/>
              </a:rPr>
              <a:t>如果仅仅为了满足标准，而填写模板的所有章节，在不相关的章节，会加入一些没有意义的内容</a:t>
            </a:r>
            <a:endParaRPr sz="2200" dirty="0">
              <a:latin typeface="微软雅黑" panose="020B0503020204020204" pitchFamily="34" charset="-122"/>
              <a:ea typeface="微软雅黑" panose="020B0503020204020204" pitchFamily="34" charset="-122"/>
            </a:endParaRPr>
          </a:p>
          <a:p>
            <a:pPr marL="241300" marR="5080" indent="-228600" algn="just">
              <a:lnSpc>
                <a:spcPct val="121000"/>
              </a:lnSpc>
              <a:spcBef>
                <a:spcPts val="900"/>
              </a:spcBef>
              <a:buFont typeface="Arial" panose="020B0604020202020204"/>
              <a:buChar char="•"/>
              <a:tabLst>
                <a:tab pos="241300" algn="l"/>
              </a:tabLst>
            </a:pPr>
            <a:r>
              <a:rPr sz="2200" dirty="0" err="1">
                <a:latin typeface="微软雅黑" panose="020B0503020204020204" pitchFamily="34" charset="-122"/>
                <a:ea typeface="微软雅黑" panose="020B0503020204020204" pitchFamily="34" charset="-122"/>
              </a:rPr>
              <a:t>读者很难将这些无意义的文字和真正的需求分开</a:t>
            </a:r>
            <a:endParaRPr sz="2200" dirty="0">
              <a:latin typeface="微软雅黑" panose="020B0503020204020204" pitchFamily="34" charset="-122"/>
              <a:ea typeface="微软雅黑" panose="020B0503020204020204" pitchFamily="34" charset="-122"/>
            </a:endParaRPr>
          </a:p>
        </p:txBody>
      </p:sp>
      <p:sp>
        <p:nvSpPr>
          <p:cNvPr id="5" name="object 5"/>
          <p:cNvSpPr/>
          <p:nvPr/>
        </p:nvSpPr>
        <p:spPr>
          <a:xfrm>
            <a:off x="1904325" y="4504312"/>
            <a:ext cx="2324138" cy="1820286"/>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 name="灯片编号占位符 5"/>
          <p:cNvSpPr>
            <a:spLocks noGrp="1"/>
          </p:cNvSpPr>
          <p:nvPr>
            <p:ph type="sldNum" sz="quarter" idx="7"/>
          </p:nvPr>
        </p:nvSpPr>
        <p:spPr/>
        <p:txBody>
          <a:bodyPr/>
          <a:lstStyle/>
          <a:p>
            <a:pPr marL="25400">
              <a:lnSpc>
                <a:spcPts val="1645"/>
              </a:lnSpc>
            </a:pPr>
            <a:fld id="{81D60167-4931-47E6-BA6A-407CBD079E47}" type="slidenum">
              <a:rPr lang="en-US" altLang="zh-CN" smtClean="0"/>
              <a:t>73</a:t>
            </a:fld>
            <a:endParaRPr lang="en-US" altLang="zh-CN" dirty="0"/>
          </a:p>
        </p:txBody>
      </p:sp>
    </p:spTree>
    <p:extLst>
      <p:ext uri="{BB962C8B-B14F-4D97-AF65-F5344CB8AC3E}">
        <p14:creationId xmlns:p14="http://schemas.microsoft.com/office/powerpoint/2010/main" val="2292913541"/>
      </p:ext>
    </p:extLst>
  </p:cSld>
  <p:clrMapOvr>
    <a:masterClrMapping/>
  </p:clrMapOvr>
  <mc:AlternateContent xmlns:mc="http://schemas.openxmlformats.org/markup-compatibility/2006" xmlns:p14="http://schemas.microsoft.com/office/powerpoint/2010/main">
    <mc:Choice Requires="p14">
      <p:transition spd="slow" p14:dur="2000" advTm="50014"/>
    </mc:Choice>
    <mc:Fallback xmlns="">
      <p:transition spd="slow" advTm="50014"/>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76934" y="620577"/>
            <a:ext cx="5435600" cy="5547360"/>
          </a:xfrm>
          <a:prstGeom prst="rect">
            <a:avLst/>
          </a:prstGeom>
        </p:spPr>
        <p:txBody>
          <a:bodyPr vert="horz" wrap="square" lIns="0" tIns="12700" rIns="0" bIns="0" rtlCol="0">
            <a:spAutoFit/>
          </a:bodyPr>
          <a:lstStyle/>
          <a:p>
            <a:pPr marL="12700">
              <a:lnSpc>
                <a:spcPct val="100000"/>
              </a:lnSpc>
              <a:spcBef>
                <a:spcPts val="100"/>
              </a:spcBef>
            </a:pPr>
            <a:r>
              <a:rPr sz="2800" b="1" i="1" spc="-5" dirty="0">
                <a:latin typeface="微软雅黑" panose="020B0503020204020204" pitchFamily="34" charset="-122"/>
                <a:ea typeface="微软雅黑" panose="020B0503020204020204" pitchFamily="34" charset="-122"/>
                <a:cs typeface="华文新魏" panose="02010800040101010101" charset="-122"/>
              </a:rPr>
              <a:t>总结</a:t>
            </a:r>
            <a:endParaRPr sz="2800" dirty="0">
              <a:latin typeface="微软雅黑" panose="020B0503020204020204" pitchFamily="34" charset="-122"/>
              <a:ea typeface="微软雅黑" panose="020B0503020204020204" pitchFamily="34" charset="-122"/>
              <a:cs typeface="华文新魏" panose="02010800040101010101" charset="-122"/>
            </a:endParaRPr>
          </a:p>
          <a:p>
            <a:pPr>
              <a:lnSpc>
                <a:spcPct val="100000"/>
              </a:lnSpc>
              <a:spcBef>
                <a:spcPts val="15"/>
              </a:spcBef>
            </a:pPr>
            <a:endParaRPr sz="3150" dirty="0">
              <a:latin typeface="微软雅黑" panose="020B0503020204020204" pitchFamily="34" charset="-122"/>
              <a:ea typeface="微软雅黑" panose="020B0503020204020204" pitchFamily="34" charset="-122"/>
              <a:cs typeface="Times New Roman" panose="02020603050405020304"/>
            </a:endParaRPr>
          </a:p>
          <a:p>
            <a:pPr marL="241300" indent="-228600">
              <a:lnSpc>
                <a:spcPct val="100000"/>
              </a:lnSpc>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尽快开始写需求</a:t>
            </a:r>
          </a:p>
          <a:p>
            <a:pPr marL="241300" indent="-228600">
              <a:lnSpc>
                <a:spcPct val="100000"/>
              </a:lnSpc>
              <a:spcBef>
                <a:spcPts val="15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确定哪些属性将被用于分类和细化需求</a:t>
            </a:r>
          </a:p>
          <a:p>
            <a:pPr marL="241300" indent="-228600">
              <a:lnSpc>
                <a:spcPct val="100000"/>
              </a:lnSpc>
              <a:spcBef>
                <a:spcPts val="1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产生一个初始版本来刺激反馈</a:t>
            </a:r>
          </a:p>
          <a:p>
            <a:pPr marL="241300" indent="-228600">
              <a:lnSpc>
                <a:spcPct val="100000"/>
              </a:lnSpc>
              <a:spcBef>
                <a:spcPts val="15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询问用户往往比咨询专家更有用</a:t>
            </a:r>
          </a:p>
          <a:p>
            <a:pPr marL="241300" indent="-228600">
              <a:lnSpc>
                <a:spcPct val="100000"/>
              </a:lnSpc>
              <a:spcBef>
                <a:spcPts val="1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撰写需求时需要遵循的法则：</a:t>
            </a:r>
          </a:p>
          <a:p>
            <a:pPr marL="698500" lvl="1" indent="-228600">
              <a:lnSpc>
                <a:spcPct val="100000"/>
              </a:lnSpc>
              <a:spcBef>
                <a:spcPts val="10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新魏" panose="02010800040101010101" charset="-122"/>
              </a:rPr>
              <a:t>使用简单、直接的语言</a:t>
            </a:r>
          </a:p>
          <a:p>
            <a:pPr marL="698500" lvl="1" indent="-228600">
              <a:lnSpc>
                <a:spcPct val="100000"/>
              </a:lnSpc>
              <a:spcBef>
                <a:spcPts val="11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新魏" panose="02010800040101010101" charset="-122"/>
              </a:rPr>
              <a:t>撰写</a:t>
            </a:r>
            <a:r>
              <a:rPr sz="2400" dirty="0">
                <a:solidFill>
                  <a:srgbClr val="FF0000"/>
                </a:solidFill>
                <a:latin typeface="微软雅黑" panose="020B0503020204020204" pitchFamily="34" charset="-122"/>
                <a:ea typeface="微软雅黑" panose="020B0503020204020204" pitchFamily="34" charset="-122"/>
                <a:cs typeface="华文新魏" panose="02010800040101010101" charset="-122"/>
              </a:rPr>
              <a:t>可测试的需求</a:t>
            </a:r>
            <a:endParaRPr sz="2400" dirty="0">
              <a:latin typeface="微软雅黑" panose="020B0503020204020204" pitchFamily="34" charset="-122"/>
              <a:ea typeface="微软雅黑" panose="020B0503020204020204" pitchFamily="34" charset="-122"/>
              <a:cs typeface="华文新魏" panose="02010800040101010101" charset="-122"/>
            </a:endParaRPr>
          </a:p>
          <a:p>
            <a:pPr marL="698500" lvl="1" indent="-228600">
              <a:lnSpc>
                <a:spcPct val="100000"/>
              </a:lnSpc>
              <a:spcBef>
                <a:spcPts val="10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新魏" panose="02010800040101010101" charset="-122"/>
              </a:rPr>
              <a:t>使用定义好的并达成共识的术语</a:t>
            </a:r>
          </a:p>
          <a:p>
            <a:pPr marL="698500" lvl="1" indent="-228600">
              <a:lnSpc>
                <a:spcPct val="100000"/>
              </a:lnSpc>
              <a:spcBef>
                <a:spcPts val="11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新魏" panose="02010800040101010101" charset="-122"/>
              </a:rPr>
              <a:t>一次只写一项需求</a:t>
            </a:r>
          </a:p>
        </p:txBody>
      </p:sp>
      <p:sp>
        <p:nvSpPr>
          <p:cNvPr id="4" name="object 4"/>
          <p:cNvSpPr/>
          <p:nvPr/>
        </p:nvSpPr>
        <p:spPr>
          <a:xfrm>
            <a:off x="7072314" y="2700895"/>
            <a:ext cx="4242600" cy="2803146"/>
          </a:xfrm>
          <a:prstGeom prst="rect">
            <a:avLst/>
          </a:prstGeom>
          <a:blipFill>
            <a:blip r:embed="rId3" cstate="print"/>
            <a:stretch>
              <a:fillRect/>
            </a:stretch>
          </a:blipFill>
        </p:spPr>
        <p:txBody>
          <a:bodyPr wrap="square" lIns="0" tIns="0" rIns="0" bIns="0" rtlCol="0"/>
          <a:lstStyle/>
          <a:p>
            <a:endParaRPr/>
          </a:p>
        </p:txBody>
      </p:sp>
      <p:sp>
        <p:nvSpPr>
          <p:cNvPr id="3" name="灯片编号占位符 2"/>
          <p:cNvSpPr>
            <a:spLocks noGrp="1"/>
          </p:cNvSpPr>
          <p:nvPr>
            <p:ph type="sldNum" sz="quarter" idx="7"/>
          </p:nvPr>
        </p:nvSpPr>
        <p:spPr/>
        <p:txBody>
          <a:bodyPr/>
          <a:lstStyle/>
          <a:p>
            <a:fld id="{B6F15528-21DE-4FAA-801E-634DDDAF4B2B}" type="slidenum">
              <a:rPr lang="en-US" altLang="zh-CN" smtClean="0"/>
              <a:t>74</a:t>
            </a:fld>
            <a:endParaRPr lang="zh-CN" altLang="en-US"/>
          </a:p>
        </p:txBody>
      </p:sp>
    </p:spTree>
    <p:extLst>
      <p:ext uri="{BB962C8B-B14F-4D97-AF65-F5344CB8AC3E}">
        <p14:creationId xmlns:p14="http://schemas.microsoft.com/office/powerpoint/2010/main" val="2626102402"/>
      </p:ext>
    </p:extLst>
  </p:cSld>
  <p:clrMapOvr>
    <a:masterClrMapping/>
  </p:clrMapOvr>
  <mc:AlternateContent xmlns:mc="http://schemas.openxmlformats.org/markup-compatibility/2006" xmlns:p14="http://schemas.microsoft.com/office/powerpoint/2010/main">
    <mc:Choice Requires="p14">
      <p:transition spd="slow" p14:dur="2000" advTm="106062"/>
    </mc:Choice>
    <mc:Fallback xmlns="">
      <p:transition spd="slow" advTm="106062"/>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1780223"/>
            <a:ext cx="7366000" cy="3848100"/>
          </a:xfrm>
          <a:prstGeom prst="rect">
            <a:avLst/>
          </a:prstGeom>
        </p:spPr>
        <p:txBody>
          <a:bodyPr vert="horz" wrap="square" lIns="0" tIns="220980" rIns="0" bIns="0" rtlCol="0">
            <a:spAutoFit/>
          </a:bodyPr>
          <a:lstStyle/>
          <a:p>
            <a:pPr marL="241300" indent="-228600">
              <a:lnSpc>
                <a:spcPct val="100000"/>
              </a:lnSpc>
              <a:spcBef>
                <a:spcPts val="17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这是一种态度</a:t>
            </a:r>
          </a:p>
          <a:p>
            <a:pPr marL="241300" indent="-228600">
              <a:lnSpc>
                <a:spcPct val="100000"/>
              </a:lnSpc>
              <a:spcBef>
                <a:spcPts val="1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越多的干系人参与，将获得越多的需求特征</a:t>
            </a:r>
          </a:p>
          <a:p>
            <a:pPr marL="241300" indent="-228600">
              <a:lnSpc>
                <a:spcPct val="100000"/>
              </a:lnSpc>
              <a:spcBef>
                <a:spcPts val="1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但不能通过减少干系人的方法来解决这个问题</a:t>
            </a:r>
          </a:p>
          <a:p>
            <a:pPr marL="241300" indent="-228600">
              <a:lnSpc>
                <a:spcPct val="100000"/>
              </a:lnSpc>
              <a:spcBef>
                <a:spcPts val="1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干系人有改变他们想法的权利</a:t>
            </a:r>
          </a:p>
          <a:p>
            <a:pPr marL="241300" indent="-228600">
              <a:lnSpc>
                <a:spcPct val="100000"/>
              </a:lnSpc>
              <a:spcBef>
                <a:spcPts val="17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不要问：“这是你最终的需求吗?”</a:t>
            </a:r>
          </a:p>
          <a:p>
            <a:pPr marL="241300" indent="-228600">
              <a:lnSpc>
                <a:spcPct val="100000"/>
              </a:lnSpc>
              <a:spcBef>
                <a:spcPts val="1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请将变化看成机会，而非威胁</a:t>
            </a:r>
          </a:p>
        </p:txBody>
      </p:sp>
      <p:sp>
        <p:nvSpPr>
          <p:cNvPr id="5" name="object 5"/>
          <p:cNvSpPr/>
          <p:nvPr/>
        </p:nvSpPr>
        <p:spPr>
          <a:xfrm>
            <a:off x="7437473" y="3932238"/>
            <a:ext cx="3619498" cy="2184398"/>
          </a:xfrm>
          <a:prstGeom prst="rect">
            <a:avLst/>
          </a:prstGeom>
          <a:blipFill>
            <a:blip r:embed="rId3" cstate="print"/>
            <a:stretch>
              <a:fillRect/>
            </a:stretch>
          </a:blipFill>
        </p:spPr>
        <p:txBody>
          <a:bodyPr wrap="square" lIns="0" tIns="0" rIns="0" bIns="0" rtlCol="0"/>
          <a:lstStyle/>
          <a:p>
            <a:endParaRPr/>
          </a:p>
        </p:txBody>
      </p:sp>
      <p:sp>
        <p:nvSpPr>
          <p:cNvPr id="8" name="标题 7"/>
          <p:cNvSpPr>
            <a:spLocks noGrp="1"/>
          </p:cNvSpPr>
          <p:nvPr>
            <p:ph type="title"/>
          </p:nvPr>
        </p:nvSpPr>
        <p:spPr/>
        <p:txBody>
          <a:bodyPr/>
          <a:lstStyle/>
          <a:p>
            <a:r>
              <a:rPr lang="zh-CN" altLang="en-US" spc="-5" dirty="0"/>
              <a:t>随时准备迎接需求变化</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75</a:t>
            </a:fld>
            <a:endParaRPr lang="zh-CN" altLang="en-US"/>
          </a:p>
        </p:txBody>
      </p:sp>
    </p:spTree>
    <p:extLst>
      <p:ext uri="{BB962C8B-B14F-4D97-AF65-F5344CB8AC3E}">
        <p14:creationId xmlns:p14="http://schemas.microsoft.com/office/powerpoint/2010/main" val="3029338432"/>
      </p:ext>
    </p:extLst>
  </p:cSld>
  <p:clrMapOvr>
    <a:masterClrMapping/>
  </p:clrMapOvr>
  <mc:AlternateContent xmlns:mc="http://schemas.openxmlformats.org/markup-compatibility/2006" xmlns:p14="http://schemas.microsoft.com/office/powerpoint/2010/main">
    <mc:Choice Requires="p14">
      <p:transition spd="slow" p14:dur="2000" advTm="49248"/>
    </mc:Choice>
    <mc:Fallback xmlns="">
      <p:transition spd="slow" advTm="49248"/>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 name="PROBLEMHASREMARK" val="True"/>
  <p:tag name="PROBLEMREMARK" val="主题世界主要关注的是系统的主题内容"/>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8.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9.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10.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1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 name="PROBLEMHASREMARK" val="True"/>
  <p:tag name="PROBLEMREMARK" val="在应用世界中，我们要关注的主要是人和企业的流程"/>
</p:tagLst>
</file>

<file path=ppt/tags/tag3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6.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37.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38.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3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40.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41.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42.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4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4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60.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 name="PROBLEMHASREMARK" val="True"/>
  <p:tag name="PROBLEMREMARK" val="系统世界关注的是在操作环境下系统所有的内部操作"/>
</p:tagLst>
</file>

<file path=ppt/tags/tag6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67.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68.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69.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7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71.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72.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73.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7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7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9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9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 name="PROBLEMHASREMARK" val="True"/>
  <p:tag name="PROBLEMREMARK" val="开发世界关注的是软件开发过程，项目的团队、人员、进度、安全、性能等质量要求。"/>
</p:tagLst>
</file>

<file path=ppt/tags/tag9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9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98.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99.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100.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10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02.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103.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104.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10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0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0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0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1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1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1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1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1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1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2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2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22.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12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 name="PROBLEMHASREMARK" val="True"/>
  <p:tag name="PROBLEMREMARK" val="Need（需求）—现在市场上未被满足但又急需满足的客户需求是什么？&#10;Approach（方法）—要满足这种需求，我能够提出什么独特的方法吗？&#10;Benefits（收益）—该方法给顾客提供的便利是什么？&#10;Competition (竞争) —对于竞争对手和其他可选择的方案来说，这种单位成本收益的优势在哪里？&#10;&#10;Delivery (推广) — 产品研发完成后的交付与推广方案？"/>
</p:tagLst>
</file>

<file path=ppt/tags/tag13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42.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143.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144.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14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4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5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5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5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5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5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5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6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6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7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7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5.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8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8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88.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18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9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8150</TotalTime>
  <Words>11378</Words>
  <Application>Microsoft Macintosh PowerPoint</Application>
  <PresentationFormat>宽屏</PresentationFormat>
  <Paragraphs>1077</Paragraphs>
  <Slides>75</Slides>
  <Notes>66</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75</vt:i4>
      </vt:variant>
    </vt:vector>
  </HeadingPairs>
  <TitlesOfParts>
    <vt:vector size="87" baseType="lpstr">
      <vt:lpstr>等线</vt:lpstr>
      <vt:lpstr>华文细黑</vt:lpstr>
      <vt:lpstr>华文新魏</vt:lpstr>
      <vt:lpstr>微软雅黑</vt:lpstr>
      <vt:lpstr>Arial Unicode MS</vt:lpstr>
      <vt:lpstr>Microsoft JhengHei</vt:lpstr>
      <vt:lpstr>Arial</vt:lpstr>
      <vt:lpstr>Bookman Old Style</vt:lpstr>
      <vt:lpstr>Calibri</vt:lpstr>
      <vt:lpstr>Calibri Light</vt:lpstr>
      <vt:lpstr>Times New Roman</vt:lpstr>
      <vt:lpstr>Office 主题</vt:lpstr>
      <vt:lpstr>需求过程和需求来源 Requirements Process and Sources</vt:lpstr>
      <vt:lpstr>需求工程活动</vt:lpstr>
      <vt:lpstr>需求抽取</vt:lpstr>
      <vt:lpstr>需求抽取</vt:lpstr>
      <vt:lpstr>PowerPoint 演示文稿</vt:lpstr>
      <vt:lpstr>需求分析</vt:lpstr>
      <vt:lpstr>四世界模型</vt:lpstr>
      <vt:lpstr>需求建模方法</vt:lpstr>
      <vt:lpstr>需求验证</vt:lpstr>
      <vt:lpstr>需求验证方法</vt:lpstr>
      <vt:lpstr>需求管理</vt:lpstr>
      <vt:lpstr>需求管理的必要性</vt:lpstr>
      <vt:lpstr>需求内容来源</vt:lpstr>
      <vt:lpstr>干系人 Stakeholder</vt:lpstr>
      <vt:lpstr>干系人（stakeholders）</vt:lpstr>
      <vt:lpstr>干系人</vt:lpstr>
      <vt:lpstr>干系人</vt:lpstr>
      <vt:lpstr>业务过程</vt:lpstr>
      <vt:lpstr>组织规章与制度</vt:lpstr>
      <vt:lpstr>现有系统</vt:lpstr>
      <vt:lpstr>PowerPoint 演示文稿</vt:lpstr>
      <vt:lpstr>PowerPoint 演示文稿</vt:lpstr>
      <vt:lpstr>PowerPoint 演示文稿</vt:lpstr>
      <vt:lpstr>PowerPoint 演示文稿</vt:lpstr>
      <vt:lpstr>PowerPoint 演示文稿</vt:lpstr>
      <vt:lpstr>需求获取 Requirements Elicitation</vt:lpstr>
      <vt:lpstr>需求获取</vt:lpstr>
      <vt:lpstr>需求获取方法</vt:lpstr>
      <vt:lpstr>面谈</vt:lpstr>
      <vt:lpstr>PowerPoint 演示文稿</vt:lpstr>
      <vt:lpstr>面谈技巧</vt:lpstr>
      <vt:lpstr>基于面谈的用户需求获取过程</vt:lpstr>
      <vt:lpstr>问卷调查</vt:lpstr>
      <vt:lpstr>问卷调查</vt:lpstr>
      <vt:lpstr>群体诱导技术</vt:lpstr>
      <vt:lpstr>群体诱导技术</vt:lpstr>
      <vt:lpstr>需求研讨会</vt:lpstr>
      <vt:lpstr>头脑风暴</vt:lpstr>
      <vt:lpstr>参与观察法</vt:lpstr>
      <vt:lpstr>参与观察法</vt:lpstr>
      <vt:lpstr>亲身实践</vt:lpstr>
      <vt:lpstr>文档分析</vt:lpstr>
      <vt:lpstr>原型、仿真</vt:lpstr>
      <vt:lpstr>概念建模</vt:lpstr>
      <vt:lpstr>竞争性需求分析</vt:lpstr>
      <vt:lpstr>A/B测试</vt:lpstr>
      <vt:lpstr>用户行为数据在线采集</vt:lpstr>
      <vt:lpstr>获取技术选择</vt:lpstr>
      <vt:lpstr>PowerPoint 演示文稿</vt:lpstr>
      <vt:lpstr>PowerPoint 演示文稿</vt:lpstr>
      <vt:lpstr>PowerPoint 演示文稿</vt:lpstr>
      <vt:lpstr>PowerPoint 演示文稿</vt:lpstr>
      <vt:lpstr>注意事项</vt:lpstr>
      <vt:lpstr>用户需求获取是一门倾听的艺术</vt:lpstr>
      <vt:lpstr>什么是“足够好”的需求管理</vt:lpstr>
      <vt:lpstr>维护术语表</vt:lpstr>
      <vt:lpstr>采用合适的需求获取技术</vt:lpstr>
      <vt:lpstr>需求文档 Requirements Documentation</vt:lpstr>
      <vt:lpstr>软件需求规格说明  （Software Requirements Speciﬁcation, SRS)</vt:lpstr>
      <vt:lpstr>需求文档的组织形式</vt:lpstr>
      <vt:lpstr>软件需求规格说明  SRS的风格</vt:lpstr>
      <vt:lpstr>选择合适的需求规格说明方式</vt:lpstr>
      <vt:lpstr>生成不同风格SRS的方法总览</vt:lpstr>
      <vt:lpstr>用户手册作为SRS</vt:lpstr>
      <vt:lpstr>用户手册大纲</vt:lpstr>
      <vt:lpstr>高质量需求规格说明</vt:lpstr>
      <vt:lpstr>高质量需求规格说明的评价标准</vt:lpstr>
      <vt:lpstr>PowerPoint 演示文稿</vt:lpstr>
      <vt:lpstr>需求规格说明生成过程</vt:lpstr>
      <vt:lpstr>需求规格说明SRS模板</vt:lpstr>
      <vt:lpstr>IEEE-830 SRS模板大纲</vt:lpstr>
      <vt:lpstr>IEEE-830 SRS模板第三部分</vt:lpstr>
      <vt:lpstr>SRS模板的优缺点</vt:lpstr>
      <vt:lpstr>PowerPoint 演示文稿</vt:lpstr>
      <vt:lpstr>随时准备迎接需求变化</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不同类型的测试</dc:title>
  <dc:creator>徐 思涵</dc:creator>
  <cp:lastModifiedBy>Microsoft Office User</cp:lastModifiedBy>
  <cp:revision>94</cp:revision>
  <dcterms:created xsi:type="dcterms:W3CDTF">2021-03-21T16:28:00Z</dcterms:created>
  <dcterms:modified xsi:type="dcterms:W3CDTF">2026-03-23T01:35:54Z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11B3FCF479024F71BB953360F776D7DB</vt:lpwstr>
  </property>
  <property fmtid="{D5CDD505-2E9C-101B-9397-08002B2CF9AE}" pid="3" name="KSOProductBuildVer">
    <vt:lpwstr>2052-11.1.0.10356</vt:lpwstr>
  </property>
</Properties>
</file>