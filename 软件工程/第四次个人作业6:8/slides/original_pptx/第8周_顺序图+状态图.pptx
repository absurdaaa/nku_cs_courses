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20.xml" ContentType="application/vnd.openxmlformats-officedocument.presentationml.notesSlide+xml"/>
  <Override PartName="/ppt/tags/tag80.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0"/>
  </p:notesMasterIdLst>
  <p:handoutMasterIdLst>
    <p:handoutMasterId r:id="rId71"/>
  </p:handoutMasterIdLst>
  <p:sldIdLst>
    <p:sldId id="406" r:id="rId2"/>
    <p:sldId id="413" r:id="rId3"/>
    <p:sldId id="265" r:id="rId4"/>
    <p:sldId id="266" r:id="rId5"/>
    <p:sldId id="267" r:id="rId6"/>
    <p:sldId id="268" r:id="rId7"/>
    <p:sldId id="414" r:id="rId8"/>
    <p:sldId id="415" r:id="rId9"/>
    <p:sldId id="416" r:id="rId10"/>
    <p:sldId id="417" r:id="rId11"/>
    <p:sldId id="418" r:id="rId12"/>
    <p:sldId id="419" r:id="rId13"/>
    <p:sldId id="420" r:id="rId14"/>
    <p:sldId id="421" r:id="rId15"/>
    <p:sldId id="422" r:id="rId16"/>
    <p:sldId id="423" r:id="rId17"/>
    <p:sldId id="428" r:id="rId18"/>
    <p:sldId id="429" r:id="rId19"/>
    <p:sldId id="426" r:id="rId20"/>
    <p:sldId id="669" r:id="rId21"/>
    <p:sldId id="670" r:id="rId22"/>
    <p:sldId id="671" r:id="rId23"/>
    <p:sldId id="672" r:id="rId24"/>
    <p:sldId id="679" r:id="rId25"/>
    <p:sldId id="680" r:id="rId26"/>
    <p:sldId id="681" r:id="rId27"/>
    <p:sldId id="682" r:id="rId28"/>
    <p:sldId id="683" r:id="rId29"/>
    <p:sldId id="684" r:id="rId30"/>
    <p:sldId id="685" r:id="rId31"/>
    <p:sldId id="686" r:id="rId32"/>
    <p:sldId id="687" r:id="rId33"/>
    <p:sldId id="688" r:id="rId34"/>
    <p:sldId id="689" r:id="rId35"/>
    <p:sldId id="692" r:id="rId36"/>
    <p:sldId id="693" r:id="rId37"/>
    <p:sldId id="694" r:id="rId38"/>
    <p:sldId id="695" r:id="rId39"/>
    <p:sldId id="260" r:id="rId40"/>
    <p:sldId id="696" r:id="rId41"/>
    <p:sldId id="697" r:id="rId42"/>
    <p:sldId id="698" r:id="rId43"/>
    <p:sldId id="699" r:id="rId44"/>
    <p:sldId id="700" r:id="rId45"/>
    <p:sldId id="701" r:id="rId46"/>
    <p:sldId id="702" r:id="rId47"/>
    <p:sldId id="703" r:id="rId48"/>
    <p:sldId id="269" r:id="rId49"/>
    <p:sldId id="704" r:id="rId50"/>
    <p:sldId id="705" r:id="rId51"/>
    <p:sldId id="430" r:id="rId52"/>
    <p:sldId id="706" r:id="rId53"/>
    <p:sldId id="707" r:id="rId54"/>
    <p:sldId id="708" r:id="rId55"/>
    <p:sldId id="709" r:id="rId56"/>
    <p:sldId id="431" r:id="rId57"/>
    <p:sldId id="424" r:id="rId58"/>
    <p:sldId id="710" r:id="rId59"/>
    <p:sldId id="711" r:id="rId60"/>
    <p:sldId id="712" r:id="rId61"/>
    <p:sldId id="713" r:id="rId62"/>
    <p:sldId id="714" r:id="rId63"/>
    <p:sldId id="715" r:id="rId64"/>
    <p:sldId id="717" r:id="rId65"/>
    <p:sldId id="718" r:id="rId66"/>
    <p:sldId id="724" r:id="rId67"/>
    <p:sldId id="725" r:id="rId68"/>
    <p:sldId id="726" r:id="rId69"/>
  </p:sldIdLst>
  <p:sldSz cx="12192000" cy="6858000"/>
  <p:notesSz cx="6858000" cy="9144000"/>
  <p:custDataLst>
    <p:tags r:id="rId7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795" autoAdjust="0"/>
  </p:normalViewPr>
  <p:slideViewPr>
    <p:cSldViewPr snapToGrid="0">
      <p:cViewPr varScale="1">
        <p:scale>
          <a:sx n="87" d="100"/>
          <a:sy n="87" d="100"/>
        </p:scale>
        <p:origin x="1032" y="200"/>
      </p:cViewPr>
      <p:guideLst/>
    </p:cSldViewPr>
  </p:slideViewPr>
  <p:notesTextViewPr>
    <p:cViewPr>
      <p:scale>
        <a:sx n="1" d="1"/>
        <a:sy n="1" d="1"/>
      </p:scale>
      <p:origin x="0" y="0"/>
    </p:cViewPr>
  </p:notesTextViewPr>
  <p:notesViewPr>
    <p:cSldViewPr snapToGrid="0">
      <p:cViewPr varScale="1">
        <p:scale>
          <a:sx n="91" d="100"/>
          <a:sy n="91" d="100"/>
        </p:scale>
        <p:origin x="3564"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93876-BC66-44D0-A782-3029BC273055}" type="datetimeFigureOut">
              <a:rPr lang="zh-CN" altLang="en-US" smtClean="0"/>
              <a:t>2026/4/27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6AF24-79C7-4806-8694-F79DC346854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t>2026/4/27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交互是指对象为实现某个目标，而在彼此之间传递消息的行为，交互行为建模，目标就是为了描述对象之间如何进行协作。在</a:t>
            </a:r>
            <a:r>
              <a:rPr lang="en-US" altLang="zh-CN" dirty="0"/>
              <a:t>UML</a:t>
            </a:r>
            <a:r>
              <a:rPr lang="zh-CN" altLang="en-US" dirty="0"/>
              <a:t>中，定义了多种交互图，其中应用最广的就是顺序图。有时我们也将其称为时序图或者序列图。顺序图作为交互图的一种，是对系统执行过程中的交互活动场景进行建模的方法，是除了类图之外最常用的</a:t>
            </a:r>
            <a:r>
              <a:rPr lang="en-US" altLang="zh-CN" dirty="0"/>
              <a:t>UML</a:t>
            </a:r>
            <a:r>
              <a:rPr lang="zh-CN" altLang="en-US" dirty="0"/>
              <a:t>图形化方法之一。</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一个电话通信的交互过程顺序图。这个顺序图的参与对象一开始有两个，第一个是拨号器，第二个是蜂窝电话，首先用户用拨号器输入一个电话号码，然后由拨号器向蜂窝电话发送一个连接消息，然后蜂窝电话创建一个</a:t>
            </a:r>
            <a:r>
              <a:rPr lang="en-US" altLang="zh-CN" dirty="0"/>
              <a:t>connection</a:t>
            </a:r>
            <a:r>
              <a:rPr lang="zh-CN" altLang="en-US" dirty="0"/>
              <a:t>对象，并向这个对象发送一个</a:t>
            </a:r>
            <a:r>
              <a:rPr lang="en-US" altLang="zh-CN" dirty="0"/>
              <a:t>Connect</a:t>
            </a:r>
            <a:r>
              <a:rPr lang="zh-CN" altLang="en-US" dirty="0"/>
              <a:t>消息，提供所拨号作为参数。接下来由</a:t>
            </a:r>
            <a:r>
              <a:rPr lang="en-US" altLang="zh-CN" dirty="0"/>
              <a:t>Connection</a:t>
            </a:r>
            <a:r>
              <a:rPr lang="zh-CN" altLang="en-US" dirty="0"/>
              <a:t>对象发送给蜂窝电话一个连接建立成功的消息。当需要挂断电话时，再由拨号器向电话发送一个</a:t>
            </a:r>
            <a:r>
              <a:rPr lang="en-US" altLang="zh-CN" dirty="0"/>
              <a:t>End</a:t>
            </a:r>
            <a:r>
              <a:rPr lang="zh-CN" altLang="en-US" dirty="0"/>
              <a:t>消息，此时电话向</a:t>
            </a:r>
            <a:r>
              <a:rPr lang="en-US" altLang="zh-CN" dirty="0"/>
              <a:t>Connection</a:t>
            </a:r>
            <a:r>
              <a:rPr lang="zh-CN" altLang="en-US" dirty="0"/>
              <a:t>对象发送一个</a:t>
            </a:r>
            <a:r>
              <a:rPr lang="en-US" altLang="zh-CN" dirty="0"/>
              <a:t>disconnect</a:t>
            </a:r>
            <a:r>
              <a:rPr lang="zh-CN" altLang="en-US" dirty="0"/>
              <a:t>的消息，最后由</a:t>
            </a:r>
            <a:r>
              <a:rPr lang="en-US" altLang="zh-CN" dirty="0"/>
              <a:t>Connection</a:t>
            </a:r>
            <a:r>
              <a:rPr lang="zh-CN" altLang="en-US" dirty="0"/>
              <a:t>对象向蜂窝电话返回一个已经断开连接的消息，再撤销</a:t>
            </a:r>
            <a:r>
              <a:rPr lang="en-US" altLang="zh-CN" dirty="0"/>
              <a:t>Connection</a:t>
            </a:r>
            <a:r>
              <a:rPr lang="zh-CN" altLang="en-US" dirty="0"/>
              <a:t>对象，完成拨打电话的过程。大家可以看一下，这个顺序图的描述是否存在什么问题？主要从文法和场景的可行性方面来考虑。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提出的意见都很好，这里我们给出的一个可能的修改方案。由于一个交换机上存在多个线程，也就是说，我们不光要考虑拨打电话的这一方，还要考虑接听电话的这一方，因此，我们在创建一次会话之后，其实是需要等待接听电话的，而不能在发出一个异步消息之后直接就转移了控制对象，这样我们很难找出交互是和哪个对象完成的。因此，我们在最右边加上了另一个拨号器对象</a:t>
            </a:r>
            <a:r>
              <a:rPr lang="en-US" altLang="zh-CN" dirty="0"/>
              <a:t>r,</a:t>
            </a:r>
            <a:r>
              <a:rPr lang="zh-CN" altLang="en-US" dirty="0"/>
              <a:t>也就是这是</a:t>
            </a:r>
            <a:r>
              <a:rPr lang="en-US" altLang="zh-CN" dirty="0"/>
              <a:t>s</a:t>
            </a:r>
            <a:r>
              <a:rPr lang="zh-CN" altLang="en-US" dirty="0"/>
              <a:t>拨打给</a:t>
            </a:r>
            <a:r>
              <a:rPr lang="en-US" altLang="zh-CN" dirty="0"/>
              <a:t>r</a:t>
            </a:r>
            <a:r>
              <a:rPr lang="zh-CN" altLang="en-US" dirty="0"/>
              <a:t>的一次电话。只有当</a:t>
            </a:r>
            <a:r>
              <a:rPr lang="en-US" altLang="zh-CN" dirty="0"/>
              <a:t>r</a:t>
            </a:r>
            <a:r>
              <a:rPr lang="zh-CN" altLang="en-US" dirty="0"/>
              <a:t>在听到不超过</a:t>
            </a:r>
            <a:r>
              <a:rPr lang="en-US" altLang="zh-CN" dirty="0"/>
              <a:t>30</a:t>
            </a:r>
            <a:r>
              <a:rPr lang="zh-CN" altLang="en-US" dirty="0"/>
              <a:t>秒的响铃声后，拿起话筒接听电话，才能真正连接</a:t>
            </a:r>
            <a:r>
              <a:rPr lang="en-US" altLang="zh-CN" dirty="0"/>
              <a:t>s</a:t>
            </a:r>
            <a:r>
              <a:rPr lang="zh-CN" altLang="en-US" dirty="0"/>
              <a:t>和</a:t>
            </a:r>
            <a:r>
              <a:rPr lang="en-US" altLang="zh-CN" dirty="0"/>
              <a:t>r</a:t>
            </a:r>
            <a:r>
              <a:rPr lang="zh-CN" altLang="en-US" dirty="0"/>
              <a:t>这两个对象，此时</a:t>
            </a:r>
            <a:r>
              <a:rPr lang="en-US" altLang="zh-CN" dirty="0"/>
              <a:t>connection</a:t>
            </a:r>
            <a:r>
              <a:rPr lang="zh-CN" altLang="en-US" dirty="0"/>
              <a:t>类的会话对象才能够分别向这两个电话发送接通的消息。当然，就算是我们做出这个修改之后，也还是存在很多问题，比如这里我们只定义了拨号时间少于</a:t>
            </a:r>
            <a:r>
              <a:rPr lang="en-US" altLang="zh-CN" dirty="0"/>
              <a:t>30</a:t>
            </a:r>
            <a:r>
              <a:rPr lang="zh-CN" altLang="en-US" dirty="0"/>
              <a:t>秒就得到应答的情况，而没有给出当时间超过</a:t>
            </a:r>
            <a:r>
              <a:rPr lang="en-US" altLang="zh-CN" dirty="0"/>
              <a:t>30</a:t>
            </a:r>
            <a:r>
              <a:rPr lang="zh-CN" altLang="en-US" dirty="0"/>
              <a:t>秒的情况。除此以外，</a:t>
            </a:r>
            <a:r>
              <a:rPr lang="en-US" altLang="zh-CN" dirty="0"/>
              <a:t>Connection</a:t>
            </a:r>
            <a:r>
              <a:rPr lang="zh-CN" altLang="en-US" dirty="0"/>
              <a:t>对象中也没有明确说明计费功能如何实现等问题。因此在现实世界中，对顺序图进行建模，是要考虑当时的上下文和相应控制流程，一步步进行细化的。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顺序图其实是在对系统的控制流程进行建模。因此，通过分析顺序图的控制流构成，我们就可以推断出这个系统采用的是集中控制还死活分布控制。比如作图，最左边的对象先后发出了很多命令给其它的对象。所有对象的返回结构，也交给最左边的对象进行处理。因此我们不难发现，这种顺序图是采用集中控制的方式。而右边的图，是由左边的对象下发给后面的对象来完成，对象之间层层嵌套，因此它的控制流是分布给后续的对象来完成的。这是一种典型的分布式控制流程的布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来看这个集中控制的计价系统的顺序图。从这幅图中我们可以看出，几乎所有的控制命令都是从订单这个对象发出的，它一直处于活动期，而且她要等待与所有对象所交互的命令返回结果后，再进行下一步的交互。每一个订单项</a:t>
            </a:r>
            <a:r>
              <a:rPr lang="en-US" altLang="zh-CN" dirty="0"/>
              <a:t>Order Line</a:t>
            </a:r>
            <a:r>
              <a:rPr lang="zh-CN" altLang="en-US" dirty="0"/>
              <a:t>，每一个要订购的产品</a:t>
            </a:r>
            <a:r>
              <a:rPr lang="en-US" altLang="zh-CN" dirty="0"/>
              <a:t>Product</a:t>
            </a:r>
            <a:r>
              <a:rPr lang="zh-CN" altLang="en-US" dirty="0"/>
              <a:t>，以及每一个顾客</a:t>
            </a:r>
            <a:r>
              <a:rPr lang="en-US" altLang="zh-CN" dirty="0"/>
              <a:t>Customer</a:t>
            </a:r>
            <a:r>
              <a:rPr lang="zh-CN" altLang="en-US" dirty="0"/>
              <a:t>都是直接和这个</a:t>
            </a:r>
            <a:r>
              <a:rPr lang="en-US" altLang="zh-CN" dirty="0"/>
              <a:t>Order</a:t>
            </a:r>
            <a:r>
              <a:rPr lang="zh-CN" altLang="en-US" dirty="0"/>
              <a:t>对象相交互的。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当然，同一个功能我们可以采用完全不同的控制策略来完成。比如在这里就是用一个分布控制的顺序图来表示。首先，由订单把计算价格的命令发送给一个订单条</a:t>
            </a:r>
            <a:r>
              <a:rPr lang="en-US" altLang="zh-CN" dirty="0"/>
              <a:t>Order Line</a:t>
            </a:r>
            <a:r>
              <a:rPr lang="zh-CN" altLang="en-US" dirty="0"/>
              <a:t>，然后由</a:t>
            </a:r>
            <a:r>
              <a:rPr lang="en-US" altLang="zh-CN" dirty="0"/>
              <a:t>Order Line</a:t>
            </a:r>
            <a:r>
              <a:rPr lang="zh-CN" altLang="en-US" dirty="0"/>
              <a:t>自行与每一个产品以及相应的客户发生交互，这样每一条目的价格都是分开计算的，最后只是汇总一下。此时</a:t>
            </a:r>
            <a:r>
              <a:rPr lang="en-US" altLang="zh-CN" dirty="0" err="1"/>
              <a:t>OrderLine</a:t>
            </a:r>
            <a:r>
              <a:rPr lang="zh-CN" altLang="en-US" dirty="0"/>
              <a:t>承担了一部分的控制功能，减轻了</a:t>
            </a:r>
            <a:r>
              <a:rPr lang="en-US" altLang="zh-CN" dirty="0"/>
              <a:t>Order</a:t>
            </a:r>
            <a:r>
              <a:rPr lang="zh-CN" altLang="en-US" dirty="0"/>
              <a:t>的控制职责，这是我们所建议的分布控制的顺序图布局。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在使用</a:t>
            </a:r>
            <a:r>
              <a:rPr lang="en-US" altLang="zh-CN" dirty="0"/>
              <a:t>UML</a:t>
            </a:r>
            <a:r>
              <a:rPr lang="zh-CN" altLang="en-US" dirty="0"/>
              <a:t>的过程中，顺序图往往和用例建模绑定使用的，我们可以用顺序图来表达。。也就是说，每个用例它的交互过程都对应一个顺序图，顺序图能够很清楚地表达。。。的交互功能。顺序图表示的是位完成用例而。。。，当然，顺序图也可以用于。。。因此它的常用做法是，首先在用例建模期间，可以用顺序图来表示参与者和系统在系统边界发生的交互活动。然后随着设计活动的深入，我们此时已经有了系统内部的类结构，并且大致涉及了对象之间的交互行为后，可以再用顺序图进一步丰富展开系统内部对象之间的交互活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一个用顺序图来建模用例交互过程的实例。左边是用文本模式来描述的交互活动，右边是用顺序图来描述的交互活动，对比两种表示方法，我们可以看到，自然语言是一个详细的交互过程的说明，而右边顺序图给出的可视化的交互过程，可以非常清晰一目了然的展示出用户和系统之间的交互消息，以及他们之间发生的次序和所牵涉到的是系统本身还是用户与系统双方。因此，我们可以发现，顺序图的使用，能够使得系统建模更加的清楚、简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顺序图建模，我们可以逐步地，对之前的用例描述进行扩展、细化和查漏补缺。顺序图能够贯穿于软件开发周期的。。。这里我们需要注意的是，在分析阶段的顺序图，并不需要包括系统的设计对象，也不需要关注消息的参数和类型，我们更关注的时消息本身的目的和消息的内容，只有当我们有了进一步的类图结构之后，我们才需要丰富设计对象之间的交互，并提供交互时发送消息的参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在获取到初步的用例描述后，我们将很容易地从中提取顺序图的元素。比如，我们可以从用例描述中提取参与交互的对象，这个例子中包括参与者</a:t>
            </a:r>
            <a:r>
              <a:rPr lang="en-US" altLang="zh-CN" dirty="0" err="1"/>
              <a:t>Custmor</a:t>
            </a:r>
            <a:r>
              <a:rPr lang="zh-CN" altLang="en-US" dirty="0"/>
              <a:t>，和提供搜索界面的</a:t>
            </a:r>
            <a:r>
              <a:rPr lang="en-US" altLang="zh-CN" dirty="0"/>
              <a:t>Search Page</a:t>
            </a:r>
            <a:r>
              <a:rPr lang="zh-CN" altLang="en-US" dirty="0"/>
              <a:t>，和返回结果页面</a:t>
            </a:r>
            <a:r>
              <a:rPr lang="en-US" altLang="zh-CN" dirty="0"/>
              <a:t>Search Results Page, </a:t>
            </a:r>
            <a:r>
              <a:rPr lang="zh-CN" altLang="en-US" dirty="0"/>
              <a:t>以及在后台提供服务的目录系统和结构封装的实体类。在这个建模过程中，我们能够得到用例交互的流程，首先时系统外部的参与者</a:t>
            </a:r>
            <a:r>
              <a:rPr lang="en-US" altLang="zh-CN" dirty="0"/>
              <a:t>Customer</a:t>
            </a:r>
            <a:r>
              <a:rPr lang="zh-CN" altLang="en-US" dirty="0"/>
              <a:t>提交了一个搜索请求，然后搜索页面在对搜索请求进行简单的语法验证后，向后台的目录对象发出</a:t>
            </a:r>
            <a:r>
              <a:rPr lang="en-US" altLang="zh-CN" dirty="0" err="1"/>
              <a:t>SearchByAuthor</a:t>
            </a:r>
            <a:r>
              <a:rPr lang="zh-CN" altLang="en-US" dirty="0"/>
              <a:t>这个请求，按作者搜索后，目录对象建立一个搜索结果的类对象，并将其返回给结果显示页面，而当搜索出错时会在搜索页面显示一个出错信息。这样通过在顺序图中的横向和纵向建模，我们能够很清楚的看到每个类对象各自的职责，以及他们之间交互的次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图的建模意义在于，我们可以通过顺序图来描述算法的逻辑，在抽象层次上，能够逐步逼近软件代码本身，让从分析到设计再到开发的过程更加平稳的过渡。也就是说高质量的顺序图是。。因为此时我们无需描述每一行代码的信息，就可以表示出代码的逻辑。不难发现，顺序图是与编程语言。。。可以通过不同的编程语言来实现对应的算法逻辑。我们可以通过绘制。。来描述高于编码抽象层次的业务逻辑，也就是说对于那些不需要编码的业务逻辑，我们也可以使用顺序图来表达。顺序图的绘制可以通过团队协作完成，由于顺序图能够在同一个页面上显示多个对象和类实例的行为，它加宽了我们建模的视野，可以同时描述多个对象行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图的建模过程中，我们要把主要的注意力集中在关键的交互上，而要把无关的或者不重要的细节忽略掉。比如，如果我们绘制顺序图的主要目的是描述业务逻辑，那么我们就没必要包括对象和数据库之间频繁的详细的交互过程，可能指包括像保存、删除这样的消息就足够了，甚至我们可以持久化问题已经被妥善的处理，而不用考虑持久性相关的每一个细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在顺序图的建模过程中，我们要有限考虑使用。。。比如，我们将消息</a:t>
            </a:r>
            <a:r>
              <a:rPr lang="en-US" altLang="zh-CN" dirty="0" err="1"/>
              <a:t>addDeposit</a:t>
            </a:r>
            <a:r>
              <a:rPr lang="zh-CN" altLang="en-US" dirty="0"/>
              <a:t>的参数写作。。比。。要能够传递更丰富的信息，因为前者可以告诉我们，当我们需要存款时，我们要直到存款的数额和目标账户，而通过后者，我们只能够直到这个消息的参数类型是一个现金类和一个账户类，而并不能传递足够的关于领域业务的信息。关于参数的类型，我们最好是在</a:t>
            </a:r>
            <a:r>
              <a:rPr lang="en-US" altLang="zh-CN" dirty="0"/>
              <a:t>UML</a:t>
            </a:r>
            <a:r>
              <a:rPr lang="zh-CN" altLang="en-US" dirty="0"/>
              <a:t>的类图中定义。我们要注意，这里的建模风格实际上只是一个建议，而并不是严格的规定，也就是说，当我们需要表示这里要传递的是某种类型的对象时，指明参数类型作为占位符也是可以的。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除此以外，在顺序图建模时，我们不要对那些明显的返回值进行建模。添加返回消息。比如在这个顺序图中，创建安全登陆对象</a:t>
            </a:r>
            <a:r>
              <a:rPr lang="en-US" altLang="zh-CN" dirty="0"/>
              <a:t>Security Login,</a:t>
            </a:r>
            <a:r>
              <a:rPr lang="zh-CN" altLang="en-US" dirty="0"/>
              <a:t>这个行为会导致生成一个新的顾客对象，这个返回值是不明显的，而且我们需要返回新建顾客的</a:t>
            </a:r>
            <a:r>
              <a:rPr lang="en-US" altLang="zh-CN" dirty="0"/>
              <a:t>ID</a:t>
            </a:r>
            <a:r>
              <a:rPr lang="zh-CN" altLang="en-US" dirty="0"/>
              <a:t>，此时我们需要对它进行建模，给出一个返回消息，用来返回</a:t>
            </a:r>
            <a:r>
              <a:rPr lang="en-US" altLang="zh-CN" dirty="0"/>
              <a:t>Customer</a:t>
            </a:r>
            <a:r>
              <a:rPr lang="zh-CN" altLang="en-US" dirty="0"/>
              <a:t>的</a:t>
            </a:r>
            <a:r>
              <a:rPr lang="en-US" altLang="zh-CN" dirty="0"/>
              <a:t>ID</a:t>
            </a:r>
            <a:r>
              <a:rPr lang="zh-CN" altLang="en-US" dirty="0"/>
              <a:t>。而向订单对象发送请求，计算总数，那么它的返回值是显而易见的，需要返回一个总数，此时我们就不需要再对他进行建模了。我们需要注意的是，返回消息，它实际上是同步消息的一部分，比如这个例子里发送</a:t>
            </a:r>
            <a:r>
              <a:rPr lang="en-US" altLang="zh-CN" dirty="0" err="1"/>
              <a:t>getTotal</a:t>
            </a:r>
            <a:r>
              <a:rPr lang="en-US" altLang="zh-CN" dirty="0"/>
              <a:t>()</a:t>
            </a:r>
            <a:r>
              <a:rPr lang="zh-CN" altLang="en-US" dirty="0"/>
              <a:t>这个消息之后，其实就是调用了</a:t>
            </a:r>
            <a:r>
              <a:rPr lang="en-US" altLang="zh-CN" dirty="0"/>
              <a:t>Order</a:t>
            </a:r>
            <a:r>
              <a:rPr lang="zh-CN" altLang="en-US" dirty="0"/>
              <a:t>的</a:t>
            </a:r>
            <a:r>
              <a:rPr lang="en-US" altLang="zh-CN" dirty="0" err="1"/>
              <a:t>getTotal</a:t>
            </a:r>
            <a:r>
              <a:rPr lang="zh-CN" altLang="en-US" dirty="0"/>
              <a:t>的操作，调用后一定会有一个返回值，这就是同步消息的一部分。而对于异步消息，大家还记得前面拨打电话的例子，一个人打电话，需要等到另一个人接电话才能够确认会话连同，这就是一个异步消息，不难发现，异步消息的返回值其实是另一个消息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还需要注意一些其他问题。首先，由于顺序图表达的是动态的交互行为，因此它往往会涉及到时间约束的表示。那么这里我们就需要在消息之间使用一个约束表达式来表示这样的约束。比如在这个图中，我们想表示的是，消息</a:t>
            </a:r>
            <a:r>
              <a:rPr lang="en-US" altLang="zh-CN" dirty="0"/>
              <a:t>a</a:t>
            </a:r>
            <a:r>
              <a:rPr lang="zh-CN" altLang="en-US" dirty="0"/>
              <a:t>和消息</a:t>
            </a:r>
            <a:r>
              <a:rPr lang="en-US" altLang="zh-CN" dirty="0"/>
              <a:t>b</a:t>
            </a:r>
            <a:r>
              <a:rPr lang="zh-CN" altLang="en-US" dirty="0"/>
              <a:t>这两者之间发生的时间间隔不能超过两秒。大家可以思考一下，在这个图中，为什么我们没有在生命线上使用一个竖直方框来表示参与对象的激活期呢？因为激活期在这里并不能帮助我们表示消息</a:t>
            </a:r>
            <a:r>
              <a:rPr lang="en-US" altLang="zh-CN" dirty="0"/>
              <a:t>a</a:t>
            </a:r>
            <a:r>
              <a:rPr lang="zh-CN" altLang="en-US" dirty="0"/>
              <a:t>和消息</a:t>
            </a:r>
            <a:r>
              <a:rPr lang="en-US" altLang="zh-CN" dirty="0"/>
              <a:t>b</a:t>
            </a:r>
            <a:r>
              <a:rPr lang="zh-CN" altLang="en-US" dirty="0"/>
              <a:t>之间的约束条件，它表示的是对象它拥有控制线索的时间，但并不能用来区分两条消息之间的绝对时间约束。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控制焦点的建模是一个可选项，也就是说我们实际上可以不画出对象的控制焦点和激活器。但是，通过画出控制焦点，我们可以更明确的说明一个消息的开始和结束位置。比如在这个图中，对象</a:t>
            </a:r>
            <a:r>
              <a:rPr lang="en-US" altLang="zh-CN" dirty="0"/>
              <a:t>1</a:t>
            </a:r>
            <a:r>
              <a:rPr lang="zh-CN" altLang="en-US" dirty="0"/>
              <a:t>调用了对象</a:t>
            </a:r>
            <a:r>
              <a:rPr lang="en-US" altLang="zh-CN" dirty="0"/>
              <a:t>2</a:t>
            </a:r>
            <a:r>
              <a:rPr lang="zh-CN" altLang="en-US" dirty="0"/>
              <a:t>的操作</a:t>
            </a:r>
            <a:r>
              <a:rPr lang="en-US" altLang="zh-CN" dirty="0"/>
              <a:t>1</a:t>
            </a:r>
            <a:r>
              <a:rPr lang="zh-CN" altLang="en-US" dirty="0"/>
              <a:t>，然后对象</a:t>
            </a:r>
            <a:r>
              <a:rPr lang="en-US" altLang="zh-CN" dirty="0"/>
              <a:t>2</a:t>
            </a:r>
            <a:r>
              <a:rPr lang="zh-CN" altLang="en-US" dirty="0"/>
              <a:t>在执行操作</a:t>
            </a:r>
            <a:r>
              <a:rPr lang="en-US" altLang="zh-CN" dirty="0"/>
              <a:t>1</a:t>
            </a:r>
            <a:r>
              <a:rPr lang="zh-CN" altLang="en-US" dirty="0"/>
              <a:t>期间又反过来调用了对象</a:t>
            </a:r>
            <a:r>
              <a:rPr lang="en-US" altLang="zh-CN" dirty="0"/>
              <a:t>1</a:t>
            </a:r>
            <a:r>
              <a:rPr lang="zh-CN" altLang="en-US" dirty="0"/>
              <a:t>的操作</a:t>
            </a:r>
            <a:r>
              <a:rPr lang="en-US" altLang="zh-CN" dirty="0"/>
              <a:t>2</a:t>
            </a:r>
            <a:r>
              <a:rPr lang="zh-CN" altLang="en-US" dirty="0"/>
              <a:t>，通过增加控制焦点的嵌套机制，我们就可以更精确地说明消息的开始和结束位置，仿佛是一个消息调用的压栈机制。激活期表示的是对象在执行一个动作的期间，它和控制焦点实际上是同一个概念。总的来说，我们可以看着附图中竖直的虚线表示对象的生命线，除非像前面所说的生命线上出现一个差，此时表示该对象被撤销了，对象不再存在。否则对象在生命线期间一直存在。而在虚线上的竖直方框则表示对象的激活期，也就是执行动作的期间。最后，激活期上所出现的消息位置，也就是控制焦点，能够更精确地说明消息地开始和结束位置。比如我们从这幅图中可以看出，一开始对象</a:t>
            </a:r>
            <a:r>
              <a:rPr lang="en-US" altLang="zh-CN" dirty="0"/>
              <a:t>1</a:t>
            </a:r>
            <a:r>
              <a:rPr lang="zh-CN" altLang="en-US" dirty="0"/>
              <a:t>调用对象</a:t>
            </a:r>
            <a:r>
              <a:rPr lang="en-US" altLang="zh-CN" dirty="0"/>
              <a:t>2</a:t>
            </a:r>
            <a:r>
              <a:rPr lang="zh-CN" altLang="en-US" dirty="0"/>
              <a:t>地操作</a:t>
            </a:r>
            <a:r>
              <a:rPr lang="en-US" altLang="zh-CN" dirty="0"/>
              <a:t>1</a:t>
            </a:r>
            <a:r>
              <a:rPr lang="zh-CN" altLang="en-US" dirty="0"/>
              <a:t>，然后在对象</a:t>
            </a:r>
            <a:r>
              <a:rPr lang="en-US" altLang="zh-CN" dirty="0"/>
              <a:t>2</a:t>
            </a:r>
            <a:r>
              <a:rPr lang="zh-CN" altLang="en-US" dirty="0"/>
              <a:t>执行操作</a:t>
            </a:r>
            <a:r>
              <a:rPr lang="en-US" altLang="zh-CN" dirty="0"/>
              <a:t>1</a:t>
            </a:r>
            <a:r>
              <a:rPr lang="zh-CN" altLang="en-US" dirty="0"/>
              <a:t>期间，对象</a:t>
            </a:r>
            <a:r>
              <a:rPr lang="en-US" altLang="zh-CN" dirty="0"/>
              <a:t>2</a:t>
            </a:r>
            <a:r>
              <a:rPr lang="zh-CN" altLang="en-US" dirty="0"/>
              <a:t>又调用了对象</a:t>
            </a:r>
            <a:r>
              <a:rPr lang="en-US" altLang="zh-CN" dirty="0"/>
              <a:t>1 </a:t>
            </a:r>
            <a:r>
              <a:rPr lang="zh-CN" altLang="en-US" dirty="0"/>
              <a:t>的操作</a:t>
            </a:r>
            <a:r>
              <a:rPr lang="en-US" altLang="zh-CN" dirty="0"/>
              <a:t>2</a:t>
            </a:r>
            <a:r>
              <a:rPr lang="zh-CN" altLang="en-US" dirty="0"/>
              <a:t>，此时操作</a:t>
            </a:r>
            <a:r>
              <a:rPr lang="en-US" altLang="zh-CN" dirty="0"/>
              <a:t>2</a:t>
            </a:r>
            <a:r>
              <a:rPr lang="zh-CN" altLang="en-US" dirty="0"/>
              <a:t>所出现的控制焦点其实是在对象</a:t>
            </a:r>
            <a:r>
              <a:rPr lang="en-US" altLang="zh-CN" dirty="0"/>
              <a:t>1</a:t>
            </a:r>
            <a:r>
              <a:rPr lang="zh-CN" altLang="en-US" dirty="0"/>
              <a:t>的激活期中间的，这体现了对象</a:t>
            </a:r>
            <a:r>
              <a:rPr lang="en-US" altLang="zh-CN" dirty="0"/>
              <a:t>1</a:t>
            </a:r>
            <a:r>
              <a:rPr lang="zh-CN" altLang="en-US" dirty="0"/>
              <a:t>在调用操作</a:t>
            </a:r>
            <a:r>
              <a:rPr lang="en-US" altLang="zh-CN" dirty="0"/>
              <a:t>1</a:t>
            </a:r>
            <a:r>
              <a:rPr lang="zh-CN" altLang="en-US" dirty="0"/>
              <a:t>期间，执行了操作</a:t>
            </a:r>
            <a:r>
              <a:rPr lang="en-US" altLang="zh-CN" dirty="0"/>
              <a:t>2</a:t>
            </a:r>
            <a:r>
              <a:rPr lang="zh-CN" altLang="en-US" dirty="0"/>
              <a:t>。最后在对象</a:t>
            </a:r>
            <a:r>
              <a:rPr lang="en-US" altLang="zh-CN" dirty="0"/>
              <a:t>1</a:t>
            </a:r>
            <a:r>
              <a:rPr lang="zh-CN" altLang="en-US" dirty="0"/>
              <a:t>执行完操作</a:t>
            </a:r>
            <a:r>
              <a:rPr lang="en-US" altLang="zh-CN" dirty="0"/>
              <a:t>2</a:t>
            </a:r>
            <a:r>
              <a:rPr lang="zh-CN" altLang="en-US" dirty="0"/>
              <a:t>后又调用了对象</a:t>
            </a:r>
            <a:r>
              <a:rPr lang="en-US" altLang="zh-CN" dirty="0"/>
              <a:t>3</a:t>
            </a:r>
            <a:r>
              <a:rPr lang="zh-CN" altLang="en-US" dirty="0"/>
              <a:t>的操作</a:t>
            </a:r>
            <a:r>
              <a:rPr lang="en-US" altLang="zh-CN" dirty="0"/>
              <a:t>3.</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我们也提到了在顺序图中递归的消息调用，可以采用嵌套的控制焦点来表示，右边这张图里就有一个单个对象对自身的递归调用，首先由对象</a:t>
            </a:r>
            <a:r>
              <a:rPr lang="en-US" altLang="zh-CN" dirty="0"/>
              <a:t>C1</a:t>
            </a:r>
            <a:r>
              <a:rPr lang="zh-CN" altLang="en-US" dirty="0"/>
              <a:t>调用</a:t>
            </a:r>
            <a:r>
              <a:rPr lang="en-US" altLang="zh-CN" dirty="0"/>
              <a:t>C2</a:t>
            </a:r>
            <a:r>
              <a:rPr lang="zh-CN" altLang="en-US" dirty="0"/>
              <a:t>的</a:t>
            </a:r>
            <a:r>
              <a:rPr lang="en-US" altLang="zh-CN" dirty="0" err="1"/>
              <a:t>oper</a:t>
            </a:r>
            <a:r>
              <a:rPr lang="zh-CN" altLang="en-US" dirty="0"/>
              <a:t>的操作，然后</a:t>
            </a:r>
            <a:r>
              <a:rPr lang="en-US" altLang="zh-CN" dirty="0"/>
              <a:t>C2</a:t>
            </a:r>
            <a:r>
              <a:rPr lang="zh-CN" altLang="en-US" dirty="0"/>
              <a:t>在执行这个操作的过程中，又调用了自身的</a:t>
            </a:r>
            <a:r>
              <a:rPr lang="en-US" altLang="zh-CN" dirty="0" err="1"/>
              <a:t>oper</a:t>
            </a:r>
            <a:r>
              <a:rPr lang="zh-CN" altLang="en-US" dirty="0"/>
              <a:t>方法。这样我们就可以采用嵌套的控制焦点来表达。</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而对多个对象之间相互递归调用，也可以采用相似的方法。右边这张图中，我们可以看到</a:t>
            </a:r>
            <a:r>
              <a:rPr lang="en-US" altLang="zh-CN" dirty="0"/>
              <a:t>C1</a:t>
            </a:r>
            <a:r>
              <a:rPr lang="zh-CN" altLang="en-US" dirty="0"/>
              <a:t>调用了</a:t>
            </a:r>
            <a:r>
              <a:rPr lang="en-US" altLang="zh-CN" dirty="0"/>
              <a:t>C2</a:t>
            </a:r>
            <a:r>
              <a:rPr lang="zh-CN" altLang="en-US" dirty="0"/>
              <a:t>的</a:t>
            </a:r>
            <a:r>
              <a:rPr lang="en-US" altLang="zh-CN" dirty="0"/>
              <a:t>oper1</a:t>
            </a:r>
            <a:r>
              <a:rPr lang="zh-CN" altLang="en-US" dirty="0"/>
              <a:t>方法，</a:t>
            </a:r>
            <a:r>
              <a:rPr lang="en-US" altLang="zh-CN" dirty="0"/>
              <a:t>C2</a:t>
            </a:r>
            <a:r>
              <a:rPr lang="zh-CN" altLang="en-US" dirty="0"/>
              <a:t>又在执行</a:t>
            </a:r>
            <a:r>
              <a:rPr lang="en-US" altLang="zh-CN" dirty="0"/>
              <a:t>oper1</a:t>
            </a:r>
            <a:r>
              <a:rPr lang="zh-CN" altLang="en-US" dirty="0"/>
              <a:t>的过程中，调用了</a:t>
            </a:r>
            <a:r>
              <a:rPr lang="en-US" altLang="zh-CN" dirty="0"/>
              <a:t>C3</a:t>
            </a:r>
            <a:r>
              <a:rPr lang="zh-CN" altLang="en-US" dirty="0"/>
              <a:t>的</a:t>
            </a:r>
            <a:r>
              <a:rPr lang="en-US" altLang="zh-CN" dirty="0"/>
              <a:t>oper2</a:t>
            </a:r>
            <a:r>
              <a:rPr lang="zh-CN" altLang="en-US" dirty="0"/>
              <a:t>操作，而</a:t>
            </a:r>
            <a:r>
              <a:rPr lang="en-US" altLang="zh-CN" dirty="0"/>
              <a:t>C3</a:t>
            </a:r>
            <a:r>
              <a:rPr lang="zh-CN" altLang="en-US" dirty="0"/>
              <a:t>咋</a:t>
            </a:r>
            <a:r>
              <a:rPr lang="en-US" altLang="zh-CN" dirty="0" err="1"/>
              <a:t>i</a:t>
            </a:r>
            <a:r>
              <a:rPr lang="zh-CN" altLang="en-US" dirty="0"/>
              <a:t>执行</a:t>
            </a:r>
            <a:r>
              <a:rPr lang="en-US" altLang="zh-CN" dirty="0"/>
              <a:t>oper2</a:t>
            </a:r>
            <a:r>
              <a:rPr lang="zh-CN" altLang="en-US" dirty="0"/>
              <a:t>的过程中，又调用了</a:t>
            </a:r>
            <a:r>
              <a:rPr lang="en-US" altLang="zh-CN" dirty="0"/>
              <a:t>C2</a:t>
            </a:r>
            <a:r>
              <a:rPr lang="zh-CN" altLang="en-US" dirty="0"/>
              <a:t>的</a:t>
            </a:r>
            <a:r>
              <a:rPr lang="en-US" altLang="zh-CN" dirty="0"/>
              <a:t>oper1</a:t>
            </a:r>
            <a:r>
              <a:rPr lang="zh-CN" altLang="en-US" dirty="0"/>
              <a:t>方法，从这个过程中可以看出，对每个消息调用来说，它的拥有者都是消息的接收方，也就是说，</a:t>
            </a:r>
            <a:r>
              <a:rPr lang="en-US" altLang="zh-CN" dirty="0"/>
              <a:t>C2</a:t>
            </a:r>
            <a:r>
              <a:rPr lang="zh-CN" altLang="en-US" dirty="0"/>
              <a:t>要对外提供的这里只有</a:t>
            </a:r>
            <a:r>
              <a:rPr lang="en-US" altLang="zh-CN" dirty="0"/>
              <a:t>oper1</a:t>
            </a:r>
            <a:r>
              <a:rPr lang="zh-CN" altLang="en-US" dirty="0"/>
              <a:t>服务，而</a:t>
            </a:r>
            <a:r>
              <a:rPr lang="en-US" altLang="zh-CN" dirty="0"/>
              <a:t>C3</a:t>
            </a:r>
            <a:r>
              <a:rPr lang="zh-CN" altLang="en-US" dirty="0"/>
              <a:t>对外提供的只有</a:t>
            </a:r>
            <a:r>
              <a:rPr lang="en-US" altLang="zh-CN" dirty="0"/>
              <a:t>oper2</a:t>
            </a:r>
            <a:r>
              <a:rPr lang="zh-CN" altLang="en-US" dirty="0"/>
              <a:t>服务，</a:t>
            </a:r>
            <a:r>
              <a:rPr lang="en-US" altLang="zh-CN" dirty="0"/>
              <a:t>C2</a:t>
            </a:r>
            <a:r>
              <a:rPr lang="zh-CN" altLang="en-US" dirty="0"/>
              <a:t>在调用</a:t>
            </a:r>
            <a:r>
              <a:rPr lang="en-US" altLang="zh-CN" dirty="0"/>
              <a:t>C3</a:t>
            </a:r>
            <a:r>
              <a:rPr lang="zh-CN" altLang="en-US" dirty="0"/>
              <a:t>的过程中又被反过来引用了自身的服务。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通过顺序图建模，我们可以帮助分析人员对照。。。它能够提醒。。。帮助。。。哪些对象是被动对象，通过一个特定的。。我们能够更好的理解对象之间的交互互动。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要进行状态建模，我们首先要确定状态建模的对象。右图是一个开关，这个开关对象有两个状态，分别是开和关，我们定义为</a:t>
            </a:r>
            <a:r>
              <a:rPr lang="en-US" altLang="zh-CN" dirty="0"/>
              <a:t>on</a:t>
            </a:r>
            <a:r>
              <a:rPr lang="zh-CN" altLang="en-US" dirty="0"/>
              <a:t>和</a:t>
            </a:r>
            <a:r>
              <a:rPr lang="en-US" altLang="zh-CN" dirty="0"/>
              <a:t>off</a:t>
            </a:r>
            <a:r>
              <a:rPr lang="zh-CN" altLang="en-US" dirty="0"/>
              <a:t>，在</a:t>
            </a:r>
            <a:r>
              <a:rPr lang="en-US" altLang="zh-CN" dirty="0"/>
              <a:t>on</a:t>
            </a:r>
            <a:r>
              <a:rPr lang="zh-CN" altLang="en-US" dirty="0"/>
              <a:t>和</a:t>
            </a:r>
            <a:r>
              <a:rPr lang="en-US" altLang="zh-CN" dirty="0"/>
              <a:t>off</a:t>
            </a:r>
            <a:r>
              <a:rPr lang="zh-CN" altLang="en-US" dirty="0"/>
              <a:t>这两个状态之间切换时，要接受来自外界的事件，比如开关被按下。这就是一个最简单的有限状态机的建模。由此我们可以看出，要进行状态建模，我们首先要确定对象的状态空间，把具体的状态和抽象的状态都定义好，之后，我们再把状态机建模的主要元素确定下来，包括状态、迁移、事件和行为这几个主要元素。然后我们还要了解如何通过这些概念和建模元素构造一个能够符合要求的状态机模型出来。在构造状态机模型时，我们关注的重点是组合状态和绘制状态图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行对象的状态建模，它的前提条件是，所有的对象都是有状态的。对象存在或者不存在也是状态的一种极端情况，也就是说，对象存在是一种状态，不存在是另一种状态。在对象存在的情况下，根据它属性的不同取值，我们也可以规划处，当对象存在时更细的对象状态。每一个状态都是由一组属性值来决定的，比如对于堆栈这个对象来说，它可能处于以下状态：比如空栈状态、或者栈中有元素的时候，取决于栈的大小、栈中有几个元素等多个状态，其中栈状态的迁移是通过由进栈和出栈的操作来进行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有限状态机，比如下边这个最大容量为</a:t>
            </a:r>
            <a:r>
              <a:rPr lang="en-US" altLang="zh-CN" dirty="0"/>
              <a:t>4</a:t>
            </a:r>
            <a:r>
              <a:rPr lang="zh-CN" altLang="en-US" dirty="0"/>
              <a:t>的堆栈的状态机模型，它包含有限数量的状态，这也就意味着，对象的属性取值是一个有限的集合。对于这个最大容量为</a:t>
            </a:r>
            <a:r>
              <a:rPr lang="en-US" altLang="zh-CN" dirty="0"/>
              <a:t>4</a:t>
            </a:r>
            <a:r>
              <a:rPr lang="zh-CN" altLang="en-US" dirty="0"/>
              <a:t>的堆栈来说，可以表达很多的动作序列。比如我们可以创建堆栈对象，进栈再进栈，阅读堆栈中最上面的元素的值，出栈，再进栈。也可以是先创建堆栈对象，然后进栈出栈、进栈出栈。也就是说，虽然是基于一个有限状态机的模型，但也可以表示无限长的动作序列。但是，在这个模型中，我们却无法表达以下行为：比如，用</a:t>
            </a:r>
            <a:r>
              <a:rPr lang="en-US" altLang="zh-CN" dirty="0"/>
              <a:t>top</a:t>
            </a:r>
            <a:r>
              <a:rPr lang="zh-CN" altLang="en-US" dirty="0"/>
              <a:t>，也就是出栈作为起始操作的动作序列是不可能的，因为堆栈的数据结构中我们只能先进栈再出栈。也不可能出现出栈的操作数超过进栈操作的个数，当然，超过四个进栈操作且没有出栈的操作，是不可能的。因此，通过这样的状态机模型，我们其实可以表示我们想要允许的系统行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对于大部分。。。它的状态空间都是。。。状态空间的大小是由对象的每个。。。比如，具有</a:t>
            </a:r>
            <a:r>
              <a:rPr lang="en-US" altLang="zh-CN" dirty="0"/>
              <a:t>5</a:t>
            </a:r>
            <a:r>
              <a:rPr lang="zh-CN" altLang="en-US" dirty="0"/>
              <a:t>个布尔值。。。具有</a:t>
            </a:r>
            <a:r>
              <a:rPr lang="en-US" altLang="zh-CN" dirty="0"/>
              <a:t>5</a:t>
            </a:r>
            <a:r>
              <a:rPr lang="zh-CN" altLang="en-US" dirty="0"/>
              <a:t>个。。。就有最大整数的五次方再加</a:t>
            </a:r>
            <a:r>
              <a:rPr lang="en-US" altLang="zh-CN" dirty="0"/>
              <a:t>1</a:t>
            </a:r>
            <a:r>
              <a:rPr lang="zh-CN" altLang="en-US" dirty="0"/>
              <a:t>个状态，具有</a:t>
            </a:r>
            <a:r>
              <a:rPr lang="en-US" altLang="zh-CN" dirty="0"/>
              <a:t>5</a:t>
            </a:r>
            <a:r>
              <a:rPr lang="zh-CN" altLang="en-US" dirty="0"/>
              <a:t>个市属。。则会有无穷个状态。这里的加一就是指对象不存在，这样一个特殊的状态。如果忽略计算机存储空间的局限性，状态空间是无限的。对于一个数据库，或者</a:t>
            </a:r>
            <a:r>
              <a:rPr lang="en-US" altLang="zh-CN" dirty="0"/>
              <a:t>java</a:t>
            </a:r>
            <a:r>
              <a:rPr lang="zh-CN" altLang="en-US" dirty="0"/>
              <a:t>程序中的对象来说，它的状态表示是非常庞大的，但是也是有限的。因为如果属性的数据类型是有限数据类型，则它的状态空间，即便很庞大，但是也是有限的。而在现实生活中的对象，其状态空间总是无限的。那么对于这样的情况，我们应该怎么处理呢？事实上，虽然整个状态空间是无限的，但是通常我们真正感兴趣的相关状态和现象却是有限的，我们总是可以针对这个有限集合开展我们的研究工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对一个庞大的状态空间，我们只是选取其中更有。。价值的状态进行研究比如我们可能会忽略其中不太可能出现的状态，而对于整数或者实数型的数值属性，我们只是在一定范围内取值。我们只是关注对象在满足特定的约束下的行为。比如，按年龄分的话，对象可以分为，年龄小于</a:t>
            </a:r>
            <a:r>
              <a:rPr lang="en-US" altLang="zh-CN" dirty="0"/>
              <a:t>18</a:t>
            </a:r>
            <a:r>
              <a:rPr lang="zh-CN" altLang="en-US" dirty="0"/>
              <a:t>岁，年龄在。。。以及年龄大于</a:t>
            </a:r>
            <a:r>
              <a:rPr lang="en-US" altLang="zh-CN" dirty="0"/>
              <a:t>65</a:t>
            </a:r>
            <a:r>
              <a:rPr lang="zh-CN" altLang="en-US" dirty="0"/>
              <a:t>岁这三种情况，也就是青少年，成人和老人三种情况。对于费用这种属性，我们按照其范围，也可以分为费用小于预算、费用为</a:t>
            </a:r>
            <a:r>
              <a:rPr lang="en-US" altLang="zh-CN" dirty="0"/>
              <a:t>0</a:t>
            </a:r>
            <a:r>
              <a:rPr lang="zh-CN" altLang="en-US" dirty="0"/>
              <a:t>，费用超过预算、费用超过预算百分之十以上，这几种状态。由此，我们可以将原本是实数型的、无限个状态，变为有限个我们关注的状态。我们不难看出，模型的建立过程，实际上就是对状态空间进行分解的过程，也就是状态划分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一个堆栈对象来说，我们也可以按照刚才给出的方式来划分它的状态空间。也就是说，按照栈中所存的元素的个数来划分状态，当然，我们也可以建立更为抽象的模型，比如将堆栈的状态划分为空和非空两种状态。我们看下面这幅图，一共只有两个状态，新建栈对象时，此时的状态为空栈，在空栈的基础上进行进栈操作，状态就迁移为非空，在非空状态如果继续进栈，则仍然保持非空状态；在非空状态进行出栈操作时，如果此时栈内元素的个数大于一，则操作之后状态仍然为非空，若此时栈内元素的个数为</a:t>
            </a:r>
            <a:r>
              <a:rPr lang="en-US" altLang="zh-CN" dirty="0"/>
              <a:t>1</a:t>
            </a:r>
            <a:r>
              <a:rPr lang="zh-CN" altLang="en-US" dirty="0"/>
              <a:t>，则操作后状态迁移为空栈。我们可以看出，下面这幅图中的状态更少，状态机模型也更为抽象。同学们思考一下，这样的状态机模型有没有什么问题？（互动时间到）其实，这样的状态机模型并不能体现出栈的操作数要小于进栈的操作数这样的限制，以及最大容量的限制约束。但是它仍然能够表达很多信息。同学们觉得，这两种模型，哪一种更合理呢？实际上，状态机的合理性取决于我们，我们究竟关注的是什么样的行为。对于每个模型，它都有针对某些问题的适用性，针对某些问题不适用，因此我们应该围绕我们所感兴趣的、关注的性质来建立模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建模所依赖的，到底是现实世界还是我们想要设计的系统的现象呢？针对这两个世界，我们可以有不同的状态机的定义。比如，左边这个状态机，就是对现实世界中人在不同阶段的状态和其迁移过程的描述。人分为童年、成年和老年，我们为相应的现实世界中的对象，赋予了相应的属性和操作。每年过生日就涨一岁，当此时长到下一个阶段了，就发生状态迁移。而右边，我们则希望构建一个信息系统，因此我们想用信息系统中的对象，来表示人和其相关的对象。那么这个时候我们就可以为它添加一些不属于现实世界中对象的状态。比如说，空状态、以及死亡状态。对这两个新状态的定义，其实是归属于信息系统中人这个对象的，而不是现实世界中的人。因此，在不同系统中，我们即使对同一个对象，也可以赋予不同的属性，和不同的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关于状态建模，我们已经说了很多原理性的知识，下面我们进一步介绍状态图的文法表示。在</a:t>
            </a:r>
            <a:r>
              <a:rPr lang="en-US" altLang="zh-CN" dirty="0"/>
              <a:t>UML</a:t>
            </a:r>
            <a:r>
              <a:rPr lang="zh-CN" altLang="en-US" dirty="0"/>
              <a:t>中，状态图用来表示一个类对象的全生命周期的过程。在系统中，类最主要的动态行为，就是对它自身的状态进行检查和管理。状态图关注的就是一个类对象全生命周期的状态切换。每一个状态都是对象所处的一个上下文条件。我们来看这个状态机。它为这个类定义了五个状态，包括开始状态，也就是对象创建初始时所处的状态，以及对象撤销时所处的结束状态。一般来说，对象有且只有一个起始状态，但是也可以没有或者有多个结束状态。对象的迁移描述的是对象如何从一个状态进入另一个状态。迁移的发生，可以是由事件触发，也可以是在迁移的过程中执行了某些操作。比如我们看右下角，在课程的讲授过程中，有学生中途加入或者退课。当退课的学生人数导致课程注册人数下降为</a:t>
            </a:r>
            <a:r>
              <a:rPr lang="en-US" altLang="zh-CN" dirty="0"/>
              <a:t>0</a:t>
            </a:r>
            <a:r>
              <a:rPr lang="zh-CN" altLang="en-US" dirty="0"/>
              <a:t>时，课程就结束了。这里，学生人数的监控时通过一个条件来完成的。在状态的内部，对象也可以执行一系列的活动，活动的开始，进入改状态，活动完成时，推出改状态。此时状态图也可以演化为一个活动图。状态图关注的系统核心行为是迁移的效果，状态的出入条件和动作，以及状态持续期间的条件和动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由此，我们可以看出，状态图的建模元素包括状态、事件和状态迁移这三个，还包括特殊状态的定义，比如初始。。。历史状态，以及状态图的绘制。这就是我们接下来要介绍的内容。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了这么多，我们首先来看什么是状态，状态其实是一个对象生命周期的一个阶段，在该阶段中对象要满足。。。发生。它的具体体现是，此时对象属性有具体的取值，并且一个状态一定具有状态入口和出口的行为描述，状态从不同的抽象层次上分析对象的行为，因此状态的定义是可以嵌套组合的。针对给定的场景，对象的状态是确定的，也就是说，此时它可以满足或者不满足某个状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事件，在状态的迁移过程中有重要的作用。事件定义为，可以触发状态改变的那些外部刺激。在面向对象中，事件也可以定义为消息的发出与接收。它决定了状态迁移何时发生。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迁移是对象状态之间的一种动态关系。当一个触发事件发生，或者迁移条件满足时，就会发生从源状态到。。。的一次改变。从这个定义我们可以看出以下几点，首先，当且仅当迁移条件满足时才会触发状态迁移，每一个状态迁移都对应着。。。，同时。。。当触发。。。满足时，一个切实可行的状态迁移将会被触发。状态迁移的过程有时候还会伴随相关的对象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a:t>
            </a:r>
            <a:r>
              <a:rPr lang="en-US" altLang="zh-CN" dirty="0"/>
              <a:t>UML</a:t>
            </a:r>
            <a:r>
              <a:rPr lang="zh-CN" altLang="en-US" dirty="0"/>
              <a:t>状态图中的状态，它定义为在某个时间段内，某条陈述是正确的。一般来说，这个陈述是关于对象的属性取值的一个表达式。比如这里给出了一个例子，就是当前处于预算有结余的状态，这就是属性取值的一个表达式。</a:t>
            </a:r>
            <a:r>
              <a:rPr lang="en-US" altLang="zh-CN" dirty="0"/>
              <a:t>UML</a:t>
            </a:r>
            <a:r>
              <a:rPr lang="zh-CN" altLang="en-US" dirty="0"/>
              <a:t>状态图中的状态还可以定义为在某个时间段内，某个动作正在执行或者某个时间等待。。，比如正在检查订单商品的存货，或者是正在等待缺货的产品到货，这些都是</a:t>
            </a:r>
            <a:r>
              <a:rPr lang="en-US" altLang="zh-CN" dirty="0"/>
              <a:t>UML</a:t>
            </a:r>
            <a:r>
              <a:rPr lang="zh-CN" altLang="en-US" dirty="0"/>
              <a:t>状态图中状态的定义。一个状态的相关互动类型，可以是状态持续期内的活动，用关键字</a:t>
            </a:r>
            <a:r>
              <a:rPr lang="en-US" altLang="zh-CN" dirty="0"/>
              <a:t>do activity</a:t>
            </a:r>
            <a:r>
              <a:rPr lang="zh-CN" altLang="en-US" dirty="0"/>
              <a:t>来表示，这个活动类型表示只要对象处于这个状态，某个活动。。。直到。。入口动作或者出口动作是指进入或者离开这个状态时，需要执行的一次性的动作。而最后，包含子图这个活动类型，表示的是在当前状态下，我们会转到另一个完整的状态图，形成分层次的状态图，也就是嵌套关系。这里我们给出了状态定义的例子，可以看出，在状态的定义中，我们首先有一个状态名称的定义，以及刚才我们所提到的各种状态活动的定义，比如进入和离开这个状态的一次性活动，处于这个状态期间一直执行的活动等等。还有两个特殊的状态，分别是初始状态和结束状态。初始状态是一个实心远点，而结束状态很像一个箭靶，他是一个带有实心圆点的圆圈。</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状态图中，迁移的定义包括五部分的内容：首先是原状态，其次是触发事件、境界条件、动作和目标状态。从图中我们可以看到，中间迁移的这条线上，应该按照触发事件、警戒条件和动作的顺序排列。原状态和目标状态分别处于迁移线的左侧和右侧。对于一个给定的状态，我们同时只能产生一个迁移，因此从同一个状态出来的，事件相同的。。。互斥的。也就是说，迁移条件不能存在重叠或者遗漏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状态图中对事件的定义，其意义在于，帮助系统了解正在发生什么事情。状态图中，事件仅需。。。它从系统的角度出发，事件必须建模成一个。。的原子动作，比如完成工作，考试未通过，系统崩溃等等。在面向对象中，通过传递消息来实现事件。在</a:t>
            </a:r>
            <a:r>
              <a:rPr lang="en-US" altLang="zh-CN" dirty="0"/>
              <a:t>UML</a:t>
            </a:r>
            <a:r>
              <a:rPr lang="zh-CN" altLang="en-US" dirty="0"/>
              <a:t>中有四种类型的事件。首先是变更事件，也就是说当给定的条件成立时，会发生状态的变更；或者调用事件，向给定的对对象发出调用某个操作或者执行某个命令的事件就是调用事件；时间相关的事件是指某个时间段过去，或者某个特殊时间点来临。信号事件是指给定的对象收到了某些实时的信号处理要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变更事件可以通过布尔表达式中变量的改变来表示条件的改变，也就是说，通过改变变量的值，来使得条件成立，从而触发事件。这种事件的表达往往就是一个条件表达式，比如这个例子，当温度大于</a:t>
            </a:r>
            <a:r>
              <a:rPr lang="en-US" altLang="zh-CN" dirty="0"/>
              <a:t>120</a:t>
            </a:r>
            <a:r>
              <a:rPr lang="zh-CN" altLang="en-US" dirty="0"/>
              <a:t>度是，触发报警。变更事件和警戒条件的区别在于，警戒条件只是在相关事件出现后计算一次，而变更事件是要持续监控的。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调用事件，是指当前对象状态迁移时，会发出一个动作，调用其它对象的方法，它要包括事件的名字，和该调用方法的参数列表。比如我们看这个例子，是说从手工状态转成自动状态的时候，我们要发出调用自动导航功能这样一个事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时间事件是通过时间表达式来表示的事件。他可以表示一个绝对时间点的到来，也就是时刻，或者是经过一个时间段后，对象进入了一个新的状态等等。常用的关键字是</a:t>
            </a:r>
            <a:r>
              <a:rPr lang="en-US" altLang="zh-CN" dirty="0"/>
              <a:t>when</a:t>
            </a:r>
            <a:r>
              <a:rPr lang="zh-CN" altLang="en-US" dirty="0"/>
              <a:t>和</a:t>
            </a:r>
            <a:r>
              <a:rPr lang="en-US" altLang="zh-CN" dirty="0"/>
              <a:t>after</a:t>
            </a:r>
            <a:r>
              <a:rPr lang="zh-CN" altLang="en-US" dirty="0"/>
              <a:t>。在这个状态图中，我们可以看到，它是说从活动状态进入空闲状态，是要经过</a:t>
            </a:r>
            <a:r>
              <a:rPr lang="en-US" altLang="zh-CN" dirty="0"/>
              <a:t>2</a:t>
            </a:r>
            <a:r>
              <a:rPr lang="zh-CN" altLang="en-US" dirty="0"/>
              <a:t>秒的，然后在这个迁移发生时，还要破坏掉电话的连接，调用</a:t>
            </a:r>
            <a:r>
              <a:rPr lang="en-US" altLang="zh-CN" dirty="0" err="1"/>
              <a:t>dropConnection</a:t>
            </a:r>
            <a:r>
              <a:rPr lang="zh-CN" altLang="en-US" dirty="0"/>
              <a:t>这个方法。而第二个活动状态</a:t>
            </a:r>
            <a:r>
              <a:rPr lang="en-US" altLang="zh-CN" dirty="0"/>
              <a:t>Active2</a:t>
            </a:r>
            <a:r>
              <a:rPr lang="zh-CN" altLang="en-US" dirty="0"/>
              <a:t>则是要在</a:t>
            </a:r>
            <a:r>
              <a:rPr lang="en-US" altLang="zh-CN" dirty="0"/>
              <a:t>2000</a:t>
            </a:r>
            <a:r>
              <a:rPr lang="zh-CN" altLang="en-US" dirty="0"/>
              <a:t>年的</a:t>
            </a:r>
            <a:r>
              <a:rPr lang="en-US" altLang="zh-CN" dirty="0"/>
              <a:t>1</a:t>
            </a:r>
            <a:r>
              <a:rPr lang="zh-CN" altLang="en-US" dirty="0"/>
              <a:t>月</a:t>
            </a:r>
            <a:r>
              <a:rPr lang="en-US" altLang="zh-CN" dirty="0"/>
              <a:t>1</a:t>
            </a:r>
            <a:r>
              <a:rPr lang="zh-CN" altLang="en-US" dirty="0"/>
              <a:t>日到来时进入空闲状态。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信号事件是由一个对象异步发送，并由另一个对象接受的命名对象。它可能引起对象的状态迁移，表达了对象之间的异步通信关系和行为。信号事件和调用事件的区别在于，信号是一个异步的事件，而调用。。。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状态图中，动作定义为在对象状态内部或者状态间。。。两个特殊的动作分别是：入口和出口动作，用关键字</a:t>
            </a:r>
            <a:r>
              <a:rPr lang="en-US" altLang="zh-CN" dirty="0"/>
              <a:t>entry</a:t>
            </a:r>
            <a:r>
              <a:rPr lang="zh-CN" altLang="en-US" dirty="0"/>
              <a:t>和</a:t>
            </a:r>
            <a:r>
              <a:rPr lang="en-US" altLang="zh-CN" dirty="0"/>
              <a:t>exit</a:t>
            </a:r>
            <a:r>
              <a:rPr lang="zh-CN" altLang="en-US" dirty="0"/>
              <a:t>来标记。在动作定义表达式中，我们可以引用当前对象的属性，或者在输入事件中所获得的参数，从状态抽象的角度来讲，动作是具有原子性的和即时性的，它的执行时间可以忽略不计，我们需要注意的是，动作是由当前的对象向外发出的消息，因此它一定是由外部的对象提供的某种服务，而当前对象所接收到的事件是来自外部对象的调用或者是服务请求，因此它一定是当前对象对外提供的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的是一个订单处理对象的生命周期的状态机图，在这个图中，订单处理对象已经创建就进入了检查订单项的状态，在从初始状态到检查状态的迁移过程中，将发出一个动作，就是获取第一个订单项，开始订单检查，在订单检查的过程中，任何一个订单项如果没有存货的话，就进入下面这个等待状态，一旦货品准备齐全，将进入发货状态，在发货状态下，它将创建一个初始的请求，希望初始化过程。一旦货品发出，则进入</a:t>
            </a:r>
            <a:r>
              <a:rPr lang="en-US" altLang="zh-CN" dirty="0" err="1"/>
              <a:t>Delievered</a:t>
            </a:r>
            <a:r>
              <a:rPr lang="zh-CN" altLang="en-US" dirty="0"/>
              <a:t>状态，当货品送到之后，该订单处理对象进入结束状态，也就是对象完成执行。从这个图中我们可以看到，斜杠后面的，就是当前状态迁移时，由当前对象发出的动作，也就是要调用其它对象的操作，而不带斜杠的字符串，表达的是接收到的事件，比如取下一个订单项、送货等，这些都是当前对象可以响应的操作，而方括号引用的则是条件表达式，属于警戒条件，也就是说通过检查这些条件的满足与否，我们可以知道此时是应该在当前状态下循环执行，还是进入下一个状态，完成状态的迁移。对于这样简单的一个业务逻辑，我们能够通过状态图非常清楚的表达出订单处理得流程。其实，任何一个状态相关的生命周期，用状态图表示都可以帮我们理清楚系统的业务流程。因此，我们经常会为系统的主要信息对象建立状态机模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前面我们介绍了基本的状态图建模的概念，下面我们将介绍状态图建模中，涉及到层次状态机的一些概念，以及一些实例。在</a:t>
            </a:r>
            <a:r>
              <a:rPr lang="en-US" altLang="zh-CN" dirty="0"/>
              <a:t>UML</a:t>
            </a:r>
            <a:r>
              <a:rPr lang="zh-CN" altLang="en-US" dirty="0"/>
              <a:t>状态图中，我们可以通过状态嵌套的方式来降低图表的复杂性，简化图表。一个组合状态可以包含。。组合状态可以实现在不同的抽象层次上体现状态的细节。比如定义一个或状态是指处在组合。。。我们只能选择其中一个子状态，在左下角这个例子中，雇佣状态分为试用期和正式期，而一个员工要么处在试用期，要么已经转正，只能二选其一，因此我们使用了一个或状态。右边这个是一个与状态，它也可以表达一个并发状态。与状态的意思是当进入这个组合状态时，我们将在每个组合状态中都选择一个子状态，比如右下角这个例子，在雇佣状态下，我们既可以同时拿到薪水，也会被分配到某个项目组中，也就是拿工资和做项目这两件事儿是同时发生，并发完成的，因此它是一个与状态，也是一个并发状态。通常与状态的子状态还可以进一步再嵌套一个或状态，也就是并发的几个子状态或的组合状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49</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组合状态的另一个名字叫做超级状态，</a:t>
            </a:r>
            <a:r>
              <a:rPr lang="en-US" altLang="zh-CN" dirty="0"/>
              <a:t>super state</a:t>
            </a:r>
            <a:r>
              <a:rPr lang="zh-CN" altLang="en-US" dirty="0"/>
              <a:t>，组合状态的好处就是通过把有些状态封装到一个超级状态中，能够帮助我们降低状态图的复杂度，能够把一些反复、重复发生的迁移，放到组合状态中描述。从这个图中我们可以看到，上面是原来的状态图，下面是一个带有组合状态的状态机图。通过组合状态，我们吧</a:t>
            </a:r>
            <a:r>
              <a:rPr lang="en-US" altLang="zh-CN" dirty="0" err="1"/>
              <a:t>busy,dail</a:t>
            </a:r>
            <a:r>
              <a:rPr lang="en-US" altLang="zh-CN" dirty="0"/>
              <a:t> tone, ringing,</a:t>
            </a:r>
            <a:r>
              <a:rPr lang="zh-CN" altLang="en-US" dirty="0"/>
              <a:t>和</a:t>
            </a:r>
            <a:r>
              <a:rPr lang="en-US" altLang="zh-CN" dirty="0"/>
              <a:t>connected</a:t>
            </a:r>
            <a:r>
              <a:rPr lang="zh-CN" altLang="en-US" dirty="0"/>
              <a:t>四个状态封装到一个组合状态</a:t>
            </a:r>
            <a:r>
              <a:rPr lang="en-US" altLang="zh-CN" dirty="0"/>
              <a:t>off-hook</a:t>
            </a:r>
            <a:r>
              <a:rPr lang="zh-CN" altLang="en-US" dirty="0"/>
              <a:t>中，也就是说，在下面这幅图中，它将电话占线、拨号、响铃和连接这四种状态统一封装为一个摘机状态，而这个时候，由刚才的四个状态向空闲状态发出的所有迁移，就被放到方框的外面，通过一条迁移就可以了，我们可以看出，带有组合状态的状态机图，和不带组合状态的状态机图，在语义上是相等的，组合状态只是一种文法上的转换，为了简化状态机图，让他更明了，它的表达能力实际上和原来的状态机图是一样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50</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给出了另一个组合状态的例子，我们将人的成年阶段定义为组合状态，并在其中用虚线分割了两个与组合状态的子状态，在这个与状态中，我们分别从一个人的工作年龄和婚姻状况来定义一个人的状态，在每一个单独的子状态中，都是一个或状态的定义，也就是输，人要么处于工作年龄要么已经退休。婚姻子状态更为复杂一些，我们可以处在单身或者是已婚状态，在单身状态下，可以是未婚、丧偶、离婚状态，在已婚状态下，可以是正常已婚的或者是分居的。通过一些和婚姻相关的事件，人们可以在这些状态中发生迁移，但是很明显在这个状态图中，我们没有标志出状态迁移的条件、事件和动作，因此这不是一个完整的状态图的定义。如果想要定义一个完整的状态图，需要添加迁移的条件、动作和事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51</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合状态的。。，根据迁移的起点和终点的不同，含义也不同。指向组合状态的边界的。。也就是说，属于该组合状态的入口条件将要被检查。而从组合状态边界转出的迁移的，鞥驾驭。。。，也就是说要检查该组合状态的出口条件，并执行出口动作。从前面的例子中我们可以看出，迁移也可以透过组合状态的边界，直接指向。。这样就和普通的状态迁移是一样的了，只是执行迁移线上的条件和动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前面见过的，订单处理对象的状态迁移的过程。现在希望大家在图中增加一个新的状态和相关状态迁移，表示在任何一个订单上的产品投递之前，都可以随时取消订单。如果我们不采用组合状态的方法，要完成这个任务，我们就需要为每个状态增加一个迁移，来指向刚刚定义的新状态，取消订单，因为我们的要求是随时可以取消订单。而这会大大增加状态机模型的复杂度、降低模型的可读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而引入一个新的超级状态，也就是组合状态</a:t>
            </a:r>
            <a:r>
              <a:rPr lang="en-US" altLang="zh-CN" dirty="0"/>
              <a:t>active</a:t>
            </a:r>
            <a:r>
              <a:rPr lang="zh-CN" altLang="en-US" dirty="0"/>
              <a:t>，表示活动订单，并在这个组合状态的边界，引出一条指向取消状态的迁移，就会大大降低修改所带来的影响，使得模型的可读性和清晰性得以保持。因此我们可以看出，引入组合状态，和超级迁移的好处。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UML</a:t>
            </a:r>
            <a:r>
              <a:rPr lang="zh-CN" altLang="en-US" dirty="0"/>
              <a:t>状态图中，还有另外一个概念，就是历史状态。历史状态实际上是一个为状态，当激活这个状态时，我们可以保存上一次从组合状态中退出时所处的子状态，用</a:t>
            </a:r>
            <a:r>
              <a:rPr lang="en-US" altLang="zh-CN" dirty="0"/>
              <a:t>H</a:t>
            </a:r>
            <a:r>
              <a:rPr lang="zh-CN" altLang="en-US" dirty="0"/>
              <a:t>来表示，当再次进入该组合状态时，我们可以直接进入到这个状态，而不是再次从组合状态的初始状态开始执行。</a:t>
            </a:r>
            <a:r>
              <a:rPr lang="en-US" altLang="zh-CN" dirty="0"/>
              <a:t>H</a:t>
            </a:r>
            <a:r>
              <a:rPr lang="zh-CN" altLang="en-US" dirty="0"/>
              <a:t>状态也可以进行进一步的延伸，定义成</a:t>
            </a:r>
            <a:r>
              <a:rPr lang="en-US" altLang="zh-CN" dirty="0"/>
              <a:t>H*</a:t>
            </a:r>
            <a:r>
              <a:rPr lang="zh-CN" altLang="en-US" dirty="0"/>
              <a:t>状态，</a:t>
            </a:r>
            <a:r>
              <a:rPr lang="en-US" altLang="zh-CN" dirty="0"/>
              <a:t>H</a:t>
            </a:r>
            <a:r>
              <a:rPr lang="zh-CN" altLang="en-US" dirty="0"/>
              <a:t>状态只记录一层组合状态的历史，也就是离现在最近的上一次的历史，表示回退一次。而</a:t>
            </a:r>
            <a:r>
              <a:rPr lang="en-US" altLang="zh-CN" dirty="0"/>
              <a:t>H*</a:t>
            </a:r>
            <a:r>
              <a:rPr lang="zh-CN" altLang="en-US" dirty="0"/>
              <a:t>状态可以记住任何深度的组合状态的历史，可以看成是一个历史状态的堆栈。右侧给出了一个历史状态的例子。比如我们将历史状态定义到组合状态</a:t>
            </a:r>
            <a:r>
              <a:rPr lang="en-US" altLang="zh-CN" dirty="0" err="1"/>
              <a:t>BackUp</a:t>
            </a:r>
            <a:r>
              <a:rPr lang="zh-CN" altLang="en-US" dirty="0"/>
              <a:t>中，上一次的备份如果进行了一半就退出了，那么下一次备份可以从上一次备份中断的地方开始。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带有历史状态定义的课程注册过程的状态机图。我们可以看到，一位同学在课程注册过程中，临时退出了，那么在他下一次注册该课程时，我们将从上一次选课终止的地方继续执行，也就是说，整个选课过程首先要先选四门必选课，再选两门选修课，在这个过程中，我们会保存以往的历史记录，在终端的地方重新执行。这种机制，在允许挂起的状态机中是非常有用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由于状态图是一个完全形式化的模型，我们可以用工具来支持根据状态图来生成代码的工作。比如这里是一个对字符串进行扫描，提取字符串中尖括号内部字符串的逻辑。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我们可以用</a:t>
            </a:r>
            <a:r>
              <a:rPr lang="en-US" altLang="zh-CN" dirty="0"/>
              <a:t>rational rose</a:t>
            </a:r>
            <a:r>
              <a:rPr lang="zh-CN" altLang="en-US" dirty="0"/>
              <a:t>自动生成代码，就会得到这样的类的定义。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目前，在系统建模方法中，我们已经学过类图、状态图和顺序图，那么这三者是什么关系呢。首先，状态图应该针对类图中。。。。的类的对象进行建模。而在</a:t>
            </a:r>
            <a:r>
              <a:rPr lang="en-US" altLang="zh-CN" dirty="0"/>
              <a:t>UML</a:t>
            </a:r>
            <a:r>
              <a:rPr lang="zh-CN" altLang="en-US" dirty="0"/>
              <a:t>状态图中出现的所有事件，都应该和顺序图中该对象的输入消息是一致的，都是表示该对象的操作，我们记得在顺序图中的消息其实是属于消息接收者的，是消息接收对象的一个操作。状态图中的每个事件、动作也都应该对应于。。。中的一个具体操作；状态图中每个输出消息都对应于。。。状态图中的操作定义应该等价于。。。比如我们看右边这个图，是之前的订单处理对象，红色的圈是订单处理对象的操作定义。这些操作和左下角状态图中的操作是一致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介绍在构建状态图时的一些注意点。首先是关于状态图的建模风格。在状态图的建模过程中，我们应该把初。。。右下角，便于读者阅读。事件的定义，如果用英文，则应该用过去式来命名，这样做是为了反映，状态迁移是某个事件的结果，也就是说，事件应该出现在迁移发生之前，因为事件发生了、警戒条件满足了，才迁移到新的状态了，因此引入这个事件要用过去式，比如</a:t>
            </a:r>
            <a:r>
              <a:rPr lang="en-US" altLang="zh-CN" dirty="0"/>
              <a:t>canceled</a:t>
            </a:r>
            <a:r>
              <a:rPr lang="zh-CN" altLang="en-US" dirty="0"/>
              <a:t>，</a:t>
            </a:r>
            <a:r>
              <a:rPr lang="en-US" altLang="zh-CN" dirty="0" err="1"/>
              <a:t>registered,closed</a:t>
            </a:r>
            <a:r>
              <a:rPr lang="en-US" altLang="zh-CN" dirty="0"/>
              <a:t>,</a:t>
            </a:r>
            <a:r>
              <a:rPr lang="zh-CN" altLang="en-US" dirty="0"/>
              <a:t>等。另外，警戒条件之间，不能存在重叠，从一个状态出来的相似的转移，它的警戒条件彼此之间应该是互斥的，而且应该尽量做到全覆盖。如果我们将</a:t>
            </a:r>
            <a:r>
              <a:rPr lang="en-US" altLang="zh-CN" dirty="0"/>
              <a:t>x&lt;0</a:t>
            </a:r>
            <a:r>
              <a:rPr lang="zh-CN" altLang="en-US" dirty="0"/>
              <a:t>，</a:t>
            </a:r>
            <a:r>
              <a:rPr lang="en-US" altLang="zh-CN" dirty="0"/>
              <a:t>x=0</a:t>
            </a:r>
            <a:r>
              <a:rPr lang="zh-CN" altLang="en-US" dirty="0"/>
              <a:t>，</a:t>
            </a:r>
            <a:r>
              <a:rPr lang="en-US" altLang="zh-CN" dirty="0"/>
              <a:t>x&gt;0</a:t>
            </a:r>
            <a:r>
              <a:rPr lang="zh-CN" altLang="en-US" dirty="0"/>
              <a:t>这样的警戒条件放上去，这些警戒条件就是互斥且全覆盖的。当我们定义了其中一个迁移时</a:t>
            </a:r>
            <a:r>
              <a:rPr lang="en-US" altLang="zh-CN" dirty="0"/>
              <a:t>x&lt;=0</a:t>
            </a:r>
            <a:r>
              <a:rPr lang="zh-CN" altLang="en-US" dirty="0"/>
              <a:t>，而另一个警戒条件</a:t>
            </a:r>
            <a:r>
              <a:rPr lang="en-US" altLang="zh-CN" dirty="0"/>
              <a:t>x&gt;=0</a:t>
            </a:r>
            <a:r>
              <a:rPr lang="zh-CN" altLang="en-US" dirty="0"/>
              <a:t>，这样的警戒条件就不是互斥的，当满足</a:t>
            </a:r>
            <a:r>
              <a:rPr lang="en-US" altLang="zh-CN" dirty="0"/>
              <a:t>x=0</a:t>
            </a:r>
            <a:r>
              <a:rPr lang="zh-CN" altLang="en-US" dirty="0"/>
              <a:t>时，我们就不知道迁移到哪个状态上，这样的状态机就是不确定的状态机。最后，我们不要把警戒条件放在初始转移上，当警戒条件不满足时，我们就无法开始对象的行为，这是不合理的。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图建模完成之后，我们还要检查状态图中所有的事件，是否属于类图中该对象类的方法。状态图中所有的动作，是否属于类图中其他类的方法。除此以外，我们还要检查状态图中每个状态的命名是否是惟一的、意义明确的，我们是否对行为复杂的状态。。。状态图中是否包括了太多的细节，是否容易阅读，最后，我们在定义警戒条件的时候，是不是含义明确，会不会引入不确定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EE1437CF-48CF-47D8-9F3E-7D33A0862511}" type="datetime1">
              <a:rPr lang="en-US" altLang="zh-CN" smtClean="0"/>
              <a:t>4/27/26</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B204CD7-B98F-4DCA-8090-DC3F70878950}" type="datetime1">
              <a:rPr lang="en-US" altLang="zh-CN" smtClean="0"/>
              <a:t>4/27/26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CD3CE53-8A6B-4FF5-9204-248AD11D653A}" type="datetime1">
              <a:rPr lang="en-US" altLang="zh-CN" smtClean="0"/>
              <a:t>4/27/26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2863A2D-6F54-47AD-94A2-F50DB1E035B6}" type="datetime1">
              <a:rPr lang="en-US" altLang="zh-CN" smtClean="0"/>
              <a:t>4/27/26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76ABC7-1CEA-4A45-B885-97C9EDD9D42B}" type="datetime1">
              <a:rPr lang="en-US" altLang="zh-CN" smtClean="0"/>
              <a:t>4/27/26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CB6521C-C767-4B16-B7CF-37770FC497D2}" type="datetime1">
              <a:rPr lang="en-US" altLang="zh-CN" smtClean="0"/>
              <a:t>4/27/26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EB60BB-FD8D-4BF8-93E0-BAE9C99FA1AC}" type="datetime1">
              <a:rPr lang="en-US" altLang="zh-CN" smtClean="0"/>
              <a:t>4/27/26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9860331-A268-4BB6-B401-B737C3CE1B48}" type="datetime1">
              <a:rPr lang="en-US" altLang="zh-CN" smtClean="0"/>
              <a:t>4/27/26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DC1A728-08F2-4565-81E2-02348987336C}" type="datetime1">
              <a:rPr lang="en-US" altLang="zh-CN" smtClean="0"/>
              <a:t>4/27/26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0FE71A-6105-4B27-BED7-24DBCE20606C}" type="datetime1">
              <a:rPr lang="en-US" altLang="zh-CN" smtClean="0"/>
              <a:t>4/27/26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86F6C3-964F-49F1-A8A5-C549EB50E073}" type="datetime1">
              <a:rPr lang="en-US" altLang="zh-CN" smtClean="0"/>
              <a:t>4/27/26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0D68DB1-EC54-42B5-9C3B-999703901CB6}" type="datetime1">
              <a:rPr lang="en-US" altLang="zh-CN" smtClean="0"/>
              <a:t>4/27/26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华文新魏" panose="02010800040101010101" charset="-122"/>
                <a:cs typeface="华文新魏" panose="02010800040101010101"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44C7A3F-F3A9-42D6-91F6-5EABC8C97274}" type="datetime1">
              <a:rPr lang="en-US" altLang="zh-CN" smtClean="0"/>
              <a:t>4/27/26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华文新魏" panose="02010800040101010101" charset="-122"/>
                <a:cs typeface="华文新魏" panose="02010800040101010101" charset="-122"/>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54DDAF2-2542-46A4-A86F-D3340EF2A9F5}" type="datetime1">
              <a:rPr lang="en-US" altLang="zh-CN" smtClean="0"/>
              <a:t>4/27/26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华文新魏" panose="02010800040101010101" charset="-122"/>
                <a:cs typeface="华文新魏" panose="02010800040101010101" charset="-122"/>
              </a:defRPr>
            </a:lvl1pPr>
          </a:lstStyle>
          <a:p>
            <a:pPr marL="89535">
              <a:lnSpc>
                <a:spcPct val="100000"/>
              </a:lnSpc>
              <a:spcBef>
                <a:spcPts val="100"/>
              </a:spcBef>
            </a:pPr>
            <a:fld id="{81D60167-4931-47E6-BA6A-407CBD079E47}" type="slidenum">
              <a:rPr dirty="0">
                <a:latin typeface="Tahoma" panose="020B0604030504040204"/>
                <a:cs typeface="Tahoma" panose="020B0604030504040204"/>
              </a:rPr>
              <a:t>‹#›</a:t>
            </a:fld>
            <a:endParaRPr dirty="0">
              <a:latin typeface="Tahoma" panose="020B0604030504040204"/>
              <a:cs typeface="Tahoma" panose="020B060403050404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0767CBF5-85C4-4E6B-A6B8-2C7041B1F416}" type="datetime1">
              <a:rPr lang="en-US" altLang="zh-CN" smtClean="0"/>
              <a:t>4/27/26</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16.pn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tags" Target="../tags/tag27.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tags" Target="../tags/tag2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5" Type="http://schemas.openxmlformats.org/officeDocument/2006/relationships/image" Target="../media/image16.png"/><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image" Target="../media/image16.png"/><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image" Target="../media/image16.png"/><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image" Target="../media/image16.png"/><Relationship Id="rId10" Type="http://schemas.openxmlformats.org/officeDocument/2006/relationships/tags" Target="../tags/tag63.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image" Target="../media/image16.png"/><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5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6.png"/><Relationship Id="rId7"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37.png"/></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jpe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image" Target="../media/image16.png"/><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tags" Target="../tags/tag105.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5" Type="http://schemas.openxmlformats.org/officeDocument/2006/relationships/tags" Target="../tags/tag98.xml"/><Relationship Id="rId15" Type="http://schemas.openxmlformats.org/officeDocument/2006/relationships/image" Target="../media/image16.png"/><Relationship Id="rId10" Type="http://schemas.openxmlformats.org/officeDocument/2006/relationships/tags" Target="../tags/tag103.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tags" Target="../tags/tag119.xml"/><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tags" Target="../tags/tag118.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tags" Target="../tags/tag117.xml"/><Relationship Id="rId5" Type="http://schemas.openxmlformats.org/officeDocument/2006/relationships/tags" Target="../tags/tag111.xml"/><Relationship Id="rId15" Type="http://schemas.openxmlformats.org/officeDocument/2006/relationships/image" Target="../media/image16.png"/><Relationship Id="rId10" Type="http://schemas.openxmlformats.org/officeDocument/2006/relationships/tags" Target="../tags/tag116.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tags" Target="../tags/tag131.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5" Type="http://schemas.openxmlformats.org/officeDocument/2006/relationships/tags" Target="../tags/tag124.xml"/><Relationship Id="rId15" Type="http://schemas.openxmlformats.org/officeDocument/2006/relationships/image" Target="../media/image16.png"/><Relationship Id="rId10" Type="http://schemas.openxmlformats.org/officeDocument/2006/relationships/tags" Target="../tags/tag129.xml"/><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image" Target="../media/image16.png"/><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slideLayout" Target="../slideLayouts/slideLayout7.xml"/><Relationship Id="rId5" Type="http://schemas.openxmlformats.org/officeDocument/2006/relationships/tags" Target="../tags/tag137.xml"/><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image" Target="../media/image16.png"/><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image" Target="../media/image61.png"/><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slideLayout" Target="../slideLayouts/slideLayout7.xml"/><Relationship Id="rId5" Type="http://schemas.openxmlformats.org/officeDocument/2006/relationships/tags" Target="../tags/tag147.xml"/><Relationship Id="rId10" Type="http://schemas.openxmlformats.org/officeDocument/2006/relationships/tags" Target="../tags/tag152.xml"/><Relationship Id="rId4" Type="http://schemas.openxmlformats.org/officeDocument/2006/relationships/tags" Target="../tags/tag146.xml"/><Relationship Id="rId9" Type="http://schemas.openxmlformats.org/officeDocument/2006/relationships/tags" Target="../tags/tag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52563"/>
            <a:ext cx="9144000" cy="2387600"/>
          </a:xfrm>
        </p:spPr>
        <p:txBody>
          <a:bodyPr>
            <a:normAutofit/>
          </a:bodyPr>
          <a:lstStyle/>
          <a:p>
            <a:r>
              <a:rPr lang="zh-CN" altLang="en-US" spc="-5" dirty="0"/>
              <a:t>顺序图</a:t>
            </a:r>
            <a:br>
              <a:rPr lang="en-US" altLang="zh-CN" dirty="0"/>
            </a:br>
            <a:r>
              <a:rPr lang="en-US" altLang="zh-CN" dirty="0"/>
              <a:t>Sequence Diagram</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43041"/>
    </mc:Choice>
    <mc:Fallback xmlns="">
      <p:transition spd="slow" advTm="4304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6491922"/>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panose="020F0502020204030204"/>
                <a:cs typeface="Calibri" panose="020F0502020204030204"/>
              </a:rPr>
              <a:t>9</a:t>
            </a:r>
            <a:endParaRPr sz="1200">
              <a:latin typeface="Calibri" panose="020F0502020204030204"/>
              <a:cs typeface="Calibri" panose="020F0502020204030204"/>
            </a:endParaRPr>
          </a:p>
        </p:txBody>
      </p:sp>
      <p:sp>
        <p:nvSpPr>
          <p:cNvPr id="4" name="object 4"/>
          <p:cNvSpPr txBox="1"/>
          <p:nvPr/>
        </p:nvSpPr>
        <p:spPr>
          <a:xfrm>
            <a:off x="838199" y="1576008"/>
            <a:ext cx="4341631" cy="970137"/>
          </a:xfrm>
          <a:prstGeom prst="rect">
            <a:avLst/>
          </a:prstGeom>
        </p:spPr>
        <p:txBody>
          <a:bodyPr vert="horz" wrap="square" lIns="0" tIns="140335" rIns="0" bIns="0" rtlCol="0">
            <a:spAutoFit/>
          </a:bodyPr>
          <a:lstStyle/>
          <a:p>
            <a:pPr marL="241300" indent="-228600">
              <a:lnSpc>
                <a:spcPct val="100000"/>
              </a:lnSpc>
              <a:spcBef>
                <a:spcPts val="1105"/>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这个顺序图有什么问题</a:t>
            </a:r>
            <a:r>
              <a:rPr sz="2800" dirty="0">
                <a:latin typeface="微软雅黑" panose="020B0503020204020204" pitchFamily="34" charset="-122"/>
                <a:ea typeface="微软雅黑" panose="020B0503020204020204" pitchFamily="34" charset="-122"/>
                <a:cs typeface="Calibri" panose="020F0502020204030204"/>
              </a:rPr>
              <a:t>?</a:t>
            </a:r>
          </a:p>
          <a:p>
            <a:pPr marL="12700">
              <a:lnSpc>
                <a:spcPct val="100000"/>
              </a:lnSpc>
              <a:spcBef>
                <a:spcPts val="720"/>
              </a:spcBef>
            </a:pPr>
            <a:r>
              <a:rPr sz="2000" dirty="0">
                <a:latin typeface="微软雅黑" panose="020B0503020204020204" pitchFamily="34" charset="-122"/>
                <a:ea typeface="微软雅黑" panose="020B0503020204020204" pitchFamily="34" charset="-122"/>
                <a:cs typeface="Calibri" panose="020F0502020204030204"/>
              </a:rPr>
              <a:t>(</a:t>
            </a:r>
            <a:r>
              <a:rPr sz="2000" dirty="0">
                <a:latin typeface="微软雅黑" panose="020B0503020204020204" pitchFamily="34" charset="-122"/>
                <a:ea typeface="微软雅黑" panose="020B0503020204020204" pitchFamily="34" charset="-122"/>
                <a:cs typeface="华文新魏" panose="02010800040101010101" charset="-122"/>
              </a:rPr>
              <a:t>留意</a:t>
            </a:r>
            <a:r>
              <a:rPr sz="2000" dirty="0">
                <a:latin typeface="微软雅黑" panose="020B0503020204020204" pitchFamily="34" charset="-122"/>
                <a:ea typeface="微软雅黑" panose="020B0503020204020204" pitchFamily="34" charset="-122"/>
                <a:cs typeface="Calibri" panose="020F0502020204030204"/>
              </a:rPr>
              <a:t>UML</a:t>
            </a:r>
            <a:r>
              <a:rPr sz="2000" dirty="0">
                <a:latin typeface="微软雅黑" panose="020B0503020204020204" pitchFamily="34" charset="-122"/>
                <a:ea typeface="微软雅黑" panose="020B0503020204020204" pitchFamily="34" charset="-122"/>
                <a:cs typeface="华文新魏" panose="02010800040101010101" charset="-122"/>
              </a:rPr>
              <a:t>的语法以及场景的可行性</a:t>
            </a:r>
            <a:r>
              <a:rPr sz="2000" dirty="0">
                <a:latin typeface="微软雅黑" panose="020B0503020204020204" pitchFamily="34" charset="-122"/>
                <a:ea typeface="微软雅黑" panose="020B0503020204020204" pitchFamily="34" charset="-122"/>
                <a:cs typeface="Calibri" panose="020F0502020204030204"/>
              </a:rPr>
              <a:t>)</a:t>
            </a:r>
          </a:p>
        </p:txBody>
      </p:sp>
      <p:sp>
        <p:nvSpPr>
          <p:cNvPr id="5" name="object 5"/>
          <p:cNvSpPr/>
          <p:nvPr/>
        </p:nvSpPr>
        <p:spPr>
          <a:xfrm>
            <a:off x="5308942" y="1576008"/>
            <a:ext cx="5915745" cy="4584963"/>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思考题：有缺陷的顺序图</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8353"/>
    </mc:Choice>
    <mc:Fallback xmlns="">
      <p:transition spd="slow" advTm="8835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60"/>
          <p:cNvGrpSpPr/>
          <p:nvPr/>
        </p:nvGrpSpPr>
        <p:grpSpPr>
          <a:xfrm>
            <a:off x="944447" y="1421036"/>
            <a:ext cx="10303106" cy="5175621"/>
            <a:chOff x="775792" y="1052736"/>
            <a:chExt cx="10303106" cy="5175621"/>
          </a:xfrm>
        </p:grpSpPr>
        <p:sp>
          <p:nvSpPr>
            <p:cNvPr id="2" name="object 2"/>
            <p:cNvSpPr/>
            <p:nvPr/>
          </p:nvSpPr>
          <p:spPr>
            <a:xfrm>
              <a:off x="7924798" y="5229199"/>
              <a:ext cx="0" cy="915035"/>
            </a:xfrm>
            <a:custGeom>
              <a:avLst/>
              <a:gdLst/>
              <a:ahLst/>
              <a:cxnLst/>
              <a:rect l="l" t="t" r="r" b="b"/>
              <a:pathLst>
                <a:path h="915035">
                  <a:moveTo>
                    <a:pt x="0" y="0"/>
                  </a:moveTo>
                  <a:lnTo>
                    <a:pt x="0" y="914424"/>
                  </a:lnTo>
                </a:path>
              </a:pathLst>
            </a:custGeom>
            <a:ln w="9525">
              <a:solidFill>
                <a:srgbClr val="000000"/>
              </a:solidFill>
            </a:ln>
          </p:spPr>
          <p:txBody>
            <a:bodyPr wrap="square" lIns="0" tIns="0" rIns="0" bIns="0" rtlCol="0"/>
            <a:lstStyle/>
            <a:p>
              <a:endParaRPr/>
            </a:p>
          </p:txBody>
        </p:sp>
        <p:sp>
          <p:nvSpPr>
            <p:cNvPr id="3" name="object 3"/>
            <p:cNvSpPr/>
            <p:nvPr/>
          </p:nvSpPr>
          <p:spPr>
            <a:xfrm>
              <a:off x="10031783" y="1357536"/>
              <a:ext cx="0" cy="2397125"/>
            </a:xfrm>
            <a:custGeom>
              <a:avLst/>
              <a:gdLst/>
              <a:ahLst/>
              <a:cxnLst/>
              <a:rect l="l" t="t" r="r" b="b"/>
              <a:pathLst>
                <a:path h="2397125">
                  <a:moveTo>
                    <a:pt x="0" y="0"/>
                  </a:moveTo>
                  <a:lnTo>
                    <a:pt x="0" y="2397124"/>
                  </a:lnTo>
                </a:path>
              </a:pathLst>
            </a:custGeom>
            <a:ln w="9525">
              <a:solidFill>
                <a:srgbClr val="000000"/>
              </a:solidFill>
            </a:ln>
          </p:spPr>
          <p:txBody>
            <a:bodyPr wrap="square" lIns="0" tIns="0" rIns="0" bIns="0" rtlCol="0"/>
            <a:lstStyle/>
            <a:p>
              <a:endParaRPr/>
            </a:p>
          </p:txBody>
        </p:sp>
        <p:sp>
          <p:nvSpPr>
            <p:cNvPr id="4" name="object 4"/>
            <p:cNvSpPr/>
            <p:nvPr/>
          </p:nvSpPr>
          <p:spPr>
            <a:xfrm>
              <a:off x="10031783" y="5167536"/>
              <a:ext cx="0" cy="76200"/>
            </a:xfrm>
            <a:custGeom>
              <a:avLst/>
              <a:gdLst/>
              <a:ahLst/>
              <a:cxnLst/>
              <a:rect l="l" t="t" r="r" b="b"/>
              <a:pathLst>
                <a:path h="76200">
                  <a:moveTo>
                    <a:pt x="0" y="0"/>
                  </a:moveTo>
                  <a:lnTo>
                    <a:pt x="0" y="76198"/>
                  </a:lnTo>
                </a:path>
              </a:pathLst>
            </a:custGeom>
            <a:ln w="9525">
              <a:solidFill>
                <a:srgbClr val="000000"/>
              </a:solidFill>
            </a:ln>
          </p:spPr>
          <p:txBody>
            <a:bodyPr wrap="square" lIns="0" tIns="0" rIns="0" bIns="0" rtlCol="0"/>
            <a:lstStyle/>
            <a:p>
              <a:endParaRPr/>
            </a:p>
          </p:txBody>
        </p:sp>
        <p:sp>
          <p:nvSpPr>
            <p:cNvPr id="5" name="object 5"/>
            <p:cNvSpPr/>
            <p:nvPr/>
          </p:nvSpPr>
          <p:spPr>
            <a:xfrm>
              <a:off x="2614983" y="1052736"/>
              <a:ext cx="1930400" cy="339090"/>
            </a:xfrm>
            <a:custGeom>
              <a:avLst/>
              <a:gdLst/>
              <a:ahLst/>
              <a:cxnLst/>
              <a:rect l="l" t="t" r="r" b="b"/>
              <a:pathLst>
                <a:path w="1930400" h="339090">
                  <a:moveTo>
                    <a:pt x="0" y="0"/>
                  </a:moveTo>
                  <a:lnTo>
                    <a:pt x="1930399" y="0"/>
                  </a:lnTo>
                  <a:lnTo>
                    <a:pt x="1930399" y="338553"/>
                  </a:lnTo>
                  <a:lnTo>
                    <a:pt x="0" y="338553"/>
                  </a:lnTo>
                  <a:lnTo>
                    <a:pt x="0"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2614983" y="1052736"/>
              <a:ext cx="1930400" cy="292388"/>
            </a:xfrm>
            <a:prstGeom prst="rect">
              <a:avLst/>
            </a:prstGeom>
            <a:ln w="9524">
              <a:solidFill>
                <a:srgbClr val="000000"/>
              </a:solidFill>
            </a:ln>
          </p:spPr>
          <p:txBody>
            <a:bodyPr vert="horz" wrap="square" lIns="0" tIns="45720" rIns="0" bIns="0" rtlCol="0">
              <a:spAutoFit/>
            </a:bodyPr>
            <a:lstStyle/>
            <a:p>
              <a:pPr marL="90805">
                <a:lnSpc>
                  <a:spcPct val="100000"/>
                </a:lnSpc>
                <a:spcBef>
                  <a:spcPts val="360"/>
                </a:spcBef>
              </a:pPr>
              <a:r>
                <a:rPr sz="1600" dirty="0">
                  <a:latin typeface="Arial" panose="020B0604020202020204"/>
                  <a:cs typeface="Arial" panose="020B0604020202020204"/>
                </a:rPr>
                <a:t>s</a:t>
              </a:r>
              <a:r>
                <a:rPr sz="1600" spc="-10" dirty="0">
                  <a:latin typeface="Arial" panose="020B0604020202020204"/>
                  <a:cs typeface="Arial" panose="020B0604020202020204"/>
                </a:rPr>
                <a:t> </a:t>
              </a:r>
              <a:r>
                <a:rPr sz="1600" dirty="0">
                  <a:latin typeface="Arial" panose="020B0604020202020204"/>
                  <a:cs typeface="Arial" panose="020B0604020202020204"/>
                </a:rPr>
                <a:t>:</a:t>
              </a:r>
              <a:r>
                <a:rPr lang="en-US" altLang="zh-CN" sz="1600" dirty="0" err="1">
                  <a:latin typeface="华文新魏" panose="02010800040101010101" charset="-122"/>
                  <a:cs typeface="华文新魏" panose="02010800040101010101" charset="-122"/>
                </a:rPr>
                <a:t>Dialler</a:t>
              </a:r>
              <a:endParaRPr sz="1600" dirty="0">
                <a:latin typeface="华文新魏" panose="02010800040101010101" charset="-122"/>
                <a:cs typeface="华文新魏" panose="02010800040101010101" charset="-122"/>
              </a:endParaRPr>
            </a:p>
          </p:txBody>
        </p:sp>
        <p:sp>
          <p:nvSpPr>
            <p:cNvPr id="7" name="object 7"/>
            <p:cNvSpPr/>
            <p:nvPr/>
          </p:nvSpPr>
          <p:spPr>
            <a:xfrm>
              <a:off x="7491782" y="3262536"/>
              <a:ext cx="1297931" cy="302242"/>
            </a:xfrm>
            <a:custGeom>
              <a:avLst/>
              <a:gdLst/>
              <a:ahLst/>
              <a:cxnLst/>
              <a:rect l="l" t="t" r="r" b="b"/>
              <a:pathLst>
                <a:path w="1016000" h="339089">
                  <a:moveTo>
                    <a:pt x="0" y="0"/>
                  </a:moveTo>
                  <a:lnTo>
                    <a:pt x="1016000" y="0"/>
                  </a:lnTo>
                  <a:lnTo>
                    <a:pt x="1016000" y="338553"/>
                  </a:lnTo>
                  <a:lnTo>
                    <a:pt x="0" y="338553"/>
                  </a:lnTo>
                  <a:lnTo>
                    <a:pt x="0" y="0"/>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7570523" y="3295556"/>
              <a:ext cx="1343657" cy="259045"/>
            </a:xfrm>
            <a:prstGeom prst="rect">
              <a:avLst/>
            </a:prstGeom>
          </p:spPr>
          <p:txBody>
            <a:bodyPr vert="horz" wrap="square" lIns="0" tIns="12700" rIns="0" bIns="0" rtlCol="0">
              <a:spAutoFit/>
            </a:bodyPr>
            <a:lstStyle/>
            <a:p>
              <a:pPr marL="12700">
                <a:lnSpc>
                  <a:spcPct val="100000"/>
                </a:lnSpc>
                <a:spcBef>
                  <a:spcPts val="100"/>
                </a:spcBef>
              </a:pPr>
              <a:r>
                <a:rPr sz="1600" u="sng" dirty="0">
                  <a:uFill>
                    <a:solidFill>
                      <a:srgbClr val="000000"/>
                    </a:solidFill>
                  </a:uFill>
                  <a:latin typeface="Arial" panose="020B0604020202020204"/>
                  <a:cs typeface="Arial" panose="020B0604020202020204"/>
                </a:rPr>
                <a:t>c:</a:t>
              </a:r>
              <a:r>
                <a:rPr lang="en-US" sz="1600" u="sng" dirty="0">
                  <a:uFill>
                    <a:solidFill>
                      <a:srgbClr val="000000"/>
                    </a:solidFill>
                  </a:uFill>
                  <a:latin typeface="华文新魏" panose="02010800040101010101" charset="-122"/>
                  <a:cs typeface="华文新魏" panose="02010800040101010101" charset="-122"/>
                </a:rPr>
                <a:t>Connection</a:t>
              </a:r>
              <a:endParaRPr sz="1600" dirty="0">
                <a:latin typeface="华文新魏" panose="02010800040101010101" charset="-122"/>
                <a:cs typeface="华文新魏" panose="02010800040101010101" charset="-122"/>
              </a:endParaRPr>
            </a:p>
          </p:txBody>
        </p:sp>
        <p:sp>
          <p:nvSpPr>
            <p:cNvPr id="9" name="object 9"/>
            <p:cNvSpPr/>
            <p:nvPr/>
          </p:nvSpPr>
          <p:spPr>
            <a:xfrm>
              <a:off x="5662983" y="1052736"/>
              <a:ext cx="1320800" cy="339090"/>
            </a:xfrm>
            <a:custGeom>
              <a:avLst/>
              <a:gdLst/>
              <a:ahLst/>
              <a:cxnLst/>
              <a:rect l="l" t="t" r="r" b="b"/>
              <a:pathLst>
                <a:path w="1320800" h="339090">
                  <a:moveTo>
                    <a:pt x="0" y="0"/>
                  </a:moveTo>
                  <a:lnTo>
                    <a:pt x="1320799" y="0"/>
                  </a:lnTo>
                  <a:lnTo>
                    <a:pt x="1320799" y="338553"/>
                  </a:lnTo>
                  <a:lnTo>
                    <a:pt x="0" y="338553"/>
                  </a:lnTo>
                  <a:lnTo>
                    <a:pt x="0" y="0"/>
                  </a:lnTo>
                  <a:close/>
                </a:path>
              </a:pathLst>
            </a:custGeom>
            <a:ln w="9524">
              <a:solidFill>
                <a:srgbClr val="000000"/>
              </a:solidFill>
            </a:ln>
          </p:spPr>
          <p:txBody>
            <a:bodyPr wrap="square" lIns="0" tIns="0" rIns="0" bIns="0" rtlCol="0"/>
            <a:lstStyle/>
            <a:p>
              <a:endParaRPr/>
            </a:p>
          </p:txBody>
        </p:sp>
        <p:sp>
          <p:nvSpPr>
            <p:cNvPr id="10" name="object 10"/>
            <p:cNvSpPr txBox="1"/>
            <p:nvPr/>
          </p:nvSpPr>
          <p:spPr>
            <a:xfrm>
              <a:off x="5741723" y="1085756"/>
              <a:ext cx="1343659"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a:t>
              </a:r>
              <a:r>
                <a:rPr lang="en-US" sz="1600" dirty="0" err="1">
                  <a:latin typeface="华文新魏" panose="02010800040101010101" charset="-122"/>
                  <a:cs typeface="Arial" panose="020B0604020202020204"/>
                </a:rPr>
                <a:t>CellularRadio</a:t>
              </a:r>
              <a:endParaRPr sz="1600" dirty="0">
                <a:latin typeface="华文新魏" panose="02010800040101010101" charset="-122"/>
                <a:cs typeface="华文新魏" panose="02010800040101010101" charset="-122"/>
              </a:endParaRPr>
            </a:p>
          </p:txBody>
        </p:sp>
        <p:sp>
          <p:nvSpPr>
            <p:cNvPr id="11" name="object 11"/>
            <p:cNvSpPr/>
            <p:nvPr/>
          </p:nvSpPr>
          <p:spPr>
            <a:xfrm>
              <a:off x="3529383" y="1357536"/>
              <a:ext cx="0" cy="542925"/>
            </a:xfrm>
            <a:custGeom>
              <a:avLst/>
              <a:gdLst/>
              <a:ahLst/>
              <a:cxnLst/>
              <a:rect l="l" t="t" r="r" b="b"/>
              <a:pathLst>
                <a:path h="542925">
                  <a:moveTo>
                    <a:pt x="0" y="0"/>
                  </a:moveTo>
                  <a:lnTo>
                    <a:pt x="0" y="542924"/>
                  </a:lnTo>
                </a:path>
              </a:pathLst>
            </a:custGeom>
            <a:ln w="9526">
              <a:solidFill>
                <a:srgbClr val="000000"/>
              </a:solidFill>
            </a:ln>
          </p:spPr>
          <p:txBody>
            <a:bodyPr wrap="square" lIns="0" tIns="0" rIns="0" bIns="0" rtlCol="0"/>
            <a:lstStyle/>
            <a:p>
              <a:endParaRPr/>
            </a:p>
          </p:txBody>
        </p:sp>
        <p:sp>
          <p:nvSpPr>
            <p:cNvPr id="12" name="object 12"/>
            <p:cNvSpPr/>
            <p:nvPr/>
          </p:nvSpPr>
          <p:spPr>
            <a:xfrm>
              <a:off x="3529383" y="5410423"/>
              <a:ext cx="0" cy="62230"/>
            </a:xfrm>
            <a:custGeom>
              <a:avLst/>
              <a:gdLst/>
              <a:ahLst/>
              <a:cxnLst/>
              <a:rect l="l" t="t" r="r" b="b"/>
              <a:pathLst>
                <a:path h="62229">
                  <a:moveTo>
                    <a:pt x="0" y="0"/>
                  </a:moveTo>
                  <a:lnTo>
                    <a:pt x="0" y="61911"/>
                  </a:lnTo>
                </a:path>
              </a:pathLst>
            </a:custGeom>
            <a:ln w="9526">
              <a:solidFill>
                <a:srgbClr val="000000"/>
              </a:solidFill>
            </a:ln>
          </p:spPr>
          <p:txBody>
            <a:bodyPr wrap="square" lIns="0" tIns="0" rIns="0" bIns="0" rtlCol="0"/>
            <a:lstStyle/>
            <a:p>
              <a:endParaRPr/>
            </a:p>
          </p:txBody>
        </p:sp>
        <p:sp>
          <p:nvSpPr>
            <p:cNvPr id="13" name="object 13"/>
            <p:cNvSpPr/>
            <p:nvPr/>
          </p:nvSpPr>
          <p:spPr>
            <a:xfrm>
              <a:off x="3427783" y="1900461"/>
              <a:ext cx="151130" cy="3510279"/>
            </a:xfrm>
            <a:custGeom>
              <a:avLst/>
              <a:gdLst/>
              <a:ahLst/>
              <a:cxnLst/>
              <a:rect l="l" t="t" r="r" b="b"/>
              <a:pathLst>
                <a:path w="151129" h="3510279">
                  <a:moveTo>
                    <a:pt x="0" y="0"/>
                  </a:moveTo>
                  <a:lnTo>
                    <a:pt x="150812" y="0"/>
                  </a:lnTo>
                  <a:lnTo>
                    <a:pt x="150812" y="3509961"/>
                  </a:lnTo>
                  <a:lnTo>
                    <a:pt x="0" y="3509961"/>
                  </a:lnTo>
                  <a:lnTo>
                    <a:pt x="0" y="0"/>
                  </a:lnTo>
                  <a:close/>
                </a:path>
              </a:pathLst>
            </a:custGeom>
            <a:ln w="9524">
              <a:solidFill>
                <a:srgbClr val="000000"/>
              </a:solidFill>
            </a:ln>
          </p:spPr>
          <p:txBody>
            <a:bodyPr wrap="square" lIns="0" tIns="0" rIns="0" bIns="0" rtlCol="0"/>
            <a:lstStyle/>
            <a:p>
              <a:endParaRPr/>
            </a:p>
          </p:txBody>
        </p:sp>
        <p:sp>
          <p:nvSpPr>
            <p:cNvPr id="14" name="object 14"/>
            <p:cNvSpPr/>
            <p:nvPr/>
          </p:nvSpPr>
          <p:spPr>
            <a:xfrm>
              <a:off x="6272583" y="5373216"/>
              <a:ext cx="0" cy="52069"/>
            </a:xfrm>
            <a:custGeom>
              <a:avLst/>
              <a:gdLst/>
              <a:ahLst/>
              <a:cxnLst/>
              <a:rect l="l" t="t" r="r" b="b"/>
              <a:pathLst>
                <a:path h="52070">
                  <a:moveTo>
                    <a:pt x="0" y="0"/>
                  </a:moveTo>
                  <a:lnTo>
                    <a:pt x="0" y="51493"/>
                  </a:lnTo>
                </a:path>
              </a:pathLst>
            </a:custGeom>
            <a:ln w="9526">
              <a:solidFill>
                <a:srgbClr val="000000"/>
              </a:solidFill>
            </a:ln>
          </p:spPr>
          <p:txBody>
            <a:bodyPr wrap="square" lIns="0" tIns="0" rIns="0" bIns="0" rtlCol="0"/>
            <a:lstStyle/>
            <a:p>
              <a:endParaRPr/>
            </a:p>
          </p:txBody>
        </p:sp>
        <p:sp>
          <p:nvSpPr>
            <p:cNvPr id="15" name="object 15"/>
            <p:cNvSpPr/>
            <p:nvPr/>
          </p:nvSpPr>
          <p:spPr>
            <a:xfrm>
              <a:off x="6170983" y="1410816"/>
              <a:ext cx="203200" cy="3962400"/>
            </a:xfrm>
            <a:custGeom>
              <a:avLst/>
              <a:gdLst/>
              <a:ahLst/>
              <a:cxnLst/>
              <a:rect l="l" t="t" r="r" b="b"/>
              <a:pathLst>
                <a:path w="203200" h="3962400">
                  <a:moveTo>
                    <a:pt x="0" y="0"/>
                  </a:moveTo>
                  <a:lnTo>
                    <a:pt x="203199" y="0"/>
                  </a:lnTo>
                  <a:lnTo>
                    <a:pt x="203199" y="3962398"/>
                  </a:lnTo>
                  <a:lnTo>
                    <a:pt x="0" y="3962398"/>
                  </a:lnTo>
                  <a:lnTo>
                    <a:pt x="0" y="0"/>
                  </a:lnTo>
                  <a:close/>
                </a:path>
              </a:pathLst>
            </a:custGeom>
            <a:ln w="9524">
              <a:solidFill>
                <a:srgbClr val="000000"/>
              </a:solidFill>
            </a:ln>
          </p:spPr>
          <p:txBody>
            <a:bodyPr wrap="square" lIns="0" tIns="0" rIns="0" bIns="0" rtlCol="0"/>
            <a:lstStyle/>
            <a:p>
              <a:endParaRPr/>
            </a:p>
          </p:txBody>
        </p:sp>
        <p:sp>
          <p:nvSpPr>
            <p:cNvPr id="16" name="object 16"/>
            <p:cNvSpPr/>
            <p:nvPr/>
          </p:nvSpPr>
          <p:spPr>
            <a:xfrm>
              <a:off x="3656384" y="2271936"/>
              <a:ext cx="2514600" cy="0"/>
            </a:xfrm>
            <a:custGeom>
              <a:avLst/>
              <a:gdLst/>
              <a:ahLst/>
              <a:cxnLst/>
              <a:rect l="l" t="t" r="r" b="b"/>
              <a:pathLst>
                <a:path w="2514600">
                  <a:moveTo>
                    <a:pt x="2514599" y="0"/>
                  </a:moveTo>
                  <a:lnTo>
                    <a:pt x="0" y="1"/>
                  </a:lnTo>
                </a:path>
              </a:pathLst>
            </a:custGeom>
            <a:ln w="9524">
              <a:solidFill>
                <a:srgbClr val="000000"/>
              </a:solidFill>
            </a:ln>
          </p:spPr>
          <p:txBody>
            <a:bodyPr wrap="square" lIns="0" tIns="0" rIns="0" bIns="0" rtlCol="0"/>
            <a:lstStyle/>
            <a:p>
              <a:endParaRPr/>
            </a:p>
          </p:txBody>
        </p:sp>
        <p:sp>
          <p:nvSpPr>
            <p:cNvPr id="17" name="object 17"/>
            <p:cNvSpPr/>
            <p:nvPr/>
          </p:nvSpPr>
          <p:spPr>
            <a:xfrm>
              <a:off x="3630983" y="22338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18" name="object 18"/>
            <p:cNvSpPr txBox="1"/>
            <p:nvPr/>
          </p:nvSpPr>
          <p:spPr>
            <a:xfrm>
              <a:off x="3618283" y="1481996"/>
              <a:ext cx="2540000" cy="787400"/>
            </a:xfrm>
            <a:prstGeom prst="rect">
              <a:avLst/>
            </a:prstGeom>
          </p:spPr>
          <p:txBody>
            <a:bodyPr vert="horz" wrap="square" lIns="0" tIns="149860" rIns="0" bIns="0" rtlCol="0">
              <a:spAutoFit/>
            </a:bodyPr>
            <a:lstStyle/>
            <a:p>
              <a:pPr marL="12700">
                <a:lnSpc>
                  <a:spcPct val="100000"/>
                </a:lnSpc>
                <a:spcBef>
                  <a:spcPts val="1180"/>
                </a:spcBef>
                <a:tabLst>
                  <a:tab pos="204470" algn="l"/>
                  <a:tab pos="2526665" algn="l"/>
                </a:tabLst>
              </a:pPr>
              <a:r>
                <a:rPr sz="1600" u="sng" dirty="0">
                  <a:uFill>
                    <a:solidFill>
                      <a:srgbClr val="000000"/>
                    </a:solidFill>
                  </a:uFill>
                  <a:latin typeface="Arial" panose="020B0604020202020204"/>
                  <a:cs typeface="Arial" panose="020B0604020202020204"/>
                </a:rPr>
                <a:t> 	a</a:t>
              </a:r>
              <a:r>
                <a:rPr sz="1600" u="sng" spc="-5" dirty="0">
                  <a:uFill>
                    <a:solidFill>
                      <a:srgbClr val="000000"/>
                    </a:solidFill>
                  </a:uFill>
                  <a:latin typeface="Arial" panose="020B0604020202020204"/>
                  <a:cs typeface="Arial" panose="020B0604020202020204"/>
                </a:rPr>
                <a:t>:</a:t>
              </a:r>
              <a:r>
                <a:rPr sz="1600" u="sng" dirty="0">
                  <a:uFill>
                    <a:solidFill>
                      <a:srgbClr val="000000"/>
                    </a:solidFill>
                  </a:uFill>
                  <a:latin typeface="华文新魏" panose="02010800040101010101" charset="-122"/>
                  <a:cs typeface="华文新魏" panose="02010800040101010101" charset="-122"/>
                </a:rPr>
                <a:t>拿起话筒	</a:t>
              </a:r>
              <a:endParaRPr sz="1600">
                <a:latin typeface="华文新魏" panose="02010800040101010101" charset="-122"/>
                <a:cs typeface="华文新魏" panose="02010800040101010101" charset="-122"/>
              </a:endParaRPr>
            </a:p>
            <a:p>
              <a:pPr marL="205740">
                <a:lnSpc>
                  <a:spcPct val="100000"/>
                </a:lnSpc>
                <a:spcBef>
                  <a:spcPts val="1080"/>
                </a:spcBef>
              </a:pPr>
              <a:r>
                <a:rPr sz="1600" spc="-5" dirty="0">
                  <a:latin typeface="Arial" panose="020B0604020202020204"/>
                  <a:cs typeface="Arial" panose="020B0604020202020204"/>
                </a:rPr>
                <a:t>b:</a:t>
              </a:r>
              <a:r>
                <a:rPr sz="1600" dirty="0">
                  <a:latin typeface="华文新魏" panose="02010800040101010101" charset="-122"/>
                  <a:cs typeface="华文新魏" panose="02010800040101010101" charset="-122"/>
                </a:rPr>
                <a:t>发拨号声</a:t>
              </a:r>
              <a:endParaRPr sz="1600">
                <a:latin typeface="华文新魏" panose="02010800040101010101" charset="-122"/>
                <a:cs typeface="华文新魏" panose="02010800040101010101" charset="-122"/>
              </a:endParaRPr>
            </a:p>
          </p:txBody>
        </p:sp>
        <p:sp>
          <p:nvSpPr>
            <p:cNvPr id="19" name="object 19"/>
            <p:cNvSpPr/>
            <p:nvPr/>
          </p:nvSpPr>
          <p:spPr>
            <a:xfrm>
              <a:off x="7898183" y="3628999"/>
              <a:ext cx="203200" cy="1600200"/>
            </a:xfrm>
            <a:custGeom>
              <a:avLst/>
              <a:gdLst/>
              <a:ahLst/>
              <a:cxnLst/>
              <a:rect l="l" t="t" r="r" b="b"/>
              <a:pathLst>
                <a:path w="203200" h="1600200">
                  <a:moveTo>
                    <a:pt x="0" y="0"/>
                  </a:moveTo>
                  <a:lnTo>
                    <a:pt x="203200" y="0"/>
                  </a:lnTo>
                  <a:lnTo>
                    <a:pt x="203200" y="1600199"/>
                  </a:lnTo>
                  <a:lnTo>
                    <a:pt x="0" y="1600199"/>
                  </a:lnTo>
                  <a:lnTo>
                    <a:pt x="0" y="0"/>
                  </a:lnTo>
                  <a:close/>
                </a:path>
              </a:pathLst>
            </a:custGeom>
            <a:ln w="9524">
              <a:solidFill>
                <a:srgbClr val="000000"/>
              </a:solidFill>
            </a:ln>
          </p:spPr>
          <p:txBody>
            <a:bodyPr wrap="square" lIns="0" tIns="0" rIns="0" bIns="0" rtlCol="0"/>
            <a:lstStyle/>
            <a:p>
              <a:endParaRPr/>
            </a:p>
          </p:txBody>
        </p:sp>
        <p:sp>
          <p:nvSpPr>
            <p:cNvPr id="20" name="object 20"/>
            <p:cNvSpPr/>
            <p:nvPr/>
          </p:nvSpPr>
          <p:spPr>
            <a:xfrm>
              <a:off x="9930181" y="3754661"/>
              <a:ext cx="177800" cy="1412875"/>
            </a:xfrm>
            <a:custGeom>
              <a:avLst/>
              <a:gdLst/>
              <a:ahLst/>
              <a:cxnLst/>
              <a:rect l="l" t="t" r="r" b="b"/>
              <a:pathLst>
                <a:path w="177800" h="1412875">
                  <a:moveTo>
                    <a:pt x="0" y="0"/>
                  </a:moveTo>
                  <a:lnTo>
                    <a:pt x="177799" y="0"/>
                  </a:lnTo>
                  <a:lnTo>
                    <a:pt x="177799" y="1412874"/>
                  </a:lnTo>
                  <a:lnTo>
                    <a:pt x="0" y="1412874"/>
                  </a:lnTo>
                  <a:lnTo>
                    <a:pt x="0" y="0"/>
                  </a:lnTo>
                  <a:close/>
                </a:path>
              </a:pathLst>
            </a:custGeom>
            <a:ln w="9524">
              <a:solidFill>
                <a:srgbClr val="000000"/>
              </a:solidFill>
            </a:ln>
          </p:spPr>
          <p:txBody>
            <a:bodyPr wrap="square" lIns="0" tIns="0" rIns="0" bIns="0" rtlCol="0"/>
            <a:lstStyle/>
            <a:p>
              <a:endParaRPr/>
            </a:p>
          </p:txBody>
        </p:sp>
        <p:sp>
          <p:nvSpPr>
            <p:cNvPr id="21" name="object 21"/>
            <p:cNvSpPr txBox="1"/>
            <p:nvPr/>
          </p:nvSpPr>
          <p:spPr>
            <a:xfrm>
              <a:off x="6960923" y="2762156"/>
              <a:ext cx="8382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逻辑连通</a:t>
              </a:r>
              <a:endParaRPr sz="1600">
                <a:latin typeface="华文新魏" panose="02010800040101010101" charset="-122"/>
                <a:cs typeface="华文新魏" panose="02010800040101010101" charset="-122"/>
              </a:endParaRPr>
            </a:p>
          </p:txBody>
        </p:sp>
        <p:sp>
          <p:nvSpPr>
            <p:cNvPr id="22" name="object 22"/>
            <p:cNvSpPr/>
            <p:nvPr/>
          </p:nvSpPr>
          <p:spPr>
            <a:xfrm>
              <a:off x="6272583" y="2881535"/>
              <a:ext cx="203200" cy="381000"/>
            </a:xfrm>
            <a:custGeom>
              <a:avLst/>
              <a:gdLst/>
              <a:ahLst/>
              <a:cxnLst/>
              <a:rect l="l" t="t" r="r" b="b"/>
              <a:pathLst>
                <a:path w="203200" h="381000">
                  <a:moveTo>
                    <a:pt x="0" y="0"/>
                  </a:moveTo>
                  <a:lnTo>
                    <a:pt x="203200" y="0"/>
                  </a:lnTo>
                  <a:lnTo>
                    <a:pt x="203200" y="381000"/>
                  </a:lnTo>
                  <a:lnTo>
                    <a:pt x="0" y="381000"/>
                  </a:lnTo>
                  <a:lnTo>
                    <a:pt x="0" y="0"/>
                  </a:lnTo>
                  <a:close/>
                </a:path>
              </a:pathLst>
            </a:custGeom>
            <a:solidFill>
              <a:srgbClr val="FFFFFF"/>
            </a:solidFill>
          </p:spPr>
          <p:txBody>
            <a:bodyPr wrap="square" lIns="0" tIns="0" rIns="0" bIns="0" rtlCol="0"/>
            <a:lstStyle/>
            <a:p>
              <a:endParaRPr/>
            </a:p>
          </p:txBody>
        </p:sp>
        <p:sp>
          <p:nvSpPr>
            <p:cNvPr id="23" name="object 23"/>
            <p:cNvSpPr/>
            <p:nvPr/>
          </p:nvSpPr>
          <p:spPr>
            <a:xfrm>
              <a:off x="6272583" y="2881536"/>
              <a:ext cx="203200" cy="381000"/>
            </a:xfrm>
            <a:custGeom>
              <a:avLst/>
              <a:gdLst/>
              <a:ahLst/>
              <a:cxnLst/>
              <a:rect l="l" t="t" r="r" b="b"/>
              <a:pathLst>
                <a:path w="203200" h="381000">
                  <a:moveTo>
                    <a:pt x="0" y="0"/>
                  </a:moveTo>
                  <a:lnTo>
                    <a:pt x="203199" y="0"/>
                  </a:lnTo>
                  <a:lnTo>
                    <a:pt x="203199" y="380999"/>
                  </a:lnTo>
                  <a:lnTo>
                    <a:pt x="0" y="380999"/>
                  </a:lnTo>
                  <a:lnTo>
                    <a:pt x="0" y="0"/>
                  </a:lnTo>
                  <a:close/>
                </a:path>
              </a:pathLst>
            </a:custGeom>
            <a:ln w="9524">
              <a:solidFill>
                <a:srgbClr val="000000"/>
              </a:solidFill>
            </a:ln>
          </p:spPr>
          <p:txBody>
            <a:bodyPr wrap="square" lIns="0" tIns="0" rIns="0" bIns="0" rtlCol="0"/>
            <a:lstStyle/>
            <a:p>
              <a:endParaRPr/>
            </a:p>
          </p:txBody>
        </p:sp>
        <p:sp>
          <p:nvSpPr>
            <p:cNvPr id="24" name="object 24"/>
            <p:cNvSpPr/>
            <p:nvPr/>
          </p:nvSpPr>
          <p:spPr>
            <a:xfrm>
              <a:off x="6374183" y="2805335"/>
              <a:ext cx="406400" cy="304800"/>
            </a:xfrm>
            <a:custGeom>
              <a:avLst/>
              <a:gdLst/>
              <a:ahLst/>
              <a:cxnLst/>
              <a:rect l="l" t="t" r="r" b="b"/>
              <a:pathLst>
                <a:path w="406400" h="304800">
                  <a:moveTo>
                    <a:pt x="0" y="0"/>
                  </a:moveTo>
                  <a:lnTo>
                    <a:pt x="406399" y="0"/>
                  </a:lnTo>
                  <a:lnTo>
                    <a:pt x="406399" y="304800"/>
                  </a:lnTo>
                  <a:lnTo>
                    <a:pt x="126999" y="304800"/>
                  </a:lnTo>
                </a:path>
              </a:pathLst>
            </a:custGeom>
            <a:ln w="9524">
              <a:solidFill>
                <a:srgbClr val="000000"/>
              </a:solidFill>
            </a:ln>
          </p:spPr>
          <p:txBody>
            <a:bodyPr wrap="square" lIns="0" tIns="0" rIns="0" bIns="0" rtlCol="0"/>
            <a:lstStyle/>
            <a:p>
              <a:endParaRPr/>
            </a:p>
          </p:txBody>
        </p:sp>
        <p:sp>
          <p:nvSpPr>
            <p:cNvPr id="25" name="object 25"/>
            <p:cNvSpPr/>
            <p:nvPr/>
          </p:nvSpPr>
          <p:spPr>
            <a:xfrm>
              <a:off x="6475783" y="3072035"/>
              <a:ext cx="76200" cy="76200"/>
            </a:xfrm>
            <a:custGeom>
              <a:avLst/>
              <a:gdLst/>
              <a:ahLst/>
              <a:cxnLst/>
              <a:rect l="l" t="t" r="r" b="b"/>
              <a:pathLst>
                <a:path w="76200" h="76200">
                  <a:moveTo>
                    <a:pt x="76199" y="0"/>
                  </a:moveTo>
                  <a:lnTo>
                    <a:pt x="0" y="38100"/>
                  </a:lnTo>
                  <a:lnTo>
                    <a:pt x="76199" y="76200"/>
                  </a:lnTo>
                  <a:lnTo>
                    <a:pt x="76199" y="0"/>
                  </a:lnTo>
                  <a:close/>
                </a:path>
              </a:pathLst>
            </a:custGeom>
            <a:solidFill>
              <a:srgbClr val="000000"/>
            </a:solidFill>
          </p:spPr>
          <p:txBody>
            <a:bodyPr wrap="square" lIns="0" tIns="0" rIns="0" bIns="0" rtlCol="0"/>
            <a:lstStyle/>
            <a:p>
              <a:endParaRPr/>
            </a:p>
          </p:txBody>
        </p:sp>
        <p:sp>
          <p:nvSpPr>
            <p:cNvPr id="26" name="object 26"/>
            <p:cNvSpPr txBox="1"/>
            <p:nvPr/>
          </p:nvSpPr>
          <p:spPr>
            <a:xfrm>
              <a:off x="6757723" y="3981356"/>
              <a:ext cx="80454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连接</a:t>
              </a:r>
              <a:r>
                <a:rPr sz="1600" dirty="0">
                  <a:latin typeface="Arial" panose="020B0604020202020204"/>
                  <a:cs typeface="Arial" panose="020B0604020202020204"/>
                </a:rPr>
                <a:t>s</a:t>
              </a:r>
              <a:r>
                <a:rPr sz="1600" dirty="0">
                  <a:latin typeface="华文新魏" panose="02010800040101010101" charset="-122"/>
                  <a:cs typeface="华文新魏" panose="02010800040101010101" charset="-122"/>
                </a:rPr>
                <a:t>与</a:t>
              </a:r>
              <a:r>
                <a:rPr sz="1600" dirty="0">
                  <a:latin typeface="Arial" panose="020B0604020202020204"/>
                  <a:cs typeface="Arial" panose="020B0604020202020204"/>
                </a:rPr>
                <a:t>r</a:t>
              </a:r>
              <a:endParaRPr sz="1600">
                <a:latin typeface="Arial" panose="020B0604020202020204"/>
                <a:cs typeface="Arial" panose="020B0604020202020204"/>
              </a:endParaRPr>
            </a:p>
          </p:txBody>
        </p:sp>
        <p:sp>
          <p:nvSpPr>
            <p:cNvPr id="27" name="object 27"/>
            <p:cNvSpPr/>
            <p:nvPr/>
          </p:nvSpPr>
          <p:spPr>
            <a:xfrm>
              <a:off x="9117383" y="1052736"/>
              <a:ext cx="1930400" cy="339090"/>
            </a:xfrm>
            <a:custGeom>
              <a:avLst/>
              <a:gdLst/>
              <a:ahLst/>
              <a:cxnLst/>
              <a:rect l="l" t="t" r="r" b="b"/>
              <a:pathLst>
                <a:path w="1930400" h="339090">
                  <a:moveTo>
                    <a:pt x="0" y="0"/>
                  </a:moveTo>
                  <a:lnTo>
                    <a:pt x="1930400" y="0"/>
                  </a:lnTo>
                  <a:lnTo>
                    <a:pt x="1930400" y="338553"/>
                  </a:lnTo>
                  <a:lnTo>
                    <a:pt x="0" y="338553"/>
                  </a:lnTo>
                  <a:lnTo>
                    <a:pt x="0" y="0"/>
                  </a:lnTo>
                  <a:close/>
                </a:path>
              </a:pathLst>
            </a:custGeom>
            <a:ln w="9524">
              <a:solidFill>
                <a:srgbClr val="000000"/>
              </a:solidFill>
            </a:ln>
          </p:spPr>
          <p:txBody>
            <a:bodyPr wrap="square" lIns="0" tIns="0" rIns="0" bIns="0" rtlCol="0"/>
            <a:lstStyle/>
            <a:p>
              <a:endParaRPr/>
            </a:p>
          </p:txBody>
        </p:sp>
        <p:sp>
          <p:nvSpPr>
            <p:cNvPr id="28" name="object 28"/>
            <p:cNvSpPr txBox="1"/>
            <p:nvPr/>
          </p:nvSpPr>
          <p:spPr>
            <a:xfrm>
              <a:off x="9196123" y="1085756"/>
              <a:ext cx="1038858"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r</a:t>
              </a:r>
              <a:r>
                <a:rPr sz="1600" spc="-90" dirty="0">
                  <a:latin typeface="Arial" panose="020B0604020202020204"/>
                  <a:cs typeface="Arial" panose="020B0604020202020204"/>
                </a:rPr>
                <a:t> </a:t>
              </a:r>
              <a:r>
                <a:rPr sz="1600" dirty="0">
                  <a:latin typeface="Arial" panose="020B0604020202020204"/>
                  <a:cs typeface="Arial" panose="020B0604020202020204"/>
                </a:rPr>
                <a:t>:</a:t>
              </a:r>
              <a:r>
                <a:rPr lang="en-US" sz="1600" dirty="0" err="1">
                  <a:latin typeface="华文新魏" panose="02010800040101010101" charset="-122"/>
                  <a:cs typeface="华文新魏" panose="02010800040101010101" charset="-122"/>
                </a:rPr>
                <a:t>Dialler</a:t>
              </a:r>
              <a:endParaRPr sz="1600" dirty="0">
                <a:latin typeface="华文新魏" panose="02010800040101010101" charset="-122"/>
                <a:cs typeface="华文新魏" panose="02010800040101010101" charset="-122"/>
              </a:endParaRPr>
            </a:p>
          </p:txBody>
        </p:sp>
        <p:sp>
          <p:nvSpPr>
            <p:cNvPr id="29" name="object 29"/>
            <p:cNvSpPr txBox="1"/>
            <p:nvPr/>
          </p:nvSpPr>
          <p:spPr>
            <a:xfrm>
              <a:off x="3618283" y="2381900"/>
              <a:ext cx="2540635" cy="269240"/>
            </a:xfrm>
            <a:prstGeom prst="rect">
              <a:avLst/>
            </a:prstGeom>
          </p:spPr>
          <p:txBody>
            <a:bodyPr vert="horz" wrap="square" lIns="0" tIns="12700" rIns="0" bIns="0" rtlCol="0">
              <a:spAutoFit/>
            </a:bodyPr>
            <a:lstStyle/>
            <a:p>
              <a:pPr marL="12700">
                <a:lnSpc>
                  <a:spcPct val="100000"/>
                </a:lnSpc>
                <a:spcBef>
                  <a:spcPts val="100"/>
                </a:spcBef>
                <a:tabLst>
                  <a:tab pos="204470" algn="l"/>
                  <a:tab pos="2527300" algn="l"/>
                </a:tabLst>
              </a:pPr>
              <a:r>
                <a:rPr sz="1600" u="sng" dirty="0">
                  <a:uFill>
                    <a:solidFill>
                      <a:srgbClr val="000000"/>
                    </a:solidFill>
                  </a:uFill>
                  <a:latin typeface="Arial" panose="020B0604020202020204"/>
                  <a:cs typeface="Arial" panose="020B0604020202020204"/>
                </a:rPr>
                <a:t> 	</a:t>
              </a:r>
              <a:r>
                <a:rPr sz="1600" u="sng" spc="-5" dirty="0">
                  <a:uFill>
                    <a:solidFill>
                      <a:srgbClr val="000000"/>
                    </a:solidFill>
                  </a:uFill>
                  <a:latin typeface="Arial" panose="020B0604020202020204"/>
                  <a:cs typeface="Arial" panose="020B0604020202020204"/>
                </a:rPr>
                <a:t>c:*</a:t>
              </a:r>
              <a:r>
                <a:rPr sz="1600" u="sng" dirty="0">
                  <a:uFill>
                    <a:solidFill>
                      <a:srgbClr val="000000"/>
                    </a:solidFill>
                  </a:uFill>
                  <a:latin typeface="华文新魏" panose="02010800040101010101" charset="-122"/>
                  <a:cs typeface="华文新魏" panose="02010800040101010101" charset="-122"/>
                </a:rPr>
                <a:t>拨号</a:t>
              </a:r>
              <a:r>
                <a:rPr sz="1600" u="sng" spc="305" dirty="0">
                  <a:uFill>
                    <a:solidFill>
                      <a:srgbClr val="000000"/>
                    </a:solidFill>
                  </a:uFill>
                  <a:latin typeface="华文新魏" panose="02010800040101010101" charset="-122"/>
                  <a:cs typeface="华文新魏" panose="02010800040101010101" charset="-122"/>
                </a:rPr>
                <a:t> </a:t>
              </a:r>
              <a:r>
                <a:rPr sz="1600" u="sng" dirty="0">
                  <a:uFill>
                    <a:solidFill>
                      <a:srgbClr val="000000"/>
                    </a:solidFill>
                  </a:uFill>
                  <a:latin typeface="Arial" panose="020B0604020202020204"/>
                  <a:cs typeface="Arial" panose="020B0604020202020204"/>
                </a:rPr>
                <a:t>{</a:t>
              </a:r>
              <a:r>
                <a:rPr sz="1600" u="sng" dirty="0">
                  <a:uFill>
                    <a:solidFill>
                      <a:srgbClr val="000000"/>
                    </a:solidFill>
                  </a:uFill>
                  <a:latin typeface="华文新魏" panose="02010800040101010101" charset="-122"/>
                  <a:cs typeface="华文新魏" panose="02010800040101010101" charset="-122"/>
                </a:rPr>
                <a:t>时间少于</a:t>
              </a:r>
              <a:r>
                <a:rPr sz="1600" u="sng" spc="-5" dirty="0">
                  <a:uFill>
                    <a:solidFill>
                      <a:srgbClr val="000000"/>
                    </a:solidFill>
                  </a:uFill>
                  <a:latin typeface="Arial" panose="020B0604020202020204"/>
                  <a:cs typeface="Arial" panose="020B0604020202020204"/>
                </a:rPr>
                <a:t>30</a:t>
              </a:r>
              <a:r>
                <a:rPr sz="1600" u="sng" dirty="0">
                  <a:uFill>
                    <a:solidFill>
                      <a:srgbClr val="000000"/>
                    </a:solidFill>
                  </a:uFill>
                  <a:latin typeface="华文新魏" panose="02010800040101010101" charset="-122"/>
                  <a:cs typeface="华文新魏" panose="02010800040101010101" charset="-122"/>
                </a:rPr>
                <a:t>秒</a:t>
              </a:r>
              <a:r>
                <a:rPr sz="1600" u="sng" dirty="0">
                  <a:uFill>
                    <a:solidFill>
                      <a:srgbClr val="000000"/>
                    </a:solidFill>
                  </a:uFill>
                  <a:latin typeface="Arial" panose="020B0604020202020204"/>
                  <a:cs typeface="Arial" panose="020B0604020202020204"/>
                </a:rPr>
                <a:t>}	</a:t>
              </a:r>
              <a:endParaRPr sz="1600">
                <a:latin typeface="Arial" panose="020B0604020202020204"/>
                <a:cs typeface="Arial" panose="020B0604020202020204"/>
              </a:endParaRPr>
            </a:p>
          </p:txBody>
        </p:sp>
        <p:sp>
          <p:nvSpPr>
            <p:cNvPr id="30" name="object 30"/>
            <p:cNvSpPr/>
            <p:nvPr/>
          </p:nvSpPr>
          <p:spPr>
            <a:xfrm>
              <a:off x="6374183" y="3491136"/>
              <a:ext cx="1092200" cy="0"/>
            </a:xfrm>
            <a:custGeom>
              <a:avLst/>
              <a:gdLst/>
              <a:ahLst/>
              <a:cxnLst/>
              <a:rect l="l" t="t" r="r" b="b"/>
              <a:pathLst>
                <a:path w="1092200">
                  <a:moveTo>
                    <a:pt x="0" y="0"/>
                  </a:moveTo>
                  <a:lnTo>
                    <a:pt x="1092199" y="0"/>
                  </a:lnTo>
                </a:path>
              </a:pathLst>
            </a:custGeom>
            <a:ln w="9524">
              <a:solidFill>
                <a:srgbClr val="000000"/>
              </a:solidFill>
            </a:ln>
          </p:spPr>
          <p:txBody>
            <a:bodyPr wrap="square" lIns="0" tIns="0" rIns="0" bIns="0" rtlCol="0"/>
            <a:lstStyle/>
            <a:p>
              <a:endParaRPr/>
            </a:p>
          </p:txBody>
        </p:sp>
        <p:sp>
          <p:nvSpPr>
            <p:cNvPr id="31" name="object 31"/>
            <p:cNvSpPr/>
            <p:nvPr/>
          </p:nvSpPr>
          <p:spPr>
            <a:xfrm>
              <a:off x="7415583" y="3453036"/>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32" name="object 32"/>
            <p:cNvSpPr txBox="1"/>
            <p:nvPr/>
          </p:nvSpPr>
          <p:spPr>
            <a:xfrm>
              <a:off x="6822810" y="3219356"/>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创建</a:t>
              </a:r>
              <a:endParaRPr sz="1600">
                <a:latin typeface="华文新魏" panose="02010800040101010101" charset="-122"/>
                <a:cs typeface="华文新魏" panose="02010800040101010101" charset="-122"/>
              </a:endParaRPr>
            </a:p>
          </p:txBody>
        </p:sp>
        <p:sp>
          <p:nvSpPr>
            <p:cNvPr id="33" name="object 33"/>
            <p:cNvSpPr/>
            <p:nvPr/>
          </p:nvSpPr>
          <p:spPr>
            <a:xfrm>
              <a:off x="8101383" y="3795936"/>
              <a:ext cx="1803400" cy="0"/>
            </a:xfrm>
            <a:custGeom>
              <a:avLst/>
              <a:gdLst/>
              <a:ahLst/>
              <a:cxnLst/>
              <a:rect l="l" t="t" r="r" b="b"/>
              <a:pathLst>
                <a:path w="1803400">
                  <a:moveTo>
                    <a:pt x="0" y="0"/>
                  </a:moveTo>
                  <a:lnTo>
                    <a:pt x="1803399" y="0"/>
                  </a:lnTo>
                </a:path>
              </a:pathLst>
            </a:custGeom>
            <a:ln w="9524">
              <a:solidFill>
                <a:srgbClr val="000000"/>
              </a:solidFill>
            </a:ln>
          </p:spPr>
          <p:txBody>
            <a:bodyPr wrap="square" lIns="0" tIns="0" rIns="0" bIns="0" rtlCol="0"/>
            <a:lstStyle/>
            <a:p>
              <a:endParaRPr/>
            </a:p>
          </p:txBody>
        </p:sp>
        <p:sp>
          <p:nvSpPr>
            <p:cNvPr id="34" name="object 34"/>
            <p:cNvSpPr/>
            <p:nvPr/>
          </p:nvSpPr>
          <p:spPr>
            <a:xfrm>
              <a:off x="9853983" y="3757836"/>
              <a:ext cx="76200" cy="76200"/>
            </a:xfrm>
            <a:custGeom>
              <a:avLst/>
              <a:gdLst/>
              <a:ahLst/>
              <a:cxnLst/>
              <a:rect l="l" t="t" r="r" b="b"/>
              <a:pathLst>
                <a:path w="76200" h="76200">
                  <a:moveTo>
                    <a:pt x="0" y="0"/>
                  </a:moveTo>
                  <a:lnTo>
                    <a:pt x="0" y="76199"/>
                  </a:lnTo>
                  <a:lnTo>
                    <a:pt x="76200" y="38099"/>
                  </a:lnTo>
                  <a:lnTo>
                    <a:pt x="0" y="0"/>
                  </a:lnTo>
                  <a:close/>
                </a:path>
              </a:pathLst>
            </a:custGeom>
            <a:solidFill>
              <a:srgbClr val="000000"/>
            </a:solidFill>
          </p:spPr>
          <p:txBody>
            <a:bodyPr wrap="square" lIns="0" tIns="0" rIns="0" bIns="0" rtlCol="0"/>
            <a:lstStyle/>
            <a:p>
              <a:endParaRPr/>
            </a:p>
          </p:txBody>
        </p:sp>
        <p:sp>
          <p:nvSpPr>
            <p:cNvPr id="35" name="object 35"/>
            <p:cNvSpPr/>
            <p:nvPr/>
          </p:nvSpPr>
          <p:spPr>
            <a:xfrm>
              <a:off x="8507783" y="3789040"/>
              <a:ext cx="1117600" cy="339090"/>
            </a:xfrm>
            <a:custGeom>
              <a:avLst/>
              <a:gdLst/>
              <a:ahLst/>
              <a:cxnLst/>
              <a:rect l="l" t="t" r="r" b="b"/>
              <a:pathLst>
                <a:path w="1117600" h="339089">
                  <a:moveTo>
                    <a:pt x="0" y="0"/>
                  </a:moveTo>
                  <a:lnTo>
                    <a:pt x="1117599" y="0"/>
                  </a:lnTo>
                  <a:lnTo>
                    <a:pt x="1117599" y="338553"/>
                  </a:lnTo>
                  <a:lnTo>
                    <a:pt x="0" y="338553"/>
                  </a:lnTo>
                  <a:lnTo>
                    <a:pt x="0" y="0"/>
                  </a:lnTo>
                  <a:close/>
                </a:path>
              </a:pathLst>
            </a:custGeom>
            <a:ln w="9524">
              <a:solidFill>
                <a:srgbClr val="FFFFFF"/>
              </a:solidFill>
            </a:ln>
          </p:spPr>
          <p:txBody>
            <a:bodyPr wrap="square" lIns="0" tIns="0" rIns="0" bIns="0" rtlCol="0"/>
            <a:lstStyle/>
            <a:p>
              <a:endParaRPr/>
            </a:p>
          </p:txBody>
        </p:sp>
        <p:sp>
          <p:nvSpPr>
            <p:cNvPr id="36" name="object 36"/>
            <p:cNvSpPr txBox="1"/>
            <p:nvPr/>
          </p:nvSpPr>
          <p:spPr>
            <a:xfrm>
              <a:off x="8586523" y="3822059"/>
              <a:ext cx="8382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拿起话筒</a:t>
              </a:r>
              <a:endParaRPr sz="1600">
                <a:latin typeface="华文新魏" panose="02010800040101010101" charset="-122"/>
                <a:cs typeface="华文新魏" panose="02010800040101010101" charset="-122"/>
              </a:endParaRPr>
            </a:p>
          </p:txBody>
        </p:sp>
        <p:sp>
          <p:nvSpPr>
            <p:cNvPr id="37" name="object 37"/>
            <p:cNvSpPr/>
            <p:nvPr/>
          </p:nvSpPr>
          <p:spPr>
            <a:xfrm>
              <a:off x="6399583" y="4329336"/>
              <a:ext cx="1498600" cy="0"/>
            </a:xfrm>
            <a:custGeom>
              <a:avLst/>
              <a:gdLst/>
              <a:ahLst/>
              <a:cxnLst/>
              <a:rect l="l" t="t" r="r" b="b"/>
              <a:pathLst>
                <a:path w="1498600">
                  <a:moveTo>
                    <a:pt x="1498599" y="0"/>
                  </a:moveTo>
                  <a:lnTo>
                    <a:pt x="0" y="0"/>
                  </a:lnTo>
                </a:path>
              </a:pathLst>
            </a:custGeom>
            <a:ln w="9524">
              <a:solidFill>
                <a:srgbClr val="000000"/>
              </a:solidFill>
            </a:ln>
          </p:spPr>
          <p:txBody>
            <a:bodyPr wrap="square" lIns="0" tIns="0" rIns="0" bIns="0" rtlCol="0"/>
            <a:lstStyle/>
            <a:p>
              <a:endParaRPr/>
            </a:p>
          </p:txBody>
        </p:sp>
        <p:sp>
          <p:nvSpPr>
            <p:cNvPr id="38" name="object 38"/>
            <p:cNvSpPr/>
            <p:nvPr/>
          </p:nvSpPr>
          <p:spPr>
            <a:xfrm>
              <a:off x="6374183" y="42912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39" name="object 39"/>
            <p:cNvSpPr/>
            <p:nvPr/>
          </p:nvSpPr>
          <p:spPr>
            <a:xfrm>
              <a:off x="8101383" y="4862736"/>
              <a:ext cx="1803400" cy="0"/>
            </a:xfrm>
            <a:custGeom>
              <a:avLst/>
              <a:gdLst/>
              <a:ahLst/>
              <a:cxnLst/>
              <a:rect l="l" t="t" r="r" b="b"/>
              <a:pathLst>
                <a:path w="1803400">
                  <a:moveTo>
                    <a:pt x="0" y="0"/>
                  </a:moveTo>
                  <a:lnTo>
                    <a:pt x="1803399" y="0"/>
                  </a:lnTo>
                </a:path>
              </a:pathLst>
            </a:custGeom>
            <a:ln w="9524">
              <a:solidFill>
                <a:srgbClr val="000000"/>
              </a:solidFill>
            </a:ln>
          </p:spPr>
          <p:txBody>
            <a:bodyPr wrap="square" lIns="0" tIns="0" rIns="0" bIns="0" rtlCol="0"/>
            <a:lstStyle/>
            <a:p>
              <a:endParaRPr/>
            </a:p>
          </p:txBody>
        </p:sp>
        <p:sp>
          <p:nvSpPr>
            <p:cNvPr id="40" name="object 40"/>
            <p:cNvSpPr/>
            <p:nvPr/>
          </p:nvSpPr>
          <p:spPr>
            <a:xfrm>
              <a:off x="9853983" y="4824636"/>
              <a:ext cx="76200" cy="76200"/>
            </a:xfrm>
            <a:custGeom>
              <a:avLst/>
              <a:gdLst/>
              <a:ahLst/>
              <a:cxnLst/>
              <a:rect l="l" t="t" r="r" b="b"/>
              <a:pathLst>
                <a:path w="76200" h="76200">
                  <a:moveTo>
                    <a:pt x="0" y="0"/>
                  </a:moveTo>
                  <a:lnTo>
                    <a:pt x="0" y="76199"/>
                  </a:lnTo>
                  <a:lnTo>
                    <a:pt x="76200" y="38099"/>
                  </a:lnTo>
                  <a:lnTo>
                    <a:pt x="0" y="0"/>
                  </a:lnTo>
                  <a:close/>
                </a:path>
              </a:pathLst>
            </a:custGeom>
            <a:solidFill>
              <a:srgbClr val="000000"/>
            </a:solidFill>
          </p:spPr>
          <p:txBody>
            <a:bodyPr wrap="square" lIns="0" tIns="0" rIns="0" bIns="0" rtlCol="0"/>
            <a:lstStyle/>
            <a:p>
              <a:endParaRPr/>
            </a:p>
          </p:txBody>
        </p:sp>
        <p:sp>
          <p:nvSpPr>
            <p:cNvPr id="41" name="object 41"/>
            <p:cNvSpPr txBox="1"/>
            <p:nvPr/>
          </p:nvSpPr>
          <p:spPr>
            <a:xfrm>
              <a:off x="8586523" y="4590956"/>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接通</a:t>
              </a:r>
              <a:endParaRPr sz="1600">
                <a:latin typeface="华文新魏" panose="02010800040101010101" charset="-122"/>
                <a:cs typeface="华文新魏" panose="02010800040101010101" charset="-122"/>
              </a:endParaRPr>
            </a:p>
          </p:txBody>
        </p:sp>
        <p:sp>
          <p:nvSpPr>
            <p:cNvPr id="42" name="object 42"/>
            <p:cNvSpPr/>
            <p:nvPr/>
          </p:nvSpPr>
          <p:spPr>
            <a:xfrm>
              <a:off x="3656384" y="4862736"/>
              <a:ext cx="4241800" cy="0"/>
            </a:xfrm>
            <a:custGeom>
              <a:avLst/>
              <a:gdLst/>
              <a:ahLst/>
              <a:cxnLst/>
              <a:rect l="l" t="t" r="r" b="b"/>
              <a:pathLst>
                <a:path w="4241800">
                  <a:moveTo>
                    <a:pt x="4241798" y="0"/>
                  </a:moveTo>
                  <a:lnTo>
                    <a:pt x="0" y="0"/>
                  </a:lnTo>
                </a:path>
              </a:pathLst>
            </a:custGeom>
            <a:ln w="9524">
              <a:solidFill>
                <a:srgbClr val="000000"/>
              </a:solidFill>
            </a:ln>
          </p:spPr>
          <p:txBody>
            <a:bodyPr wrap="square" lIns="0" tIns="0" rIns="0" bIns="0" rtlCol="0"/>
            <a:lstStyle/>
            <a:p>
              <a:endParaRPr/>
            </a:p>
          </p:txBody>
        </p:sp>
        <p:sp>
          <p:nvSpPr>
            <p:cNvPr id="43" name="object 43"/>
            <p:cNvSpPr/>
            <p:nvPr/>
          </p:nvSpPr>
          <p:spPr>
            <a:xfrm>
              <a:off x="3630983" y="48246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44" name="object 44"/>
            <p:cNvSpPr txBox="1"/>
            <p:nvPr/>
          </p:nvSpPr>
          <p:spPr>
            <a:xfrm>
              <a:off x="4319323" y="4514756"/>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接通</a:t>
              </a:r>
              <a:endParaRPr sz="1600">
                <a:latin typeface="华文新魏" panose="02010800040101010101" charset="-122"/>
                <a:cs typeface="华文新魏" panose="02010800040101010101" charset="-122"/>
              </a:endParaRPr>
            </a:p>
          </p:txBody>
        </p:sp>
        <p:sp>
          <p:nvSpPr>
            <p:cNvPr id="45" name="object 45"/>
            <p:cNvSpPr txBox="1"/>
            <p:nvPr/>
          </p:nvSpPr>
          <p:spPr>
            <a:xfrm>
              <a:off x="775792" y="5288557"/>
              <a:ext cx="4071620" cy="939800"/>
            </a:xfrm>
            <a:prstGeom prst="rect">
              <a:avLst/>
            </a:prstGeom>
          </p:spPr>
          <p:txBody>
            <a:bodyPr vert="horz" wrap="square" lIns="0" tIns="12700" rIns="0" bIns="0" rtlCol="0">
              <a:spAutoFit/>
            </a:bodyPr>
            <a:lstStyle/>
            <a:p>
              <a:pPr marL="756285" marR="5080" indent="-744220">
                <a:lnSpc>
                  <a:spcPct val="150000"/>
                </a:lnSpc>
                <a:spcBef>
                  <a:spcPts val="100"/>
                </a:spcBef>
              </a:pPr>
              <a:r>
                <a:rPr sz="2000" b="1" spc="-5" dirty="0">
                  <a:solidFill>
                    <a:srgbClr val="FF0000"/>
                  </a:solidFill>
                  <a:latin typeface="华文新魏" panose="02010800040101010101" charset="-122"/>
                  <a:cs typeface="华文新魏" panose="02010800040101010101" charset="-122"/>
                </a:rPr>
                <a:t>问题</a:t>
              </a:r>
              <a:r>
                <a:rPr sz="2000" b="1" spc="-5" dirty="0">
                  <a:solidFill>
                    <a:srgbClr val="FF2600"/>
                  </a:solidFill>
                  <a:latin typeface="华文新魏" panose="02010800040101010101" charset="-122"/>
                  <a:cs typeface="华文新魏" panose="02010800040101010101" charset="-122"/>
                </a:rPr>
                <a:t>：</a:t>
              </a:r>
              <a:r>
                <a:rPr sz="2000" b="1" spc="-5" dirty="0">
                  <a:solidFill>
                    <a:srgbClr val="FF0000"/>
                  </a:solidFill>
                  <a:latin typeface="华文新魏" panose="02010800040101010101" charset="-122"/>
                  <a:cs typeface="华文新魏" panose="02010800040101010101" charset="-122"/>
                </a:rPr>
                <a:t>时间超过</a:t>
              </a:r>
              <a:r>
                <a:rPr sz="2000" b="1" spc="-5" dirty="0">
                  <a:solidFill>
                    <a:srgbClr val="FF2600"/>
                  </a:solidFill>
                  <a:latin typeface="Arial" panose="020B0604020202020204"/>
                  <a:cs typeface="Arial" panose="020B0604020202020204"/>
                </a:rPr>
                <a:t>30</a:t>
              </a:r>
              <a:r>
                <a:rPr sz="2000" b="1" spc="-5" dirty="0">
                  <a:solidFill>
                    <a:srgbClr val="FF0000"/>
                  </a:solidFill>
                  <a:latin typeface="华文新魏" panose="02010800040101010101" charset="-122"/>
                  <a:cs typeface="华文新魏" panose="02010800040101010101" charset="-122"/>
                </a:rPr>
                <a:t>秒的情况没说明 会话对象没有说明计费等情况</a:t>
              </a:r>
              <a:endParaRPr sz="2000">
                <a:latin typeface="华文新魏" panose="02010800040101010101" charset="-122"/>
                <a:cs typeface="华文新魏" panose="02010800040101010101" charset="-122"/>
              </a:endParaRPr>
            </a:p>
          </p:txBody>
        </p:sp>
        <p:sp>
          <p:nvSpPr>
            <p:cNvPr id="46" name="object 46"/>
            <p:cNvSpPr txBox="1"/>
            <p:nvPr/>
          </p:nvSpPr>
          <p:spPr>
            <a:xfrm>
              <a:off x="864923" y="1542956"/>
              <a:ext cx="143002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{b</a:t>
              </a:r>
              <a:r>
                <a:rPr sz="1600" spc="-5" dirty="0">
                  <a:latin typeface="Arial" panose="020B0604020202020204"/>
                  <a:cs typeface="Arial" panose="020B0604020202020204"/>
                </a:rPr>
                <a:t>.</a:t>
              </a:r>
              <a:r>
                <a:rPr sz="1600" dirty="0">
                  <a:latin typeface="Arial" panose="020B0604020202020204"/>
                  <a:cs typeface="Arial" panose="020B0604020202020204"/>
                </a:rPr>
                <a:t>receive</a:t>
              </a:r>
              <a:r>
                <a:rPr sz="1600" spc="-60" dirty="0">
                  <a:latin typeface="Arial" panose="020B0604020202020204"/>
                  <a:cs typeface="Arial" panose="020B0604020202020204"/>
                </a:rPr>
                <a:t>T</a:t>
              </a:r>
              <a:r>
                <a:rPr sz="1600" dirty="0">
                  <a:latin typeface="Arial" panose="020B0604020202020204"/>
                  <a:cs typeface="Arial" panose="020B0604020202020204"/>
                </a:rPr>
                <a:t>ime-</a:t>
              </a:r>
              <a:endParaRPr sz="1600">
                <a:latin typeface="Arial" panose="020B0604020202020204"/>
                <a:cs typeface="Arial" panose="020B0604020202020204"/>
              </a:endParaRPr>
            </a:p>
          </p:txBody>
        </p:sp>
        <p:sp>
          <p:nvSpPr>
            <p:cNvPr id="47" name="object 47"/>
            <p:cNvSpPr txBox="1"/>
            <p:nvPr/>
          </p:nvSpPr>
          <p:spPr>
            <a:xfrm>
              <a:off x="864923" y="1784256"/>
              <a:ext cx="1785620" cy="269240"/>
            </a:xfrm>
            <a:prstGeom prst="rect">
              <a:avLst/>
            </a:prstGeom>
          </p:spPr>
          <p:txBody>
            <a:bodyPr vert="horz" wrap="square" lIns="0" tIns="12700" rIns="0" bIns="0" rtlCol="0">
              <a:spAutoFit/>
            </a:bodyPr>
            <a:lstStyle/>
            <a:p>
              <a:pPr marL="12700">
                <a:lnSpc>
                  <a:spcPct val="100000"/>
                </a:lnSpc>
                <a:spcBef>
                  <a:spcPts val="100"/>
                </a:spcBef>
              </a:pPr>
              <a:r>
                <a:rPr sz="1600" spc="-10" dirty="0">
                  <a:latin typeface="Arial" panose="020B0604020202020204"/>
                  <a:cs typeface="Arial" panose="020B0604020202020204"/>
                </a:rPr>
                <a:t>a.sendTime&lt;1</a:t>
              </a:r>
              <a:r>
                <a:rPr sz="1600" dirty="0">
                  <a:latin typeface="华文新魏" panose="02010800040101010101" charset="-122"/>
                  <a:cs typeface="华文新魏" panose="02010800040101010101" charset="-122"/>
                </a:rPr>
                <a:t>分钟</a:t>
              </a:r>
              <a:r>
                <a:rPr sz="1600" dirty="0">
                  <a:latin typeface="Arial" panose="020B0604020202020204"/>
                  <a:cs typeface="Arial" panose="020B0604020202020204"/>
                </a:rPr>
                <a:t>}</a:t>
              </a:r>
              <a:endParaRPr sz="1600">
                <a:latin typeface="Arial" panose="020B0604020202020204"/>
                <a:cs typeface="Arial" panose="020B0604020202020204"/>
              </a:endParaRPr>
            </a:p>
          </p:txBody>
        </p:sp>
        <p:sp>
          <p:nvSpPr>
            <p:cNvPr id="48" name="object 48"/>
            <p:cNvSpPr txBox="1"/>
            <p:nvPr/>
          </p:nvSpPr>
          <p:spPr>
            <a:xfrm>
              <a:off x="864923" y="2457356"/>
              <a:ext cx="1570990" cy="510540"/>
            </a:xfrm>
            <a:prstGeom prst="rect">
              <a:avLst/>
            </a:prstGeom>
          </p:spPr>
          <p:txBody>
            <a:bodyPr vert="horz" wrap="square" lIns="0" tIns="22860" rIns="0" bIns="0" rtlCol="0">
              <a:spAutoFit/>
            </a:bodyPr>
            <a:lstStyle/>
            <a:p>
              <a:pPr marL="12700" marR="5080">
                <a:lnSpc>
                  <a:spcPts val="1900"/>
                </a:lnSpc>
                <a:spcBef>
                  <a:spcPts val="180"/>
                </a:spcBef>
              </a:pPr>
              <a:r>
                <a:rPr sz="1600" spc="-5" dirty="0">
                  <a:latin typeface="Arial" panose="020B0604020202020204"/>
                  <a:cs typeface="Arial" panose="020B0604020202020204"/>
                </a:rPr>
                <a:t>{c.receiveTime-  </a:t>
              </a:r>
              <a:r>
                <a:rPr sz="1600" dirty="0">
                  <a:latin typeface="Arial" panose="020B0604020202020204"/>
                  <a:cs typeface="Arial" panose="020B0604020202020204"/>
                </a:rPr>
                <a:t>c</a:t>
              </a:r>
              <a:r>
                <a:rPr sz="1600" spc="-5" dirty="0">
                  <a:latin typeface="Arial" panose="020B0604020202020204"/>
                  <a:cs typeface="Arial" panose="020B0604020202020204"/>
                </a:rPr>
                <a:t>.</a:t>
              </a:r>
              <a:r>
                <a:rPr sz="1600" dirty="0">
                  <a:latin typeface="Arial" panose="020B0604020202020204"/>
                  <a:cs typeface="Arial" panose="020B0604020202020204"/>
                </a:rPr>
                <a:t>send</a:t>
              </a:r>
              <a:r>
                <a:rPr sz="1600" spc="-60" dirty="0">
                  <a:latin typeface="Arial" panose="020B0604020202020204"/>
                  <a:cs typeface="Arial" panose="020B0604020202020204"/>
                </a:rPr>
                <a:t>T</a:t>
              </a:r>
              <a:r>
                <a:rPr sz="1600" dirty="0">
                  <a:latin typeface="Arial" panose="020B0604020202020204"/>
                  <a:cs typeface="Arial" panose="020B0604020202020204"/>
                </a:rPr>
                <a:t>im</a:t>
              </a:r>
              <a:r>
                <a:rPr sz="1600" spc="-5" dirty="0">
                  <a:latin typeface="Arial" panose="020B0604020202020204"/>
                  <a:cs typeface="Arial" panose="020B0604020202020204"/>
                </a:rPr>
                <a:t>e</a:t>
              </a:r>
              <a:r>
                <a:rPr sz="1600" dirty="0">
                  <a:latin typeface="Arial" panose="020B0604020202020204"/>
                  <a:cs typeface="Arial" panose="020B0604020202020204"/>
                </a:rPr>
                <a:t>&lt;1</a:t>
              </a:r>
              <a:r>
                <a:rPr sz="1600" dirty="0">
                  <a:latin typeface="华文新魏" panose="02010800040101010101" charset="-122"/>
                  <a:cs typeface="华文新魏" panose="02010800040101010101" charset="-122"/>
                </a:rPr>
                <a:t>秒</a:t>
              </a:r>
              <a:r>
                <a:rPr sz="1600" dirty="0">
                  <a:latin typeface="Arial" panose="020B0604020202020204"/>
                  <a:cs typeface="Arial" panose="020B0604020202020204"/>
                </a:rPr>
                <a:t>}</a:t>
              </a:r>
              <a:endParaRPr sz="1600">
                <a:latin typeface="Arial" panose="020B0604020202020204"/>
                <a:cs typeface="Arial" panose="020B0604020202020204"/>
              </a:endParaRPr>
            </a:p>
          </p:txBody>
        </p:sp>
        <p:sp>
          <p:nvSpPr>
            <p:cNvPr id="49" name="object 49"/>
            <p:cNvSpPr/>
            <p:nvPr/>
          </p:nvSpPr>
          <p:spPr>
            <a:xfrm>
              <a:off x="10234982" y="4176936"/>
              <a:ext cx="203200" cy="685800"/>
            </a:xfrm>
            <a:custGeom>
              <a:avLst/>
              <a:gdLst/>
              <a:ahLst/>
              <a:cxnLst/>
              <a:rect l="l" t="t" r="r" b="b"/>
              <a:pathLst>
                <a:path w="203200" h="685800">
                  <a:moveTo>
                    <a:pt x="0" y="0"/>
                  </a:moveTo>
                  <a:lnTo>
                    <a:pt x="39547" y="5988"/>
                  </a:lnTo>
                  <a:lnTo>
                    <a:pt x="71842" y="22318"/>
                  </a:lnTo>
                  <a:lnTo>
                    <a:pt x="93615" y="46539"/>
                  </a:lnTo>
                  <a:lnTo>
                    <a:pt x="101599" y="76199"/>
                  </a:lnTo>
                  <a:lnTo>
                    <a:pt x="101599" y="266699"/>
                  </a:lnTo>
                  <a:lnTo>
                    <a:pt x="109584" y="296360"/>
                  </a:lnTo>
                  <a:lnTo>
                    <a:pt x="131357" y="320581"/>
                  </a:lnTo>
                  <a:lnTo>
                    <a:pt x="163652" y="336911"/>
                  </a:lnTo>
                  <a:lnTo>
                    <a:pt x="203199" y="342899"/>
                  </a:lnTo>
                  <a:lnTo>
                    <a:pt x="163652" y="348888"/>
                  </a:lnTo>
                  <a:lnTo>
                    <a:pt x="131357" y="365218"/>
                  </a:lnTo>
                  <a:lnTo>
                    <a:pt x="109584" y="389439"/>
                  </a:lnTo>
                  <a:lnTo>
                    <a:pt x="101599" y="419099"/>
                  </a:lnTo>
                  <a:lnTo>
                    <a:pt x="101599" y="609599"/>
                  </a:lnTo>
                  <a:lnTo>
                    <a:pt x="93615" y="639260"/>
                  </a:lnTo>
                  <a:lnTo>
                    <a:pt x="71842" y="663481"/>
                  </a:lnTo>
                  <a:lnTo>
                    <a:pt x="39547" y="679811"/>
                  </a:lnTo>
                  <a:lnTo>
                    <a:pt x="0" y="685799"/>
                  </a:lnTo>
                </a:path>
              </a:pathLst>
            </a:custGeom>
            <a:ln w="9524">
              <a:solidFill>
                <a:srgbClr val="000000"/>
              </a:solidFill>
            </a:ln>
          </p:spPr>
          <p:txBody>
            <a:bodyPr wrap="square" lIns="0" tIns="0" rIns="0" bIns="0" rtlCol="0"/>
            <a:lstStyle/>
            <a:p>
              <a:endParaRPr/>
            </a:p>
          </p:txBody>
        </p:sp>
        <p:sp>
          <p:nvSpPr>
            <p:cNvPr id="50" name="object 50"/>
            <p:cNvSpPr txBox="1"/>
            <p:nvPr/>
          </p:nvSpPr>
          <p:spPr>
            <a:xfrm>
              <a:off x="10618523" y="4438556"/>
              <a:ext cx="46037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&lt;5</a:t>
              </a:r>
              <a:r>
                <a:rPr sz="1600" dirty="0">
                  <a:latin typeface="华文新魏" panose="02010800040101010101" charset="-122"/>
                  <a:cs typeface="华文新魏" panose="02010800040101010101" charset="-122"/>
                </a:rPr>
                <a:t>秒</a:t>
              </a:r>
              <a:endParaRPr sz="1600">
                <a:latin typeface="华文新魏" panose="02010800040101010101" charset="-122"/>
                <a:cs typeface="华文新魏" panose="02010800040101010101" charset="-122"/>
              </a:endParaRPr>
            </a:p>
          </p:txBody>
        </p:sp>
        <p:sp>
          <p:nvSpPr>
            <p:cNvPr id="51" name="object 51"/>
            <p:cNvSpPr/>
            <p:nvPr/>
          </p:nvSpPr>
          <p:spPr>
            <a:xfrm>
              <a:off x="6094783" y="1852835"/>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52" name="object 52"/>
            <p:cNvSpPr/>
            <p:nvPr/>
          </p:nvSpPr>
          <p:spPr>
            <a:xfrm>
              <a:off x="6055074" y="2593982"/>
              <a:ext cx="115909" cy="117908"/>
            </a:xfrm>
            <a:prstGeom prst="rect">
              <a:avLst/>
            </a:prstGeom>
            <a:blipFill>
              <a:blip r:embed="rId3" cstate="print"/>
              <a:stretch>
                <a:fillRect/>
              </a:stretch>
            </a:blipFill>
          </p:spPr>
          <p:txBody>
            <a:bodyPr wrap="square" lIns="0" tIns="0" rIns="0" bIns="0" rtlCol="0"/>
            <a:lstStyle/>
            <a:p>
              <a:endParaRPr/>
            </a:p>
          </p:txBody>
        </p:sp>
        <p:sp>
          <p:nvSpPr>
            <p:cNvPr id="53" name="object 53"/>
            <p:cNvSpPr/>
            <p:nvPr/>
          </p:nvSpPr>
          <p:spPr>
            <a:xfrm>
              <a:off x="8126782" y="4100736"/>
              <a:ext cx="1803400" cy="0"/>
            </a:xfrm>
            <a:custGeom>
              <a:avLst/>
              <a:gdLst/>
              <a:ahLst/>
              <a:cxnLst/>
              <a:rect l="l" t="t" r="r" b="b"/>
              <a:pathLst>
                <a:path w="1803400">
                  <a:moveTo>
                    <a:pt x="1803399" y="0"/>
                  </a:moveTo>
                  <a:lnTo>
                    <a:pt x="0" y="0"/>
                  </a:lnTo>
                </a:path>
              </a:pathLst>
            </a:custGeom>
            <a:ln w="9524">
              <a:solidFill>
                <a:srgbClr val="000000"/>
              </a:solidFill>
            </a:ln>
          </p:spPr>
          <p:txBody>
            <a:bodyPr wrap="square" lIns="0" tIns="0" rIns="0" bIns="0" rtlCol="0"/>
            <a:lstStyle/>
            <a:p>
              <a:endParaRPr/>
            </a:p>
          </p:txBody>
        </p:sp>
        <p:sp>
          <p:nvSpPr>
            <p:cNvPr id="54" name="object 54"/>
            <p:cNvSpPr/>
            <p:nvPr/>
          </p:nvSpPr>
          <p:spPr>
            <a:xfrm>
              <a:off x="8101382" y="40626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55" name="object 55"/>
            <p:cNvSpPr txBox="1"/>
            <p:nvPr/>
          </p:nvSpPr>
          <p:spPr>
            <a:xfrm>
              <a:off x="8789723" y="3447956"/>
              <a:ext cx="99695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阵铃</a:t>
              </a:r>
              <a:r>
                <a:rPr sz="1600" dirty="0">
                  <a:latin typeface="Arial" panose="020B0604020202020204"/>
                  <a:cs typeface="Arial" panose="020B0604020202020204"/>
                </a:rPr>
                <a:t>{3</a:t>
              </a:r>
              <a:r>
                <a:rPr sz="1600" spc="-5" dirty="0">
                  <a:latin typeface="Arial" panose="020B0604020202020204"/>
                  <a:cs typeface="Arial" panose="020B0604020202020204"/>
                </a:rPr>
                <a:t>0</a:t>
              </a:r>
              <a:r>
                <a:rPr sz="1600" dirty="0">
                  <a:latin typeface="华文新魏" panose="02010800040101010101" charset="-122"/>
                  <a:cs typeface="华文新魏" panose="02010800040101010101" charset="-122"/>
                </a:rPr>
                <a:t>秒</a:t>
              </a:r>
              <a:r>
                <a:rPr sz="1600" dirty="0">
                  <a:latin typeface="Arial" panose="020B0604020202020204"/>
                  <a:cs typeface="Arial" panose="020B0604020202020204"/>
                </a:rPr>
                <a:t>}</a:t>
              </a:r>
              <a:endParaRPr sz="1600">
                <a:latin typeface="Arial" panose="020B0604020202020204"/>
                <a:cs typeface="Arial" panose="020B0604020202020204"/>
              </a:endParaRPr>
            </a:p>
          </p:txBody>
        </p:sp>
        <p:sp>
          <p:nvSpPr>
            <p:cNvPr id="56" name="object 56"/>
            <p:cNvSpPr/>
            <p:nvPr/>
          </p:nvSpPr>
          <p:spPr>
            <a:xfrm>
              <a:off x="10011145" y="5338986"/>
              <a:ext cx="0" cy="71755"/>
            </a:xfrm>
            <a:custGeom>
              <a:avLst/>
              <a:gdLst/>
              <a:ahLst/>
              <a:cxnLst/>
              <a:rect l="l" t="t" r="r" b="b"/>
              <a:pathLst>
                <a:path h="71754">
                  <a:moveTo>
                    <a:pt x="0" y="0"/>
                  </a:moveTo>
                  <a:lnTo>
                    <a:pt x="0" y="71437"/>
                  </a:lnTo>
                </a:path>
              </a:pathLst>
            </a:custGeom>
            <a:ln w="9524">
              <a:solidFill>
                <a:srgbClr val="000000"/>
              </a:solidFill>
            </a:ln>
          </p:spPr>
          <p:txBody>
            <a:bodyPr wrap="square" lIns="0" tIns="0" rIns="0" bIns="0" rtlCol="0"/>
            <a:lstStyle/>
            <a:p>
              <a:endParaRPr/>
            </a:p>
          </p:txBody>
        </p:sp>
      </p:grpSp>
      <p:sp>
        <p:nvSpPr>
          <p:cNvPr id="60" name="标题 59"/>
          <p:cNvSpPr>
            <a:spLocks noGrp="1"/>
          </p:cNvSpPr>
          <p:nvPr>
            <p:ph type="title"/>
          </p:nvPr>
        </p:nvSpPr>
        <p:spPr/>
        <p:txBody>
          <a:bodyPr/>
          <a:lstStyle/>
          <a:p>
            <a:r>
              <a:rPr lang="zh-CN" altLang="en-US" spc="-5" dirty="0"/>
              <a:t>修改方案</a:t>
            </a:r>
            <a:r>
              <a:rPr lang="zh-CN" altLang="en-US" spc="-5" dirty="0">
                <a:latin typeface="Calibri Light" panose="020F0302020204030204"/>
                <a:cs typeface="Calibri Light" panose="020F0302020204030204"/>
              </a:rPr>
              <a:t>一</a:t>
            </a:r>
            <a:endParaRPr lang="zh-CN" altLang="en-US" dirty="0"/>
          </a:p>
        </p:txBody>
      </p:sp>
      <p:sp>
        <p:nvSpPr>
          <p:cNvPr id="62" name="灯片编号占位符 61"/>
          <p:cNvSpPr>
            <a:spLocks noGrp="1"/>
          </p:cNvSpPr>
          <p:nvPr>
            <p:ph type="sldNum" sz="quarter" idx="12"/>
          </p:nvPr>
        </p:nvSpPr>
        <p:spPr/>
        <p:txBody>
          <a:bodyPr/>
          <a:lstStyle/>
          <a:p>
            <a:fld id="{74D2AB8B-5816-41F2-8B4B-CA5C3E4E6A65}" type="slidenum">
              <a:rPr lang="zh-CN" altLang="en-US" smtClean="0"/>
              <a:t>3</a:t>
            </a:fld>
            <a:endParaRPr lang="zh-CN" altLang="en-US"/>
          </a:p>
        </p:txBody>
      </p:sp>
      <p:sp>
        <p:nvSpPr>
          <p:cNvPr id="57" name="矩形 56"/>
          <p:cNvSpPr/>
          <p:nvPr/>
        </p:nvSpPr>
        <p:spPr>
          <a:xfrm>
            <a:off x="8676438" y="903890"/>
            <a:ext cx="3109133" cy="15487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墨迹 57"/>
          <p:cNvSpPr/>
          <p:nvPr/>
        </p:nvSpPr>
        <p:spPr bwMode="auto">
          <a:xfrm>
            <a:off x="4285800" y="4660200"/>
            <a:ext cx="5024880" cy="693360"/>
          </a:xfrm>
          <a:prstGeom prst="rect">
            <a:avLst/>
          </a:prstGeom>
        </p:spPr>
      </p:sp>
      <p:sp>
        <p:nvSpPr>
          <p:cNvPr id="59" name="椭圆 58"/>
          <p:cNvSpPr/>
          <p:nvPr/>
        </p:nvSpPr>
        <p:spPr>
          <a:xfrm>
            <a:off x="7584440" y="3478530"/>
            <a:ext cx="1187450" cy="2531110"/>
          </a:xfrm>
          <a:prstGeom prst="ellipse">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5405"/>
    </mc:Choice>
    <mc:Fallback xmlns="">
      <p:transition spd="slow" advTm="1054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cmd type="call" cmd="playFrom(0.0)">
                                      <p:cBhvr>
                                        <p:cTn id="7" dur="1" fill="hold"/>
                                        <p:tgtEl>
                                          <p:spTgt spid="58"/>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6491922"/>
            <a:ext cx="18034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panose="020F0502020204030204"/>
                <a:cs typeface="Calibri" panose="020F0502020204030204"/>
              </a:rPr>
              <a:t>11</a:t>
            </a:r>
            <a:endParaRPr sz="1200">
              <a:latin typeface="Calibri" panose="020F0502020204030204"/>
              <a:cs typeface="Calibri" panose="020F0502020204030204"/>
            </a:endParaRPr>
          </a:p>
        </p:txBody>
      </p:sp>
      <p:sp>
        <p:nvSpPr>
          <p:cNvPr id="4" name="object 4"/>
          <p:cNvSpPr txBox="1"/>
          <p:nvPr/>
        </p:nvSpPr>
        <p:spPr>
          <a:xfrm>
            <a:off x="916939" y="1579880"/>
            <a:ext cx="5943600" cy="18491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下述两种系统的控制流有什么特点？</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集中式的？</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分布式的？</a:t>
            </a:r>
          </a:p>
        </p:txBody>
      </p:sp>
      <p:sp>
        <p:nvSpPr>
          <p:cNvPr id="6" name="object 6"/>
          <p:cNvSpPr/>
          <p:nvPr/>
        </p:nvSpPr>
        <p:spPr>
          <a:xfrm>
            <a:off x="3825238" y="2390428"/>
            <a:ext cx="7261861" cy="3322954"/>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集中、分布控制</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1039"/>
    </mc:Choice>
    <mc:Fallback xmlns="">
      <p:transition spd="slow" advTm="6103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5986" y="315195"/>
            <a:ext cx="5599113" cy="443711"/>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例</a:t>
            </a:r>
            <a:r>
              <a:rPr spc="-5" dirty="0">
                <a:latin typeface="微软雅黑" panose="020B0503020204020204" pitchFamily="34" charset="-122"/>
                <a:ea typeface="微软雅黑" panose="020B0503020204020204" pitchFamily="34" charset="-122"/>
                <a:cs typeface="Calibri" panose="020F0502020204030204"/>
              </a:rPr>
              <a:t>1</a:t>
            </a:r>
            <a:r>
              <a:rPr spc="-5" dirty="0">
                <a:latin typeface="微软雅黑" panose="020B0503020204020204" pitchFamily="34" charset="-122"/>
                <a:ea typeface="微软雅黑" panose="020B0503020204020204" pitchFamily="34" charset="-122"/>
              </a:rPr>
              <a:t>：集中控制的计价系统顺序图</a:t>
            </a:r>
          </a:p>
        </p:txBody>
      </p:sp>
      <p:sp>
        <p:nvSpPr>
          <p:cNvPr id="4" name="object 4"/>
          <p:cNvSpPr/>
          <p:nvPr/>
        </p:nvSpPr>
        <p:spPr>
          <a:xfrm>
            <a:off x="1898102" y="978495"/>
            <a:ext cx="9233993" cy="5318124"/>
          </a:xfrm>
          <a:prstGeom prst="rect">
            <a:avLst/>
          </a:prstGeom>
          <a:blipFill>
            <a:blip r:embed="rId3" cstate="print"/>
            <a:stretch>
              <a:fillRect/>
            </a:stretch>
          </a:blipFill>
        </p:spPr>
        <p:txBody>
          <a:bodyPr wrap="square" lIns="0" tIns="0" rIns="0" bIns="0" rtlCol="0"/>
          <a:lstStyle/>
          <a:p>
            <a:endParaRPr dirty="0"/>
          </a:p>
        </p:txBody>
      </p:sp>
      <p:sp>
        <p:nvSpPr>
          <p:cNvPr id="6" name="灯片编号占位符 5"/>
          <p:cNvSpPr>
            <a:spLocks noGrp="1"/>
          </p:cNvSpPr>
          <p:nvPr>
            <p:ph type="sldNum" sz="quarter" idx="7"/>
          </p:nvPr>
        </p:nvSpPr>
        <p:spPr/>
        <p:txBody>
          <a:bodyPr/>
          <a:lstStyle/>
          <a:p>
            <a:fld id="{B6F15528-21DE-4FAA-801E-634DDDAF4B2B}" type="slidenum">
              <a:rPr lang="en-US" altLang="zh-CN" smtClean="0"/>
              <a:t>5</a:t>
            </a:fld>
            <a:endParaRPr lang="en-US" altLang="zh-CN"/>
          </a:p>
        </p:txBody>
      </p:sp>
      <p:sp>
        <p:nvSpPr>
          <p:cNvPr id="3" name="矩形 2"/>
          <p:cNvSpPr/>
          <p:nvPr/>
        </p:nvSpPr>
        <p:spPr>
          <a:xfrm>
            <a:off x="3079531"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996683"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267904"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328919"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251"/>
    </mc:Choice>
    <mc:Fallback xmlns="">
      <p:transition spd="slow" advTm="4125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203" y="263700"/>
            <a:ext cx="5767228" cy="443711"/>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例2：分布控制的计价系统顺序图</a:t>
            </a:r>
          </a:p>
        </p:txBody>
      </p:sp>
      <p:sp>
        <p:nvSpPr>
          <p:cNvPr id="4" name="object 4"/>
          <p:cNvSpPr/>
          <p:nvPr/>
        </p:nvSpPr>
        <p:spPr>
          <a:xfrm>
            <a:off x="1519237" y="2509837"/>
            <a:ext cx="212724" cy="161924"/>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727200" y="2590800"/>
            <a:ext cx="2413000" cy="0"/>
          </a:xfrm>
          <a:custGeom>
            <a:avLst/>
            <a:gdLst/>
            <a:ahLst/>
            <a:cxnLst/>
            <a:rect l="l" t="t" r="r" b="b"/>
            <a:pathLst>
              <a:path w="2413000">
                <a:moveTo>
                  <a:pt x="0" y="0"/>
                </a:moveTo>
                <a:lnTo>
                  <a:pt x="2412999" y="0"/>
                </a:lnTo>
              </a:path>
            </a:pathLst>
          </a:custGeom>
          <a:ln w="9524">
            <a:solidFill>
              <a:srgbClr val="000000"/>
            </a:solidFill>
          </a:ln>
        </p:spPr>
        <p:txBody>
          <a:bodyPr wrap="square" lIns="0" tIns="0" rIns="0" bIns="0" rtlCol="0"/>
          <a:lstStyle/>
          <a:p>
            <a:endParaRPr/>
          </a:p>
        </p:txBody>
      </p:sp>
      <p:sp>
        <p:nvSpPr>
          <p:cNvPr id="6" name="object 6"/>
          <p:cNvSpPr/>
          <p:nvPr/>
        </p:nvSpPr>
        <p:spPr>
          <a:xfrm>
            <a:off x="4089400" y="25527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7" name="object 7"/>
          <p:cNvSpPr/>
          <p:nvPr/>
        </p:nvSpPr>
        <p:spPr>
          <a:xfrm>
            <a:off x="3422650" y="2016125"/>
            <a:ext cx="1496695" cy="473075"/>
          </a:xfrm>
          <a:custGeom>
            <a:avLst/>
            <a:gdLst/>
            <a:ahLst/>
            <a:cxnLst/>
            <a:rect l="l" t="t" r="r" b="b"/>
            <a:pathLst>
              <a:path w="1496695" h="473075">
                <a:moveTo>
                  <a:pt x="0" y="0"/>
                </a:moveTo>
                <a:lnTo>
                  <a:pt x="1496482" y="0"/>
                </a:lnTo>
                <a:lnTo>
                  <a:pt x="1496482" y="473075"/>
                </a:lnTo>
                <a:lnTo>
                  <a:pt x="0" y="473075"/>
                </a:lnTo>
                <a:lnTo>
                  <a:pt x="0" y="0"/>
                </a:lnTo>
                <a:close/>
              </a:path>
            </a:pathLst>
          </a:custGeom>
          <a:solidFill>
            <a:srgbClr val="FFFED5"/>
          </a:solidFill>
        </p:spPr>
        <p:txBody>
          <a:bodyPr wrap="square" lIns="0" tIns="0" rIns="0" bIns="0" rtlCol="0"/>
          <a:lstStyle/>
          <a:p>
            <a:endParaRPr/>
          </a:p>
        </p:txBody>
      </p:sp>
      <p:sp>
        <p:nvSpPr>
          <p:cNvPr id="8" name="object 8"/>
          <p:cNvSpPr/>
          <p:nvPr/>
        </p:nvSpPr>
        <p:spPr>
          <a:xfrm>
            <a:off x="3422650" y="2016125"/>
            <a:ext cx="1496695" cy="473075"/>
          </a:xfrm>
          <a:custGeom>
            <a:avLst/>
            <a:gdLst/>
            <a:ahLst/>
            <a:cxnLst/>
            <a:rect l="l" t="t" r="r" b="b"/>
            <a:pathLst>
              <a:path w="1496695" h="473075">
                <a:moveTo>
                  <a:pt x="0" y="0"/>
                </a:moveTo>
                <a:lnTo>
                  <a:pt x="1496482" y="0"/>
                </a:lnTo>
                <a:lnTo>
                  <a:pt x="1496482" y="473074"/>
                </a:lnTo>
                <a:lnTo>
                  <a:pt x="0" y="473074"/>
                </a:lnTo>
                <a:lnTo>
                  <a:pt x="0" y="0"/>
                </a:lnTo>
                <a:close/>
              </a:path>
            </a:pathLst>
          </a:custGeom>
          <a:ln w="4156">
            <a:solidFill>
              <a:srgbClr val="AB1942"/>
            </a:solidFill>
          </a:ln>
        </p:spPr>
        <p:txBody>
          <a:bodyPr wrap="square" lIns="0" tIns="0" rIns="0" bIns="0" rtlCol="0"/>
          <a:lstStyle/>
          <a:p>
            <a:endParaRPr/>
          </a:p>
        </p:txBody>
      </p:sp>
      <p:sp>
        <p:nvSpPr>
          <p:cNvPr id="9" name="object 9"/>
          <p:cNvSpPr/>
          <p:nvPr/>
        </p:nvSpPr>
        <p:spPr>
          <a:xfrm>
            <a:off x="3780366" y="2274888"/>
            <a:ext cx="723900" cy="0"/>
          </a:xfrm>
          <a:custGeom>
            <a:avLst/>
            <a:gdLst/>
            <a:ahLst/>
            <a:cxnLst/>
            <a:rect l="l" t="t" r="r" b="b"/>
            <a:pathLst>
              <a:path w="723900">
                <a:moveTo>
                  <a:pt x="0" y="0"/>
                </a:moveTo>
                <a:lnTo>
                  <a:pt x="723900" y="0"/>
                </a:lnTo>
              </a:path>
            </a:pathLst>
          </a:custGeom>
          <a:ln w="12700">
            <a:solidFill>
              <a:srgbClr val="000000"/>
            </a:solidFill>
          </a:ln>
        </p:spPr>
        <p:txBody>
          <a:bodyPr wrap="square" lIns="0" tIns="0" rIns="0" bIns="0" rtlCol="0"/>
          <a:lstStyle/>
          <a:p>
            <a:endParaRPr/>
          </a:p>
        </p:txBody>
      </p:sp>
      <p:sp>
        <p:nvSpPr>
          <p:cNvPr id="10" name="object 10"/>
          <p:cNvSpPr/>
          <p:nvPr/>
        </p:nvSpPr>
        <p:spPr>
          <a:xfrm>
            <a:off x="4170891" y="2487122"/>
            <a:ext cx="0" cy="339090"/>
          </a:xfrm>
          <a:custGeom>
            <a:avLst/>
            <a:gdLst/>
            <a:ahLst/>
            <a:cxnLst/>
            <a:rect l="l" t="t" r="r" b="b"/>
            <a:pathLst>
              <a:path h="339089">
                <a:moveTo>
                  <a:pt x="0" y="0"/>
                </a:moveTo>
                <a:lnTo>
                  <a:pt x="0" y="338627"/>
                </a:lnTo>
              </a:path>
            </a:pathLst>
          </a:custGeom>
          <a:ln w="6273">
            <a:solidFill>
              <a:srgbClr val="000000"/>
            </a:solidFill>
          </a:ln>
        </p:spPr>
        <p:txBody>
          <a:bodyPr wrap="square" lIns="0" tIns="0" rIns="0" bIns="0" rtlCol="0"/>
          <a:lstStyle/>
          <a:p>
            <a:endParaRPr/>
          </a:p>
        </p:txBody>
      </p:sp>
      <p:sp>
        <p:nvSpPr>
          <p:cNvPr id="11" name="object 11"/>
          <p:cNvSpPr/>
          <p:nvPr/>
        </p:nvSpPr>
        <p:spPr>
          <a:xfrm>
            <a:off x="4170891" y="4794250"/>
            <a:ext cx="0" cy="974090"/>
          </a:xfrm>
          <a:custGeom>
            <a:avLst/>
            <a:gdLst/>
            <a:ahLst/>
            <a:cxnLst/>
            <a:rect l="l" t="t" r="r" b="b"/>
            <a:pathLst>
              <a:path h="974089">
                <a:moveTo>
                  <a:pt x="0" y="0"/>
                </a:moveTo>
                <a:lnTo>
                  <a:pt x="0" y="973627"/>
                </a:lnTo>
              </a:path>
            </a:pathLst>
          </a:custGeom>
          <a:ln w="6273">
            <a:solidFill>
              <a:srgbClr val="000000"/>
            </a:solidFill>
          </a:ln>
        </p:spPr>
        <p:txBody>
          <a:bodyPr wrap="square" lIns="0" tIns="0" rIns="0" bIns="0" rtlCol="0"/>
          <a:lstStyle/>
          <a:p>
            <a:endParaRPr/>
          </a:p>
        </p:txBody>
      </p:sp>
      <p:sp>
        <p:nvSpPr>
          <p:cNvPr id="12" name="object 12"/>
          <p:cNvSpPr/>
          <p:nvPr/>
        </p:nvSpPr>
        <p:spPr>
          <a:xfrm>
            <a:off x="4091516" y="2825750"/>
            <a:ext cx="156845" cy="1968500"/>
          </a:xfrm>
          <a:custGeom>
            <a:avLst/>
            <a:gdLst/>
            <a:ahLst/>
            <a:cxnLst/>
            <a:rect l="l" t="t" r="r" b="b"/>
            <a:pathLst>
              <a:path w="156845" h="1968500">
                <a:moveTo>
                  <a:pt x="0" y="0"/>
                </a:moveTo>
                <a:lnTo>
                  <a:pt x="156633" y="0"/>
                </a:lnTo>
                <a:lnTo>
                  <a:pt x="156633" y="1968499"/>
                </a:lnTo>
                <a:lnTo>
                  <a:pt x="0" y="1968499"/>
                </a:lnTo>
                <a:lnTo>
                  <a:pt x="0" y="0"/>
                </a:lnTo>
                <a:close/>
              </a:path>
            </a:pathLst>
          </a:custGeom>
          <a:ln w="4156">
            <a:solidFill>
              <a:srgbClr val="AB1942"/>
            </a:solidFill>
          </a:ln>
        </p:spPr>
        <p:txBody>
          <a:bodyPr wrap="square" lIns="0" tIns="0" rIns="0" bIns="0" rtlCol="0"/>
          <a:lstStyle/>
          <a:p>
            <a:endParaRPr/>
          </a:p>
        </p:txBody>
      </p:sp>
      <p:sp>
        <p:nvSpPr>
          <p:cNvPr id="13" name="object 13"/>
          <p:cNvSpPr/>
          <p:nvPr/>
        </p:nvSpPr>
        <p:spPr>
          <a:xfrm>
            <a:off x="4169833" y="4221163"/>
            <a:ext cx="156845" cy="249554"/>
          </a:xfrm>
          <a:custGeom>
            <a:avLst/>
            <a:gdLst/>
            <a:ahLst/>
            <a:cxnLst/>
            <a:rect l="l" t="t" r="r" b="b"/>
            <a:pathLst>
              <a:path w="156845" h="249554">
                <a:moveTo>
                  <a:pt x="0" y="0"/>
                </a:moveTo>
                <a:lnTo>
                  <a:pt x="156632" y="0"/>
                </a:lnTo>
                <a:lnTo>
                  <a:pt x="156632" y="249237"/>
                </a:lnTo>
                <a:lnTo>
                  <a:pt x="0" y="249237"/>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4169832" y="4221164"/>
            <a:ext cx="156845" cy="249554"/>
          </a:xfrm>
          <a:custGeom>
            <a:avLst/>
            <a:gdLst/>
            <a:ahLst/>
            <a:cxnLst/>
            <a:rect l="l" t="t" r="r" b="b"/>
            <a:pathLst>
              <a:path w="156845" h="249554">
                <a:moveTo>
                  <a:pt x="0" y="0"/>
                </a:moveTo>
                <a:lnTo>
                  <a:pt x="156633" y="0"/>
                </a:lnTo>
                <a:lnTo>
                  <a:pt x="156633" y="249237"/>
                </a:lnTo>
                <a:lnTo>
                  <a:pt x="0" y="249237"/>
                </a:lnTo>
                <a:lnTo>
                  <a:pt x="0" y="0"/>
                </a:lnTo>
                <a:close/>
              </a:path>
            </a:pathLst>
          </a:custGeom>
          <a:ln w="4156">
            <a:solidFill>
              <a:srgbClr val="AB1942"/>
            </a:solidFill>
          </a:ln>
        </p:spPr>
        <p:txBody>
          <a:bodyPr wrap="square" lIns="0" tIns="0" rIns="0" bIns="0" rtlCol="0"/>
          <a:lstStyle/>
          <a:p>
            <a:endParaRPr/>
          </a:p>
        </p:txBody>
      </p:sp>
      <p:sp>
        <p:nvSpPr>
          <p:cNvPr id="15" name="object 15"/>
          <p:cNvSpPr/>
          <p:nvPr/>
        </p:nvSpPr>
        <p:spPr>
          <a:xfrm>
            <a:off x="5416548" y="2016125"/>
            <a:ext cx="1917700" cy="473075"/>
          </a:xfrm>
          <a:custGeom>
            <a:avLst/>
            <a:gdLst/>
            <a:ahLst/>
            <a:cxnLst/>
            <a:rect l="l" t="t" r="r" b="b"/>
            <a:pathLst>
              <a:path w="1917700" h="473075">
                <a:moveTo>
                  <a:pt x="0" y="0"/>
                </a:moveTo>
                <a:lnTo>
                  <a:pt x="1917700" y="0"/>
                </a:lnTo>
                <a:lnTo>
                  <a:pt x="1917700" y="473075"/>
                </a:lnTo>
                <a:lnTo>
                  <a:pt x="0" y="473075"/>
                </a:lnTo>
                <a:lnTo>
                  <a:pt x="0" y="0"/>
                </a:lnTo>
                <a:close/>
              </a:path>
            </a:pathLst>
          </a:custGeom>
          <a:solidFill>
            <a:srgbClr val="FFFED5"/>
          </a:solidFill>
        </p:spPr>
        <p:txBody>
          <a:bodyPr wrap="square" lIns="0" tIns="0" rIns="0" bIns="0" rtlCol="0"/>
          <a:lstStyle/>
          <a:p>
            <a:endParaRPr/>
          </a:p>
        </p:txBody>
      </p:sp>
      <p:sp>
        <p:nvSpPr>
          <p:cNvPr id="16" name="object 16"/>
          <p:cNvSpPr/>
          <p:nvPr/>
        </p:nvSpPr>
        <p:spPr>
          <a:xfrm>
            <a:off x="5416548" y="2016125"/>
            <a:ext cx="1917700" cy="473075"/>
          </a:xfrm>
          <a:custGeom>
            <a:avLst/>
            <a:gdLst/>
            <a:ahLst/>
            <a:cxnLst/>
            <a:rect l="l" t="t" r="r" b="b"/>
            <a:pathLst>
              <a:path w="1917700" h="473075">
                <a:moveTo>
                  <a:pt x="0" y="0"/>
                </a:moveTo>
                <a:lnTo>
                  <a:pt x="1917699" y="0"/>
                </a:lnTo>
                <a:lnTo>
                  <a:pt x="1917699" y="473074"/>
                </a:lnTo>
                <a:lnTo>
                  <a:pt x="0" y="473074"/>
                </a:lnTo>
                <a:lnTo>
                  <a:pt x="0" y="0"/>
                </a:lnTo>
                <a:close/>
              </a:path>
            </a:pathLst>
          </a:custGeom>
          <a:ln w="4156">
            <a:solidFill>
              <a:srgbClr val="AB1942"/>
            </a:solidFill>
          </a:ln>
        </p:spPr>
        <p:txBody>
          <a:bodyPr wrap="square" lIns="0" tIns="0" rIns="0" bIns="0" rtlCol="0"/>
          <a:lstStyle/>
          <a:p>
            <a:endParaRPr/>
          </a:p>
        </p:txBody>
      </p:sp>
      <p:sp>
        <p:nvSpPr>
          <p:cNvPr id="17" name="object 17"/>
          <p:cNvSpPr/>
          <p:nvPr/>
        </p:nvSpPr>
        <p:spPr>
          <a:xfrm>
            <a:off x="5541431" y="2274888"/>
            <a:ext cx="1143000" cy="0"/>
          </a:xfrm>
          <a:custGeom>
            <a:avLst/>
            <a:gdLst/>
            <a:ahLst/>
            <a:cxnLst/>
            <a:rect l="l" t="t" r="r" b="b"/>
            <a:pathLst>
              <a:path w="1143000">
                <a:moveTo>
                  <a:pt x="0" y="0"/>
                </a:moveTo>
                <a:lnTo>
                  <a:pt x="1143000" y="0"/>
                </a:lnTo>
              </a:path>
            </a:pathLst>
          </a:custGeom>
          <a:ln w="12700">
            <a:solidFill>
              <a:srgbClr val="000000"/>
            </a:solidFill>
          </a:ln>
        </p:spPr>
        <p:txBody>
          <a:bodyPr wrap="square" lIns="0" tIns="0" rIns="0" bIns="0" rtlCol="0"/>
          <a:lstStyle/>
          <a:p>
            <a:endParaRPr/>
          </a:p>
        </p:txBody>
      </p:sp>
      <p:sp>
        <p:nvSpPr>
          <p:cNvPr id="18" name="object 18"/>
          <p:cNvSpPr/>
          <p:nvPr/>
        </p:nvSpPr>
        <p:spPr>
          <a:xfrm>
            <a:off x="6166906" y="2487122"/>
            <a:ext cx="0" cy="339090"/>
          </a:xfrm>
          <a:custGeom>
            <a:avLst/>
            <a:gdLst/>
            <a:ahLst/>
            <a:cxnLst/>
            <a:rect l="l" t="t" r="r" b="b"/>
            <a:pathLst>
              <a:path h="339089">
                <a:moveTo>
                  <a:pt x="0" y="0"/>
                </a:moveTo>
                <a:lnTo>
                  <a:pt x="0" y="338627"/>
                </a:lnTo>
              </a:path>
            </a:pathLst>
          </a:custGeom>
          <a:ln w="6273">
            <a:solidFill>
              <a:srgbClr val="000000"/>
            </a:solidFill>
          </a:ln>
        </p:spPr>
        <p:txBody>
          <a:bodyPr wrap="square" lIns="0" tIns="0" rIns="0" bIns="0" rtlCol="0"/>
          <a:lstStyle/>
          <a:p>
            <a:endParaRPr/>
          </a:p>
        </p:txBody>
      </p:sp>
      <p:sp>
        <p:nvSpPr>
          <p:cNvPr id="19" name="object 19"/>
          <p:cNvSpPr/>
          <p:nvPr/>
        </p:nvSpPr>
        <p:spPr>
          <a:xfrm>
            <a:off x="6166906" y="3560763"/>
            <a:ext cx="0" cy="2207260"/>
          </a:xfrm>
          <a:custGeom>
            <a:avLst/>
            <a:gdLst/>
            <a:ahLst/>
            <a:cxnLst/>
            <a:rect l="l" t="t" r="r" b="b"/>
            <a:pathLst>
              <a:path h="2207260">
                <a:moveTo>
                  <a:pt x="0" y="0"/>
                </a:moveTo>
                <a:lnTo>
                  <a:pt x="0" y="2207113"/>
                </a:lnTo>
              </a:path>
            </a:pathLst>
          </a:custGeom>
          <a:ln w="6273">
            <a:solidFill>
              <a:srgbClr val="000000"/>
            </a:solidFill>
          </a:ln>
        </p:spPr>
        <p:txBody>
          <a:bodyPr wrap="square" lIns="0" tIns="0" rIns="0" bIns="0" rtlCol="0"/>
          <a:lstStyle/>
          <a:p>
            <a:endParaRPr/>
          </a:p>
        </p:txBody>
      </p:sp>
      <p:sp>
        <p:nvSpPr>
          <p:cNvPr id="20" name="object 20"/>
          <p:cNvSpPr/>
          <p:nvPr/>
        </p:nvSpPr>
        <p:spPr>
          <a:xfrm>
            <a:off x="6087531" y="2825750"/>
            <a:ext cx="156845" cy="735330"/>
          </a:xfrm>
          <a:custGeom>
            <a:avLst/>
            <a:gdLst/>
            <a:ahLst/>
            <a:cxnLst/>
            <a:rect l="l" t="t" r="r" b="b"/>
            <a:pathLst>
              <a:path w="156845" h="735329">
                <a:moveTo>
                  <a:pt x="0" y="0"/>
                </a:moveTo>
                <a:lnTo>
                  <a:pt x="156633" y="0"/>
                </a:lnTo>
                <a:lnTo>
                  <a:pt x="156633" y="735012"/>
                </a:lnTo>
                <a:lnTo>
                  <a:pt x="0" y="735012"/>
                </a:lnTo>
                <a:lnTo>
                  <a:pt x="0" y="0"/>
                </a:lnTo>
                <a:close/>
              </a:path>
            </a:pathLst>
          </a:custGeom>
          <a:ln w="4156">
            <a:solidFill>
              <a:srgbClr val="AB1942"/>
            </a:solidFill>
          </a:ln>
        </p:spPr>
        <p:txBody>
          <a:bodyPr wrap="square" lIns="0" tIns="0" rIns="0" bIns="0" rtlCol="0"/>
          <a:lstStyle/>
          <a:p>
            <a:endParaRPr/>
          </a:p>
        </p:txBody>
      </p:sp>
      <p:sp>
        <p:nvSpPr>
          <p:cNvPr id="21" name="object 21"/>
          <p:cNvSpPr/>
          <p:nvPr/>
        </p:nvSpPr>
        <p:spPr>
          <a:xfrm>
            <a:off x="7567083" y="2016125"/>
            <a:ext cx="1496695" cy="473075"/>
          </a:xfrm>
          <a:custGeom>
            <a:avLst/>
            <a:gdLst/>
            <a:ahLst/>
            <a:cxnLst/>
            <a:rect l="l" t="t" r="r" b="b"/>
            <a:pathLst>
              <a:path w="1496695" h="473075">
                <a:moveTo>
                  <a:pt x="0" y="0"/>
                </a:moveTo>
                <a:lnTo>
                  <a:pt x="1496482" y="0"/>
                </a:lnTo>
                <a:lnTo>
                  <a:pt x="1496482" y="473075"/>
                </a:lnTo>
                <a:lnTo>
                  <a:pt x="0" y="473075"/>
                </a:lnTo>
                <a:lnTo>
                  <a:pt x="0" y="0"/>
                </a:lnTo>
                <a:close/>
              </a:path>
            </a:pathLst>
          </a:custGeom>
          <a:solidFill>
            <a:srgbClr val="FFFED5"/>
          </a:solidFill>
        </p:spPr>
        <p:txBody>
          <a:bodyPr wrap="square" lIns="0" tIns="0" rIns="0" bIns="0" rtlCol="0"/>
          <a:lstStyle/>
          <a:p>
            <a:endParaRPr/>
          </a:p>
        </p:txBody>
      </p:sp>
      <p:sp>
        <p:nvSpPr>
          <p:cNvPr id="22" name="object 22"/>
          <p:cNvSpPr/>
          <p:nvPr/>
        </p:nvSpPr>
        <p:spPr>
          <a:xfrm>
            <a:off x="7567083" y="2016125"/>
            <a:ext cx="1496695" cy="473075"/>
          </a:xfrm>
          <a:custGeom>
            <a:avLst/>
            <a:gdLst/>
            <a:ahLst/>
            <a:cxnLst/>
            <a:rect l="l" t="t" r="r" b="b"/>
            <a:pathLst>
              <a:path w="1496695" h="473075">
                <a:moveTo>
                  <a:pt x="0" y="0"/>
                </a:moveTo>
                <a:lnTo>
                  <a:pt x="1496482" y="0"/>
                </a:lnTo>
                <a:lnTo>
                  <a:pt x="1496482" y="473074"/>
                </a:lnTo>
                <a:lnTo>
                  <a:pt x="0" y="473074"/>
                </a:lnTo>
                <a:lnTo>
                  <a:pt x="0" y="0"/>
                </a:lnTo>
                <a:close/>
              </a:path>
            </a:pathLst>
          </a:custGeom>
          <a:ln w="4156">
            <a:solidFill>
              <a:srgbClr val="AB1942"/>
            </a:solidFill>
          </a:ln>
        </p:spPr>
        <p:txBody>
          <a:bodyPr wrap="square" lIns="0" tIns="0" rIns="0" bIns="0" rtlCol="0"/>
          <a:lstStyle/>
          <a:p>
            <a:endParaRPr/>
          </a:p>
        </p:txBody>
      </p:sp>
      <p:sp>
        <p:nvSpPr>
          <p:cNvPr id="23" name="object 23"/>
          <p:cNvSpPr/>
          <p:nvPr/>
        </p:nvSpPr>
        <p:spPr>
          <a:xfrm>
            <a:off x="7909983" y="2274888"/>
            <a:ext cx="749300" cy="0"/>
          </a:xfrm>
          <a:custGeom>
            <a:avLst/>
            <a:gdLst/>
            <a:ahLst/>
            <a:cxnLst/>
            <a:rect l="l" t="t" r="r" b="b"/>
            <a:pathLst>
              <a:path w="749300">
                <a:moveTo>
                  <a:pt x="0" y="0"/>
                </a:moveTo>
                <a:lnTo>
                  <a:pt x="749300" y="0"/>
                </a:lnTo>
              </a:path>
            </a:pathLst>
          </a:custGeom>
          <a:ln w="12700">
            <a:solidFill>
              <a:srgbClr val="000000"/>
            </a:solidFill>
          </a:ln>
        </p:spPr>
        <p:txBody>
          <a:bodyPr wrap="square" lIns="0" tIns="0" rIns="0" bIns="0" rtlCol="0"/>
          <a:lstStyle/>
          <a:p>
            <a:endParaRPr/>
          </a:p>
        </p:txBody>
      </p:sp>
      <p:sp>
        <p:nvSpPr>
          <p:cNvPr id="24" name="object 24"/>
          <p:cNvSpPr/>
          <p:nvPr/>
        </p:nvSpPr>
        <p:spPr>
          <a:xfrm>
            <a:off x="8317439" y="2487122"/>
            <a:ext cx="0" cy="588010"/>
          </a:xfrm>
          <a:custGeom>
            <a:avLst/>
            <a:gdLst/>
            <a:ahLst/>
            <a:cxnLst/>
            <a:rect l="l" t="t" r="r" b="b"/>
            <a:pathLst>
              <a:path h="588010">
                <a:moveTo>
                  <a:pt x="0" y="0"/>
                </a:moveTo>
                <a:lnTo>
                  <a:pt x="0" y="587866"/>
                </a:lnTo>
              </a:path>
            </a:pathLst>
          </a:custGeom>
          <a:ln w="6273">
            <a:solidFill>
              <a:srgbClr val="000000"/>
            </a:solidFill>
          </a:ln>
        </p:spPr>
        <p:txBody>
          <a:bodyPr wrap="square" lIns="0" tIns="0" rIns="0" bIns="0" rtlCol="0"/>
          <a:lstStyle/>
          <a:p>
            <a:endParaRPr/>
          </a:p>
        </p:txBody>
      </p:sp>
      <p:sp>
        <p:nvSpPr>
          <p:cNvPr id="25" name="object 25"/>
          <p:cNvSpPr/>
          <p:nvPr/>
        </p:nvSpPr>
        <p:spPr>
          <a:xfrm>
            <a:off x="8317439" y="3311526"/>
            <a:ext cx="0" cy="2456815"/>
          </a:xfrm>
          <a:custGeom>
            <a:avLst/>
            <a:gdLst/>
            <a:ahLst/>
            <a:cxnLst/>
            <a:rect l="l" t="t" r="r" b="b"/>
            <a:pathLst>
              <a:path h="2456815">
                <a:moveTo>
                  <a:pt x="0" y="0"/>
                </a:moveTo>
                <a:lnTo>
                  <a:pt x="0" y="2456351"/>
                </a:lnTo>
              </a:path>
            </a:pathLst>
          </a:custGeom>
          <a:ln w="6273">
            <a:solidFill>
              <a:srgbClr val="000000"/>
            </a:solidFill>
          </a:ln>
        </p:spPr>
        <p:txBody>
          <a:bodyPr wrap="square" lIns="0" tIns="0" rIns="0" bIns="0" rtlCol="0"/>
          <a:lstStyle/>
          <a:p>
            <a:endParaRPr/>
          </a:p>
        </p:txBody>
      </p:sp>
      <p:sp>
        <p:nvSpPr>
          <p:cNvPr id="26" name="object 26"/>
          <p:cNvSpPr/>
          <p:nvPr/>
        </p:nvSpPr>
        <p:spPr>
          <a:xfrm>
            <a:off x="8238065" y="3074988"/>
            <a:ext cx="156845" cy="236854"/>
          </a:xfrm>
          <a:custGeom>
            <a:avLst/>
            <a:gdLst/>
            <a:ahLst/>
            <a:cxnLst/>
            <a:rect l="l" t="t" r="r" b="b"/>
            <a:pathLst>
              <a:path w="156845" h="236854">
                <a:moveTo>
                  <a:pt x="0" y="0"/>
                </a:moveTo>
                <a:lnTo>
                  <a:pt x="156633" y="0"/>
                </a:lnTo>
                <a:lnTo>
                  <a:pt x="156633" y="236537"/>
                </a:lnTo>
                <a:lnTo>
                  <a:pt x="0" y="236537"/>
                </a:lnTo>
                <a:lnTo>
                  <a:pt x="0" y="0"/>
                </a:lnTo>
                <a:close/>
              </a:path>
            </a:pathLst>
          </a:custGeom>
          <a:ln w="4156">
            <a:solidFill>
              <a:srgbClr val="AB1942"/>
            </a:solidFill>
          </a:ln>
        </p:spPr>
        <p:txBody>
          <a:bodyPr wrap="square" lIns="0" tIns="0" rIns="0" bIns="0" rtlCol="0"/>
          <a:lstStyle/>
          <a:p>
            <a:endParaRPr/>
          </a:p>
        </p:txBody>
      </p:sp>
      <p:sp>
        <p:nvSpPr>
          <p:cNvPr id="27" name="object 27"/>
          <p:cNvSpPr/>
          <p:nvPr/>
        </p:nvSpPr>
        <p:spPr>
          <a:xfrm>
            <a:off x="9406466" y="2016125"/>
            <a:ext cx="1642745" cy="473075"/>
          </a:xfrm>
          <a:custGeom>
            <a:avLst/>
            <a:gdLst/>
            <a:ahLst/>
            <a:cxnLst/>
            <a:rect l="l" t="t" r="r" b="b"/>
            <a:pathLst>
              <a:path w="1642745" h="473075">
                <a:moveTo>
                  <a:pt x="0" y="0"/>
                </a:moveTo>
                <a:lnTo>
                  <a:pt x="1642532" y="0"/>
                </a:lnTo>
                <a:lnTo>
                  <a:pt x="1642532" y="473075"/>
                </a:lnTo>
                <a:lnTo>
                  <a:pt x="0" y="473075"/>
                </a:lnTo>
                <a:lnTo>
                  <a:pt x="0" y="0"/>
                </a:lnTo>
                <a:close/>
              </a:path>
            </a:pathLst>
          </a:custGeom>
          <a:solidFill>
            <a:srgbClr val="FFFED5"/>
          </a:solidFill>
        </p:spPr>
        <p:txBody>
          <a:bodyPr wrap="square" lIns="0" tIns="0" rIns="0" bIns="0" rtlCol="0"/>
          <a:lstStyle/>
          <a:p>
            <a:endParaRPr/>
          </a:p>
        </p:txBody>
      </p:sp>
      <p:sp>
        <p:nvSpPr>
          <p:cNvPr id="28" name="object 28"/>
          <p:cNvSpPr/>
          <p:nvPr/>
        </p:nvSpPr>
        <p:spPr>
          <a:xfrm>
            <a:off x="9406465" y="2016125"/>
            <a:ext cx="1642745" cy="473075"/>
          </a:xfrm>
          <a:custGeom>
            <a:avLst/>
            <a:gdLst/>
            <a:ahLst/>
            <a:cxnLst/>
            <a:rect l="l" t="t" r="r" b="b"/>
            <a:pathLst>
              <a:path w="1642745" h="473075">
                <a:moveTo>
                  <a:pt x="0" y="0"/>
                </a:moveTo>
                <a:lnTo>
                  <a:pt x="1642532" y="0"/>
                </a:lnTo>
                <a:lnTo>
                  <a:pt x="1642532" y="473074"/>
                </a:lnTo>
                <a:lnTo>
                  <a:pt x="0" y="473074"/>
                </a:lnTo>
                <a:lnTo>
                  <a:pt x="0" y="0"/>
                </a:lnTo>
                <a:close/>
              </a:path>
            </a:pathLst>
          </a:custGeom>
          <a:ln w="4156">
            <a:solidFill>
              <a:srgbClr val="AB1942"/>
            </a:solidFill>
          </a:ln>
        </p:spPr>
        <p:txBody>
          <a:bodyPr wrap="square" lIns="0" tIns="0" rIns="0" bIns="0" rtlCol="0"/>
          <a:lstStyle/>
          <a:p>
            <a:endParaRPr/>
          </a:p>
        </p:txBody>
      </p:sp>
      <p:sp>
        <p:nvSpPr>
          <p:cNvPr id="29" name="object 29"/>
          <p:cNvSpPr/>
          <p:nvPr/>
        </p:nvSpPr>
        <p:spPr>
          <a:xfrm>
            <a:off x="9673166" y="2274888"/>
            <a:ext cx="889000" cy="0"/>
          </a:xfrm>
          <a:custGeom>
            <a:avLst/>
            <a:gdLst/>
            <a:ahLst/>
            <a:cxnLst/>
            <a:rect l="l" t="t" r="r" b="b"/>
            <a:pathLst>
              <a:path w="889000">
                <a:moveTo>
                  <a:pt x="0" y="0"/>
                </a:moveTo>
                <a:lnTo>
                  <a:pt x="889000" y="0"/>
                </a:lnTo>
              </a:path>
            </a:pathLst>
          </a:custGeom>
          <a:ln w="12700">
            <a:solidFill>
              <a:srgbClr val="000000"/>
            </a:solidFill>
          </a:ln>
        </p:spPr>
        <p:txBody>
          <a:bodyPr wrap="square" lIns="0" tIns="0" rIns="0" bIns="0" rtlCol="0"/>
          <a:lstStyle/>
          <a:p>
            <a:endParaRPr/>
          </a:p>
        </p:txBody>
      </p:sp>
      <p:sp>
        <p:nvSpPr>
          <p:cNvPr id="30" name="object 30"/>
          <p:cNvSpPr/>
          <p:nvPr/>
        </p:nvSpPr>
        <p:spPr>
          <a:xfrm>
            <a:off x="10156824" y="2487122"/>
            <a:ext cx="0" cy="1423035"/>
          </a:xfrm>
          <a:custGeom>
            <a:avLst/>
            <a:gdLst/>
            <a:ahLst/>
            <a:cxnLst/>
            <a:rect l="l" t="t" r="r" b="b"/>
            <a:pathLst>
              <a:path h="1423035">
                <a:moveTo>
                  <a:pt x="0" y="0"/>
                </a:moveTo>
                <a:lnTo>
                  <a:pt x="0" y="1422891"/>
                </a:lnTo>
              </a:path>
            </a:pathLst>
          </a:custGeom>
          <a:ln w="6273">
            <a:solidFill>
              <a:srgbClr val="000000"/>
            </a:solidFill>
          </a:ln>
        </p:spPr>
        <p:txBody>
          <a:bodyPr wrap="square" lIns="0" tIns="0" rIns="0" bIns="0" rtlCol="0"/>
          <a:lstStyle/>
          <a:p>
            <a:endParaRPr/>
          </a:p>
        </p:txBody>
      </p:sp>
      <p:sp>
        <p:nvSpPr>
          <p:cNvPr id="31" name="object 31"/>
          <p:cNvSpPr/>
          <p:nvPr/>
        </p:nvSpPr>
        <p:spPr>
          <a:xfrm>
            <a:off x="10156824" y="4781551"/>
            <a:ext cx="0" cy="986790"/>
          </a:xfrm>
          <a:custGeom>
            <a:avLst/>
            <a:gdLst/>
            <a:ahLst/>
            <a:cxnLst/>
            <a:rect l="l" t="t" r="r" b="b"/>
            <a:pathLst>
              <a:path h="986789">
                <a:moveTo>
                  <a:pt x="0" y="0"/>
                </a:moveTo>
                <a:lnTo>
                  <a:pt x="0" y="986326"/>
                </a:lnTo>
              </a:path>
            </a:pathLst>
          </a:custGeom>
          <a:ln w="6273">
            <a:solidFill>
              <a:srgbClr val="000000"/>
            </a:solidFill>
          </a:ln>
        </p:spPr>
        <p:txBody>
          <a:bodyPr wrap="square" lIns="0" tIns="0" rIns="0" bIns="0" rtlCol="0"/>
          <a:lstStyle/>
          <a:p>
            <a:endParaRPr/>
          </a:p>
        </p:txBody>
      </p:sp>
      <p:sp>
        <p:nvSpPr>
          <p:cNvPr id="32" name="object 32"/>
          <p:cNvSpPr/>
          <p:nvPr/>
        </p:nvSpPr>
        <p:spPr>
          <a:xfrm>
            <a:off x="10077448" y="3910013"/>
            <a:ext cx="156845" cy="871855"/>
          </a:xfrm>
          <a:custGeom>
            <a:avLst/>
            <a:gdLst/>
            <a:ahLst/>
            <a:cxnLst/>
            <a:rect l="l" t="t" r="r" b="b"/>
            <a:pathLst>
              <a:path w="156845" h="871854">
                <a:moveTo>
                  <a:pt x="0" y="0"/>
                </a:moveTo>
                <a:lnTo>
                  <a:pt x="156633" y="0"/>
                </a:lnTo>
                <a:lnTo>
                  <a:pt x="156633" y="871537"/>
                </a:lnTo>
                <a:lnTo>
                  <a:pt x="0" y="871537"/>
                </a:lnTo>
                <a:lnTo>
                  <a:pt x="0" y="0"/>
                </a:lnTo>
                <a:close/>
              </a:path>
            </a:pathLst>
          </a:custGeom>
          <a:ln w="4156">
            <a:solidFill>
              <a:srgbClr val="AB1942"/>
            </a:solidFill>
          </a:ln>
        </p:spPr>
        <p:txBody>
          <a:bodyPr wrap="square" lIns="0" tIns="0" rIns="0" bIns="0" rtlCol="0"/>
          <a:lstStyle/>
          <a:p>
            <a:endParaRPr/>
          </a:p>
        </p:txBody>
      </p:sp>
      <p:sp>
        <p:nvSpPr>
          <p:cNvPr id="33" name="object 33"/>
          <p:cNvSpPr/>
          <p:nvPr/>
        </p:nvSpPr>
        <p:spPr>
          <a:xfrm>
            <a:off x="4248148" y="2825750"/>
            <a:ext cx="1839595" cy="1905"/>
          </a:xfrm>
          <a:custGeom>
            <a:avLst/>
            <a:gdLst/>
            <a:ahLst/>
            <a:cxnLst/>
            <a:rect l="l" t="t" r="r" b="b"/>
            <a:pathLst>
              <a:path w="1839595" h="1905">
                <a:moveTo>
                  <a:pt x="0" y="0"/>
                </a:moveTo>
                <a:lnTo>
                  <a:pt x="1839382" y="1587"/>
                </a:lnTo>
              </a:path>
            </a:pathLst>
          </a:custGeom>
          <a:ln w="4156">
            <a:solidFill>
              <a:srgbClr val="AB1942"/>
            </a:solidFill>
          </a:ln>
        </p:spPr>
        <p:txBody>
          <a:bodyPr wrap="square" lIns="0" tIns="0" rIns="0" bIns="0" rtlCol="0"/>
          <a:lstStyle/>
          <a:p>
            <a:endParaRPr/>
          </a:p>
        </p:txBody>
      </p:sp>
      <p:sp>
        <p:nvSpPr>
          <p:cNvPr id="34" name="object 34"/>
          <p:cNvSpPr/>
          <p:nvPr/>
        </p:nvSpPr>
        <p:spPr>
          <a:xfrm>
            <a:off x="6244166" y="3074988"/>
            <a:ext cx="1993900" cy="1905"/>
          </a:xfrm>
          <a:custGeom>
            <a:avLst/>
            <a:gdLst/>
            <a:ahLst/>
            <a:cxnLst/>
            <a:rect l="l" t="t" r="r" b="b"/>
            <a:pathLst>
              <a:path w="1993900" h="1905">
                <a:moveTo>
                  <a:pt x="0" y="0"/>
                </a:moveTo>
                <a:lnTo>
                  <a:pt x="1993899" y="1587"/>
                </a:lnTo>
              </a:path>
            </a:pathLst>
          </a:custGeom>
          <a:ln w="4156">
            <a:solidFill>
              <a:srgbClr val="AB1942"/>
            </a:solidFill>
          </a:ln>
        </p:spPr>
        <p:txBody>
          <a:bodyPr wrap="square" lIns="0" tIns="0" rIns="0" bIns="0" rtlCol="0"/>
          <a:lstStyle/>
          <a:p>
            <a:endParaRPr/>
          </a:p>
        </p:txBody>
      </p:sp>
      <p:sp>
        <p:nvSpPr>
          <p:cNvPr id="35" name="object 35"/>
          <p:cNvSpPr/>
          <p:nvPr/>
        </p:nvSpPr>
        <p:spPr>
          <a:xfrm>
            <a:off x="8066616" y="3074988"/>
            <a:ext cx="171450" cy="62230"/>
          </a:xfrm>
          <a:custGeom>
            <a:avLst/>
            <a:gdLst/>
            <a:ahLst/>
            <a:cxnLst/>
            <a:rect l="l" t="t" r="r" b="b"/>
            <a:pathLst>
              <a:path w="171450" h="62230">
                <a:moveTo>
                  <a:pt x="171449" y="0"/>
                </a:moveTo>
                <a:lnTo>
                  <a:pt x="0" y="61912"/>
                </a:lnTo>
              </a:path>
            </a:pathLst>
          </a:custGeom>
          <a:ln w="11112">
            <a:solidFill>
              <a:srgbClr val="AB1942"/>
            </a:solidFill>
          </a:ln>
        </p:spPr>
        <p:txBody>
          <a:bodyPr wrap="square" lIns="0" tIns="0" rIns="0" bIns="0" rtlCol="0"/>
          <a:lstStyle/>
          <a:p>
            <a:endParaRPr/>
          </a:p>
        </p:txBody>
      </p:sp>
      <p:sp>
        <p:nvSpPr>
          <p:cNvPr id="36" name="object 36"/>
          <p:cNvSpPr/>
          <p:nvPr/>
        </p:nvSpPr>
        <p:spPr>
          <a:xfrm>
            <a:off x="8066616" y="3013075"/>
            <a:ext cx="171450" cy="62230"/>
          </a:xfrm>
          <a:custGeom>
            <a:avLst/>
            <a:gdLst/>
            <a:ahLst/>
            <a:cxnLst/>
            <a:rect l="l" t="t" r="r" b="b"/>
            <a:pathLst>
              <a:path w="171450" h="62230">
                <a:moveTo>
                  <a:pt x="171449" y="61912"/>
                </a:moveTo>
                <a:lnTo>
                  <a:pt x="0" y="0"/>
                </a:lnTo>
              </a:path>
            </a:pathLst>
          </a:custGeom>
          <a:ln w="11112">
            <a:solidFill>
              <a:srgbClr val="AB1942"/>
            </a:solidFill>
          </a:ln>
        </p:spPr>
        <p:txBody>
          <a:bodyPr wrap="square" lIns="0" tIns="0" rIns="0" bIns="0" rtlCol="0"/>
          <a:lstStyle/>
          <a:p>
            <a:endParaRPr/>
          </a:p>
        </p:txBody>
      </p:sp>
      <p:sp>
        <p:nvSpPr>
          <p:cNvPr id="37" name="object 37"/>
          <p:cNvSpPr/>
          <p:nvPr/>
        </p:nvSpPr>
        <p:spPr>
          <a:xfrm>
            <a:off x="4248148" y="3910013"/>
            <a:ext cx="5829300" cy="1905"/>
          </a:xfrm>
          <a:custGeom>
            <a:avLst/>
            <a:gdLst/>
            <a:ahLst/>
            <a:cxnLst/>
            <a:rect l="l" t="t" r="r" b="b"/>
            <a:pathLst>
              <a:path w="5829300" h="1904">
                <a:moveTo>
                  <a:pt x="0" y="0"/>
                </a:moveTo>
                <a:lnTo>
                  <a:pt x="5829298" y="1588"/>
                </a:lnTo>
              </a:path>
            </a:pathLst>
          </a:custGeom>
          <a:ln w="4156">
            <a:solidFill>
              <a:srgbClr val="AB1942"/>
            </a:solidFill>
          </a:ln>
        </p:spPr>
        <p:txBody>
          <a:bodyPr wrap="square" lIns="0" tIns="0" rIns="0" bIns="0" rtlCol="0"/>
          <a:lstStyle/>
          <a:p>
            <a:endParaRPr/>
          </a:p>
        </p:txBody>
      </p:sp>
      <p:sp>
        <p:nvSpPr>
          <p:cNvPr id="38" name="object 38"/>
          <p:cNvSpPr/>
          <p:nvPr/>
        </p:nvSpPr>
        <p:spPr>
          <a:xfrm>
            <a:off x="9891181" y="3910013"/>
            <a:ext cx="186690" cy="62230"/>
          </a:xfrm>
          <a:custGeom>
            <a:avLst/>
            <a:gdLst/>
            <a:ahLst/>
            <a:cxnLst/>
            <a:rect l="l" t="t" r="r" b="b"/>
            <a:pathLst>
              <a:path w="186690" h="62229">
                <a:moveTo>
                  <a:pt x="186266" y="0"/>
                </a:moveTo>
                <a:lnTo>
                  <a:pt x="0" y="61913"/>
                </a:lnTo>
              </a:path>
            </a:pathLst>
          </a:custGeom>
          <a:ln w="11112">
            <a:solidFill>
              <a:srgbClr val="AB1942"/>
            </a:solidFill>
          </a:ln>
        </p:spPr>
        <p:txBody>
          <a:bodyPr wrap="square" lIns="0" tIns="0" rIns="0" bIns="0" rtlCol="0"/>
          <a:lstStyle/>
          <a:p>
            <a:endParaRPr/>
          </a:p>
        </p:txBody>
      </p:sp>
      <p:sp>
        <p:nvSpPr>
          <p:cNvPr id="39" name="object 39"/>
          <p:cNvSpPr/>
          <p:nvPr/>
        </p:nvSpPr>
        <p:spPr>
          <a:xfrm>
            <a:off x="9891181" y="3846513"/>
            <a:ext cx="186690" cy="63500"/>
          </a:xfrm>
          <a:custGeom>
            <a:avLst/>
            <a:gdLst/>
            <a:ahLst/>
            <a:cxnLst/>
            <a:rect l="l" t="t" r="r" b="b"/>
            <a:pathLst>
              <a:path w="186690" h="63500">
                <a:moveTo>
                  <a:pt x="186266" y="63499"/>
                </a:moveTo>
                <a:lnTo>
                  <a:pt x="0" y="0"/>
                </a:lnTo>
              </a:path>
            </a:pathLst>
          </a:custGeom>
          <a:ln w="11112">
            <a:solidFill>
              <a:srgbClr val="AB1942"/>
            </a:solidFill>
          </a:ln>
        </p:spPr>
        <p:txBody>
          <a:bodyPr wrap="square" lIns="0" tIns="0" rIns="0" bIns="0" rtlCol="0"/>
          <a:lstStyle/>
          <a:p>
            <a:endParaRPr/>
          </a:p>
        </p:txBody>
      </p:sp>
      <p:sp>
        <p:nvSpPr>
          <p:cNvPr id="40" name="object 40"/>
          <p:cNvSpPr/>
          <p:nvPr/>
        </p:nvSpPr>
        <p:spPr>
          <a:xfrm>
            <a:off x="4326467" y="4221164"/>
            <a:ext cx="5751195" cy="1905"/>
          </a:xfrm>
          <a:custGeom>
            <a:avLst/>
            <a:gdLst/>
            <a:ahLst/>
            <a:cxnLst/>
            <a:rect l="l" t="t" r="r" b="b"/>
            <a:pathLst>
              <a:path w="5751195" h="1904">
                <a:moveTo>
                  <a:pt x="5750981" y="0"/>
                </a:moveTo>
                <a:lnTo>
                  <a:pt x="0" y="1588"/>
                </a:lnTo>
              </a:path>
            </a:pathLst>
          </a:custGeom>
          <a:ln w="4156">
            <a:solidFill>
              <a:srgbClr val="AB1942"/>
            </a:solidFill>
          </a:ln>
        </p:spPr>
        <p:txBody>
          <a:bodyPr wrap="square" lIns="0" tIns="0" rIns="0" bIns="0" rtlCol="0"/>
          <a:lstStyle/>
          <a:p>
            <a:endParaRPr/>
          </a:p>
        </p:txBody>
      </p:sp>
      <p:sp>
        <p:nvSpPr>
          <p:cNvPr id="41" name="object 41"/>
          <p:cNvSpPr/>
          <p:nvPr/>
        </p:nvSpPr>
        <p:spPr>
          <a:xfrm>
            <a:off x="4326466" y="4221164"/>
            <a:ext cx="171450" cy="62230"/>
          </a:xfrm>
          <a:custGeom>
            <a:avLst/>
            <a:gdLst/>
            <a:ahLst/>
            <a:cxnLst/>
            <a:rect l="l" t="t" r="r" b="b"/>
            <a:pathLst>
              <a:path w="171450" h="62229">
                <a:moveTo>
                  <a:pt x="0" y="0"/>
                </a:moveTo>
                <a:lnTo>
                  <a:pt x="171449" y="61913"/>
                </a:lnTo>
              </a:path>
            </a:pathLst>
          </a:custGeom>
          <a:ln w="11112">
            <a:solidFill>
              <a:srgbClr val="AB1942"/>
            </a:solidFill>
          </a:ln>
        </p:spPr>
        <p:txBody>
          <a:bodyPr wrap="square" lIns="0" tIns="0" rIns="0" bIns="0" rtlCol="0"/>
          <a:lstStyle/>
          <a:p>
            <a:endParaRPr/>
          </a:p>
        </p:txBody>
      </p:sp>
      <p:sp>
        <p:nvSpPr>
          <p:cNvPr id="42" name="object 42"/>
          <p:cNvSpPr/>
          <p:nvPr/>
        </p:nvSpPr>
        <p:spPr>
          <a:xfrm>
            <a:off x="4326466" y="4170364"/>
            <a:ext cx="171450" cy="50800"/>
          </a:xfrm>
          <a:custGeom>
            <a:avLst/>
            <a:gdLst/>
            <a:ahLst/>
            <a:cxnLst/>
            <a:rect l="l" t="t" r="r" b="b"/>
            <a:pathLst>
              <a:path w="171450" h="50800">
                <a:moveTo>
                  <a:pt x="0" y="50799"/>
                </a:moveTo>
                <a:lnTo>
                  <a:pt x="171449" y="0"/>
                </a:lnTo>
              </a:path>
            </a:pathLst>
          </a:custGeom>
          <a:ln w="11112">
            <a:solidFill>
              <a:srgbClr val="AB1942"/>
            </a:solidFill>
          </a:ln>
        </p:spPr>
        <p:txBody>
          <a:bodyPr wrap="square" lIns="0" tIns="0" rIns="0" bIns="0" rtlCol="0"/>
          <a:lstStyle/>
          <a:p>
            <a:endParaRPr/>
          </a:p>
        </p:txBody>
      </p:sp>
      <p:sp>
        <p:nvSpPr>
          <p:cNvPr id="43" name="object 43"/>
          <p:cNvSpPr/>
          <p:nvPr/>
        </p:nvSpPr>
        <p:spPr>
          <a:xfrm>
            <a:off x="4326467" y="4730750"/>
            <a:ext cx="5751195" cy="1905"/>
          </a:xfrm>
          <a:custGeom>
            <a:avLst/>
            <a:gdLst/>
            <a:ahLst/>
            <a:cxnLst/>
            <a:rect l="l" t="t" r="r" b="b"/>
            <a:pathLst>
              <a:path w="5751195" h="1904">
                <a:moveTo>
                  <a:pt x="5750981" y="0"/>
                </a:moveTo>
                <a:lnTo>
                  <a:pt x="0" y="1588"/>
                </a:lnTo>
              </a:path>
            </a:pathLst>
          </a:custGeom>
          <a:ln w="4156">
            <a:solidFill>
              <a:srgbClr val="AB1942"/>
            </a:solidFill>
          </a:ln>
        </p:spPr>
        <p:txBody>
          <a:bodyPr wrap="square" lIns="0" tIns="0" rIns="0" bIns="0" rtlCol="0"/>
          <a:lstStyle/>
          <a:p>
            <a:endParaRPr/>
          </a:p>
        </p:txBody>
      </p:sp>
      <p:sp>
        <p:nvSpPr>
          <p:cNvPr id="44" name="object 44"/>
          <p:cNvSpPr/>
          <p:nvPr/>
        </p:nvSpPr>
        <p:spPr>
          <a:xfrm>
            <a:off x="4326466" y="4730750"/>
            <a:ext cx="171450" cy="63500"/>
          </a:xfrm>
          <a:custGeom>
            <a:avLst/>
            <a:gdLst/>
            <a:ahLst/>
            <a:cxnLst/>
            <a:rect l="l" t="t" r="r" b="b"/>
            <a:pathLst>
              <a:path w="171450" h="63500">
                <a:moveTo>
                  <a:pt x="0" y="0"/>
                </a:moveTo>
                <a:lnTo>
                  <a:pt x="171449" y="63499"/>
                </a:lnTo>
              </a:path>
            </a:pathLst>
          </a:custGeom>
          <a:ln w="11112">
            <a:solidFill>
              <a:srgbClr val="AB1942"/>
            </a:solidFill>
          </a:ln>
        </p:spPr>
        <p:txBody>
          <a:bodyPr wrap="square" lIns="0" tIns="0" rIns="0" bIns="0" rtlCol="0"/>
          <a:lstStyle/>
          <a:p>
            <a:endParaRPr/>
          </a:p>
        </p:txBody>
      </p:sp>
      <p:sp>
        <p:nvSpPr>
          <p:cNvPr id="45" name="object 45"/>
          <p:cNvSpPr/>
          <p:nvPr/>
        </p:nvSpPr>
        <p:spPr>
          <a:xfrm>
            <a:off x="4326466" y="4668838"/>
            <a:ext cx="171450" cy="62230"/>
          </a:xfrm>
          <a:custGeom>
            <a:avLst/>
            <a:gdLst/>
            <a:ahLst/>
            <a:cxnLst/>
            <a:rect l="l" t="t" r="r" b="b"/>
            <a:pathLst>
              <a:path w="171450" h="62229">
                <a:moveTo>
                  <a:pt x="0" y="61913"/>
                </a:moveTo>
                <a:lnTo>
                  <a:pt x="171449" y="0"/>
                </a:lnTo>
              </a:path>
            </a:pathLst>
          </a:custGeom>
          <a:ln w="11112">
            <a:solidFill>
              <a:srgbClr val="AB1942"/>
            </a:solidFill>
          </a:ln>
        </p:spPr>
        <p:txBody>
          <a:bodyPr wrap="square" lIns="0" tIns="0" rIns="0" bIns="0" rtlCol="0"/>
          <a:lstStyle/>
          <a:p>
            <a:endParaRPr/>
          </a:p>
        </p:txBody>
      </p:sp>
      <p:sp>
        <p:nvSpPr>
          <p:cNvPr id="46" name="object 46"/>
          <p:cNvSpPr txBox="1"/>
          <p:nvPr/>
        </p:nvSpPr>
        <p:spPr>
          <a:xfrm>
            <a:off x="1710689" y="2062362"/>
            <a:ext cx="8864600" cy="2653665"/>
          </a:xfrm>
          <a:prstGeom prst="rect">
            <a:avLst/>
          </a:prstGeom>
        </p:spPr>
        <p:txBody>
          <a:bodyPr vert="horz" wrap="square" lIns="0" tIns="0" rIns="0" bIns="0" rtlCol="0">
            <a:spAutoFit/>
          </a:bodyPr>
          <a:lstStyle/>
          <a:p>
            <a:pPr marL="2069465">
              <a:lnSpc>
                <a:spcPts val="1700"/>
              </a:lnSpc>
              <a:tabLst>
                <a:tab pos="3830320" algn="l"/>
                <a:tab pos="6198870" algn="l"/>
                <a:tab pos="7962265" algn="l"/>
              </a:tabLst>
            </a:pPr>
            <a:r>
              <a:rPr sz="1600" dirty="0">
                <a:latin typeface="Calibri" panose="020F0502020204030204"/>
                <a:cs typeface="Calibri" panose="020F0502020204030204"/>
              </a:rPr>
              <a:t>an O</a:t>
            </a:r>
            <a:r>
              <a:rPr sz="1600" spc="-5" dirty="0">
                <a:latin typeface="Calibri" panose="020F0502020204030204"/>
                <a:cs typeface="Calibri" panose="020F0502020204030204"/>
              </a:rPr>
              <a:t>r</a:t>
            </a:r>
            <a:r>
              <a:rPr sz="1600" dirty="0">
                <a:latin typeface="Calibri" panose="020F0502020204030204"/>
                <a:cs typeface="Calibri" panose="020F0502020204030204"/>
              </a:rPr>
              <a:t>der	An O</a:t>
            </a:r>
            <a:r>
              <a:rPr sz="1600" spc="-5" dirty="0">
                <a:latin typeface="Calibri" panose="020F0502020204030204"/>
                <a:cs typeface="Calibri" panose="020F0502020204030204"/>
              </a:rPr>
              <a:t>r</a:t>
            </a:r>
            <a:r>
              <a:rPr sz="1600" dirty="0">
                <a:latin typeface="Calibri" panose="020F0502020204030204"/>
                <a:cs typeface="Calibri" panose="020F0502020204030204"/>
              </a:rPr>
              <a:t>der Line	a</a:t>
            </a:r>
            <a:r>
              <a:rPr sz="1600" spc="-5" dirty="0">
                <a:latin typeface="Calibri" panose="020F0502020204030204"/>
                <a:cs typeface="Calibri" panose="020F0502020204030204"/>
              </a:rPr>
              <a:t>Pro</a:t>
            </a:r>
            <a:r>
              <a:rPr sz="1600" dirty="0">
                <a:latin typeface="Calibri" panose="020F0502020204030204"/>
                <a:cs typeface="Calibri" panose="020F0502020204030204"/>
              </a:rPr>
              <a:t>duct	aCustomer</a:t>
            </a:r>
            <a:endParaRPr sz="1600">
              <a:latin typeface="Calibri" panose="020F0502020204030204"/>
              <a:cs typeface="Calibri" panose="020F0502020204030204"/>
            </a:endParaRPr>
          </a:p>
          <a:p>
            <a:pPr>
              <a:lnSpc>
                <a:spcPts val="1540"/>
              </a:lnSpc>
            </a:pPr>
            <a:r>
              <a:rPr sz="1400" b="1" spc="-5" dirty="0">
                <a:latin typeface="Arial" panose="020B0604020202020204"/>
                <a:cs typeface="Arial" panose="020B0604020202020204"/>
              </a:rPr>
              <a:t>CalculatePrice</a:t>
            </a:r>
            <a:endParaRPr sz="1400">
              <a:latin typeface="Arial" panose="020B0604020202020204"/>
              <a:cs typeface="Arial" panose="020B0604020202020204"/>
            </a:endParaRPr>
          </a:p>
          <a:p>
            <a:pPr marL="2693670">
              <a:lnSpc>
                <a:spcPts val="1890"/>
              </a:lnSpc>
              <a:spcBef>
                <a:spcPts val="710"/>
              </a:spcBef>
            </a:pPr>
            <a:r>
              <a:rPr sz="1600" dirty="0">
                <a:latin typeface="华文新魏" panose="02010800040101010101" charset="-122"/>
                <a:cs typeface="华文新魏" panose="02010800040101010101" charset="-122"/>
              </a:rPr>
              <a:t>1.</a:t>
            </a:r>
            <a:r>
              <a:rPr sz="1600" spc="-5"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calculatePrice</a:t>
            </a:r>
            <a:endParaRPr sz="1600">
              <a:latin typeface="Calibri" panose="020F0502020204030204"/>
              <a:cs typeface="Calibri" panose="020F0502020204030204"/>
            </a:endParaRPr>
          </a:p>
          <a:p>
            <a:pPr marL="4158615">
              <a:lnSpc>
                <a:spcPts val="1890"/>
              </a:lnSpc>
            </a:pPr>
            <a:r>
              <a:rPr sz="1600" dirty="0">
                <a:latin typeface="华文新魏" panose="02010800040101010101" charset="-122"/>
                <a:cs typeface="华文新魏" panose="02010800040101010101" charset="-122"/>
              </a:rPr>
              <a:t>1.1.</a:t>
            </a:r>
            <a:r>
              <a:rPr sz="1600" spc="-5"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getPrice(quantity:number)</a:t>
            </a:r>
            <a:endParaRPr sz="1600">
              <a:latin typeface="Calibri" panose="020F0502020204030204"/>
              <a:cs typeface="Calibri" panose="020F0502020204030204"/>
            </a:endParaRPr>
          </a:p>
          <a:p>
            <a:pPr>
              <a:lnSpc>
                <a:spcPct val="100000"/>
              </a:lnSpc>
            </a:pPr>
            <a:endParaRPr sz="1900">
              <a:latin typeface="Times New Roman" panose="02020603050405020304"/>
              <a:cs typeface="Times New Roman" panose="02020603050405020304"/>
            </a:endParaRPr>
          </a:p>
          <a:p>
            <a:pPr>
              <a:lnSpc>
                <a:spcPct val="100000"/>
              </a:lnSpc>
              <a:spcBef>
                <a:spcPts val="55"/>
              </a:spcBef>
            </a:pPr>
            <a:endParaRPr sz="2100">
              <a:latin typeface="Times New Roman" panose="02020603050405020304"/>
              <a:cs typeface="Times New Roman" panose="02020603050405020304"/>
            </a:endParaRPr>
          </a:p>
          <a:p>
            <a:pPr marL="3970020">
              <a:lnSpc>
                <a:spcPct val="100000"/>
              </a:lnSpc>
            </a:pPr>
            <a:r>
              <a:rPr sz="1600" dirty="0">
                <a:latin typeface="华文新魏" panose="02010800040101010101" charset="-122"/>
                <a:cs typeface="华文新魏" panose="02010800040101010101" charset="-122"/>
              </a:rPr>
              <a:t>2. </a:t>
            </a:r>
            <a:r>
              <a:rPr sz="1600" spc="-5" dirty="0">
                <a:latin typeface="Calibri" panose="020F0502020204030204"/>
                <a:cs typeface="Calibri" panose="020F0502020204030204"/>
              </a:rPr>
              <a:t>getDiscountedValue(an Order)</a:t>
            </a:r>
            <a:endParaRPr sz="1600">
              <a:latin typeface="Calibri" panose="020F0502020204030204"/>
              <a:cs typeface="Calibri" panose="020F0502020204030204"/>
            </a:endParaRPr>
          </a:p>
          <a:p>
            <a:pPr marL="4655820">
              <a:lnSpc>
                <a:spcPct val="100000"/>
              </a:lnSpc>
              <a:spcBef>
                <a:spcPts val="530"/>
              </a:spcBef>
            </a:pPr>
            <a:r>
              <a:rPr sz="1600" dirty="0">
                <a:latin typeface="华文新魏" panose="02010800040101010101" charset="-122"/>
                <a:cs typeface="华文新魏" panose="02010800040101010101" charset="-122"/>
              </a:rPr>
              <a:t>2.1.</a:t>
            </a:r>
            <a:r>
              <a:rPr sz="1600" spc="-5"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getBaseValue</a:t>
            </a:r>
            <a:endParaRPr sz="1600">
              <a:latin typeface="Calibri" panose="020F0502020204030204"/>
              <a:cs typeface="Calibri" panose="020F0502020204030204"/>
            </a:endParaRPr>
          </a:p>
          <a:p>
            <a:pPr>
              <a:lnSpc>
                <a:spcPct val="100000"/>
              </a:lnSpc>
              <a:spcBef>
                <a:spcPts val="35"/>
              </a:spcBef>
            </a:pPr>
            <a:endParaRPr sz="1800">
              <a:latin typeface="Times New Roman" panose="02020603050405020304"/>
              <a:cs typeface="Times New Roman" panose="02020603050405020304"/>
            </a:endParaRPr>
          </a:p>
          <a:p>
            <a:pPr marL="4547870">
              <a:lnSpc>
                <a:spcPct val="100000"/>
              </a:lnSpc>
            </a:pPr>
            <a:r>
              <a:rPr sz="1600" dirty="0">
                <a:latin typeface="华文新魏" panose="02010800040101010101" charset="-122"/>
                <a:cs typeface="华文新魏" panose="02010800040101010101" charset="-122"/>
              </a:rPr>
              <a:t>2.2.</a:t>
            </a:r>
            <a:r>
              <a:rPr sz="1600" spc="-10"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discountedValue</a:t>
            </a:r>
            <a:endParaRPr sz="1600">
              <a:latin typeface="Calibri" panose="020F0502020204030204"/>
              <a:cs typeface="Calibri" panose="020F0502020204030204"/>
            </a:endParaRPr>
          </a:p>
        </p:txBody>
      </p:sp>
      <p:sp>
        <p:nvSpPr>
          <p:cNvPr id="47" name="object 47"/>
          <p:cNvSpPr/>
          <p:nvPr/>
        </p:nvSpPr>
        <p:spPr>
          <a:xfrm>
            <a:off x="119062" y="1125538"/>
            <a:ext cx="11715748" cy="4954585"/>
          </a:xfrm>
          <a:prstGeom prst="rect">
            <a:avLst/>
          </a:prstGeom>
          <a:blipFill>
            <a:blip r:embed="rId4" cstate="print"/>
            <a:stretch>
              <a:fillRect/>
            </a:stretch>
          </a:blipFill>
        </p:spPr>
        <p:txBody>
          <a:bodyPr wrap="square" lIns="0" tIns="0" rIns="0" bIns="0" rtlCol="0"/>
          <a:lstStyle/>
          <a:p>
            <a:endParaRPr/>
          </a:p>
        </p:txBody>
      </p:sp>
      <p:sp>
        <p:nvSpPr>
          <p:cNvPr id="49" name="灯片编号占位符 48"/>
          <p:cNvSpPr>
            <a:spLocks noGrp="1"/>
          </p:cNvSpPr>
          <p:nvPr>
            <p:ph type="sldNum" sz="quarter" idx="7"/>
          </p:nvPr>
        </p:nvSpPr>
        <p:spPr/>
        <p:txBody>
          <a:bodyPr/>
          <a:lstStyle/>
          <a:p>
            <a:fld id="{B6F15528-21DE-4FAA-801E-634DDDAF4B2B}" type="slidenum">
              <a:rPr lang="en-US" altLang="zh-CN" smtClean="0"/>
              <a:t>6</a:t>
            </a:fld>
            <a:endParaRPr lang="en-US" altLang="zh-CN"/>
          </a:p>
        </p:txBody>
      </p:sp>
      <p:sp>
        <p:nvSpPr>
          <p:cNvPr id="3" name="墨迹 2"/>
          <p:cNvSpPr/>
          <p:nvPr/>
        </p:nvSpPr>
        <p:spPr bwMode="auto">
          <a:xfrm>
            <a:off x="2763000" y="3018600"/>
            <a:ext cx="1423080" cy="264600"/>
          </a:xfrm>
          <a:prstGeom prst="rect">
            <a:avLst/>
          </a:prstGeom>
        </p:spPr>
      </p:sp>
    </p:spTree>
  </p:cSld>
  <p:clrMapOvr>
    <a:masterClrMapping/>
  </p:clrMapOvr>
  <mc:AlternateContent xmlns:mc="http://schemas.openxmlformats.org/markup-compatibility/2006" xmlns:p14="http://schemas.microsoft.com/office/powerpoint/2010/main">
    <mc:Choice Requires="p14">
      <p:transition spd="slow" p14:dur="2000" advTm="48033"/>
    </mc:Choice>
    <mc:Fallback xmlns="">
      <p:transition spd="slow" advTm="480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1200" y="1980883"/>
            <a:ext cx="10769600" cy="3398366"/>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顺序图表达</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单个情景</a:t>
            </a:r>
            <a:r>
              <a:rPr sz="2800" dirty="0">
                <a:latin typeface="微软雅黑" panose="020B0503020204020204" pitchFamily="34" charset="-122"/>
                <a:ea typeface="微软雅黑" panose="020B0503020204020204" pitchFamily="34" charset="-122"/>
                <a:cs typeface="华文新魏" panose="02010800040101010101" charset="-122"/>
              </a:rPr>
              <a:t>实例的行为。</a:t>
            </a: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每个用例对应一个顺序图。</a:t>
            </a: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顺序图表达对象间如何</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协作</a:t>
            </a:r>
            <a:r>
              <a:rPr sz="2800" dirty="0">
                <a:latin typeface="微软雅黑" panose="020B0503020204020204" pitchFamily="34" charset="-122"/>
                <a:ea typeface="微软雅黑" panose="020B0503020204020204" pitchFamily="34" charset="-122"/>
                <a:cs typeface="华文新魏" panose="02010800040101010101" charset="-122"/>
              </a:rPr>
              <a:t>完成用例所描述的功能。</a:t>
            </a: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顺序图用于表示为完成用例而在系统边界输入输出的</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数据</a:t>
            </a:r>
            <a:r>
              <a:rPr sz="2800" dirty="0">
                <a:latin typeface="微软雅黑" panose="020B0503020204020204" pitchFamily="34" charset="-122"/>
                <a:ea typeface="微软雅黑" panose="020B0503020204020204" pitchFamily="34" charset="-122"/>
              </a:rPr>
              <a:t>以及</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消息</a:t>
            </a:r>
            <a:endParaRPr sz="28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顺序图也用于表示系统内部对象间的消息传递。</a:t>
            </a:r>
          </a:p>
        </p:txBody>
      </p:sp>
      <p:sp>
        <p:nvSpPr>
          <p:cNvPr id="7" name="标题 6"/>
          <p:cNvSpPr>
            <a:spLocks noGrp="1"/>
          </p:cNvSpPr>
          <p:nvPr>
            <p:ph type="title"/>
          </p:nvPr>
        </p:nvSpPr>
        <p:spPr/>
        <p:txBody>
          <a:bodyPr/>
          <a:lstStyle/>
          <a:p>
            <a:r>
              <a:rPr lang="zh-CN" altLang="en-US" spc="-5" dirty="0"/>
              <a:t>顺序图与用例的关系</a:t>
            </a:r>
            <a:r>
              <a:rPr lang="zh-CN" altLang="en-US" spc="-75" dirty="0"/>
              <a:t> </a:t>
            </a:r>
            <a:r>
              <a:rPr lang="en-US" altLang="zh-CN" dirty="0">
                <a:latin typeface="Calibri" panose="020F0502020204030204"/>
                <a:cs typeface="Calibri" panose="020F0502020204030204"/>
              </a:rPr>
              <a:t>I</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6405"/>
    </mc:Choice>
    <mc:Fallback xmlns="">
      <p:transition spd="slow" advTm="7640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49083"/>
            <a:ext cx="4877435" cy="4483100"/>
          </a:xfrm>
          <a:prstGeom prst="rect">
            <a:avLst/>
          </a:prstGeom>
        </p:spPr>
        <p:txBody>
          <a:bodyPr vert="horz" wrap="square" lIns="0" tIns="101600" rIns="0" bIns="0" rtlCol="0">
            <a:spAutoFit/>
          </a:bodyPr>
          <a:lstStyle/>
          <a:p>
            <a:pPr marL="262890" indent="-250825">
              <a:lnSpc>
                <a:spcPct val="100000"/>
              </a:lnSpc>
              <a:spcBef>
                <a:spcPts val="800"/>
              </a:spcBef>
              <a:buClr>
                <a:srgbClr val="000000"/>
              </a:buClr>
              <a:buAutoNum type="arabicPeriod"/>
              <a:tabLst>
                <a:tab pos="263525" algn="l"/>
              </a:tabLst>
            </a:pPr>
            <a:r>
              <a:rPr sz="2000" dirty="0">
                <a:solidFill>
                  <a:srgbClr val="800000"/>
                </a:solidFill>
                <a:latin typeface="Calibri" panose="020F0502020204030204"/>
                <a:cs typeface="Calibri" panose="020F0502020204030204"/>
              </a:rPr>
              <a:t>The </a:t>
            </a:r>
            <a:r>
              <a:rPr sz="2000" spc="-5" dirty="0">
                <a:solidFill>
                  <a:srgbClr val="800000"/>
                </a:solidFill>
                <a:latin typeface="Calibri" panose="020F0502020204030204"/>
                <a:cs typeface="Calibri" panose="020F0502020204030204"/>
              </a:rPr>
              <a:t>customer </a:t>
            </a:r>
            <a:r>
              <a:rPr sz="2000" spc="-5" dirty="0">
                <a:solidFill>
                  <a:srgbClr val="000090"/>
                </a:solidFill>
                <a:latin typeface="Calibri" panose="020F0502020204030204"/>
                <a:cs typeface="Calibri" panose="020F0502020204030204"/>
              </a:rPr>
              <a:t>requests </a:t>
            </a:r>
            <a:r>
              <a:rPr sz="2000" dirty="0">
                <a:solidFill>
                  <a:srgbClr val="000090"/>
                </a:solidFill>
                <a:latin typeface="Calibri" panose="020F0502020204030204"/>
                <a:cs typeface="Calibri" panose="020F0502020204030204"/>
              </a:rPr>
              <a:t>a funds</a:t>
            </a:r>
            <a:r>
              <a:rPr sz="2000" spc="-5" dirty="0">
                <a:solidFill>
                  <a:srgbClr val="000090"/>
                </a:solidFill>
                <a:latin typeface="Calibri" panose="020F0502020204030204"/>
                <a:cs typeface="Calibri" panose="020F0502020204030204"/>
              </a:rPr>
              <a:t> transfer</a:t>
            </a:r>
            <a:r>
              <a:rPr sz="2000" spc="-5" dirty="0">
                <a:latin typeface="Calibri" panose="020F0502020204030204"/>
                <a:cs typeface="Calibri" panose="020F0502020204030204"/>
              </a:rPr>
              <a:t>.</a:t>
            </a:r>
            <a:endParaRPr sz="2000" dirty="0">
              <a:latin typeface="Calibri" panose="020F0502020204030204"/>
              <a:cs typeface="Calibri" panose="020F0502020204030204"/>
            </a:endParaRPr>
          </a:p>
          <a:p>
            <a:pPr marL="12700" marR="514350">
              <a:lnSpc>
                <a:spcPct val="90000"/>
              </a:lnSpc>
              <a:spcBef>
                <a:spcPts val="950"/>
              </a:spcBef>
              <a:buClr>
                <a:srgbClr val="000000"/>
              </a:buClr>
              <a:buAutoNum type="arabicPeriod"/>
              <a:tabLst>
                <a:tab pos="263525" algn="l"/>
              </a:tabLst>
            </a:pPr>
            <a:r>
              <a:rPr sz="2000" dirty="0">
                <a:solidFill>
                  <a:srgbClr val="800000"/>
                </a:solidFill>
                <a:latin typeface="Calibri" panose="020F0502020204030204"/>
                <a:cs typeface="Calibri" panose="020F0502020204030204"/>
              </a:rPr>
              <a:t>The </a:t>
            </a:r>
            <a:r>
              <a:rPr sz="2000" spc="-5" dirty="0">
                <a:solidFill>
                  <a:srgbClr val="800000"/>
                </a:solidFill>
                <a:latin typeface="Calibri" panose="020F0502020204030204"/>
                <a:cs typeface="Calibri" panose="020F0502020204030204"/>
              </a:rPr>
              <a:t>system </a:t>
            </a:r>
            <a:r>
              <a:rPr sz="2000" dirty="0">
                <a:latin typeface="Calibri" panose="020F0502020204030204"/>
                <a:cs typeface="Calibri" panose="020F0502020204030204"/>
              </a:rPr>
              <a:t>asks the </a:t>
            </a:r>
            <a:r>
              <a:rPr sz="2000" spc="-5" dirty="0">
                <a:latin typeface="Calibri" panose="020F0502020204030204"/>
                <a:cs typeface="Calibri" panose="020F0502020204030204"/>
              </a:rPr>
              <a:t>user </a:t>
            </a:r>
            <a:r>
              <a:rPr sz="2000" dirty="0">
                <a:latin typeface="Calibri" panose="020F0502020204030204"/>
                <a:cs typeface="Calibri" panose="020F0502020204030204"/>
              </a:rPr>
              <a:t>to </a:t>
            </a:r>
            <a:r>
              <a:rPr sz="2000" spc="-5" dirty="0">
                <a:solidFill>
                  <a:srgbClr val="000090"/>
                </a:solidFill>
                <a:latin typeface="Calibri" panose="020F0502020204030204"/>
                <a:cs typeface="Calibri" panose="020F0502020204030204"/>
              </a:rPr>
              <a:t>identify</a:t>
            </a:r>
            <a:r>
              <a:rPr sz="2000" spc="-50" dirty="0">
                <a:solidFill>
                  <a:srgbClr val="000090"/>
                </a:solidFill>
                <a:latin typeface="Calibri" panose="020F0502020204030204"/>
                <a:cs typeface="Calibri" panose="020F0502020204030204"/>
              </a:rPr>
              <a:t> </a:t>
            </a:r>
            <a:r>
              <a:rPr sz="2000" dirty="0">
                <a:solidFill>
                  <a:srgbClr val="000090"/>
                </a:solidFill>
                <a:latin typeface="Calibri" panose="020F0502020204030204"/>
                <a:cs typeface="Calibri" panose="020F0502020204030204"/>
              </a:rPr>
              <a:t>the  </a:t>
            </a:r>
            <a:r>
              <a:rPr sz="2000" spc="-5" dirty="0">
                <a:solidFill>
                  <a:srgbClr val="000090"/>
                </a:solidFill>
                <a:latin typeface="Calibri" panose="020F0502020204030204"/>
                <a:cs typeface="Calibri" panose="020F0502020204030204"/>
              </a:rPr>
              <a:t>accounts </a:t>
            </a:r>
            <a:r>
              <a:rPr sz="2000" spc="-5" dirty="0">
                <a:latin typeface="Calibri" panose="020F0502020204030204"/>
                <a:cs typeface="Calibri" panose="020F0502020204030204"/>
              </a:rPr>
              <a:t>between which </a:t>
            </a:r>
            <a:r>
              <a:rPr sz="2000" dirty="0">
                <a:latin typeface="Calibri" panose="020F0502020204030204"/>
                <a:cs typeface="Calibri" panose="020F0502020204030204"/>
              </a:rPr>
              <a:t>funds </a:t>
            </a:r>
            <a:r>
              <a:rPr sz="2000" spc="-5" dirty="0">
                <a:latin typeface="Calibri" panose="020F0502020204030204"/>
                <a:cs typeface="Calibri" panose="020F0502020204030204"/>
              </a:rPr>
              <a:t>are </a:t>
            </a:r>
            <a:r>
              <a:rPr sz="2000" dirty="0">
                <a:latin typeface="Calibri" panose="020F0502020204030204"/>
                <a:cs typeface="Calibri" panose="020F0502020204030204"/>
              </a:rPr>
              <a:t>to be  </a:t>
            </a:r>
            <a:r>
              <a:rPr sz="2000" spc="-5" dirty="0">
                <a:latin typeface="Calibri" panose="020F0502020204030204"/>
                <a:cs typeface="Calibri" panose="020F0502020204030204"/>
              </a:rPr>
              <a:t>transferred </a:t>
            </a:r>
            <a:r>
              <a:rPr sz="2000" dirty="0">
                <a:latin typeface="Calibri" panose="020F0502020204030204"/>
                <a:cs typeface="Calibri" panose="020F0502020204030204"/>
              </a:rPr>
              <a:t>and the </a:t>
            </a:r>
            <a:r>
              <a:rPr sz="2000" spc="-5" dirty="0">
                <a:latin typeface="Calibri" panose="020F0502020204030204"/>
                <a:cs typeface="Calibri" panose="020F0502020204030204"/>
              </a:rPr>
              <a:t>transfer</a:t>
            </a:r>
            <a:r>
              <a:rPr sz="2000" spc="-15" dirty="0">
                <a:latin typeface="Calibri" panose="020F0502020204030204"/>
                <a:cs typeface="Calibri" panose="020F0502020204030204"/>
              </a:rPr>
              <a:t> </a:t>
            </a:r>
            <a:r>
              <a:rPr sz="2000" spc="-5" dirty="0">
                <a:latin typeface="Calibri" panose="020F0502020204030204"/>
                <a:cs typeface="Calibri" panose="020F0502020204030204"/>
              </a:rPr>
              <a:t>amount.</a:t>
            </a:r>
            <a:endParaRPr sz="2000" dirty="0">
              <a:latin typeface="Calibri" panose="020F0502020204030204"/>
              <a:cs typeface="Calibri" panose="020F0502020204030204"/>
            </a:endParaRPr>
          </a:p>
          <a:p>
            <a:pPr marL="12700" marR="5080">
              <a:lnSpc>
                <a:spcPct val="90000"/>
              </a:lnSpc>
              <a:spcBef>
                <a:spcPts val="1050"/>
              </a:spcBef>
              <a:buClr>
                <a:srgbClr val="000000"/>
              </a:buClr>
              <a:buAutoNum type="arabicPeriod"/>
              <a:tabLst>
                <a:tab pos="263525" algn="l"/>
              </a:tabLst>
            </a:pPr>
            <a:r>
              <a:rPr sz="2000" spc="-5" dirty="0">
                <a:solidFill>
                  <a:srgbClr val="800000"/>
                </a:solidFill>
                <a:latin typeface="Calibri" panose="020F0502020204030204"/>
                <a:cs typeface="Calibri" panose="020F0502020204030204"/>
              </a:rPr>
              <a:t>Customer </a:t>
            </a:r>
            <a:r>
              <a:rPr sz="2000" dirty="0">
                <a:solidFill>
                  <a:srgbClr val="000090"/>
                </a:solidFill>
                <a:latin typeface="Calibri" panose="020F0502020204030204"/>
                <a:cs typeface="Calibri" panose="020F0502020204030204"/>
              </a:rPr>
              <a:t>selects the </a:t>
            </a:r>
            <a:r>
              <a:rPr sz="2000" spc="-5" dirty="0">
                <a:solidFill>
                  <a:srgbClr val="000090"/>
                </a:solidFill>
                <a:latin typeface="Calibri" panose="020F0502020204030204"/>
                <a:cs typeface="Calibri" panose="020F0502020204030204"/>
              </a:rPr>
              <a:t>account </a:t>
            </a:r>
            <a:r>
              <a:rPr sz="2000" dirty="0">
                <a:latin typeface="Calibri" panose="020F0502020204030204"/>
                <a:cs typeface="Calibri" panose="020F0502020204030204"/>
              </a:rPr>
              <a:t>to </a:t>
            </a:r>
            <a:r>
              <a:rPr sz="2000" spc="-5" dirty="0">
                <a:latin typeface="Calibri" panose="020F0502020204030204"/>
                <a:cs typeface="Calibri" panose="020F0502020204030204"/>
              </a:rPr>
              <a:t>transfer  </a:t>
            </a:r>
            <a:r>
              <a:rPr sz="2000" dirty="0">
                <a:latin typeface="Calibri" panose="020F0502020204030204"/>
                <a:cs typeface="Calibri" panose="020F0502020204030204"/>
              </a:rPr>
              <a:t>funds </a:t>
            </a:r>
            <a:r>
              <a:rPr sz="2000" spc="-5" dirty="0">
                <a:latin typeface="Calibri" panose="020F0502020204030204"/>
                <a:cs typeface="Calibri" panose="020F0502020204030204"/>
              </a:rPr>
              <a:t>from, </a:t>
            </a:r>
            <a:r>
              <a:rPr sz="2000" dirty="0">
                <a:latin typeface="Calibri" panose="020F0502020204030204"/>
                <a:cs typeface="Calibri" panose="020F0502020204030204"/>
              </a:rPr>
              <a:t>the </a:t>
            </a:r>
            <a:r>
              <a:rPr sz="2000" spc="-5" dirty="0">
                <a:latin typeface="Calibri" panose="020F0502020204030204"/>
                <a:cs typeface="Calibri" panose="020F0502020204030204"/>
              </a:rPr>
              <a:t>account </a:t>
            </a:r>
            <a:r>
              <a:rPr sz="2000" dirty="0">
                <a:latin typeface="Calibri" panose="020F0502020204030204"/>
                <a:cs typeface="Calibri" panose="020F0502020204030204"/>
              </a:rPr>
              <a:t>to </a:t>
            </a:r>
            <a:r>
              <a:rPr sz="2000" spc="-5" dirty="0">
                <a:latin typeface="Calibri" panose="020F0502020204030204"/>
                <a:cs typeface="Calibri" panose="020F0502020204030204"/>
              </a:rPr>
              <a:t>transfer </a:t>
            </a:r>
            <a:r>
              <a:rPr sz="2000" dirty="0">
                <a:latin typeface="Calibri" panose="020F0502020204030204"/>
                <a:cs typeface="Calibri" panose="020F0502020204030204"/>
              </a:rPr>
              <a:t>to, and  then </a:t>
            </a:r>
            <a:r>
              <a:rPr sz="2000" spc="-5" dirty="0">
                <a:latin typeface="Calibri" panose="020F0502020204030204"/>
                <a:cs typeface="Calibri" panose="020F0502020204030204"/>
              </a:rPr>
              <a:t>indicates </a:t>
            </a:r>
            <a:r>
              <a:rPr sz="2000" dirty="0">
                <a:latin typeface="Calibri" panose="020F0502020204030204"/>
                <a:cs typeface="Calibri" panose="020F0502020204030204"/>
              </a:rPr>
              <a:t>the </a:t>
            </a:r>
            <a:r>
              <a:rPr sz="2000" spc="-5" dirty="0">
                <a:latin typeface="Calibri" panose="020F0502020204030204"/>
                <a:cs typeface="Calibri" panose="020F0502020204030204"/>
              </a:rPr>
              <a:t>amount of </a:t>
            </a:r>
            <a:r>
              <a:rPr sz="2000" dirty="0">
                <a:latin typeface="Calibri" panose="020F0502020204030204"/>
                <a:cs typeface="Calibri" panose="020F0502020204030204"/>
              </a:rPr>
              <a:t>funds to</a:t>
            </a:r>
            <a:r>
              <a:rPr sz="2000" spc="-5" dirty="0">
                <a:latin typeface="Calibri" panose="020F0502020204030204"/>
                <a:cs typeface="Calibri" panose="020F0502020204030204"/>
              </a:rPr>
              <a:t> transfer.</a:t>
            </a:r>
            <a:endParaRPr sz="2000" dirty="0">
              <a:latin typeface="Calibri" panose="020F0502020204030204"/>
              <a:cs typeface="Calibri" panose="020F0502020204030204"/>
            </a:endParaRPr>
          </a:p>
          <a:p>
            <a:pPr marL="12700" marR="175895" algn="just">
              <a:lnSpc>
                <a:spcPct val="90000"/>
              </a:lnSpc>
              <a:spcBef>
                <a:spcPts val="1045"/>
              </a:spcBef>
              <a:buClr>
                <a:srgbClr val="000000"/>
              </a:buClr>
              <a:buAutoNum type="arabicPeriod"/>
              <a:tabLst>
                <a:tab pos="263525" algn="l"/>
              </a:tabLst>
            </a:pPr>
            <a:r>
              <a:rPr sz="2000" dirty="0">
                <a:solidFill>
                  <a:srgbClr val="800000"/>
                </a:solidFill>
                <a:latin typeface="Calibri" panose="020F0502020204030204"/>
                <a:cs typeface="Calibri" panose="020F0502020204030204"/>
              </a:rPr>
              <a:t>The </a:t>
            </a:r>
            <a:r>
              <a:rPr sz="2000" spc="-5" dirty="0">
                <a:solidFill>
                  <a:srgbClr val="800000"/>
                </a:solidFill>
                <a:latin typeface="Calibri" panose="020F0502020204030204"/>
                <a:cs typeface="Calibri" panose="020F0502020204030204"/>
              </a:rPr>
              <a:t>system </a:t>
            </a:r>
            <a:r>
              <a:rPr sz="2000" dirty="0">
                <a:latin typeface="Calibri" panose="020F0502020204030204"/>
                <a:cs typeface="Calibri" panose="020F0502020204030204"/>
              </a:rPr>
              <a:t>checks the </a:t>
            </a:r>
            <a:r>
              <a:rPr sz="2000" spc="-5" dirty="0">
                <a:latin typeface="Calibri" panose="020F0502020204030204"/>
                <a:cs typeface="Calibri" panose="020F0502020204030204"/>
              </a:rPr>
              <a:t>account from which  </a:t>
            </a:r>
            <a:r>
              <a:rPr sz="2000" dirty="0">
                <a:latin typeface="Calibri" panose="020F0502020204030204"/>
                <a:cs typeface="Calibri" panose="020F0502020204030204"/>
              </a:rPr>
              <a:t>funds </a:t>
            </a:r>
            <a:r>
              <a:rPr sz="2000" spc="-5" dirty="0">
                <a:latin typeface="Calibri" panose="020F0502020204030204"/>
                <a:cs typeface="Calibri" panose="020F0502020204030204"/>
              </a:rPr>
              <a:t>are </a:t>
            </a:r>
            <a:r>
              <a:rPr sz="2000" dirty="0">
                <a:latin typeface="Calibri" panose="020F0502020204030204"/>
                <a:cs typeface="Calibri" panose="020F0502020204030204"/>
              </a:rPr>
              <a:t>to be </a:t>
            </a:r>
            <a:r>
              <a:rPr sz="2000" spc="-5" dirty="0">
                <a:latin typeface="Calibri" panose="020F0502020204030204"/>
                <a:cs typeface="Calibri" panose="020F0502020204030204"/>
              </a:rPr>
              <a:t>transferred </a:t>
            </a:r>
            <a:r>
              <a:rPr sz="2000" dirty="0">
                <a:latin typeface="Calibri" panose="020F0502020204030204"/>
                <a:cs typeface="Calibri" panose="020F0502020204030204"/>
              </a:rPr>
              <a:t>and </a:t>
            </a:r>
            <a:r>
              <a:rPr sz="2000" spc="-5" dirty="0">
                <a:solidFill>
                  <a:srgbClr val="000090"/>
                </a:solidFill>
                <a:latin typeface="Calibri" panose="020F0502020204030204"/>
                <a:cs typeface="Calibri" panose="020F0502020204030204"/>
              </a:rPr>
              <a:t>conﬁrms </a:t>
            </a:r>
            <a:r>
              <a:rPr sz="2000" dirty="0">
                <a:solidFill>
                  <a:srgbClr val="000090"/>
                </a:solidFill>
                <a:latin typeface="Calibri" panose="020F0502020204030204"/>
                <a:cs typeface="Calibri" panose="020F0502020204030204"/>
              </a:rPr>
              <a:t>that  </a:t>
            </a:r>
            <a:r>
              <a:rPr sz="2000" spc="-5" dirty="0">
                <a:solidFill>
                  <a:srgbClr val="000090"/>
                </a:solidFill>
                <a:latin typeface="Calibri" panose="020F0502020204030204"/>
                <a:cs typeface="Calibri" panose="020F0502020204030204"/>
              </a:rPr>
              <a:t>suﬃcient </a:t>
            </a:r>
            <a:r>
              <a:rPr sz="2000" dirty="0">
                <a:solidFill>
                  <a:srgbClr val="000090"/>
                </a:solidFill>
                <a:latin typeface="Calibri" panose="020F0502020204030204"/>
                <a:cs typeface="Calibri" panose="020F0502020204030204"/>
              </a:rPr>
              <a:t>funds </a:t>
            </a:r>
            <a:r>
              <a:rPr sz="2000" spc="-5" dirty="0">
                <a:solidFill>
                  <a:srgbClr val="000090"/>
                </a:solidFill>
                <a:latin typeface="Calibri" panose="020F0502020204030204"/>
                <a:cs typeface="Calibri" panose="020F0502020204030204"/>
              </a:rPr>
              <a:t>are available</a:t>
            </a:r>
            <a:r>
              <a:rPr sz="2000" spc="-5" dirty="0">
                <a:latin typeface="Calibri" panose="020F0502020204030204"/>
                <a:cs typeface="Calibri" panose="020F0502020204030204"/>
              </a:rPr>
              <a:t>.</a:t>
            </a:r>
            <a:endParaRPr sz="2000" dirty="0">
              <a:latin typeface="Calibri" panose="020F0502020204030204"/>
              <a:cs typeface="Calibri" panose="020F0502020204030204"/>
            </a:endParaRPr>
          </a:p>
          <a:p>
            <a:pPr marL="12700" marR="31115">
              <a:lnSpc>
                <a:spcPct val="89000"/>
              </a:lnSpc>
              <a:spcBef>
                <a:spcPts val="1070"/>
              </a:spcBef>
              <a:buAutoNum type="arabicPeriod"/>
              <a:tabLst>
                <a:tab pos="263525" algn="l"/>
              </a:tabLst>
            </a:pPr>
            <a:r>
              <a:rPr sz="2000" dirty="0">
                <a:latin typeface="Calibri" panose="020F0502020204030204"/>
                <a:cs typeface="Calibri" panose="020F0502020204030204"/>
              </a:rPr>
              <a:t>The </a:t>
            </a:r>
            <a:r>
              <a:rPr sz="2000" spc="-5" dirty="0">
                <a:latin typeface="Calibri" panose="020F0502020204030204"/>
                <a:cs typeface="Calibri" panose="020F0502020204030204"/>
              </a:rPr>
              <a:t>amount </a:t>
            </a:r>
            <a:r>
              <a:rPr sz="2000" dirty="0">
                <a:latin typeface="Calibri" panose="020F0502020204030204"/>
                <a:cs typeface="Calibri" panose="020F0502020204030204"/>
              </a:rPr>
              <a:t>is </a:t>
            </a:r>
            <a:r>
              <a:rPr sz="2000" spc="-5" dirty="0">
                <a:solidFill>
                  <a:srgbClr val="000090"/>
                </a:solidFill>
                <a:latin typeface="Calibri" panose="020F0502020204030204"/>
                <a:cs typeface="Calibri" panose="020F0502020204030204"/>
              </a:rPr>
              <a:t>debited </a:t>
            </a:r>
            <a:r>
              <a:rPr sz="2000" dirty="0">
                <a:solidFill>
                  <a:srgbClr val="000090"/>
                </a:solidFill>
                <a:latin typeface="Calibri" panose="020F0502020204030204"/>
                <a:cs typeface="Calibri" panose="020F0502020204030204"/>
              </a:rPr>
              <a:t>to the </a:t>
            </a:r>
            <a:r>
              <a:rPr sz="2000" spc="-5" dirty="0">
                <a:solidFill>
                  <a:srgbClr val="000090"/>
                </a:solidFill>
                <a:latin typeface="Calibri" panose="020F0502020204030204"/>
                <a:cs typeface="Calibri" panose="020F0502020204030204"/>
              </a:rPr>
              <a:t>account </a:t>
            </a:r>
            <a:r>
              <a:rPr sz="2000" spc="-5" dirty="0">
                <a:latin typeface="Calibri" panose="020F0502020204030204"/>
                <a:cs typeface="Calibri" panose="020F0502020204030204"/>
              </a:rPr>
              <a:t>from  which </a:t>
            </a:r>
            <a:r>
              <a:rPr sz="2000" dirty="0">
                <a:latin typeface="Calibri" panose="020F0502020204030204"/>
                <a:cs typeface="Calibri" panose="020F0502020204030204"/>
              </a:rPr>
              <a:t>funds </a:t>
            </a:r>
            <a:r>
              <a:rPr sz="2000" spc="-5" dirty="0">
                <a:latin typeface="Calibri" panose="020F0502020204030204"/>
                <a:cs typeface="Calibri" panose="020F0502020204030204"/>
              </a:rPr>
              <a:t>are </a:t>
            </a:r>
            <a:r>
              <a:rPr sz="2000" dirty="0">
                <a:latin typeface="Calibri" panose="020F0502020204030204"/>
                <a:cs typeface="Calibri" panose="020F0502020204030204"/>
              </a:rPr>
              <a:t>to be </a:t>
            </a:r>
            <a:r>
              <a:rPr sz="2000" spc="-5" dirty="0">
                <a:latin typeface="Calibri" panose="020F0502020204030204"/>
                <a:cs typeface="Calibri" panose="020F0502020204030204"/>
              </a:rPr>
              <a:t>transferred </a:t>
            </a:r>
            <a:r>
              <a:rPr sz="2000" dirty="0">
                <a:latin typeface="Calibri" panose="020F0502020204030204"/>
                <a:cs typeface="Calibri" panose="020F0502020204030204"/>
              </a:rPr>
              <a:t>and </a:t>
            </a:r>
            <a:r>
              <a:rPr sz="2000" spc="-5" dirty="0">
                <a:solidFill>
                  <a:srgbClr val="000090"/>
                </a:solidFill>
                <a:latin typeface="Calibri" panose="020F0502020204030204"/>
                <a:cs typeface="Calibri" panose="020F0502020204030204"/>
              </a:rPr>
              <a:t>credited  </a:t>
            </a:r>
            <a:r>
              <a:rPr sz="2000" dirty="0">
                <a:solidFill>
                  <a:srgbClr val="000090"/>
                </a:solidFill>
                <a:latin typeface="Calibri" panose="020F0502020204030204"/>
                <a:cs typeface="Calibri" panose="020F0502020204030204"/>
              </a:rPr>
              <a:t>to the </a:t>
            </a:r>
            <a:r>
              <a:rPr sz="2000" spc="-5" dirty="0">
                <a:solidFill>
                  <a:srgbClr val="000090"/>
                </a:solidFill>
                <a:latin typeface="Calibri" panose="020F0502020204030204"/>
                <a:cs typeface="Calibri" panose="020F0502020204030204"/>
              </a:rPr>
              <a:t>account </a:t>
            </a:r>
            <a:r>
              <a:rPr sz="2000" spc="-5" dirty="0">
                <a:latin typeface="Calibri" panose="020F0502020204030204"/>
                <a:cs typeface="Calibri" panose="020F0502020204030204"/>
              </a:rPr>
              <a:t>previously selected </a:t>
            </a:r>
            <a:r>
              <a:rPr sz="2000" dirty="0">
                <a:latin typeface="Calibri" panose="020F0502020204030204"/>
                <a:cs typeface="Calibri" panose="020F0502020204030204"/>
              </a:rPr>
              <a:t>by the  </a:t>
            </a:r>
            <a:r>
              <a:rPr sz="2000" spc="-5" dirty="0">
                <a:latin typeface="Calibri" panose="020F0502020204030204"/>
                <a:cs typeface="Calibri" panose="020F0502020204030204"/>
              </a:rPr>
              <a:t>customer </a:t>
            </a:r>
            <a:r>
              <a:rPr sz="2000" dirty="0">
                <a:latin typeface="Calibri" panose="020F0502020204030204"/>
                <a:cs typeface="Calibri" panose="020F0502020204030204"/>
              </a:rPr>
              <a:t>by </a:t>
            </a:r>
            <a:r>
              <a:rPr sz="2000" dirty="0">
                <a:solidFill>
                  <a:srgbClr val="800000"/>
                </a:solidFill>
                <a:latin typeface="Calibri" panose="020F0502020204030204"/>
                <a:cs typeface="Calibri" panose="020F0502020204030204"/>
              </a:rPr>
              <a:t>the</a:t>
            </a:r>
            <a:r>
              <a:rPr sz="2000" spc="-5" dirty="0">
                <a:solidFill>
                  <a:srgbClr val="800000"/>
                </a:solidFill>
                <a:latin typeface="Calibri" panose="020F0502020204030204"/>
                <a:cs typeface="Calibri" panose="020F0502020204030204"/>
              </a:rPr>
              <a:t> system</a:t>
            </a:r>
            <a:r>
              <a:rPr sz="2000" spc="-5" dirty="0">
                <a:latin typeface="Calibri" panose="020F0502020204030204"/>
                <a:cs typeface="Calibri" panose="020F0502020204030204"/>
              </a:rPr>
              <a:t>.</a:t>
            </a:r>
            <a:endParaRPr sz="2000" dirty="0">
              <a:latin typeface="Calibri" panose="020F0502020204030204"/>
              <a:cs typeface="Calibri" panose="020F0502020204030204"/>
            </a:endParaRPr>
          </a:p>
        </p:txBody>
      </p:sp>
      <p:sp>
        <p:nvSpPr>
          <p:cNvPr id="4" name="object 4"/>
          <p:cNvSpPr/>
          <p:nvPr/>
        </p:nvSpPr>
        <p:spPr>
          <a:xfrm>
            <a:off x="5715635" y="1150003"/>
            <a:ext cx="5922130" cy="5281259"/>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顺序图与用例对应</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6413"/>
    </mc:Choice>
    <mc:Fallback xmlns="">
      <p:transition spd="slow" advTm="5641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10210800" cy="40208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顺序图可帮助分析人员对用例图进行扩展、细化和补遗</a:t>
            </a:r>
          </a:p>
          <a:p>
            <a:pPr marL="240665" marR="5080" indent="-228600">
              <a:lnSpc>
                <a:spcPct val="149000"/>
              </a:lnSpc>
              <a:spcBef>
                <a:spcPts val="10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顺序图可用于开发周期的不同阶段，服务于不同目的，描述不同 粒度的行为</a:t>
            </a:r>
          </a:p>
          <a:p>
            <a:pPr>
              <a:lnSpc>
                <a:spcPct val="100000"/>
              </a:lnSpc>
              <a:spcBef>
                <a:spcPts val="35"/>
              </a:spcBef>
              <a:buFont typeface="Arial" panose="020B0604020202020204"/>
              <a:buChar char="•"/>
            </a:pPr>
            <a:endParaRPr sz="23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分析阶段的顺序图</a:t>
            </a:r>
            <a:r>
              <a:rPr sz="2800" b="1" spc="-5" dirty="0">
                <a:solidFill>
                  <a:srgbClr val="FF0000"/>
                </a:solidFill>
                <a:latin typeface="微软雅黑" panose="020B0503020204020204" pitchFamily="34" charset="-122"/>
                <a:ea typeface="微软雅黑" panose="020B0503020204020204" pitchFamily="34" charset="-122"/>
                <a:cs typeface="华文新魏" panose="02010800040101010101" charset="-122"/>
              </a:rPr>
              <a:t>不要</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包含设计对象</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关注消息参数</a:t>
            </a:r>
          </a:p>
        </p:txBody>
      </p:sp>
      <p:sp>
        <p:nvSpPr>
          <p:cNvPr id="7" name="标题 6"/>
          <p:cNvSpPr>
            <a:spLocks noGrp="1"/>
          </p:cNvSpPr>
          <p:nvPr>
            <p:ph type="title"/>
          </p:nvPr>
        </p:nvSpPr>
        <p:spPr/>
        <p:txBody>
          <a:bodyPr/>
          <a:lstStyle/>
          <a:p>
            <a:r>
              <a:rPr lang="zh-CN" altLang="en-US" spc="-5" dirty="0"/>
              <a:t>顺序图与用例的关系</a:t>
            </a:r>
            <a:r>
              <a:rPr lang="zh-CN" altLang="en-US" spc="-75" dirty="0"/>
              <a:t> </a:t>
            </a:r>
            <a:r>
              <a:rPr lang="en-US" altLang="zh-CN" dirty="0">
                <a:latin typeface="Calibri" panose="020F0502020204030204"/>
                <a:cs typeface="Calibri" panose="020F0502020204030204"/>
              </a:rPr>
              <a:t>II</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728"/>
    </mc:Choice>
    <mc:Fallback xmlns="">
      <p:transition spd="slow" advTm="5172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378901"/>
            <a:ext cx="4378962" cy="566822"/>
          </a:xfrm>
          <a:prstGeom prst="rect">
            <a:avLst/>
          </a:prstGeom>
        </p:spPr>
        <p:txBody>
          <a:bodyPr vert="horz" wrap="square" lIns="0" tIns="12700" rIns="0" bIns="0" rtlCol="0">
            <a:spAutoFit/>
          </a:bodyPr>
          <a:lstStyle/>
          <a:p>
            <a:pPr marL="12700">
              <a:lnSpc>
                <a:spcPct val="100000"/>
              </a:lnSpc>
              <a:spcBef>
                <a:spcPts val="100"/>
              </a:spcBef>
            </a:pPr>
            <a:r>
              <a:rPr sz="3600" b="0" spc="-5" dirty="0">
                <a:latin typeface="微软雅黑" panose="020B0503020204020204" pitchFamily="34" charset="-122"/>
                <a:ea typeface="微软雅黑" panose="020B0503020204020204" pitchFamily="34" charset="-122"/>
              </a:rPr>
              <a:t>从用例中抽取顺序图</a:t>
            </a:r>
          </a:p>
        </p:txBody>
      </p:sp>
      <p:sp>
        <p:nvSpPr>
          <p:cNvPr id="3" name="object 3"/>
          <p:cNvSpPr/>
          <p:nvPr/>
        </p:nvSpPr>
        <p:spPr>
          <a:xfrm>
            <a:off x="491976" y="1200945"/>
            <a:ext cx="11208047" cy="5092351"/>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7"/>
          </p:nvPr>
        </p:nvSpPr>
        <p:spPr/>
        <p:txBody>
          <a:bodyPr/>
          <a:lstStyle/>
          <a:p>
            <a:fld id="{B6F15528-21DE-4FAA-801E-634DDDAF4B2B}" type="slidenum">
              <a:rPr lang="en-US" altLang="zh-CN" smtClean="0"/>
              <a:t>10</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90755"/>
    </mc:Choice>
    <mc:Fallback xmlns="">
      <p:transition spd="slow" advTm="9075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19809" y="1690688"/>
            <a:ext cx="9763761" cy="4075475"/>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通过顺序图描述算法逻辑</a:t>
            </a:r>
          </a:p>
          <a:p>
            <a:pPr>
              <a:lnSpc>
                <a:spcPct val="100000"/>
              </a:lnSpc>
              <a:spcBef>
                <a:spcPts val="1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高质量的顺序图是代码的抽象</a:t>
            </a:r>
          </a:p>
          <a:p>
            <a:pPr>
              <a:lnSpc>
                <a:spcPct val="100000"/>
              </a:lnSpc>
              <a:spcBef>
                <a:spcPts val="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顺序图是与语言无关的表示方式</a:t>
            </a:r>
          </a:p>
          <a:p>
            <a:pPr>
              <a:lnSpc>
                <a:spcPct val="100000"/>
              </a:lnSpc>
              <a:spcBef>
                <a:spcPts val="1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可以绘制顺序图来描述业务逻辑</a:t>
            </a:r>
          </a:p>
          <a:p>
            <a:pPr>
              <a:lnSpc>
                <a:spcPct val="100000"/>
              </a:lnSpc>
              <a:spcBef>
                <a:spcPts val="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可以通过团队协作完成顺序图的绘制</a:t>
            </a:r>
          </a:p>
          <a:p>
            <a:pPr>
              <a:lnSpc>
                <a:spcPct val="100000"/>
              </a:lnSpc>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可以在同一页浏览多个对象和类的行为</a:t>
            </a:r>
          </a:p>
        </p:txBody>
      </p:sp>
      <p:sp>
        <p:nvSpPr>
          <p:cNvPr id="5" name="object 5"/>
          <p:cNvSpPr txBox="1"/>
          <p:nvPr/>
        </p:nvSpPr>
        <p:spPr>
          <a:xfrm>
            <a:off x="916939" y="6499214"/>
            <a:ext cx="102870" cy="211454"/>
          </a:xfrm>
          <a:prstGeom prst="rect">
            <a:avLst/>
          </a:prstGeom>
        </p:spPr>
        <p:txBody>
          <a:bodyPr vert="horz" wrap="square" lIns="0" tIns="5080" rIns="0" bIns="0" rtlCol="0">
            <a:spAutoFit/>
          </a:bodyPr>
          <a:lstStyle/>
          <a:p>
            <a:pPr marL="12700">
              <a:lnSpc>
                <a:spcPct val="100000"/>
              </a:lnSpc>
              <a:spcBef>
                <a:spcPts val="40"/>
              </a:spcBef>
            </a:pPr>
            <a:r>
              <a:rPr sz="1200" dirty="0">
                <a:solidFill>
                  <a:srgbClr val="898989"/>
                </a:solidFill>
                <a:latin typeface="Calibri" panose="020F0502020204030204"/>
                <a:cs typeface="Calibri" panose="020F0502020204030204"/>
              </a:rPr>
              <a:t>5</a:t>
            </a:r>
            <a:endParaRPr sz="1200">
              <a:latin typeface="Calibri" panose="020F0502020204030204"/>
              <a:cs typeface="Calibri" panose="020F0502020204030204"/>
            </a:endParaRPr>
          </a:p>
        </p:txBody>
      </p:sp>
      <p:sp>
        <p:nvSpPr>
          <p:cNvPr id="7" name="标题 6"/>
          <p:cNvSpPr>
            <a:spLocks noGrp="1"/>
          </p:cNvSpPr>
          <p:nvPr>
            <p:ph type="title"/>
          </p:nvPr>
        </p:nvSpPr>
        <p:spPr/>
        <p:txBody>
          <a:bodyPr/>
          <a:lstStyle/>
          <a:p>
            <a:r>
              <a:rPr lang="zh-CN" altLang="en-US" spc="-5" dirty="0"/>
              <a:t>顺序图建模意义</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344"/>
    </mc:Choice>
    <mc:Fallback xmlns="">
      <p:transition spd="slow" advTm="8334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838200" y="1825625"/>
            <a:ext cx="10807700" cy="2572114"/>
          </a:xfrm>
          <a:prstGeom prst="rect">
            <a:avLst/>
          </a:prstGeom>
        </p:spPr>
        <p:txBody>
          <a:bodyPr vert="horz" wrap="square" lIns="0" tIns="12700" rIns="0" bIns="0" rtlCol="0">
            <a:spAutoFit/>
          </a:bodyPr>
          <a:lstStyle/>
          <a:p>
            <a:pPr marL="347345" indent="-228600">
              <a:lnSpc>
                <a:spcPct val="100000"/>
              </a:lnSpc>
              <a:spcBef>
                <a:spcPts val="100"/>
              </a:spcBef>
              <a:buClr>
                <a:srgbClr val="3333CC"/>
              </a:buClr>
              <a:buFont typeface="Arial" panose="020B0604020202020204"/>
              <a:buChar char="•"/>
              <a:tabLst>
                <a:tab pos="347980" algn="l"/>
              </a:tabLst>
            </a:pPr>
            <a:r>
              <a:rPr dirty="0"/>
              <a:t>建模风格1：把注意力集中于关键的交互。</a:t>
            </a:r>
          </a:p>
          <a:p>
            <a:pPr marL="1033145" marR="5080" lvl="1" indent="-457200">
              <a:lnSpc>
                <a:spcPct val="167000"/>
              </a:lnSpc>
              <a:buFont typeface="Arial" panose="020B0604020202020204"/>
              <a:buChar char="•"/>
              <a:tabLst>
                <a:tab pos="805180" algn="l"/>
              </a:tabLst>
            </a:pPr>
            <a:r>
              <a:rPr sz="2800" dirty="0">
                <a:latin typeface="华文新魏" panose="02010800040101010101" charset="-122"/>
                <a:cs typeface="华文新魏" panose="02010800040101010101" charset="-122"/>
              </a:rPr>
              <a:t>创建模型时要把注意力集中于系统的关键方面，而不要包括无关的细节。 </a:t>
            </a:r>
            <a:r>
              <a:rPr sz="2800" dirty="0" err="1">
                <a:latin typeface="华文新魏" panose="02010800040101010101" charset="-122"/>
                <a:cs typeface="华文新魏" panose="02010800040101010101" charset="-122"/>
              </a:rPr>
              <a:t>例如：</a:t>
            </a:r>
            <a:r>
              <a:rPr sz="2800" dirty="0" err="1">
                <a:solidFill>
                  <a:srgbClr val="000000"/>
                </a:solidFill>
              </a:rPr>
              <a:t>如果顺序图是用于描述业务逻辑的，就没必要包括对象和数据库之间</a:t>
            </a:r>
            <a:r>
              <a:rPr sz="2800" dirty="0">
                <a:solidFill>
                  <a:srgbClr val="000000"/>
                </a:solidFill>
              </a:rPr>
              <a:t> 的详细交互。</a:t>
            </a:r>
          </a:p>
        </p:txBody>
      </p:sp>
      <p:sp>
        <p:nvSpPr>
          <p:cNvPr id="7" name="标题 6"/>
          <p:cNvSpPr>
            <a:spLocks noGrp="1"/>
          </p:cNvSpPr>
          <p:nvPr>
            <p:ph type="title"/>
          </p:nvPr>
        </p:nvSpPr>
        <p:spPr/>
        <p:txBody>
          <a:bodyPr/>
          <a:lstStyle/>
          <a:p>
            <a:r>
              <a:rPr lang="zh-CN" altLang="en-US" spc="-5" dirty="0"/>
              <a:t>顺序图建模风格</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976"/>
    </mc:Choice>
    <mc:Fallback xmlns="">
      <p:transition spd="slow" advTm="4297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5038" y="1901659"/>
            <a:ext cx="10515599" cy="3547125"/>
          </a:xfrm>
          <a:prstGeom prst="rect">
            <a:avLst/>
          </a:prstGeom>
        </p:spPr>
        <p:txBody>
          <a:bodyPr vert="horz" wrap="square" lIns="0" tIns="12700" rIns="0" bIns="0" rtlCol="0">
            <a:spAutoFit/>
          </a:bodyPr>
          <a:lstStyle/>
          <a:p>
            <a:pPr marL="241300" indent="-228600">
              <a:lnSpc>
                <a:spcPct val="100000"/>
              </a:lnSpc>
              <a:spcBef>
                <a:spcPts val="100"/>
              </a:spcBef>
              <a:buClr>
                <a:srgbClr val="3333CC"/>
              </a:buClr>
              <a:buFont typeface="Arial" panose="020B0604020202020204"/>
              <a:buChar char="•"/>
              <a:tabLst>
                <a:tab pos="241300" algn="l"/>
              </a:tabLst>
            </a:pPr>
            <a:r>
              <a:rPr sz="2800" dirty="0">
                <a:solidFill>
                  <a:srgbClr val="434DD6"/>
                </a:solidFill>
                <a:latin typeface="微软雅黑" panose="020B0503020204020204" pitchFamily="34" charset="-122"/>
                <a:ea typeface="微软雅黑" panose="020B0503020204020204" pitchFamily="34" charset="-122"/>
                <a:cs typeface="华文新魏" panose="02010800040101010101" charset="-122"/>
              </a:rPr>
              <a:t>建模风格2：对于参数，优先考虑使用参数名而不是参数类型。</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92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例如</a:t>
            </a:r>
          </a:p>
          <a:p>
            <a:pPr marL="469900">
              <a:lnSpc>
                <a:spcPct val="100000"/>
              </a:lnSpc>
              <a:spcBef>
                <a:spcPts val="1720"/>
              </a:spcBef>
            </a:pPr>
            <a:r>
              <a:rPr sz="2800" dirty="0">
                <a:latin typeface="微软雅黑" panose="020B0503020204020204" pitchFamily="34" charset="-122"/>
                <a:ea typeface="微软雅黑" panose="020B0503020204020204" pitchFamily="34" charset="-122"/>
                <a:cs typeface="华文新魏" panose="02010800040101010101" charset="-122"/>
              </a:rPr>
              <a:t>消息</a:t>
            </a:r>
            <a:r>
              <a:rPr sz="2800" spc="15" dirty="0">
                <a:latin typeface="微软雅黑" panose="020B0503020204020204" pitchFamily="34" charset="-122"/>
                <a:ea typeface="微软雅黑" panose="020B0503020204020204" pitchFamily="34" charset="-122"/>
                <a:cs typeface="华文新魏" panose="02010800040101010101" charset="-122"/>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addDeposit(amount,</a:t>
            </a:r>
            <a:r>
              <a:rPr sz="2800" spc="15" dirty="0">
                <a:solidFill>
                  <a:srgbClr val="800000"/>
                </a:solidFill>
                <a:latin typeface="微软雅黑" panose="020B0503020204020204" pitchFamily="34" charset="-122"/>
                <a:ea typeface="微软雅黑" panose="020B0503020204020204" pitchFamily="34" charset="-122"/>
                <a:cs typeface="Calibri" panose="020F0502020204030204"/>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target)</a:t>
            </a:r>
            <a:r>
              <a:rPr sz="2800" dirty="0">
                <a:latin typeface="微软雅黑" panose="020B0503020204020204" pitchFamily="34" charset="-122"/>
                <a:ea typeface="微软雅黑" panose="020B0503020204020204" pitchFamily="34" charset="-122"/>
                <a:cs typeface="华文新魏" panose="02010800040101010101" charset="-122"/>
              </a:rPr>
              <a:t>比</a:t>
            </a:r>
            <a:r>
              <a:rPr sz="2800" spc="20" dirty="0">
                <a:latin typeface="微软雅黑" panose="020B0503020204020204" pitchFamily="34" charset="-122"/>
                <a:ea typeface="微软雅黑" panose="020B0503020204020204" pitchFamily="34" charset="-122"/>
                <a:cs typeface="华文新魏" panose="02010800040101010101" charset="-122"/>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addDeposit(Currency,</a:t>
            </a:r>
            <a:r>
              <a:rPr sz="2800" spc="20" dirty="0">
                <a:solidFill>
                  <a:srgbClr val="800000"/>
                </a:solidFill>
                <a:latin typeface="微软雅黑" panose="020B0503020204020204" pitchFamily="34" charset="-122"/>
                <a:ea typeface="微软雅黑" panose="020B0503020204020204" pitchFamily="34" charset="-122"/>
                <a:cs typeface="Calibri" panose="020F0502020204030204"/>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Account)</a:t>
            </a:r>
            <a:r>
              <a:rPr sz="2800" spc="10" dirty="0">
                <a:solidFill>
                  <a:srgbClr val="800000"/>
                </a:solidFill>
                <a:latin typeface="微软雅黑" panose="020B0503020204020204" pitchFamily="34" charset="-122"/>
                <a:ea typeface="微软雅黑" panose="020B0503020204020204" pitchFamily="34" charset="-122"/>
                <a:cs typeface="Calibri" panose="020F0502020204030204"/>
              </a:rPr>
              <a:t> </a:t>
            </a:r>
            <a:r>
              <a:rPr sz="2800" dirty="0">
                <a:latin typeface="微软雅黑" panose="020B0503020204020204" pitchFamily="34" charset="-122"/>
                <a:ea typeface="微软雅黑" panose="020B0503020204020204" pitchFamily="34" charset="-122"/>
                <a:cs typeface="华文新魏" panose="02010800040101010101" charset="-122"/>
              </a:rPr>
              <a:t>传递了更多的信息</a:t>
            </a:r>
          </a:p>
          <a:p>
            <a:pPr marL="698500" lvl="1" indent="-228600">
              <a:lnSpc>
                <a:spcPct val="100000"/>
              </a:lnSpc>
              <a:spcBef>
                <a:spcPts val="190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在消息中只使用类型信息不能传递足够的信息</a:t>
            </a:r>
          </a:p>
          <a:p>
            <a:pPr marL="698500" lvl="1" indent="-228600">
              <a:lnSpc>
                <a:spcPct val="100000"/>
              </a:lnSpc>
              <a:spcBef>
                <a:spcPts val="192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参数的类型信息用</a:t>
            </a:r>
            <a:r>
              <a:rPr sz="2800" dirty="0">
                <a:latin typeface="微软雅黑" panose="020B0503020204020204" pitchFamily="34" charset="-122"/>
                <a:ea typeface="微软雅黑" panose="020B0503020204020204" pitchFamily="34" charset="-122"/>
                <a:cs typeface="Calibri" panose="020F0502020204030204"/>
              </a:rPr>
              <a:t>UML</a:t>
            </a:r>
            <a:r>
              <a:rPr sz="2800" dirty="0">
                <a:latin typeface="微软雅黑" panose="020B0503020204020204" pitchFamily="34" charset="-122"/>
                <a:ea typeface="微软雅黑" panose="020B0503020204020204" pitchFamily="34" charset="-122"/>
                <a:cs typeface="华文新魏" panose="02010800040101010101" charset="-122"/>
              </a:rPr>
              <a:t>类图表示更好</a:t>
            </a:r>
          </a:p>
        </p:txBody>
      </p:sp>
      <p:sp>
        <p:nvSpPr>
          <p:cNvPr id="7" name="标题 6"/>
          <p:cNvSpPr>
            <a:spLocks noGrp="1"/>
          </p:cNvSpPr>
          <p:nvPr>
            <p:ph type="title"/>
          </p:nvPr>
        </p:nvSpPr>
        <p:spPr/>
        <p:txBody>
          <a:bodyPr/>
          <a:lstStyle/>
          <a:p>
            <a:r>
              <a:rPr lang="zh-CN" altLang="en-US" spc="-5" dirty="0"/>
              <a:t>顺序图建模风格</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273"/>
    </mc:Choice>
    <mc:Fallback xmlns="">
      <p:transition spd="slow" advTm="7727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80352" y="2412949"/>
            <a:ext cx="7452206" cy="3086580"/>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 name="object 3"/>
          <p:cNvSpPr txBox="1"/>
          <p:nvPr/>
        </p:nvSpPr>
        <p:spPr>
          <a:xfrm>
            <a:off x="1302702" y="1690688"/>
            <a:ext cx="6055360" cy="421640"/>
          </a:xfrm>
          <a:prstGeom prst="rect">
            <a:avLst/>
          </a:prstGeom>
        </p:spPr>
        <p:txBody>
          <a:bodyPr vert="horz" wrap="square" lIns="0" tIns="12700" rIns="0" bIns="0" rtlCol="0">
            <a:spAutoFit/>
          </a:bodyPr>
          <a:lstStyle/>
          <a:p>
            <a:pPr marL="241300" indent="-228600">
              <a:lnSpc>
                <a:spcPct val="100000"/>
              </a:lnSpc>
              <a:spcBef>
                <a:spcPts val="100"/>
              </a:spcBef>
              <a:buClr>
                <a:srgbClr val="3333CC"/>
              </a:buClr>
              <a:buFont typeface="Arial" panose="020B0604020202020204"/>
              <a:buChar char="•"/>
              <a:tabLst>
                <a:tab pos="241300" algn="l"/>
              </a:tabLst>
            </a:pPr>
            <a:r>
              <a:rPr sz="2600" dirty="0">
                <a:solidFill>
                  <a:srgbClr val="434DD6"/>
                </a:solidFill>
                <a:latin typeface="微软雅黑" panose="020B0503020204020204" pitchFamily="34" charset="-122"/>
                <a:ea typeface="微软雅黑" panose="020B0503020204020204" pitchFamily="34" charset="-122"/>
                <a:cs typeface="华文新魏" panose="02010800040101010101" charset="-122"/>
              </a:rPr>
              <a:t>建模风格3：不要对明显的返回值建模。</a:t>
            </a:r>
            <a:endParaRPr sz="260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txBox="1"/>
          <p:nvPr/>
        </p:nvSpPr>
        <p:spPr>
          <a:xfrm>
            <a:off x="1302702" y="5561648"/>
            <a:ext cx="10515600" cy="412934"/>
          </a:xfrm>
          <a:prstGeom prst="rect">
            <a:avLst/>
          </a:prstGeom>
        </p:spPr>
        <p:txBody>
          <a:bodyPr vert="horz" wrap="square" lIns="0" tIns="12700" rIns="0" bIns="0" rtlCol="0">
            <a:spAutoFit/>
          </a:bodyPr>
          <a:lstStyle/>
          <a:p>
            <a:pPr marL="241300" indent="-228600">
              <a:lnSpc>
                <a:spcPct val="100000"/>
              </a:lnSpc>
              <a:spcBef>
                <a:spcPts val="100"/>
              </a:spcBef>
              <a:buClr>
                <a:srgbClr val="3333CC"/>
              </a:buClr>
              <a:buFont typeface="Arial" panose="020B0604020202020204"/>
              <a:buChar char="•"/>
              <a:tabLst>
                <a:tab pos="241300" algn="l"/>
              </a:tabLst>
            </a:pPr>
            <a:r>
              <a:rPr sz="2600" dirty="0">
                <a:solidFill>
                  <a:srgbClr val="434DD6"/>
                </a:solidFill>
                <a:latin typeface="微软雅黑" panose="020B0503020204020204" pitchFamily="34" charset="-122"/>
                <a:ea typeface="微软雅黑" panose="020B0503020204020204" pitchFamily="34" charset="-122"/>
                <a:cs typeface="华文新魏" panose="02010800040101010101" charset="-122"/>
              </a:rPr>
              <a:t>建模风格4：可以把返回值建模为方法调用的一部分。</a:t>
            </a:r>
            <a:r>
              <a:rPr lang="zh-CN" altLang="en-US" sz="2600" dirty="0">
                <a:solidFill>
                  <a:srgbClr val="434DD6"/>
                </a:solidFill>
                <a:latin typeface="微软雅黑" panose="020B0503020204020204" pitchFamily="34" charset="-122"/>
                <a:ea typeface="微软雅黑" panose="020B0503020204020204" pitchFamily="34" charset="-122"/>
                <a:cs typeface="华文新魏" panose="02010800040101010101" charset="-122"/>
              </a:rPr>
              <a:t>（异步消息）</a:t>
            </a:r>
            <a:endParaRPr sz="2600" dirty="0">
              <a:latin typeface="微软雅黑" panose="020B0503020204020204" pitchFamily="34" charset="-122"/>
              <a:ea typeface="微软雅黑" panose="020B0503020204020204" pitchFamily="34" charset="-122"/>
              <a:cs typeface="华文新魏" panose="02010800040101010101" charset="-122"/>
            </a:endParaRPr>
          </a:p>
        </p:txBody>
      </p:sp>
      <p:sp>
        <p:nvSpPr>
          <p:cNvPr id="9" name="标题 8"/>
          <p:cNvSpPr>
            <a:spLocks noGrp="1"/>
          </p:cNvSpPr>
          <p:nvPr>
            <p:ph type="title"/>
          </p:nvPr>
        </p:nvSpPr>
        <p:spPr/>
        <p:txBody>
          <a:bodyPr/>
          <a:lstStyle/>
          <a:p>
            <a:r>
              <a:rPr lang="zh-CN" altLang="en-US" spc="-5" dirty="0"/>
              <a:t>顺序图建模风格</a:t>
            </a:r>
            <a:endParaRPr lang="zh-CN" altLang="en-US"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14</a:t>
            </a:fld>
            <a:endParaRPr lang="zh-CN" altLang="en-US"/>
          </a:p>
        </p:txBody>
      </p:sp>
      <p:sp>
        <p:nvSpPr>
          <p:cNvPr id="12" name="墨迹 11"/>
          <p:cNvSpPr/>
          <p:nvPr/>
        </p:nvSpPr>
        <p:spPr bwMode="auto">
          <a:xfrm>
            <a:off x="6173640" y="4742280"/>
            <a:ext cx="3948840" cy="565560"/>
          </a:xfrm>
          <a:prstGeom prst="rect">
            <a:avLst/>
          </a:prstGeom>
        </p:spPr>
      </p:sp>
    </p:spTree>
  </p:cSld>
  <p:clrMapOvr>
    <a:masterClrMapping/>
  </p:clrMapOvr>
  <mc:AlternateContent xmlns:mc="http://schemas.openxmlformats.org/markup-compatibility/2006" xmlns:p14="http://schemas.microsoft.com/office/powerpoint/2010/main">
    <mc:Choice Requires="p14">
      <p:transition spd="slow" p14:dur="2000" advTm="110796"/>
    </mc:Choice>
    <mc:Fallback xmlns="">
      <p:transition spd="slow" advTm="1107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md type="call" cmd="playFrom(0.0)">
                                      <p:cBhvr>
                                        <p:cTn id="7"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89964" y="2050733"/>
            <a:ext cx="4775836" cy="995144"/>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顺序图中时间约束的表示</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9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用约束</a:t>
            </a:r>
            <a:r>
              <a:rPr sz="2400" spc="-40"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(constraint)</a:t>
            </a:r>
            <a:r>
              <a:rPr sz="2400" dirty="0">
                <a:latin typeface="微软雅黑" panose="020B0503020204020204" pitchFamily="34" charset="-122"/>
                <a:ea typeface="微软雅黑" panose="020B0503020204020204" pitchFamily="34" charset="-122"/>
                <a:cs typeface="华文新魏" panose="02010800040101010101" charset="-122"/>
              </a:rPr>
              <a:t>来表示。</a:t>
            </a:r>
          </a:p>
        </p:txBody>
      </p:sp>
      <p:sp>
        <p:nvSpPr>
          <p:cNvPr id="3" name="object 3"/>
          <p:cNvSpPr/>
          <p:nvPr/>
        </p:nvSpPr>
        <p:spPr>
          <a:xfrm>
            <a:off x="5231903" y="1958162"/>
            <a:ext cx="5760638" cy="2948885"/>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11015994" y="6506284"/>
            <a:ext cx="135890"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898989"/>
                </a:solidFill>
                <a:latin typeface="Arial" panose="020B0604020202020204"/>
                <a:cs typeface="Arial" panose="020B0604020202020204"/>
              </a:rPr>
              <a:t>15</a:t>
            </a:fld>
            <a:endParaRPr sz="1200">
              <a:latin typeface="Arial" panose="020B0604020202020204"/>
              <a:cs typeface="Arial" panose="020B0604020202020204"/>
            </a:endParaRPr>
          </a:p>
        </p:txBody>
      </p:sp>
      <p:sp>
        <p:nvSpPr>
          <p:cNvPr id="8" name="标题 7"/>
          <p:cNvSpPr>
            <a:spLocks noGrp="1"/>
          </p:cNvSpPr>
          <p:nvPr>
            <p:ph type="title"/>
          </p:nvPr>
        </p:nvSpPr>
        <p:spPr/>
        <p:txBody>
          <a:bodyPr/>
          <a:lstStyle/>
          <a:p>
            <a:r>
              <a:rPr lang="zh-CN" altLang="en-US" spc="-5" dirty="0"/>
              <a:t>顺序图常见问题分析</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7705"/>
    </mc:Choice>
    <mc:Fallback xmlns="">
      <p:transition spd="slow" advTm="6770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1440" y="1582103"/>
            <a:ext cx="8278759" cy="990015"/>
          </a:xfrm>
          <a:prstGeom prst="rect">
            <a:avLst/>
          </a:prstGeom>
        </p:spPr>
        <p:txBody>
          <a:bodyPr vert="horz" wrap="square" lIns="0" tIns="99060" rIns="0" bIns="0" rtlCol="0">
            <a:spAutoFit/>
          </a:bodyPr>
          <a:lstStyle/>
          <a:p>
            <a:pPr marL="241300" indent="-228600">
              <a:lnSpc>
                <a:spcPct val="100000"/>
              </a:lnSpc>
              <a:spcBef>
                <a:spcPts val="7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嵌套的</a:t>
            </a:r>
            <a:r>
              <a:rPr sz="2600" dirty="0">
                <a:latin typeface="微软雅黑" panose="020B0503020204020204" pitchFamily="34" charset="-122"/>
                <a:ea typeface="微软雅黑" panose="020B0503020204020204" pitchFamily="34" charset="-122"/>
                <a:cs typeface="Calibri" panose="020F0502020204030204"/>
              </a:rPr>
              <a:t>FO</a:t>
            </a:r>
            <a:r>
              <a:rPr sz="2600" spc="-5" dirty="0">
                <a:latin typeface="微软雅黑" panose="020B0503020204020204" pitchFamily="34" charset="-122"/>
                <a:ea typeface="微软雅黑" panose="020B0503020204020204" pitchFamily="34" charset="-122"/>
                <a:cs typeface="Calibri" panose="020F0502020204030204"/>
              </a:rPr>
              <a:t>C</a:t>
            </a:r>
            <a:r>
              <a:rPr sz="2600" dirty="0">
                <a:latin typeface="微软雅黑" panose="020B0503020204020204" pitchFamily="34" charset="-122"/>
                <a:ea typeface="微软雅黑" panose="020B0503020204020204" pitchFamily="34" charset="-122"/>
                <a:cs typeface="华文新魏" panose="02010800040101010101" charset="-122"/>
              </a:rPr>
              <a:t>可以更精确地说明消息的开始和结束位置。</a:t>
            </a:r>
          </a:p>
          <a:p>
            <a:pPr marL="241300" indent="-228600">
              <a:lnSpc>
                <a:spcPct val="100000"/>
              </a:lnSpc>
              <a:spcBef>
                <a:spcPts val="6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图例：</a:t>
            </a:r>
          </a:p>
        </p:txBody>
      </p:sp>
      <p:sp>
        <p:nvSpPr>
          <p:cNvPr id="4" name="object 4"/>
          <p:cNvSpPr/>
          <p:nvPr/>
        </p:nvSpPr>
        <p:spPr>
          <a:xfrm>
            <a:off x="5080819" y="2235911"/>
            <a:ext cx="5585146" cy="303998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txBox="1"/>
          <p:nvPr/>
        </p:nvSpPr>
        <p:spPr>
          <a:xfrm>
            <a:off x="942657" y="5155931"/>
            <a:ext cx="10306685" cy="1110559"/>
          </a:xfrm>
          <a:prstGeom prst="rect">
            <a:avLst/>
          </a:prstGeom>
        </p:spPr>
        <p:txBody>
          <a:bodyPr vert="horz" wrap="square" lIns="0" tIns="33019" rIns="0" bIns="0" rtlCol="0">
            <a:spAutoFit/>
          </a:bodyPr>
          <a:lstStyle/>
          <a:p>
            <a:pPr marL="12700" marR="5080">
              <a:lnSpc>
                <a:spcPts val="2800"/>
              </a:lnSpc>
              <a:spcBef>
                <a:spcPts val="260"/>
              </a:spcBef>
            </a:pP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激活期</a:t>
            </a:r>
            <a:r>
              <a:rPr sz="2400" dirty="0">
                <a:latin typeface="微软雅黑" panose="020B0503020204020204" pitchFamily="34" charset="-122"/>
                <a:ea typeface="微软雅黑" panose="020B0503020204020204" pitchFamily="34" charset="-122"/>
                <a:cs typeface="Calibri" panose="020F0502020204030204"/>
              </a:rPr>
              <a:t>(</a:t>
            </a:r>
            <a:r>
              <a:rPr sz="2400" b="1" dirty="0">
                <a:solidFill>
                  <a:srgbClr val="800000"/>
                </a:solidFill>
                <a:latin typeface="微软雅黑" panose="020B0503020204020204" pitchFamily="34" charset="-122"/>
                <a:ea typeface="微软雅黑" panose="020B0503020204020204" pitchFamily="34" charset="-122"/>
                <a:cs typeface="Calibri" panose="020F0502020204030204"/>
              </a:rPr>
              <a:t>ac</a:t>
            </a:r>
            <a:r>
              <a:rPr sz="2400" b="1" spc="-10" dirty="0">
                <a:solidFill>
                  <a:srgbClr val="800000"/>
                </a:solidFill>
                <a:latin typeface="微软雅黑" panose="020B0503020204020204" pitchFamily="34" charset="-122"/>
                <a:ea typeface="微软雅黑" panose="020B0503020204020204" pitchFamily="34" charset="-122"/>
                <a:cs typeface="Calibri" panose="020F0502020204030204"/>
              </a:rPr>
              <a:t>tivat</a:t>
            </a:r>
            <a:r>
              <a:rPr sz="2400" b="1" spc="-5" dirty="0">
                <a:solidFill>
                  <a:srgbClr val="800000"/>
                </a:solidFill>
                <a:latin typeface="微软雅黑" panose="020B0503020204020204" pitchFamily="34" charset="-122"/>
                <a:ea typeface="微软雅黑" panose="020B0503020204020204" pitchFamily="34" charset="-122"/>
                <a:cs typeface="Calibri" panose="020F0502020204030204"/>
              </a:rPr>
              <a:t>i</a:t>
            </a:r>
            <a:r>
              <a:rPr sz="2400" b="1" dirty="0">
                <a:solidFill>
                  <a:srgbClr val="800000"/>
                </a:solidFill>
                <a:latin typeface="微软雅黑" panose="020B0503020204020204" pitchFamily="34" charset="-122"/>
                <a:ea typeface="微软雅黑" panose="020B0503020204020204" pitchFamily="34" charset="-122"/>
                <a:cs typeface="Calibri" panose="020F0502020204030204"/>
              </a:rPr>
              <a:t>o</a:t>
            </a:r>
            <a:r>
              <a:rPr sz="2400" b="1" spc="-5" dirty="0">
                <a:solidFill>
                  <a:srgbClr val="800000"/>
                </a:solidFill>
                <a:latin typeface="微软雅黑" panose="020B0503020204020204" pitchFamily="34" charset="-122"/>
                <a:ea typeface="微软雅黑" panose="020B0503020204020204" pitchFamily="34" charset="-122"/>
                <a:cs typeface="Calibri" panose="020F0502020204030204"/>
              </a:rPr>
              <a:t>n</a:t>
            </a:r>
            <a:r>
              <a:rPr sz="2400" dirty="0">
                <a:latin typeface="微软雅黑" panose="020B0503020204020204" pitchFamily="34" charset="-122"/>
                <a:ea typeface="微软雅黑" panose="020B0503020204020204" pitchFamily="34" charset="-122"/>
                <a:cs typeface="Calibri" panose="020F0502020204030204"/>
              </a:rPr>
              <a:t>)</a:t>
            </a:r>
            <a:r>
              <a:rPr sz="2400" dirty="0">
                <a:latin typeface="微软雅黑" panose="020B0503020204020204" pitchFamily="34" charset="-122"/>
                <a:ea typeface="微软雅黑" panose="020B0503020204020204" pitchFamily="34" charset="-122"/>
                <a:cs typeface="华文新魏" panose="02010800040101010101" charset="-122"/>
              </a:rPr>
              <a:t>：表示对象执行一个动作的期间（直接操作或者通过下级操 作），也即对象激活的时间段。</a:t>
            </a:r>
          </a:p>
          <a:p>
            <a:pPr marL="12700">
              <a:lnSpc>
                <a:spcPts val="2820"/>
              </a:lnSpc>
            </a:pP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控制焦点</a:t>
            </a:r>
            <a:r>
              <a:rPr sz="2400" dirty="0">
                <a:latin typeface="微软雅黑" panose="020B0503020204020204" pitchFamily="34" charset="-122"/>
                <a:ea typeface="微软雅黑" panose="020B0503020204020204" pitchFamily="34" charset="-122"/>
                <a:cs typeface="华文新魏" panose="02010800040101010101" charset="-122"/>
              </a:rPr>
              <a:t>和</a:t>
            </a: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激活期</a:t>
            </a:r>
            <a:r>
              <a:rPr sz="2400" dirty="0">
                <a:latin typeface="微软雅黑" panose="020B0503020204020204" pitchFamily="34" charset="-122"/>
                <a:ea typeface="微软雅黑" panose="020B0503020204020204" pitchFamily="34" charset="-122"/>
                <a:cs typeface="华文新魏" panose="02010800040101010101" charset="-122"/>
              </a:rPr>
              <a:t>是同一个概念。</a:t>
            </a:r>
          </a:p>
        </p:txBody>
      </p:sp>
      <p:sp>
        <p:nvSpPr>
          <p:cNvPr id="8" name="标题 7"/>
          <p:cNvSpPr>
            <a:spLocks noGrp="1"/>
          </p:cNvSpPr>
          <p:nvPr>
            <p:ph type="title"/>
          </p:nvPr>
        </p:nvSpPr>
        <p:spPr/>
        <p:txBody>
          <a:bodyPr/>
          <a:lstStyle/>
          <a:p>
            <a:r>
              <a:rPr lang="zh-CN" altLang="en-US" spc="-5" dirty="0"/>
              <a:t>控制焦点</a:t>
            </a:r>
            <a:r>
              <a:rPr lang="en-US" altLang="zh-CN" spc="-5" dirty="0">
                <a:latin typeface="Calibri" panose="020F0502020204030204"/>
                <a:cs typeface="Calibri" panose="020F0502020204030204"/>
              </a:rPr>
              <a:t>(focus</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of</a:t>
            </a:r>
            <a:r>
              <a:rPr lang="en-US" altLang="zh-CN" spc="-25" dirty="0">
                <a:latin typeface="Calibri" panose="020F0502020204030204"/>
                <a:cs typeface="Calibri" panose="020F0502020204030204"/>
              </a:rPr>
              <a:t> </a:t>
            </a:r>
            <a:r>
              <a:rPr lang="en-US" altLang="zh-CN" spc="-5" dirty="0">
                <a:latin typeface="Calibri" panose="020F0502020204030204"/>
                <a:cs typeface="Calibri" panose="020F0502020204030204"/>
              </a:rPr>
              <a:t>control)</a:t>
            </a:r>
            <a:r>
              <a:rPr lang="zh-CN" altLang="en-US" spc="-5" dirty="0"/>
              <a:t>的嵌套</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1718"/>
    </mc:Choice>
    <mc:Fallback xmlns="">
      <p:transition spd="slow" advTm="11171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顺序图常见问题分析</a:t>
            </a:r>
            <a:endParaRPr lang="zh-CN" altLang="en-US" dirty="0"/>
          </a:p>
        </p:txBody>
      </p:sp>
      <p:sp>
        <p:nvSpPr>
          <p:cNvPr id="3" name="内容占位符 2"/>
          <p:cNvSpPr>
            <a:spLocks noGrp="1"/>
          </p:cNvSpPr>
          <p:nvPr>
            <p:ph idx="1"/>
          </p:nvPr>
        </p:nvSpPr>
        <p:spPr/>
        <p:txBody>
          <a:bodyPr/>
          <a:lstStyle/>
          <a:p>
            <a:pPr marL="241300">
              <a:lnSpc>
                <a:spcPct val="100000"/>
              </a:lnSpc>
              <a:spcBef>
                <a:spcPts val="100"/>
              </a:spcBef>
              <a:buFont typeface="Arial" panose="020B0604020202020204"/>
              <a:buChar char="•"/>
              <a:tabLst>
                <a:tab pos="241300" algn="l"/>
              </a:tabLst>
            </a:pPr>
            <a:r>
              <a:rPr lang="zh-CN" altLang="en-US" sz="2400" b="1" spc="-5" dirty="0">
                <a:latin typeface="华文新魏" panose="02010800040101010101" charset="-122"/>
                <a:cs typeface="华文新魏" panose="02010800040101010101" charset="-122"/>
              </a:rPr>
              <a:t>顺序图中递归的表示</a:t>
            </a:r>
            <a:endParaRPr lang="zh-CN" altLang="en-US" sz="2400" dirty="0">
              <a:latin typeface="华文新魏" panose="02010800040101010101" charset="-122"/>
              <a:cs typeface="华文新魏" panose="02010800040101010101" charset="-122"/>
            </a:endParaRPr>
          </a:p>
          <a:p>
            <a:pPr marL="12700" marR="5080" lvl="1" indent="457200">
              <a:lnSpc>
                <a:spcPts val="5300"/>
              </a:lnSpc>
              <a:spcBef>
                <a:spcPts val="80"/>
              </a:spcBef>
              <a:buFont typeface="Arial" panose="020B0604020202020204"/>
              <a:buChar char="•"/>
              <a:tabLst>
                <a:tab pos="673735" algn="l"/>
                <a:tab pos="698500" algn="l"/>
              </a:tabLst>
            </a:pPr>
            <a:r>
              <a:rPr lang="zh-CN" altLang="en-US" dirty="0">
                <a:latin typeface="华文新魏" panose="02010800040101010101" charset="-122"/>
                <a:cs typeface="华文新魏" panose="02010800040101010101" charset="-122"/>
              </a:rPr>
              <a:t>利用嵌套的</a:t>
            </a:r>
            <a:r>
              <a:rPr lang="en-US" altLang="zh-CN" dirty="0">
                <a:latin typeface="华文新魏" panose="02010800040101010101" charset="-122"/>
                <a:cs typeface="华文新魏" panose="02010800040101010101" charset="-122"/>
              </a:rPr>
              <a:t>FOC</a:t>
            </a:r>
            <a:r>
              <a:rPr lang="zh-CN" altLang="en-US" dirty="0">
                <a:latin typeface="华文新魏" panose="02010800040101010101" charset="-122"/>
                <a:cs typeface="华文新魏" panose="02010800040101010101" charset="-122"/>
              </a:rPr>
              <a:t>表示 </a:t>
            </a:r>
            <a:endParaRPr lang="en-US" altLang="zh-CN" dirty="0">
              <a:latin typeface="华文新魏" panose="02010800040101010101" charset="-122"/>
              <a:cs typeface="华文新魏" panose="02010800040101010101" charset="-122"/>
            </a:endParaRPr>
          </a:p>
          <a:p>
            <a:pPr marL="12700" marR="5080" lvl="1" indent="457200">
              <a:lnSpc>
                <a:spcPts val="5300"/>
              </a:lnSpc>
              <a:spcBef>
                <a:spcPts val="80"/>
              </a:spcBef>
              <a:buFont typeface="Arial" panose="020B0604020202020204"/>
              <a:buChar char="•"/>
              <a:tabLst>
                <a:tab pos="673735" algn="l"/>
                <a:tab pos="698500" algn="l"/>
              </a:tabLst>
            </a:pPr>
            <a:r>
              <a:rPr lang="zh-CN" altLang="en-US" dirty="0">
                <a:latin typeface="华文新魏" panose="02010800040101010101" charset="-122"/>
                <a:cs typeface="华文新魏" panose="02010800040101010101" charset="-122"/>
              </a:rPr>
              <a:t>例</a:t>
            </a:r>
            <a:r>
              <a:rPr lang="en-US" altLang="zh-CN" dirty="0">
                <a:latin typeface="华文新魏" panose="02010800040101010101" charset="-122"/>
                <a:cs typeface="华文新魏" panose="02010800040101010101" charset="-122"/>
              </a:rPr>
              <a:t>1. </a:t>
            </a:r>
            <a:r>
              <a:rPr lang="zh-CN" altLang="en-US" dirty="0">
                <a:latin typeface="华文新魏" panose="02010800040101010101" charset="-122"/>
                <a:cs typeface="华文新魏" panose="02010800040101010101" charset="-122"/>
              </a:rPr>
              <a:t>单个对象自身的递归。</a:t>
            </a:r>
          </a:p>
          <a:p>
            <a:endParaRPr lang="zh-CN" altLang="en-US" dirty="0"/>
          </a:p>
        </p:txBody>
      </p:sp>
      <p:sp>
        <p:nvSpPr>
          <p:cNvPr id="5" name="object 4"/>
          <p:cNvSpPr/>
          <p:nvPr/>
        </p:nvSpPr>
        <p:spPr>
          <a:xfrm>
            <a:off x="5541142" y="1825625"/>
            <a:ext cx="5609457" cy="3551597"/>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106"/>
    </mc:Choice>
    <mc:Fallback xmlns="">
      <p:transition spd="slow" advTm="3710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顺序图常见问题分析</a:t>
            </a:r>
            <a:endParaRPr lang="zh-CN" altLang="en-US" dirty="0"/>
          </a:p>
        </p:txBody>
      </p:sp>
      <p:sp>
        <p:nvSpPr>
          <p:cNvPr id="3" name="内容占位符 2"/>
          <p:cNvSpPr>
            <a:spLocks noGrp="1"/>
          </p:cNvSpPr>
          <p:nvPr>
            <p:ph idx="1"/>
          </p:nvPr>
        </p:nvSpPr>
        <p:spPr/>
        <p:txBody>
          <a:bodyPr/>
          <a:lstStyle/>
          <a:p>
            <a:pPr marL="12700" indent="0">
              <a:lnSpc>
                <a:spcPct val="100000"/>
              </a:lnSpc>
              <a:spcBef>
                <a:spcPts val="100"/>
              </a:spcBef>
              <a:buNone/>
              <a:tabLst>
                <a:tab pos="241300" algn="l"/>
              </a:tabLst>
            </a:pPr>
            <a:endParaRPr lang="en-US" altLang="zh-CN" sz="2400" b="1" spc="-5" dirty="0">
              <a:latin typeface="华文新魏" panose="02010800040101010101" charset="-122"/>
              <a:cs typeface="华文新魏" panose="02010800040101010101" charset="-122"/>
            </a:endParaRPr>
          </a:p>
          <a:p>
            <a:pPr marL="241300">
              <a:lnSpc>
                <a:spcPct val="100000"/>
              </a:lnSpc>
              <a:spcBef>
                <a:spcPts val="100"/>
              </a:spcBef>
              <a:buFont typeface="Arial" panose="020B0604020202020204"/>
              <a:buChar char="•"/>
              <a:tabLst>
                <a:tab pos="241300" algn="l"/>
              </a:tabLst>
            </a:pPr>
            <a:r>
              <a:rPr lang="zh-CN" altLang="en-US" sz="2400" b="1" spc="-5" dirty="0">
                <a:latin typeface="华文新魏" panose="02010800040101010101" charset="-122"/>
                <a:cs typeface="华文新魏" panose="02010800040101010101" charset="-122"/>
              </a:rPr>
              <a:t>顺序图中递归的表示</a:t>
            </a:r>
            <a:endParaRPr lang="zh-CN" altLang="en-US" sz="2400" dirty="0">
              <a:latin typeface="华文新魏" panose="02010800040101010101" charset="-122"/>
              <a:cs typeface="华文新魏" panose="02010800040101010101" charset="-122"/>
            </a:endParaRPr>
          </a:p>
          <a:p>
            <a:pPr marL="698500" lvl="1">
              <a:lnSpc>
                <a:spcPct val="100000"/>
              </a:lnSpc>
              <a:spcBef>
                <a:spcPts val="192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利用嵌套的</a:t>
            </a:r>
            <a:r>
              <a:rPr lang="en-US" altLang="zh-CN" dirty="0">
                <a:latin typeface="华文新魏" panose="02010800040101010101" charset="-122"/>
                <a:cs typeface="华文新魏" panose="02010800040101010101" charset="-122"/>
              </a:rPr>
              <a:t>FOC</a:t>
            </a:r>
            <a:r>
              <a:rPr lang="zh-CN" altLang="en-US" dirty="0">
                <a:latin typeface="华文新魏" panose="02010800040101010101" charset="-122"/>
                <a:cs typeface="华文新魏" panose="02010800040101010101" charset="-122"/>
              </a:rPr>
              <a:t>表示</a:t>
            </a:r>
          </a:p>
          <a:p>
            <a:pPr marL="12700">
              <a:lnSpc>
                <a:spcPct val="100000"/>
              </a:lnSpc>
              <a:spcBef>
                <a:spcPts val="2420"/>
              </a:spcBef>
            </a:pPr>
            <a:r>
              <a:rPr lang="zh-CN" altLang="en-US" sz="2400" dirty="0">
                <a:latin typeface="华文新魏" panose="02010800040101010101" charset="-122"/>
                <a:cs typeface="华文新魏" panose="02010800040101010101" charset="-122"/>
              </a:rPr>
              <a:t>例</a:t>
            </a:r>
            <a:r>
              <a:rPr lang="en-US" altLang="zh-CN" sz="2400" dirty="0">
                <a:latin typeface="华文新魏" panose="02010800040101010101" charset="-122"/>
                <a:cs typeface="华文新魏" panose="02010800040101010101" charset="-122"/>
              </a:rPr>
              <a:t>2.</a:t>
            </a:r>
            <a:r>
              <a:rPr lang="zh-CN" altLang="en-US" sz="2400" spc="-90" dirty="0">
                <a:latin typeface="华文新魏" panose="02010800040101010101" charset="-122"/>
                <a:cs typeface="华文新魏" panose="02010800040101010101" charset="-122"/>
              </a:rPr>
              <a:t> </a:t>
            </a:r>
            <a:r>
              <a:rPr lang="zh-CN" altLang="en-US" sz="2400" dirty="0">
                <a:latin typeface="华文新魏" panose="02010800040101010101" charset="-122"/>
                <a:cs typeface="华文新魏" panose="02010800040101010101" charset="-122"/>
              </a:rPr>
              <a:t>多个对象间相互递归调用的表示。</a:t>
            </a:r>
          </a:p>
          <a:p>
            <a:endParaRPr lang="zh-CN" altLang="en-US" dirty="0"/>
          </a:p>
        </p:txBody>
      </p:sp>
      <p:sp>
        <p:nvSpPr>
          <p:cNvPr id="5" name="object 3"/>
          <p:cNvSpPr/>
          <p:nvPr/>
        </p:nvSpPr>
        <p:spPr>
          <a:xfrm>
            <a:off x="6459007" y="2087102"/>
            <a:ext cx="5215270" cy="2913983"/>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18</a:t>
            </a:fld>
            <a:endParaRPr lang="zh-CN" altLang="en-US"/>
          </a:p>
        </p:txBody>
      </p:sp>
      <p:sp>
        <p:nvSpPr>
          <p:cNvPr id="4" name="墨迹 3"/>
          <p:cNvSpPr/>
          <p:nvPr/>
        </p:nvSpPr>
        <p:spPr bwMode="auto">
          <a:xfrm>
            <a:off x="7833240" y="3118680"/>
            <a:ext cx="3018600" cy="930600"/>
          </a:xfrm>
          <a:prstGeom prst="rect">
            <a:avLst/>
          </a:prstGeom>
        </p:spPr>
      </p:sp>
    </p:spTree>
  </p:cSld>
  <p:clrMapOvr>
    <a:masterClrMapping/>
  </p:clrMapOvr>
  <mc:AlternateContent xmlns:mc="http://schemas.openxmlformats.org/markup-compatibility/2006" xmlns:p14="http://schemas.microsoft.com/office/powerpoint/2010/main">
    <mc:Choice Requires="p14">
      <p:transition spd="slow" p14:dur="2000" advTm="57326"/>
    </mc:Choice>
    <mc:Fallback xmlns="">
      <p:transition spd="slow" advTm="573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917157"/>
            <a:ext cx="10007600" cy="2413481"/>
          </a:xfrm>
          <a:prstGeom prst="rect">
            <a:avLst/>
          </a:prstGeom>
        </p:spPr>
        <p:txBody>
          <a:bodyPr vert="horz" wrap="square" lIns="0" tIns="12700" rIns="0" bIns="0" rtlCol="0">
            <a:spAutoFit/>
          </a:bodyPr>
          <a:lstStyle/>
          <a:p>
            <a:pPr marL="241300" indent="-228600">
              <a:lnSpc>
                <a:spcPct val="100000"/>
              </a:lnSpc>
              <a:spcBef>
                <a:spcPts val="10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帮助分析人员对照检查用例中描述需求，是否已经落实给具体对象去实现</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提醒分析人员去补充遗漏的对象类或操作</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帮助分析人员识别哪些对象是主动对象</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通过对一个特定的对象群体的动态方面建模，深入地理解对象之间的交互</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txBox="1"/>
          <p:nvPr/>
        </p:nvSpPr>
        <p:spPr>
          <a:xfrm>
            <a:off x="11072524" y="6506284"/>
            <a:ext cx="220345" cy="199390"/>
          </a:xfrm>
          <a:prstGeom prst="rect">
            <a:avLst/>
          </a:prstGeom>
        </p:spPr>
        <p:txBody>
          <a:bodyPr vert="horz" wrap="square" lIns="0" tIns="0" rIns="0" bIns="0" rtlCol="0">
            <a:spAutoFit/>
          </a:bodyPr>
          <a:lstStyle/>
          <a:p>
            <a:pPr marL="46990">
              <a:lnSpc>
                <a:spcPts val="1425"/>
              </a:lnSpc>
            </a:pPr>
            <a:fld id="{81D60167-4931-47E6-BA6A-407CBD079E47}" type="slidenum">
              <a:rPr sz="1200" dirty="0">
                <a:solidFill>
                  <a:srgbClr val="FFFFFF"/>
                </a:solidFill>
                <a:latin typeface="华文新魏" panose="02010800040101010101" charset="-122"/>
                <a:cs typeface="华文新魏" panose="02010800040101010101" charset="-122"/>
              </a:rPr>
              <a:t>19</a:t>
            </a:fld>
            <a:endParaRPr sz="1200">
              <a:latin typeface="华文新魏" panose="02010800040101010101" charset="-122"/>
              <a:cs typeface="华文新魏" panose="02010800040101010101" charset="-122"/>
            </a:endParaRPr>
          </a:p>
        </p:txBody>
      </p:sp>
      <p:sp>
        <p:nvSpPr>
          <p:cNvPr id="7" name="标题 6"/>
          <p:cNvSpPr>
            <a:spLocks noGrp="1"/>
          </p:cNvSpPr>
          <p:nvPr>
            <p:ph type="title"/>
          </p:nvPr>
        </p:nvSpPr>
        <p:spPr/>
        <p:txBody>
          <a:bodyPr/>
          <a:lstStyle/>
          <a:p>
            <a:r>
              <a:rPr lang="zh-CN" altLang="en-US" spc="-5" dirty="0"/>
              <a:t>顺序图的作用</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19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711"/>
    </mc:Choice>
    <mc:Fallback xmlns="">
      <p:transition spd="slow" advTm="3771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顺序图中带条件消息的发送，不能采用以下哪种方式进行？</a:t>
            </a:r>
          </a:p>
        </p:txBody>
      </p:sp>
      <p:sp>
        <p:nvSpPr>
          <p:cNvPr id="5" name="文本框 4"/>
          <p:cNvSpPr txBox="1"/>
          <p:nvPr>
            <p:custDataLst>
              <p:tags r:id="rId3"/>
            </p:custDataLst>
          </p:nvPr>
        </p:nvSpPr>
        <p:spPr>
          <a:xfrm>
            <a:off x="2816087" y="218971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用文字说明，作为注释添加</a:t>
            </a:r>
          </a:p>
        </p:txBody>
      </p:sp>
      <p:sp>
        <p:nvSpPr>
          <p:cNvPr id="6" name="文本框 5"/>
          <p:cNvSpPr txBox="1"/>
          <p:nvPr>
            <p:custDataLst>
              <p:tags r:id="rId4"/>
            </p:custDataLst>
          </p:nvPr>
        </p:nvSpPr>
        <p:spPr>
          <a:xfrm>
            <a:off x="2816087" y="304696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添加条件控制框</a:t>
            </a:r>
          </a:p>
        </p:txBody>
      </p:sp>
      <p:sp>
        <p:nvSpPr>
          <p:cNvPr id="7" name="文本框 6"/>
          <p:cNvSpPr txBox="1"/>
          <p:nvPr>
            <p:custDataLst>
              <p:tags r:id="rId5"/>
            </p:custDataLst>
          </p:nvPr>
        </p:nvSpPr>
        <p:spPr>
          <a:xfrm>
            <a:off x="2816087" y="390421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分成多个顺序图子图来描述</a:t>
            </a:r>
          </a:p>
        </p:txBody>
      </p:sp>
      <p:sp>
        <p:nvSpPr>
          <p:cNvPr id="8" name="文本框 7"/>
          <p:cNvSpPr txBox="1"/>
          <p:nvPr>
            <p:custDataLst>
              <p:tags r:id="rId6"/>
            </p:custDataLst>
          </p:nvPr>
        </p:nvSpPr>
        <p:spPr>
          <a:xfrm>
            <a:off x="2816087" y="476146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在消息名字前加条件子句</a:t>
            </a:r>
          </a:p>
        </p:txBody>
      </p:sp>
      <p:sp>
        <p:nvSpPr>
          <p:cNvPr id="13" name="矩形: 圆角 12"/>
          <p:cNvSpPr/>
          <p:nvPr>
            <p:custDataLst>
              <p:tags r:id="rId7"/>
            </p:custDataLst>
          </p:nvPr>
        </p:nvSpPr>
        <p:spPr>
          <a:xfrm>
            <a:off x="7653131" y="204826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2" name="文本框 1">
            <a:extLst>
              <a:ext uri="{FF2B5EF4-FFF2-40B4-BE49-F238E27FC236}">
                <a16:creationId xmlns:a16="http://schemas.microsoft.com/office/drawing/2014/main" id="{C6C6F7D2-F592-A446-84A3-D1523582B8B6}"/>
              </a:ext>
            </a:extLst>
          </p:cNvPr>
          <p:cNvSpPr txBox="1"/>
          <p:nvPr/>
        </p:nvSpPr>
        <p:spPr>
          <a:xfrm>
            <a:off x="1656783" y="2269642"/>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顺序图的组合控制框（</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Frame</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）中，用于表达分支选择关系的控制符是哪个？</a:t>
            </a:r>
          </a:p>
        </p:txBody>
      </p:sp>
      <p:sp>
        <p:nvSpPr>
          <p:cNvPr id="5" name="文本框 4"/>
          <p:cNvSpPr txBox="1"/>
          <p:nvPr>
            <p:custDataLst>
              <p:tags r:id="rId3"/>
            </p:custDataLst>
          </p:nvPr>
        </p:nvSpPr>
        <p:spPr>
          <a:xfrm>
            <a:off x="3025775" y="230898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opt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3025775" y="316623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alt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3025775" y="402348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ref</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3025775" y="488073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loop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5874026" y="185658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011A0A76-A1F2-3048-923C-E44E9D0DB402}"/>
              </a:ext>
            </a:extLst>
          </p:cNvPr>
          <p:cNvSpPr txBox="1"/>
          <p:nvPr/>
        </p:nvSpPr>
        <p:spPr>
          <a:xfrm>
            <a:off x="2105545" y="2397698"/>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当一个顺序图过大时，最好的处理方法是？</a:t>
            </a:r>
          </a:p>
        </p:txBody>
      </p:sp>
      <p:sp>
        <p:nvSpPr>
          <p:cNvPr id="5" name="文本框 4"/>
          <p:cNvSpPr txBox="1"/>
          <p:nvPr>
            <p:custDataLst>
              <p:tags r:id="rId3"/>
            </p:custDataLst>
          </p:nvPr>
        </p:nvSpPr>
        <p:spPr>
          <a:xfrm>
            <a:off x="2945296"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添加注释，说明顺序图的各部分之间的接续关系</a:t>
            </a:r>
          </a:p>
        </p:txBody>
      </p:sp>
      <p:sp>
        <p:nvSpPr>
          <p:cNvPr id="6" name="文本框 5"/>
          <p:cNvSpPr txBox="1"/>
          <p:nvPr>
            <p:custDataLst>
              <p:tags r:id="rId4"/>
            </p:custDataLst>
          </p:nvPr>
        </p:nvSpPr>
        <p:spPr>
          <a:xfrm>
            <a:off x="2945296"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用不完整的箭头，指明本页的顺序图未完待续</a:t>
            </a:r>
          </a:p>
        </p:txBody>
      </p:sp>
      <p:sp>
        <p:nvSpPr>
          <p:cNvPr id="7" name="文本框 6"/>
          <p:cNvSpPr txBox="1"/>
          <p:nvPr>
            <p:custDataLst>
              <p:tags r:id="rId5"/>
            </p:custDataLst>
          </p:nvPr>
        </p:nvSpPr>
        <p:spPr>
          <a:xfrm>
            <a:off x="2945296"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去掉无关的细节，保持图的简洁性</a:t>
            </a:r>
          </a:p>
        </p:txBody>
      </p:sp>
      <p:sp>
        <p:nvSpPr>
          <p:cNvPr id="8" name="文本框 7"/>
          <p:cNvSpPr txBox="1"/>
          <p:nvPr>
            <p:custDataLst>
              <p:tags r:id="rId6"/>
            </p:custDataLst>
          </p:nvPr>
        </p:nvSpPr>
        <p:spPr>
          <a:xfrm>
            <a:off x="2945296"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添加</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ref</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框，建立顺序图间的引用关系</a:t>
            </a:r>
          </a:p>
        </p:txBody>
      </p:sp>
      <p:sp>
        <p:nvSpPr>
          <p:cNvPr id="13" name="矩形: 圆角 12"/>
          <p:cNvSpPr/>
          <p:nvPr>
            <p:custDataLst>
              <p:tags r:id="rId7"/>
            </p:custDataLst>
          </p:nvPr>
        </p:nvSpPr>
        <p:spPr>
          <a:xfrm>
            <a:off x="7841974" y="153892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31388631-6D39-2F43-A690-E1DC84895B2B}"/>
              </a:ext>
            </a:extLst>
          </p:cNvPr>
          <p:cNvSpPr txBox="1"/>
          <p:nvPr/>
        </p:nvSpPr>
        <p:spPr>
          <a:xfrm>
            <a:off x="1853876" y="2308325"/>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对顺序图与用例之间关系的阐述，错误的是：</a:t>
            </a:r>
          </a:p>
        </p:txBody>
      </p:sp>
      <p:sp>
        <p:nvSpPr>
          <p:cNvPr id="5" name="文本框 4"/>
          <p:cNvSpPr txBox="1"/>
          <p:nvPr>
            <p:custDataLst>
              <p:tags r:id="rId3"/>
            </p:custDataLst>
          </p:nvPr>
        </p:nvSpPr>
        <p:spPr>
          <a:xfrm>
            <a:off x="2159000" y="2357438"/>
            <a:ext cx="8862391"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顺序图表达单个情景实例的行为，每个用例对应一个顺序图</a:t>
            </a:r>
          </a:p>
        </p:txBody>
      </p:sp>
      <p:sp>
        <p:nvSpPr>
          <p:cNvPr id="6" name="文本框 5"/>
          <p:cNvSpPr txBox="1"/>
          <p:nvPr>
            <p:custDataLst>
              <p:tags r:id="rId4"/>
            </p:custDataLst>
          </p:nvPr>
        </p:nvSpPr>
        <p:spPr>
          <a:xfrm>
            <a:off x="2159001" y="32146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用例分析阶段的顺序图要包含设计对象，并关注消息参数</a:t>
            </a:r>
          </a:p>
        </p:txBody>
      </p:sp>
      <p:sp>
        <p:nvSpPr>
          <p:cNvPr id="7" name="文本框 6"/>
          <p:cNvSpPr txBox="1"/>
          <p:nvPr>
            <p:custDataLst>
              <p:tags r:id="rId5"/>
            </p:custDataLst>
          </p:nvPr>
        </p:nvSpPr>
        <p:spPr>
          <a:xfrm>
            <a:off x="2159000" y="4071938"/>
            <a:ext cx="8951843"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顺序图用于表示为完成用例而在系统边界输入输出的数据以及消息</a:t>
            </a:r>
          </a:p>
        </p:txBody>
      </p:sp>
      <p:sp>
        <p:nvSpPr>
          <p:cNvPr id="8" name="文本框 7"/>
          <p:cNvSpPr txBox="1"/>
          <p:nvPr>
            <p:custDataLst>
              <p:tags r:id="rId6"/>
            </p:custDataLst>
          </p:nvPr>
        </p:nvSpPr>
        <p:spPr>
          <a:xfrm>
            <a:off x="2159001" y="49291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顺序图可帮助分析人员对用例图进行扩展、细化和补遗</a:t>
            </a:r>
          </a:p>
        </p:txBody>
      </p:sp>
      <p:sp>
        <p:nvSpPr>
          <p:cNvPr id="13" name="矩形: 圆角 12"/>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C6001AA8-C7BA-2444-B037-390F08A5F7B8}"/>
              </a:ext>
            </a:extLst>
          </p:cNvPr>
          <p:cNvSpPr txBox="1"/>
          <p:nvPr/>
        </p:nvSpPr>
        <p:spPr>
          <a:xfrm>
            <a:off x="1525905" y="2398030"/>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7860" y="441047"/>
            <a:ext cx="6516280" cy="5975905"/>
          </a:xfrm>
          <a:prstGeom prst="rect">
            <a:avLst/>
          </a:prstGeom>
        </p:spPr>
      </p:pic>
      <p:sp>
        <p:nvSpPr>
          <p:cNvPr id="3" name="文本框 2"/>
          <p:cNvSpPr txBox="1"/>
          <p:nvPr/>
        </p:nvSpPr>
        <p:spPr>
          <a:xfrm>
            <a:off x="9354140" y="2345635"/>
            <a:ext cx="2473425" cy="1815882"/>
          </a:xfrm>
          <a:prstGeom prst="rect">
            <a:avLst/>
          </a:prstGeom>
          <a:noFill/>
        </p:spPr>
        <p:txBody>
          <a:bodyPr wrap="square" rtlCol="0">
            <a:spAutoFit/>
          </a:bodyPr>
          <a:lstStyle/>
          <a:p>
            <a:r>
              <a:rPr lang="zh-CN" altLang="en-US" sz="2800" dirty="0"/>
              <a:t>包含哪个结构？</a:t>
            </a:r>
            <a:endParaRPr lang="en-US" altLang="zh-CN" sz="2800" dirty="0"/>
          </a:p>
          <a:p>
            <a:endParaRPr lang="en-US" altLang="zh-CN" sz="2800" dirty="0"/>
          </a:p>
          <a:p>
            <a:r>
              <a:rPr lang="zh-CN" altLang="en-US" sz="2800" dirty="0"/>
              <a:t>它的控制逻辑是什么？</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该顺序图中包含哪个结构？</a:t>
            </a:r>
          </a:p>
        </p:txBody>
      </p:sp>
      <p:sp>
        <p:nvSpPr>
          <p:cNvPr id="5" name="文本框 4"/>
          <p:cNvSpPr txBox="1"/>
          <p:nvPr>
            <p:custDataLst>
              <p:tags r:id="rId3"/>
            </p:custDataLst>
          </p:nvPr>
        </p:nvSpPr>
        <p:spPr>
          <a:xfrm>
            <a:off x="2935356" y="23574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分支选择结构</a:t>
            </a:r>
          </a:p>
        </p:txBody>
      </p:sp>
      <p:sp>
        <p:nvSpPr>
          <p:cNvPr id="6" name="文本框 5"/>
          <p:cNvSpPr txBox="1"/>
          <p:nvPr>
            <p:custDataLst>
              <p:tags r:id="rId4"/>
            </p:custDataLst>
          </p:nvPr>
        </p:nvSpPr>
        <p:spPr>
          <a:xfrm>
            <a:off x="2935356" y="32146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并发结构</a:t>
            </a:r>
          </a:p>
        </p:txBody>
      </p:sp>
      <p:sp>
        <p:nvSpPr>
          <p:cNvPr id="7" name="文本框 6"/>
          <p:cNvSpPr txBox="1"/>
          <p:nvPr>
            <p:custDataLst>
              <p:tags r:id="rId5"/>
            </p:custDataLst>
          </p:nvPr>
        </p:nvSpPr>
        <p:spPr>
          <a:xfrm>
            <a:off x="2935356" y="40719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单条件结构</a:t>
            </a:r>
          </a:p>
        </p:txBody>
      </p:sp>
      <p:sp>
        <p:nvSpPr>
          <p:cNvPr id="8" name="文本框 7"/>
          <p:cNvSpPr txBox="1"/>
          <p:nvPr>
            <p:custDataLst>
              <p:tags r:id="rId6"/>
            </p:custDataLst>
          </p:nvPr>
        </p:nvSpPr>
        <p:spPr>
          <a:xfrm>
            <a:off x="2935356" y="49291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循环结构</a:t>
            </a:r>
          </a:p>
        </p:txBody>
      </p:sp>
      <p:sp>
        <p:nvSpPr>
          <p:cNvPr id="13" name="矩形: 圆角 12"/>
          <p:cNvSpPr/>
          <p:nvPr>
            <p:custDataLst>
              <p:tags r:id="rId7"/>
            </p:custDataLst>
          </p:nvPr>
        </p:nvSpPr>
        <p:spPr>
          <a:xfrm>
            <a:off x="6096000" y="142271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C64D3E89-64D5-044B-A1E1-65A372C72479}"/>
              </a:ext>
            </a:extLst>
          </p:cNvPr>
          <p:cNvSpPr txBox="1"/>
          <p:nvPr/>
        </p:nvSpPr>
        <p:spPr>
          <a:xfrm>
            <a:off x="1874338" y="2463583"/>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以下哪个说法是正确的？</a:t>
            </a:r>
          </a:p>
        </p:txBody>
      </p:sp>
      <p:sp>
        <p:nvSpPr>
          <p:cNvPr id="5" name="文本框 4"/>
          <p:cNvSpPr txBox="1"/>
          <p:nvPr>
            <p:custDataLst>
              <p:tags r:id="rId3"/>
            </p:custDataLst>
          </p:nvPr>
        </p:nvSpPr>
        <p:spPr>
          <a:xfrm>
            <a:off x="2614613" y="20803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对于参数，优先考虑使用参数类型而不是参数名</a:t>
            </a:r>
          </a:p>
        </p:txBody>
      </p:sp>
      <p:sp>
        <p:nvSpPr>
          <p:cNvPr id="6" name="文本框 5"/>
          <p:cNvSpPr txBox="1"/>
          <p:nvPr>
            <p:custDataLst>
              <p:tags r:id="rId4"/>
            </p:custDataLst>
          </p:nvPr>
        </p:nvSpPr>
        <p:spPr>
          <a:xfrm>
            <a:off x="2614613" y="29376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每个用例对应一个顺序图</a:t>
            </a:r>
          </a:p>
        </p:txBody>
      </p:sp>
      <p:sp>
        <p:nvSpPr>
          <p:cNvPr id="7" name="文本框 6"/>
          <p:cNvSpPr txBox="1"/>
          <p:nvPr>
            <p:custDataLst>
              <p:tags r:id="rId5"/>
            </p:custDataLst>
          </p:nvPr>
        </p:nvSpPr>
        <p:spPr>
          <a:xfrm>
            <a:off x="2614613" y="37948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在顺序图过程中不能创建对象</a:t>
            </a:r>
          </a:p>
        </p:txBody>
      </p:sp>
      <p:sp>
        <p:nvSpPr>
          <p:cNvPr id="8" name="文本框 7"/>
          <p:cNvSpPr txBox="1"/>
          <p:nvPr>
            <p:custDataLst>
              <p:tags r:id="rId6"/>
            </p:custDataLst>
          </p:nvPr>
        </p:nvSpPr>
        <p:spPr>
          <a:xfrm>
            <a:off x="2614613" y="4652135"/>
            <a:ext cx="8534400" cy="642938"/>
          </a:xfrm>
          <a:prstGeom prst="rect">
            <a:avLst/>
          </a:prstGeom>
          <a:noFill/>
        </p:spPr>
        <p:txBody>
          <a:bodyPr vert="horz" rtlCol="0" anchor="ctr" anchorCtr="0">
            <a:noAutofit/>
          </a:bodyPr>
          <a:lstStyle/>
          <a:p>
            <a:r>
              <a:rPr lang="zh-CN" altLang="en-US" sz="2400" dirty="0">
                <a:latin typeface="微软雅黑" panose="020B0503020204020204" pitchFamily="34" charset="-122"/>
                <a:ea typeface="微软雅黑" panose="020B0503020204020204" pitchFamily="34" charset="-122"/>
                <a:cs typeface="华文新魏" panose="02010800040101010101" charset="-122"/>
              </a:rPr>
              <a:t>顺序图应该用于设计阶段而不是需求分析阶段</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5506278"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BAFE7B00-EB69-9F4E-A2BE-1B0E0E0EDCB7}"/>
              </a:ext>
            </a:extLst>
          </p:cNvPr>
          <p:cNvSpPr txBox="1"/>
          <p:nvPr/>
        </p:nvSpPr>
        <p:spPr>
          <a:xfrm>
            <a:off x="1832308" y="2186530"/>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52563"/>
            <a:ext cx="9144000" cy="2387600"/>
          </a:xfrm>
        </p:spPr>
        <p:txBody>
          <a:bodyPr>
            <a:normAutofit/>
          </a:bodyPr>
          <a:lstStyle/>
          <a:p>
            <a:r>
              <a:rPr lang="zh-CN" altLang="en-US" spc="-5" dirty="0"/>
              <a:t>状态图</a:t>
            </a:r>
            <a:br>
              <a:rPr lang="en-US" altLang="zh-CN" dirty="0"/>
            </a:br>
            <a:r>
              <a:rPr lang="en-US" altLang="zh-CN" dirty="0"/>
              <a:t>State Model</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2646"/>
    </mc:Choice>
    <mc:Fallback xmlns="">
      <p:transition spd="slow" advTm="264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292354" y="1523866"/>
            <a:ext cx="4216400" cy="4660900"/>
          </a:xfrm>
          <a:prstGeom prst="rect">
            <a:avLst/>
          </a:prstGeom>
        </p:spPr>
        <p:txBody>
          <a:bodyPr vert="horz" wrap="square" lIns="0" tIns="142240" rIns="0" bIns="0" rtlCol="0">
            <a:spAutoFit/>
          </a:bodyPr>
          <a:lstStyle/>
          <a:p>
            <a:pPr marL="241300" indent="-228600">
              <a:lnSpc>
                <a:spcPct val="100000"/>
              </a:lnSpc>
              <a:spcBef>
                <a:spcPts val="1120"/>
              </a:spcBef>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什么是状态</a:t>
            </a:r>
            <a:endParaRPr sz="2400" b="1"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0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华文新魏" panose="02010800040101010101" charset="-122"/>
              </a:rPr>
              <a:t>一个对象的状态空间</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1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华文新魏" panose="02010800040101010101" charset="-122"/>
              </a:rPr>
              <a:t>具体状态与抽象</a:t>
            </a:r>
            <a:r>
              <a:rPr sz="2400" spc="-15"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状态</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520"/>
              </a:spcBef>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有限状态机的主要元素</a:t>
            </a:r>
            <a:endParaRPr sz="2400" b="1"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1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华文新魏" panose="02010800040101010101" charset="-122"/>
              </a:rPr>
              <a:t>状态和转移</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0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华文新魏" panose="02010800040101010101" charset="-122"/>
              </a:rPr>
              <a:t>事件和行为</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620"/>
              </a:spcBef>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模块化的状态机模型：状态图</a:t>
            </a:r>
            <a:endParaRPr sz="2400" b="1"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0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华文新魏" panose="02010800040101010101" charset="-122"/>
              </a:rPr>
              <a:t>组合状态和子状态</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1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华文新魏" panose="02010800040101010101" charset="-122"/>
              </a:rPr>
              <a:t>绘制状态图的方法</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8" name="object 8"/>
          <p:cNvSpPr/>
          <p:nvPr/>
        </p:nvSpPr>
        <p:spPr>
          <a:xfrm>
            <a:off x="6096000" y="1523866"/>
            <a:ext cx="4803646" cy="4754879"/>
          </a:xfrm>
          <a:prstGeom prst="rect">
            <a:avLst/>
          </a:prstGeom>
          <a:blipFill>
            <a:blip r:embed="rId4" cstate="print"/>
            <a:stretch>
              <a:fillRect/>
            </a:stretch>
          </a:blipFill>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t>状态建模</a:t>
            </a:r>
          </a:p>
        </p:txBody>
      </p:sp>
      <p:sp>
        <p:nvSpPr>
          <p:cNvPr id="12" name="灯片编号占位符 11"/>
          <p:cNvSpPr>
            <a:spLocks noGrp="1"/>
          </p:cNvSpPr>
          <p:nvPr>
            <p:ph type="sldNum" sz="quarter" idx="12"/>
          </p:nvPr>
        </p:nvSpPr>
        <p:spPr/>
        <p:txBody>
          <a:bodyPr/>
          <a:lstStyle/>
          <a:p>
            <a:fld id="{74D2AB8B-5816-41F2-8B4B-CA5C3E4E6A65}" type="slidenum">
              <a:rPr lang="zh-CN" altLang="en-US" smtClean="0"/>
              <a:t>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175"/>
    </mc:Choice>
    <mc:Fallback xmlns="">
      <p:transition spd="slow" advTm="731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对象及其状态</a:t>
            </a:r>
          </a:p>
        </p:txBody>
      </p:sp>
      <p:sp>
        <p:nvSpPr>
          <p:cNvPr id="3" name="内容占位符 2"/>
          <p:cNvSpPr>
            <a:spLocks noGrp="1"/>
          </p:cNvSpPr>
          <p:nvPr>
            <p:ph idx="1"/>
          </p:nvPr>
        </p:nvSpPr>
        <p:spPr/>
        <p:txBody>
          <a:bodyPr/>
          <a:lstStyle/>
          <a:p>
            <a:pPr marL="241300">
              <a:lnSpc>
                <a:spcPct val="100000"/>
              </a:lnSpc>
              <a:spcBef>
                <a:spcPts val="610"/>
              </a:spcBef>
              <a:buFont typeface="Arial" panose="020B0604020202020204"/>
              <a:buChar char="•"/>
              <a:tabLst>
                <a:tab pos="241300" algn="l"/>
              </a:tabLst>
            </a:pPr>
            <a:r>
              <a:rPr lang="zh-CN" altLang="en-US" dirty="0">
                <a:solidFill>
                  <a:srgbClr val="800000"/>
                </a:solidFill>
                <a:latin typeface="华文新魏" panose="02010800040101010101" charset="-122"/>
                <a:cs typeface="华文新魏" panose="02010800040101010101" charset="-122"/>
              </a:rPr>
              <a:t>所有的对象都有“状态</a:t>
            </a:r>
            <a:r>
              <a:rPr lang="zh-CN" altLang="en-US" dirty="0">
                <a:solidFill>
                  <a:srgbClr val="941100"/>
                </a:solidFill>
                <a:latin typeface="华文新魏" panose="02010800040101010101" charset="-122"/>
                <a:cs typeface="华文新魏" panose="02010800040101010101" charset="-122"/>
              </a:rPr>
              <a:t>”</a:t>
            </a:r>
            <a:endParaRPr lang="zh-CN" altLang="en-US" dirty="0">
              <a:latin typeface="华文新魏" panose="02010800040101010101" charset="-122"/>
              <a:cs typeface="华文新魏" panose="02010800040101010101" charset="-122"/>
            </a:endParaRPr>
          </a:p>
          <a:p>
            <a:pPr marL="698500" lvl="1">
              <a:lnSpc>
                <a:spcPct val="100000"/>
              </a:lnSpc>
              <a:spcBef>
                <a:spcPts val="44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对象存在或者不存在</a:t>
            </a:r>
          </a:p>
          <a:p>
            <a:pPr marL="1155700" lvl="2">
              <a:lnSpc>
                <a:spcPct val="100000"/>
              </a:lnSpc>
              <a:spcBef>
                <a:spcPts val="520"/>
              </a:spcBef>
              <a:buFont typeface="Arial" panose="020B0604020202020204"/>
              <a:buChar char="•"/>
              <a:tabLst>
                <a:tab pos="1155065" algn="l"/>
                <a:tab pos="1155700" algn="l"/>
              </a:tabLst>
            </a:pPr>
            <a:r>
              <a:rPr lang="zh-CN" altLang="en-US" dirty="0">
                <a:latin typeface="华文新魏" panose="02010800040101010101" charset="-122"/>
                <a:cs typeface="华文新魏" panose="02010800040101010101" charset="-122"/>
              </a:rPr>
              <a:t>对象不存在也是一种状态</a:t>
            </a:r>
          </a:p>
          <a:p>
            <a:pPr marL="698500" lvl="1">
              <a:lnSpc>
                <a:spcPct val="100000"/>
              </a:lnSpc>
              <a:buFont typeface="Arial" panose="020B0604020202020204"/>
              <a:buChar char="•"/>
              <a:tabLst>
                <a:tab pos="698500" algn="l"/>
              </a:tabLst>
            </a:pPr>
            <a:r>
              <a:rPr lang="zh-CN" altLang="en-US" dirty="0">
                <a:latin typeface="华文新魏" panose="02010800040101010101" charset="-122"/>
                <a:cs typeface="华文新魏" panose="02010800040101010101" charset="-122"/>
              </a:rPr>
              <a:t>如果对象存在，则具有相应表示其属性的值</a:t>
            </a:r>
          </a:p>
          <a:p>
            <a:pPr marL="698500" lvl="1">
              <a:lnSpc>
                <a:spcPct val="100000"/>
              </a:lnSpc>
              <a:spcBef>
                <a:spcPts val="52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每一种状态表示一种可能的状态赋值</a:t>
            </a:r>
          </a:p>
          <a:p>
            <a:pPr marL="241300">
              <a:lnSpc>
                <a:spcPct val="100000"/>
              </a:lnSpc>
              <a:spcBef>
                <a:spcPts val="102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例如</a:t>
            </a:r>
            <a:r>
              <a:rPr lang="zh-CN" altLang="en-US" dirty="0">
                <a:solidFill>
                  <a:srgbClr val="0033CC"/>
                </a:solidFill>
                <a:latin typeface="华文新魏" panose="02010800040101010101" charset="-122"/>
                <a:cs typeface="华文新魏" panose="02010800040101010101" charset="-122"/>
              </a:rPr>
              <a:t>：</a:t>
            </a:r>
            <a:r>
              <a:rPr lang="zh-CN" altLang="en-US" dirty="0">
                <a:solidFill>
                  <a:srgbClr val="800000"/>
                </a:solidFill>
                <a:latin typeface="华文新魏" panose="02010800040101010101" charset="-122"/>
                <a:cs typeface="华文新魏" panose="02010800040101010101" charset="-122"/>
              </a:rPr>
              <a:t>栈</a:t>
            </a:r>
            <a:endParaRPr lang="zh-CN" altLang="en-US" dirty="0">
              <a:latin typeface="华文新魏" panose="02010800040101010101" charset="-122"/>
              <a:cs typeface="华文新魏" panose="02010800040101010101" charset="-122"/>
            </a:endParaRPr>
          </a:p>
          <a:p>
            <a:endParaRPr lang="zh-CN" altLang="en-US" dirty="0"/>
          </a:p>
        </p:txBody>
      </p:sp>
      <p:sp>
        <p:nvSpPr>
          <p:cNvPr id="5" name="object 8"/>
          <p:cNvSpPr txBox="1"/>
          <p:nvPr/>
        </p:nvSpPr>
        <p:spPr>
          <a:xfrm>
            <a:off x="565720" y="5076482"/>
            <a:ext cx="48450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new()</a:t>
            </a:r>
            <a:endParaRPr sz="1400">
              <a:latin typeface="华文新魏" panose="02010800040101010101" charset="-122"/>
              <a:cs typeface="华文新魏" panose="02010800040101010101" charset="-122"/>
            </a:endParaRPr>
          </a:p>
        </p:txBody>
      </p:sp>
      <p:sp>
        <p:nvSpPr>
          <p:cNvPr id="6" name="object 9"/>
          <p:cNvSpPr/>
          <p:nvPr/>
        </p:nvSpPr>
        <p:spPr>
          <a:xfrm>
            <a:off x="380617" y="4855737"/>
            <a:ext cx="10783886" cy="959320"/>
          </a:xfrm>
          <a:prstGeom prst="rect">
            <a:avLst/>
          </a:prstGeom>
          <a:blipFill>
            <a:blip r:embed="rId3" cstate="print"/>
            <a:stretch>
              <a:fillRect/>
            </a:stretch>
          </a:blipFill>
        </p:spPr>
        <p:txBody>
          <a:bodyPr wrap="square" lIns="0" tIns="0" rIns="0" bIns="0" rtlCol="0"/>
          <a:lstStyle/>
          <a:p>
            <a:endParaRPr/>
          </a:p>
        </p:txBody>
      </p:sp>
      <p:graphicFrame>
        <p:nvGraphicFramePr>
          <p:cNvPr id="7" name="object 10"/>
          <p:cNvGraphicFramePr>
            <a:graphicFrameLocks noGrp="1"/>
          </p:cNvGraphicFramePr>
          <p:nvPr/>
        </p:nvGraphicFramePr>
        <p:xfrm>
          <a:off x="1813588" y="4667541"/>
          <a:ext cx="8759821" cy="1403399"/>
        </p:xfrm>
        <a:graphic>
          <a:graphicData uri="http://schemas.openxmlformats.org/drawingml/2006/table">
            <a:tbl>
              <a:tblPr firstRow="1" bandRow="1">
                <a:tableStyleId>{2D5ABB26-0587-4C30-8999-92F81FD0307C}</a:tableStyleId>
              </a:tblPr>
              <a:tblGrid>
                <a:gridCol w="782320">
                  <a:extLst>
                    <a:ext uri="{9D8B030D-6E8A-4147-A177-3AD203B41FA5}">
                      <a16:colId xmlns:a16="http://schemas.microsoft.com/office/drawing/2014/main" val="20000"/>
                    </a:ext>
                  </a:extLst>
                </a:gridCol>
                <a:gridCol w="978535">
                  <a:extLst>
                    <a:ext uri="{9D8B030D-6E8A-4147-A177-3AD203B41FA5}">
                      <a16:colId xmlns:a16="http://schemas.microsoft.com/office/drawing/2014/main" val="20001"/>
                    </a:ext>
                  </a:extLst>
                </a:gridCol>
                <a:gridCol w="1093470">
                  <a:extLst>
                    <a:ext uri="{9D8B030D-6E8A-4147-A177-3AD203B41FA5}">
                      <a16:colId xmlns:a16="http://schemas.microsoft.com/office/drawing/2014/main" val="20002"/>
                    </a:ext>
                  </a:extLst>
                </a:gridCol>
                <a:gridCol w="958214">
                  <a:extLst>
                    <a:ext uri="{9D8B030D-6E8A-4147-A177-3AD203B41FA5}">
                      <a16:colId xmlns:a16="http://schemas.microsoft.com/office/drawing/2014/main" val="20003"/>
                    </a:ext>
                  </a:extLst>
                </a:gridCol>
                <a:gridCol w="1101725">
                  <a:extLst>
                    <a:ext uri="{9D8B030D-6E8A-4147-A177-3AD203B41FA5}">
                      <a16:colId xmlns:a16="http://schemas.microsoft.com/office/drawing/2014/main" val="20004"/>
                    </a:ext>
                  </a:extLst>
                </a:gridCol>
                <a:gridCol w="931544">
                  <a:extLst>
                    <a:ext uri="{9D8B030D-6E8A-4147-A177-3AD203B41FA5}">
                      <a16:colId xmlns:a16="http://schemas.microsoft.com/office/drawing/2014/main" val="20005"/>
                    </a:ext>
                  </a:extLst>
                </a:gridCol>
                <a:gridCol w="1101725">
                  <a:extLst>
                    <a:ext uri="{9D8B030D-6E8A-4147-A177-3AD203B41FA5}">
                      <a16:colId xmlns:a16="http://schemas.microsoft.com/office/drawing/2014/main" val="20006"/>
                    </a:ext>
                  </a:extLst>
                </a:gridCol>
                <a:gridCol w="852804">
                  <a:extLst>
                    <a:ext uri="{9D8B030D-6E8A-4147-A177-3AD203B41FA5}">
                      <a16:colId xmlns:a16="http://schemas.microsoft.com/office/drawing/2014/main" val="20007"/>
                    </a:ext>
                  </a:extLst>
                </a:gridCol>
                <a:gridCol w="959484">
                  <a:extLst>
                    <a:ext uri="{9D8B030D-6E8A-4147-A177-3AD203B41FA5}">
                      <a16:colId xmlns:a16="http://schemas.microsoft.com/office/drawing/2014/main" val="20008"/>
                    </a:ext>
                  </a:extLst>
                </a:gridCol>
              </a:tblGrid>
              <a:tr h="1022654">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31750">
                        <a:lnSpc>
                          <a:spcPct val="100000"/>
                        </a:lnSpc>
                      </a:pPr>
                      <a:r>
                        <a:rPr sz="1800" b="1" spc="-5" dirty="0">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a:txBody>
                  <a:tcPr marL="0" marR="0" marT="0" marB="0"/>
                </a:tc>
                <a:tc>
                  <a:txBody>
                    <a:bodyPr/>
                    <a:lstStyle/>
                    <a:p>
                      <a:pPr marL="115570">
                        <a:lnSpc>
                          <a:spcPts val="1400"/>
                        </a:lnSpc>
                      </a:pPr>
                      <a:r>
                        <a:rPr sz="1400" dirty="0">
                          <a:latin typeface="华文新魏" panose="02010800040101010101" charset="-122"/>
                          <a:cs typeface="华文新魏" panose="02010800040101010101" charset="-122"/>
                        </a:rPr>
                        <a:t>Push()</a:t>
                      </a: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328295">
                        <a:lnSpc>
                          <a:spcPct val="100000"/>
                        </a:lnSpc>
                      </a:pPr>
                      <a:r>
                        <a:rPr sz="1800" b="1" spc="-5" dirty="0">
                          <a:latin typeface="华文新魏" panose="02010800040101010101" charset="-122"/>
                          <a:cs typeface="华文新魏" panose="02010800040101010101" charset="-122"/>
                        </a:rPr>
                        <a:t>1</a:t>
                      </a:r>
                      <a:r>
                        <a:rPr sz="1800" b="1" spc="-2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a:t>
                      </a:r>
                      <a:endParaRPr sz="1800">
                        <a:latin typeface="华文新魏" panose="02010800040101010101" charset="-122"/>
                        <a:cs typeface="华文新魏" panose="02010800040101010101" charset="-122"/>
                      </a:endParaRPr>
                    </a:p>
                  </a:txBody>
                  <a:tcPr marL="0" marR="0" marT="0" marB="0"/>
                </a:tc>
                <a:tc>
                  <a:txBody>
                    <a:bodyPr/>
                    <a:lstStyle/>
                    <a:p>
                      <a:pPr marL="177800">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94615" algn="ctr">
                        <a:lnSpc>
                          <a:spcPct val="100000"/>
                        </a:lnSpc>
                      </a:pPr>
                      <a:r>
                        <a:rPr sz="1800" b="1" spc="-5" dirty="0">
                          <a:latin typeface="华文新魏" panose="02010800040101010101" charset="-122"/>
                          <a:cs typeface="华文新魏" panose="02010800040101010101" charset="-122"/>
                        </a:rPr>
                        <a:t>2</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marL="150495">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94615" algn="ctr">
                        <a:lnSpc>
                          <a:spcPct val="100000"/>
                        </a:lnSpc>
                      </a:pPr>
                      <a:r>
                        <a:rPr sz="1800" b="1" spc="-5" dirty="0">
                          <a:latin typeface="华文新魏" panose="02010800040101010101" charset="-122"/>
                          <a:cs typeface="华文新魏" panose="02010800040101010101" charset="-122"/>
                        </a:rPr>
                        <a:t>3</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marL="150495">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190500" algn="ctr">
                        <a:lnSpc>
                          <a:spcPct val="100000"/>
                        </a:lnSpc>
                      </a:pPr>
                      <a:r>
                        <a:rPr sz="1800" b="1" spc="-5" dirty="0">
                          <a:latin typeface="华文新魏" panose="02010800040101010101" charset="-122"/>
                          <a:cs typeface="华文新魏" panose="02010800040101010101" charset="-122"/>
                        </a:rPr>
                        <a:t>4</a:t>
                      </a:r>
                      <a:r>
                        <a:rPr sz="1800" b="1" spc="-6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0"/>
                  </a:ext>
                </a:extLst>
              </a:tr>
              <a:tr h="380745">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1717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5687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7940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5240" algn="ctr">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5209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5240" algn="ctr">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5049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dirty="0">
                        <a:latin typeface="Times New Roman" panose="02020603050405020304"/>
                        <a:cs typeface="Times New Roman" panose="02020603050405020304"/>
                      </a:endParaRPr>
                    </a:p>
                    <a:p>
                      <a:pPr marL="111760" algn="ctr">
                        <a:lnSpc>
                          <a:spcPts val="1630"/>
                        </a:lnSpc>
                      </a:pPr>
                      <a:r>
                        <a:rPr sz="1400" dirty="0">
                          <a:latin typeface="华文新魏" panose="02010800040101010101" charset="-122"/>
                          <a:cs typeface="华文新魏" panose="02010800040101010101" charset="-122"/>
                        </a:rPr>
                        <a:t>Top()</a:t>
                      </a:r>
                    </a:p>
                  </a:txBody>
                  <a:tcPr marL="0" marR="0" marT="0" marB="0"/>
                </a:tc>
                <a:extLst>
                  <a:ext uri="{0D108BD9-81ED-4DB2-BD59-A6C34878D82A}">
                    <a16:rowId xmlns:a16="http://schemas.microsoft.com/office/drawing/2014/main" val="10001"/>
                  </a:ext>
                </a:extLst>
              </a:tr>
            </a:tbl>
          </a:graphicData>
        </a:graphic>
      </p:graphicFrame>
      <p:sp>
        <p:nvSpPr>
          <p:cNvPr id="8" name="object 11"/>
          <p:cNvSpPr txBox="1"/>
          <p:nvPr/>
        </p:nvSpPr>
        <p:spPr>
          <a:xfrm>
            <a:off x="11132117" y="5014570"/>
            <a:ext cx="482600"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华文新魏" panose="02010800040101010101" charset="-122"/>
                <a:cs typeface="华文新魏" panose="02010800040101010101" charset="-122"/>
              </a:rPr>
              <a:t>…</a:t>
            </a:r>
            <a:endParaRPr sz="3600">
              <a:latin typeface="华文新魏" panose="02010800040101010101" charset="-122"/>
              <a:cs typeface="华文新魏" panose="02010800040101010101" charset="-122"/>
            </a:endParaRPr>
          </a:p>
        </p:txBody>
      </p:sp>
      <p:sp>
        <p:nvSpPr>
          <p:cNvPr id="9" name="灯片编号占位符 8"/>
          <p:cNvSpPr>
            <a:spLocks noGrp="1"/>
          </p:cNvSpPr>
          <p:nvPr>
            <p:ph type="sldNum" sz="quarter" idx="12"/>
          </p:nvPr>
        </p:nvSpPr>
        <p:spPr/>
        <p:txBody>
          <a:bodyPr/>
          <a:lstStyle/>
          <a:p>
            <a:fld id="{74D2AB8B-5816-41F2-8B4B-CA5C3E4E6A65}"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5693"/>
    </mc:Choice>
    <mc:Fallback xmlns="">
      <p:transition spd="slow" advTm="6569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有限状态机</a:t>
            </a:r>
            <a:endParaRPr lang="zh-CN" altLang="en-US" dirty="0"/>
          </a:p>
        </p:txBody>
      </p:sp>
      <p:sp>
        <p:nvSpPr>
          <p:cNvPr id="3" name="内容占位符 2"/>
          <p:cNvSpPr>
            <a:spLocks noGrp="1"/>
          </p:cNvSpPr>
          <p:nvPr>
            <p:ph idx="1"/>
          </p:nvPr>
        </p:nvSpPr>
        <p:spPr/>
        <p:txBody>
          <a:bodyPr/>
          <a:lstStyle/>
          <a:p>
            <a:pPr marL="241300">
              <a:lnSpc>
                <a:spcPct val="100000"/>
              </a:lnSpc>
              <a:spcBef>
                <a:spcPts val="1395"/>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有限数量的状态</a:t>
            </a:r>
            <a:r>
              <a:rPr lang="zh-CN" altLang="en-US" spc="-90" dirty="0">
                <a:latin typeface="华文新魏" panose="02010800040101010101" charset="-122"/>
                <a:cs typeface="华文新魏" panose="02010800040101010101" charset="-122"/>
              </a:rPr>
              <a:t> </a:t>
            </a:r>
            <a:r>
              <a:rPr lang="en-US" altLang="zh-CN" spc="-5" dirty="0">
                <a:latin typeface="华文新魏" panose="02010800040101010101" charset="-122"/>
                <a:cs typeface="华文新魏" panose="02010800040101010101" charset="-122"/>
              </a:rPr>
              <a:t>(</a:t>
            </a:r>
            <a:r>
              <a:rPr lang="zh-CN" altLang="en-US" dirty="0">
                <a:latin typeface="华文新魏" panose="02010800040101010101" charset="-122"/>
                <a:cs typeface="华文新魏" panose="02010800040101010101" charset="-122"/>
              </a:rPr>
              <a:t>所有的属性取值为有限的范围</a:t>
            </a:r>
            <a:r>
              <a:rPr lang="en-US" altLang="zh-CN" dirty="0">
                <a:latin typeface="华文新魏" panose="02010800040101010101" charset="-122"/>
                <a:cs typeface="华文新魏" panose="02010800040101010101" charset="-122"/>
              </a:rPr>
              <a:t>)</a:t>
            </a:r>
          </a:p>
          <a:p>
            <a:pPr marL="698500" lvl="1">
              <a:lnSpc>
                <a:spcPct val="100000"/>
              </a:lnSpc>
              <a:spcBef>
                <a:spcPts val="1020"/>
              </a:spcBef>
              <a:buFont typeface="Arial" panose="020B0604020202020204"/>
              <a:buChar char="•"/>
              <a:tabLst>
                <a:tab pos="697865" algn="l"/>
                <a:tab pos="698500" algn="l"/>
              </a:tabLst>
            </a:pPr>
            <a:r>
              <a:rPr lang="zh-CN" altLang="en-US" sz="2200" dirty="0">
                <a:latin typeface="华文新魏" panose="02010800040101010101" charset="-122"/>
                <a:cs typeface="华文新魏" panose="02010800040101010101" charset="-122"/>
              </a:rPr>
              <a:t>例如，一个最大容量为</a:t>
            </a:r>
            <a:r>
              <a:rPr lang="en-US" altLang="zh-CN" sz="2200" dirty="0">
                <a:latin typeface="华文新魏" panose="02010800040101010101" charset="-122"/>
                <a:cs typeface="华文新魏" panose="02010800040101010101" charset="-122"/>
              </a:rPr>
              <a:t>4</a:t>
            </a:r>
            <a:r>
              <a:rPr lang="zh-CN" altLang="en-US" sz="2200" dirty="0">
                <a:latin typeface="华文新魏" panose="02010800040101010101" charset="-122"/>
                <a:cs typeface="华文新魏" panose="02010800040101010101" charset="-122"/>
              </a:rPr>
              <a:t>的栈</a:t>
            </a:r>
          </a:p>
          <a:p>
            <a:pPr marL="241300">
              <a:lnSpc>
                <a:spcPct val="100000"/>
              </a:lnSpc>
              <a:spcBef>
                <a:spcPts val="168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模型可以表示动作序列（状态变化）</a:t>
            </a:r>
          </a:p>
          <a:p>
            <a:pPr marL="698500" lvl="1">
              <a:lnSpc>
                <a:spcPct val="100000"/>
              </a:lnSpc>
              <a:spcBef>
                <a:spcPts val="1020"/>
              </a:spcBef>
              <a:buFont typeface="Arial" panose="020B0604020202020204"/>
              <a:buChar char="•"/>
              <a:tabLst>
                <a:tab pos="697865" algn="l"/>
                <a:tab pos="698500" algn="l"/>
              </a:tabLst>
            </a:pPr>
            <a:r>
              <a:rPr lang="zh-CN" altLang="en-US" sz="2200" dirty="0">
                <a:latin typeface="华文新魏" panose="02010800040101010101" charset="-122"/>
                <a:cs typeface="华文新魏" panose="02010800040101010101" charset="-122"/>
              </a:rPr>
              <a:t>例如</a:t>
            </a:r>
            <a:r>
              <a:rPr lang="en-US" altLang="zh-CN" sz="2200" dirty="0">
                <a:latin typeface="华文新魏" panose="02010800040101010101" charset="-122"/>
                <a:cs typeface="华文新魏" panose="02010800040101010101" charset="-122"/>
              </a:rPr>
              <a:t>.</a:t>
            </a:r>
            <a:r>
              <a:rPr lang="zh-CN" altLang="en-US" sz="2200" spc="-10" dirty="0">
                <a:latin typeface="华文新魏" panose="02010800040101010101" charset="-122"/>
                <a:cs typeface="华文新魏" panose="02010800040101010101" charset="-122"/>
              </a:rPr>
              <a:t> </a:t>
            </a:r>
            <a:r>
              <a:rPr lang="en-US" altLang="zh-CN" sz="2200" dirty="0">
                <a:latin typeface="华文新魏" panose="02010800040101010101" charset="-122"/>
                <a:cs typeface="华文新魏" panose="02010800040101010101" charset="-122"/>
              </a:rPr>
              <a:t>new();Push();Push();Top();Pop();Push()…</a:t>
            </a:r>
          </a:p>
          <a:p>
            <a:pPr marL="698500" lvl="1">
              <a:lnSpc>
                <a:spcPct val="100000"/>
              </a:lnSpc>
              <a:spcBef>
                <a:spcPts val="1060"/>
              </a:spcBef>
              <a:buFont typeface="Arial" panose="020B0604020202020204"/>
              <a:buChar char="•"/>
              <a:tabLst>
                <a:tab pos="697865" algn="l"/>
                <a:tab pos="698500" algn="l"/>
              </a:tabLst>
            </a:pPr>
            <a:r>
              <a:rPr lang="zh-CN" altLang="en-US" sz="2200" dirty="0">
                <a:latin typeface="华文新魏" panose="02010800040101010101" charset="-122"/>
                <a:cs typeface="华文新魏" panose="02010800040101010101" charset="-122"/>
              </a:rPr>
              <a:t>例如</a:t>
            </a:r>
            <a:r>
              <a:rPr lang="zh-CN" altLang="en-US" sz="2200" spc="-100" dirty="0">
                <a:latin typeface="华文新魏" panose="02010800040101010101" charset="-122"/>
                <a:cs typeface="华文新魏" panose="02010800040101010101" charset="-122"/>
              </a:rPr>
              <a:t> </a:t>
            </a:r>
            <a:r>
              <a:rPr lang="en-US" altLang="zh-CN" sz="2200" dirty="0">
                <a:latin typeface="华文新魏" panose="02010800040101010101" charset="-122"/>
                <a:cs typeface="华文新魏" panose="02010800040101010101" charset="-122"/>
              </a:rPr>
              <a:t>new();Push();Pop();Push();Pop()…</a:t>
            </a:r>
          </a:p>
          <a:p>
            <a:endParaRPr lang="zh-CN" altLang="en-US" dirty="0"/>
          </a:p>
        </p:txBody>
      </p:sp>
      <p:sp>
        <p:nvSpPr>
          <p:cNvPr id="5" name="object 7"/>
          <p:cNvSpPr txBox="1"/>
          <p:nvPr/>
        </p:nvSpPr>
        <p:spPr>
          <a:xfrm>
            <a:off x="861239" y="5182502"/>
            <a:ext cx="48450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new()</a:t>
            </a:r>
            <a:endParaRPr sz="1400">
              <a:latin typeface="华文新魏" panose="02010800040101010101" charset="-122"/>
              <a:cs typeface="华文新魏" panose="02010800040101010101" charset="-122"/>
            </a:endParaRPr>
          </a:p>
        </p:txBody>
      </p:sp>
      <p:sp>
        <p:nvSpPr>
          <p:cNvPr id="6" name="object 8"/>
          <p:cNvSpPr/>
          <p:nvPr/>
        </p:nvSpPr>
        <p:spPr>
          <a:xfrm>
            <a:off x="677439" y="4987487"/>
            <a:ext cx="10545583" cy="933593"/>
          </a:xfrm>
          <a:prstGeom prst="rect">
            <a:avLst/>
          </a:prstGeom>
          <a:blipFill>
            <a:blip r:embed="rId3" cstate="print"/>
            <a:stretch>
              <a:fillRect/>
            </a:stretch>
          </a:blipFill>
        </p:spPr>
        <p:txBody>
          <a:bodyPr wrap="square" lIns="0" tIns="0" rIns="0" bIns="0" rtlCol="0"/>
          <a:lstStyle/>
          <a:p>
            <a:endParaRPr/>
          </a:p>
        </p:txBody>
      </p:sp>
      <p:graphicFrame>
        <p:nvGraphicFramePr>
          <p:cNvPr id="7" name="object 9"/>
          <p:cNvGraphicFramePr>
            <a:graphicFrameLocks noGrp="1"/>
          </p:cNvGraphicFramePr>
          <p:nvPr/>
        </p:nvGraphicFramePr>
        <p:xfrm>
          <a:off x="2085993" y="5362843"/>
          <a:ext cx="8656952" cy="814120"/>
        </p:xfrm>
        <a:graphic>
          <a:graphicData uri="http://schemas.openxmlformats.org/drawingml/2006/table">
            <a:tbl>
              <a:tblPr firstRow="1" bandRow="1">
                <a:tableStyleId>{2D5ABB26-0587-4C30-8999-92F81FD0307C}</a:tableStyleId>
              </a:tblPr>
              <a:tblGrid>
                <a:gridCol w="8305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30300">
                  <a:extLst>
                    <a:ext uri="{9D8B030D-6E8A-4147-A177-3AD203B41FA5}">
                      <a16:colId xmlns:a16="http://schemas.microsoft.com/office/drawing/2014/main" val="20002"/>
                    </a:ext>
                  </a:extLst>
                </a:gridCol>
                <a:gridCol w="894080">
                  <a:extLst>
                    <a:ext uri="{9D8B030D-6E8A-4147-A177-3AD203B41FA5}">
                      <a16:colId xmlns:a16="http://schemas.microsoft.com/office/drawing/2014/main" val="20003"/>
                    </a:ext>
                  </a:extLst>
                </a:gridCol>
                <a:gridCol w="1139189">
                  <a:extLst>
                    <a:ext uri="{9D8B030D-6E8A-4147-A177-3AD203B41FA5}">
                      <a16:colId xmlns:a16="http://schemas.microsoft.com/office/drawing/2014/main" val="20004"/>
                    </a:ext>
                  </a:extLst>
                </a:gridCol>
                <a:gridCol w="867410">
                  <a:extLst>
                    <a:ext uri="{9D8B030D-6E8A-4147-A177-3AD203B41FA5}">
                      <a16:colId xmlns:a16="http://schemas.microsoft.com/office/drawing/2014/main" val="20005"/>
                    </a:ext>
                  </a:extLst>
                </a:gridCol>
                <a:gridCol w="1089660">
                  <a:extLst>
                    <a:ext uri="{9D8B030D-6E8A-4147-A177-3AD203B41FA5}">
                      <a16:colId xmlns:a16="http://schemas.microsoft.com/office/drawing/2014/main" val="20006"/>
                    </a:ext>
                  </a:extLst>
                </a:gridCol>
                <a:gridCol w="817879">
                  <a:extLst>
                    <a:ext uri="{9D8B030D-6E8A-4147-A177-3AD203B41FA5}">
                      <a16:colId xmlns:a16="http://schemas.microsoft.com/office/drawing/2014/main" val="20007"/>
                    </a:ext>
                  </a:extLst>
                </a:gridCol>
                <a:gridCol w="973454">
                  <a:extLst>
                    <a:ext uri="{9D8B030D-6E8A-4147-A177-3AD203B41FA5}">
                      <a16:colId xmlns:a16="http://schemas.microsoft.com/office/drawing/2014/main" val="20008"/>
                    </a:ext>
                  </a:extLst>
                </a:gridCol>
              </a:tblGrid>
              <a:tr h="433374">
                <a:tc>
                  <a:txBody>
                    <a:bodyPr/>
                    <a:lstStyle/>
                    <a:p>
                      <a:pPr marL="31750">
                        <a:lnSpc>
                          <a:spcPts val="1800"/>
                        </a:lnSpc>
                      </a:pPr>
                      <a:r>
                        <a:rPr sz="1800" b="1" spc="-5" dirty="0">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a:txBody>
                  <a:tcPr marL="0" marR="0" marT="0" marB="0"/>
                </a:tc>
                <a:tc>
                  <a:txBody>
                    <a:bodyPr/>
                    <a:lstStyle/>
                    <a:p>
                      <a:pPr>
                        <a:lnSpc>
                          <a:spcPct val="100000"/>
                        </a:lnSpc>
                      </a:pPr>
                      <a:endParaRPr sz="2000">
                        <a:latin typeface="Times New Roman" panose="02020603050405020304"/>
                        <a:cs typeface="Times New Roman" panose="02020603050405020304"/>
                      </a:endParaRPr>
                    </a:p>
                  </a:txBody>
                  <a:tcPr marL="0" marR="0" marT="0" marB="0"/>
                </a:tc>
                <a:tc>
                  <a:txBody>
                    <a:bodyPr/>
                    <a:lstStyle/>
                    <a:p>
                      <a:pPr marL="318135">
                        <a:lnSpc>
                          <a:spcPts val="1800"/>
                        </a:lnSpc>
                      </a:pPr>
                      <a:r>
                        <a:rPr sz="1800" b="1" spc="-5" dirty="0">
                          <a:latin typeface="华文新魏" panose="02010800040101010101" charset="-122"/>
                          <a:cs typeface="华文新魏" panose="02010800040101010101" charset="-122"/>
                        </a:rPr>
                        <a:t>1</a:t>
                      </a:r>
                      <a:r>
                        <a:rPr sz="1800" b="1" spc="-2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a:t>
                      </a:r>
                      <a:endParaRPr sz="1800">
                        <a:latin typeface="华文新魏" panose="02010800040101010101" charset="-122"/>
                        <a:cs typeface="华文新魏" panose="02010800040101010101" charset="-122"/>
                      </a:endParaRPr>
                    </a:p>
                  </a:txBody>
                  <a:tcPr marL="0" marR="0" marT="0" marB="0"/>
                </a:tc>
                <a:tc>
                  <a:txBody>
                    <a:bodyPr/>
                    <a:lstStyle/>
                    <a:p>
                      <a:pPr>
                        <a:lnSpc>
                          <a:spcPct val="100000"/>
                        </a:lnSpc>
                      </a:pPr>
                      <a:endParaRPr sz="2000">
                        <a:latin typeface="Times New Roman" panose="02020603050405020304"/>
                        <a:cs typeface="Times New Roman" panose="02020603050405020304"/>
                      </a:endParaRPr>
                    </a:p>
                  </a:txBody>
                  <a:tcPr marL="0" marR="0" marT="0" marB="0"/>
                </a:tc>
                <a:tc>
                  <a:txBody>
                    <a:bodyPr/>
                    <a:lstStyle/>
                    <a:p>
                      <a:pPr marL="236220">
                        <a:lnSpc>
                          <a:spcPts val="1800"/>
                        </a:lnSpc>
                      </a:pPr>
                      <a:r>
                        <a:rPr sz="1800" b="1" spc="-5" dirty="0">
                          <a:latin typeface="华文新魏" panose="02010800040101010101" charset="-122"/>
                          <a:cs typeface="华文新魏" panose="02010800040101010101" charset="-122"/>
                        </a:rPr>
                        <a:t>2</a:t>
                      </a:r>
                      <a:r>
                        <a:rPr sz="1800" b="1" spc="-2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a:lnSpc>
                          <a:spcPct val="100000"/>
                        </a:lnSpc>
                      </a:pPr>
                      <a:endParaRPr sz="2000">
                        <a:latin typeface="Times New Roman" panose="02020603050405020304"/>
                        <a:cs typeface="Times New Roman" panose="02020603050405020304"/>
                      </a:endParaRPr>
                    </a:p>
                  </a:txBody>
                  <a:tcPr marL="0" marR="0" marT="0" marB="0"/>
                </a:tc>
                <a:tc>
                  <a:txBody>
                    <a:bodyPr/>
                    <a:lstStyle/>
                    <a:p>
                      <a:pPr marL="236220">
                        <a:lnSpc>
                          <a:spcPts val="1800"/>
                        </a:lnSpc>
                      </a:pPr>
                      <a:r>
                        <a:rPr sz="1800" b="1" spc="-5" dirty="0">
                          <a:latin typeface="华文新魏" panose="02010800040101010101" charset="-122"/>
                          <a:cs typeface="华文新魏" panose="02010800040101010101" charset="-122"/>
                        </a:rPr>
                        <a:t>3</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a:lnSpc>
                          <a:spcPct val="100000"/>
                        </a:lnSpc>
                      </a:pPr>
                      <a:endParaRPr sz="2000">
                        <a:latin typeface="Times New Roman" panose="02020603050405020304"/>
                        <a:cs typeface="Times New Roman" panose="02020603050405020304"/>
                      </a:endParaRPr>
                    </a:p>
                  </a:txBody>
                  <a:tcPr marL="0" marR="0" marT="0" marB="0"/>
                </a:tc>
                <a:tc>
                  <a:txBody>
                    <a:bodyPr/>
                    <a:lstStyle/>
                    <a:p>
                      <a:pPr marL="236220">
                        <a:lnSpc>
                          <a:spcPts val="1800"/>
                        </a:lnSpc>
                      </a:pPr>
                      <a:r>
                        <a:rPr sz="1800" b="1" spc="-5" dirty="0">
                          <a:latin typeface="华文新魏" panose="02010800040101010101" charset="-122"/>
                          <a:cs typeface="华文新魏" panose="02010800040101010101" charset="-122"/>
                        </a:rPr>
                        <a:t>4</a:t>
                      </a:r>
                      <a:r>
                        <a:rPr sz="1800" b="1" spc="-6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0"/>
                  </a:ext>
                </a:extLst>
              </a:tr>
              <a:tr h="380746">
                <a:tc>
                  <a:txBody>
                    <a:bodyPr/>
                    <a:lstStyle/>
                    <a:p>
                      <a:pPr>
                        <a:lnSpc>
                          <a:spcPct val="100000"/>
                        </a:lnSpc>
                      </a:pPr>
                      <a:endParaRPr sz="2000">
                        <a:latin typeface="Times New Roman" panose="02020603050405020304"/>
                        <a:cs typeface="Times New Roman" panose="02020603050405020304"/>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6383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52425">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2479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401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9812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401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4795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401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1"/>
                  </a:ext>
                </a:extLst>
              </a:tr>
            </a:tbl>
          </a:graphicData>
        </a:graphic>
      </p:graphicFrame>
      <p:sp>
        <p:nvSpPr>
          <p:cNvPr id="9" name="矩形 8"/>
          <p:cNvSpPr/>
          <p:nvPr/>
        </p:nvSpPr>
        <p:spPr>
          <a:xfrm>
            <a:off x="3106318" y="4618155"/>
            <a:ext cx="806631" cy="369332"/>
          </a:xfrm>
          <a:prstGeom prst="rect">
            <a:avLst/>
          </a:prstGeom>
        </p:spPr>
        <p:txBody>
          <a:bodyPr wrap="none">
            <a:spAutoFit/>
          </a:bodyPr>
          <a:lstStyle/>
          <a:p>
            <a:r>
              <a:rPr lang="en-US" altLang="zh-CN" dirty="0">
                <a:latin typeface="华文新魏" panose="02010800040101010101" charset="-122"/>
                <a:cs typeface="华文新魏" panose="02010800040101010101" charset="-122"/>
              </a:rPr>
              <a:t>Push()</a:t>
            </a:r>
            <a:endParaRPr lang="zh-CN" altLang="en-US" dirty="0"/>
          </a:p>
        </p:txBody>
      </p:sp>
      <p:sp>
        <p:nvSpPr>
          <p:cNvPr id="10" name="矩形 9"/>
          <p:cNvSpPr/>
          <p:nvPr/>
        </p:nvSpPr>
        <p:spPr>
          <a:xfrm>
            <a:off x="5188741" y="4613342"/>
            <a:ext cx="806631" cy="369332"/>
          </a:xfrm>
          <a:prstGeom prst="rect">
            <a:avLst/>
          </a:prstGeom>
        </p:spPr>
        <p:txBody>
          <a:bodyPr wrap="none">
            <a:spAutoFit/>
          </a:bodyPr>
          <a:lstStyle/>
          <a:p>
            <a:r>
              <a:rPr lang="en-US" altLang="zh-CN" dirty="0">
                <a:latin typeface="华文新魏" panose="02010800040101010101" charset="-122"/>
                <a:cs typeface="华文新魏" panose="02010800040101010101" charset="-122"/>
              </a:rPr>
              <a:t>Push()</a:t>
            </a:r>
            <a:endParaRPr lang="zh-CN" altLang="en-US" dirty="0"/>
          </a:p>
        </p:txBody>
      </p:sp>
      <p:sp>
        <p:nvSpPr>
          <p:cNvPr id="11" name="矩形 10"/>
          <p:cNvSpPr/>
          <p:nvPr/>
        </p:nvSpPr>
        <p:spPr>
          <a:xfrm>
            <a:off x="7164670" y="4621167"/>
            <a:ext cx="806631" cy="369332"/>
          </a:xfrm>
          <a:prstGeom prst="rect">
            <a:avLst/>
          </a:prstGeom>
        </p:spPr>
        <p:txBody>
          <a:bodyPr wrap="none">
            <a:spAutoFit/>
          </a:bodyPr>
          <a:lstStyle/>
          <a:p>
            <a:r>
              <a:rPr lang="en-US" altLang="zh-CN" dirty="0">
                <a:latin typeface="华文新魏" panose="02010800040101010101" charset="-122"/>
                <a:cs typeface="华文新魏" panose="02010800040101010101" charset="-122"/>
              </a:rPr>
              <a:t>Push()</a:t>
            </a:r>
            <a:endParaRPr lang="zh-CN" altLang="en-US" dirty="0"/>
          </a:p>
        </p:txBody>
      </p:sp>
      <p:sp>
        <p:nvSpPr>
          <p:cNvPr id="12" name="矩形 11"/>
          <p:cNvSpPr/>
          <p:nvPr/>
        </p:nvSpPr>
        <p:spPr>
          <a:xfrm>
            <a:off x="9140599" y="4613342"/>
            <a:ext cx="806631" cy="369332"/>
          </a:xfrm>
          <a:prstGeom prst="rect">
            <a:avLst/>
          </a:prstGeom>
        </p:spPr>
        <p:txBody>
          <a:bodyPr wrap="none">
            <a:spAutoFit/>
          </a:bodyPr>
          <a:lstStyle/>
          <a:p>
            <a:r>
              <a:rPr lang="en-US" altLang="zh-CN" dirty="0">
                <a:latin typeface="华文新魏" panose="02010800040101010101" charset="-122"/>
                <a:cs typeface="华文新魏" panose="02010800040101010101" charset="-122"/>
              </a:rPr>
              <a:t>Push()</a:t>
            </a:r>
            <a:endParaRPr lang="zh-CN" altLang="en-US" dirty="0"/>
          </a:p>
        </p:txBody>
      </p:sp>
      <p:sp>
        <p:nvSpPr>
          <p:cNvPr id="13" name="灯片编号占位符 12"/>
          <p:cNvSpPr>
            <a:spLocks noGrp="1"/>
          </p:cNvSpPr>
          <p:nvPr>
            <p:ph type="sldNum" sz="quarter" idx="12"/>
          </p:nvPr>
        </p:nvSpPr>
        <p:spPr/>
        <p:txBody>
          <a:bodyPr/>
          <a:lstStyle/>
          <a:p>
            <a:fld id="{74D2AB8B-5816-41F2-8B4B-CA5C3E4E6A65}" type="slidenum">
              <a:rPr lang="zh-CN" altLang="en-US" smtClean="0"/>
              <a:t>30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28222"/>
    </mc:Choice>
    <mc:Fallback xmlns="">
      <p:transition spd="slow" advTm="128222"/>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状态空间</a:t>
            </a:r>
          </a:p>
        </p:txBody>
      </p:sp>
      <p:sp>
        <p:nvSpPr>
          <p:cNvPr id="3" name="内容占位符 2"/>
          <p:cNvSpPr>
            <a:spLocks noGrp="1"/>
          </p:cNvSpPr>
          <p:nvPr>
            <p:ph idx="1"/>
          </p:nvPr>
        </p:nvSpPr>
        <p:spPr/>
        <p:txBody>
          <a:bodyPr/>
          <a:lstStyle/>
          <a:p>
            <a:pPr marL="266700">
              <a:lnSpc>
                <a:spcPct val="100000"/>
              </a:lnSpc>
              <a:spcBef>
                <a:spcPts val="1120"/>
              </a:spcBef>
              <a:buFont typeface="Arial" panose="020B0604020202020204"/>
              <a:buChar char="•"/>
              <a:tabLst>
                <a:tab pos="266700" algn="l"/>
              </a:tabLst>
            </a:pPr>
            <a:r>
              <a:rPr lang="zh-CN" altLang="en-US" sz="2400" dirty="0">
                <a:latin typeface="华文新魏" panose="02010800040101010101" charset="-122"/>
                <a:cs typeface="华文新魏" panose="02010800040101010101" charset="-122"/>
              </a:rPr>
              <a:t>对于大部分对象而言，状态空间是非常庞大的</a:t>
            </a:r>
          </a:p>
          <a:p>
            <a:pPr marL="723900" lvl="1">
              <a:lnSpc>
                <a:spcPct val="100000"/>
              </a:lnSpc>
              <a:spcBef>
                <a:spcPts val="1020"/>
              </a:spcBef>
              <a:buFont typeface="Arial" panose="020B0604020202020204"/>
              <a:buChar char="•"/>
              <a:tabLst>
                <a:tab pos="723900" algn="l"/>
              </a:tabLst>
            </a:pPr>
            <a:r>
              <a:rPr lang="zh-CN" altLang="en-US" dirty="0">
                <a:latin typeface="华文新魏" panose="02010800040101010101" charset="-122"/>
                <a:cs typeface="华文新魏" panose="02010800040101010101" charset="-122"/>
              </a:rPr>
              <a:t>状态空间大小是对象每个属性取值空间的乘积加</a:t>
            </a:r>
            <a:r>
              <a:rPr lang="en-US" altLang="zh-CN" dirty="0">
                <a:latin typeface="华文新魏" panose="02010800040101010101" charset="-122"/>
                <a:cs typeface="华文新魏" panose="02010800040101010101" charset="-122"/>
              </a:rPr>
              <a:t>1</a:t>
            </a:r>
          </a:p>
          <a:p>
            <a:pPr marL="1181100" lvl="2">
              <a:lnSpc>
                <a:spcPct val="100000"/>
              </a:lnSpc>
              <a:spcBef>
                <a:spcPts val="1120"/>
              </a:spcBef>
              <a:buFont typeface="Arial" panose="020B0604020202020204"/>
              <a:buChar char="•"/>
              <a:tabLst>
                <a:tab pos="1181100" algn="l"/>
              </a:tabLst>
            </a:pPr>
            <a:r>
              <a:rPr lang="zh-CN" altLang="en-US" sz="2400" dirty="0">
                <a:latin typeface="华文新魏" panose="02010800040101010101" charset="-122"/>
                <a:cs typeface="华文新魏" panose="02010800040101010101" charset="-122"/>
              </a:rPr>
              <a:t>例如</a:t>
            </a:r>
            <a:r>
              <a:rPr lang="en-US" altLang="zh-CN" sz="2400" dirty="0">
                <a:latin typeface="华文新魏" panose="02010800040101010101" charset="-122"/>
                <a:cs typeface="华文新魏" panose="02010800040101010101" charset="-122"/>
              </a:rPr>
              <a:t>.</a:t>
            </a:r>
            <a:r>
              <a:rPr lang="zh-CN" altLang="en-US" sz="2400" spc="-10" dirty="0">
                <a:latin typeface="华文新魏" panose="02010800040101010101" charset="-122"/>
                <a:cs typeface="华文新魏" panose="02010800040101010101" charset="-122"/>
              </a:rPr>
              <a:t> </a:t>
            </a:r>
            <a:r>
              <a:rPr lang="zh-CN" altLang="en-US" sz="2400" dirty="0">
                <a:solidFill>
                  <a:srgbClr val="800000"/>
                </a:solidFill>
                <a:latin typeface="华文新魏" panose="02010800040101010101" charset="-122"/>
                <a:cs typeface="华文新魏" panose="02010800040101010101" charset="-122"/>
              </a:rPr>
              <a:t>具有</a:t>
            </a:r>
            <a:r>
              <a:rPr lang="en-US" altLang="zh-CN" sz="2400" dirty="0">
                <a:solidFill>
                  <a:srgbClr val="800000"/>
                </a:solidFill>
                <a:latin typeface="华文新魏" panose="02010800040101010101" charset="-122"/>
                <a:cs typeface="华文新魏" panose="02010800040101010101" charset="-122"/>
              </a:rPr>
              <a:t>5</a:t>
            </a:r>
            <a:r>
              <a:rPr lang="zh-CN" altLang="en-US" sz="2400" dirty="0">
                <a:solidFill>
                  <a:srgbClr val="800000"/>
                </a:solidFill>
                <a:latin typeface="华文新魏" panose="02010800040101010101" charset="-122"/>
                <a:cs typeface="华文新魏" panose="02010800040101010101" charset="-122"/>
              </a:rPr>
              <a:t>个布尔值属性的对象有</a:t>
            </a:r>
            <a:r>
              <a:rPr lang="zh-CN" altLang="en-US" sz="2400" spc="-5" dirty="0">
                <a:solidFill>
                  <a:srgbClr val="800000"/>
                </a:solidFill>
                <a:latin typeface="华文新魏" panose="02010800040101010101" charset="-122"/>
                <a:cs typeface="华文新魏" panose="02010800040101010101" charset="-122"/>
              </a:rPr>
              <a:t> </a:t>
            </a:r>
            <a:r>
              <a:rPr lang="en-US" altLang="zh-CN" sz="2400" spc="-5" dirty="0">
                <a:solidFill>
                  <a:srgbClr val="800000"/>
                </a:solidFill>
                <a:latin typeface="华文新魏" panose="02010800040101010101" charset="-122"/>
                <a:cs typeface="华文新魏" panose="02010800040101010101" charset="-122"/>
              </a:rPr>
              <a:t>2</a:t>
            </a:r>
            <a:r>
              <a:rPr lang="en-US" altLang="zh-CN" sz="2400" spc="-7" baseline="42000" dirty="0">
                <a:solidFill>
                  <a:srgbClr val="941100"/>
                </a:solidFill>
                <a:latin typeface="华文新魏" panose="02010800040101010101" charset="-122"/>
                <a:cs typeface="华文新魏" panose="02010800040101010101" charset="-122"/>
              </a:rPr>
              <a:t>5</a:t>
            </a:r>
            <a:r>
              <a:rPr lang="en-US" altLang="zh-CN" sz="2400" spc="-5" dirty="0">
                <a:solidFill>
                  <a:srgbClr val="800000"/>
                </a:solidFill>
                <a:latin typeface="华文新魏" panose="02010800040101010101" charset="-122"/>
                <a:cs typeface="华文新魏" panose="02010800040101010101" charset="-122"/>
              </a:rPr>
              <a:t>+1</a:t>
            </a:r>
            <a:r>
              <a:rPr lang="zh-CN" altLang="en-US" sz="2400" spc="-10" dirty="0">
                <a:solidFill>
                  <a:srgbClr val="800000"/>
                </a:solidFill>
                <a:latin typeface="华文新魏" panose="02010800040101010101" charset="-122"/>
                <a:cs typeface="华文新魏" panose="02010800040101010101" charset="-122"/>
              </a:rPr>
              <a:t> </a:t>
            </a:r>
            <a:r>
              <a:rPr lang="zh-CN" altLang="en-US" sz="2400" dirty="0">
                <a:solidFill>
                  <a:srgbClr val="800000"/>
                </a:solidFill>
                <a:latin typeface="华文新魏" panose="02010800040101010101" charset="-122"/>
                <a:cs typeface="华文新魏" panose="02010800040101010101" charset="-122"/>
              </a:rPr>
              <a:t>个状态</a:t>
            </a:r>
            <a:endParaRPr lang="zh-CN" altLang="en-US" sz="2400" dirty="0">
              <a:latin typeface="华文新魏" panose="02010800040101010101" charset="-122"/>
              <a:cs typeface="华文新魏" panose="02010800040101010101" charset="-122"/>
            </a:endParaRPr>
          </a:p>
          <a:p>
            <a:pPr marL="1181100" lvl="2">
              <a:lnSpc>
                <a:spcPct val="100000"/>
              </a:lnSpc>
              <a:spcBef>
                <a:spcPts val="1020"/>
              </a:spcBef>
              <a:buFont typeface="Arial" panose="020B0604020202020204"/>
              <a:buChar char="•"/>
              <a:tabLst>
                <a:tab pos="1181100" algn="l"/>
              </a:tabLst>
            </a:pPr>
            <a:r>
              <a:rPr lang="zh-CN" altLang="en-US" sz="2400" dirty="0">
                <a:latin typeface="华文新魏" panose="02010800040101010101" charset="-122"/>
                <a:cs typeface="华文新魏" panose="02010800040101010101" charset="-122"/>
              </a:rPr>
              <a:t>例如</a:t>
            </a:r>
            <a:r>
              <a:rPr lang="en-US" altLang="zh-CN" sz="2400" dirty="0">
                <a:latin typeface="华文新魏" panose="02010800040101010101" charset="-122"/>
                <a:cs typeface="华文新魏" panose="02010800040101010101" charset="-122"/>
              </a:rPr>
              <a:t>.</a:t>
            </a:r>
            <a:r>
              <a:rPr lang="zh-CN" altLang="en-US" sz="2400" spc="-35" dirty="0">
                <a:latin typeface="华文新魏" panose="02010800040101010101" charset="-122"/>
                <a:cs typeface="华文新魏" panose="02010800040101010101" charset="-122"/>
              </a:rPr>
              <a:t> </a:t>
            </a:r>
            <a:r>
              <a:rPr lang="zh-CN" altLang="en-US" sz="2400" dirty="0">
                <a:solidFill>
                  <a:srgbClr val="800000"/>
                </a:solidFill>
                <a:latin typeface="华文新魏" panose="02010800040101010101" charset="-122"/>
                <a:cs typeface="华文新魏" panose="02010800040101010101" charset="-122"/>
              </a:rPr>
              <a:t>具有</a:t>
            </a:r>
            <a:r>
              <a:rPr lang="en-US" altLang="zh-CN" sz="2400" dirty="0">
                <a:solidFill>
                  <a:srgbClr val="800000"/>
                </a:solidFill>
                <a:latin typeface="华文新魏" panose="02010800040101010101" charset="-122"/>
                <a:cs typeface="华文新魏" panose="02010800040101010101" charset="-122"/>
              </a:rPr>
              <a:t>5</a:t>
            </a:r>
            <a:r>
              <a:rPr lang="zh-CN" altLang="en-US" sz="2400" dirty="0">
                <a:solidFill>
                  <a:srgbClr val="800000"/>
                </a:solidFill>
                <a:latin typeface="华文新魏" panose="02010800040101010101" charset="-122"/>
                <a:cs typeface="华文新魏" panose="02010800040101010101" charset="-122"/>
              </a:rPr>
              <a:t>个整数值属性的对象有</a:t>
            </a:r>
            <a:r>
              <a:rPr lang="en-US" altLang="zh-CN" sz="2400" spc="-5" dirty="0">
                <a:solidFill>
                  <a:srgbClr val="800000"/>
                </a:solidFill>
                <a:latin typeface="华文新魏" panose="02010800040101010101" charset="-122"/>
                <a:cs typeface="华文新魏" panose="02010800040101010101" charset="-122"/>
              </a:rPr>
              <a:t>(</a:t>
            </a:r>
            <a:r>
              <a:rPr lang="en-US" altLang="zh-CN" sz="2400" spc="-5" dirty="0" err="1">
                <a:solidFill>
                  <a:srgbClr val="800000"/>
                </a:solidFill>
                <a:latin typeface="华文新魏" panose="02010800040101010101" charset="-122"/>
                <a:cs typeface="华文新魏" panose="02010800040101010101" charset="-122"/>
              </a:rPr>
              <a:t>maxint</a:t>
            </a:r>
            <a:r>
              <a:rPr lang="en-US" altLang="zh-CN" sz="2400" spc="-5" dirty="0">
                <a:solidFill>
                  <a:srgbClr val="800000"/>
                </a:solidFill>
                <a:latin typeface="华文新魏" panose="02010800040101010101" charset="-122"/>
                <a:cs typeface="华文新魏" panose="02010800040101010101" charset="-122"/>
              </a:rPr>
              <a:t>)</a:t>
            </a:r>
            <a:r>
              <a:rPr lang="en-US" altLang="zh-CN" sz="2400" spc="-7" baseline="42000" dirty="0">
                <a:solidFill>
                  <a:srgbClr val="941100"/>
                </a:solidFill>
                <a:latin typeface="华文新魏" panose="02010800040101010101" charset="-122"/>
                <a:cs typeface="华文新魏" panose="02010800040101010101" charset="-122"/>
              </a:rPr>
              <a:t>5</a:t>
            </a:r>
            <a:r>
              <a:rPr lang="en-US" altLang="zh-CN" sz="2400" spc="-5" dirty="0">
                <a:solidFill>
                  <a:srgbClr val="800000"/>
                </a:solidFill>
                <a:latin typeface="华文新魏" panose="02010800040101010101" charset="-122"/>
                <a:cs typeface="华文新魏" panose="02010800040101010101" charset="-122"/>
              </a:rPr>
              <a:t>+1</a:t>
            </a:r>
            <a:r>
              <a:rPr lang="zh-CN" altLang="en-US" sz="2400" dirty="0">
                <a:solidFill>
                  <a:srgbClr val="800000"/>
                </a:solidFill>
                <a:latin typeface="华文新魏" panose="02010800040101010101" charset="-122"/>
                <a:cs typeface="华文新魏" panose="02010800040101010101" charset="-122"/>
              </a:rPr>
              <a:t>个状态</a:t>
            </a:r>
            <a:endParaRPr lang="zh-CN" altLang="en-US" sz="2400" dirty="0">
              <a:latin typeface="华文新魏" panose="02010800040101010101" charset="-122"/>
              <a:cs typeface="华文新魏" panose="02010800040101010101" charset="-122"/>
            </a:endParaRPr>
          </a:p>
          <a:p>
            <a:pPr marL="1181100" lvl="2">
              <a:lnSpc>
                <a:spcPct val="100000"/>
              </a:lnSpc>
              <a:spcBef>
                <a:spcPts val="1120"/>
              </a:spcBef>
              <a:buFont typeface="Arial" panose="020B0604020202020204"/>
              <a:buChar char="•"/>
              <a:tabLst>
                <a:tab pos="1181100" algn="l"/>
              </a:tabLst>
            </a:pPr>
            <a:r>
              <a:rPr lang="zh-CN" altLang="en-US" sz="2400" dirty="0">
                <a:latin typeface="华文新魏" panose="02010800040101010101" charset="-122"/>
                <a:cs typeface="华文新魏" panose="02010800040101010101" charset="-122"/>
              </a:rPr>
              <a:t>例如</a:t>
            </a:r>
            <a:r>
              <a:rPr lang="en-US" altLang="zh-CN" sz="2400" dirty="0">
                <a:latin typeface="华文新魏" panose="02010800040101010101" charset="-122"/>
                <a:cs typeface="华文新魏" panose="02010800040101010101" charset="-122"/>
              </a:rPr>
              <a:t>.</a:t>
            </a:r>
            <a:r>
              <a:rPr lang="zh-CN" altLang="en-US" sz="2400" spc="-10" dirty="0">
                <a:latin typeface="华文新魏" panose="02010800040101010101" charset="-122"/>
                <a:cs typeface="华文新魏" panose="02010800040101010101" charset="-122"/>
              </a:rPr>
              <a:t> </a:t>
            </a:r>
            <a:r>
              <a:rPr lang="zh-CN" altLang="en-US" sz="2400" dirty="0">
                <a:solidFill>
                  <a:srgbClr val="800000"/>
                </a:solidFill>
                <a:latin typeface="华文新魏" panose="02010800040101010101" charset="-122"/>
                <a:cs typeface="华文新魏" panose="02010800040101010101" charset="-122"/>
              </a:rPr>
              <a:t>具有</a:t>
            </a:r>
            <a:r>
              <a:rPr lang="en-US" altLang="zh-CN" sz="2400" dirty="0">
                <a:solidFill>
                  <a:srgbClr val="800000"/>
                </a:solidFill>
                <a:latin typeface="华文新魏" panose="02010800040101010101" charset="-122"/>
                <a:cs typeface="华文新魏" panose="02010800040101010101" charset="-122"/>
              </a:rPr>
              <a:t>5</a:t>
            </a:r>
            <a:r>
              <a:rPr lang="zh-CN" altLang="en-US" sz="2400" dirty="0">
                <a:solidFill>
                  <a:srgbClr val="800000"/>
                </a:solidFill>
                <a:latin typeface="华文新魏" panose="02010800040101010101" charset="-122"/>
                <a:cs typeface="华文新魏" panose="02010800040101010101" charset="-122"/>
              </a:rPr>
              <a:t>个实数值属性的对象具有？</a:t>
            </a:r>
            <a:r>
              <a:rPr lang="zh-CN" altLang="en-US" sz="2400" dirty="0">
                <a:solidFill>
                  <a:srgbClr val="941100"/>
                </a:solidFill>
                <a:latin typeface="华文新魏" panose="02010800040101010101" charset="-122"/>
                <a:cs typeface="华文新魏" panose="02010800040101010101" charset="-122"/>
              </a:rPr>
              <a:t>？</a:t>
            </a:r>
            <a:r>
              <a:rPr lang="zh-CN" altLang="en-US" sz="2400" dirty="0">
                <a:solidFill>
                  <a:srgbClr val="800000"/>
                </a:solidFill>
                <a:latin typeface="华文新魏" panose="02010800040101010101" charset="-122"/>
                <a:cs typeface="华文新魏" panose="02010800040101010101" charset="-122"/>
              </a:rPr>
              <a:t>个状态</a:t>
            </a:r>
            <a:endParaRPr lang="zh-CN" altLang="en-US" sz="2400" dirty="0">
              <a:latin typeface="华文新魏" panose="02010800040101010101" charset="-122"/>
              <a:cs typeface="华文新魏" panose="02010800040101010101" charset="-122"/>
            </a:endParaRPr>
          </a:p>
          <a:p>
            <a:pPr marL="723900" lvl="1">
              <a:lnSpc>
                <a:spcPct val="100000"/>
              </a:lnSpc>
              <a:spcBef>
                <a:spcPts val="1020"/>
              </a:spcBef>
              <a:buFont typeface="Arial" panose="020B0604020202020204"/>
              <a:buChar char="•"/>
              <a:tabLst>
                <a:tab pos="723900" algn="l"/>
              </a:tabLst>
            </a:pPr>
            <a:r>
              <a:rPr lang="zh-CN" altLang="en-US" dirty="0">
                <a:latin typeface="华文新魏" panose="02010800040101010101" charset="-122"/>
                <a:cs typeface="华文新魏" panose="02010800040101010101" charset="-122"/>
              </a:rPr>
              <a:t>如果忽略计算机表示的局限性，状态空间是无限的</a:t>
            </a:r>
          </a:p>
          <a:p>
            <a:endParaRPr lang="zh-CN" altLang="en-US" dirty="0"/>
          </a:p>
        </p:txBody>
      </p:sp>
      <p:sp>
        <p:nvSpPr>
          <p:cNvPr id="5" name="object 8"/>
          <p:cNvSpPr txBox="1"/>
          <p:nvPr/>
        </p:nvSpPr>
        <p:spPr>
          <a:xfrm>
            <a:off x="716960" y="5317440"/>
            <a:ext cx="48450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new()</a:t>
            </a:r>
            <a:endParaRPr sz="1400">
              <a:latin typeface="华文新魏" panose="02010800040101010101" charset="-122"/>
              <a:cs typeface="华文新魏" panose="02010800040101010101" charset="-122"/>
            </a:endParaRPr>
          </a:p>
        </p:txBody>
      </p:sp>
      <p:sp>
        <p:nvSpPr>
          <p:cNvPr id="6" name="object 9"/>
          <p:cNvSpPr/>
          <p:nvPr/>
        </p:nvSpPr>
        <p:spPr>
          <a:xfrm>
            <a:off x="531858" y="5096696"/>
            <a:ext cx="10783884" cy="959320"/>
          </a:xfrm>
          <a:prstGeom prst="rect">
            <a:avLst/>
          </a:prstGeom>
          <a:blipFill>
            <a:blip r:embed="rId3" cstate="print"/>
            <a:stretch>
              <a:fillRect/>
            </a:stretch>
          </a:blipFill>
        </p:spPr>
        <p:txBody>
          <a:bodyPr wrap="square" lIns="0" tIns="0" rIns="0" bIns="0" rtlCol="0"/>
          <a:lstStyle/>
          <a:p>
            <a:endParaRPr/>
          </a:p>
        </p:txBody>
      </p:sp>
      <p:graphicFrame>
        <p:nvGraphicFramePr>
          <p:cNvPr id="7" name="object 10"/>
          <p:cNvGraphicFramePr>
            <a:graphicFrameLocks noGrp="1"/>
          </p:cNvGraphicFramePr>
          <p:nvPr/>
        </p:nvGraphicFramePr>
        <p:xfrm>
          <a:off x="1964830" y="4908500"/>
          <a:ext cx="8759821" cy="1403400"/>
        </p:xfrm>
        <a:graphic>
          <a:graphicData uri="http://schemas.openxmlformats.org/drawingml/2006/table">
            <a:tbl>
              <a:tblPr firstRow="1" bandRow="1">
                <a:tableStyleId>{2D5ABB26-0587-4C30-8999-92F81FD0307C}</a:tableStyleId>
              </a:tblPr>
              <a:tblGrid>
                <a:gridCol w="782320">
                  <a:extLst>
                    <a:ext uri="{9D8B030D-6E8A-4147-A177-3AD203B41FA5}">
                      <a16:colId xmlns:a16="http://schemas.microsoft.com/office/drawing/2014/main" val="20000"/>
                    </a:ext>
                  </a:extLst>
                </a:gridCol>
                <a:gridCol w="978535">
                  <a:extLst>
                    <a:ext uri="{9D8B030D-6E8A-4147-A177-3AD203B41FA5}">
                      <a16:colId xmlns:a16="http://schemas.microsoft.com/office/drawing/2014/main" val="20001"/>
                    </a:ext>
                  </a:extLst>
                </a:gridCol>
                <a:gridCol w="1093470">
                  <a:extLst>
                    <a:ext uri="{9D8B030D-6E8A-4147-A177-3AD203B41FA5}">
                      <a16:colId xmlns:a16="http://schemas.microsoft.com/office/drawing/2014/main" val="20002"/>
                    </a:ext>
                  </a:extLst>
                </a:gridCol>
                <a:gridCol w="958214">
                  <a:extLst>
                    <a:ext uri="{9D8B030D-6E8A-4147-A177-3AD203B41FA5}">
                      <a16:colId xmlns:a16="http://schemas.microsoft.com/office/drawing/2014/main" val="20003"/>
                    </a:ext>
                  </a:extLst>
                </a:gridCol>
                <a:gridCol w="1101725">
                  <a:extLst>
                    <a:ext uri="{9D8B030D-6E8A-4147-A177-3AD203B41FA5}">
                      <a16:colId xmlns:a16="http://schemas.microsoft.com/office/drawing/2014/main" val="20004"/>
                    </a:ext>
                  </a:extLst>
                </a:gridCol>
                <a:gridCol w="931544">
                  <a:extLst>
                    <a:ext uri="{9D8B030D-6E8A-4147-A177-3AD203B41FA5}">
                      <a16:colId xmlns:a16="http://schemas.microsoft.com/office/drawing/2014/main" val="20005"/>
                    </a:ext>
                  </a:extLst>
                </a:gridCol>
                <a:gridCol w="1101725">
                  <a:extLst>
                    <a:ext uri="{9D8B030D-6E8A-4147-A177-3AD203B41FA5}">
                      <a16:colId xmlns:a16="http://schemas.microsoft.com/office/drawing/2014/main" val="20006"/>
                    </a:ext>
                  </a:extLst>
                </a:gridCol>
                <a:gridCol w="852804">
                  <a:extLst>
                    <a:ext uri="{9D8B030D-6E8A-4147-A177-3AD203B41FA5}">
                      <a16:colId xmlns:a16="http://schemas.microsoft.com/office/drawing/2014/main" val="20007"/>
                    </a:ext>
                  </a:extLst>
                </a:gridCol>
                <a:gridCol w="959484">
                  <a:extLst>
                    <a:ext uri="{9D8B030D-6E8A-4147-A177-3AD203B41FA5}">
                      <a16:colId xmlns:a16="http://schemas.microsoft.com/office/drawing/2014/main" val="20008"/>
                    </a:ext>
                  </a:extLst>
                </a:gridCol>
              </a:tblGrid>
              <a:tr h="1022654">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31750">
                        <a:lnSpc>
                          <a:spcPct val="100000"/>
                        </a:lnSpc>
                      </a:pPr>
                      <a:r>
                        <a:rPr sz="1800" b="1" spc="-5" dirty="0">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a:txBody>
                  <a:tcPr marL="0" marR="0" marT="0" marB="0"/>
                </a:tc>
                <a:tc>
                  <a:txBody>
                    <a:bodyPr/>
                    <a:lstStyle/>
                    <a:p>
                      <a:pPr marL="115570">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328295">
                        <a:lnSpc>
                          <a:spcPct val="100000"/>
                        </a:lnSpc>
                      </a:pPr>
                      <a:r>
                        <a:rPr sz="1800" b="1" spc="-5" dirty="0">
                          <a:latin typeface="华文新魏" panose="02010800040101010101" charset="-122"/>
                          <a:cs typeface="华文新魏" panose="02010800040101010101" charset="-122"/>
                        </a:rPr>
                        <a:t>1</a:t>
                      </a:r>
                      <a:r>
                        <a:rPr sz="1800" b="1" spc="-2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a:t>
                      </a:r>
                      <a:endParaRPr sz="1800">
                        <a:latin typeface="华文新魏" panose="02010800040101010101" charset="-122"/>
                        <a:cs typeface="华文新魏" panose="02010800040101010101" charset="-122"/>
                      </a:endParaRPr>
                    </a:p>
                  </a:txBody>
                  <a:tcPr marL="0" marR="0" marT="0" marB="0"/>
                </a:tc>
                <a:tc>
                  <a:txBody>
                    <a:bodyPr/>
                    <a:lstStyle/>
                    <a:p>
                      <a:pPr marL="177800">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245745">
                        <a:lnSpc>
                          <a:spcPct val="100000"/>
                        </a:lnSpc>
                      </a:pPr>
                      <a:r>
                        <a:rPr sz="1800" b="1" spc="-5" dirty="0">
                          <a:latin typeface="华文新魏" panose="02010800040101010101" charset="-122"/>
                          <a:cs typeface="华文新魏" panose="02010800040101010101" charset="-122"/>
                        </a:rPr>
                        <a:t>2</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marL="150495">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245745">
                        <a:lnSpc>
                          <a:spcPct val="100000"/>
                        </a:lnSpc>
                      </a:pPr>
                      <a:r>
                        <a:rPr sz="1800" b="1" spc="-5" dirty="0">
                          <a:latin typeface="华文新魏" panose="02010800040101010101" charset="-122"/>
                          <a:cs typeface="华文新魏" panose="02010800040101010101" charset="-122"/>
                        </a:rPr>
                        <a:t>3</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marL="150495">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222250">
                        <a:lnSpc>
                          <a:spcPct val="100000"/>
                        </a:lnSpc>
                      </a:pPr>
                      <a:r>
                        <a:rPr sz="1800" b="1" spc="-5" dirty="0">
                          <a:latin typeface="华文新魏" panose="02010800040101010101" charset="-122"/>
                          <a:cs typeface="华文新魏" panose="02010800040101010101" charset="-122"/>
                        </a:rPr>
                        <a:t>4</a:t>
                      </a:r>
                      <a:r>
                        <a:rPr sz="1800" b="1" spc="-6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0"/>
                  </a:ext>
                </a:extLst>
              </a:tr>
              <a:tr h="380746">
                <a:tc>
                  <a:txBody>
                    <a:bodyPr/>
                    <a:lstStyle/>
                    <a:p>
                      <a:pPr>
                        <a:lnSpc>
                          <a:spcPct val="100000"/>
                        </a:lnSpc>
                      </a:pPr>
                      <a:endParaRPr sz="2000">
                        <a:latin typeface="Times New Roman" panose="02020603050405020304"/>
                        <a:cs typeface="Times New Roman" panose="02020603050405020304"/>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1717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5687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7940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782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5209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782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5049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14325">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1"/>
                  </a:ext>
                </a:extLst>
              </a:tr>
            </a:tbl>
          </a:graphicData>
        </a:graphic>
      </p:graphicFrame>
      <p:sp>
        <p:nvSpPr>
          <p:cNvPr id="8" name="object 11"/>
          <p:cNvSpPr txBox="1"/>
          <p:nvPr/>
        </p:nvSpPr>
        <p:spPr>
          <a:xfrm>
            <a:off x="11283359" y="5255529"/>
            <a:ext cx="482600"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华文新魏" panose="02010800040101010101" charset="-122"/>
                <a:cs typeface="华文新魏" panose="02010800040101010101" charset="-122"/>
              </a:rPr>
              <a:t>…</a:t>
            </a:r>
            <a:endParaRPr sz="3600">
              <a:latin typeface="华文新魏" panose="02010800040101010101" charset="-122"/>
              <a:cs typeface="华文新魏" panose="02010800040101010101" charset="-122"/>
            </a:endParaRPr>
          </a:p>
        </p:txBody>
      </p:sp>
      <p:sp>
        <p:nvSpPr>
          <p:cNvPr id="9" name="灯片编号占位符 8"/>
          <p:cNvSpPr>
            <a:spLocks noGrp="1"/>
          </p:cNvSpPr>
          <p:nvPr>
            <p:ph type="sldNum" sz="quarter" idx="12"/>
          </p:nvPr>
        </p:nvSpPr>
        <p:spPr/>
        <p:txBody>
          <a:bodyPr/>
          <a:lstStyle/>
          <a:p>
            <a:fld id="{74D2AB8B-5816-41F2-8B4B-CA5C3E4E6A65}"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26360"/>
    </mc:Choice>
    <mc:Fallback xmlns="">
      <p:transition spd="slow" advTm="12636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状态的抽象表示</a:t>
            </a:r>
            <a:endParaRPr lang="zh-CN" altLang="en-US" dirty="0"/>
          </a:p>
        </p:txBody>
      </p:sp>
      <p:sp>
        <p:nvSpPr>
          <p:cNvPr id="3" name="内容占位符 2"/>
          <p:cNvSpPr>
            <a:spLocks noGrp="1"/>
          </p:cNvSpPr>
          <p:nvPr>
            <p:ph idx="1"/>
          </p:nvPr>
        </p:nvSpPr>
        <p:spPr/>
        <p:txBody>
          <a:bodyPr/>
          <a:lstStyle/>
          <a:p>
            <a:pPr marL="241300">
              <a:lnSpc>
                <a:spcPct val="100000"/>
              </a:lnSpc>
              <a:spcBef>
                <a:spcPts val="1120"/>
              </a:spcBef>
              <a:buFont typeface="Arial" panose="020B0604020202020204"/>
              <a:buChar char="•"/>
              <a:tabLst>
                <a:tab pos="241300" algn="l"/>
              </a:tabLst>
            </a:pPr>
            <a:r>
              <a:rPr lang="zh-CN" altLang="en-US" sz="2400" dirty="0">
                <a:latin typeface="华文新魏" panose="02010800040101010101" charset="-122"/>
                <a:cs typeface="华文新魏" panose="02010800040101010101" charset="-122"/>
              </a:rPr>
              <a:t>但往往状态空间中的局部更有探究的价值</a:t>
            </a:r>
          </a:p>
          <a:p>
            <a:pPr marL="698500" lvl="1">
              <a:lnSpc>
                <a:spcPct val="100000"/>
              </a:lnSpc>
              <a:spcBef>
                <a:spcPts val="102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有一些状态是不可能出现的状态</a:t>
            </a:r>
          </a:p>
          <a:p>
            <a:pPr marL="698500" lvl="1">
              <a:lnSpc>
                <a:spcPct val="100000"/>
              </a:lnSpc>
              <a:spcBef>
                <a:spcPts val="112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整数或实数值属性往往只在一定范围内取值</a:t>
            </a:r>
          </a:p>
          <a:p>
            <a:pPr marL="927100" marR="2675890" lvl="1" indent="-457200">
              <a:lnSpc>
                <a:spcPts val="4000"/>
              </a:lnSpc>
              <a:spcBef>
                <a:spcPts val="22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通常，我们只关注特定约束下的对象及其行为 例如</a:t>
            </a:r>
            <a:r>
              <a:rPr lang="en-US" altLang="zh-CN" dirty="0">
                <a:latin typeface="华文新魏" panose="02010800040101010101" charset="-122"/>
                <a:cs typeface="华文新魏" panose="02010800040101010101" charset="-122"/>
              </a:rPr>
              <a:t>.</a:t>
            </a:r>
            <a:r>
              <a:rPr lang="zh-CN" altLang="en-US" spc="-40" dirty="0">
                <a:latin typeface="华文新魏" panose="02010800040101010101" charset="-122"/>
                <a:cs typeface="华文新魏" panose="02010800040101010101" charset="-122"/>
              </a:rPr>
              <a:t> </a:t>
            </a:r>
            <a:r>
              <a:rPr lang="zh-CN" altLang="en-US" dirty="0">
                <a:latin typeface="华文新魏" panose="02010800040101010101" charset="-122"/>
                <a:cs typeface="华文新魏" panose="02010800040101010101" charset="-122"/>
              </a:rPr>
              <a:t>对于年龄</a:t>
            </a:r>
            <a:r>
              <a:rPr lang="en-US" altLang="zh-CN" dirty="0">
                <a:latin typeface="华文新魏" panose="02010800040101010101" charset="-122"/>
                <a:cs typeface="华文新魏" panose="02010800040101010101" charset="-122"/>
              </a:rPr>
              <a:t>,</a:t>
            </a:r>
            <a:r>
              <a:rPr lang="zh-CN" altLang="en-US" spc="-35" dirty="0">
                <a:latin typeface="华文新魏" panose="02010800040101010101" charset="-122"/>
                <a:cs typeface="华文新魏" panose="02010800040101010101" charset="-122"/>
              </a:rPr>
              <a:t> </a:t>
            </a:r>
            <a:r>
              <a:rPr lang="zh-CN" altLang="en-US" dirty="0">
                <a:latin typeface="华文新魏" panose="02010800040101010101" charset="-122"/>
                <a:cs typeface="华文新魏" panose="02010800040101010101" charset="-122"/>
              </a:rPr>
              <a:t>我们经常选择以下的范围：</a:t>
            </a:r>
          </a:p>
          <a:p>
            <a:pPr marL="1149985">
              <a:lnSpc>
                <a:spcPct val="100000"/>
              </a:lnSpc>
              <a:spcBef>
                <a:spcPts val="700"/>
              </a:spcBef>
            </a:pPr>
            <a:r>
              <a:rPr lang="en-US" altLang="zh-CN" sz="2400" dirty="0">
                <a:solidFill>
                  <a:srgbClr val="800000"/>
                </a:solidFill>
                <a:latin typeface="华文新魏" panose="02010800040101010101" charset="-122"/>
                <a:cs typeface="华文新魏" panose="02010800040101010101" charset="-122"/>
              </a:rPr>
              <a:t>age &lt; 18; 18 ≤ age ≤ 65; age &gt;</a:t>
            </a:r>
            <a:r>
              <a:rPr lang="en-US" altLang="zh-CN" sz="2400" spc="-45" dirty="0">
                <a:solidFill>
                  <a:srgbClr val="800000"/>
                </a:solidFill>
                <a:latin typeface="华文新魏" panose="02010800040101010101" charset="-122"/>
                <a:cs typeface="华文新魏" panose="02010800040101010101" charset="-122"/>
              </a:rPr>
              <a:t> </a:t>
            </a:r>
            <a:r>
              <a:rPr lang="en-US" altLang="zh-CN" sz="2400" dirty="0">
                <a:solidFill>
                  <a:srgbClr val="800000"/>
                </a:solidFill>
                <a:latin typeface="华文新魏" panose="02010800040101010101" charset="-122"/>
                <a:cs typeface="华文新魏" panose="02010800040101010101" charset="-122"/>
              </a:rPr>
              <a:t>65</a:t>
            </a:r>
            <a:endParaRPr lang="en-US" altLang="zh-CN" sz="2400" dirty="0">
              <a:latin typeface="华文新魏" panose="02010800040101010101" charset="-122"/>
              <a:cs typeface="华文新魏" panose="02010800040101010101" charset="-122"/>
            </a:endParaRPr>
          </a:p>
          <a:p>
            <a:pPr marL="927100">
              <a:lnSpc>
                <a:spcPct val="100000"/>
              </a:lnSpc>
              <a:spcBef>
                <a:spcPts val="1120"/>
              </a:spcBef>
            </a:pPr>
            <a:r>
              <a:rPr lang="zh-CN" altLang="en-US" sz="2400" dirty="0">
                <a:latin typeface="华文新魏" panose="02010800040101010101" charset="-122"/>
                <a:cs typeface="华文新魏" panose="02010800040101010101" charset="-122"/>
              </a:rPr>
              <a:t>例如</a:t>
            </a:r>
            <a:r>
              <a:rPr lang="en-US" altLang="zh-CN" sz="2400" dirty="0">
                <a:latin typeface="华文新魏" panose="02010800040101010101" charset="-122"/>
                <a:cs typeface="华文新魏" panose="02010800040101010101" charset="-122"/>
              </a:rPr>
              <a:t>.</a:t>
            </a:r>
            <a:r>
              <a:rPr lang="zh-CN" altLang="en-US" sz="2400" spc="-5" dirty="0">
                <a:latin typeface="华文新魏" panose="02010800040101010101" charset="-122"/>
                <a:cs typeface="华文新魏" panose="02010800040101010101" charset="-122"/>
              </a:rPr>
              <a:t> </a:t>
            </a:r>
            <a:r>
              <a:rPr lang="zh-CN" altLang="en-US" sz="2400" dirty="0">
                <a:latin typeface="华文新魏" panose="02010800040101010101" charset="-122"/>
                <a:cs typeface="华文新魏" panose="02010800040101010101" charset="-122"/>
              </a:rPr>
              <a:t>对于费用信息</a:t>
            </a:r>
            <a:r>
              <a:rPr lang="en-US" altLang="zh-CN" sz="2400" dirty="0">
                <a:latin typeface="华文新魏" panose="02010800040101010101" charset="-122"/>
                <a:cs typeface="华文新魏" panose="02010800040101010101" charset="-122"/>
              </a:rPr>
              <a:t>,</a:t>
            </a:r>
            <a:r>
              <a:rPr lang="zh-CN" altLang="en-US" sz="2400" dirty="0">
                <a:latin typeface="华文新魏" panose="02010800040101010101" charset="-122"/>
                <a:cs typeface="华文新魏" panose="02010800040101010101" charset="-122"/>
              </a:rPr>
              <a:t>我们更关注的约束划分为：</a:t>
            </a:r>
          </a:p>
          <a:p>
            <a:pPr marL="1075690">
              <a:lnSpc>
                <a:spcPct val="100000"/>
              </a:lnSpc>
              <a:spcBef>
                <a:spcPts val="1020"/>
              </a:spcBef>
              <a:tabLst>
                <a:tab pos="6308725" algn="l"/>
              </a:tabLst>
            </a:pPr>
            <a:r>
              <a:rPr lang="en-US" altLang="zh-CN" sz="2400" dirty="0">
                <a:solidFill>
                  <a:srgbClr val="800000"/>
                </a:solidFill>
                <a:latin typeface="华文新魏" panose="02010800040101010101" charset="-122"/>
                <a:cs typeface="华文新魏" panose="02010800040101010101" charset="-122"/>
              </a:rPr>
              <a:t>cost ≤ budget, cost=0, cost</a:t>
            </a:r>
            <a:r>
              <a:rPr lang="en-US" altLang="zh-CN" sz="2400" spc="-10" dirty="0">
                <a:solidFill>
                  <a:srgbClr val="800000"/>
                </a:solidFill>
                <a:latin typeface="华文新魏" panose="02010800040101010101" charset="-122"/>
                <a:cs typeface="华文新魏" panose="02010800040101010101" charset="-122"/>
              </a:rPr>
              <a:t> </a:t>
            </a:r>
            <a:r>
              <a:rPr lang="en-US" altLang="zh-CN" sz="2400" dirty="0">
                <a:solidFill>
                  <a:srgbClr val="800000"/>
                </a:solidFill>
                <a:latin typeface="华文新魏" panose="02010800040101010101" charset="-122"/>
                <a:cs typeface="华文新魏" panose="02010800040101010101" charset="-122"/>
              </a:rPr>
              <a:t>&gt; budget,	cost &gt; ( budget + 10%</a:t>
            </a:r>
            <a:r>
              <a:rPr lang="en-US" altLang="zh-CN" sz="2400" spc="-120" dirty="0">
                <a:solidFill>
                  <a:srgbClr val="800000"/>
                </a:solidFill>
                <a:latin typeface="华文新魏" panose="02010800040101010101" charset="-122"/>
                <a:cs typeface="华文新魏" panose="02010800040101010101" charset="-122"/>
              </a:rPr>
              <a:t> </a:t>
            </a:r>
            <a:r>
              <a:rPr lang="en-US" altLang="zh-CN" sz="2400" dirty="0">
                <a:solidFill>
                  <a:srgbClr val="800000"/>
                </a:solidFill>
                <a:latin typeface="华文新魏" panose="02010800040101010101" charset="-122"/>
                <a:cs typeface="华文新魏" panose="02010800040101010101" charset="-122"/>
              </a:rPr>
              <a:t>)</a:t>
            </a:r>
            <a:endParaRPr lang="en-US" altLang="zh-CN" sz="2400" dirty="0">
              <a:latin typeface="华文新魏" panose="02010800040101010101" charset="-122"/>
              <a:cs typeface="华文新魏" panose="0201080004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9582"/>
    </mc:Choice>
    <mc:Fallback xmlns="">
      <p:transition spd="slow" advTm="89582"/>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模型建立的过程</a:t>
            </a:r>
            <a:r>
              <a:rPr lang="en-US" altLang="zh-CN" spc="-5" dirty="0"/>
              <a:t>——</a:t>
            </a:r>
            <a:r>
              <a:rPr lang="zh-CN" altLang="en-US" spc="-5" dirty="0"/>
              <a:t>状态空间的分解</a:t>
            </a:r>
            <a:endParaRPr lang="zh-CN" altLang="en-US" dirty="0"/>
          </a:p>
        </p:txBody>
      </p:sp>
      <p:sp>
        <p:nvSpPr>
          <p:cNvPr id="3" name="内容占位符 2"/>
          <p:cNvSpPr>
            <a:spLocks noGrp="1"/>
          </p:cNvSpPr>
          <p:nvPr>
            <p:ph idx="1"/>
          </p:nvPr>
        </p:nvSpPr>
        <p:spPr>
          <a:xfrm>
            <a:off x="838200" y="1460938"/>
            <a:ext cx="10515600" cy="4716025"/>
          </a:xfrm>
        </p:spPr>
        <p:txBody>
          <a:bodyPr/>
          <a:lstStyle/>
          <a:p>
            <a:pPr marL="241300">
              <a:lnSpc>
                <a:spcPct val="100000"/>
              </a:lnSpc>
              <a:spcBef>
                <a:spcPts val="310"/>
              </a:spcBef>
              <a:buFont typeface="Arial" panose="020B0604020202020204"/>
              <a:buChar char="•"/>
              <a:tabLst>
                <a:tab pos="241300" algn="l"/>
              </a:tabLst>
            </a:pPr>
            <a:endParaRPr lang="zh-CN" altLang="en-US" dirty="0">
              <a:latin typeface="华文新魏" panose="02010800040101010101" charset="-122"/>
              <a:cs typeface="华文新魏" panose="02010800040101010101" charset="-122"/>
            </a:endParaRPr>
          </a:p>
        </p:txBody>
      </p:sp>
      <p:sp>
        <p:nvSpPr>
          <p:cNvPr id="5" name="object 7"/>
          <p:cNvSpPr/>
          <p:nvPr/>
        </p:nvSpPr>
        <p:spPr>
          <a:xfrm>
            <a:off x="2233614" y="5682933"/>
            <a:ext cx="212724" cy="161924"/>
          </a:xfrm>
          <a:prstGeom prst="rect">
            <a:avLst/>
          </a:prstGeom>
          <a:blipFill>
            <a:blip r:embed="rId3" cstate="print"/>
            <a:stretch>
              <a:fillRect/>
            </a:stretch>
          </a:blipFill>
        </p:spPr>
        <p:txBody>
          <a:bodyPr wrap="square" lIns="0" tIns="0" rIns="0" bIns="0" rtlCol="0"/>
          <a:lstStyle/>
          <a:p>
            <a:endParaRPr/>
          </a:p>
        </p:txBody>
      </p:sp>
      <p:sp>
        <p:nvSpPr>
          <p:cNvPr id="6" name="object 8"/>
          <p:cNvSpPr/>
          <p:nvPr/>
        </p:nvSpPr>
        <p:spPr>
          <a:xfrm>
            <a:off x="2441577" y="5763895"/>
            <a:ext cx="889000" cy="0"/>
          </a:xfrm>
          <a:custGeom>
            <a:avLst/>
            <a:gdLst/>
            <a:ahLst/>
            <a:cxnLst/>
            <a:rect l="l" t="t" r="r" b="b"/>
            <a:pathLst>
              <a:path w="889000">
                <a:moveTo>
                  <a:pt x="0" y="0"/>
                </a:moveTo>
                <a:lnTo>
                  <a:pt x="888999" y="0"/>
                </a:lnTo>
              </a:path>
            </a:pathLst>
          </a:custGeom>
          <a:ln w="19049">
            <a:solidFill>
              <a:srgbClr val="000000"/>
            </a:solidFill>
          </a:ln>
        </p:spPr>
        <p:txBody>
          <a:bodyPr wrap="square" lIns="0" tIns="0" rIns="0" bIns="0" rtlCol="0"/>
          <a:lstStyle/>
          <a:p>
            <a:endParaRPr/>
          </a:p>
        </p:txBody>
      </p:sp>
      <p:sp>
        <p:nvSpPr>
          <p:cNvPr id="7" name="object 9"/>
          <p:cNvSpPr/>
          <p:nvPr/>
        </p:nvSpPr>
        <p:spPr>
          <a:xfrm>
            <a:off x="3279777" y="5725795"/>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8" name="object 10"/>
          <p:cNvSpPr/>
          <p:nvPr/>
        </p:nvSpPr>
        <p:spPr>
          <a:xfrm>
            <a:off x="4219575" y="5306623"/>
            <a:ext cx="3098800" cy="229235"/>
          </a:xfrm>
          <a:custGeom>
            <a:avLst/>
            <a:gdLst/>
            <a:ahLst/>
            <a:cxnLst/>
            <a:rect l="l" t="t" r="r" b="b"/>
            <a:pathLst>
              <a:path w="3098800" h="229235">
                <a:moveTo>
                  <a:pt x="0" y="228671"/>
                </a:moveTo>
                <a:lnTo>
                  <a:pt x="0" y="0"/>
                </a:lnTo>
                <a:lnTo>
                  <a:pt x="3098799" y="0"/>
                </a:lnTo>
                <a:lnTo>
                  <a:pt x="3098799" y="204859"/>
                </a:lnTo>
              </a:path>
            </a:pathLst>
          </a:custGeom>
          <a:ln w="19049">
            <a:solidFill>
              <a:srgbClr val="000000"/>
            </a:solidFill>
          </a:ln>
        </p:spPr>
        <p:txBody>
          <a:bodyPr wrap="square" lIns="0" tIns="0" rIns="0" bIns="0" rtlCol="0"/>
          <a:lstStyle/>
          <a:p>
            <a:endParaRPr/>
          </a:p>
        </p:txBody>
      </p:sp>
      <p:sp>
        <p:nvSpPr>
          <p:cNvPr id="9" name="object 11"/>
          <p:cNvSpPr/>
          <p:nvPr/>
        </p:nvSpPr>
        <p:spPr>
          <a:xfrm>
            <a:off x="7280275" y="5460684"/>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0" name="object 12"/>
          <p:cNvSpPr/>
          <p:nvPr/>
        </p:nvSpPr>
        <p:spPr>
          <a:xfrm>
            <a:off x="7775575" y="6002021"/>
            <a:ext cx="457200" cy="219075"/>
          </a:xfrm>
          <a:custGeom>
            <a:avLst/>
            <a:gdLst/>
            <a:ahLst/>
            <a:cxnLst/>
            <a:rect l="l" t="t" r="r" b="b"/>
            <a:pathLst>
              <a:path w="457200" h="219075">
                <a:moveTo>
                  <a:pt x="0" y="0"/>
                </a:moveTo>
                <a:lnTo>
                  <a:pt x="0" y="219074"/>
                </a:lnTo>
                <a:lnTo>
                  <a:pt x="457199" y="219074"/>
                </a:lnTo>
                <a:lnTo>
                  <a:pt x="457199" y="15874"/>
                </a:lnTo>
              </a:path>
            </a:pathLst>
          </a:custGeom>
          <a:ln w="19049">
            <a:solidFill>
              <a:srgbClr val="000000"/>
            </a:solidFill>
          </a:ln>
        </p:spPr>
        <p:txBody>
          <a:bodyPr wrap="square" lIns="0" tIns="0" rIns="0" bIns="0" rtlCol="0"/>
          <a:lstStyle/>
          <a:p>
            <a:endParaRPr/>
          </a:p>
        </p:txBody>
      </p:sp>
      <p:sp>
        <p:nvSpPr>
          <p:cNvPr id="11" name="object 13"/>
          <p:cNvSpPr/>
          <p:nvPr/>
        </p:nvSpPr>
        <p:spPr>
          <a:xfrm>
            <a:off x="8194675" y="5992496"/>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12" name="object 14"/>
          <p:cNvSpPr/>
          <p:nvPr/>
        </p:nvSpPr>
        <p:spPr>
          <a:xfrm>
            <a:off x="8690446" y="5612294"/>
            <a:ext cx="247649" cy="276224"/>
          </a:xfrm>
          <a:prstGeom prst="rect">
            <a:avLst/>
          </a:prstGeom>
          <a:blipFill>
            <a:blip r:embed="rId4" cstate="print"/>
            <a:stretch>
              <a:fillRect/>
            </a:stretch>
          </a:blipFill>
        </p:spPr>
        <p:txBody>
          <a:bodyPr wrap="square" lIns="0" tIns="0" rIns="0" bIns="0" rtlCol="0"/>
          <a:lstStyle/>
          <a:p>
            <a:endParaRPr/>
          </a:p>
        </p:txBody>
      </p:sp>
      <p:sp>
        <p:nvSpPr>
          <p:cNvPr id="13" name="object 15"/>
          <p:cNvSpPr/>
          <p:nvPr/>
        </p:nvSpPr>
        <p:spPr>
          <a:xfrm>
            <a:off x="4219576" y="5992496"/>
            <a:ext cx="3098800" cy="228600"/>
          </a:xfrm>
          <a:custGeom>
            <a:avLst/>
            <a:gdLst/>
            <a:ahLst/>
            <a:cxnLst/>
            <a:rect l="l" t="t" r="r" b="b"/>
            <a:pathLst>
              <a:path w="3098800" h="228600">
                <a:moveTo>
                  <a:pt x="3098799" y="0"/>
                </a:moveTo>
                <a:lnTo>
                  <a:pt x="3098799" y="228599"/>
                </a:lnTo>
                <a:lnTo>
                  <a:pt x="0" y="228599"/>
                </a:lnTo>
                <a:lnTo>
                  <a:pt x="0" y="34924"/>
                </a:lnTo>
              </a:path>
            </a:pathLst>
          </a:custGeom>
          <a:ln w="19049">
            <a:solidFill>
              <a:srgbClr val="000000"/>
            </a:solidFill>
          </a:ln>
        </p:spPr>
        <p:txBody>
          <a:bodyPr wrap="square" lIns="0" tIns="0" rIns="0" bIns="0" rtlCol="0"/>
          <a:lstStyle/>
          <a:p>
            <a:endParaRPr/>
          </a:p>
        </p:txBody>
      </p:sp>
      <p:sp>
        <p:nvSpPr>
          <p:cNvPr id="14" name="object 16"/>
          <p:cNvSpPr/>
          <p:nvPr/>
        </p:nvSpPr>
        <p:spPr>
          <a:xfrm>
            <a:off x="4181477" y="6002021"/>
            <a:ext cx="76200" cy="76200"/>
          </a:xfrm>
          <a:custGeom>
            <a:avLst/>
            <a:gdLst/>
            <a:ahLst/>
            <a:cxnLst/>
            <a:rect l="l" t="t" r="r" b="b"/>
            <a:pathLst>
              <a:path w="76200" h="76200">
                <a:moveTo>
                  <a:pt x="38100" y="0"/>
                </a:moveTo>
                <a:lnTo>
                  <a:pt x="0" y="76199"/>
                </a:lnTo>
                <a:lnTo>
                  <a:pt x="76200" y="76199"/>
                </a:lnTo>
                <a:lnTo>
                  <a:pt x="38100" y="0"/>
                </a:lnTo>
                <a:close/>
              </a:path>
            </a:pathLst>
          </a:custGeom>
          <a:solidFill>
            <a:srgbClr val="000000"/>
          </a:solidFill>
        </p:spPr>
        <p:txBody>
          <a:bodyPr wrap="square" lIns="0" tIns="0" rIns="0" bIns="0" rtlCol="0"/>
          <a:lstStyle/>
          <a:p>
            <a:endParaRPr/>
          </a:p>
        </p:txBody>
      </p:sp>
      <p:sp>
        <p:nvSpPr>
          <p:cNvPr id="15" name="object 17"/>
          <p:cNvSpPr/>
          <p:nvPr/>
        </p:nvSpPr>
        <p:spPr>
          <a:xfrm>
            <a:off x="3355977" y="5535295"/>
            <a:ext cx="1727200" cy="457200"/>
          </a:xfrm>
          <a:custGeom>
            <a:avLst/>
            <a:gdLst/>
            <a:ahLst/>
            <a:cxnLst/>
            <a:rect l="l" t="t" r="r" b="b"/>
            <a:pathLst>
              <a:path w="1727200" h="457200">
                <a:moveTo>
                  <a:pt x="1650997" y="0"/>
                </a:moveTo>
                <a:lnTo>
                  <a:pt x="76201" y="0"/>
                </a:lnTo>
                <a:lnTo>
                  <a:pt x="46540" y="5988"/>
                </a:lnTo>
                <a:lnTo>
                  <a:pt x="22318" y="22319"/>
                </a:lnTo>
                <a:lnTo>
                  <a:pt x="5988" y="46541"/>
                </a:lnTo>
                <a:lnTo>
                  <a:pt x="0" y="76202"/>
                </a:lnTo>
                <a:lnTo>
                  <a:pt x="0" y="380998"/>
                </a:lnTo>
                <a:lnTo>
                  <a:pt x="5988" y="410659"/>
                </a:lnTo>
                <a:lnTo>
                  <a:pt x="22318" y="434881"/>
                </a:lnTo>
                <a:lnTo>
                  <a:pt x="46540" y="451211"/>
                </a:lnTo>
                <a:lnTo>
                  <a:pt x="76201" y="457200"/>
                </a:lnTo>
                <a:lnTo>
                  <a:pt x="1650997" y="457200"/>
                </a:lnTo>
                <a:lnTo>
                  <a:pt x="1680658" y="451211"/>
                </a:lnTo>
                <a:lnTo>
                  <a:pt x="1704880" y="434881"/>
                </a:lnTo>
                <a:lnTo>
                  <a:pt x="1721210" y="410659"/>
                </a:lnTo>
                <a:lnTo>
                  <a:pt x="1727198" y="380998"/>
                </a:lnTo>
                <a:lnTo>
                  <a:pt x="1727198" y="76202"/>
                </a:lnTo>
                <a:lnTo>
                  <a:pt x="1721210" y="46541"/>
                </a:lnTo>
                <a:lnTo>
                  <a:pt x="1704880" y="22319"/>
                </a:lnTo>
                <a:lnTo>
                  <a:pt x="1680658" y="5988"/>
                </a:lnTo>
                <a:lnTo>
                  <a:pt x="1650997" y="0"/>
                </a:lnTo>
                <a:close/>
              </a:path>
            </a:pathLst>
          </a:custGeom>
          <a:solidFill>
            <a:srgbClr val="ECEBEB"/>
          </a:solidFill>
        </p:spPr>
        <p:txBody>
          <a:bodyPr wrap="square" lIns="0" tIns="0" rIns="0" bIns="0" rtlCol="0"/>
          <a:lstStyle/>
          <a:p>
            <a:endParaRPr/>
          </a:p>
        </p:txBody>
      </p:sp>
      <p:sp>
        <p:nvSpPr>
          <p:cNvPr id="16" name="object 18"/>
          <p:cNvSpPr/>
          <p:nvPr/>
        </p:nvSpPr>
        <p:spPr>
          <a:xfrm>
            <a:off x="3355977" y="5535295"/>
            <a:ext cx="1727200" cy="457200"/>
          </a:xfrm>
          <a:custGeom>
            <a:avLst/>
            <a:gdLst/>
            <a:ahLst/>
            <a:cxnLst/>
            <a:rect l="l" t="t" r="r" b="b"/>
            <a:pathLst>
              <a:path w="1727200" h="457200">
                <a:moveTo>
                  <a:pt x="0" y="76202"/>
                </a:moveTo>
                <a:lnTo>
                  <a:pt x="5988" y="46540"/>
                </a:lnTo>
                <a:lnTo>
                  <a:pt x="22319" y="22319"/>
                </a:lnTo>
                <a:lnTo>
                  <a:pt x="46540" y="5988"/>
                </a:lnTo>
                <a:lnTo>
                  <a:pt x="76201" y="0"/>
                </a:lnTo>
                <a:lnTo>
                  <a:pt x="1650997" y="0"/>
                </a:lnTo>
                <a:lnTo>
                  <a:pt x="1680658" y="5988"/>
                </a:lnTo>
                <a:lnTo>
                  <a:pt x="1704880" y="22319"/>
                </a:lnTo>
                <a:lnTo>
                  <a:pt x="1721211" y="46540"/>
                </a:lnTo>
                <a:lnTo>
                  <a:pt x="1727199" y="76202"/>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2"/>
                </a:lnTo>
                <a:close/>
              </a:path>
            </a:pathLst>
          </a:custGeom>
          <a:ln w="19049">
            <a:solidFill>
              <a:srgbClr val="000000"/>
            </a:solidFill>
          </a:ln>
        </p:spPr>
        <p:txBody>
          <a:bodyPr wrap="square" lIns="0" tIns="0" rIns="0" bIns="0" rtlCol="0"/>
          <a:lstStyle/>
          <a:p>
            <a:endParaRPr/>
          </a:p>
        </p:txBody>
      </p:sp>
      <p:sp>
        <p:nvSpPr>
          <p:cNvPr id="17" name="object 19"/>
          <p:cNvSpPr txBox="1"/>
          <p:nvPr/>
        </p:nvSpPr>
        <p:spPr>
          <a:xfrm>
            <a:off x="3888835" y="5614035"/>
            <a:ext cx="6604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p:txBody>
      </p:sp>
      <p:sp>
        <p:nvSpPr>
          <p:cNvPr id="18" name="object 20"/>
          <p:cNvSpPr/>
          <p:nvPr/>
        </p:nvSpPr>
        <p:spPr>
          <a:xfrm>
            <a:off x="6911975" y="5535295"/>
            <a:ext cx="1727200" cy="457200"/>
          </a:xfrm>
          <a:custGeom>
            <a:avLst/>
            <a:gdLst/>
            <a:ahLst/>
            <a:cxnLst/>
            <a:rect l="l" t="t" r="r" b="b"/>
            <a:pathLst>
              <a:path w="1727200" h="457200">
                <a:moveTo>
                  <a:pt x="1650998" y="0"/>
                </a:moveTo>
                <a:lnTo>
                  <a:pt x="76202" y="0"/>
                </a:lnTo>
                <a:lnTo>
                  <a:pt x="46541" y="5988"/>
                </a:lnTo>
                <a:lnTo>
                  <a:pt x="22319" y="22319"/>
                </a:lnTo>
                <a:lnTo>
                  <a:pt x="5988" y="46541"/>
                </a:lnTo>
                <a:lnTo>
                  <a:pt x="0" y="76202"/>
                </a:lnTo>
                <a:lnTo>
                  <a:pt x="0" y="380998"/>
                </a:lnTo>
                <a:lnTo>
                  <a:pt x="5988" y="410659"/>
                </a:lnTo>
                <a:lnTo>
                  <a:pt x="22319" y="434881"/>
                </a:lnTo>
                <a:lnTo>
                  <a:pt x="46541" y="451211"/>
                </a:lnTo>
                <a:lnTo>
                  <a:pt x="76202" y="457200"/>
                </a:lnTo>
                <a:lnTo>
                  <a:pt x="1650998" y="457200"/>
                </a:lnTo>
                <a:lnTo>
                  <a:pt x="1680659" y="451211"/>
                </a:lnTo>
                <a:lnTo>
                  <a:pt x="1704880" y="434881"/>
                </a:lnTo>
                <a:lnTo>
                  <a:pt x="1721211" y="410659"/>
                </a:lnTo>
                <a:lnTo>
                  <a:pt x="1727200" y="380998"/>
                </a:lnTo>
                <a:lnTo>
                  <a:pt x="1727200" y="76202"/>
                </a:lnTo>
                <a:lnTo>
                  <a:pt x="1721211" y="46541"/>
                </a:lnTo>
                <a:lnTo>
                  <a:pt x="1704880" y="22319"/>
                </a:lnTo>
                <a:lnTo>
                  <a:pt x="1680659" y="5988"/>
                </a:lnTo>
                <a:lnTo>
                  <a:pt x="1650998" y="0"/>
                </a:lnTo>
                <a:close/>
              </a:path>
            </a:pathLst>
          </a:custGeom>
          <a:solidFill>
            <a:srgbClr val="ECEBEB"/>
          </a:solidFill>
        </p:spPr>
        <p:txBody>
          <a:bodyPr wrap="square" lIns="0" tIns="0" rIns="0" bIns="0" rtlCol="0"/>
          <a:lstStyle/>
          <a:p>
            <a:endParaRPr/>
          </a:p>
        </p:txBody>
      </p:sp>
      <p:sp>
        <p:nvSpPr>
          <p:cNvPr id="19" name="object 21"/>
          <p:cNvSpPr/>
          <p:nvPr/>
        </p:nvSpPr>
        <p:spPr>
          <a:xfrm>
            <a:off x="6911975" y="5535295"/>
            <a:ext cx="1727200" cy="457200"/>
          </a:xfrm>
          <a:custGeom>
            <a:avLst/>
            <a:gdLst/>
            <a:ahLst/>
            <a:cxnLst/>
            <a:rect l="l" t="t" r="r" b="b"/>
            <a:pathLst>
              <a:path w="1727200" h="457200">
                <a:moveTo>
                  <a:pt x="0" y="76202"/>
                </a:moveTo>
                <a:lnTo>
                  <a:pt x="5988" y="46540"/>
                </a:lnTo>
                <a:lnTo>
                  <a:pt x="22318" y="22319"/>
                </a:lnTo>
                <a:lnTo>
                  <a:pt x="46540" y="5988"/>
                </a:lnTo>
                <a:lnTo>
                  <a:pt x="76202" y="0"/>
                </a:lnTo>
                <a:lnTo>
                  <a:pt x="1650997" y="0"/>
                </a:lnTo>
                <a:lnTo>
                  <a:pt x="1680658" y="5988"/>
                </a:lnTo>
                <a:lnTo>
                  <a:pt x="1704880" y="22319"/>
                </a:lnTo>
                <a:lnTo>
                  <a:pt x="1721211" y="46540"/>
                </a:lnTo>
                <a:lnTo>
                  <a:pt x="1727199" y="76202"/>
                </a:lnTo>
                <a:lnTo>
                  <a:pt x="1727199" y="380997"/>
                </a:lnTo>
                <a:lnTo>
                  <a:pt x="1721211" y="410659"/>
                </a:lnTo>
                <a:lnTo>
                  <a:pt x="1704880" y="434880"/>
                </a:lnTo>
                <a:lnTo>
                  <a:pt x="1680658" y="451211"/>
                </a:lnTo>
                <a:lnTo>
                  <a:pt x="1650997" y="457199"/>
                </a:lnTo>
                <a:lnTo>
                  <a:pt x="76202" y="457199"/>
                </a:lnTo>
                <a:lnTo>
                  <a:pt x="46540" y="451211"/>
                </a:lnTo>
                <a:lnTo>
                  <a:pt x="22318" y="434880"/>
                </a:lnTo>
                <a:lnTo>
                  <a:pt x="5988" y="410659"/>
                </a:lnTo>
                <a:lnTo>
                  <a:pt x="0" y="380997"/>
                </a:lnTo>
                <a:lnTo>
                  <a:pt x="0" y="76202"/>
                </a:lnTo>
                <a:close/>
              </a:path>
            </a:pathLst>
          </a:custGeom>
          <a:ln w="19049">
            <a:solidFill>
              <a:srgbClr val="000000"/>
            </a:solidFill>
          </a:ln>
        </p:spPr>
        <p:txBody>
          <a:bodyPr wrap="square" lIns="0" tIns="0" rIns="0" bIns="0" rtlCol="0"/>
          <a:lstStyle/>
          <a:p>
            <a:endParaRPr/>
          </a:p>
        </p:txBody>
      </p:sp>
      <p:sp>
        <p:nvSpPr>
          <p:cNvPr id="20" name="object 22"/>
          <p:cNvSpPr txBox="1"/>
          <p:nvPr/>
        </p:nvSpPr>
        <p:spPr>
          <a:xfrm>
            <a:off x="7241634" y="5614035"/>
            <a:ext cx="105727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not</a:t>
            </a:r>
            <a:r>
              <a:rPr sz="1800" b="1" spc="-6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p:txBody>
      </p:sp>
      <p:sp>
        <p:nvSpPr>
          <p:cNvPr id="21" name="object 23"/>
          <p:cNvSpPr/>
          <p:nvPr/>
        </p:nvSpPr>
        <p:spPr>
          <a:xfrm>
            <a:off x="7775575" y="5306623"/>
            <a:ext cx="457200" cy="229235"/>
          </a:xfrm>
          <a:custGeom>
            <a:avLst/>
            <a:gdLst/>
            <a:ahLst/>
            <a:cxnLst/>
            <a:rect l="l" t="t" r="r" b="b"/>
            <a:pathLst>
              <a:path w="457200" h="229235">
                <a:moveTo>
                  <a:pt x="0" y="228671"/>
                </a:moveTo>
                <a:lnTo>
                  <a:pt x="0" y="0"/>
                </a:lnTo>
                <a:lnTo>
                  <a:pt x="457199" y="0"/>
                </a:lnTo>
                <a:lnTo>
                  <a:pt x="457199" y="204859"/>
                </a:lnTo>
              </a:path>
            </a:pathLst>
          </a:custGeom>
          <a:ln w="19049">
            <a:solidFill>
              <a:srgbClr val="000000"/>
            </a:solidFill>
          </a:ln>
        </p:spPr>
        <p:txBody>
          <a:bodyPr wrap="square" lIns="0" tIns="0" rIns="0" bIns="0" rtlCol="0"/>
          <a:lstStyle/>
          <a:p>
            <a:endParaRPr/>
          </a:p>
        </p:txBody>
      </p:sp>
      <p:sp>
        <p:nvSpPr>
          <p:cNvPr id="22" name="object 24"/>
          <p:cNvSpPr/>
          <p:nvPr/>
        </p:nvSpPr>
        <p:spPr>
          <a:xfrm>
            <a:off x="8194675" y="5460684"/>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3" name="object 25"/>
          <p:cNvSpPr txBox="1"/>
          <p:nvPr/>
        </p:nvSpPr>
        <p:spPr>
          <a:xfrm>
            <a:off x="7701917" y="5034916"/>
            <a:ext cx="50419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p:txBody>
      </p:sp>
      <p:sp>
        <p:nvSpPr>
          <p:cNvPr id="24" name="object 26"/>
          <p:cNvSpPr txBox="1"/>
          <p:nvPr/>
        </p:nvSpPr>
        <p:spPr>
          <a:xfrm>
            <a:off x="5568317" y="5034916"/>
            <a:ext cx="50419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p:txBody>
      </p:sp>
      <p:sp>
        <p:nvSpPr>
          <p:cNvPr id="25" name="object 27"/>
          <p:cNvSpPr txBox="1"/>
          <p:nvPr/>
        </p:nvSpPr>
        <p:spPr>
          <a:xfrm>
            <a:off x="5161917" y="6254115"/>
            <a:ext cx="102489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Pop()</a:t>
            </a:r>
            <a:r>
              <a:rPr sz="1400" spc="275" dirty="0">
                <a:latin typeface="华文新魏" panose="02010800040101010101" charset="-122"/>
                <a:cs typeface="华文新魏" panose="02010800040101010101" charset="-122"/>
              </a:rPr>
              <a:t> </a:t>
            </a:r>
            <a:r>
              <a:rPr sz="1400" spc="-5" dirty="0">
                <a:latin typeface="华文新魏" panose="02010800040101010101" charset="-122"/>
                <a:cs typeface="华文新魏" panose="02010800040101010101" charset="-122"/>
              </a:rPr>
              <a:t>[sc=1]</a:t>
            </a:r>
            <a:endParaRPr sz="1400">
              <a:latin typeface="华文新魏" panose="02010800040101010101" charset="-122"/>
              <a:cs typeface="华文新魏" panose="02010800040101010101" charset="-122"/>
            </a:endParaRPr>
          </a:p>
        </p:txBody>
      </p:sp>
      <p:sp>
        <p:nvSpPr>
          <p:cNvPr id="26" name="object 28"/>
          <p:cNvSpPr txBox="1"/>
          <p:nvPr/>
        </p:nvSpPr>
        <p:spPr>
          <a:xfrm>
            <a:off x="2520316" y="5492115"/>
            <a:ext cx="48450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new()</a:t>
            </a:r>
            <a:endParaRPr sz="1400">
              <a:latin typeface="华文新魏" panose="02010800040101010101" charset="-122"/>
              <a:cs typeface="华文新魏" panose="02010800040101010101" charset="-122"/>
            </a:endParaRPr>
          </a:p>
        </p:txBody>
      </p:sp>
      <p:sp>
        <p:nvSpPr>
          <p:cNvPr id="27" name="object 29"/>
          <p:cNvSpPr txBox="1"/>
          <p:nvPr/>
        </p:nvSpPr>
        <p:spPr>
          <a:xfrm>
            <a:off x="7701917" y="6254115"/>
            <a:ext cx="98171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Pop()</a:t>
            </a:r>
            <a:r>
              <a:rPr sz="1400" spc="-60" dirty="0">
                <a:latin typeface="华文新魏" panose="02010800040101010101" charset="-122"/>
                <a:cs typeface="华文新魏" panose="02010800040101010101" charset="-122"/>
              </a:rPr>
              <a:t> </a:t>
            </a:r>
            <a:r>
              <a:rPr sz="1400" spc="-5" dirty="0">
                <a:latin typeface="华文新魏" panose="02010800040101010101" charset="-122"/>
                <a:cs typeface="华文新魏" panose="02010800040101010101" charset="-122"/>
              </a:rPr>
              <a:t>[sc&gt;1]</a:t>
            </a:r>
            <a:endParaRPr sz="1400">
              <a:latin typeface="华文新魏" panose="02010800040101010101" charset="-122"/>
              <a:cs typeface="华文新魏" panose="02010800040101010101" charset="-122"/>
            </a:endParaRPr>
          </a:p>
        </p:txBody>
      </p:sp>
      <p:sp>
        <p:nvSpPr>
          <p:cNvPr id="28" name="object 30"/>
          <p:cNvSpPr txBox="1"/>
          <p:nvPr/>
        </p:nvSpPr>
        <p:spPr>
          <a:xfrm>
            <a:off x="9022715" y="5644515"/>
            <a:ext cx="46672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p:txBody>
      </p:sp>
      <p:sp>
        <p:nvSpPr>
          <p:cNvPr id="29" name="object 31"/>
          <p:cNvSpPr/>
          <p:nvPr/>
        </p:nvSpPr>
        <p:spPr>
          <a:xfrm>
            <a:off x="5833945" y="4378629"/>
            <a:ext cx="734060" cy="579120"/>
          </a:xfrm>
          <a:custGeom>
            <a:avLst/>
            <a:gdLst/>
            <a:ahLst/>
            <a:cxnLst/>
            <a:rect l="l" t="t" r="r" b="b"/>
            <a:pathLst>
              <a:path w="734059" h="579120">
                <a:moveTo>
                  <a:pt x="733662" y="407193"/>
                </a:moveTo>
                <a:lnTo>
                  <a:pt x="0" y="407193"/>
                </a:lnTo>
                <a:lnTo>
                  <a:pt x="366831" y="578643"/>
                </a:lnTo>
                <a:lnTo>
                  <a:pt x="733662" y="407193"/>
                </a:lnTo>
                <a:close/>
              </a:path>
              <a:path w="734059" h="579120">
                <a:moveTo>
                  <a:pt x="550247" y="0"/>
                </a:moveTo>
                <a:lnTo>
                  <a:pt x="183415" y="0"/>
                </a:lnTo>
                <a:lnTo>
                  <a:pt x="183415" y="407193"/>
                </a:lnTo>
                <a:lnTo>
                  <a:pt x="550247" y="407193"/>
                </a:lnTo>
                <a:lnTo>
                  <a:pt x="550247" y="0"/>
                </a:lnTo>
                <a:close/>
              </a:path>
            </a:pathLst>
          </a:custGeom>
          <a:solidFill>
            <a:srgbClr val="941100"/>
          </a:solidFill>
        </p:spPr>
        <p:txBody>
          <a:bodyPr wrap="square" lIns="0" tIns="0" rIns="0" bIns="0" rtlCol="0"/>
          <a:lstStyle/>
          <a:p>
            <a:endParaRPr/>
          </a:p>
        </p:txBody>
      </p:sp>
      <p:sp>
        <p:nvSpPr>
          <p:cNvPr id="30" name="object 32"/>
          <p:cNvSpPr/>
          <p:nvPr/>
        </p:nvSpPr>
        <p:spPr>
          <a:xfrm>
            <a:off x="6017361" y="4335766"/>
            <a:ext cx="367030" cy="0"/>
          </a:xfrm>
          <a:custGeom>
            <a:avLst/>
            <a:gdLst/>
            <a:ahLst/>
            <a:cxnLst/>
            <a:rect l="l" t="t" r="r" b="b"/>
            <a:pathLst>
              <a:path w="367029">
                <a:moveTo>
                  <a:pt x="0" y="0"/>
                </a:moveTo>
                <a:lnTo>
                  <a:pt x="366831" y="0"/>
                </a:lnTo>
              </a:path>
            </a:pathLst>
          </a:custGeom>
          <a:ln w="42862">
            <a:solidFill>
              <a:srgbClr val="941100"/>
            </a:solidFill>
          </a:ln>
        </p:spPr>
        <p:txBody>
          <a:bodyPr wrap="square" lIns="0" tIns="0" rIns="0" bIns="0" rtlCol="0"/>
          <a:lstStyle/>
          <a:p>
            <a:endParaRPr/>
          </a:p>
        </p:txBody>
      </p:sp>
      <p:sp>
        <p:nvSpPr>
          <p:cNvPr id="31" name="object 33"/>
          <p:cNvSpPr/>
          <p:nvPr/>
        </p:nvSpPr>
        <p:spPr>
          <a:xfrm>
            <a:off x="6017361" y="4271472"/>
            <a:ext cx="367030" cy="21590"/>
          </a:xfrm>
          <a:custGeom>
            <a:avLst/>
            <a:gdLst/>
            <a:ahLst/>
            <a:cxnLst/>
            <a:rect l="l" t="t" r="r" b="b"/>
            <a:pathLst>
              <a:path w="367029" h="21589">
                <a:moveTo>
                  <a:pt x="0" y="21431"/>
                </a:moveTo>
                <a:lnTo>
                  <a:pt x="366831" y="21431"/>
                </a:lnTo>
                <a:lnTo>
                  <a:pt x="366831" y="0"/>
                </a:lnTo>
                <a:lnTo>
                  <a:pt x="0" y="0"/>
                </a:lnTo>
                <a:lnTo>
                  <a:pt x="0" y="21431"/>
                </a:lnTo>
                <a:close/>
              </a:path>
            </a:pathLst>
          </a:custGeom>
          <a:solidFill>
            <a:srgbClr val="941100"/>
          </a:solidFill>
        </p:spPr>
        <p:txBody>
          <a:bodyPr wrap="square" lIns="0" tIns="0" rIns="0" bIns="0" rtlCol="0"/>
          <a:lstStyle/>
          <a:p>
            <a:endParaRPr/>
          </a:p>
        </p:txBody>
      </p:sp>
      <p:sp>
        <p:nvSpPr>
          <p:cNvPr id="32" name="object 34"/>
          <p:cNvSpPr/>
          <p:nvPr/>
        </p:nvSpPr>
        <p:spPr>
          <a:xfrm>
            <a:off x="5833944" y="4378629"/>
            <a:ext cx="734060" cy="579120"/>
          </a:xfrm>
          <a:custGeom>
            <a:avLst/>
            <a:gdLst/>
            <a:ahLst/>
            <a:cxnLst/>
            <a:rect l="l" t="t" r="r" b="b"/>
            <a:pathLst>
              <a:path w="734059" h="579120">
                <a:moveTo>
                  <a:pt x="733662" y="407193"/>
                </a:moveTo>
                <a:lnTo>
                  <a:pt x="550247" y="407193"/>
                </a:lnTo>
                <a:lnTo>
                  <a:pt x="550247" y="0"/>
                </a:lnTo>
                <a:lnTo>
                  <a:pt x="183415" y="0"/>
                </a:lnTo>
                <a:lnTo>
                  <a:pt x="183415" y="407193"/>
                </a:lnTo>
                <a:lnTo>
                  <a:pt x="0" y="407193"/>
                </a:lnTo>
                <a:lnTo>
                  <a:pt x="366831" y="578643"/>
                </a:lnTo>
                <a:lnTo>
                  <a:pt x="733662" y="407193"/>
                </a:lnTo>
                <a:close/>
              </a:path>
            </a:pathLst>
          </a:custGeom>
          <a:ln w="19049">
            <a:solidFill>
              <a:srgbClr val="000000"/>
            </a:solidFill>
          </a:ln>
        </p:spPr>
        <p:txBody>
          <a:bodyPr wrap="square" lIns="0" tIns="0" rIns="0" bIns="0" rtlCol="0"/>
          <a:lstStyle/>
          <a:p>
            <a:endParaRPr/>
          </a:p>
        </p:txBody>
      </p:sp>
      <p:sp>
        <p:nvSpPr>
          <p:cNvPr id="33" name="object 35"/>
          <p:cNvSpPr/>
          <p:nvPr/>
        </p:nvSpPr>
        <p:spPr>
          <a:xfrm>
            <a:off x="6017360" y="4314335"/>
            <a:ext cx="367030" cy="43180"/>
          </a:xfrm>
          <a:custGeom>
            <a:avLst/>
            <a:gdLst/>
            <a:ahLst/>
            <a:cxnLst/>
            <a:rect l="l" t="t" r="r" b="b"/>
            <a:pathLst>
              <a:path w="367029" h="43179">
                <a:moveTo>
                  <a:pt x="366831" y="0"/>
                </a:moveTo>
                <a:lnTo>
                  <a:pt x="0" y="0"/>
                </a:lnTo>
                <a:lnTo>
                  <a:pt x="0" y="42862"/>
                </a:lnTo>
                <a:lnTo>
                  <a:pt x="366831" y="42862"/>
                </a:lnTo>
                <a:lnTo>
                  <a:pt x="366831" y="0"/>
                </a:lnTo>
                <a:close/>
              </a:path>
            </a:pathLst>
          </a:custGeom>
          <a:ln w="19049">
            <a:solidFill>
              <a:srgbClr val="000000"/>
            </a:solidFill>
          </a:ln>
        </p:spPr>
        <p:txBody>
          <a:bodyPr wrap="square" lIns="0" tIns="0" rIns="0" bIns="0" rtlCol="0"/>
          <a:lstStyle/>
          <a:p>
            <a:endParaRPr/>
          </a:p>
        </p:txBody>
      </p:sp>
      <p:sp>
        <p:nvSpPr>
          <p:cNvPr id="34" name="object 36"/>
          <p:cNvSpPr/>
          <p:nvPr/>
        </p:nvSpPr>
        <p:spPr>
          <a:xfrm>
            <a:off x="6007835" y="4261947"/>
            <a:ext cx="386080" cy="40640"/>
          </a:xfrm>
          <a:custGeom>
            <a:avLst/>
            <a:gdLst/>
            <a:ahLst/>
            <a:cxnLst/>
            <a:rect l="l" t="t" r="r" b="b"/>
            <a:pathLst>
              <a:path w="386079" h="40639">
                <a:moveTo>
                  <a:pt x="0" y="40481"/>
                </a:moveTo>
                <a:lnTo>
                  <a:pt x="385881" y="40481"/>
                </a:lnTo>
                <a:lnTo>
                  <a:pt x="385881" y="0"/>
                </a:lnTo>
                <a:lnTo>
                  <a:pt x="0" y="0"/>
                </a:lnTo>
                <a:lnTo>
                  <a:pt x="0" y="40481"/>
                </a:lnTo>
                <a:close/>
              </a:path>
            </a:pathLst>
          </a:custGeom>
          <a:solidFill>
            <a:srgbClr val="000000"/>
          </a:solidFill>
        </p:spPr>
        <p:txBody>
          <a:bodyPr wrap="square" lIns="0" tIns="0" rIns="0" bIns="0" rtlCol="0"/>
          <a:lstStyle/>
          <a:p>
            <a:endParaRPr/>
          </a:p>
        </p:txBody>
      </p:sp>
      <p:sp>
        <p:nvSpPr>
          <p:cNvPr id="35" name="object 38"/>
          <p:cNvSpPr txBox="1"/>
          <p:nvPr/>
        </p:nvSpPr>
        <p:spPr>
          <a:xfrm>
            <a:off x="755016" y="3179882"/>
            <a:ext cx="48450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new()</a:t>
            </a:r>
            <a:endParaRPr sz="1400">
              <a:latin typeface="华文新魏" panose="02010800040101010101" charset="-122"/>
              <a:cs typeface="华文新魏" panose="02010800040101010101" charset="-122"/>
            </a:endParaRPr>
          </a:p>
        </p:txBody>
      </p:sp>
      <p:sp>
        <p:nvSpPr>
          <p:cNvPr id="36" name="object 39"/>
          <p:cNvSpPr/>
          <p:nvPr/>
        </p:nvSpPr>
        <p:spPr>
          <a:xfrm>
            <a:off x="569914" y="2689662"/>
            <a:ext cx="10783886" cy="1228796"/>
          </a:xfrm>
          <a:prstGeom prst="rect">
            <a:avLst/>
          </a:prstGeom>
          <a:blipFill>
            <a:blip r:embed="rId5" cstate="print"/>
            <a:stretch>
              <a:fillRect/>
            </a:stretch>
          </a:blipFill>
        </p:spPr>
        <p:txBody>
          <a:bodyPr wrap="square" lIns="0" tIns="0" rIns="0" bIns="0" rtlCol="0"/>
          <a:lstStyle/>
          <a:p>
            <a:endParaRPr/>
          </a:p>
        </p:txBody>
      </p:sp>
      <p:graphicFrame>
        <p:nvGraphicFramePr>
          <p:cNvPr id="37" name="object 40"/>
          <p:cNvGraphicFramePr>
            <a:graphicFrameLocks noGrp="1"/>
          </p:cNvGraphicFramePr>
          <p:nvPr/>
        </p:nvGraphicFramePr>
        <p:xfrm>
          <a:off x="2002885" y="2770943"/>
          <a:ext cx="8759821" cy="1403400"/>
        </p:xfrm>
        <a:graphic>
          <a:graphicData uri="http://schemas.openxmlformats.org/drawingml/2006/table">
            <a:tbl>
              <a:tblPr firstRow="1" bandRow="1">
                <a:tableStyleId>{2D5ABB26-0587-4C30-8999-92F81FD0307C}</a:tableStyleId>
              </a:tblPr>
              <a:tblGrid>
                <a:gridCol w="782320">
                  <a:extLst>
                    <a:ext uri="{9D8B030D-6E8A-4147-A177-3AD203B41FA5}">
                      <a16:colId xmlns:a16="http://schemas.microsoft.com/office/drawing/2014/main" val="20000"/>
                    </a:ext>
                  </a:extLst>
                </a:gridCol>
                <a:gridCol w="978535">
                  <a:extLst>
                    <a:ext uri="{9D8B030D-6E8A-4147-A177-3AD203B41FA5}">
                      <a16:colId xmlns:a16="http://schemas.microsoft.com/office/drawing/2014/main" val="20001"/>
                    </a:ext>
                  </a:extLst>
                </a:gridCol>
                <a:gridCol w="1093470">
                  <a:extLst>
                    <a:ext uri="{9D8B030D-6E8A-4147-A177-3AD203B41FA5}">
                      <a16:colId xmlns:a16="http://schemas.microsoft.com/office/drawing/2014/main" val="20002"/>
                    </a:ext>
                  </a:extLst>
                </a:gridCol>
                <a:gridCol w="958214">
                  <a:extLst>
                    <a:ext uri="{9D8B030D-6E8A-4147-A177-3AD203B41FA5}">
                      <a16:colId xmlns:a16="http://schemas.microsoft.com/office/drawing/2014/main" val="20003"/>
                    </a:ext>
                  </a:extLst>
                </a:gridCol>
                <a:gridCol w="1101725">
                  <a:extLst>
                    <a:ext uri="{9D8B030D-6E8A-4147-A177-3AD203B41FA5}">
                      <a16:colId xmlns:a16="http://schemas.microsoft.com/office/drawing/2014/main" val="20004"/>
                    </a:ext>
                  </a:extLst>
                </a:gridCol>
                <a:gridCol w="931544">
                  <a:extLst>
                    <a:ext uri="{9D8B030D-6E8A-4147-A177-3AD203B41FA5}">
                      <a16:colId xmlns:a16="http://schemas.microsoft.com/office/drawing/2014/main" val="20005"/>
                    </a:ext>
                  </a:extLst>
                </a:gridCol>
                <a:gridCol w="1101725">
                  <a:extLst>
                    <a:ext uri="{9D8B030D-6E8A-4147-A177-3AD203B41FA5}">
                      <a16:colId xmlns:a16="http://schemas.microsoft.com/office/drawing/2014/main" val="20006"/>
                    </a:ext>
                  </a:extLst>
                </a:gridCol>
                <a:gridCol w="852804">
                  <a:extLst>
                    <a:ext uri="{9D8B030D-6E8A-4147-A177-3AD203B41FA5}">
                      <a16:colId xmlns:a16="http://schemas.microsoft.com/office/drawing/2014/main" val="20007"/>
                    </a:ext>
                  </a:extLst>
                </a:gridCol>
                <a:gridCol w="959484">
                  <a:extLst>
                    <a:ext uri="{9D8B030D-6E8A-4147-A177-3AD203B41FA5}">
                      <a16:colId xmlns:a16="http://schemas.microsoft.com/office/drawing/2014/main" val="20008"/>
                    </a:ext>
                  </a:extLst>
                </a:gridCol>
              </a:tblGrid>
              <a:tr h="1022654">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31750">
                        <a:lnSpc>
                          <a:spcPct val="100000"/>
                        </a:lnSpc>
                      </a:pPr>
                      <a:r>
                        <a:rPr sz="1800" b="1" spc="-5" dirty="0">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a:txBody>
                  <a:tcPr marL="0" marR="0" marT="0" marB="0"/>
                </a:tc>
                <a:tc>
                  <a:txBody>
                    <a:bodyPr/>
                    <a:lstStyle/>
                    <a:p>
                      <a:pPr marL="115570">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328295">
                        <a:lnSpc>
                          <a:spcPct val="100000"/>
                        </a:lnSpc>
                      </a:pPr>
                      <a:r>
                        <a:rPr sz="1800" b="1" spc="-5" dirty="0">
                          <a:latin typeface="华文新魏" panose="02010800040101010101" charset="-122"/>
                          <a:cs typeface="华文新魏" panose="02010800040101010101" charset="-122"/>
                        </a:rPr>
                        <a:t>1</a:t>
                      </a:r>
                      <a:r>
                        <a:rPr sz="1800" b="1" spc="-2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a:t>
                      </a:r>
                      <a:endParaRPr sz="1800">
                        <a:latin typeface="华文新魏" panose="02010800040101010101" charset="-122"/>
                        <a:cs typeface="华文新魏" panose="02010800040101010101" charset="-122"/>
                      </a:endParaRPr>
                    </a:p>
                  </a:txBody>
                  <a:tcPr marL="0" marR="0" marT="0" marB="0"/>
                </a:tc>
                <a:tc>
                  <a:txBody>
                    <a:bodyPr/>
                    <a:lstStyle/>
                    <a:p>
                      <a:pPr marL="177800">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245745">
                        <a:lnSpc>
                          <a:spcPct val="100000"/>
                        </a:lnSpc>
                      </a:pPr>
                      <a:r>
                        <a:rPr sz="1800" b="1" spc="-5" dirty="0">
                          <a:latin typeface="华文新魏" panose="02010800040101010101" charset="-122"/>
                          <a:cs typeface="华文新魏" panose="02010800040101010101" charset="-122"/>
                        </a:rPr>
                        <a:t>2</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marL="150495">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245745">
                        <a:lnSpc>
                          <a:spcPct val="100000"/>
                        </a:lnSpc>
                      </a:pPr>
                      <a:r>
                        <a:rPr sz="1800" b="1" spc="-5" dirty="0">
                          <a:latin typeface="华文新魏" panose="02010800040101010101" charset="-122"/>
                          <a:cs typeface="华文新魏" panose="02010800040101010101" charset="-122"/>
                        </a:rPr>
                        <a:t>3</a:t>
                      </a:r>
                      <a:r>
                        <a:rPr sz="1800" b="1" spc="-3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tc>
                  <a:txBody>
                    <a:bodyPr/>
                    <a:lstStyle/>
                    <a:p>
                      <a:pPr marL="150495">
                        <a:lnSpc>
                          <a:spcPts val="1400"/>
                        </a:lnSpc>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800">
                        <a:latin typeface="Times New Roman" panose="02020603050405020304"/>
                        <a:cs typeface="Times New Roman" panose="02020603050405020304"/>
                      </a:endParaRPr>
                    </a:p>
                    <a:p>
                      <a:pPr>
                        <a:lnSpc>
                          <a:spcPct val="100000"/>
                        </a:lnSpc>
                        <a:spcBef>
                          <a:spcPts val="25"/>
                        </a:spcBef>
                      </a:pPr>
                      <a:endParaRPr sz="1900">
                        <a:latin typeface="Times New Roman" panose="02020603050405020304"/>
                        <a:cs typeface="Times New Roman" panose="02020603050405020304"/>
                      </a:endParaRPr>
                    </a:p>
                    <a:p>
                      <a:pPr marL="222250">
                        <a:lnSpc>
                          <a:spcPct val="100000"/>
                        </a:lnSpc>
                      </a:pPr>
                      <a:r>
                        <a:rPr sz="1800" b="1" spc="-5" dirty="0">
                          <a:latin typeface="华文新魏" panose="02010800040101010101" charset="-122"/>
                          <a:cs typeface="华文新魏" panose="02010800040101010101" charset="-122"/>
                        </a:rPr>
                        <a:t>4</a:t>
                      </a:r>
                      <a:r>
                        <a:rPr sz="1800" b="1" spc="-60"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items</a:t>
                      </a:r>
                      <a:endParaRPr sz="18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0"/>
                  </a:ext>
                </a:extLst>
              </a:tr>
              <a:tr h="380746">
                <a:tc>
                  <a:txBody>
                    <a:bodyPr/>
                    <a:lstStyle/>
                    <a:p>
                      <a:pPr>
                        <a:lnSpc>
                          <a:spcPct val="100000"/>
                        </a:lnSpc>
                      </a:pPr>
                      <a:endParaRPr sz="1800">
                        <a:latin typeface="Times New Roman" panose="02020603050405020304"/>
                        <a:cs typeface="Times New Roman" panose="02020603050405020304"/>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1717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5687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79400">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782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25209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37820">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150495">
                        <a:lnSpc>
                          <a:spcPts val="1630"/>
                        </a:lnSpc>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a:txBody>
                  <a:tcPr marL="0" marR="0" marT="0" marB="0"/>
                </a:tc>
                <a:tc>
                  <a:txBody>
                    <a:bodyPr/>
                    <a:lstStyle/>
                    <a:p>
                      <a:pPr>
                        <a:lnSpc>
                          <a:spcPct val="100000"/>
                        </a:lnSpc>
                      </a:pPr>
                      <a:endParaRPr sz="1100">
                        <a:latin typeface="Times New Roman" panose="02020603050405020304"/>
                        <a:cs typeface="Times New Roman" panose="02020603050405020304"/>
                      </a:endParaRPr>
                    </a:p>
                    <a:p>
                      <a:pPr marL="314325">
                        <a:lnSpc>
                          <a:spcPts val="1630"/>
                        </a:lnSpc>
                      </a:pPr>
                      <a:r>
                        <a:rPr sz="1400" dirty="0">
                          <a:latin typeface="华文新魏" panose="02010800040101010101" charset="-122"/>
                          <a:cs typeface="华文新魏" panose="02010800040101010101" charset="-122"/>
                        </a:rPr>
                        <a:t>Top()</a:t>
                      </a:r>
                      <a:endParaRPr sz="1400">
                        <a:latin typeface="华文新魏" panose="02010800040101010101" charset="-122"/>
                        <a:cs typeface="华文新魏" panose="02010800040101010101" charset="-122"/>
                      </a:endParaRPr>
                    </a:p>
                  </a:txBody>
                  <a:tcPr marL="0" marR="0" marT="0" marB="0"/>
                </a:tc>
                <a:extLst>
                  <a:ext uri="{0D108BD9-81ED-4DB2-BD59-A6C34878D82A}">
                    <a16:rowId xmlns:a16="http://schemas.microsoft.com/office/drawing/2014/main" val="10001"/>
                  </a:ext>
                </a:extLst>
              </a:tr>
            </a:tbl>
          </a:graphicData>
        </a:graphic>
      </p:graphicFrame>
      <p:sp>
        <p:nvSpPr>
          <p:cNvPr id="38" name="object 41"/>
          <p:cNvSpPr txBox="1"/>
          <p:nvPr/>
        </p:nvSpPr>
        <p:spPr>
          <a:xfrm>
            <a:off x="11321415" y="3117971"/>
            <a:ext cx="482600"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华文新魏" panose="02010800040101010101" charset="-122"/>
                <a:cs typeface="华文新魏" panose="02010800040101010101" charset="-122"/>
              </a:rPr>
              <a:t>…</a:t>
            </a:r>
            <a:endParaRPr sz="3600">
              <a:latin typeface="华文新魏" panose="02010800040101010101" charset="-122"/>
              <a:cs typeface="华文新魏" panose="02010800040101010101" charset="-122"/>
            </a:endParaRPr>
          </a:p>
        </p:txBody>
      </p:sp>
      <p:sp>
        <p:nvSpPr>
          <p:cNvPr id="39" name="灯片编号占位符 38"/>
          <p:cNvSpPr>
            <a:spLocks noGrp="1"/>
          </p:cNvSpPr>
          <p:nvPr>
            <p:ph type="sldNum" sz="quarter" idx="12"/>
          </p:nvPr>
        </p:nvSpPr>
        <p:spPr/>
        <p:txBody>
          <a:bodyPr/>
          <a:lstStyle/>
          <a:p>
            <a:fld id="{74D2AB8B-5816-41F2-8B4B-CA5C3E4E6A65}" type="slidenum">
              <a:rPr lang="zh-CN" altLang="en-US" smtClean="0"/>
              <a:t>33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8455"/>
    </mc:Choice>
    <mc:Fallback xmlns="">
      <p:transition spd="slow" advTm="13845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建模什么？</a:t>
            </a:r>
            <a:r>
              <a:rPr lang="en-US" altLang="zh-CN" spc="-5" dirty="0"/>
              <a:t>——</a:t>
            </a:r>
            <a:r>
              <a:rPr lang="zh-CN" altLang="en-US" spc="-5" dirty="0"/>
              <a:t>现实世界还是机器世界</a:t>
            </a:r>
            <a:endParaRPr lang="zh-CN" altLang="en-US" dirty="0"/>
          </a:p>
        </p:txBody>
      </p:sp>
      <p:grpSp>
        <p:nvGrpSpPr>
          <p:cNvPr id="51" name="组合 50"/>
          <p:cNvGrpSpPr/>
          <p:nvPr/>
        </p:nvGrpSpPr>
        <p:grpSpPr>
          <a:xfrm>
            <a:off x="683172" y="1387365"/>
            <a:ext cx="4803226" cy="4937233"/>
            <a:chOff x="789940" y="1056813"/>
            <a:chExt cx="4696458" cy="5267786"/>
          </a:xfrm>
        </p:grpSpPr>
        <p:sp>
          <p:nvSpPr>
            <p:cNvPr id="5" name="object 8"/>
            <p:cNvSpPr/>
            <p:nvPr/>
          </p:nvSpPr>
          <p:spPr>
            <a:xfrm>
              <a:off x="1930400" y="1447801"/>
              <a:ext cx="2641600" cy="1143000"/>
            </a:xfrm>
            <a:custGeom>
              <a:avLst/>
              <a:gdLst/>
              <a:ahLst/>
              <a:cxnLst/>
              <a:rect l="l" t="t" r="r" b="b"/>
              <a:pathLst>
                <a:path w="2641600" h="1143000">
                  <a:moveTo>
                    <a:pt x="0" y="0"/>
                  </a:moveTo>
                  <a:lnTo>
                    <a:pt x="2641598" y="0"/>
                  </a:lnTo>
                  <a:lnTo>
                    <a:pt x="2641598" y="1142998"/>
                  </a:lnTo>
                  <a:lnTo>
                    <a:pt x="0" y="1142998"/>
                  </a:lnTo>
                  <a:lnTo>
                    <a:pt x="0" y="0"/>
                  </a:lnTo>
                  <a:close/>
                </a:path>
              </a:pathLst>
            </a:custGeom>
            <a:solidFill>
              <a:srgbClr val="ECEBEB"/>
            </a:solidFill>
          </p:spPr>
          <p:txBody>
            <a:bodyPr wrap="square" lIns="0" tIns="0" rIns="0" bIns="0" rtlCol="0"/>
            <a:lstStyle/>
            <a:p>
              <a:endParaRPr/>
            </a:p>
          </p:txBody>
        </p:sp>
        <p:sp>
          <p:nvSpPr>
            <p:cNvPr id="6" name="object 9"/>
            <p:cNvSpPr/>
            <p:nvPr/>
          </p:nvSpPr>
          <p:spPr>
            <a:xfrm>
              <a:off x="1930400" y="1447801"/>
              <a:ext cx="2641600" cy="1143000"/>
            </a:xfrm>
            <a:custGeom>
              <a:avLst/>
              <a:gdLst/>
              <a:ahLst/>
              <a:cxnLst/>
              <a:rect l="l" t="t" r="r" b="b"/>
              <a:pathLst>
                <a:path w="2641600" h="1143000">
                  <a:moveTo>
                    <a:pt x="0" y="0"/>
                  </a:moveTo>
                  <a:lnTo>
                    <a:pt x="2641599" y="0"/>
                  </a:lnTo>
                  <a:lnTo>
                    <a:pt x="2641599" y="1142999"/>
                  </a:lnTo>
                  <a:lnTo>
                    <a:pt x="0" y="1142999"/>
                  </a:lnTo>
                  <a:lnTo>
                    <a:pt x="0" y="0"/>
                  </a:lnTo>
                  <a:close/>
                </a:path>
              </a:pathLst>
            </a:custGeom>
            <a:ln w="28574">
              <a:solidFill>
                <a:srgbClr val="000000"/>
              </a:solidFill>
            </a:ln>
          </p:spPr>
          <p:txBody>
            <a:bodyPr wrap="square" lIns="0" tIns="0" rIns="0" bIns="0" rtlCol="0"/>
            <a:lstStyle/>
            <a:p>
              <a:endParaRPr/>
            </a:p>
          </p:txBody>
        </p:sp>
        <p:sp>
          <p:nvSpPr>
            <p:cNvPr id="7" name="object 10"/>
            <p:cNvSpPr txBox="1"/>
            <p:nvPr/>
          </p:nvSpPr>
          <p:spPr>
            <a:xfrm>
              <a:off x="2730500" y="1511301"/>
              <a:ext cx="685165" cy="269240"/>
            </a:xfrm>
            <a:prstGeom prst="rect">
              <a:avLst/>
            </a:prstGeom>
          </p:spPr>
          <p:txBody>
            <a:bodyPr vert="horz" wrap="square" lIns="0" tIns="12700" rIns="0" bIns="0" rtlCol="0">
              <a:spAutoFit/>
            </a:bodyPr>
            <a:lstStyle/>
            <a:p>
              <a:pPr marL="12700">
                <a:lnSpc>
                  <a:spcPct val="100000"/>
                </a:lnSpc>
                <a:spcBef>
                  <a:spcPts val="100"/>
                </a:spcBef>
              </a:pPr>
              <a:r>
                <a:rPr sz="1600" b="1" spc="-5" dirty="0">
                  <a:solidFill>
                    <a:srgbClr val="0000FF"/>
                  </a:solidFill>
                  <a:latin typeface="华文新魏" panose="02010800040101010101" charset="-122"/>
                  <a:cs typeface="华文新魏" panose="02010800040101010101" charset="-122"/>
                </a:rPr>
                <a:t>:person</a:t>
              </a:r>
              <a:endParaRPr sz="1600">
                <a:latin typeface="华文新魏" panose="02010800040101010101" charset="-122"/>
                <a:cs typeface="华文新魏" panose="02010800040101010101" charset="-122"/>
              </a:endParaRPr>
            </a:p>
          </p:txBody>
        </p:sp>
        <p:sp>
          <p:nvSpPr>
            <p:cNvPr id="8" name="object 11"/>
            <p:cNvSpPr txBox="1"/>
            <p:nvPr/>
          </p:nvSpPr>
          <p:spPr>
            <a:xfrm>
              <a:off x="1930400" y="1828800"/>
              <a:ext cx="2641600" cy="381000"/>
            </a:xfrm>
            <a:prstGeom prst="rect">
              <a:avLst/>
            </a:prstGeom>
            <a:solidFill>
              <a:srgbClr val="ECEBEB"/>
            </a:solidFill>
            <a:ln w="28574">
              <a:solidFill>
                <a:srgbClr val="000000"/>
              </a:solidFill>
            </a:ln>
          </p:spPr>
          <p:txBody>
            <a:bodyPr vert="horz" wrap="square" lIns="0" tIns="55880" rIns="0" bIns="0" rtlCol="0">
              <a:spAutoFit/>
            </a:bodyPr>
            <a:lstStyle/>
            <a:p>
              <a:pPr marL="101600">
                <a:lnSpc>
                  <a:spcPct val="100000"/>
                </a:lnSpc>
                <a:spcBef>
                  <a:spcPts val="440"/>
                </a:spcBef>
              </a:pPr>
              <a:r>
                <a:rPr sz="1600" dirty="0">
                  <a:solidFill>
                    <a:srgbClr val="0000FF"/>
                  </a:solidFill>
                  <a:latin typeface="华文新魏" panose="02010800040101010101" charset="-122"/>
                  <a:cs typeface="华文新魏" panose="02010800040101010101" charset="-122"/>
                </a:rPr>
                <a:t>age</a:t>
              </a:r>
              <a:endParaRPr sz="1600">
                <a:latin typeface="华文新魏" panose="02010800040101010101" charset="-122"/>
                <a:cs typeface="华文新魏" panose="02010800040101010101" charset="-122"/>
              </a:endParaRPr>
            </a:p>
          </p:txBody>
        </p:sp>
        <p:sp>
          <p:nvSpPr>
            <p:cNvPr id="9" name="object 12"/>
            <p:cNvSpPr/>
            <p:nvPr/>
          </p:nvSpPr>
          <p:spPr>
            <a:xfrm>
              <a:off x="3195637" y="2814637"/>
              <a:ext cx="212724" cy="161924"/>
            </a:xfrm>
            <a:prstGeom prst="rect">
              <a:avLst/>
            </a:prstGeom>
            <a:blipFill>
              <a:blip r:embed="rId3" cstate="print"/>
              <a:stretch>
                <a:fillRect/>
              </a:stretch>
            </a:blipFill>
          </p:spPr>
          <p:txBody>
            <a:bodyPr wrap="square" lIns="0" tIns="0" rIns="0" bIns="0" rtlCol="0"/>
            <a:lstStyle/>
            <a:p>
              <a:endParaRPr/>
            </a:p>
          </p:txBody>
        </p:sp>
        <p:sp>
          <p:nvSpPr>
            <p:cNvPr id="10" name="object 13"/>
            <p:cNvSpPr/>
            <p:nvPr/>
          </p:nvSpPr>
          <p:spPr>
            <a:xfrm>
              <a:off x="3301999" y="2971801"/>
              <a:ext cx="0" cy="269875"/>
            </a:xfrm>
            <a:custGeom>
              <a:avLst/>
              <a:gdLst/>
              <a:ahLst/>
              <a:cxnLst/>
              <a:rect l="l" t="t" r="r" b="b"/>
              <a:pathLst>
                <a:path h="269875">
                  <a:moveTo>
                    <a:pt x="0" y="0"/>
                  </a:moveTo>
                  <a:lnTo>
                    <a:pt x="0" y="269874"/>
                  </a:lnTo>
                </a:path>
              </a:pathLst>
            </a:custGeom>
            <a:ln w="19049">
              <a:solidFill>
                <a:srgbClr val="000000"/>
              </a:solidFill>
            </a:ln>
          </p:spPr>
          <p:txBody>
            <a:bodyPr wrap="square" lIns="0" tIns="0" rIns="0" bIns="0" rtlCol="0"/>
            <a:lstStyle/>
            <a:p>
              <a:endParaRPr/>
            </a:p>
          </p:txBody>
        </p:sp>
        <p:sp>
          <p:nvSpPr>
            <p:cNvPr id="11" name="object 14"/>
            <p:cNvSpPr/>
            <p:nvPr/>
          </p:nvSpPr>
          <p:spPr>
            <a:xfrm>
              <a:off x="3263898" y="319087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2" name="object 15"/>
            <p:cNvSpPr/>
            <p:nvPr/>
          </p:nvSpPr>
          <p:spPr>
            <a:xfrm>
              <a:off x="3301999" y="3743325"/>
              <a:ext cx="0" cy="717550"/>
            </a:xfrm>
            <a:custGeom>
              <a:avLst/>
              <a:gdLst/>
              <a:ahLst/>
              <a:cxnLst/>
              <a:rect l="l" t="t" r="r" b="b"/>
              <a:pathLst>
                <a:path h="717550">
                  <a:moveTo>
                    <a:pt x="0" y="0"/>
                  </a:moveTo>
                  <a:lnTo>
                    <a:pt x="0" y="717549"/>
                  </a:lnTo>
                </a:path>
              </a:pathLst>
            </a:custGeom>
            <a:ln w="19049">
              <a:solidFill>
                <a:srgbClr val="000000"/>
              </a:solidFill>
            </a:ln>
          </p:spPr>
          <p:txBody>
            <a:bodyPr wrap="square" lIns="0" tIns="0" rIns="0" bIns="0" rtlCol="0"/>
            <a:lstStyle/>
            <a:p>
              <a:endParaRPr/>
            </a:p>
          </p:txBody>
        </p:sp>
        <p:sp>
          <p:nvSpPr>
            <p:cNvPr id="13" name="object 16"/>
            <p:cNvSpPr/>
            <p:nvPr/>
          </p:nvSpPr>
          <p:spPr>
            <a:xfrm>
              <a:off x="3263898" y="4410075"/>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4" name="object 17"/>
            <p:cNvSpPr/>
            <p:nvPr/>
          </p:nvSpPr>
          <p:spPr>
            <a:xfrm>
              <a:off x="3301999" y="4962525"/>
              <a:ext cx="0" cy="641350"/>
            </a:xfrm>
            <a:custGeom>
              <a:avLst/>
              <a:gdLst/>
              <a:ahLst/>
              <a:cxnLst/>
              <a:rect l="l" t="t" r="r" b="b"/>
              <a:pathLst>
                <a:path h="641350">
                  <a:moveTo>
                    <a:pt x="0" y="0"/>
                  </a:moveTo>
                  <a:lnTo>
                    <a:pt x="0" y="641349"/>
                  </a:lnTo>
                </a:path>
              </a:pathLst>
            </a:custGeom>
            <a:ln w="19049">
              <a:solidFill>
                <a:srgbClr val="000000"/>
              </a:solidFill>
            </a:ln>
          </p:spPr>
          <p:txBody>
            <a:bodyPr wrap="square" lIns="0" tIns="0" rIns="0" bIns="0" rtlCol="0"/>
            <a:lstStyle/>
            <a:p>
              <a:endParaRPr/>
            </a:p>
          </p:txBody>
        </p:sp>
        <p:sp>
          <p:nvSpPr>
            <p:cNvPr id="15" name="object 18"/>
            <p:cNvSpPr/>
            <p:nvPr/>
          </p:nvSpPr>
          <p:spPr>
            <a:xfrm>
              <a:off x="3263898" y="5553075"/>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6" name="object 19"/>
            <p:cNvSpPr/>
            <p:nvPr/>
          </p:nvSpPr>
          <p:spPr>
            <a:xfrm>
              <a:off x="4178300" y="4873625"/>
              <a:ext cx="1155700" cy="993775"/>
            </a:xfrm>
            <a:custGeom>
              <a:avLst/>
              <a:gdLst/>
              <a:ahLst/>
              <a:cxnLst/>
              <a:rect l="l" t="t" r="r" b="b"/>
              <a:pathLst>
                <a:path w="1155700" h="993775">
                  <a:moveTo>
                    <a:pt x="0" y="993774"/>
                  </a:moveTo>
                  <a:lnTo>
                    <a:pt x="1155699" y="993774"/>
                  </a:lnTo>
                  <a:lnTo>
                    <a:pt x="1155699" y="0"/>
                  </a:lnTo>
                </a:path>
              </a:pathLst>
            </a:custGeom>
            <a:ln w="19049">
              <a:solidFill>
                <a:srgbClr val="000000"/>
              </a:solidFill>
            </a:ln>
          </p:spPr>
          <p:txBody>
            <a:bodyPr wrap="square" lIns="0" tIns="0" rIns="0" bIns="0" rtlCol="0"/>
            <a:lstStyle/>
            <a:p>
              <a:endParaRPr/>
            </a:p>
          </p:txBody>
        </p:sp>
        <p:sp>
          <p:nvSpPr>
            <p:cNvPr id="17" name="object 20"/>
            <p:cNvSpPr/>
            <p:nvPr/>
          </p:nvSpPr>
          <p:spPr>
            <a:xfrm>
              <a:off x="5295900" y="4848226"/>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18" name="object 21"/>
            <p:cNvSpPr/>
            <p:nvPr/>
          </p:nvSpPr>
          <p:spPr>
            <a:xfrm>
              <a:off x="5227636" y="4643437"/>
              <a:ext cx="212725" cy="161925"/>
            </a:xfrm>
            <a:prstGeom prst="rect">
              <a:avLst/>
            </a:prstGeom>
            <a:blipFill>
              <a:blip r:embed="rId4" cstate="print"/>
              <a:stretch>
                <a:fillRect/>
              </a:stretch>
            </a:blipFill>
          </p:spPr>
          <p:txBody>
            <a:bodyPr wrap="square" lIns="0" tIns="0" rIns="0" bIns="0" rtlCol="0"/>
            <a:lstStyle/>
            <a:p>
              <a:endParaRPr/>
            </a:p>
          </p:txBody>
        </p:sp>
        <p:sp>
          <p:nvSpPr>
            <p:cNvPr id="19" name="object 22"/>
            <p:cNvSpPr/>
            <p:nvPr/>
          </p:nvSpPr>
          <p:spPr>
            <a:xfrm>
              <a:off x="5181598" y="4610100"/>
              <a:ext cx="304800" cy="228600"/>
            </a:xfrm>
            <a:custGeom>
              <a:avLst/>
              <a:gdLst/>
              <a:ahLst/>
              <a:cxnLst/>
              <a:rect l="l" t="t" r="r" b="b"/>
              <a:pathLst>
                <a:path w="304800" h="228600">
                  <a:moveTo>
                    <a:pt x="0" y="114300"/>
                  </a:moveTo>
                  <a:lnTo>
                    <a:pt x="29404" y="46795"/>
                  </a:lnTo>
                  <a:lnTo>
                    <a:pt x="62394" y="22053"/>
                  </a:lnTo>
                  <a:lnTo>
                    <a:pt x="104229" y="5827"/>
                  </a:lnTo>
                  <a:lnTo>
                    <a:pt x="152399" y="0"/>
                  </a:lnTo>
                  <a:lnTo>
                    <a:pt x="200570" y="5827"/>
                  </a:lnTo>
                  <a:lnTo>
                    <a:pt x="242405" y="22053"/>
                  </a:lnTo>
                  <a:lnTo>
                    <a:pt x="275395" y="46795"/>
                  </a:lnTo>
                  <a:lnTo>
                    <a:pt x="297030" y="78172"/>
                  </a:lnTo>
                  <a:lnTo>
                    <a:pt x="304799" y="114300"/>
                  </a:lnTo>
                  <a:lnTo>
                    <a:pt x="297030" y="150427"/>
                  </a:lnTo>
                  <a:lnTo>
                    <a:pt x="275395" y="181804"/>
                  </a:lnTo>
                  <a:lnTo>
                    <a:pt x="242405" y="206546"/>
                  </a:lnTo>
                  <a:lnTo>
                    <a:pt x="200570" y="222772"/>
                  </a:lnTo>
                  <a:lnTo>
                    <a:pt x="152399" y="228599"/>
                  </a:lnTo>
                  <a:lnTo>
                    <a:pt x="104229" y="222772"/>
                  </a:lnTo>
                  <a:lnTo>
                    <a:pt x="62394" y="206546"/>
                  </a:lnTo>
                  <a:lnTo>
                    <a:pt x="29404" y="181804"/>
                  </a:lnTo>
                  <a:lnTo>
                    <a:pt x="7769" y="150427"/>
                  </a:lnTo>
                  <a:lnTo>
                    <a:pt x="0" y="114300"/>
                  </a:lnTo>
                  <a:close/>
                </a:path>
              </a:pathLst>
            </a:custGeom>
            <a:ln w="19049">
              <a:solidFill>
                <a:srgbClr val="000000"/>
              </a:solidFill>
            </a:ln>
          </p:spPr>
          <p:txBody>
            <a:bodyPr wrap="square" lIns="0" tIns="0" rIns="0" bIns="0" rtlCol="0"/>
            <a:lstStyle/>
            <a:p>
              <a:endParaRPr/>
            </a:p>
          </p:txBody>
        </p:sp>
        <p:sp>
          <p:nvSpPr>
            <p:cNvPr id="20" name="object 23"/>
            <p:cNvSpPr/>
            <p:nvPr/>
          </p:nvSpPr>
          <p:spPr>
            <a:xfrm>
              <a:off x="4178298" y="4724400"/>
              <a:ext cx="965200" cy="0"/>
            </a:xfrm>
            <a:custGeom>
              <a:avLst/>
              <a:gdLst/>
              <a:ahLst/>
              <a:cxnLst/>
              <a:rect l="l" t="t" r="r" b="b"/>
              <a:pathLst>
                <a:path w="965200">
                  <a:moveTo>
                    <a:pt x="0" y="0"/>
                  </a:moveTo>
                  <a:lnTo>
                    <a:pt x="965199" y="0"/>
                  </a:lnTo>
                </a:path>
              </a:pathLst>
            </a:custGeom>
            <a:ln w="19049">
              <a:solidFill>
                <a:srgbClr val="000000"/>
              </a:solidFill>
            </a:ln>
          </p:spPr>
          <p:txBody>
            <a:bodyPr wrap="square" lIns="0" tIns="0" rIns="0" bIns="0" rtlCol="0"/>
            <a:lstStyle/>
            <a:p>
              <a:endParaRPr/>
            </a:p>
          </p:txBody>
        </p:sp>
        <p:sp>
          <p:nvSpPr>
            <p:cNvPr id="21" name="object 24"/>
            <p:cNvSpPr/>
            <p:nvPr/>
          </p:nvSpPr>
          <p:spPr>
            <a:xfrm>
              <a:off x="5092698" y="46863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22" name="object 25"/>
            <p:cNvSpPr/>
            <p:nvPr/>
          </p:nvSpPr>
          <p:spPr>
            <a:xfrm>
              <a:off x="4178300" y="3505201"/>
              <a:ext cx="1155700" cy="1069975"/>
            </a:xfrm>
            <a:custGeom>
              <a:avLst/>
              <a:gdLst/>
              <a:ahLst/>
              <a:cxnLst/>
              <a:rect l="l" t="t" r="r" b="b"/>
              <a:pathLst>
                <a:path w="1155700" h="1069975">
                  <a:moveTo>
                    <a:pt x="0" y="0"/>
                  </a:moveTo>
                  <a:lnTo>
                    <a:pt x="1155699" y="0"/>
                  </a:lnTo>
                  <a:lnTo>
                    <a:pt x="1155699" y="1069974"/>
                  </a:lnTo>
                </a:path>
              </a:pathLst>
            </a:custGeom>
            <a:ln w="19049">
              <a:solidFill>
                <a:srgbClr val="000000"/>
              </a:solidFill>
            </a:ln>
          </p:spPr>
          <p:txBody>
            <a:bodyPr wrap="square" lIns="0" tIns="0" rIns="0" bIns="0" rtlCol="0"/>
            <a:lstStyle/>
            <a:p>
              <a:endParaRPr/>
            </a:p>
          </p:txBody>
        </p:sp>
        <p:sp>
          <p:nvSpPr>
            <p:cNvPr id="23" name="object 26"/>
            <p:cNvSpPr/>
            <p:nvPr/>
          </p:nvSpPr>
          <p:spPr>
            <a:xfrm>
              <a:off x="5295900" y="452437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4" name="object 27"/>
            <p:cNvSpPr txBox="1"/>
            <p:nvPr/>
          </p:nvSpPr>
          <p:spPr>
            <a:xfrm>
              <a:off x="1930400" y="2209800"/>
              <a:ext cx="2641600" cy="381000"/>
            </a:xfrm>
            <a:prstGeom prst="rect">
              <a:avLst/>
            </a:prstGeom>
            <a:solidFill>
              <a:srgbClr val="ECEBEB"/>
            </a:solidFill>
            <a:ln w="28574">
              <a:solidFill>
                <a:srgbClr val="000000"/>
              </a:solidFill>
            </a:ln>
          </p:spPr>
          <p:txBody>
            <a:bodyPr vert="horz" wrap="square" lIns="0" tIns="55880" rIns="0" bIns="0" rtlCol="0">
              <a:spAutoFit/>
            </a:bodyPr>
            <a:lstStyle/>
            <a:p>
              <a:pPr marL="101600">
                <a:lnSpc>
                  <a:spcPct val="100000"/>
                </a:lnSpc>
                <a:spcBef>
                  <a:spcPts val="440"/>
                </a:spcBef>
              </a:pPr>
              <a:r>
                <a:rPr sz="1600" spc="-5" dirty="0">
                  <a:solidFill>
                    <a:srgbClr val="0000FF"/>
                  </a:solidFill>
                  <a:latin typeface="华文新魏" panose="02010800040101010101" charset="-122"/>
                  <a:cs typeface="华文新魏" panose="02010800040101010101" charset="-122"/>
                </a:rPr>
                <a:t>havebirthday()</a:t>
              </a:r>
              <a:endParaRPr sz="1600">
                <a:latin typeface="华文新魏" panose="02010800040101010101" charset="-122"/>
                <a:cs typeface="华文新魏" panose="02010800040101010101" charset="-122"/>
              </a:endParaRPr>
            </a:p>
          </p:txBody>
        </p:sp>
        <p:sp>
          <p:nvSpPr>
            <p:cNvPr id="25" name="object 28"/>
            <p:cNvSpPr/>
            <p:nvPr/>
          </p:nvSpPr>
          <p:spPr>
            <a:xfrm>
              <a:off x="2133600" y="3505200"/>
              <a:ext cx="711200" cy="457200"/>
            </a:xfrm>
            <a:custGeom>
              <a:avLst/>
              <a:gdLst/>
              <a:ahLst/>
              <a:cxnLst/>
              <a:rect l="l" t="t" r="r" b="b"/>
              <a:pathLst>
                <a:path w="711200" h="457200">
                  <a:moveTo>
                    <a:pt x="304799" y="0"/>
                  </a:moveTo>
                  <a:lnTo>
                    <a:pt x="0" y="0"/>
                  </a:lnTo>
                  <a:lnTo>
                    <a:pt x="0" y="457199"/>
                  </a:lnTo>
                  <a:lnTo>
                    <a:pt x="711199" y="457199"/>
                  </a:lnTo>
                  <a:lnTo>
                    <a:pt x="711199" y="254000"/>
                  </a:lnTo>
                </a:path>
              </a:pathLst>
            </a:custGeom>
            <a:ln w="19049">
              <a:solidFill>
                <a:srgbClr val="000000"/>
              </a:solidFill>
            </a:ln>
          </p:spPr>
          <p:txBody>
            <a:bodyPr wrap="square" lIns="0" tIns="0" rIns="0" bIns="0" rtlCol="0"/>
            <a:lstStyle/>
            <a:p>
              <a:endParaRPr/>
            </a:p>
          </p:txBody>
        </p:sp>
        <p:sp>
          <p:nvSpPr>
            <p:cNvPr id="26" name="object 29"/>
            <p:cNvSpPr/>
            <p:nvPr/>
          </p:nvSpPr>
          <p:spPr>
            <a:xfrm>
              <a:off x="2806700" y="3733800"/>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27" name="object 30"/>
            <p:cNvSpPr/>
            <p:nvPr/>
          </p:nvSpPr>
          <p:spPr>
            <a:xfrm>
              <a:off x="2438400" y="3276600"/>
              <a:ext cx="1727200" cy="457200"/>
            </a:xfrm>
            <a:custGeom>
              <a:avLst/>
              <a:gdLst/>
              <a:ahLst/>
              <a:cxnLst/>
              <a:rect l="l" t="t" r="r" b="b"/>
              <a:pathLst>
                <a:path w="1727200" h="457200">
                  <a:moveTo>
                    <a:pt x="1650997" y="0"/>
                  </a:moveTo>
                  <a:lnTo>
                    <a:pt x="76201" y="0"/>
                  </a:lnTo>
                  <a:lnTo>
                    <a:pt x="46540" y="5988"/>
                  </a:lnTo>
                  <a:lnTo>
                    <a:pt x="22318" y="22319"/>
                  </a:lnTo>
                  <a:lnTo>
                    <a:pt x="5988" y="46541"/>
                  </a:lnTo>
                  <a:lnTo>
                    <a:pt x="0" y="76202"/>
                  </a:lnTo>
                  <a:lnTo>
                    <a:pt x="0" y="380998"/>
                  </a:lnTo>
                  <a:lnTo>
                    <a:pt x="5988" y="410659"/>
                  </a:lnTo>
                  <a:lnTo>
                    <a:pt x="22318" y="434881"/>
                  </a:lnTo>
                  <a:lnTo>
                    <a:pt x="46540" y="451211"/>
                  </a:lnTo>
                  <a:lnTo>
                    <a:pt x="76201" y="457200"/>
                  </a:lnTo>
                  <a:lnTo>
                    <a:pt x="1650997" y="457200"/>
                  </a:lnTo>
                  <a:lnTo>
                    <a:pt x="1680658" y="451211"/>
                  </a:lnTo>
                  <a:lnTo>
                    <a:pt x="1704880" y="434881"/>
                  </a:lnTo>
                  <a:lnTo>
                    <a:pt x="1721211" y="410659"/>
                  </a:lnTo>
                  <a:lnTo>
                    <a:pt x="1727200" y="380998"/>
                  </a:lnTo>
                  <a:lnTo>
                    <a:pt x="1727200" y="76202"/>
                  </a:lnTo>
                  <a:lnTo>
                    <a:pt x="1721211" y="46541"/>
                  </a:lnTo>
                  <a:lnTo>
                    <a:pt x="1704880" y="22319"/>
                  </a:lnTo>
                  <a:lnTo>
                    <a:pt x="1680658" y="5988"/>
                  </a:lnTo>
                  <a:lnTo>
                    <a:pt x="1650997" y="0"/>
                  </a:lnTo>
                  <a:close/>
                </a:path>
              </a:pathLst>
            </a:custGeom>
            <a:solidFill>
              <a:srgbClr val="ECEBEB"/>
            </a:solidFill>
          </p:spPr>
          <p:txBody>
            <a:bodyPr wrap="square" lIns="0" tIns="0" rIns="0" bIns="0" rtlCol="0"/>
            <a:lstStyle/>
            <a:p>
              <a:endParaRPr/>
            </a:p>
          </p:txBody>
        </p:sp>
        <p:sp>
          <p:nvSpPr>
            <p:cNvPr id="28" name="object 31"/>
            <p:cNvSpPr/>
            <p:nvPr/>
          </p:nvSpPr>
          <p:spPr>
            <a:xfrm>
              <a:off x="2438400" y="3276600"/>
              <a:ext cx="1727200" cy="457200"/>
            </a:xfrm>
            <a:custGeom>
              <a:avLst/>
              <a:gdLst/>
              <a:ahLst/>
              <a:cxnLst/>
              <a:rect l="l" t="t" r="r" b="b"/>
              <a:pathLst>
                <a:path w="1727200" h="457200">
                  <a:moveTo>
                    <a:pt x="0" y="76201"/>
                  </a:moveTo>
                  <a:lnTo>
                    <a:pt x="5988" y="46540"/>
                  </a:lnTo>
                  <a:lnTo>
                    <a:pt x="22319" y="22319"/>
                  </a:lnTo>
                  <a:lnTo>
                    <a:pt x="46540" y="5988"/>
                  </a:lnTo>
                  <a:lnTo>
                    <a:pt x="76201"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29" name="object 32"/>
            <p:cNvSpPr txBox="1"/>
            <p:nvPr/>
          </p:nvSpPr>
          <p:spPr>
            <a:xfrm>
              <a:off x="3047458" y="3355340"/>
              <a:ext cx="49784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child</a:t>
              </a:r>
              <a:endParaRPr sz="1800">
                <a:latin typeface="华文新魏" panose="02010800040101010101" charset="-122"/>
                <a:cs typeface="华文新魏" panose="02010800040101010101" charset="-122"/>
              </a:endParaRPr>
            </a:p>
          </p:txBody>
        </p:sp>
        <p:sp>
          <p:nvSpPr>
            <p:cNvPr id="30" name="object 33"/>
            <p:cNvSpPr/>
            <p:nvPr/>
          </p:nvSpPr>
          <p:spPr>
            <a:xfrm>
              <a:off x="2438400" y="4495800"/>
              <a:ext cx="1727200" cy="457200"/>
            </a:xfrm>
            <a:custGeom>
              <a:avLst/>
              <a:gdLst/>
              <a:ahLst/>
              <a:cxnLst/>
              <a:rect l="l" t="t" r="r" b="b"/>
              <a:pathLst>
                <a:path w="1727200" h="457200">
                  <a:moveTo>
                    <a:pt x="1650997" y="0"/>
                  </a:moveTo>
                  <a:lnTo>
                    <a:pt x="76201" y="0"/>
                  </a:lnTo>
                  <a:lnTo>
                    <a:pt x="46540" y="5988"/>
                  </a:lnTo>
                  <a:lnTo>
                    <a:pt x="22318" y="22319"/>
                  </a:lnTo>
                  <a:lnTo>
                    <a:pt x="5988" y="46541"/>
                  </a:lnTo>
                  <a:lnTo>
                    <a:pt x="0" y="76202"/>
                  </a:lnTo>
                  <a:lnTo>
                    <a:pt x="0" y="380997"/>
                  </a:lnTo>
                  <a:lnTo>
                    <a:pt x="5988" y="410658"/>
                  </a:lnTo>
                  <a:lnTo>
                    <a:pt x="22318" y="434880"/>
                  </a:lnTo>
                  <a:lnTo>
                    <a:pt x="46540" y="451211"/>
                  </a:lnTo>
                  <a:lnTo>
                    <a:pt x="76201" y="457200"/>
                  </a:lnTo>
                  <a:lnTo>
                    <a:pt x="1650997" y="457200"/>
                  </a:lnTo>
                  <a:lnTo>
                    <a:pt x="1680658" y="451211"/>
                  </a:lnTo>
                  <a:lnTo>
                    <a:pt x="1704880" y="434880"/>
                  </a:lnTo>
                  <a:lnTo>
                    <a:pt x="1721211" y="410658"/>
                  </a:lnTo>
                  <a:lnTo>
                    <a:pt x="1727200" y="380997"/>
                  </a:lnTo>
                  <a:lnTo>
                    <a:pt x="1727200" y="76202"/>
                  </a:lnTo>
                  <a:lnTo>
                    <a:pt x="1721211" y="46541"/>
                  </a:lnTo>
                  <a:lnTo>
                    <a:pt x="1704880" y="22319"/>
                  </a:lnTo>
                  <a:lnTo>
                    <a:pt x="1680658" y="5988"/>
                  </a:lnTo>
                  <a:lnTo>
                    <a:pt x="1650997" y="0"/>
                  </a:lnTo>
                  <a:close/>
                </a:path>
              </a:pathLst>
            </a:custGeom>
            <a:solidFill>
              <a:srgbClr val="ECEBEB"/>
            </a:solidFill>
          </p:spPr>
          <p:txBody>
            <a:bodyPr wrap="square" lIns="0" tIns="0" rIns="0" bIns="0" rtlCol="0"/>
            <a:lstStyle/>
            <a:p>
              <a:endParaRPr/>
            </a:p>
          </p:txBody>
        </p:sp>
        <p:sp>
          <p:nvSpPr>
            <p:cNvPr id="31" name="object 34"/>
            <p:cNvSpPr/>
            <p:nvPr/>
          </p:nvSpPr>
          <p:spPr>
            <a:xfrm>
              <a:off x="2438400" y="4495800"/>
              <a:ext cx="1727200" cy="457200"/>
            </a:xfrm>
            <a:custGeom>
              <a:avLst/>
              <a:gdLst/>
              <a:ahLst/>
              <a:cxnLst/>
              <a:rect l="l" t="t" r="r" b="b"/>
              <a:pathLst>
                <a:path w="1727200" h="457200">
                  <a:moveTo>
                    <a:pt x="0" y="76201"/>
                  </a:moveTo>
                  <a:lnTo>
                    <a:pt x="5988" y="46540"/>
                  </a:lnTo>
                  <a:lnTo>
                    <a:pt x="22319" y="22319"/>
                  </a:lnTo>
                  <a:lnTo>
                    <a:pt x="46540" y="5988"/>
                  </a:lnTo>
                  <a:lnTo>
                    <a:pt x="76201"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32" name="object 35"/>
            <p:cNvSpPr txBox="1"/>
            <p:nvPr/>
          </p:nvSpPr>
          <p:spPr>
            <a:xfrm>
              <a:off x="3034758" y="4574540"/>
              <a:ext cx="5314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adult</a:t>
              </a:r>
              <a:endParaRPr sz="1800">
                <a:latin typeface="华文新魏" panose="02010800040101010101" charset="-122"/>
                <a:cs typeface="华文新魏" panose="02010800040101010101" charset="-122"/>
              </a:endParaRPr>
            </a:p>
          </p:txBody>
        </p:sp>
        <p:sp>
          <p:nvSpPr>
            <p:cNvPr id="33" name="object 36"/>
            <p:cNvSpPr/>
            <p:nvPr/>
          </p:nvSpPr>
          <p:spPr>
            <a:xfrm>
              <a:off x="2133600" y="4724400"/>
              <a:ext cx="711200" cy="457200"/>
            </a:xfrm>
            <a:custGeom>
              <a:avLst/>
              <a:gdLst/>
              <a:ahLst/>
              <a:cxnLst/>
              <a:rect l="l" t="t" r="r" b="b"/>
              <a:pathLst>
                <a:path w="711200" h="457200">
                  <a:moveTo>
                    <a:pt x="304799" y="0"/>
                  </a:moveTo>
                  <a:lnTo>
                    <a:pt x="0" y="0"/>
                  </a:lnTo>
                  <a:lnTo>
                    <a:pt x="0" y="457199"/>
                  </a:lnTo>
                  <a:lnTo>
                    <a:pt x="711199" y="457199"/>
                  </a:lnTo>
                  <a:lnTo>
                    <a:pt x="711199" y="254000"/>
                  </a:lnTo>
                </a:path>
              </a:pathLst>
            </a:custGeom>
            <a:ln w="19049">
              <a:solidFill>
                <a:srgbClr val="000000"/>
              </a:solidFill>
            </a:ln>
          </p:spPr>
          <p:txBody>
            <a:bodyPr wrap="square" lIns="0" tIns="0" rIns="0" bIns="0" rtlCol="0"/>
            <a:lstStyle/>
            <a:p>
              <a:endParaRPr/>
            </a:p>
          </p:txBody>
        </p:sp>
        <p:sp>
          <p:nvSpPr>
            <p:cNvPr id="34" name="object 37"/>
            <p:cNvSpPr/>
            <p:nvPr/>
          </p:nvSpPr>
          <p:spPr>
            <a:xfrm>
              <a:off x="2806700" y="4953000"/>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35" name="object 38"/>
            <p:cNvSpPr/>
            <p:nvPr/>
          </p:nvSpPr>
          <p:spPr>
            <a:xfrm>
              <a:off x="2262807" y="5867399"/>
              <a:ext cx="711200" cy="457200"/>
            </a:xfrm>
            <a:custGeom>
              <a:avLst/>
              <a:gdLst/>
              <a:ahLst/>
              <a:cxnLst/>
              <a:rect l="l" t="t" r="r" b="b"/>
              <a:pathLst>
                <a:path w="711200" h="457200">
                  <a:moveTo>
                    <a:pt x="304799" y="0"/>
                  </a:moveTo>
                  <a:lnTo>
                    <a:pt x="0" y="0"/>
                  </a:lnTo>
                  <a:lnTo>
                    <a:pt x="0" y="457199"/>
                  </a:lnTo>
                  <a:lnTo>
                    <a:pt x="711199" y="457199"/>
                  </a:lnTo>
                  <a:lnTo>
                    <a:pt x="711199" y="254000"/>
                  </a:lnTo>
                </a:path>
              </a:pathLst>
            </a:custGeom>
            <a:ln w="19049">
              <a:solidFill>
                <a:srgbClr val="000000"/>
              </a:solidFill>
            </a:ln>
          </p:spPr>
          <p:txBody>
            <a:bodyPr wrap="square" lIns="0" tIns="0" rIns="0" bIns="0" rtlCol="0"/>
            <a:lstStyle/>
            <a:p>
              <a:endParaRPr/>
            </a:p>
          </p:txBody>
        </p:sp>
        <p:sp>
          <p:nvSpPr>
            <p:cNvPr id="36" name="object 39"/>
            <p:cNvSpPr/>
            <p:nvPr/>
          </p:nvSpPr>
          <p:spPr>
            <a:xfrm>
              <a:off x="2935907" y="6095999"/>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37" name="object 40"/>
            <p:cNvSpPr txBox="1"/>
            <p:nvPr/>
          </p:nvSpPr>
          <p:spPr>
            <a:xfrm>
              <a:off x="3329940" y="3843020"/>
              <a:ext cx="1169670" cy="441959"/>
            </a:xfrm>
            <a:prstGeom prst="rect">
              <a:avLst/>
            </a:prstGeom>
          </p:spPr>
          <p:txBody>
            <a:bodyPr vert="horz" wrap="square" lIns="0" tIns="27939" rIns="0" bIns="0" rtlCol="0">
              <a:spAutoFit/>
            </a:bodyPr>
            <a:lstStyle/>
            <a:p>
              <a:pPr marL="12700" marR="5080">
                <a:lnSpc>
                  <a:spcPts val="1600"/>
                </a:lnSpc>
                <a:spcBef>
                  <a:spcPts val="220"/>
                </a:spcBef>
              </a:pPr>
              <a:r>
                <a:rPr sz="1400" dirty="0">
                  <a:latin typeface="华文新魏" panose="02010800040101010101" charset="-122"/>
                  <a:cs typeface="华文新魏" panose="02010800040101010101" charset="-122"/>
                </a:rPr>
                <a:t>havebirthda</a:t>
              </a:r>
              <a:r>
                <a:rPr sz="1400" spc="-5" dirty="0">
                  <a:latin typeface="华文新魏" panose="02010800040101010101" charset="-122"/>
                  <a:cs typeface="华文新魏" panose="02010800040101010101" charset="-122"/>
                </a:rPr>
                <a:t>y</a:t>
              </a:r>
              <a:r>
                <a:rPr sz="1400" dirty="0">
                  <a:latin typeface="华文新魏" panose="02010800040101010101" charset="-122"/>
                  <a:cs typeface="华文新魏" panose="02010800040101010101" charset="-122"/>
                </a:rPr>
                <a:t>()  [age =</a:t>
              </a:r>
              <a:r>
                <a:rPr sz="1400" spc="-20" dirty="0">
                  <a:latin typeface="华文新魏" panose="02010800040101010101" charset="-122"/>
                  <a:cs typeface="华文新魏" panose="02010800040101010101" charset="-122"/>
                </a:rPr>
                <a:t> </a:t>
              </a:r>
              <a:r>
                <a:rPr sz="1400" dirty="0">
                  <a:latin typeface="华文新魏" panose="02010800040101010101" charset="-122"/>
                  <a:cs typeface="华文新魏" panose="02010800040101010101" charset="-122"/>
                </a:rPr>
                <a:t>18]</a:t>
              </a:r>
              <a:endParaRPr sz="1400">
                <a:latin typeface="华文新魏" panose="02010800040101010101" charset="-122"/>
                <a:cs typeface="华文新魏" panose="02010800040101010101" charset="-122"/>
              </a:endParaRPr>
            </a:p>
          </p:txBody>
        </p:sp>
        <p:sp>
          <p:nvSpPr>
            <p:cNvPr id="38" name="object 41"/>
            <p:cNvSpPr txBox="1"/>
            <p:nvPr/>
          </p:nvSpPr>
          <p:spPr>
            <a:xfrm>
              <a:off x="3329940" y="5062221"/>
              <a:ext cx="1169670" cy="441959"/>
            </a:xfrm>
            <a:prstGeom prst="rect">
              <a:avLst/>
            </a:prstGeom>
          </p:spPr>
          <p:txBody>
            <a:bodyPr vert="horz" wrap="square" lIns="0" tIns="27939" rIns="0" bIns="0" rtlCol="0">
              <a:spAutoFit/>
            </a:bodyPr>
            <a:lstStyle/>
            <a:p>
              <a:pPr marL="12700" marR="5080">
                <a:lnSpc>
                  <a:spcPts val="1600"/>
                </a:lnSpc>
                <a:spcBef>
                  <a:spcPts val="220"/>
                </a:spcBef>
              </a:pPr>
              <a:r>
                <a:rPr sz="1400" dirty="0">
                  <a:latin typeface="华文新魏" panose="02010800040101010101" charset="-122"/>
                  <a:cs typeface="华文新魏" panose="02010800040101010101" charset="-122"/>
                </a:rPr>
                <a:t>havebirthda</a:t>
              </a:r>
              <a:r>
                <a:rPr sz="1400" spc="-5" dirty="0">
                  <a:latin typeface="华文新魏" panose="02010800040101010101" charset="-122"/>
                  <a:cs typeface="华文新魏" panose="02010800040101010101" charset="-122"/>
                </a:rPr>
                <a:t>y</a:t>
              </a:r>
              <a:r>
                <a:rPr sz="1400" dirty="0">
                  <a:latin typeface="华文新魏" panose="02010800040101010101" charset="-122"/>
                  <a:cs typeface="华文新魏" panose="02010800040101010101" charset="-122"/>
                </a:rPr>
                <a:t>()  [age =</a:t>
              </a:r>
              <a:r>
                <a:rPr sz="1400" spc="-25" dirty="0">
                  <a:latin typeface="华文新魏" panose="02010800040101010101" charset="-122"/>
                  <a:cs typeface="华文新魏" panose="02010800040101010101" charset="-122"/>
                </a:rPr>
                <a:t> </a:t>
              </a:r>
              <a:r>
                <a:rPr sz="1400" dirty="0">
                  <a:latin typeface="华文新魏" panose="02010800040101010101" charset="-122"/>
                  <a:cs typeface="华文新魏" panose="02010800040101010101" charset="-122"/>
                </a:rPr>
                <a:t>65]</a:t>
              </a:r>
              <a:endParaRPr sz="1400">
                <a:latin typeface="华文新魏" panose="02010800040101010101" charset="-122"/>
                <a:cs typeface="华文新魏" panose="02010800040101010101" charset="-122"/>
              </a:endParaRPr>
            </a:p>
          </p:txBody>
        </p:sp>
        <p:sp>
          <p:nvSpPr>
            <p:cNvPr id="39" name="object 42"/>
            <p:cNvSpPr txBox="1"/>
            <p:nvPr/>
          </p:nvSpPr>
          <p:spPr>
            <a:xfrm>
              <a:off x="789940" y="3233421"/>
              <a:ext cx="1169670" cy="441959"/>
            </a:xfrm>
            <a:prstGeom prst="rect">
              <a:avLst/>
            </a:prstGeom>
          </p:spPr>
          <p:txBody>
            <a:bodyPr vert="horz" wrap="square" lIns="0" tIns="27939" rIns="0" bIns="0" rtlCol="0">
              <a:spAutoFit/>
            </a:bodyPr>
            <a:lstStyle/>
            <a:p>
              <a:pPr marL="12700" marR="5080">
                <a:lnSpc>
                  <a:spcPts val="1600"/>
                </a:lnSpc>
                <a:spcBef>
                  <a:spcPts val="220"/>
                </a:spcBef>
              </a:pPr>
              <a:r>
                <a:rPr sz="1400" dirty="0">
                  <a:latin typeface="华文新魏" panose="02010800040101010101" charset="-122"/>
                  <a:cs typeface="华文新魏" panose="02010800040101010101" charset="-122"/>
                </a:rPr>
                <a:t>havebirthda</a:t>
              </a:r>
              <a:r>
                <a:rPr sz="1400" spc="-5" dirty="0">
                  <a:latin typeface="华文新魏" panose="02010800040101010101" charset="-122"/>
                  <a:cs typeface="华文新魏" panose="02010800040101010101" charset="-122"/>
                </a:rPr>
                <a:t>y</a:t>
              </a:r>
              <a:r>
                <a:rPr sz="1400" dirty="0">
                  <a:latin typeface="华文新魏" panose="02010800040101010101" charset="-122"/>
                  <a:cs typeface="华文新魏" panose="02010800040101010101" charset="-122"/>
                </a:rPr>
                <a:t>()  [age &lt;</a:t>
              </a:r>
              <a:r>
                <a:rPr sz="1400" spc="-20" dirty="0">
                  <a:latin typeface="华文新魏" panose="02010800040101010101" charset="-122"/>
                  <a:cs typeface="华文新魏" panose="02010800040101010101" charset="-122"/>
                </a:rPr>
                <a:t> </a:t>
              </a:r>
              <a:r>
                <a:rPr sz="1400" dirty="0">
                  <a:latin typeface="华文新魏" panose="02010800040101010101" charset="-122"/>
                  <a:cs typeface="华文新魏" panose="02010800040101010101" charset="-122"/>
                </a:rPr>
                <a:t>18]</a:t>
              </a:r>
              <a:endParaRPr sz="1400">
                <a:latin typeface="华文新魏" panose="02010800040101010101" charset="-122"/>
                <a:cs typeface="华文新魏" panose="02010800040101010101" charset="-122"/>
              </a:endParaRPr>
            </a:p>
          </p:txBody>
        </p:sp>
        <p:sp>
          <p:nvSpPr>
            <p:cNvPr id="40" name="object 43"/>
            <p:cNvSpPr txBox="1"/>
            <p:nvPr/>
          </p:nvSpPr>
          <p:spPr>
            <a:xfrm>
              <a:off x="789940" y="4452621"/>
              <a:ext cx="1169670" cy="441959"/>
            </a:xfrm>
            <a:prstGeom prst="rect">
              <a:avLst/>
            </a:prstGeom>
          </p:spPr>
          <p:txBody>
            <a:bodyPr vert="horz" wrap="square" lIns="0" tIns="27939" rIns="0" bIns="0" rtlCol="0">
              <a:spAutoFit/>
            </a:bodyPr>
            <a:lstStyle/>
            <a:p>
              <a:pPr marL="12700" marR="5080">
                <a:lnSpc>
                  <a:spcPts val="1600"/>
                </a:lnSpc>
                <a:spcBef>
                  <a:spcPts val="220"/>
                </a:spcBef>
              </a:pPr>
              <a:r>
                <a:rPr sz="1400" dirty="0">
                  <a:latin typeface="华文新魏" panose="02010800040101010101" charset="-122"/>
                  <a:cs typeface="华文新魏" panose="02010800040101010101" charset="-122"/>
                </a:rPr>
                <a:t>havebirthda</a:t>
              </a:r>
              <a:r>
                <a:rPr sz="1400" spc="-5" dirty="0">
                  <a:latin typeface="华文新魏" panose="02010800040101010101" charset="-122"/>
                  <a:cs typeface="华文新魏" panose="02010800040101010101" charset="-122"/>
                </a:rPr>
                <a:t>y</a:t>
              </a:r>
              <a:r>
                <a:rPr sz="1400" dirty="0">
                  <a:latin typeface="华文新魏" panose="02010800040101010101" charset="-122"/>
                  <a:cs typeface="华文新魏" panose="02010800040101010101" charset="-122"/>
                </a:rPr>
                <a:t>()  [age &lt;</a:t>
              </a:r>
              <a:r>
                <a:rPr sz="1400" spc="-25" dirty="0">
                  <a:latin typeface="华文新魏" panose="02010800040101010101" charset="-122"/>
                  <a:cs typeface="华文新魏" panose="02010800040101010101" charset="-122"/>
                </a:rPr>
                <a:t> </a:t>
              </a:r>
              <a:r>
                <a:rPr sz="1400" dirty="0">
                  <a:latin typeface="华文新魏" panose="02010800040101010101" charset="-122"/>
                  <a:cs typeface="华文新魏" panose="02010800040101010101" charset="-122"/>
                </a:rPr>
                <a:t>65]</a:t>
              </a:r>
              <a:endParaRPr sz="1400">
                <a:latin typeface="华文新魏" panose="02010800040101010101" charset="-122"/>
                <a:cs typeface="华文新魏" panose="02010800040101010101" charset="-122"/>
              </a:endParaRPr>
            </a:p>
          </p:txBody>
        </p:sp>
        <p:sp>
          <p:nvSpPr>
            <p:cNvPr id="41" name="object 44"/>
            <p:cNvSpPr txBox="1"/>
            <p:nvPr/>
          </p:nvSpPr>
          <p:spPr>
            <a:xfrm>
              <a:off x="789940" y="5595620"/>
              <a:ext cx="116967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华文新魏" panose="02010800040101010101" charset="-122"/>
                  <a:cs typeface="华文新魏" panose="02010800040101010101" charset="-122"/>
                </a:rPr>
                <a:t>havebirthday()</a:t>
              </a:r>
              <a:endParaRPr sz="1400">
                <a:latin typeface="华文新魏" panose="02010800040101010101" charset="-122"/>
                <a:cs typeface="华文新魏" panose="02010800040101010101" charset="-122"/>
              </a:endParaRPr>
            </a:p>
          </p:txBody>
        </p:sp>
        <p:sp>
          <p:nvSpPr>
            <p:cNvPr id="42" name="object 89"/>
            <p:cNvSpPr/>
            <p:nvPr/>
          </p:nvSpPr>
          <p:spPr>
            <a:xfrm>
              <a:off x="4280065" y="1056813"/>
              <a:ext cx="260350" cy="520065"/>
            </a:xfrm>
            <a:custGeom>
              <a:avLst/>
              <a:gdLst/>
              <a:ahLst/>
              <a:cxnLst/>
              <a:rect l="l" t="t" r="r" b="b"/>
              <a:pathLst>
                <a:path w="260350" h="520065">
                  <a:moveTo>
                    <a:pt x="130175" y="0"/>
                  </a:moveTo>
                  <a:lnTo>
                    <a:pt x="72927" y="26416"/>
                  </a:lnTo>
                  <a:lnTo>
                    <a:pt x="48757" y="57096"/>
                  </a:lnTo>
                  <a:lnTo>
                    <a:pt x="28598" y="97344"/>
                  </a:lnTo>
                  <a:lnTo>
                    <a:pt x="13231" y="145601"/>
                  </a:lnTo>
                  <a:lnTo>
                    <a:pt x="3438" y="200305"/>
                  </a:lnTo>
                  <a:lnTo>
                    <a:pt x="0" y="259897"/>
                  </a:lnTo>
                  <a:lnTo>
                    <a:pt x="3438" y="319489"/>
                  </a:lnTo>
                  <a:lnTo>
                    <a:pt x="13231" y="374193"/>
                  </a:lnTo>
                  <a:lnTo>
                    <a:pt x="28598" y="422449"/>
                  </a:lnTo>
                  <a:lnTo>
                    <a:pt x="48757" y="462698"/>
                  </a:lnTo>
                  <a:lnTo>
                    <a:pt x="72927" y="493378"/>
                  </a:lnTo>
                  <a:lnTo>
                    <a:pt x="130175" y="519794"/>
                  </a:lnTo>
                  <a:lnTo>
                    <a:pt x="160023" y="512930"/>
                  </a:lnTo>
                  <a:lnTo>
                    <a:pt x="211593" y="462698"/>
                  </a:lnTo>
                  <a:lnTo>
                    <a:pt x="231752" y="422449"/>
                  </a:lnTo>
                  <a:lnTo>
                    <a:pt x="247119" y="374193"/>
                  </a:lnTo>
                  <a:lnTo>
                    <a:pt x="256912" y="319489"/>
                  </a:lnTo>
                  <a:lnTo>
                    <a:pt x="260350" y="259897"/>
                  </a:lnTo>
                  <a:lnTo>
                    <a:pt x="256912" y="200305"/>
                  </a:lnTo>
                  <a:lnTo>
                    <a:pt x="247119" y="145601"/>
                  </a:lnTo>
                  <a:lnTo>
                    <a:pt x="231752" y="97344"/>
                  </a:lnTo>
                  <a:lnTo>
                    <a:pt x="211593" y="57096"/>
                  </a:lnTo>
                  <a:lnTo>
                    <a:pt x="187423" y="26416"/>
                  </a:lnTo>
                  <a:lnTo>
                    <a:pt x="130175" y="0"/>
                  </a:lnTo>
                  <a:close/>
                </a:path>
              </a:pathLst>
            </a:custGeom>
            <a:solidFill>
              <a:srgbClr val="941100"/>
            </a:solidFill>
          </p:spPr>
          <p:txBody>
            <a:bodyPr wrap="square" lIns="0" tIns="0" rIns="0" bIns="0" rtlCol="0"/>
            <a:lstStyle/>
            <a:p>
              <a:endParaRPr/>
            </a:p>
          </p:txBody>
        </p:sp>
        <p:sp>
          <p:nvSpPr>
            <p:cNvPr id="43" name="object 90"/>
            <p:cNvSpPr/>
            <p:nvPr/>
          </p:nvSpPr>
          <p:spPr>
            <a:xfrm>
              <a:off x="4280065" y="1056814"/>
              <a:ext cx="260350" cy="520065"/>
            </a:xfrm>
            <a:custGeom>
              <a:avLst/>
              <a:gdLst/>
              <a:ahLst/>
              <a:cxnLst/>
              <a:rect l="l" t="t" r="r" b="b"/>
              <a:pathLst>
                <a:path w="260350" h="520065">
                  <a:moveTo>
                    <a:pt x="0" y="259896"/>
                  </a:moveTo>
                  <a:lnTo>
                    <a:pt x="3438" y="200304"/>
                  </a:lnTo>
                  <a:lnTo>
                    <a:pt x="13231" y="145600"/>
                  </a:lnTo>
                  <a:lnTo>
                    <a:pt x="28597" y="97344"/>
                  </a:lnTo>
                  <a:lnTo>
                    <a:pt x="48757" y="57096"/>
                  </a:lnTo>
                  <a:lnTo>
                    <a:pt x="72927" y="26416"/>
                  </a:lnTo>
                  <a:lnTo>
                    <a:pt x="130175" y="0"/>
                  </a:lnTo>
                  <a:lnTo>
                    <a:pt x="160022" y="6864"/>
                  </a:lnTo>
                  <a:lnTo>
                    <a:pt x="211592" y="57096"/>
                  </a:lnTo>
                  <a:lnTo>
                    <a:pt x="231752" y="97344"/>
                  </a:lnTo>
                  <a:lnTo>
                    <a:pt x="247118" y="145600"/>
                  </a:lnTo>
                  <a:lnTo>
                    <a:pt x="256911" y="200304"/>
                  </a:lnTo>
                  <a:lnTo>
                    <a:pt x="260349" y="259896"/>
                  </a:lnTo>
                  <a:lnTo>
                    <a:pt x="256911" y="319488"/>
                  </a:lnTo>
                  <a:lnTo>
                    <a:pt x="247118" y="374192"/>
                  </a:lnTo>
                  <a:lnTo>
                    <a:pt x="231752" y="422449"/>
                  </a:lnTo>
                  <a:lnTo>
                    <a:pt x="211592" y="462697"/>
                  </a:lnTo>
                  <a:lnTo>
                    <a:pt x="187422" y="493377"/>
                  </a:lnTo>
                  <a:lnTo>
                    <a:pt x="130175" y="519793"/>
                  </a:lnTo>
                  <a:lnTo>
                    <a:pt x="100327" y="512929"/>
                  </a:lnTo>
                  <a:lnTo>
                    <a:pt x="48757" y="462697"/>
                  </a:lnTo>
                  <a:lnTo>
                    <a:pt x="28597" y="422449"/>
                  </a:lnTo>
                  <a:lnTo>
                    <a:pt x="13231" y="374192"/>
                  </a:lnTo>
                  <a:lnTo>
                    <a:pt x="3438" y="319488"/>
                  </a:lnTo>
                  <a:lnTo>
                    <a:pt x="0" y="259896"/>
                  </a:lnTo>
                  <a:close/>
                </a:path>
              </a:pathLst>
            </a:custGeom>
            <a:ln w="28574">
              <a:solidFill>
                <a:srgbClr val="000000"/>
              </a:solidFill>
            </a:ln>
          </p:spPr>
          <p:txBody>
            <a:bodyPr wrap="square" lIns="0" tIns="0" rIns="0" bIns="0" rtlCol="0"/>
            <a:lstStyle/>
            <a:p>
              <a:endParaRPr/>
            </a:p>
          </p:txBody>
        </p:sp>
        <p:sp>
          <p:nvSpPr>
            <p:cNvPr id="44" name="object 91"/>
            <p:cNvSpPr/>
            <p:nvPr/>
          </p:nvSpPr>
          <p:spPr>
            <a:xfrm>
              <a:off x="4252382" y="1660489"/>
              <a:ext cx="304800" cy="0"/>
            </a:xfrm>
            <a:custGeom>
              <a:avLst/>
              <a:gdLst/>
              <a:ahLst/>
              <a:cxnLst/>
              <a:rect l="l" t="t" r="r" b="b"/>
              <a:pathLst>
                <a:path w="304800">
                  <a:moveTo>
                    <a:pt x="304799" y="0"/>
                  </a:moveTo>
                  <a:lnTo>
                    <a:pt x="0" y="1"/>
                  </a:lnTo>
                </a:path>
              </a:pathLst>
            </a:custGeom>
            <a:ln w="28574">
              <a:solidFill>
                <a:srgbClr val="000000"/>
              </a:solidFill>
            </a:ln>
          </p:spPr>
          <p:txBody>
            <a:bodyPr wrap="square" lIns="0" tIns="0" rIns="0" bIns="0" rtlCol="0"/>
            <a:lstStyle/>
            <a:p>
              <a:endParaRPr/>
            </a:p>
          </p:txBody>
        </p:sp>
        <p:sp>
          <p:nvSpPr>
            <p:cNvPr id="45" name="object 92"/>
            <p:cNvSpPr/>
            <p:nvPr/>
          </p:nvSpPr>
          <p:spPr>
            <a:xfrm>
              <a:off x="4396398" y="1573403"/>
              <a:ext cx="0" cy="87630"/>
            </a:xfrm>
            <a:custGeom>
              <a:avLst/>
              <a:gdLst/>
              <a:ahLst/>
              <a:cxnLst/>
              <a:rect l="l" t="t" r="r" b="b"/>
              <a:pathLst>
                <a:path h="87630">
                  <a:moveTo>
                    <a:pt x="1" y="87086"/>
                  </a:moveTo>
                  <a:lnTo>
                    <a:pt x="0" y="0"/>
                  </a:lnTo>
                </a:path>
              </a:pathLst>
            </a:custGeom>
            <a:ln w="28574">
              <a:solidFill>
                <a:srgbClr val="000000"/>
              </a:solidFill>
            </a:ln>
          </p:spPr>
          <p:txBody>
            <a:bodyPr wrap="square" lIns="0" tIns="0" rIns="0" bIns="0" rtlCol="0"/>
            <a:lstStyle/>
            <a:p>
              <a:endParaRPr/>
            </a:p>
          </p:txBody>
        </p:sp>
        <p:sp>
          <p:nvSpPr>
            <p:cNvPr id="46" name="object 93"/>
            <p:cNvSpPr/>
            <p:nvPr/>
          </p:nvSpPr>
          <p:spPr>
            <a:xfrm>
              <a:off x="4320199" y="1673876"/>
              <a:ext cx="76200" cy="130810"/>
            </a:xfrm>
            <a:custGeom>
              <a:avLst/>
              <a:gdLst/>
              <a:ahLst/>
              <a:cxnLst/>
              <a:rect l="l" t="t" r="r" b="b"/>
              <a:pathLst>
                <a:path w="76200" h="130810">
                  <a:moveTo>
                    <a:pt x="76199" y="0"/>
                  </a:moveTo>
                  <a:lnTo>
                    <a:pt x="0" y="130628"/>
                  </a:lnTo>
                </a:path>
              </a:pathLst>
            </a:custGeom>
            <a:ln w="28574">
              <a:solidFill>
                <a:srgbClr val="000000"/>
              </a:solidFill>
            </a:ln>
          </p:spPr>
          <p:txBody>
            <a:bodyPr wrap="square" lIns="0" tIns="0" rIns="0" bIns="0" rtlCol="0"/>
            <a:lstStyle/>
            <a:p>
              <a:endParaRPr/>
            </a:p>
          </p:txBody>
        </p:sp>
        <p:sp>
          <p:nvSpPr>
            <p:cNvPr id="47" name="object 94"/>
            <p:cNvSpPr/>
            <p:nvPr/>
          </p:nvSpPr>
          <p:spPr>
            <a:xfrm>
              <a:off x="4396399" y="1673877"/>
              <a:ext cx="76200" cy="130810"/>
            </a:xfrm>
            <a:custGeom>
              <a:avLst/>
              <a:gdLst/>
              <a:ahLst/>
              <a:cxnLst/>
              <a:rect l="l" t="t" r="r" b="b"/>
              <a:pathLst>
                <a:path w="76200" h="130810">
                  <a:moveTo>
                    <a:pt x="76199" y="130628"/>
                  </a:moveTo>
                  <a:lnTo>
                    <a:pt x="0" y="0"/>
                  </a:lnTo>
                </a:path>
              </a:pathLst>
            </a:custGeom>
            <a:ln w="28574">
              <a:solidFill>
                <a:srgbClr val="000000"/>
              </a:solidFill>
            </a:ln>
          </p:spPr>
          <p:txBody>
            <a:bodyPr wrap="square" lIns="0" tIns="0" rIns="0" bIns="0" rtlCol="0"/>
            <a:lstStyle/>
            <a:p>
              <a:endParaRPr/>
            </a:p>
          </p:txBody>
        </p:sp>
        <p:sp>
          <p:nvSpPr>
            <p:cNvPr id="48" name="object 95"/>
            <p:cNvSpPr/>
            <p:nvPr/>
          </p:nvSpPr>
          <p:spPr>
            <a:xfrm>
              <a:off x="2590800" y="5661247"/>
              <a:ext cx="1727200" cy="457200"/>
            </a:xfrm>
            <a:custGeom>
              <a:avLst/>
              <a:gdLst/>
              <a:ahLst/>
              <a:cxnLst/>
              <a:rect l="l" t="t" r="r" b="b"/>
              <a:pathLst>
                <a:path w="1727200" h="457200">
                  <a:moveTo>
                    <a:pt x="1650997" y="0"/>
                  </a:moveTo>
                  <a:lnTo>
                    <a:pt x="76201" y="0"/>
                  </a:lnTo>
                  <a:lnTo>
                    <a:pt x="46540" y="5988"/>
                  </a:lnTo>
                  <a:lnTo>
                    <a:pt x="22318" y="22319"/>
                  </a:lnTo>
                  <a:lnTo>
                    <a:pt x="5988" y="46540"/>
                  </a:lnTo>
                  <a:lnTo>
                    <a:pt x="0" y="76202"/>
                  </a:lnTo>
                  <a:lnTo>
                    <a:pt x="0" y="380997"/>
                  </a:lnTo>
                  <a:lnTo>
                    <a:pt x="5988" y="410659"/>
                  </a:lnTo>
                  <a:lnTo>
                    <a:pt x="22318" y="434880"/>
                  </a:lnTo>
                  <a:lnTo>
                    <a:pt x="46540" y="451211"/>
                  </a:lnTo>
                  <a:lnTo>
                    <a:pt x="76201" y="457199"/>
                  </a:lnTo>
                  <a:lnTo>
                    <a:pt x="1650997" y="457199"/>
                  </a:lnTo>
                  <a:lnTo>
                    <a:pt x="1680658" y="451211"/>
                  </a:lnTo>
                  <a:lnTo>
                    <a:pt x="1704880" y="434880"/>
                  </a:lnTo>
                  <a:lnTo>
                    <a:pt x="1721210" y="410659"/>
                  </a:lnTo>
                  <a:lnTo>
                    <a:pt x="1727198" y="380997"/>
                  </a:lnTo>
                  <a:lnTo>
                    <a:pt x="1727198" y="76202"/>
                  </a:lnTo>
                  <a:lnTo>
                    <a:pt x="1721210" y="46540"/>
                  </a:lnTo>
                  <a:lnTo>
                    <a:pt x="1704880" y="22319"/>
                  </a:lnTo>
                  <a:lnTo>
                    <a:pt x="1680658" y="5988"/>
                  </a:lnTo>
                  <a:lnTo>
                    <a:pt x="1650997" y="0"/>
                  </a:lnTo>
                  <a:close/>
                </a:path>
              </a:pathLst>
            </a:custGeom>
            <a:solidFill>
              <a:srgbClr val="ECEBEB"/>
            </a:solidFill>
          </p:spPr>
          <p:txBody>
            <a:bodyPr wrap="square" lIns="0" tIns="0" rIns="0" bIns="0" rtlCol="0"/>
            <a:lstStyle/>
            <a:p>
              <a:endParaRPr/>
            </a:p>
          </p:txBody>
        </p:sp>
        <p:sp>
          <p:nvSpPr>
            <p:cNvPr id="49" name="object 96"/>
            <p:cNvSpPr/>
            <p:nvPr/>
          </p:nvSpPr>
          <p:spPr>
            <a:xfrm>
              <a:off x="2590800" y="5661247"/>
              <a:ext cx="1727200" cy="457200"/>
            </a:xfrm>
            <a:custGeom>
              <a:avLst/>
              <a:gdLst/>
              <a:ahLst/>
              <a:cxnLst/>
              <a:rect l="l" t="t" r="r" b="b"/>
              <a:pathLst>
                <a:path w="1727200" h="457200">
                  <a:moveTo>
                    <a:pt x="0" y="76202"/>
                  </a:moveTo>
                  <a:lnTo>
                    <a:pt x="5988" y="46540"/>
                  </a:lnTo>
                  <a:lnTo>
                    <a:pt x="22319" y="22319"/>
                  </a:lnTo>
                  <a:lnTo>
                    <a:pt x="46540" y="5988"/>
                  </a:lnTo>
                  <a:lnTo>
                    <a:pt x="76201" y="0"/>
                  </a:lnTo>
                  <a:lnTo>
                    <a:pt x="1650997" y="0"/>
                  </a:lnTo>
                  <a:lnTo>
                    <a:pt x="1680658" y="5988"/>
                  </a:lnTo>
                  <a:lnTo>
                    <a:pt x="1704880" y="22319"/>
                  </a:lnTo>
                  <a:lnTo>
                    <a:pt x="1721211" y="46540"/>
                  </a:lnTo>
                  <a:lnTo>
                    <a:pt x="1727199" y="76202"/>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2"/>
                  </a:lnTo>
                  <a:close/>
                </a:path>
              </a:pathLst>
            </a:custGeom>
            <a:ln w="19049">
              <a:solidFill>
                <a:srgbClr val="000000"/>
              </a:solidFill>
            </a:ln>
          </p:spPr>
          <p:txBody>
            <a:bodyPr wrap="square" lIns="0" tIns="0" rIns="0" bIns="0" rtlCol="0"/>
            <a:lstStyle/>
            <a:p>
              <a:endParaRPr/>
            </a:p>
          </p:txBody>
        </p:sp>
        <p:sp>
          <p:nvSpPr>
            <p:cNvPr id="50" name="object 97"/>
            <p:cNvSpPr txBox="1"/>
            <p:nvPr/>
          </p:nvSpPr>
          <p:spPr>
            <a:xfrm>
              <a:off x="3149058" y="5739987"/>
              <a:ext cx="6223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senior</a:t>
              </a:r>
              <a:endParaRPr sz="1800">
                <a:latin typeface="华文新魏" panose="02010800040101010101" charset="-122"/>
                <a:cs typeface="华文新魏" panose="02010800040101010101" charset="-122"/>
              </a:endParaRPr>
            </a:p>
          </p:txBody>
        </p:sp>
      </p:grpSp>
      <p:grpSp>
        <p:nvGrpSpPr>
          <p:cNvPr id="99" name="组合 98"/>
          <p:cNvGrpSpPr/>
          <p:nvPr/>
        </p:nvGrpSpPr>
        <p:grpSpPr>
          <a:xfrm>
            <a:off x="7404833" y="1030015"/>
            <a:ext cx="4075968" cy="5446986"/>
            <a:chOff x="7716835" y="260213"/>
            <a:chExt cx="3763965" cy="6216787"/>
          </a:xfrm>
        </p:grpSpPr>
        <p:sp>
          <p:nvSpPr>
            <p:cNvPr id="52" name="object 4"/>
            <p:cNvSpPr/>
            <p:nvPr/>
          </p:nvSpPr>
          <p:spPr>
            <a:xfrm>
              <a:off x="10745250" y="827477"/>
              <a:ext cx="167247" cy="167247"/>
            </a:xfrm>
            <a:prstGeom prst="rect">
              <a:avLst/>
            </a:prstGeom>
            <a:blipFill>
              <a:blip r:embed="rId5" cstate="print"/>
              <a:stretch>
                <a:fillRect/>
              </a:stretch>
            </a:blipFill>
          </p:spPr>
          <p:txBody>
            <a:bodyPr wrap="square" lIns="0" tIns="0" rIns="0" bIns="0" rtlCol="0"/>
            <a:lstStyle/>
            <a:p>
              <a:endParaRPr/>
            </a:p>
          </p:txBody>
        </p:sp>
        <p:sp>
          <p:nvSpPr>
            <p:cNvPr id="55" name="object 45"/>
            <p:cNvSpPr/>
            <p:nvPr/>
          </p:nvSpPr>
          <p:spPr>
            <a:xfrm>
              <a:off x="7716835" y="2433637"/>
              <a:ext cx="212724" cy="161924"/>
            </a:xfrm>
            <a:prstGeom prst="rect">
              <a:avLst/>
            </a:prstGeom>
            <a:blipFill>
              <a:blip r:embed="rId3" cstate="print"/>
              <a:stretch>
                <a:fillRect/>
              </a:stretch>
            </a:blipFill>
          </p:spPr>
          <p:txBody>
            <a:bodyPr wrap="square" lIns="0" tIns="0" rIns="0" bIns="0" rtlCol="0"/>
            <a:lstStyle/>
            <a:p>
              <a:endParaRPr/>
            </a:p>
          </p:txBody>
        </p:sp>
        <p:sp>
          <p:nvSpPr>
            <p:cNvPr id="56" name="object 46"/>
            <p:cNvSpPr/>
            <p:nvPr/>
          </p:nvSpPr>
          <p:spPr>
            <a:xfrm>
              <a:off x="7924798" y="2514600"/>
              <a:ext cx="482600" cy="0"/>
            </a:xfrm>
            <a:custGeom>
              <a:avLst/>
              <a:gdLst/>
              <a:ahLst/>
              <a:cxnLst/>
              <a:rect l="l" t="t" r="r" b="b"/>
              <a:pathLst>
                <a:path w="482600">
                  <a:moveTo>
                    <a:pt x="0" y="0"/>
                  </a:moveTo>
                  <a:lnTo>
                    <a:pt x="482600" y="0"/>
                  </a:lnTo>
                </a:path>
              </a:pathLst>
            </a:custGeom>
            <a:ln w="19049">
              <a:solidFill>
                <a:srgbClr val="000000"/>
              </a:solidFill>
            </a:ln>
          </p:spPr>
          <p:txBody>
            <a:bodyPr wrap="square" lIns="0" tIns="0" rIns="0" bIns="0" rtlCol="0"/>
            <a:lstStyle/>
            <a:p>
              <a:endParaRPr/>
            </a:p>
          </p:txBody>
        </p:sp>
        <p:sp>
          <p:nvSpPr>
            <p:cNvPr id="57" name="object 47"/>
            <p:cNvSpPr/>
            <p:nvPr/>
          </p:nvSpPr>
          <p:spPr>
            <a:xfrm>
              <a:off x="8356598" y="24765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58" name="object 48"/>
            <p:cNvSpPr/>
            <p:nvPr/>
          </p:nvSpPr>
          <p:spPr>
            <a:xfrm>
              <a:off x="9296397" y="3667125"/>
              <a:ext cx="0" cy="412750"/>
            </a:xfrm>
            <a:custGeom>
              <a:avLst/>
              <a:gdLst/>
              <a:ahLst/>
              <a:cxnLst/>
              <a:rect l="l" t="t" r="r" b="b"/>
              <a:pathLst>
                <a:path h="412750">
                  <a:moveTo>
                    <a:pt x="0" y="0"/>
                  </a:moveTo>
                  <a:lnTo>
                    <a:pt x="0" y="412749"/>
                  </a:lnTo>
                </a:path>
              </a:pathLst>
            </a:custGeom>
            <a:ln w="19049">
              <a:solidFill>
                <a:srgbClr val="000000"/>
              </a:solidFill>
            </a:ln>
          </p:spPr>
          <p:txBody>
            <a:bodyPr wrap="square" lIns="0" tIns="0" rIns="0" bIns="0" rtlCol="0"/>
            <a:lstStyle/>
            <a:p>
              <a:endParaRPr/>
            </a:p>
          </p:txBody>
        </p:sp>
        <p:sp>
          <p:nvSpPr>
            <p:cNvPr id="59" name="object 49"/>
            <p:cNvSpPr/>
            <p:nvPr/>
          </p:nvSpPr>
          <p:spPr>
            <a:xfrm>
              <a:off x="9258298" y="4029075"/>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60" name="object 50"/>
            <p:cNvSpPr/>
            <p:nvPr/>
          </p:nvSpPr>
          <p:spPr>
            <a:xfrm>
              <a:off x="9296397" y="4581525"/>
              <a:ext cx="0" cy="412750"/>
            </a:xfrm>
            <a:custGeom>
              <a:avLst/>
              <a:gdLst/>
              <a:ahLst/>
              <a:cxnLst/>
              <a:rect l="l" t="t" r="r" b="b"/>
              <a:pathLst>
                <a:path h="412750">
                  <a:moveTo>
                    <a:pt x="0" y="0"/>
                  </a:moveTo>
                  <a:lnTo>
                    <a:pt x="0" y="412749"/>
                  </a:lnTo>
                </a:path>
              </a:pathLst>
            </a:custGeom>
            <a:ln w="19049">
              <a:solidFill>
                <a:srgbClr val="000000"/>
              </a:solidFill>
            </a:ln>
          </p:spPr>
          <p:txBody>
            <a:bodyPr wrap="square" lIns="0" tIns="0" rIns="0" bIns="0" rtlCol="0"/>
            <a:lstStyle/>
            <a:p>
              <a:endParaRPr/>
            </a:p>
          </p:txBody>
        </p:sp>
        <p:sp>
          <p:nvSpPr>
            <p:cNvPr id="61" name="object 51"/>
            <p:cNvSpPr/>
            <p:nvPr/>
          </p:nvSpPr>
          <p:spPr>
            <a:xfrm>
              <a:off x="9258298" y="4943475"/>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62" name="object 52"/>
            <p:cNvSpPr/>
            <p:nvPr/>
          </p:nvSpPr>
          <p:spPr>
            <a:xfrm>
              <a:off x="8127998" y="5257800"/>
              <a:ext cx="304800" cy="990600"/>
            </a:xfrm>
            <a:custGeom>
              <a:avLst/>
              <a:gdLst/>
              <a:ahLst/>
              <a:cxnLst/>
              <a:rect l="l" t="t" r="r" b="b"/>
              <a:pathLst>
                <a:path w="304800" h="990600">
                  <a:moveTo>
                    <a:pt x="304799" y="0"/>
                  </a:moveTo>
                  <a:lnTo>
                    <a:pt x="0" y="0"/>
                  </a:lnTo>
                  <a:lnTo>
                    <a:pt x="0" y="990599"/>
                  </a:lnTo>
                  <a:lnTo>
                    <a:pt x="281781" y="990599"/>
                  </a:lnTo>
                </a:path>
              </a:pathLst>
            </a:custGeom>
            <a:ln w="19049">
              <a:solidFill>
                <a:srgbClr val="000000"/>
              </a:solidFill>
            </a:ln>
          </p:spPr>
          <p:txBody>
            <a:bodyPr wrap="square" lIns="0" tIns="0" rIns="0" bIns="0" rtlCol="0"/>
            <a:lstStyle/>
            <a:p>
              <a:endParaRPr/>
            </a:p>
          </p:txBody>
        </p:sp>
        <p:sp>
          <p:nvSpPr>
            <p:cNvPr id="63" name="object 53"/>
            <p:cNvSpPr/>
            <p:nvPr/>
          </p:nvSpPr>
          <p:spPr>
            <a:xfrm>
              <a:off x="8358979" y="62103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64" name="object 54"/>
            <p:cNvSpPr/>
            <p:nvPr/>
          </p:nvSpPr>
          <p:spPr>
            <a:xfrm>
              <a:off x="11222035" y="6167437"/>
              <a:ext cx="212724" cy="161924"/>
            </a:xfrm>
            <a:prstGeom prst="rect">
              <a:avLst/>
            </a:prstGeom>
            <a:blipFill>
              <a:blip r:embed="rId3" cstate="print"/>
              <a:stretch>
                <a:fillRect/>
              </a:stretch>
            </a:blipFill>
          </p:spPr>
          <p:txBody>
            <a:bodyPr wrap="square" lIns="0" tIns="0" rIns="0" bIns="0" rtlCol="0"/>
            <a:lstStyle/>
            <a:p>
              <a:endParaRPr/>
            </a:p>
          </p:txBody>
        </p:sp>
        <p:sp>
          <p:nvSpPr>
            <p:cNvPr id="65" name="object 55"/>
            <p:cNvSpPr/>
            <p:nvPr/>
          </p:nvSpPr>
          <p:spPr>
            <a:xfrm>
              <a:off x="11176000" y="6134100"/>
              <a:ext cx="304800" cy="228600"/>
            </a:xfrm>
            <a:custGeom>
              <a:avLst/>
              <a:gdLst/>
              <a:ahLst/>
              <a:cxnLst/>
              <a:rect l="l" t="t" r="r" b="b"/>
              <a:pathLst>
                <a:path w="304800" h="228600">
                  <a:moveTo>
                    <a:pt x="0" y="114300"/>
                  </a:moveTo>
                  <a:lnTo>
                    <a:pt x="29404" y="46795"/>
                  </a:lnTo>
                  <a:lnTo>
                    <a:pt x="62394" y="22053"/>
                  </a:lnTo>
                  <a:lnTo>
                    <a:pt x="104229" y="5827"/>
                  </a:lnTo>
                  <a:lnTo>
                    <a:pt x="152400" y="0"/>
                  </a:lnTo>
                  <a:lnTo>
                    <a:pt x="200570" y="5827"/>
                  </a:lnTo>
                  <a:lnTo>
                    <a:pt x="242405" y="22053"/>
                  </a:lnTo>
                  <a:lnTo>
                    <a:pt x="275395" y="46795"/>
                  </a:lnTo>
                  <a:lnTo>
                    <a:pt x="297030" y="78172"/>
                  </a:lnTo>
                  <a:lnTo>
                    <a:pt x="304800" y="114300"/>
                  </a:lnTo>
                  <a:lnTo>
                    <a:pt x="297030" y="150427"/>
                  </a:lnTo>
                  <a:lnTo>
                    <a:pt x="275395" y="181804"/>
                  </a:lnTo>
                  <a:lnTo>
                    <a:pt x="242405" y="206546"/>
                  </a:lnTo>
                  <a:lnTo>
                    <a:pt x="200570" y="222772"/>
                  </a:lnTo>
                  <a:lnTo>
                    <a:pt x="152400" y="228599"/>
                  </a:lnTo>
                  <a:lnTo>
                    <a:pt x="104229" y="222772"/>
                  </a:lnTo>
                  <a:lnTo>
                    <a:pt x="62394" y="206546"/>
                  </a:lnTo>
                  <a:lnTo>
                    <a:pt x="29404" y="181804"/>
                  </a:lnTo>
                  <a:lnTo>
                    <a:pt x="7769" y="150427"/>
                  </a:lnTo>
                  <a:lnTo>
                    <a:pt x="0" y="114300"/>
                  </a:lnTo>
                  <a:close/>
                </a:path>
              </a:pathLst>
            </a:custGeom>
            <a:ln w="19049">
              <a:solidFill>
                <a:srgbClr val="000000"/>
              </a:solidFill>
            </a:ln>
          </p:spPr>
          <p:txBody>
            <a:bodyPr wrap="square" lIns="0" tIns="0" rIns="0" bIns="0" rtlCol="0"/>
            <a:lstStyle/>
            <a:p>
              <a:endParaRPr/>
            </a:p>
          </p:txBody>
        </p:sp>
        <p:sp>
          <p:nvSpPr>
            <p:cNvPr id="66" name="object 56"/>
            <p:cNvSpPr/>
            <p:nvPr/>
          </p:nvSpPr>
          <p:spPr>
            <a:xfrm>
              <a:off x="8127998" y="4343400"/>
              <a:ext cx="304800" cy="1905000"/>
            </a:xfrm>
            <a:custGeom>
              <a:avLst/>
              <a:gdLst/>
              <a:ahLst/>
              <a:cxnLst/>
              <a:rect l="l" t="t" r="r" b="b"/>
              <a:pathLst>
                <a:path w="304800" h="1905000">
                  <a:moveTo>
                    <a:pt x="304799" y="0"/>
                  </a:moveTo>
                  <a:lnTo>
                    <a:pt x="0" y="0"/>
                  </a:lnTo>
                  <a:lnTo>
                    <a:pt x="0" y="1904999"/>
                  </a:lnTo>
                  <a:lnTo>
                    <a:pt x="281781" y="1904999"/>
                  </a:lnTo>
                </a:path>
              </a:pathLst>
            </a:custGeom>
            <a:ln w="19049">
              <a:solidFill>
                <a:srgbClr val="000000"/>
              </a:solidFill>
            </a:ln>
          </p:spPr>
          <p:txBody>
            <a:bodyPr wrap="square" lIns="0" tIns="0" rIns="0" bIns="0" rtlCol="0"/>
            <a:lstStyle/>
            <a:p>
              <a:endParaRPr/>
            </a:p>
          </p:txBody>
        </p:sp>
        <p:sp>
          <p:nvSpPr>
            <p:cNvPr id="67" name="object 57"/>
            <p:cNvSpPr/>
            <p:nvPr/>
          </p:nvSpPr>
          <p:spPr>
            <a:xfrm>
              <a:off x="8358979" y="62103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68" name="object 58"/>
            <p:cNvSpPr/>
            <p:nvPr/>
          </p:nvSpPr>
          <p:spPr>
            <a:xfrm>
              <a:off x="8127998" y="3429000"/>
              <a:ext cx="304800" cy="2819400"/>
            </a:xfrm>
            <a:custGeom>
              <a:avLst/>
              <a:gdLst/>
              <a:ahLst/>
              <a:cxnLst/>
              <a:rect l="l" t="t" r="r" b="b"/>
              <a:pathLst>
                <a:path w="304800" h="2819400">
                  <a:moveTo>
                    <a:pt x="304799" y="0"/>
                  </a:moveTo>
                  <a:lnTo>
                    <a:pt x="0" y="0"/>
                  </a:lnTo>
                  <a:lnTo>
                    <a:pt x="0" y="2819399"/>
                  </a:lnTo>
                  <a:lnTo>
                    <a:pt x="281781" y="2819399"/>
                  </a:lnTo>
                </a:path>
              </a:pathLst>
            </a:custGeom>
            <a:ln w="19049">
              <a:solidFill>
                <a:srgbClr val="000000"/>
              </a:solidFill>
            </a:ln>
          </p:spPr>
          <p:txBody>
            <a:bodyPr wrap="square" lIns="0" tIns="0" rIns="0" bIns="0" rtlCol="0"/>
            <a:lstStyle/>
            <a:p>
              <a:endParaRPr/>
            </a:p>
          </p:txBody>
        </p:sp>
        <p:sp>
          <p:nvSpPr>
            <p:cNvPr id="69" name="object 59"/>
            <p:cNvSpPr/>
            <p:nvPr/>
          </p:nvSpPr>
          <p:spPr>
            <a:xfrm>
              <a:off x="8358979" y="62103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70" name="object 60"/>
            <p:cNvSpPr/>
            <p:nvPr/>
          </p:nvSpPr>
          <p:spPr>
            <a:xfrm>
              <a:off x="8432798" y="320040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8" y="0"/>
                  </a:lnTo>
                  <a:lnTo>
                    <a:pt x="1680658" y="5988"/>
                  </a:lnTo>
                  <a:lnTo>
                    <a:pt x="1704880" y="22319"/>
                  </a:lnTo>
                  <a:lnTo>
                    <a:pt x="1721211" y="46540"/>
                  </a:lnTo>
                  <a:lnTo>
                    <a:pt x="1727200" y="76201"/>
                  </a:lnTo>
                  <a:lnTo>
                    <a:pt x="1727200" y="380998"/>
                  </a:lnTo>
                  <a:lnTo>
                    <a:pt x="1721211" y="410659"/>
                  </a:lnTo>
                  <a:lnTo>
                    <a:pt x="1704880" y="434880"/>
                  </a:lnTo>
                  <a:lnTo>
                    <a:pt x="1680658" y="451211"/>
                  </a:lnTo>
                  <a:lnTo>
                    <a:pt x="1650998" y="457200"/>
                  </a:lnTo>
                  <a:lnTo>
                    <a:pt x="76202" y="457200"/>
                  </a:lnTo>
                  <a:lnTo>
                    <a:pt x="46540" y="451211"/>
                  </a:lnTo>
                  <a:lnTo>
                    <a:pt x="22318" y="434880"/>
                  </a:lnTo>
                  <a:lnTo>
                    <a:pt x="5988" y="410659"/>
                  </a:lnTo>
                  <a:lnTo>
                    <a:pt x="0" y="380998"/>
                  </a:lnTo>
                  <a:lnTo>
                    <a:pt x="0" y="76201"/>
                  </a:lnTo>
                  <a:close/>
                </a:path>
              </a:pathLst>
            </a:custGeom>
            <a:ln w="19049">
              <a:solidFill>
                <a:srgbClr val="000000"/>
              </a:solidFill>
            </a:ln>
          </p:spPr>
          <p:txBody>
            <a:bodyPr wrap="square" lIns="0" tIns="0" rIns="0" bIns="0" rtlCol="0"/>
            <a:lstStyle/>
            <a:p>
              <a:endParaRPr/>
            </a:p>
          </p:txBody>
        </p:sp>
        <p:sp>
          <p:nvSpPr>
            <p:cNvPr id="71" name="object 61"/>
            <p:cNvSpPr txBox="1"/>
            <p:nvPr/>
          </p:nvSpPr>
          <p:spPr>
            <a:xfrm>
              <a:off x="9041857" y="3279140"/>
              <a:ext cx="49784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child</a:t>
              </a:r>
              <a:endParaRPr sz="1800">
                <a:latin typeface="华文新魏" panose="02010800040101010101" charset="-122"/>
                <a:cs typeface="华文新魏" panose="02010800040101010101" charset="-122"/>
              </a:endParaRPr>
            </a:p>
          </p:txBody>
        </p:sp>
        <p:sp>
          <p:nvSpPr>
            <p:cNvPr id="72" name="object 62"/>
            <p:cNvSpPr/>
            <p:nvPr/>
          </p:nvSpPr>
          <p:spPr>
            <a:xfrm>
              <a:off x="8432798" y="411480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8" y="0"/>
                  </a:lnTo>
                  <a:lnTo>
                    <a:pt x="1680658" y="5988"/>
                  </a:lnTo>
                  <a:lnTo>
                    <a:pt x="1704880" y="22319"/>
                  </a:lnTo>
                  <a:lnTo>
                    <a:pt x="1721211" y="46540"/>
                  </a:lnTo>
                  <a:lnTo>
                    <a:pt x="1727200" y="76201"/>
                  </a:lnTo>
                  <a:lnTo>
                    <a:pt x="1727200" y="380997"/>
                  </a:lnTo>
                  <a:lnTo>
                    <a:pt x="1721211" y="410659"/>
                  </a:lnTo>
                  <a:lnTo>
                    <a:pt x="1704880" y="434880"/>
                  </a:lnTo>
                  <a:lnTo>
                    <a:pt x="1680658" y="451211"/>
                  </a:lnTo>
                  <a:lnTo>
                    <a:pt x="1650998" y="457199"/>
                  </a:lnTo>
                  <a:lnTo>
                    <a:pt x="76202" y="457199"/>
                  </a:lnTo>
                  <a:lnTo>
                    <a:pt x="46540" y="451211"/>
                  </a:lnTo>
                  <a:lnTo>
                    <a:pt x="22318"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73" name="object 63"/>
            <p:cNvSpPr txBox="1"/>
            <p:nvPr/>
          </p:nvSpPr>
          <p:spPr>
            <a:xfrm>
              <a:off x="9029157" y="4193540"/>
              <a:ext cx="5314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adult</a:t>
              </a:r>
              <a:endParaRPr sz="1800">
                <a:latin typeface="华文新魏" panose="02010800040101010101" charset="-122"/>
                <a:cs typeface="华文新魏" panose="02010800040101010101" charset="-122"/>
              </a:endParaRPr>
            </a:p>
          </p:txBody>
        </p:sp>
        <p:sp>
          <p:nvSpPr>
            <p:cNvPr id="74" name="object 64"/>
            <p:cNvSpPr/>
            <p:nvPr/>
          </p:nvSpPr>
          <p:spPr>
            <a:xfrm>
              <a:off x="8432798" y="502920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8" y="0"/>
                  </a:lnTo>
                  <a:lnTo>
                    <a:pt x="1680658" y="5988"/>
                  </a:lnTo>
                  <a:lnTo>
                    <a:pt x="1704880" y="22319"/>
                  </a:lnTo>
                  <a:lnTo>
                    <a:pt x="1721211" y="46540"/>
                  </a:lnTo>
                  <a:lnTo>
                    <a:pt x="1727200" y="76201"/>
                  </a:lnTo>
                  <a:lnTo>
                    <a:pt x="1727200" y="380997"/>
                  </a:lnTo>
                  <a:lnTo>
                    <a:pt x="1721211" y="410659"/>
                  </a:lnTo>
                  <a:lnTo>
                    <a:pt x="1704880" y="434880"/>
                  </a:lnTo>
                  <a:lnTo>
                    <a:pt x="1680658" y="451211"/>
                  </a:lnTo>
                  <a:lnTo>
                    <a:pt x="1650998" y="457199"/>
                  </a:lnTo>
                  <a:lnTo>
                    <a:pt x="76202" y="457199"/>
                  </a:lnTo>
                  <a:lnTo>
                    <a:pt x="46540" y="451211"/>
                  </a:lnTo>
                  <a:lnTo>
                    <a:pt x="22318"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75" name="object 65"/>
            <p:cNvSpPr txBox="1"/>
            <p:nvPr/>
          </p:nvSpPr>
          <p:spPr>
            <a:xfrm>
              <a:off x="8991057" y="5107940"/>
              <a:ext cx="6223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senior</a:t>
              </a:r>
              <a:endParaRPr sz="1800">
                <a:latin typeface="华文新魏" panose="02010800040101010101" charset="-122"/>
                <a:cs typeface="华文新魏" panose="02010800040101010101" charset="-122"/>
              </a:endParaRPr>
            </a:p>
          </p:txBody>
        </p:sp>
        <p:sp>
          <p:nvSpPr>
            <p:cNvPr id="76" name="object 66"/>
            <p:cNvSpPr txBox="1"/>
            <p:nvPr/>
          </p:nvSpPr>
          <p:spPr>
            <a:xfrm>
              <a:off x="9324338" y="3690620"/>
              <a:ext cx="1819275" cy="441959"/>
            </a:xfrm>
            <a:prstGeom prst="rect">
              <a:avLst/>
            </a:prstGeom>
          </p:spPr>
          <p:txBody>
            <a:bodyPr vert="horz" wrap="square" lIns="0" tIns="12700" rIns="0" bIns="0" rtlCol="0">
              <a:spAutoFit/>
            </a:bodyPr>
            <a:lstStyle/>
            <a:p>
              <a:pPr marL="12700">
                <a:lnSpc>
                  <a:spcPts val="1640"/>
                </a:lnSpc>
                <a:spcBef>
                  <a:spcPts val="100"/>
                </a:spcBef>
              </a:pPr>
              <a:r>
                <a:rPr sz="1400" dirty="0">
                  <a:latin typeface="华文新魏" panose="02010800040101010101" charset="-122"/>
                  <a:cs typeface="华文新魏" panose="02010800040101010101" charset="-122"/>
                </a:rPr>
                <a:t>when</a:t>
              </a:r>
              <a:endParaRPr sz="1400">
                <a:latin typeface="华文新魏" panose="02010800040101010101" charset="-122"/>
                <a:cs typeface="华文新魏" panose="02010800040101010101" charset="-122"/>
              </a:endParaRPr>
            </a:p>
            <a:p>
              <a:pPr marL="12700">
                <a:lnSpc>
                  <a:spcPts val="1640"/>
                </a:lnSpc>
              </a:pPr>
              <a:r>
                <a:rPr sz="1400" spc="-5" dirty="0">
                  <a:latin typeface="华文新魏" panose="02010800040101010101" charset="-122"/>
                  <a:cs typeface="华文新魏" panose="02010800040101010101" charset="-122"/>
                </a:rPr>
                <a:t>[thisyear-birthyear&gt;18]</a:t>
              </a:r>
              <a:endParaRPr sz="1400">
                <a:latin typeface="华文新魏" panose="02010800040101010101" charset="-122"/>
                <a:cs typeface="华文新魏" panose="02010800040101010101" charset="-122"/>
              </a:endParaRPr>
            </a:p>
          </p:txBody>
        </p:sp>
        <p:sp>
          <p:nvSpPr>
            <p:cNvPr id="77" name="object 67"/>
            <p:cNvSpPr txBox="1"/>
            <p:nvPr/>
          </p:nvSpPr>
          <p:spPr>
            <a:xfrm>
              <a:off x="9324338" y="4605020"/>
              <a:ext cx="1849120" cy="441959"/>
            </a:xfrm>
            <a:prstGeom prst="rect">
              <a:avLst/>
            </a:prstGeom>
          </p:spPr>
          <p:txBody>
            <a:bodyPr vert="horz" wrap="square" lIns="0" tIns="12700" rIns="0" bIns="0" rtlCol="0">
              <a:spAutoFit/>
            </a:bodyPr>
            <a:lstStyle/>
            <a:p>
              <a:pPr marL="12700">
                <a:lnSpc>
                  <a:spcPts val="1640"/>
                </a:lnSpc>
                <a:spcBef>
                  <a:spcPts val="100"/>
                </a:spcBef>
              </a:pPr>
              <a:r>
                <a:rPr sz="1400" dirty="0">
                  <a:latin typeface="华文新魏" panose="02010800040101010101" charset="-122"/>
                  <a:cs typeface="华文新魏" panose="02010800040101010101" charset="-122"/>
                </a:rPr>
                <a:t>when</a:t>
              </a:r>
              <a:endParaRPr sz="1400">
                <a:latin typeface="华文新魏" panose="02010800040101010101" charset="-122"/>
                <a:cs typeface="华文新魏" panose="02010800040101010101" charset="-122"/>
              </a:endParaRPr>
            </a:p>
            <a:p>
              <a:pPr marL="12700">
                <a:lnSpc>
                  <a:spcPts val="1640"/>
                </a:lnSpc>
              </a:pPr>
              <a:r>
                <a:rPr sz="1400" spc="-5" dirty="0">
                  <a:latin typeface="华文新魏" panose="02010800040101010101" charset="-122"/>
                  <a:cs typeface="华文新魏" panose="02010800040101010101" charset="-122"/>
                </a:rPr>
                <a:t>[thisyear-birthyear&gt;65]</a:t>
              </a:r>
              <a:endParaRPr sz="1400">
                <a:latin typeface="华文新魏" panose="02010800040101010101" charset="-122"/>
                <a:cs typeface="华文新魏" panose="02010800040101010101" charset="-122"/>
              </a:endParaRPr>
            </a:p>
          </p:txBody>
        </p:sp>
        <p:sp>
          <p:nvSpPr>
            <p:cNvPr id="78" name="object 68"/>
            <p:cNvSpPr/>
            <p:nvPr/>
          </p:nvSpPr>
          <p:spPr>
            <a:xfrm>
              <a:off x="8432798" y="228600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8" y="0"/>
                  </a:lnTo>
                  <a:lnTo>
                    <a:pt x="1680658" y="5988"/>
                  </a:lnTo>
                  <a:lnTo>
                    <a:pt x="1704880" y="22319"/>
                  </a:lnTo>
                  <a:lnTo>
                    <a:pt x="1721211" y="46540"/>
                  </a:lnTo>
                  <a:lnTo>
                    <a:pt x="1727200" y="76201"/>
                  </a:lnTo>
                  <a:lnTo>
                    <a:pt x="1727200" y="380998"/>
                  </a:lnTo>
                  <a:lnTo>
                    <a:pt x="1721211" y="410659"/>
                  </a:lnTo>
                  <a:lnTo>
                    <a:pt x="1704880" y="434880"/>
                  </a:lnTo>
                  <a:lnTo>
                    <a:pt x="1680658" y="451211"/>
                  </a:lnTo>
                  <a:lnTo>
                    <a:pt x="1650998" y="457199"/>
                  </a:lnTo>
                  <a:lnTo>
                    <a:pt x="76202" y="457199"/>
                  </a:lnTo>
                  <a:lnTo>
                    <a:pt x="46540" y="451211"/>
                  </a:lnTo>
                  <a:lnTo>
                    <a:pt x="22318" y="434880"/>
                  </a:lnTo>
                  <a:lnTo>
                    <a:pt x="5988" y="410659"/>
                  </a:lnTo>
                  <a:lnTo>
                    <a:pt x="0" y="380998"/>
                  </a:lnTo>
                  <a:lnTo>
                    <a:pt x="0" y="76201"/>
                  </a:lnTo>
                  <a:close/>
                </a:path>
              </a:pathLst>
            </a:custGeom>
            <a:ln w="19049">
              <a:solidFill>
                <a:srgbClr val="000000"/>
              </a:solidFill>
            </a:ln>
          </p:spPr>
          <p:txBody>
            <a:bodyPr wrap="square" lIns="0" tIns="0" rIns="0" bIns="0" rtlCol="0"/>
            <a:lstStyle/>
            <a:p>
              <a:endParaRPr/>
            </a:p>
          </p:txBody>
        </p:sp>
        <p:sp>
          <p:nvSpPr>
            <p:cNvPr id="79" name="object 69"/>
            <p:cNvSpPr txBox="1"/>
            <p:nvPr/>
          </p:nvSpPr>
          <p:spPr>
            <a:xfrm>
              <a:off x="9003757" y="2364740"/>
              <a:ext cx="56959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800000"/>
                  </a:solidFill>
                  <a:latin typeface="华文新魏" panose="02010800040101010101" charset="-122"/>
                  <a:cs typeface="华文新魏" panose="02010800040101010101" charset="-122"/>
                </a:rPr>
                <a:t>blank</a:t>
              </a:r>
              <a:endParaRPr sz="1800">
                <a:latin typeface="华文新魏" panose="02010800040101010101" charset="-122"/>
                <a:cs typeface="华文新魏" panose="02010800040101010101" charset="-122"/>
              </a:endParaRPr>
            </a:p>
          </p:txBody>
        </p:sp>
        <p:sp>
          <p:nvSpPr>
            <p:cNvPr id="80" name="object 70"/>
            <p:cNvSpPr/>
            <p:nvPr/>
          </p:nvSpPr>
          <p:spPr>
            <a:xfrm>
              <a:off x="9296397" y="2743200"/>
              <a:ext cx="0" cy="431800"/>
            </a:xfrm>
            <a:custGeom>
              <a:avLst/>
              <a:gdLst/>
              <a:ahLst/>
              <a:cxnLst/>
              <a:rect l="l" t="t" r="r" b="b"/>
              <a:pathLst>
                <a:path h="431800">
                  <a:moveTo>
                    <a:pt x="0" y="0"/>
                  </a:moveTo>
                  <a:lnTo>
                    <a:pt x="0" y="431799"/>
                  </a:lnTo>
                </a:path>
              </a:pathLst>
            </a:custGeom>
            <a:ln w="19049">
              <a:solidFill>
                <a:srgbClr val="000000"/>
              </a:solidFill>
            </a:ln>
          </p:spPr>
          <p:txBody>
            <a:bodyPr wrap="square" lIns="0" tIns="0" rIns="0" bIns="0" rtlCol="0"/>
            <a:lstStyle/>
            <a:p>
              <a:endParaRPr/>
            </a:p>
          </p:txBody>
        </p:sp>
        <p:sp>
          <p:nvSpPr>
            <p:cNvPr id="81" name="object 71"/>
            <p:cNvSpPr/>
            <p:nvPr/>
          </p:nvSpPr>
          <p:spPr>
            <a:xfrm>
              <a:off x="9258298" y="312420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82" name="object 72"/>
            <p:cNvSpPr/>
            <p:nvPr/>
          </p:nvSpPr>
          <p:spPr>
            <a:xfrm>
              <a:off x="8432798" y="601980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8" y="0"/>
                  </a:lnTo>
                  <a:lnTo>
                    <a:pt x="1680658" y="5988"/>
                  </a:lnTo>
                  <a:lnTo>
                    <a:pt x="1704880" y="22319"/>
                  </a:lnTo>
                  <a:lnTo>
                    <a:pt x="1721211" y="46540"/>
                  </a:lnTo>
                  <a:lnTo>
                    <a:pt x="1727200" y="76201"/>
                  </a:lnTo>
                  <a:lnTo>
                    <a:pt x="1727200" y="380997"/>
                  </a:lnTo>
                  <a:lnTo>
                    <a:pt x="1721211" y="410659"/>
                  </a:lnTo>
                  <a:lnTo>
                    <a:pt x="1704880" y="434880"/>
                  </a:lnTo>
                  <a:lnTo>
                    <a:pt x="1680658" y="451211"/>
                  </a:lnTo>
                  <a:lnTo>
                    <a:pt x="1650998" y="457199"/>
                  </a:lnTo>
                  <a:lnTo>
                    <a:pt x="76202" y="457199"/>
                  </a:lnTo>
                  <a:lnTo>
                    <a:pt x="46540" y="451211"/>
                  </a:lnTo>
                  <a:lnTo>
                    <a:pt x="22318"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83" name="object 73"/>
            <p:cNvSpPr txBox="1"/>
            <p:nvPr/>
          </p:nvSpPr>
          <p:spPr>
            <a:xfrm>
              <a:off x="8838657" y="6098540"/>
              <a:ext cx="91630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800000"/>
                  </a:solidFill>
                  <a:latin typeface="华文新魏" panose="02010800040101010101" charset="-122"/>
                  <a:cs typeface="华文新魏" panose="02010800040101010101" charset="-122"/>
                </a:rPr>
                <a:t>deceased</a:t>
              </a:r>
              <a:endParaRPr sz="1800">
                <a:latin typeface="华文新魏" panose="02010800040101010101" charset="-122"/>
                <a:cs typeface="华文新魏" panose="02010800040101010101" charset="-122"/>
              </a:endParaRPr>
            </a:p>
          </p:txBody>
        </p:sp>
        <p:sp>
          <p:nvSpPr>
            <p:cNvPr id="84" name="object 74"/>
            <p:cNvSpPr/>
            <p:nvPr/>
          </p:nvSpPr>
          <p:spPr>
            <a:xfrm>
              <a:off x="10159998" y="6248400"/>
              <a:ext cx="977900" cy="0"/>
            </a:xfrm>
            <a:custGeom>
              <a:avLst/>
              <a:gdLst/>
              <a:ahLst/>
              <a:cxnLst/>
              <a:rect l="l" t="t" r="r" b="b"/>
              <a:pathLst>
                <a:path w="977900">
                  <a:moveTo>
                    <a:pt x="0" y="0"/>
                  </a:moveTo>
                  <a:lnTo>
                    <a:pt x="977899" y="0"/>
                  </a:lnTo>
                </a:path>
              </a:pathLst>
            </a:custGeom>
            <a:ln w="19049">
              <a:solidFill>
                <a:srgbClr val="000000"/>
              </a:solidFill>
            </a:ln>
          </p:spPr>
          <p:txBody>
            <a:bodyPr wrap="square" lIns="0" tIns="0" rIns="0" bIns="0" rtlCol="0"/>
            <a:lstStyle/>
            <a:p>
              <a:endParaRPr/>
            </a:p>
          </p:txBody>
        </p:sp>
        <p:sp>
          <p:nvSpPr>
            <p:cNvPr id="85" name="object 75"/>
            <p:cNvSpPr/>
            <p:nvPr/>
          </p:nvSpPr>
          <p:spPr>
            <a:xfrm>
              <a:off x="11087098" y="62103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86" name="object 76"/>
            <p:cNvSpPr txBox="1"/>
            <p:nvPr/>
          </p:nvSpPr>
          <p:spPr>
            <a:xfrm>
              <a:off x="9324338" y="2776220"/>
              <a:ext cx="1588156" cy="498707"/>
            </a:xfrm>
            <a:prstGeom prst="rect">
              <a:avLst/>
            </a:prstGeom>
          </p:spPr>
          <p:txBody>
            <a:bodyPr vert="horz" wrap="square" lIns="0" tIns="12700" rIns="0" bIns="0" rtlCol="0">
              <a:spAutoFit/>
            </a:bodyPr>
            <a:lstStyle/>
            <a:p>
              <a:pPr marL="12700">
                <a:lnSpc>
                  <a:spcPts val="1640"/>
                </a:lnSpc>
                <a:spcBef>
                  <a:spcPts val="100"/>
                </a:spcBef>
              </a:pPr>
              <a:r>
                <a:rPr sz="1400" spc="-5" dirty="0">
                  <a:latin typeface="华文新魏" panose="02010800040101010101" charset="-122"/>
                  <a:cs typeface="华文新魏" panose="02010800040101010101" charset="-122"/>
                </a:rPr>
                <a:t>recordBirth()</a:t>
              </a:r>
              <a:endParaRPr sz="1400" dirty="0">
                <a:latin typeface="华文新魏" panose="02010800040101010101" charset="-122"/>
                <a:cs typeface="华文新魏" panose="02010800040101010101" charset="-122"/>
              </a:endParaRPr>
            </a:p>
            <a:p>
              <a:pPr marL="12700">
                <a:lnSpc>
                  <a:spcPts val="1640"/>
                </a:lnSpc>
              </a:pPr>
              <a:r>
                <a:rPr sz="1400" spc="-5" dirty="0">
                  <a:latin typeface="华文新魏" panose="02010800040101010101" charset="-122"/>
                  <a:cs typeface="华文新魏" panose="02010800040101010101" charset="-122"/>
                </a:rPr>
                <a:t>/setDOB()</a:t>
              </a:r>
              <a:endParaRPr sz="1400" dirty="0">
                <a:latin typeface="华文新魏" panose="02010800040101010101" charset="-122"/>
                <a:cs typeface="华文新魏" panose="02010800040101010101" charset="-122"/>
              </a:endParaRPr>
            </a:p>
          </p:txBody>
        </p:sp>
        <p:sp>
          <p:nvSpPr>
            <p:cNvPr id="87" name="object 77"/>
            <p:cNvSpPr txBox="1"/>
            <p:nvPr/>
          </p:nvSpPr>
          <p:spPr>
            <a:xfrm>
              <a:off x="8105138" y="5519420"/>
              <a:ext cx="1412240" cy="441959"/>
            </a:xfrm>
            <a:prstGeom prst="rect">
              <a:avLst/>
            </a:prstGeom>
          </p:spPr>
          <p:txBody>
            <a:bodyPr vert="horz" wrap="square" lIns="0" tIns="12700" rIns="0" bIns="0" rtlCol="0">
              <a:spAutoFit/>
            </a:bodyPr>
            <a:lstStyle/>
            <a:p>
              <a:pPr marL="12700">
                <a:lnSpc>
                  <a:spcPts val="1640"/>
                </a:lnSpc>
                <a:spcBef>
                  <a:spcPts val="100"/>
                </a:spcBef>
              </a:pPr>
              <a:r>
                <a:rPr sz="1400" spc="-5" dirty="0">
                  <a:latin typeface="华文新魏" panose="02010800040101010101" charset="-122"/>
                  <a:cs typeface="华文新魏" panose="02010800040101010101" charset="-122"/>
                </a:rPr>
                <a:t>recordDeath()</a:t>
              </a:r>
              <a:endParaRPr sz="1400">
                <a:latin typeface="华文新魏" panose="02010800040101010101" charset="-122"/>
                <a:cs typeface="华文新魏" panose="02010800040101010101" charset="-122"/>
              </a:endParaRPr>
            </a:p>
            <a:p>
              <a:pPr marL="12700">
                <a:lnSpc>
                  <a:spcPts val="1640"/>
                </a:lnSpc>
              </a:pPr>
              <a:r>
                <a:rPr sz="1400" spc="-5" dirty="0">
                  <a:latin typeface="华文新魏" panose="02010800040101010101" charset="-122"/>
                  <a:cs typeface="华文新魏" panose="02010800040101010101" charset="-122"/>
                </a:rPr>
                <a:t>/setDateofDeath()</a:t>
              </a:r>
              <a:endParaRPr sz="1400">
                <a:latin typeface="华文新魏" panose="02010800040101010101" charset="-122"/>
                <a:cs typeface="华文新魏" panose="02010800040101010101" charset="-122"/>
              </a:endParaRPr>
            </a:p>
          </p:txBody>
        </p:sp>
        <p:sp>
          <p:nvSpPr>
            <p:cNvPr id="88" name="object 78"/>
            <p:cNvSpPr/>
            <p:nvPr/>
          </p:nvSpPr>
          <p:spPr>
            <a:xfrm>
              <a:off x="8303480" y="585334"/>
              <a:ext cx="2641600" cy="1600200"/>
            </a:xfrm>
            <a:custGeom>
              <a:avLst/>
              <a:gdLst/>
              <a:ahLst/>
              <a:cxnLst/>
              <a:rect l="l" t="t" r="r" b="b"/>
              <a:pathLst>
                <a:path w="2641600" h="1600200">
                  <a:moveTo>
                    <a:pt x="0" y="0"/>
                  </a:moveTo>
                  <a:lnTo>
                    <a:pt x="2641598" y="0"/>
                  </a:lnTo>
                  <a:lnTo>
                    <a:pt x="2641598" y="1600198"/>
                  </a:lnTo>
                  <a:lnTo>
                    <a:pt x="0" y="1600198"/>
                  </a:lnTo>
                  <a:lnTo>
                    <a:pt x="0" y="0"/>
                  </a:lnTo>
                  <a:close/>
                </a:path>
              </a:pathLst>
            </a:custGeom>
            <a:solidFill>
              <a:srgbClr val="ECEBEB"/>
            </a:solidFill>
          </p:spPr>
          <p:txBody>
            <a:bodyPr wrap="square" lIns="0" tIns="0" rIns="0" bIns="0" rtlCol="0"/>
            <a:lstStyle/>
            <a:p>
              <a:endParaRPr/>
            </a:p>
          </p:txBody>
        </p:sp>
        <p:sp>
          <p:nvSpPr>
            <p:cNvPr id="89" name="object 79"/>
            <p:cNvSpPr/>
            <p:nvPr/>
          </p:nvSpPr>
          <p:spPr>
            <a:xfrm>
              <a:off x="8303480" y="585334"/>
              <a:ext cx="2641600" cy="1600200"/>
            </a:xfrm>
            <a:custGeom>
              <a:avLst/>
              <a:gdLst/>
              <a:ahLst/>
              <a:cxnLst/>
              <a:rect l="l" t="t" r="r" b="b"/>
              <a:pathLst>
                <a:path w="2641600" h="1600200">
                  <a:moveTo>
                    <a:pt x="0" y="0"/>
                  </a:moveTo>
                  <a:lnTo>
                    <a:pt x="2641599" y="0"/>
                  </a:lnTo>
                  <a:lnTo>
                    <a:pt x="2641599" y="1600199"/>
                  </a:lnTo>
                  <a:lnTo>
                    <a:pt x="0" y="1600199"/>
                  </a:lnTo>
                  <a:lnTo>
                    <a:pt x="0" y="0"/>
                  </a:lnTo>
                  <a:close/>
                </a:path>
              </a:pathLst>
            </a:custGeom>
            <a:ln w="28574">
              <a:solidFill>
                <a:srgbClr val="000000"/>
              </a:solidFill>
            </a:ln>
          </p:spPr>
          <p:txBody>
            <a:bodyPr wrap="square" lIns="0" tIns="0" rIns="0" bIns="0" rtlCol="0"/>
            <a:lstStyle/>
            <a:p>
              <a:endParaRPr/>
            </a:p>
          </p:txBody>
        </p:sp>
        <p:sp>
          <p:nvSpPr>
            <p:cNvPr id="90" name="object 80"/>
            <p:cNvSpPr txBox="1"/>
            <p:nvPr/>
          </p:nvSpPr>
          <p:spPr>
            <a:xfrm>
              <a:off x="8303480" y="585334"/>
              <a:ext cx="2641600" cy="328295"/>
            </a:xfrm>
            <a:prstGeom prst="rect">
              <a:avLst/>
            </a:prstGeom>
            <a:ln w="28574">
              <a:solidFill>
                <a:srgbClr val="000000"/>
              </a:solidFill>
            </a:ln>
          </p:spPr>
          <p:txBody>
            <a:bodyPr vert="horz" wrap="square" lIns="0" tIns="76200" rIns="0" bIns="0" rtlCol="0">
              <a:spAutoFit/>
            </a:bodyPr>
            <a:lstStyle/>
            <a:p>
              <a:pPr marL="812165">
                <a:lnSpc>
                  <a:spcPct val="100000"/>
                </a:lnSpc>
                <a:spcBef>
                  <a:spcPts val="600"/>
                </a:spcBef>
              </a:pPr>
              <a:r>
                <a:rPr sz="1400" b="1" spc="-5" dirty="0">
                  <a:solidFill>
                    <a:srgbClr val="0000FF"/>
                  </a:solidFill>
                  <a:latin typeface="华文新魏" panose="02010800040101010101" charset="-122"/>
                  <a:cs typeface="华文新魏" panose="02010800040101010101" charset="-122"/>
                </a:rPr>
                <a:t>:person</a:t>
              </a:r>
              <a:endParaRPr sz="1400">
                <a:latin typeface="华文新魏" panose="02010800040101010101" charset="-122"/>
                <a:cs typeface="华文新魏" panose="02010800040101010101" charset="-122"/>
              </a:endParaRPr>
            </a:p>
          </p:txBody>
        </p:sp>
        <p:sp>
          <p:nvSpPr>
            <p:cNvPr id="91" name="object 81"/>
            <p:cNvSpPr txBox="1"/>
            <p:nvPr/>
          </p:nvSpPr>
          <p:spPr>
            <a:xfrm>
              <a:off x="8303480" y="913493"/>
              <a:ext cx="2641600" cy="434340"/>
            </a:xfrm>
            <a:prstGeom prst="rect">
              <a:avLst/>
            </a:prstGeom>
            <a:ln w="28574">
              <a:solidFill>
                <a:srgbClr val="000000"/>
              </a:solidFill>
            </a:ln>
          </p:spPr>
          <p:txBody>
            <a:bodyPr vert="horz" wrap="square" lIns="0" tIns="60325" rIns="0" bIns="0" rtlCol="0">
              <a:spAutoFit/>
            </a:bodyPr>
            <a:lstStyle/>
            <a:p>
              <a:pPr marL="100965" marR="1527810">
                <a:lnSpc>
                  <a:spcPts val="1500"/>
                </a:lnSpc>
                <a:spcBef>
                  <a:spcPts val="475"/>
                </a:spcBef>
              </a:pPr>
              <a:r>
                <a:rPr sz="1400" dirty="0">
                  <a:solidFill>
                    <a:srgbClr val="0000FF"/>
                  </a:solidFill>
                  <a:latin typeface="华文新魏" panose="02010800040101010101" charset="-122"/>
                  <a:cs typeface="华文新魏" panose="02010800040101010101" charset="-122"/>
                </a:rPr>
                <a:t>dateOfBirth  dateOfDeath</a:t>
              </a:r>
              <a:endParaRPr sz="1400" dirty="0">
                <a:latin typeface="华文新魏" panose="02010800040101010101" charset="-122"/>
                <a:cs typeface="华文新魏" panose="02010800040101010101" charset="-122"/>
              </a:endParaRPr>
            </a:p>
          </p:txBody>
        </p:sp>
        <p:sp>
          <p:nvSpPr>
            <p:cNvPr id="92" name="object 82"/>
            <p:cNvSpPr txBox="1"/>
            <p:nvPr/>
          </p:nvSpPr>
          <p:spPr>
            <a:xfrm>
              <a:off x="8303480" y="1347334"/>
              <a:ext cx="2641600" cy="976980"/>
            </a:xfrm>
            <a:prstGeom prst="rect">
              <a:avLst/>
            </a:prstGeom>
            <a:solidFill>
              <a:srgbClr val="ECEBEB"/>
            </a:solidFill>
            <a:ln w="28574">
              <a:solidFill>
                <a:srgbClr val="000000"/>
              </a:solidFill>
            </a:ln>
          </p:spPr>
          <p:txBody>
            <a:bodyPr vert="horz" wrap="square" lIns="0" tIns="83820" rIns="0" bIns="0" rtlCol="0">
              <a:spAutoFit/>
            </a:bodyPr>
            <a:lstStyle/>
            <a:p>
              <a:pPr marL="100965" marR="1211580">
                <a:lnSpc>
                  <a:spcPts val="1500"/>
                </a:lnSpc>
                <a:spcBef>
                  <a:spcPts val="660"/>
                </a:spcBef>
              </a:pPr>
              <a:r>
                <a:rPr sz="1400" spc="-5" dirty="0">
                  <a:solidFill>
                    <a:srgbClr val="0000FF"/>
                  </a:solidFill>
                  <a:latin typeface="华文新魏" panose="02010800040101010101" charset="-122"/>
                  <a:cs typeface="华文新魏" panose="02010800040101010101" charset="-122"/>
                </a:rPr>
                <a:t>recordBirth()  setDOB()  recordDeath()  </a:t>
              </a:r>
              <a:r>
                <a:rPr sz="1400" dirty="0">
                  <a:solidFill>
                    <a:srgbClr val="0000FF"/>
                  </a:solidFill>
                  <a:latin typeface="华文新魏" panose="02010800040101010101" charset="-122"/>
                  <a:cs typeface="华文新魏" panose="02010800040101010101" charset="-122"/>
                </a:rPr>
                <a:t>setDateofDeat</a:t>
              </a:r>
              <a:r>
                <a:rPr sz="1400" spc="-5" dirty="0">
                  <a:solidFill>
                    <a:srgbClr val="0000FF"/>
                  </a:solidFill>
                  <a:latin typeface="华文新魏" panose="02010800040101010101" charset="-122"/>
                  <a:cs typeface="华文新魏" panose="02010800040101010101" charset="-122"/>
                </a:rPr>
                <a:t>h</a:t>
              </a:r>
              <a:r>
                <a:rPr sz="1400" dirty="0">
                  <a:solidFill>
                    <a:srgbClr val="0000FF"/>
                  </a:solidFill>
                  <a:latin typeface="华文新魏" panose="02010800040101010101" charset="-122"/>
                  <a:cs typeface="华文新魏" panose="02010800040101010101" charset="-122"/>
                </a:rPr>
                <a:t>()</a:t>
              </a:r>
              <a:endParaRPr sz="1400" dirty="0">
                <a:latin typeface="华文新魏" panose="02010800040101010101" charset="-122"/>
                <a:cs typeface="华文新魏" panose="02010800040101010101" charset="-122"/>
              </a:endParaRPr>
            </a:p>
          </p:txBody>
        </p:sp>
        <p:sp>
          <p:nvSpPr>
            <p:cNvPr id="93" name="object 83"/>
            <p:cNvSpPr/>
            <p:nvPr/>
          </p:nvSpPr>
          <p:spPr>
            <a:xfrm>
              <a:off x="10488842" y="260213"/>
              <a:ext cx="251089" cy="367457"/>
            </a:xfrm>
            <a:custGeom>
              <a:avLst/>
              <a:gdLst/>
              <a:ahLst/>
              <a:cxnLst/>
              <a:rect l="l" t="t" r="r" b="b"/>
              <a:pathLst>
                <a:path w="260350" h="520065">
                  <a:moveTo>
                    <a:pt x="130175" y="0"/>
                  </a:moveTo>
                  <a:lnTo>
                    <a:pt x="72926" y="26416"/>
                  </a:lnTo>
                  <a:lnTo>
                    <a:pt x="48756" y="57096"/>
                  </a:lnTo>
                  <a:lnTo>
                    <a:pt x="28597" y="97344"/>
                  </a:lnTo>
                  <a:lnTo>
                    <a:pt x="13230" y="145600"/>
                  </a:lnTo>
                  <a:lnTo>
                    <a:pt x="3437" y="200304"/>
                  </a:lnTo>
                  <a:lnTo>
                    <a:pt x="0" y="259896"/>
                  </a:lnTo>
                  <a:lnTo>
                    <a:pt x="3437" y="319488"/>
                  </a:lnTo>
                  <a:lnTo>
                    <a:pt x="13230" y="374192"/>
                  </a:lnTo>
                  <a:lnTo>
                    <a:pt x="28597" y="422449"/>
                  </a:lnTo>
                  <a:lnTo>
                    <a:pt x="48756" y="462697"/>
                  </a:lnTo>
                  <a:lnTo>
                    <a:pt x="72926" y="493378"/>
                  </a:lnTo>
                  <a:lnTo>
                    <a:pt x="130175" y="519794"/>
                  </a:lnTo>
                  <a:lnTo>
                    <a:pt x="160022" y="512930"/>
                  </a:lnTo>
                  <a:lnTo>
                    <a:pt x="211592" y="462697"/>
                  </a:lnTo>
                  <a:lnTo>
                    <a:pt x="231751" y="422449"/>
                  </a:lnTo>
                  <a:lnTo>
                    <a:pt x="247118" y="374192"/>
                  </a:lnTo>
                  <a:lnTo>
                    <a:pt x="256911" y="319488"/>
                  </a:lnTo>
                  <a:lnTo>
                    <a:pt x="260350" y="259896"/>
                  </a:lnTo>
                  <a:lnTo>
                    <a:pt x="256911" y="200304"/>
                  </a:lnTo>
                  <a:lnTo>
                    <a:pt x="247118" y="145600"/>
                  </a:lnTo>
                  <a:lnTo>
                    <a:pt x="231751" y="97344"/>
                  </a:lnTo>
                  <a:lnTo>
                    <a:pt x="211592" y="57096"/>
                  </a:lnTo>
                  <a:lnTo>
                    <a:pt x="187422" y="26416"/>
                  </a:lnTo>
                  <a:lnTo>
                    <a:pt x="130175" y="0"/>
                  </a:lnTo>
                  <a:close/>
                </a:path>
              </a:pathLst>
            </a:custGeom>
            <a:solidFill>
              <a:srgbClr val="941100"/>
            </a:solidFill>
          </p:spPr>
          <p:txBody>
            <a:bodyPr wrap="square" lIns="0" tIns="0" rIns="0" bIns="0" rtlCol="0"/>
            <a:lstStyle/>
            <a:p>
              <a:endParaRPr/>
            </a:p>
          </p:txBody>
        </p:sp>
        <p:sp>
          <p:nvSpPr>
            <p:cNvPr id="94" name="object 84"/>
            <p:cNvSpPr/>
            <p:nvPr/>
          </p:nvSpPr>
          <p:spPr>
            <a:xfrm>
              <a:off x="10519712" y="271586"/>
              <a:ext cx="220218" cy="356085"/>
            </a:xfrm>
            <a:custGeom>
              <a:avLst/>
              <a:gdLst/>
              <a:ahLst/>
              <a:cxnLst/>
              <a:rect l="l" t="t" r="r" b="b"/>
              <a:pathLst>
                <a:path w="260350" h="520065">
                  <a:moveTo>
                    <a:pt x="0" y="259896"/>
                  </a:moveTo>
                  <a:lnTo>
                    <a:pt x="3437" y="200304"/>
                  </a:lnTo>
                  <a:lnTo>
                    <a:pt x="13231" y="145600"/>
                  </a:lnTo>
                  <a:lnTo>
                    <a:pt x="28597" y="97344"/>
                  </a:lnTo>
                  <a:lnTo>
                    <a:pt x="48757" y="57096"/>
                  </a:lnTo>
                  <a:lnTo>
                    <a:pt x="72927" y="26416"/>
                  </a:lnTo>
                  <a:lnTo>
                    <a:pt x="130175" y="0"/>
                  </a:lnTo>
                  <a:lnTo>
                    <a:pt x="160022" y="6864"/>
                  </a:lnTo>
                  <a:lnTo>
                    <a:pt x="211592" y="57096"/>
                  </a:lnTo>
                  <a:lnTo>
                    <a:pt x="231751" y="97344"/>
                  </a:lnTo>
                  <a:lnTo>
                    <a:pt x="247118" y="145600"/>
                  </a:lnTo>
                  <a:lnTo>
                    <a:pt x="256911" y="200304"/>
                  </a:lnTo>
                  <a:lnTo>
                    <a:pt x="260350" y="259896"/>
                  </a:lnTo>
                  <a:lnTo>
                    <a:pt x="256911" y="319488"/>
                  </a:lnTo>
                  <a:lnTo>
                    <a:pt x="247118" y="374192"/>
                  </a:lnTo>
                  <a:lnTo>
                    <a:pt x="231751" y="422449"/>
                  </a:lnTo>
                  <a:lnTo>
                    <a:pt x="211592" y="462697"/>
                  </a:lnTo>
                  <a:lnTo>
                    <a:pt x="187422" y="493377"/>
                  </a:lnTo>
                  <a:lnTo>
                    <a:pt x="130175" y="519793"/>
                  </a:lnTo>
                  <a:lnTo>
                    <a:pt x="100326" y="512929"/>
                  </a:lnTo>
                  <a:lnTo>
                    <a:pt x="48757" y="462697"/>
                  </a:lnTo>
                  <a:lnTo>
                    <a:pt x="28597" y="422449"/>
                  </a:lnTo>
                  <a:lnTo>
                    <a:pt x="13231" y="374192"/>
                  </a:lnTo>
                  <a:lnTo>
                    <a:pt x="3437" y="319488"/>
                  </a:lnTo>
                  <a:lnTo>
                    <a:pt x="0" y="259896"/>
                  </a:lnTo>
                  <a:close/>
                </a:path>
              </a:pathLst>
            </a:custGeom>
            <a:ln w="28574">
              <a:solidFill>
                <a:srgbClr val="000000"/>
              </a:solidFill>
            </a:ln>
          </p:spPr>
          <p:txBody>
            <a:bodyPr wrap="square" lIns="0" tIns="0" rIns="0" bIns="0" rtlCol="0"/>
            <a:lstStyle/>
            <a:p>
              <a:endParaRPr/>
            </a:p>
          </p:txBody>
        </p:sp>
        <p:sp>
          <p:nvSpPr>
            <p:cNvPr id="95" name="object 85"/>
            <p:cNvSpPr/>
            <p:nvPr/>
          </p:nvSpPr>
          <p:spPr>
            <a:xfrm>
              <a:off x="10451896" y="711280"/>
              <a:ext cx="304800" cy="0"/>
            </a:xfrm>
            <a:custGeom>
              <a:avLst/>
              <a:gdLst/>
              <a:ahLst/>
              <a:cxnLst/>
              <a:rect l="l" t="t" r="r" b="b"/>
              <a:pathLst>
                <a:path w="304800">
                  <a:moveTo>
                    <a:pt x="304799" y="0"/>
                  </a:moveTo>
                  <a:lnTo>
                    <a:pt x="0" y="1"/>
                  </a:lnTo>
                </a:path>
              </a:pathLst>
            </a:custGeom>
            <a:ln w="28574">
              <a:solidFill>
                <a:srgbClr val="000000"/>
              </a:solidFill>
            </a:ln>
          </p:spPr>
          <p:txBody>
            <a:bodyPr wrap="square" lIns="0" tIns="0" rIns="0" bIns="0" rtlCol="0"/>
            <a:lstStyle/>
            <a:p>
              <a:endParaRPr/>
            </a:p>
          </p:txBody>
        </p:sp>
        <p:sp>
          <p:nvSpPr>
            <p:cNvPr id="96" name="object 86"/>
            <p:cNvSpPr/>
            <p:nvPr/>
          </p:nvSpPr>
          <p:spPr>
            <a:xfrm>
              <a:off x="10595912" y="624194"/>
              <a:ext cx="0" cy="87630"/>
            </a:xfrm>
            <a:custGeom>
              <a:avLst/>
              <a:gdLst/>
              <a:ahLst/>
              <a:cxnLst/>
              <a:rect l="l" t="t" r="r" b="b"/>
              <a:pathLst>
                <a:path h="87629">
                  <a:moveTo>
                    <a:pt x="0" y="87086"/>
                  </a:moveTo>
                  <a:lnTo>
                    <a:pt x="0" y="0"/>
                  </a:lnTo>
                </a:path>
              </a:pathLst>
            </a:custGeom>
            <a:ln w="28574">
              <a:solidFill>
                <a:srgbClr val="000000"/>
              </a:solidFill>
            </a:ln>
          </p:spPr>
          <p:txBody>
            <a:bodyPr wrap="square" lIns="0" tIns="0" rIns="0" bIns="0" rtlCol="0"/>
            <a:lstStyle/>
            <a:p>
              <a:endParaRPr/>
            </a:p>
          </p:txBody>
        </p:sp>
        <p:sp>
          <p:nvSpPr>
            <p:cNvPr id="97" name="object 87"/>
            <p:cNvSpPr/>
            <p:nvPr/>
          </p:nvSpPr>
          <p:spPr>
            <a:xfrm>
              <a:off x="10519712" y="724668"/>
              <a:ext cx="76200" cy="130810"/>
            </a:xfrm>
            <a:custGeom>
              <a:avLst/>
              <a:gdLst/>
              <a:ahLst/>
              <a:cxnLst/>
              <a:rect l="l" t="t" r="r" b="b"/>
              <a:pathLst>
                <a:path w="76200" h="130809">
                  <a:moveTo>
                    <a:pt x="76199" y="0"/>
                  </a:moveTo>
                  <a:lnTo>
                    <a:pt x="0" y="130628"/>
                  </a:lnTo>
                </a:path>
              </a:pathLst>
            </a:custGeom>
            <a:ln w="28574">
              <a:solidFill>
                <a:srgbClr val="000000"/>
              </a:solidFill>
            </a:ln>
          </p:spPr>
          <p:txBody>
            <a:bodyPr wrap="square" lIns="0" tIns="0" rIns="0" bIns="0" rtlCol="0"/>
            <a:lstStyle/>
            <a:p>
              <a:endParaRPr/>
            </a:p>
          </p:txBody>
        </p:sp>
        <p:sp>
          <p:nvSpPr>
            <p:cNvPr id="98" name="object 88"/>
            <p:cNvSpPr/>
            <p:nvPr/>
          </p:nvSpPr>
          <p:spPr>
            <a:xfrm>
              <a:off x="10595912" y="724668"/>
              <a:ext cx="76200" cy="130810"/>
            </a:xfrm>
            <a:custGeom>
              <a:avLst/>
              <a:gdLst/>
              <a:ahLst/>
              <a:cxnLst/>
              <a:rect l="l" t="t" r="r" b="b"/>
              <a:pathLst>
                <a:path w="76200" h="130809">
                  <a:moveTo>
                    <a:pt x="76199" y="130628"/>
                  </a:moveTo>
                  <a:lnTo>
                    <a:pt x="0" y="0"/>
                  </a:lnTo>
                </a:path>
              </a:pathLst>
            </a:custGeom>
            <a:ln w="28574">
              <a:solidFill>
                <a:srgbClr val="000000"/>
              </a:solidFill>
            </a:ln>
          </p:spPr>
          <p:txBody>
            <a:bodyPr wrap="square" lIns="0" tIns="0" rIns="0" bIns="0" rtlCol="0"/>
            <a:lstStyle/>
            <a:p>
              <a:endParaRPr/>
            </a:p>
          </p:txBody>
        </p:sp>
      </p:grpSp>
      <p:sp>
        <p:nvSpPr>
          <p:cNvPr id="100" name="灯片编号占位符 99"/>
          <p:cNvSpPr>
            <a:spLocks noGrp="1"/>
          </p:cNvSpPr>
          <p:nvPr>
            <p:ph type="sldNum" sz="quarter" idx="12"/>
          </p:nvPr>
        </p:nvSpPr>
        <p:spPr/>
        <p:txBody>
          <a:bodyPr/>
          <a:lstStyle/>
          <a:p>
            <a:fld id="{74D2AB8B-5816-41F2-8B4B-CA5C3E4E6A65}" type="slidenum">
              <a:rPr lang="zh-CN" altLang="en-US" smtClean="0"/>
              <a:t>34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2904"/>
    </mc:Choice>
    <mc:Fallback xmlns="">
      <p:transition spd="slow" advTm="9290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0549" y="1598888"/>
            <a:ext cx="5740400" cy="3911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状态图用来表示一个类的全生命周期过程</a:t>
            </a:r>
          </a:p>
        </p:txBody>
      </p:sp>
      <p:sp>
        <p:nvSpPr>
          <p:cNvPr id="4" name="object 4"/>
          <p:cNvSpPr/>
          <p:nvPr/>
        </p:nvSpPr>
        <p:spPr>
          <a:xfrm>
            <a:off x="865351" y="2351690"/>
            <a:ext cx="10871197" cy="3924299"/>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8900">
              <a:lnSpc>
                <a:spcPts val="1300"/>
              </a:lnSpc>
            </a:pPr>
            <a:fld id="{81D60167-4931-47E6-BA6A-407CBD079E47}" type="slidenum">
              <a:rPr dirty="0">
                <a:solidFill>
                  <a:srgbClr val="FFFFFF"/>
                </a:solidFill>
              </a:rPr>
              <a:t>35</a:t>
            </a:fld>
            <a:endParaRPr dirty="0">
              <a:solidFill>
                <a:srgbClr val="FFFFFF"/>
              </a:solidFill>
            </a:endParaRPr>
          </a:p>
        </p:txBody>
      </p:sp>
      <p:sp>
        <p:nvSpPr>
          <p:cNvPr id="8" name="标题 7"/>
          <p:cNvSpPr>
            <a:spLocks noGrp="1"/>
          </p:cNvSpPr>
          <p:nvPr>
            <p:ph type="title"/>
          </p:nvPr>
        </p:nvSpPr>
        <p:spPr>
          <a:xfrm>
            <a:off x="120869" y="293688"/>
            <a:ext cx="11950262" cy="1325563"/>
          </a:xfrm>
        </p:spPr>
        <p:txBody>
          <a:bodyPr/>
          <a:lstStyle/>
          <a:p>
            <a:r>
              <a:rPr lang="zh-CN" altLang="en-US" spc="-5" dirty="0"/>
              <a:t>状态图（</a:t>
            </a:r>
            <a:r>
              <a:rPr lang="en-US" altLang="zh-CN" spc="-5" dirty="0"/>
              <a:t>State</a:t>
            </a:r>
            <a:r>
              <a:rPr lang="en-US" altLang="zh-CN" spc="-15" dirty="0"/>
              <a:t> </a:t>
            </a:r>
            <a:r>
              <a:rPr lang="en-US" altLang="zh-CN" spc="-5" dirty="0"/>
              <a:t>Chart/State</a:t>
            </a:r>
            <a:r>
              <a:rPr lang="en-US" altLang="zh-CN" spc="-15" dirty="0"/>
              <a:t> </a:t>
            </a:r>
            <a:r>
              <a:rPr lang="en-US" altLang="zh-CN" spc="-5" dirty="0"/>
              <a:t>Machine</a:t>
            </a:r>
            <a:r>
              <a:rPr lang="en-US" altLang="zh-CN" spc="-15" dirty="0"/>
              <a:t> </a:t>
            </a:r>
            <a:r>
              <a:rPr lang="en-US" altLang="zh-CN" spc="-5" dirty="0"/>
              <a:t>Diagram</a:t>
            </a:r>
            <a:r>
              <a:rPr lang="zh-CN" altLang="en-US" spc="-5" dirty="0"/>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43735"/>
    </mc:Choice>
    <mc:Fallback xmlns="">
      <p:transition spd="slow" advTm="14373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67776" y="1690688"/>
            <a:ext cx="2997200" cy="3691890"/>
          </a:xfrm>
          <a:prstGeom prst="rect">
            <a:avLst/>
          </a:prstGeom>
        </p:spPr>
        <p:txBody>
          <a:bodyPr vert="horz" wrap="square" lIns="0" tIns="39369" rIns="0" bIns="0" rtlCol="0">
            <a:spAutoFit/>
          </a:bodyPr>
          <a:lstStyle/>
          <a:p>
            <a:pPr marL="241300" indent="-228600">
              <a:lnSpc>
                <a:spcPct val="100000"/>
              </a:lnSpc>
              <a:spcBef>
                <a:spcPts val="31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建模元素</a:t>
            </a:r>
          </a:p>
          <a:p>
            <a:pPr marL="698500" lvl="1" indent="-228600">
              <a:lnSpc>
                <a:spcPct val="100000"/>
              </a:lnSpc>
              <a:spcBef>
                <a:spcPts val="18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状态</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事件</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状态转移</a:t>
            </a:r>
          </a:p>
          <a:p>
            <a:pPr marL="241300" indent="-228600">
              <a:lnSpc>
                <a:spcPct val="100000"/>
              </a:lnSpc>
              <a:spcBef>
                <a:spcPts val="68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特殊的状态</a:t>
            </a:r>
          </a:p>
          <a:p>
            <a:pPr marL="698500" lvl="1" indent="-228600">
              <a:lnSpc>
                <a:spcPct val="100000"/>
              </a:lnSpc>
              <a:spcBef>
                <a:spcPts val="2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初始状态、结束状态</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组合状态、嵌套状态</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历史状态</a:t>
            </a:r>
          </a:p>
          <a:p>
            <a:pPr marL="241300" indent="-228600">
              <a:lnSpc>
                <a:spcPct val="100000"/>
              </a:lnSpc>
              <a:spcBef>
                <a:spcPts val="7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状态图的绘制</a:t>
            </a:r>
          </a:p>
        </p:txBody>
      </p:sp>
      <p:sp>
        <p:nvSpPr>
          <p:cNvPr id="4" name="object 4"/>
          <p:cNvSpPr/>
          <p:nvPr/>
        </p:nvSpPr>
        <p:spPr>
          <a:xfrm>
            <a:off x="5653594" y="2744370"/>
            <a:ext cx="4241722" cy="802305"/>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926219" y="2995663"/>
            <a:ext cx="6604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C0000"/>
                </a:solidFill>
                <a:latin typeface="华文新魏" panose="02010800040101010101" charset="-122"/>
                <a:cs typeface="华文新魏" panose="02010800040101010101" charset="-122"/>
              </a:rPr>
              <a:t>empty</a:t>
            </a:r>
            <a:endParaRPr sz="1800">
              <a:latin typeface="华文新魏" panose="02010800040101010101" charset="-122"/>
              <a:cs typeface="华文新魏" panose="02010800040101010101" charset="-122"/>
            </a:endParaRPr>
          </a:p>
        </p:txBody>
      </p:sp>
      <p:sp>
        <p:nvSpPr>
          <p:cNvPr id="6" name="object 6"/>
          <p:cNvSpPr txBox="1"/>
          <p:nvPr/>
        </p:nvSpPr>
        <p:spPr>
          <a:xfrm>
            <a:off x="8789634" y="2995663"/>
            <a:ext cx="6127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C0000"/>
                </a:solidFill>
                <a:latin typeface="华文新魏" panose="02010800040101010101" charset="-122"/>
                <a:cs typeface="华文新魏" panose="02010800040101010101" charset="-122"/>
              </a:rPr>
              <a:t>1</a:t>
            </a:r>
            <a:r>
              <a:rPr sz="1800" b="1" spc="-75" dirty="0">
                <a:solidFill>
                  <a:srgbClr val="CC0000"/>
                </a:solidFill>
                <a:latin typeface="华文新魏" panose="02010800040101010101" charset="-122"/>
                <a:cs typeface="华文新魏" panose="02010800040101010101" charset="-122"/>
              </a:rPr>
              <a:t> </a:t>
            </a:r>
            <a:r>
              <a:rPr sz="1800" b="1" spc="-5" dirty="0">
                <a:solidFill>
                  <a:srgbClr val="CC0000"/>
                </a:solidFill>
                <a:latin typeface="华文新魏" panose="02010800040101010101" charset="-122"/>
                <a:cs typeface="华文新魏" panose="02010800040101010101" charset="-122"/>
              </a:rPr>
              <a:t>item</a:t>
            </a:r>
            <a:endParaRPr sz="1800">
              <a:latin typeface="华文新魏" panose="02010800040101010101" charset="-122"/>
              <a:cs typeface="华文新魏" panose="02010800040101010101" charset="-122"/>
            </a:endParaRPr>
          </a:p>
        </p:txBody>
      </p:sp>
      <p:sp>
        <p:nvSpPr>
          <p:cNvPr id="7" name="object 7"/>
          <p:cNvSpPr txBox="1"/>
          <p:nvPr/>
        </p:nvSpPr>
        <p:spPr>
          <a:xfrm>
            <a:off x="7905656" y="2478340"/>
            <a:ext cx="50419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Push()</a:t>
            </a:r>
            <a:endParaRPr sz="1400">
              <a:latin typeface="华文新魏" panose="02010800040101010101" charset="-122"/>
              <a:cs typeface="华文新魏" panose="02010800040101010101" charset="-122"/>
            </a:endParaRPr>
          </a:p>
        </p:txBody>
      </p:sp>
      <p:sp>
        <p:nvSpPr>
          <p:cNvPr id="8" name="object 8"/>
          <p:cNvSpPr txBox="1"/>
          <p:nvPr/>
        </p:nvSpPr>
        <p:spPr>
          <a:xfrm>
            <a:off x="7850814" y="3570120"/>
            <a:ext cx="457834"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Pop()</a:t>
            </a:r>
            <a:endParaRPr sz="1400">
              <a:latin typeface="华文新魏" panose="02010800040101010101" charset="-122"/>
              <a:cs typeface="华文新魏" panose="02010800040101010101" charset="-122"/>
            </a:endParaRPr>
          </a:p>
        </p:txBody>
      </p:sp>
      <p:sp>
        <p:nvSpPr>
          <p:cNvPr id="9" name="object 9"/>
          <p:cNvSpPr txBox="1"/>
          <p:nvPr/>
        </p:nvSpPr>
        <p:spPr>
          <a:xfrm>
            <a:off x="5867991" y="2917492"/>
            <a:ext cx="48450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new()</a:t>
            </a:r>
            <a:endParaRPr sz="1400">
              <a:latin typeface="华文新魏" panose="02010800040101010101" charset="-122"/>
              <a:cs typeface="华文新魏" panose="02010800040101010101" charset="-122"/>
            </a:endParaRPr>
          </a:p>
        </p:txBody>
      </p:sp>
      <p:sp>
        <p:nvSpPr>
          <p:cNvPr id="10" name="object 10"/>
          <p:cNvSpPr txBox="1"/>
          <p:nvPr/>
        </p:nvSpPr>
        <p:spPr>
          <a:xfrm>
            <a:off x="10210668" y="2704095"/>
            <a:ext cx="482600"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华文新魏" panose="02010800040101010101" charset="-122"/>
                <a:cs typeface="华文新魏" panose="02010800040101010101" charset="-122"/>
              </a:rPr>
              <a:t>…</a:t>
            </a:r>
            <a:endParaRPr sz="3600">
              <a:latin typeface="华文新魏" panose="02010800040101010101" charset="-122"/>
              <a:cs typeface="华文新魏" panose="02010800040101010101" charset="-122"/>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8900">
              <a:lnSpc>
                <a:spcPts val="1300"/>
              </a:lnSpc>
            </a:pPr>
            <a:fld id="{81D60167-4931-47E6-BA6A-407CBD079E47}" type="slidenum">
              <a:rPr dirty="0">
                <a:solidFill>
                  <a:srgbClr val="FFFFFF"/>
                </a:solidFill>
              </a:rPr>
              <a:t>36</a:t>
            </a:fld>
            <a:endParaRPr dirty="0">
              <a:solidFill>
                <a:srgbClr val="FFFFFF"/>
              </a:solidFill>
            </a:endParaRPr>
          </a:p>
        </p:txBody>
      </p:sp>
      <p:sp>
        <p:nvSpPr>
          <p:cNvPr id="14" name="标题 13"/>
          <p:cNvSpPr>
            <a:spLocks noGrp="1"/>
          </p:cNvSpPr>
          <p:nvPr>
            <p:ph type="title"/>
          </p:nvPr>
        </p:nvSpPr>
        <p:spPr/>
        <p:txBody>
          <a:bodyPr/>
          <a:lstStyle/>
          <a:p>
            <a:r>
              <a:rPr lang="zh-CN" altLang="en-US" spc="-5" dirty="0"/>
              <a:t>状态图建模</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4259"/>
    </mc:Choice>
    <mc:Fallback xmlns="">
      <p:transition spd="slow" advTm="34259"/>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状态的定义</a:t>
            </a:r>
          </a:p>
        </p:txBody>
      </p:sp>
      <p:sp>
        <p:nvSpPr>
          <p:cNvPr id="3" name="内容占位符 2"/>
          <p:cNvSpPr>
            <a:spLocks noGrp="1"/>
          </p:cNvSpPr>
          <p:nvPr>
            <p:ph idx="1"/>
          </p:nvPr>
        </p:nvSpPr>
        <p:spPr/>
        <p:txBody>
          <a:bodyPr/>
          <a:lstStyle/>
          <a:p>
            <a:pPr marL="12700" marR="5080" indent="0">
              <a:lnSpc>
                <a:spcPct val="119000"/>
              </a:lnSpc>
              <a:buNone/>
            </a:pPr>
            <a:r>
              <a:rPr lang="en-US" altLang="zh-CN" spc="-55" dirty="0">
                <a:solidFill>
                  <a:srgbClr val="800000"/>
                </a:solidFill>
                <a:latin typeface="华文新魏" panose="02010800040101010101" charset="-122"/>
                <a:cs typeface="华文新魏" panose="02010800040101010101" charset="-122"/>
              </a:rPr>
              <a:t>	</a:t>
            </a:r>
            <a:r>
              <a:rPr lang="zh-CN" altLang="en-US" spc="-55" dirty="0">
                <a:solidFill>
                  <a:srgbClr val="800000"/>
                </a:solidFill>
                <a:latin typeface="华文新魏" panose="02010800040101010101" charset="-122"/>
                <a:cs typeface="华文新魏" panose="02010800040101010101" charset="-122"/>
              </a:rPr>
              <a:t>一个对象生命期的一个阶段</a:t>
            </a:r>
            <a:r>
              <a:rPr lang="zh-CN" altLang="en-US" spc="-55" dirty="0">
                <a:solidFill>
                  <a:srgbClr val="941100"/>
                </a:solidFill>
                <a:latin typeface="华文新魏" panose="02010800040101010101" charset="-122"/>
                <a:cs typeface="华文新魏" panose="02010800040101010101" charset="-122"/>
              </a:rPr>
              <a:t>，</a:t>
            </a:r>
            <a:r>
              <a:rPr lang="zh-CN" altLang="en-US" spc="-55" dirty="0">
                <a:solidFill>
                  <a:srgbClr val="800000"/>
                </a:solidFill>
                <a:latin typeface="华文新魏" panose="02010800040101010101" charset="-122"/>
                <a:cs typeface="华文新魏" panose="02010800040101010101" charset="-122"/>
              </a:rPr>
              <a:t>该阶段中对象要满足一些特定的 </a:t>
            </a:r>
            <a:r>
              <a:rPr lang="zh-CN" altLang="en-US" dirty="0">
                <a:solidFill>
                  <a:srgbClr val="800000"/>
                </a:solidFill>
                <a:latin typeface="华文新魏" panose="02010800040101010101" charset="-122"/>
                <a:cs typeface="华文新魏" panose="02010800040101010101" charset="-122"/>
              </a:rPr>
              <a:t>条件</a:t>
            </a:r>
            <a:r>
              <a:rPr lang="zh-CN" altLang="en-US" dirty="0">
                <a:solidFill>
                  <a:srgbClr val="941100"/>
                </a:solidFill>
                <a:latin typeface="华文新魏" panose="02010800040101010101" charset="-122"/>
                <a:cs typeface="华文新魏" panose="02010800040101010101" charset="-122"/>
              </a:rPr>
              <a:t>、</a:t>
            </a:r>
            <a:r>
              <a:rPr lang="zh-CN" altLang="en-US" dirty="0">
                <a:solidFill>
                  <a:srgbClr val="800000"/>
                </a:solidFill>
                <a:latin typeface="华文新魏" panose="02010800040101010101" charset="-122"/>
                <a:cs typeface="华文新魏" panose="02010800040101010101" charset="-122"/>
              </a:rPr>
              <a:t>执行特定的活动或等待某个（些</a:t>
            </a:r>
            <a:r>
              <a:rPr lang="zh-CN" altLang="en-US" dirty="0">
                <a:solidFill>
                  <a:srgbClr val="941100"/>
                </a:solidFill>
                <a:latin typeface="华文新魏" panose="02010800040101010101" charset="-122"/>
                <a:cs typeface="华文新魏" panose="02010800040101010101" charset="-122"/>
              </a:rPr>
              <a:t>）</a:t>
            </a:r>
            <a:r>
              <a:rPr lang="zh-CN" altLang="en-US" dirty="0">
                <a:solidFill>
                  <a:srgbClr val="800000"/>
                </a:solidFill>
                <a:latin typeface="华文新魏" panose="02010800040101010101" charset="-122"/>
                <a:cs typeface="华文新魏" panose="02010800040101010101" charset="-122"/>
              </a:rPr>
              <a:t>事件的发生。</a:t>
            </a:r>
            <a:endParaRPr lang="zh-CN" altLang="en-US" dirty="0">
              <a:latin typeface="华文新魏" panose="02010800040101010101" charset="-122"/>
              <a:cs typeface="华文新魏" panose="02010800040101010101" charset="-122"/>
            </a:endParaRPr>
          </a:p>
          <a:p>
            <a:pPr marL="241300">
              <a:lnSpc>
                <a:spcPct val="100000"/>
              </a:lnSpc>
              <a:spcBef>
                <a:spcPts val="1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体现为对象属性的取值</a:t>
            </a:r>
          </a:p>
          <a:p>
            <a:pPr marL="241300">
              <a:lnSpc>
                <a:spcPct val="100000"/>
              </a:lnSpc>
              <a:spcBef>
                <a:spcPts val="17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包含状态入口或出口行为描述</a:t>
            </a:r>
          </a:p>
          <a:p>
            <a:pPr marL="241300">
              <a:lnSpc>
                <a:spcPct val="100000"/>
              </a:lnSpc>
              <a:spcBef>
                <a:spcPts val="1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从不同的抽象层次分析对象，因此其状态是可嵌套（组合）的</a:t>
            </a:r>
          </a:p>
          <a:p>
            <a:pPr marL="241300">
              <a:lnSpc>
                <a:spcPct val="100000"/>
              </a:lnSpc>
              <a:spcBef>
                <a:spcPts val="1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在给定的场景下，对象状态是确定的，可满足或不满足某个状态</a:t>
            </a:r>
            <a:endParaRPr lang="zh-CN" altLang="en-US" dirty="0"/>
          </a:p>
        </p:txBody>
      </p:sp>
      <p:sp>
        <p:nvSpPr>
          <p:cNvPr id="5" name="灯片编号占位符 4"/>
          <p:cNvSpPr>
            <a:spLocks noGrp="1"/>
          </p:cNvSpPr>
          <p:nvPr>
            <p:ph type="sldNum" sz="quarter" idx="12"/>
          </p:nvPr>
        </p:nvSpPr>
        <p:spPr/>
        <p:txBody>
          <a:bodyPr/>
          <a:lstStyle/>
          <a:p>
            <a:fld id="{74D2AB8B-5816-41F2-8B4B-CA5C3E4E6A65}"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3545"/>
    </mc:Choice>
    <mc:Fallback xmlns="">
      <p:transition spd="slow" advTm="63545"/>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事件的定义</a:t>
            </a:r>
          </a:p>
        </p:txBody>
      </p:sp>
      <p:sp>
        <p:nvSpPr>
          <p:cNvPr id="3" name="内容占位符 2"/>
          <p:cNvSpPr>
            <a:spLocks noGrp="1"/>
          </p:cNvSpPr>
          <p:nvPr>
            <p:ph idx="1"/>
          </p:nvPr>
        </p:nvSpPr>
        <p:spPr/>
        <p:txBody>
          <a:bodyPr/>
          <a:lstStyle/>
          <a:p>
            <a:pPr marL="43815" indent="0">
              <a:lnSpc>
                <a:spcPct val="100000"/>
              </a:lnSpc>
              <a:spcBef>
                <a:spcPts val="1640"/>
              </a:spcBef>
              <a:buNone/>
            </a:pPr>
            <a:r>
              <a:rPr lang="zh-CN" altLang="en-US" dirty="0">
                <a:solidFill>
                  <a:srgbClr val="800000"/>
                </a:solidFill>
                <a:latin typeface="华文新魏" panose="02010800040101010101" charset="-122"/>
                <a:cs typeface="华文新魏" panose="02010800040101010101" charset="-122"/>
              </a:rPr>
              <a:t>可以触发对象状态改变的外部刺激</a:t>
            </a:r>
            <a:r>
              <a:rPr lang="zh-CN" altLang="en-US" dirty="0">
                <a:solidFill>
                  <a:srgbClr val="941100"/>
                </a:solidFill>
                <a:latin typeface="华文新魏" panose="02010800040101010101" charset="-122"/>
                <a:cs typeface="华文新魏" panose="02010800040101010101" charset="-122"/>
              </a:rPr>
              <a:t>，</a:t>
            </a:r>
            <a:r>
              <a:rPr lang="zh-CN" altLang="en-US" dirty="0">
                <a:solidFill>
                  <a:srgbClr val="800000"/>
                </a:solidFill>
                <a:latin typeface="华文新魏" panose="02010800040101010101" charset="-122"/>
                <a:cs typeface="华文新魏" panose="02010800040101010101" charset="-122"/>
              </a:rPr>
              <a:t>也就是消息的发出与接收。</a:t>
            </a:r>
            <a:endParaRPr lang="zh-CN" altLang="en-US" dirty="0">
              <a:latin typeface="华文新魏" panose="02010800040101010101" charset="-122"/>
              <a:cs typeface="华文新魏" panose="02010800040101010101" charset="-122"/>
            </a:endParaRPr>
          </a:p>
          <a:p>
            <a:pPr marL="241300">
              <a:lnSpc>
                <a:spcPct val="100000"/>
              </a:lnSpc>
              <a:spcBef>
                <a:spcPts val="1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决定状态迁移何时发生</a:t>
            </a:r>
          </a:p>
          <a:p>
            <a:endParaRPr lang="zh-CN" altLang="en-US" dirty="0"/>
          </a:p>
        </p:txBody>
      </p:sp>
      <p:sp>
        <p:nvSpPr>
          <p:cNvPr id="5" name="object 3"/>
          <p:cNvSpPr/>
          <p:nvPr/>
        </p:nvSpPr>
        <p:spPr>
          <a:xfrm>
            <a:off x="3768839" y="3146785"/>
            <a:ext cx="4654322" cy="2560332"/>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38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4434"/>
    </mc:Choice>
    <mc:Fallback xmlns="">
      <p:transition spd="slow" advTm="24434"/>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365307"/>
            <a:ext cx="10356850" cy="5849935"/>
          </a:xfrm>
          <a:prstGeom prst="rect">
            <a:avLst/>
          </a:prstGeom>
        </p:spPr>
        <p:txBody>
          <a:bodyPr vert="horz" wrap="square" lIns="0" tIns="12700" rIns="0" bIns="0" rtlCol="0">
            <a:spAutoFit/>
          </a:bodyPr>
          <a:lstStyle/>
          <a:p>
            <a:pPr marL="12700">
              <a:lnSpc>
                <a:spcPct val="100000"/>
              </a:lnSpc>
              <a:spcBef>
                <a:spcPts val="100"/>
              </a:spcBef>
            </a:pPr>
            <a:r>
              <a:rPr sz="3600" spc="-5" dirty="0">
                <a:latin typeface="微软雅黑" panose="020B0503020204020204" pitchFamily="34" charset="-122"/>
                <a:ea typeface="微软雅黑" panose="020B0503020204020204" pitchFamily="34" charset="-122"/>
                <a:cs typeface="华文新魏" panose="02010800040101010101" charset="-122"/>
              </a:rPr>
              <a:t>状态迁移</a:t>
            </a:r>
            <a:endParaRPr sz="36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35"/>
              </a:spcBef>
            </a:pPr>
            <a:endParaRPr sz="3200" dirty="0">
              <a:latin typeface="微软雅黑" panose="020B0503020204020204" pitchFamily="34" charset="-122"/>
              <a:ea typeface="微软雅黑" panose="020B0503020204020204" pitchFamily="34" charset="-122"/>
              <a:cs typeface="Times New Roman" panose="02020603050405020304"/>
            </a:endParaRPr>
          </a:p>
          <a:p>
            <a:pPr marL="12700">
              <a:lnSpc>
                <a:spcPct val="100000"/>
              </a:lnSpc>
              <a:spcBef>
                <a:spcPts val="5"/>
              </a:spcBef>
            </a:pPr>
            <a:r>
              <a:rPr sz="2800" dirty="0">
                <a:latin typeface="微软雅黑" panose="020B0503020204020204" pitchFamily="34" charset="-122"/>
                <a:ea typeface="微软雅黑" panose="020B0503020204020204" pitchFamily="34" charset="-122"/>
                <a:cs typeface="华文新魏" panose="02010800040101010101" charset="-122"/>
              </a:rPr>
              <a:t>定义：</a:t>
            </a:r>
          </a:p>
          <a:p>
            <a:pPr marL="12700" marR="5080" indent="907415">
              <a:lnSpc>
                <a:spcPct val="119000"/>
              </a:lnSpc>
              <a:spcBef>
                <a:spcPts val="1000"/>
              </a:spcBef>
            </a:pPr>
            <a:r>
              <a:rPr sz="2800" spc="-55" dirty="0">
                <a:solidFill>
                  <a:srgbClr val="800000"/>
                </a:solidFill>
                <a:latin typeface="微软雅黑" panose="020B0503020204020204" pitchFamily="34" charset="-122"/>
                <a:ea typeface="微软雅黑" panose="020B0503020204020204" pitchFamily="34" charset="-122"/>
                <a:cs typeface="华文新魏" panose="02010800040101010101" charset="-122"/>
              </a:rPr>
              <a:t>是状态之间的关系</a:t>
            </a:r>
            <a:r>
              <a:rPr sz="2800" spc="-55"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800" spc="-55" dirty="0">
                <a:solidFill>
                  <a:srgbClr val="800000"/>
                </a:solidFill>
                <a:latin typeface="微软雅黑" panose="020B0503020204020204" pitchFamily="34" charset="-122"/>
                <a:ea typeface="微软雅黑" panose="020B0503020204020204" pitchFamily="34" charset="-122"/>
                <a:cs typeface="华文新魏" panose="02010800040101010101" charset="-122"/>
              </a:rPr>
              <a:t>当发生一个事件</a:t>
            </a:r>
            <a:r>
              <a:rPr sz="2800" spc="-55"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800" spc="-55" dirty="0">
                <a:solidFill>
                  <a:srgbClr val="800000"/>
                </a:solidFill>
                <a:latin typeface="微软雅黑" panose="020B0503020204020204" pitchFamily="34" charset="-122"/>
                <a:ea typeface="微软雅黑" panose="020B0503020204020204" pitchFamily="34" charset="-122"/>
                <a:cs typeface="华文新魏" panose="02010800040101010101" charset="-122"/>
              </a:rPr>
              <a:t>条件满足时就会发生从 </a:t>
            </a:r>
            <a:r>
              <a:rPr sz="2800" dirty="0">
                <a:solidFill>
                  <a:srgbClr val="800000"/>
                </a:solidFill>
                <a:latin typeface="微软雅黑" panose="020B0503020204020204" pitchFamily="34" charset="-122"/>
                <a:ea typeface="微软雅黑" panose="020B0503020204020204" pitchFamily="34" charset="-122"/>
                <a:cs typeface="华文新魏" panose="02010800040101010101" charset="-122"/>
              </a:rPr>
              <a:t>源状态</a:t>
            </a:r>
            <a:r>
              <a:rPr sz="2800" dirty="0">
                <a:solidFill>
                  <a:srgbClr val="941100"/>
                </a:solidFill>
                <a:latin typeface="微软雅黑" panose="020B0503020204020204" pitchFamily="34" charset="-122"/>
                <a:ea typeface="微软雅黑" panose="020B0503020204020204" pitchFamily="34" charset="-122"/>
                <a:cs typeface="华文新魏" panose="02010800040101010101" charset="-122"/>
              </a:rPr>
              <a:t>(Source</a:t>
            </a:r>
            <a:r>
              <a:rPr sz="2800" spc="-1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8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State)</a:t>
            </a:r>
            <a:r>
              <a:rPr sz="2800" dirty="0">
                <a:solidFill>
                  <a:srgbClr val="800000"/>
                </a:solidFill>
                <a:latin typeface="微软雅黑" panose="020B0503020204020204" pitchFamily="34" charset="-122"/>
                <a:ea typeface="微软雅黑" panose="020B0503020204020204" pitchFamily="34" charset="-122"/>
                <a:cs typeface="华文新魏" panose="02010800040101010101" charset="-122"/>
              </a:rPr>
              <a:t>到目标状态的转变</a:t>
            </a:r>
            <a:r>
              <a:rPr sz="2800" dirty="0">
                <a:solidFill>
                  <a:srgbClr val="941100"/>
                </a:solidFill>
                <a:latin typeface="微软雅黑" panose="020B0503020204020204" pitchFamily="34" charset="-122"/>
                <a:ea typeface="微软雅黑" panose="020B0503020204020204" pitchFamily="34" charset="-122"/>
                <a:cs typeface="华文新魏" panose="02010800040101010101" charset="-122"/>
              </a:rPr>
              <a:t>(Object</a:t>
            </a:r>
            <a:r>
              <a:rPr sz="2800" spc="-1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800" dirty="0">
                <a:solidFill>
                  <a:srgbClr val="941100"/>
                </a:solidFill>
                <a:latin typeface="微软雅黑" panose="020B0503020204020204" pitchFamily="34" charset="-122"/>
                <a:ea typeface="微软雅黑" panose="020B0503020204020204" pitchFamily="34" charset="-122"/>
                <a:cs typeface="华文新魏" panose="02010800040101010101" charset="-122"/>
              </a:rPr>
              <a:t>State)</a:t>
            </a:r>
            <a:endParaRPr sz="28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当且仅当迁移条件满足时才能触发状态迁移</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每个状态迁移都对应一个触发“事件”</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同时还需要满足一定的“警戒条件(Guard</a:t>
            </a:r>
            <a:r>
              <a:rPr sz="2800" spc="-10" dirty="0">
                <a:latin typeface="微软雅黑" panose="020B0503020204020204" pitchFamily="34" charset="-122"/>
                <a:ea typeface="微软雅黑" panose="020B0503020204020204" pitchFamily="34" charset="-122"/>
                <a:cs typeface="华文新魏" panose="02010800040101010101" charset="-122"/>
              </a:rPr>
              <a:t> </a:t>
            </a:r>
            <a:r>
              <a:rPr sz="2800" spc="-5" dirty="0">
                <a:latin typeface="微软雅黑" panose="020B0503020204020204" pitchFamily="34" charset="-122"/>
                <a:ea typeface="微软雅黑" panose="020B0503020204020204" pitchFamily="34" charset="-122"/>
                <a:cs typeface="华文新魏" panose="02010800040101010101" charset="-122"/>
              </a:rPr>
              <a:t>Condition)”</a:t>
            </a:r>
            <a:endParaRPr sz="28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当触发事件发生，或相关警戒条件满足时，进行相应的状态迁移</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状态迁移的过程会伴随相关的对象操作</a:t>
            </a:r>
          </a:p>
        </p:txBody>
      </p:sp>
      <p:sp>
        <p:nvSpPr>
          <p:cNvPr id="5" name="灯片编号占位符 4"/>
          <p:cNvSpPr>
            <a:spLocks noGrp="1"/>
          </p:cNvSpPr>
          <p:nvPr>
            <p:ph type="sldNum" sz="quarter" idx="7"/>
          </p:nvPr>
        </p:nvSpPr>
        <p:spPr/>
        <p:txBody>
          <a:bodyPr/>
          <a:lstStyle/>
          <a:p>
            <a:pPr marL="88900">
              <a:lnSpc>
                <a:spcPts val="1300"/>
              </a:lnSpc>
            </a:pPr>
            <a:fld id="{81D60167-4931-47E6-BA6A-407CBD079E47}" type="slidenum">
              <a:rPr lang="en-US" altLang="zh-CN" smtClean="0">
                <a:solidFill>
                  <a:srgbClr val="FFFFFF"/>
                </a:solidFill>
              </a:rPr>
              <a:t>39</a:t>
            </a:fld>
            <a:endParaRPr lang="en-US" altLang="zh-CN" dirty="0">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58663"/>
    </mc:Choice>
    <mc:Fallback xmlns="">
      <p:transition spd="slow" advTm="58663"/>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5" dirty="0"/>
              <a:t>UML</a:t>
            </a:r>
            <a:r>
              <a:rPr lang="zh-CN" altLang="en-US" spc="-5" dirty="0"/>
              <a:t>状态图中的状态</a:t>
            </a:r>
            <a:r>
              <a:rPr lang="en-US" altLang="zh-CN" spc="-5" dirty="0"/>
              <a:t>(State)</a:t>
            </a:r>
            <a:endParaRPr lang="zh-CN" altLang="en-US" dirty="0"/>
          </a:p>
        </p:txBody>
      </p:sp>
      <p:sp>
        <p:nvSpPr>
          <p:cNvPr id="3" name="内容占位符 2"/>
          <p:cNvSpPr>
            <a:spLocks noGrp="1"/>
          </p:cNvSpPr>
          <p:nvPr>
            <p:ph idx="1"/>
          </p:nvPr>
        </p:nvSpPr>
        <p:spPr/>
        <p:txBody>
          <a:bodyPr>
            <a:normAutofit fontScale="92500" lnSpcReduction="20000"/>
          </a:bodyPr>
          <a:lstStyle/>
          <a:p>
            <a:pPr marL="241300">
              <a:lnSpc>
                <a:spcPct val="100000"/>
              </a:lnSpc>
              <a:spcBef>
                <a:spcPts val="310"/>
              </a:spcBef>
              <a:buFont typeface="Arial" panose="020B0604020202020204"/>
              <a:buChar char="•"/>
              <a:tabLst>
                <a:tab pos="241300" algn="l"/>
              </a:tabLst>
            </a:pPr>
            <a:r>
              <a:rPr lang="zh-CN" altLang="en-US" dirty="0"/>
              <a:t>一个状态表示在某个时间段内</a:t>
            </a:r>
          </a:p>
          <a:p>
            <a:pPr marL="698500" lvl="1">
              <a:lnSpc>
                <a:spcPct val="100000"/>
              </a:lnSpc>
              <a:spcBef>
                <a:spcPts val="18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某个陈述是正确的</a:t>
            </a:r>
          </a:p>
          <a:p>
            <a:pPr marL="1155700" lvl="2">
              <a:lnSpc>
                <a:spcPct val="100000"/>
              </a:lnSpc>
              <a:spcBef>
                <a:spcPts val="260"/>
              </a:spcBef>
              <a:buFont typeface="Arial" panose="020B0604020202020204"/>
              <a:buChar char="•"/>
              <a:tabLst>
                <a:tab pos="1155065" algn="l"/>
                <a:tab pos="1155700" algn="l"/>
              </a:tabLst>
            </a:pPr>
            <a:r>
              <a:rPr lang="zh-CN" altLang="en-US" dirty="0">
                <a:latin typeface="华文新魏" panose="02010800040101010101" charset="-122"/>
                <a:cs typeface="华文新魏" panose="02010800040101010101" charset="-122"/>
              </a:rPr>
              <a:t>例如</a:t>
            </a:r>
            <a:r>
              <a:rPr lang="en-US" altLang="zh-CN" dirty="0">
                <a:latin typeface="华文新魏" panose="02010800040101010101" charset="-122"/>
                <a:cs typeface="华文新魏" panose="02010800040101010101" charset="-122"/>
              </a:rPr>
              <a:t>.</a:t>
            </a:r>
            <a:r>
              <a:rPr lang="zh-CN" altLang="en-US" spc="-5" dirty="0">
                <a:latin typeface="华文新魏" panose="02010800040101010101" charset="-122"/>
                <a:cs typeface="华文新魏" panose="02010800040101010101" charset="-122"/>
              </a:rPr>
              <a:t> </a:t>
            </a:r>
            <a:r>
              <a:rPr lang="en-US" altLang="zh-CN" dirty="0">
                <a:latin typeface="华文新魏" panose="02010800040101010101" charset="-122"/>
                <a:cs typeface="华文新魏" panose="02010800040101010101" charset="-122"/>
              </a:rPr>
              <a:t>(budget</a:t>
            </a:r>
            <a:r>
              <a:rPr lang="zh-CN" altLang="en-US" spc="-5" dirty="0">
                <a:latin typeface="华文新魏" panose="02010800040101010101" charset="-122"/>
                <a:cs typeface="华文新魏" panose="02010800040101010101" charset="-122"/>
              </a:rPr>
              <a:t> </a:t>
            </a:r>
            <a:r>
              <a:rPr lang="en-US" altLang="zh-CN" dirty="0">
                <a:latin typeface="华文新魏" panose="02010800040101010101" charset="-122"/>
                <a:cs typeface="华文新魏" panose="02010800040101010101" charset="-122"/>
              </a:rPr>
              <a:t>- expenses)</a:t>
            </a:r>
            <a:r>
              <a:rPr lang="zh-CN" altLang="en-US" spc="-5" dirty="0">
                <a:latin typeface="华文新魏" panose="02010800040101010101" charset="-122"/>
                <a:cs typeface="华文新魏" panose="02010800040101010101" charset="-122"/>
              </a:rPr>
              <a:t> </a:t>
            </a:r>
            <a:r>
              <a:rPr lang="en-US" altLang="zh-CN" dirty="0">
                <a:latin typeface="华文新魏" panose="02010800040101010101" charset="-122"/>
                <a:cs typeface="华文新魏" panose="02010800040101010101" charset="-122"/>
              </a:rPr>
              <a:t>&gt; 0</a:t>
            </a:r>
          </a:p>
          <a:p>
            <a:pPr marL="698500" lvl="1">
              <a:lnSpc>
                <a:spcPct val="100000"/>
              </a:lnSpc>
              <a:spcBef>
                <a:spcPts val="16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某个动作正在执行或者在某个事件等待触发</a:t>
            </a:r>
            <a:endParaRPr lang="en-US" altLang="zh-CN" dirty="0">
              <a:latin typeface="华文新魏" panose="02010800040101010101" charset="-122"/>
              <a:cs typeface="华文新魏" panose="02010800040101010101" charset="-122"/>
            </a:endParaRPr>
          </a:p>
          <a:p>
            <a:pPr marL="1155700" lvl="2">
              <a:lnSpc>
                <a:spcPct val="100000"/>
              </a:lnSpc>
              <a:spcBef>
                <a:spcPts val="400"/>
              </a:spcBef>
              <a:buFont typeface="Arial" panose="020B0604020202020204"/>
              <a:buChar char="•"/>
              <a:tabLst>
                <a:tab pos="240665" algn="l"/>
                <a:tab pos="241300" algn="l"/>
              </a:tabLst>
            </a:pPr>
            <a:r>
              <a:rPr lang="zh-CN" altLang="en-US" dirty="0">
                <a:latin typeface="华文新魏" panose="02010800040101010101" charset="-122"/>
              </a:rPr>
              <a:t>例如</a:t>
            </a:r>
            <a:r>
              <a:rPr lang="en-US" altLang="zh-CN" dirty="0">
                <a:latin typeface="华文新魏" panose="02010800040101010101" charset="-122"/>
              </a:rPr>
              <a:t>.</a:t>
            </a:r>
            <a:r>
              <a:rPr lang="zh-CN" altLang="en-US" dirty="0">
                <a:latin typeface="华文新魏" panose="02010800040101010101" charset="-122"/>
              </a:rPr>
              <a:t> 检查订单商品的存货</a:t>
            </a:r>
            <a:r>
              <a:rPr lang="en-US" altLang="zh-CN" dirty="0">
                <a:latin typeface="华文新魏" panose="02010800040101010101" charset="-122"/>
              </a:rPr>
              <a:t>(checking inventory for order items)</a:t>
            </a:r>
          </a:p>
          <a:p>
            <a:pPr marL="1155700" lvl="2">
              <a:lnSpc>
                <a:spcPct val="100000"/>
              </a:lnSpc>
              <a:spcBef>
                <a:spcPts val="300"/>
              </a:spcBef>
              <a:buFont typeface="Arial" panose="020B0604020202020204"/>
              <a:buChar char="•"/>
              <a:tabLst>
                <a:tab pos="240665" algn="l"/>
                <a:tab pos="241300" algn="l"/>
              </a:tabLst>
            </a:pPr>
            <a:r>
              <a:rPr lang="zh-CN" altLang="en-US" dirty="0">
                <a:latin typeface="华文新魏" panose="02010800040101010101" charset="-122"/>
              </a:rPr>
              <a:t>例如</a:t>
            </a:r>
            <a:r>
              <a:rPr lang="en-US" altLang="zh-CN" dirty="0">
                <a:latin typeface="华文新魏" panose="02010800040101010101" charset="-122"/>
              </a:rPr>
              <a:t>.</a:t>
            </a:r>
            <a:r>
              <a:rPr lang="zh-CN" altLang="en-US" dirty="0">
                <a:latin typeface="华文新魏" panose="02010800040101010101" charset="-122"/>
              </a:rPr>
              <a:t> 等待缺货产品到货</a:t>
            </a:r>
            <a:r>
              <a:rPr lang="en-US" altLang="zh-CN" dirty="0">
                <a:latin typeface="华文新魏" panose="02010800040101010101" charset="-122"/>
              </a:rPr>
              <a:t>(waiting for arrival of a missing items)</a:t>
            </a:r>
          </a:p>
          <a:p>
            <a:pPr marL="698500" lvl="1">
              <a:lnSpc>
                <a:spcPct val="100000"/>
              </a:lnSpc>
              <a:spcBef>
                <a:spcPts val="160"/>
              </a:spcBef>
              <a:buFont typeface="Arial" panose="020B0604020202020204"/>
              <a:buChar char="•"/>
              <a:tabLst>
                <a:tab pos="698500" algn="l"/>
              </a:tabLst>
            </a:pPr>
            <a:endParaRPr lang="zh-CN" altLang="en-US" dirty="0">
              <a:latin typeface="华文新魏" panose="02010800040101010101" charset="-122"/>
              <a:cs typeface="华文新魏" panose="02010800040101010101" charset="-122"/>
            </a:endParaRPr>
          </a:p>
          <a:p>
            <a:pPr marL="241300">
              <a:lnSpc>
                <a:spcPct val="100000"/>
              </a:lnSpc>
              <a:spcBef>
                <a:spcPts val="425"/>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状态相关的活动类型</a:t>
            </a:r>
          </a:p>
          <a:p>
            <a:pPr marL="698500" lvl="1">
              <a:lnSpc>
                <a:spcPct val="100000"/>
              </a:lnSpc>
              <a:spcBef>
                <a:spcPts val="280"/>
              </a:spcBef>
              <a:buFont typeface="Arial" panose="020B0604020202020204"/>
              <a:buChar char="•"/>
              <a:tabLst>
                <a:tab pos="698500" algn="l"/>
              </a:tabLst>
            </a:pPr>
            <a:r>
              <a:rPr lang="en-US" altLang="zh-CN" dirty="0">
                <a:solidFill>
                  <a:srgbClr val="CF0E30"/>
                </a:solidFill>
                <a:latin typeface="华文新魏" panose="02010800040101010101" charset="-122"/>
                <a:cs typeface="华文新魏" panose="02010800040101010101" charset="-122"/>
              </a:rPr>
              <a:t>do</a:t>
            </a:r>
            <a:r>
              <a:rPr lang="en-US" altLang="zh-CN" dirty="0">
                <a:latin typeface="华文新魏" panose="02010800040101010101" charset="-122"/>
                <a:cs typeface="华文新魏" panose="02010800040101010101" charset="-122"/>
              </a:rPr>
              <a:t>/activity</a:t>
            </a:r>
          </a:p>
          <a:p>
            <a:pPr marL="1155700" lvl="2">
              <a:lnSpc>
                <a:spcPct val="100000"/>
              </a:lnSpc>
              <a:spcBef>
                <a:spcPts val="260"/>
              </a:spcBef>
              <a:buFont typeface="Arial" panose="020B0604020202020204"/>
              <a:buChar char="•"/>
              <a:tabLst>
                <a:tab pos="1155065" algn="l"/>
                <a:tab pos="1155700" algn="l"/>
              </a:tabLst>
            </a:pPr>
            <a:r>
              <a:rPr lang="zh-CN" altLang="en-US" dirty="0">
                <a:latin typeface="华文新魏" panose="02010800040101010101" charset="-122"/>
                <a:cs typeface="华文新魏" panose="02010800040101010101" charset="-122"/>
              </a:rPr>
              <a:t>只要处于这个状态，某个活动就会一直执行，直到离开这个状态</a:t>
            </a:r>
            <a:endParaRPr lang="en-US" altLang="zh-CN" dirty="0">
              <a:latin typeface="华文新魏" panose="02010800040101010101" charset="-122"/>
              <a:cs typeface="华文新魏" panose="02010800040101010101" charset="-122"/>
            </a:endParaRPr>
          </a:p>
          <a:p>
            <a:pPr marL="698500" lvl="1">
              <a:lnSpc>
                <a:spcPct val="100000"/>
              </a:lnSpc>
              <a:spcBef>
                <a:spcPts val="410"/>
              </a:spcBef>
              <a:buFont typeface="Arial" panose="020B0604020202020204"/>
              <a:buChar char="•"/>
              <a:tabLst>
                <a:tab pos="241300" algn="l"/>
                <a:tab pos="2080895" algn="l"/>
                <a:tab pos="2877820" algn="l"/>
              </a:tabLst>
            </a:pPr>
            <a:r>
              <a:rPr lang="en-US" altLang="zh-CN" spc="-5" dirty="0">
                <a:solidFill>
                  <a:srgbClr val="CF0E30"/>
                </a:solidFill>
                <a:cs typeface="华文新魏" panose="02010800040101010101" charset="-122"/>
              </a:rPr>
              <a:t>entry</a:t>
            </a:r>
            <a:r>
              <a:rPr lang="en-US" altLang="zh-CN" spc="-5" dirty="0">
                <a:cs typeface="华文新魏" panose="02010800040101010101" charset="-122"/>
              </a:rPr>
              <a:t>/action	</a:t>
            </a:r>
            <a:r>
              <a:rPr lang="en-US" altLang="zh-CN" dirty="0">
                <a:cs typeface="华文新魏" panose="02010800040101010101" charset="-122"/>
              </a:rPr>
              <a:t>and	</a:t>
            </a:r>
            <a:r>
              <a:rPr lang="en-US" altLang="zh-CN" spc="-5" dirty="0">
                <a:solidFill>
                  <a:srgbClr val="CF0E30"/>
                </a:solidFill>
                <a:cs typeface="华文新魏" panose="02010800040101010101" charset="-122"/>
              </a:rPr>
              <a:t>exit</a:t>
            </a:r>
            <a:r>
              <a:rPr lang="en-US" altLang="zh-CN" spc="-5" dirty="0">
                <a:cs typeface="华文新魏" panose="02010800040101010101" charset="-122"/>
              </a:rPr>
              <a:t>/action</a:t>
            </a:r>
            <a:endParaRPr lang="en-US" altLang="zh-CN" dirty="0">
              <a:cs typeface="华文新魏" panose="02010800040101010101" charset="-122"/>
            </a:endParaRPr>
          </a:p>
          <a:p>
            <a:pPr marL="1155700" lvl="2" indent="-229235">
              <a:lnSpc>
                <a:spcPct val="100000"/>
              </a:lnSpc>
              <a:spcBef>
                <a:spcPts val="260"/>
              </a:spcBef>
              <a:buFont typeface="Arial" panose="020B0604020202020204"/>
              <a:buChar char="•"/>
              <a:tabLst>
                <a:tab pos="697865" algn="l"/>
                <a:tab pos="698500" algn="l"/>
              </a:tabLst>
            </a:pPr>
            <a:r>
              <a:rPr lang="zh-CN" altLang="en-US" sz="2100" dirty="0">
                <a:cs typeface="华文新魏" panose="02010800040101010101" charset="-122"/>
              </a:rPr>
              <a:t>当进入（</a:t>
            </a:r>
            <a:r>
              <a:rPr lang="en-US" altLang="zh-CN" sz="2100" dirty="0">
                <a:cs typeface="华文新魏" panose="02010800040101010101" charset="-122"/>
              </a:rPr>
              <a:t>/</a:t>
            </a:r>
            <a:r>
              <a:rPr lang="zh-CN" altLang="en-US" sz="2100" dirty="0">
                <a:cs typeface="华文新魏" panose="02010800040101010101" charset="-122"/>
              </a:rPr>
              <a:t>离开）某个状态时执行的动作</a:t>
            </a:r>
          </a:p>
          <a:p>
            <a:pPr marL="698500" lvl="1">
              <a:lnSpc>
                <a:spcPct val="100000"/>
              </a:lnSpc>
              <a:spcBef>
                <a:spcPts val="260"/>
              </a:spcBef>
              <a:buFont typeface="Arial" panose="020B0604020202020204"/>
              <a:buChar char="•"/>
              <a:tabLst>
                <a:tab pos="241300" algn="l"/>
              </a:tabLst>
            </a:pPr>
            <a:r>
              <a:rPr lang="en-US" altLang="zh-CN" spc="-5" dirty="0">
                <a:solidFill>
                  <a:srgbClr val="CF0E30"/>
                </a:solidFill>
                <a:cs typeface="华文新魏" panose="02010800040101010101" charset="-122"/>
              </a:rPr>
              <a:t>include</a:t>
            </a:r>
            <a:r>
              <a:rPr lang="en-US" altLang="zh-CN" spc="-5" dirty="0">
                <a:cs typeface="华文新魏" panose="02010800040101010101" charset="-122"/>
              </a:rPr>
              <a:t>/</a:t>
            </a:r>
            <a:r>
              <a:rPr lang="en-US" altLang="zh-CN" spc="-5" dirty="0" err="1">
                <a:cs typeface="华文新魏" panose="02010800040101010101" charset="-122"/>
              </a:rPr>
              <a:t>stateDiagramName</a:t>
            </a:r>
            <a:endParaRPr lang="en-US" altLang="zh-CN" dirty="0">
              <a:cs typeface="华文新魏" panose="02010800040101010101" charset="-122"/>
            </a:endParaRPr>
          </a:p>
          <a:p>
            <a:pPr marL="1155700" lvl="2" indent="-229235">
              <a:lnSpc>
                <a:spcPct val="100000"/>
              </a:lnSpc>
              <a:spcBef>
                <a:spcPts val="260"/>
              </a:spcBef>
              <a:buFont typeface="Arial" panose="020B0604020202020204"/>
              <a:buChar char="•"/>
              <a:tabLst>
                <a:tab pos="697865" algn="l"/>
                <a:tab pos="698500" algn="l"/>
              </a:tabLst>
            </a:pPr>
            <a:r>
              <a:rPr lang="zh-CN" altLang="en-US" sz="2100" dirty="0">
                <a:cs typeface="华文新魏" panose="02010800040101010101" charset="-122"/>
              </a:rPr>
              <a:t>调用另一个状态图，形成嵌套的状态图</a:t>
            </a:r>
          </a:p>
          <a:p>
            <a:pPr marL="1155700" lvl="2">
              <a:lnSpc>
                <a:spcPct val="100000"/>
              </a:lnSpc>
              <a:spcBef>
                <a:spcPts val="260"/>
              </a:spcBef>
              <a:buFont typeface="Arial" panose="020B0604020202020204"/>
              <a:buChar char="•"/>
              <a:tabLst>
                <a:tab pos="1155065" algn="l"/>
                <a:tab pos="1155700" algn="l"/>
              </a:tabLst>
            </a:pPr>
            <a:endParaRPr lang="zh-CN" altLang="en-US" dirty="0">
              <a:latin typeface="华文新魏" panose="02010800040101010101" charset="-122"/>
              <a:cs typeface="华文新魏" panose="02010800040101010101" charset="-122"/>
            </a:endParaRPr>
          </a:p>
          <a:p>
            <a:endParaRPr lang="zh-CN" altLang="en-US" dirty="0"/>
          </a:p>
        </p:txBody>
      </p:sp>
      <p:sp>
        <p:nvSpPr>
          <p:cNvPr id="5" name="object 2"/>
          <p:cNvSpPr/>
          <p:nvPr/>
        </p:nvSpPr>
        <p:spPr>
          <a:xfrm>
            <a:off x="9413802" y="1919307"/>
            <a:ext cx="2152086" cy="1564129"/>
          </a:xfrm>
          <a:prstGeom prst="rect">
            <a:avLst/>
          </a:prstGeom>
          <a:blipFill>
            <a:blip r:embed="rId3" cstate="print"/>
            <a:stretch>
              <a:fillRect/>
            </a:stretch>
          </a:blipFill>
        </p:spPr>
        <p:txBody>
          <a:bodyPr wrap="square" lIns="0" tIns="0" rIns="0" bIns="0" rtlCol="0"/>
          <a:lstStyle/>
          <a:p>
            <a:endParaRPr/>
          </a:p>
        </p:txBody>
      </p:sp>
      <p:sp>
        <p:nvSpPr>
          <p:cNvPr id="6" name="object 8"/>
          <p:cNvSpPr txBox="1"/>
          <p:nvPr/>
        </p:nvSpPr>
        <p:spPr>
          <a:xfrm>
            <a:off x="8334978" y="1512854"/>
            <a:ext cx="9398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状态名称</a:t>
            </a:r>
            <a:endParaRPr sz="1800">
              <a:latin typeface="华文新魏" panose="02010800040101010101" charset="-122"/>
              <a:cs typeface="华文新魏" panose="02010800040101010101" charset="-122"/>
            </a:endParaRPr>
          </a:p>
        </p:txBody>
      </p:sp>
      <p:sp>
        <p:nvSpPr>
          <p:cNvPr id="7" name="object 9"/>
          <p:cNvSpPr/>
          <p:nvPr/>
        </p:nvSpPr>
        <p:spPr>
          <a:xfrm>
            <a:off x="9281440" y="1735967"/>
            <a:ext cx="466725" cy="319405"/>
          </a:xfrm>
          <a:custGeom>
            <a:avLst/>
            <a:gdLst/>
            <a:ahLst/>
            <a:cxnLst/>
            <a:rect l="l" t="t" r="r" b="b"/>
            <a:pathLst>
              <a:path w="466725" h="319405">
                <a:moveTo>
                  <a:pt x="0" y="0"/>
                </a:moveTo>
                <a:lnTo>
                  <a:pt x="466397" y="319034"/>
                </a:lnTo>
              </a:path>
            </a:pathLst>
          </a:custGeom>
          <a:ln w="19049">
            <a:solidFill>
              <a:srgbClr val="000000"/>
            </a:solidFill>
          </a:ln>
        </p:spPr>
        <p:txBody>
          <a:bodyPr wrap="square" lIns="0" tIns="0" rIns="0" bIns="0" rtlCol="0"/>
          <a:lstStyle/>
          <a:p>
            <a:endParaRPr/>
          </a:p>
        </p:txBody>
      </p:sp>
      <p:sp>
        <p:nvSpPr>
          <p:cNvPr id="8" name="object 10"/>
          <p:cNvSpPr/>
          <p:nvPr/>
        </p:nvSpPr>
        <p:spPr>
          <a:xfrm>
            <a:off x="9684398" y="1994872"/>
            <a:ext cx="84455" cy="74930"/>
          </a:xfrm>
          <a:custGeom>
            <a:avLst/>
            <a:gdLst/>
            <a:ahLst/>
            <a:cxnLst/>
            <a:rect l="l" t="t" r="r" b="b"/>
            <a:pathLst>
              <a:path w="84454" h="74930">
                <a:moveTo>
                  <a:pt x="43022" y="0"/>
                </a:moveTo>
                <a:lnTo>
                  <a:pt x="0" y="62894"/>
                </a:lnTo>
                <a:lnTo>
                  <a:pt x="84404" y="74468"/>
                </a:lnTo>
                <a:lnTo>
                  <a:pt x="43022" y="0"/>
                </a:lnTo>
                <a:close/>
              </a:path>
            </a:pathLst>
          </a:custGeom>
          <a:solidFill>
            <a:srgbClr val="000000"/>
          </a:solidFill>
        </p:spPr>
        <p:txBody>
          <a:bodyPr wrap="square" lIns="0" tIns="0" rIns="0" bIns="0" rtlCol="0"/>
          <a:lstStyle/>
          <a:p>
            <a:endParaRPr/>
          </a:p>
        </p:txBody>
      </p:sp>
      <p:sp>
        <p:nvSpPr>
          <p:cNvPr id="9" name="object 11"/>
          <p:cNvSpPr txBox="1"/>
          <p:nvPr/>
        </p:nvSpPr>
        <p:spPr>
          <a:xfrm>
            <a:off x="8334978" y="3654414"/>
            <a:ext cx="9398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状态活动</a:t>
            </a:r>
            <a:endParaRPr sz="1800">
              <a:latin typeface="华文新魏" panose="02010800040101010101" charset="-122"/>
              <a:cs typeface="华文新魏" panose="02010800040101010101" charset="-122"/>
            </a:endParaRPr>
          </a:p>
        </p:txBody>
      </p:sp>
      <p:sp>
        <p:nvSpPr>
          <p:cNvPr id="10" name="object 12"/>
          <p:cNvSpPr/>
          <p:nvPr/>
        </p:nvSpPr>
        <p:spPr>
          <a:xfrm>
            <a:off x="9281440" y="3363626"/>
            <a:ext cx="466725" cy="327025"/>
          </a:xfrm>
          <a:custGeom>
            <a:avLst/>
            <a:gdLst/>
            <a:ahLst/>
            <a:cxnLst/>
            <a:rect l="l" t="t" r="r" b="b"/>
            <a:pathLst>
              <a:path w="466725" h="327025">
                <a:moveTo>
                  <a:pt x="0" y="326742"/>
                </a:moveTo>
                <a:lnTo>
                  <a:pt x="466556" y="0"/>
                </a:lnTo>
              </a:path>
            </a:pathLst>
          </a:custGeom>
          <a:ln w="19049">
            <a:solidFill>
              <a:srgbClr val="000000"/>
            </a:solidFill>
          </a:ln>
        </p:spPr>
        <p:txBody>
          <a:bodyPr wrap="square" lIns="0" tIns="0" rIns="0" bIns="0" rtlCol="0"/>
          <a:lstStyle/>
          <a:p>
            <a:endParaRPr/>
          </a:p>
        </p:txBody>
      </p:sp>
      <p:sp>
        <p:nvSpPr>
          <p:cNvPr id="11" name="object 13"/>
          <p:cNvSpPr/>
          <p:nvPr/>
        </p:nvSpPr>
        <p:spPr>
          <a:xfrm>
            <a:off x="9684531" y="3349056"/>
            <a:ext cx="84455" cy="74930"/>
          </a:xfrm>
          <a:custGeom>
            <a:avLst/>
            <a:gdLst/>
            <a:ahLst/>
            <a:cxnLst/>
            <a:rect l="l" t="t" r="r" b="b"/>
            <a:pathLst>
              <a:path w="84454" h="74929">
                <a:moveTo>
                  <a:pt x="84272" y="0"/>
                </a:moveTo>
                <a:lnTo>
                  <a:pt x="0" y="12503"/>
                </a:lnTo>
                <a:lnTo>
                  <a:pt x="43712" y="74918"/>
                </a:lnTo>
                <a:lnTo>
                  <a:pt x="84272" y="0"/>
                </a:lnTo>
                <a:close/>
              </a:path>
            </a:pathLst>
          </a:custGeom>
          <a:solidFill>
            <a:srgbClr val="000000"/>
          </a:solidFill>
        </p:spPr>
        <p:txBody>
          <a:bodyPr wrap="square" lIns="0" tIns="0" rIns="0" bIns="0" rtlCol="0"/>
          <a:lstStyle/>
          <a:p>
            <a:endParaRPr/>
          </a:p>
        </p:txBody>
      </p:sp>
      <p:sp>
        <p:nvSpPr>
          <p:cNvPr id="12" name="object 14"/>
          <p:cNvSpPr/>
          <p:nvPr/>
        </p:nvSpPr>
        <p:spPr>
          <a:xfrm>
            <a:off x="7750274" y="5013175"/>
            <a:ext cx="480059" cy="360045"/>
          </a:xfrm>
          <a:custGeom>
            <a:avLst/>
            <a:gdLst/>
            <a:ahLst/>
            <a:cxnLst/>
            <a:rect l="l" t="t" r="r" b="b"/>
            <a:pathLst>
              <a:path w="480059" h="360045">
                <a:moveTo>
                  <a:pt x="239910" y="0"/>
                </a:moveTo>
                <a:lnTo>
                  <a:pt x="184901" y="4751"/>
                </a:lnTo>
                <a:lnTo>
                  <a:pt x="134403" y="18287"/>
                </a:lnTo>
                <a:lnTo>
                  <a:pt x="89858" y="39526"/>
                </a:lnTo>
                <a:lnTo>
                  <a:pt x="52705" y="67389"/>
                </a:lnTo>
                <a:lnTo>
                  <a:pt x="24384" y="100796"/>
                </a:lnTo>
                <a:lnTo>
                  <a:pt x="6336" y="138666"/>
                </a:lnTo>
                <a:lnTo>
                  <a:pt x="0" y="179920"/>
                </a:lnTo>
                <a:lnTo>
                  <a:pt x="6336" y="221175"/>
                </a:lnTo>
                <a:lnTo>
                  <a:pt x="24384" y="259045"/>
                </a:lnTo>
                <a:lnTo>
                  <a:pt x="52705" y="292452"/>
                </a:lnTo>
                <a:lnTo>
                  <a:pt x="89858" y="320315"/>
                </a:lnTo>
                <a:lnTo>
                  <a:pt x="134403" y="341554"/>
                </a:lnTo>
                <a:lnTo>
                  <a:pt x="184901" y="355089"/>
                </a:lnTo>
                <a:lnTo>
                  <a:pt x="239910" y="359841"/>
                </a:lnTo>
                <a:lnTo>
                  <a:pt x="294919" y="355089"/>
                </a:lnTo>
                <a:lnTo>
                  <a:pt x="345417" y="341554"/>
                </a:lnTo>
                <a:lnTo>
                  <a:pt x="389962" y="320315"/>
                </a:lnTo>
                <a:lnTo>
                  <a:pt x="427115" y="292452"/>
                </a:lnTo>
                <a:lnTo>
                  <a:pt x="455436" y="259045"/>
                </a:lnTo>
                <a:lnTo>
                  <a:pt x="473485" y="221175"/>
                </a:lnTo>
                <a:lnTo>
                  <a:pt x="479821" y="179920"/>
                </a:lnTo>
                <a:lnTo>
                  <a:pt x="473485" y="138666"/>
                </a:lnTo>
                <a:lnTo>
                  <a:pt x="455436" y="100796"/>
                </a:lnTo>
                <a:lnTo>
                  <a:pt x="427115" y="67389"/>
                </a:lnTo>
                <a:lnTo>
                  <a:pt x="389962" y="39526"/>
                </a:lnTo>
                <a:lnTo>
                  <a:pt x="345417" y="18287"/>
                </a:lnTo>
                <a:lnTo>
                  <a:pt x="294919" y="4751"/>
                </a:lnTo>
                <a:lnTo>
                  <a:pt x="239910" y="0"/>
                </a:lnTo>
                <a:close/>
              </a:path>
            </a:pathLst>
          </a:custGeom>
          <a:solidFill>
            <a:srgbClr val="000000"/>
          </a:solidFill>
        </p:spPr>
        <p:txBody>
          <a:bodyPr wrap="square" lIns="0" tIns="0" rIns="0" bIns="0" rtlCol="0"/>
          <a:lstStyle/>
          <a:p>
            <a:endParaRPr/>
          </a:p>
        </p:txBody>
      </p:sp>
      <p:sp>
        <p:nvSpPr>
          <p:cNvPr id="13" name="object 15"/>
          <p:cNvSpPr/>
          <p:nvPr/>
        </p:nvSpPr>
        <p:spPr>
          <a:xfrm>
            <a:off x="7750273" y="5013175"/>
            <a:ext cx="480059" cy="360045"/>
          </a:xfrm>
          <a:custGeom>
            <a:avLst/>
            <a:gdLst/>
            <a:ahLst/>
            <a:cxnLst/>
            <a:rect l="l" t="t" r="r" b="b"/>
            <a:pathLst>
              <a:path w="480059" h="360045">
                <a:moveTo>
                  <a:pt x="479821" y="179920"/>
                </a:moveTo>
                <a:lnTo>
                  <a:pt x="473485" y="221175"/>
                </a:lnTo>
                <a:lnTo>
                  <a:pt x="455436" y="259045"/>
                </a:lnTo>
                <a:lnTo>
                  <a:pt x="427116" y="292452"/>
                </a:lnTo>
                <a:lnTo>
                  <a:pt x="389962" y="320315"/>
                </a:lnTo>
                <a:lnTo>
                  <a:pt x="345417" y="341554"/>
                </a:lnTo>
                <a:lnTo>
                  <a:pt x="294920" y="355090"/>
                </a:lnTo>
                <a:lnTo>
                  <a:pt x="239910" y="359841"/>
                </a:lnTo>
                <a:lnTo>
                  <a:pt x="184901" y="355090"/>
                </a:lnTo>
                <a:lnTo>
                  <a:pt x="134404" y="341554"/>
                </a:lnTo>
                <a:lnTo>
                  <a:pt x="89859" y="320315"/>
                </a:lnTo>
                <a:lnTo>
                  <a:pt x="52705" y="292452"/>
                </a:lnTo>
                <a:lnTo>
                  <a:pt x="24384" y="259045"/>
                </a:lnTo>
                <a:lnTo>
                  <a:pt x="6336" y="221175"/>
                </a:lnTo>
                <a:lnTo>
                  <a:pt x="0" y="179920"/>
                </a:lnTo>
                <a:lnTo>
                  <a:pt x="6336" y="138666"/>
                </a:lnTo>
                <a:lnTo>
                  <a:pt x="24384" y="100796"/>
                </a:lnTo>
                <a:lnTo>
                  <a:pt x="52705" y="67389"/>
                </a:lnTo>
                <a:lnTo>
                  <a:pt x="89859" y="39526"/>
                </a:lnTo>
                <a:lnTo>
                  <a:pt x="134404" y="18287"/>
                </a:lnTo>
                <a:lnTo>
                  <a:pt x="184901" y="4751"/>
                </a:lnTo>
                <a:lnTo>
                  <a:pt x="239910" y="0"/>
                </a:lnTo>
                <a:lnTo>
                  <a:pt x="294920" y="4751"/>
                </a:lnTo>
                <a:lnTo>
                  <a:pt x="345417" y="18287"/>
                </a:lnTo>
                <a:lnTo>
                  <a:pt x="389962" y="39526"/>
                </a:lnTo>
                <a:lnTo>
                  <a:pt x="427116" y="67389"/>
                </a:lnTo>
                <a:lnTo>
                  <a:pt x="455436" y="100796"/>
                </a:lnTo>
                <a:lnTo>
                  <a:pt x="473485" y="138666"/>
                </a:lnTo>
                <a:lnTo>
                  <a:pt x="479821" y="179920"/>
                </a:lnTo>
                <a:close/>
              </a:path>
            </a:pathLst>
          </a:custGeom>
          <a:ln w="12699">
            <a:solidFill>
              <a:srgbClr val="000000"/>
            </a:solidFill>
          </a:ln>
        </p:spPr>
        <p:txBody>
          <a:bodyPr wrap="square" lIns="0" tIns="0" rIns="0" bIns="0" rtlCol="0"/>
          <a:lstStyle/>
          <a:p>
            <a:endParaRPr/>
          </a:p>
        </p:txBody>
      </p:sp>
      <p:sp>
        <p:nvSpPr>
          <p:cNvPr id="14" name="object 16"/>
          <p:cNvSpPr/>
          <p:nvPr/>
        </p:nvSpPr>
        <p:spPr>
          <a:xfrm>
            <a:off x="10301702" y="5075439"/>
            <a:ext cx="301625" cy="235585"/>
          </a:xfrm>
          <a:custGeom>
            <a:avLst/>
            <a:gdLst/>
            <a:ahLst/>
            <a:cxnLst/>
            <a:rect l="l" t="t" r="r" b="b"/>
            <a:pathLst>
              <a:path w="301625" h="235585">
                <a:moveTo>
                  <a:pt x="150779" y="0"/>
                </a:moveTo>
                <a:lnTo>
                  <a:pt x="103121" y="5998"/>
                </a:lnTo>
                <a:lnTo>
                  <a:pt x="61730" y="22700"/>
                </a:lnTo>
                <a:lnTo>
                  <a:pt x="29091" y="48169"/>
                </a:lnTo>
                <a:lnTo>
                  <a:pt x="7686" y="80467"/>
                </a:lnTo>
                <a:lnTo>
                  <a:pt x="0" y="117655"/>
                </a:lnTo>
                <a:lnTo>
                  <a:pt x="7686" y="154843"/>
                </a:lnTo>
                <a:lnTo>
                  <a:pt x="29091" y="187141"/>
                </a:lnTo>
                <a:lnTo>
                  <a:pt x="61730" y="212610"/>
                </a:lnTo>
                <a:lnTo>
                  <a:pt x="103121" y="229313"/>
                </a:lnTo>
                <a:lnTo>
                  <a:pt x="150779" y="235311"/>
                </a:lnTo>
                <a:lnTo>
                  <a:pt x="198437" y="229313"/>
                </a:lnTo>
                <a:lnTo>
                  <a:pt x="239827" y="212610"/>
                </a:lnTo>
                <a:lnTo>
                  <a:pt x="272466" y="187141"/>
                </a:lnTo>
                <a:lnTo>
                  <a:pt x="293870" y="154843"/>
                </a:lnTo>
                <a:lnTo>
                  <a:pt x="301557" y="117655"/>
                </a:lnTo>
                <a:lnTo>
                  <a:pt x="293870" y="80467"/>
                </a:lnTo>
                <a:lnTo>
                  <a:pt x="272466" y="48169"/>
                </a:lnTo>
                <a:lnTo>
                  <a:pt x="239827" y="22700"/>
                </a:lnTo>
                <a:lnTo>
                  <a:pt x="198437" y="5998"/>
                </a:lnTo>
                <a:lnTo>
                  <a:pt x="150779" y="0"/>
                </a:lnTo>
                <a:close/>
              </a:path>
            </a:pathLst>
          </a:custGeom>
          <a:solidFill>
            <a:srgbClr val="000000"/>
          </a:solidFill>
        </p:spPr>
        <p:txBody>
          <a:bodyPr wrap="square" lIns="0" tIns="0" rIns="0" bIns="0" rtlCol="0"/>
          <a:lstStyle/>
          <a:p>
            <a:endParaRPr/>
          </a:p>
        </p:txBody>
      </p:sp>
      <p:sp>
        <p:nvSpPr>
          <p:cNvPr id="15" name="object 17"/>
          <p:cNvSpPr/>
          <p:nvPr/>
        </p:nvSpPr>
        <p:spPr>
          <a:xfrm>
            <a:off x="10301702" y="5075439"/>
            <a:ext cx="301625" cy="235585"/>
          </a:xfrm>
          <a:custGeom>
            <a:avLst/>
            <a:gdLst/>
            <a:ahLst/>
            <a:cxnLst/>
            <a:rect l="l" t="t" r="r" b="b"/>
            <a:pathLst>
              <a:path w="301625" h="235585">
                <a:moveTo>
                  <a:pt x="0" y="117655"/>
                </a:moveTo>
                <a:lnTo>
                  <a:pt x="29091" y="48169"/>
                </a:lnTo>
                <a:lnTo>
                  <a:pt x="61730" y="22700"/>
                </a:lnTo>
                <a:lnTo>
                  <a:pt x="103121" y="5998"/>
                </a:lnTo>
                <a:lnTo>
                  <a:pt x="150779" y="0"/>
                </a:lnTo>
                <a:lnTo>
                  <a:pt x="198436" y="5998"/>
                </a:lnTo>
                <a:lnTo>
                  <a:pt x="239826" y="22700"/>
                </a:lnTo>
                <a:lnTo>
                  <a:pt x="272466" y="48169"/>
                </a:lnTo>
                <a:lnTo>
                  <a:pt x="293870" y="80467"/>
                </a:lnTo>
                <a:lnTo>
                  <a:pt x="301557" y="117655"/>
                </a:lnTo>
                <a:lnTo>
                  <a:pt x="293870" y="154844"/>
                </a:lnTo>
                <a:lnTo>
                  <a:pt x="272466" y="187142"/>
                </a:lnTo>
                <a:lnTo>
                  <a:pt x="239826" y="212611"/>
                </a:lnTo>
                <a:lnTo>
                  <a:pt x="198436" y="229313"/>
                </a:lnTo>
                <a:lnTo>
                  <a:pt x="150779" y="235311"/>
                </a:lnTo>
                <a:lnTo>
                  <a:pt x="103121" y="229313"/>
                </a:lnTo>
                <a:lnTo>
                  <a:pt x="61730" y="212611"/>
                </a:lnTo>
                <a:lnTo>
                  <a:pt x="29091" y="187142"/>
                </a:lnTo>
                <a:lnTo>
                  <a:pt x="7686" y="154844"/>
                </a:lnTo>
                <a:lnTo>
                  <a:pt x="0" y="117655"/>
                </a:lnTo>
                <a:close/>
              </a:path>
            </a:pathLst>
          </a:custGeom>
          <a:ln w="12699">
            <a:solidFill>
              <a:srgbClr val="000000"/>
            </a:solidFill>
          </a:ln>
        </p:spPr>
        <p:txBody>
          <a:bodyPr wrap="square" lIns="0" tIns="0" rIns="0" bIns="0" rtlCol="0"/>
          <a:lstStyle/>
          <a:p>
            <a:endParaRPr/>
          </a:p>
        </p:txBody>
      </p:sp>
      <p:sp>
        <p:nvSpPr>
          <p:cNvPr id="16" name="object 18"/>
          <p:cNvSpPr/>
          <p:nvPr/>
        </p:nvSpPr>
        <p:spPr>
          <a:xfrm>
            <a:off x="10152581" y="4959075"/>
            <a:ext cx="600075" cy="468630"/>
          </a:xfrm>
          <a:custGeom>
            <a:avLst/>
            <a:gdLst/>
            <a:ahLst/>
            <a:cxnLst/>
            <a:rect l="l" t="t" r="r" b="b"/>
            <a:pathLst>
              <a:path w="600075" h="468629">
                <a:moveTo>
                  <a:pt x="0" y="234020"/>
                </a:moveTo>
                <a:lnTo>
                  <a:pt x="4831" y="191954"/>
                </a:lnTo>
                <a:lnTo>
                  <a:pt x="18762" y="152362"/>
                </a:lnTo>
                <a:lnTo>
                  <a:pt x="40945" y="115905"/>
                </a:lnTo>
                <a:lnTo>
                  <a:pt x="70532" y="83243"/>
                </a:lnTo>
                <a:lnTo>
                  <a:pt x="106678" y="55038"/>
                </a:lnTo>
                <a:lnTo>
                  <a:pt x="148535" y="31950"/>
                </a:lnTo>
                <a:lnTo>
                  <a:pt x="195255" y="14640"/>
                </a:lnTo>
                <a:lnTo>
                  <a:pt x="245993" y="3770"/>
                </a:lnTo>
                <a:lnTo>
                  <a:pt x="299901" y="0"/>
                </a:lnTo>
                <a:lnTo>
                  <a:pt x="353808" y="3770"/>
                </a:lnTo>
                <a:lnTo>
                  <a:pt x="404546" y="14640"/>
                </a:lnTo>
                <a:lnTo>
                  <a:pt x="451266" y="31950"/>
                </a:lnTo>
                <a:lnTo>
                  <a:pt x="493123" y="55038"/>
                </a:lnTo>
                <a:lnTo>
                  <a:pt x="529269" y="83243"/>
                </a:lnTo>
                <a:lnTo>
                  <a:pt x="558856" y="115905"/>
                </a:lnTo>
                <a:lnTo>
                  <a:pt x="581039" y="152362"/>
                </a:lnTo>
                <a:lnTo>
                  <a:pt x="594970" y="191954"/>
                </a:lnTo>
                <a:lnTo>
                  <a:pt x="599802" y="234020"/>
                </a:lnTo>
                <a:lnTo>
                  <a:pt x="594970" y="276085"/>
                </a:lnTo>
                <a:lnTo>
                  <a:pt x="581039" y="315677"/>
                </a:lnTo>
                <a:lnTo>
                  <a:pt x="558856" y="352134"/>
                </a:lnTo>
                <a:lnTo>
                  <a:pt x="529269" y="384796"/>
                </a:lnTo>
                <a:lnTo>
                  <a:pt x="493123" y="413001"/>
                </a:lnTo>
                <a:lnTo>
                  <a:pt x="451266" y="436089"/>
                </a:lnTo>
                <a:lnTo>
                  <a:pt x="404546" y="453398"/>
                </a:lnTo>
                <a:lnTo>
                  <a:pt x="353808" y="464269"/>
                </a:lnTo>
                <a:lnTo>
                  <a:pt x="299901" y="468039"/>
                </a:lnTo>
                <a:lnTo>
                  <a:pt x="245993" y="464269"/>
                </a:lnTo>
                <a:lnTo>
                  <a:pt x="195255" y="453398"/>
                </a:lnTo>
                <a:lnTo>
                  <a:pt x="148535" y="436089"/>
                </a:lnTo>
                <a:lnTo>
                  <a:pt x="106678" y="413001"/>
                </a:lnTo>
                <a:lnTo>
                  <a:pt x="70532" y="384796"/>
                </a:lnTo>
                <a:lnTo>
                  <a:pt x="40945" y="352134"/>
                </a:lnTo>
                <a:lnTo>
                  <a:pt x="18762" y="315677"/>
                </a:lnTo>
                <a:lnTo>
                  <a:pt x="4831" y="276085"/>
                </a:lnTo>
                <a:lnTo>
                  <a:pt x="0" y="234020"/>
                </a:lnTo>
                <a:close/>
              </a:path>
            </a:pathLst>
          </a:custGeom>
          <a:ln w="25399">
            <a:solidFill>
              <a:srgbClr val="000000"/>
            </a:solidFill>
          </a:ln>
        </p:spPr>
        <p:txBody>
          <a:bodyPr wrap="square" lIns="0" tIns="0" rIns="0" bIns="0" rtlCol="0"/>
          <a:lstStyle/>
          <a:p>
            <a:endParaRPr/>
          </a:p>
        </p:txBody>
      </p:sp>
      <p:sp>
        <p:nvSpPr>
          <p:cNvPr id="17" name="object 19"/>
          <p:cNvSpPr txBox="1"/>
          <p:nvPr/>
        </p:nvSpPr>
        <p:spPr>
          <a:xfrm>
            <a:off x="7465203" y="5541479"/>
            <a:ext cx="9398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初始状态</a:t>
            </a:r>
            <a:endParaRPr sz="1800">
              <a:latin typeface="华文新魏" panose="02010800040101010101" charset="-122"/>
              <a:cs typeface="华文新魏" panose="02010800040101010101" charset="-122"/>
            </a:endParaRPr>
          </a:p>
        </p:txBody>
      </p:sp>
      <p:sp>
        <p:nvSpPr>
          <p:cNvPr id="18" name="object 20"/>
          <p:cNvSpPr txBox="1"/>
          <p:nvPr/>
        </p:nvSpPr>
        <p:spPr>
          <a:xfrm>
            <a:off x="9991162" y="5598630"/>
            <a:ext cx="9398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结束状态</a:t>
            </a:r>
            <a:endParaRPr sz="1800">
              <a:latin typeface="华文新魏" panose="02010800040101010101" charset="-122"/>
              <a:cs typeface="华文新魏" panose="02010800040101010101" charset="-122"/>
            </a:endParaRPr>
          </a:p>
        </p:txBody>
      </p:sp>
      <p:sp>
        <p:nvSpPr>
          <p:cNvPr id="19" name="灯片编号占位符 18"/>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7838"/>
    </mc:Choice>
    <mc:Fallback xmlns="">
      <p:transition spd="slow" advTm="157838"/>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8155" y="1303978"/>
            <a:ext cx="10166985" cy="1639570"/>
          </a:xfrm>
          <a:prstGeom prst="rect">
            <a:avLst/>
          </a:prstGeom>
        </p:spPr>
        <p:txBody>
          <a:bodyPr vert="horz" wrap="square" lIns="0" tIns="224154" rIns="0" bIns="0" rtlCol="0">
            <a:spAutoFit/>
          </a:bodyPr>
          <a:lstStyle/>
          <a:p>
            <a:pPr marL="12700">
              <a:lnSpc>
                <a:spcPct val="100000"/>
              </a:lnSpc>
              <a:spcBef>
                <a:spcPts val="1765"/>
              </a:spcBef>
            </a:pPr>
            <a:r>
              <a:rPr sz="2600" dirty="0">
                <a:latin typeface="微软雅黑" panose="020B0503020204020204" pitchFamily="34" charset="-122"/>
                <a:ea typeface="微软雅黑" panose="020B0503020204020204" pitchFamily="34" charset="-122"/>
                <a:cs typeface="华文新魏" panose="02010800040101010101" charset="-122"/>
              </a:rPr>
              <a:t>迁移包括五部分：</a:t>
            </a:r>
          </a:p>
          <a:p>
            <a:pPr marL="241300" marR="5080" indent="-228600">
              <a:lnSpc>
                <a:spcPct val="122000"/>
              </a:lnSpc>
              <a:spcBef>
                <a:spcPts val="9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源状态(source</a:t>
            </a:r>
            <a:r>
              <a:rPr sz="2400" spc="-15"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state)</a:t>
            </a:r>
            <a:r>
              <a:rPr sz="2400" dirty="0">
                <a:latin typeface="微软雅黑" panose="020B0503020204020204" pitchFamily="34" charset="-122"/>
                <a:ea typeface="微软雅黑" panose="020B0503020204020204" pitchFamily="34" charset="-122"/>
                <a:cs typeface="华文新魏" panose="02010800040101010101" charset="-122"/>
              </a:rPr>
              <a:t>、触发事件</a:t>
            </a:r>
            <a:r>
              <a:rPr sz="2400" spc="-1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(event</a:t>
            </a:r>
            <a:r>
              <a:rPr sz="2400" spc="-1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trigger),</a:t>
            </a:r>
            <a:r>
              <a:rPr sz="2400" spc="-20"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警戒条件(guard</a:t>
            </a:r>
            <a:r>
              <a:rPr sz="2400" spc="-1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condition),  动作(action),</a:t>
            </a:r>
            <a:r>
              <a:rPr sz="2400" spc="-10"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目标状态(target state).</a:t>
            </a:r>
          </a:p>
        </p:txBody>
      </p:sp>
      <p:sp>
        <p:nvSpPr>
          <p:cNvPr id="3" name="object 3"/>
          <p:cNvSpPr txBox="1"/>
          <p:nvPr/>
        </p:nvSpPr>
        <p:spPr>
          <a:xfrm>
            <a:off x="951462" y="4008800"/>
            <a:ext cx="10490200" cy="777240"/>
          </a:xfrm>
          <a:prstGeom prst="rect">
            <a:avLst/>
          </a:prstGeom>
        </p:spPr>
        <p:txBody>
          <a:bodyPr vert="horz" wrap="square" lIns="0" tIns="58419" rIns="0" bIns="0" rtlCol="0">
            <a:spAutoFit/>
          </a:bodyPr>
          <a:lstStyle/>
          <a:p>
            <a:pPr marL="241300" marR="5080" indent="-228600">
              <a:lnSpc>
                <a:spcPts val="2800"/>
              </a:lnSpc>
              <a:spcBef>
                <a:spcPts val="46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对于给定的状态，最终只能产生一个迁移，因此从相同的状态出来的、 事件相同的几个迁移之间的条件应该是互斥的。</a:t>
            </a:r>
          </a:p>
        </p:txBody>
      </p:sp>
      <p:sp>
        <p:nvSpPr>
          <p:cNvPr id="4" name="object 4"/>
          <p:cNvSpPr/>
          <p:nvPr/>
        </p:nvSpPr>
        <p:spPr>
          <a:xfrm>
            <a:off x="3969274" y="4861303"/>
            <a:ext cx="4086746" cy="1478184"/>
          </a:xfrm>
          <a:prstGeom prst="rect">
            <a:avLst/>
          </a:prstGeom>
          <a:blipFill>
            <a:blip r:embed="rId3" cstate="print"/>
            <a:stretch>
              <a:fillRect/>
            </a:stretch>
          </a:blipFill>
        </p:spPr>
        <p:txBody>
          <a:bodyPr wrap="square" lIns="0" tIns="0" rIns="0" bIns="0" rtlCol="0"/>
          <a:lstStyle/>
          <a:p>
            <a:endParaRPr dirty="0">
              <a:latin typeface="微软雅黑" panose="020B0503020204020204" pitchFamily="34" charset="-122"/>
              <a:ea typeface="微软雅黑" panose="020B0503020204020204" pitchFamily="34" charset="-122"/>
            </a:endParaRPr>
          </a:p>
        </p:txBody>
      </p:sp>
      <p:sp>
        <p:nvSpPr>
          <p:cNvPr id="6" name="object 6"/>
          <p:cNvSpPr/>
          <p:nvPr/>
        </p:nvSpPr>
        <p:spPr>
          <a:xfrm>
            <a:off x="2207095" y="3101000"/>
            <a:ext cx="1143000" cy="838200"/>
          </a:xfrm>
          <a:custGeom>
            <a:avLst/>
            <a:gdLst/>
            <a:ahLst/>
            <a:cxnLst/>
            <a:rect l="l" t="t" r="r" b="b"/>
            <a:pathLst>
              <a:path w="1143000" h="838200">
                <a:moveTo>
                  <a:pt x="1003300" y="0"/>
                </a:moveTo>
                <a:lnTo>
                  <a:pt x="139700" y="0"/>
                </a:lnTo>
                <a:lnTo>
                  <a:pt x="95544" y="7122"/>
                </a:lnTo>
                <a:lnTo>
                  <a:pt x="57195" y="26954"/>
                </a:lnTo>
                <a:lnTo>
                  <a:pt x="26954" y="57195"/>
                </a:lnTo>
                <a:lnTo>
                  <a:pt x="7122" y="95544"/>
                </a:lnTo>
                <a:lnTo>
                  <a:pt x="0" y="139700"/>
                </a:lnTo>
                <a:lnTo>
                  <a:pt x="0" y="698500"/>
                </a:lnTo>
                <a:lnTo>
                  <a:pt x="7122" y="742656"/>
                </a:lnTo>
                <a:lnTo>
                  <a:pt x="26954" y="781005"/>
                </a:lnTo>
                <a:lnTo>
                  <a:pt x="57195" y="811246"/>
                </a:lnTo>
                <a:lnTo>
                  <a:pt x="95544" y="831078"/>
                </a:lnTo>
                <a:lnTo>
                  <a:pt x="139700" y="838200"/>
                </a:lnTo>
                <a:lnTo>
                  <a:pt x="1003300" y="838200"/>
                </a:lnTo>
                <a:lnTo>
                  <a:pt x="1047455" y="831078"/>
                </a:lnTo>
                <a:lnTo>
                  <a:pt x="1085804" y="811246"/>
                </a:lnTo>
                <a:lnTo>
                  <a:pt x="1116045" y="781005"/>
                </a:lnTo>
                <a:lnTo>
                  <a:pt x="1135877" y="742656"/>
                </a:lnTo>
                <a:lnTo>
                  <a:pt x="1142999" y="698500"/>
                </a:lnTo>
                <a:lnTo>
                  <a:pt x="1142999" y="139700"/>
                </a:lnTo>
                <a:lnTo>
                  <a:pt x="1135877" y="95544"/>
                </a:lnTo>
                <a:lnTo>
                  <a:pt x="1116045" y="57195"/>
                </a:lnTo>
                <a:lnTo>
                  <a:pt x="1085804" y="26954"/>
                </a:lnTo>
                <a:lnTo>
                  <a:pt x="1047455" y="7122"/>
                </a:lnTo>
                <a:lnTo>
                  <a:pt x="1003300"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2207095" y="3101000"/>
            <a:ext cx="1143000" cy="838200"/>
          </a:xfrm>
          <a:custGeom>
            <a:avLst/>
            <a:gdLst/>
            <a:ahLst/>
            <a:cxnLst/>
            <a:rect l="l" t="t" r="r" b="b"/>
            <a:pathLst>
              <a:path w="1143000" h="838200">
                <a:moveTo>
                  <a:pt x="0" y="139699"/>
                </a:moveTo>
                <a:lnTo>
                  <a:pt x="7121" y="95543"/>
                </a:lnTo>
                <a:lnTo>
                  <a:pt x="26953" y="57194"/>
                </a:lnTo>
                <a:lnTo>
                  <a:pt x="57194" y="26953"/>
                </a:lnTo>
                <a:lnTo>
                  <a:pt x="95543" y="7121"/>
                </a:lnTo>
                <a:lnTo>
                  <a:pt x="139700" y="0"/>
                </a:lnTo>
                <a:lnTo>
                  <a:pt x="1003299" y="0"/>
                </a:lnTo>
                <a:lnTo>
                  <a:pt x="1047455" y="7121"/>
                </a:lnTo>
                <a:lnTo>
                  <a:pt x="1085804" y="26953"/>
                </a:lnTo>
                <a:lnTo>
                  <a:pt x="1116045" y="57194"/>
                </a:lnTo>
                <a:lnTo>
                  <a:pt x="1135877" y="95543"/>
                </a:lnTo>
                <a:lnTo>
                  <a:pt x="1142999" y="139699"/>
                </a:lnTo>
                <a:lnTo>
                  <a:pt x="1142999" y="698499"/>
                </a:lnTo>
                <a:lnTo>
                  <a:pt x="1135877" y="742655"/>
                </a:lnTo>
                <a:lnTo>
                  <a:pt x="1116045" y="781004"/>
                </a:lnTo>
                <a:lnTo>
                  <a:pt x="1085804" y="811245"/>
                </a:lnTo>
                <a:lnTo>
                  <a:pt x="1047455" y="831077"/>
                </a:lnTo>
                <a:lnTo>
                  <a:pt x="1003299" y="838199"/>
                </a:lnTo>
                <a:lnTo>
                  <a:pt x="139700" y="838199"/>
                </a:lnTo>
                <a:lnTo>
                  <a:pt x="95543" y="831077"/>
                </a:lnTo>
                <a:lnTo>
                  <a:pt x="57194" y="811245"/>
                </a:lnTo>
                <a:lnTo>
                  <a:pt x="26953" y="781004"/>
                </a:lnTo>
                <a:lnTo>
                  <a:pt x="7121" y="742655"/>
                </a:lnTo>
                <a:lnTo>
                  <a:pt x="0" y="698499"/>
                </a:lnTo>
                <a:lnTo>
                  <a:pt x="0" y="139699"/>
                </a:lnTo>
                <a:close/>
              </a:path>
            </a:pathLst>
          </a:custGeom>
          <a:ln w="19049">
            <a:solidFill>
              <a:srgbClr val="C55E7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txBox="1"/>
          <p:nvPr/>
        </p:nvSpPr>
        <p:spPr>
          <a:xfrm>
            <a:off x="2314052" y="3324520"/>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华文新魏" panose="02010800040101010101" charset="-122"/>
              </a:rPr>
              <a:t>源状态</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p:nvPr/>
        </p:nvSpPr>
        <p:spPr>
          <a:xfrm>
            <a:off x="9128595" y="3024800"/>
            <a:ext cx="1389934" cy="838200"/>
          </a:xfrm>
          <a:custGeom>
            <a:avLst/>
            <a:gdLst/>
            <a:ahLst/>
            <a:cxnLst/>
            <a:rect l="l" t="t" r="r" b="b"/>
            <a:pathLst>
              <a:path w="1143000" h="838200">
                <a:moveTo>
                  <a:pt x="1003300" y="0"/>
                </a:moveTo>
                <a:lnTo>
                  <a:pt x="139700" y="0"/>
                </a:lnTo>
                <a:lnTo>
                  <a:pt x="95543" y="7122"/>
                </a:lnTo>
                <a:lnTo>
                  <a:pt x="57194" y="26954"/>
                </a:lnTo>
                <a:lnTo>
                  <a:pt x="26953" y="57195"/>
                </a:lnTo>
                <a:lnTo>
                  <a:pt x="7121" y="95544"/>
                </a:lnTo>
                <a:lnTo>
                  <a:pt x="0" y="139700"/>
                </a:lnTo>
                <a:lnTo>
                  <a:pt x="0" y="698500"/>
                </a:lnTo>
                <a:lnTo>
                  <a:pt x="7121" y="742656"/>
                </a:lnTo>
                <a:lnTo>
                  <a:pt x="26953" y="781005"/>
                </a:lnTo>
                <a:lnTo>
                  <a:pt x="57194" y="811246"/>
                </a:lnTo>
                <a:lnTo>
                  <a:pt x="95543" y="831078"/>
                </a:lnTo>
                <a:lnTo>
                  <a:pt x="139700" y="838200"/>
                </a:lnTo>
                <a:lnTo>
                  <a:pt x="1003300" y="838200"/>
                </a:lnTo>
                <a:lnTo>
                  <a:pt x="1047455" y="831078"/>
                </a:lnTo>
                <a:lnTo>
                  <a:pt x="1085804" y="811246"/>
                </a:lnTo>
                <a:lnTo>
                  <a:pt x="1116045" y="781005"/>
                </a:lnTo>
                <a:lnTo>
                  <a:pt x="1135877" y="742656"/>
                </a:lnTo>
                <a:lnTo>
                  <a:pt x="1143000" y="698500"/>
                </a:lnTo>
                <a:lnTo>
                  <a:pt x="1143000" y="139700"/>
                </a:lnTo>
                <a:lnTo>
                  <a:pt x="1135877" y="95544"/>
                </a:lnTo>
                <a:lnTo>
                  <a:pt x="1116045" y="57195"/>
                </a:lnTo>
                <a:lnTo>
                  <a:pt x="1085804" y="26954"/>
                </a:lnTo>
                <a:lnTo>
                  <a:pt x="1047455" y="7122"/>
                </a:lnTo>
                <a:lnTo>
                  <a:pt x="1003300"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9128595" y="3024800"/>
            <a:ext cx="1389934" cy="838200"/>
          </a:xfrm>
          <a:custGeom>
            <a:avLst/>
            <a:gdLst/>
            <a:ahLst/>
            <a:cxnLst/>
            <a:rect l="l" t="t" r="r" b="b"/>
            <a:pathLst>
              <a:path w="1143000" h="838200">
                <a:moveTo>
                  <a:pt x="0" y="139699"/>
                </a:moveTo>
                <a:lnTo>
                  <a:pt x="7121" y="95543"/>
                </a:lnTo>
                <a:lnTo>
                  <a:pt x="26953" y="57194"/>
                </a:lnTo>
                <a:lnTo>
                  <a:pt x="57194" y="26953"/>
                </a:lnTo>
                <a:lnTo>
                  <a:pt x="95543" y="7121"/>
                </a:lnTo>
                <a:lnTo>
                  <a:pt x="139700" y="0"/>
                </a:lnTo>
                <a:lnTo>
                  <a:pt x="1003299" y="0"/>
                </a:lnTo>
                <a:lnTo>
                  <a:pt x="1047455" y="7121"/>
                </a:lnTo>
                <a:lnTo>
                  <a:pt x="1085804" y="26953"/>
                </a:lnTo>
                <a:lnTo>
                  <a:pt x="1116045" y="57194"/>
                </a:lnTo>
                <a:lnTo>
                  <a:pt x="1135877" y="95543"/>
                </a:lnTo>
                <a:lnTo>
                  <a:pt x="1142999" y="139699"/>
                </a:lnTo>
                <a:lnTo>
                  <a:pt x="1142999" y="698499"/>
                </a:lnTo>
                <a:lnTo>
                  <a:pt x="1135877" y="742655"/>
                </a:lnTo>
                <a:lnTo>
                  <a:pt x="1116045" y="781004"/>
                </a:lnTo>
                <a:lnTo>
                  <a:pt x="1085804" y="811245"/>
                </a:lnTo>
                <a:lnTo>
                  <a:pt x="1047455" y="831077"/>
                </a:lnTo>
                <a:lnTo>
                  <a:pt x="1003299" y="838199"/>
                </a:lnTo>
                <a:lnTo>
                  <a:pt x="139700" y="838199"/>
                </a:lnTo>
                <a:lnTo>
                  <a:pt x="95543" y="831077"/>
                </a:lnTo>
                <a:lnTo>
                  <a:pt x="57194" y="811245"/>
                </a:lnTo>
                <a:lnTo>
                  <a:pt x="26953" y="781004"/>
                </a:lnTo>
                <a:lnTo>
                  <a:pt x="7121" y="742655"/>
                </a:lnTo>
                <a:lnTo>
                  <a:pt x="0" y="698499"/>
                </a:lnTo>
                <a:lnTo>
                  <a:pt x="0" y="139699"/>
                </a:lnTo>
                <a:close/>
              </a:path>
            </a:pathLst>
          </a:custGeom>
          <a:ln w="19049">
            <a:solidFill>
              <a:srgbClr val="C55E7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txBox="1"/>
          <p:nvPr/>
        </p:nvSpPr>
        <p:spPr>
          <a:xfrm>
            <a:off x="9152172" y="3248320"/>
            <a:ext cx="1244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华文新魏" panose="02010800040101010101" charset="-122"/>
              </a:rPr>
              <a:t>目标状态</a:t>
            </a:r>
          </a:p>
        </p:txBody>
      </p:sp>
      <p:sp>
        <p:nvSpPr>
          <p:cNvPr id="12" name="object 12"/>
          <p:cNvSpPr/>
          <p:nvPr/>
        </p:nvSpPr>
        <p:spPr>
          <a:xfrm>
            <a:off x="3359620" y="3548675"/>
            <a:ext cx="5734685" cy="0"/>
          </a:xfrm>
          <a:custGeom>
            <a:avLst/>
            <a:gdLst/>
            <a:ahLst/>
            <a:cxnLst/>
            <a:rect l="l" t="t" r="r" b="b"/>
            <a:pathLst>
              <a:path w="5734684">
                <a:moveTo>
                  <a:pt x="0" y="0"/>
                </a:moveTo>
                <a:lnTo>
                  <a:pt x="5734244" y="0"/>
                </a:lnTo>
              </a:path>
            </a:pathLst>
          </a:custGeom>
          <a:ln w="19049">
            <a:solidFill>
              <a:srgbClr val="C55E7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9003163" y="3489721"/>
            <a:ext cx="115907" cy="117908"/>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txBox="1"/>
          <p:nvPr/>
        </p:nvSpPr>
        <p:spPr>
          <a:xfrm>
            <a:off x="3581235" y="3245145"/>
            <a:ext cx="531114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panose="020B0503020204020204" pitchFamily="34" charset="-122"/>
                <a:ea typeface="微软雅黑" panose="020B0503020204020204" pitchFamily="34" charset="-122"/>
                <a:cs typeface="华文新魏" panose="02010800040101010101" charset="-122"/>
              </a:rPr>
              <a:t>事件名[‘(’用逗号分隔的参数表‘)’][警戒条件</a:t>
            </a:r>
            <a:r>
              <a:rPr sz="1400" spc="-80" dirty="0">
                <a:latin typeface="微软雅黑" panose="020B0503020204020204" pitchFamily="34" charset="-122"/>
                <a:ea typeface="微软雅黑" panose="020B0503020204020204" pitchFamily="34" charset="-122"/>
                <a:cs typeface="华文新魏" panose="02010800040101010101" charset="-122"/>
              </a:rPr>
              <a:t> </a:t>
            </a:r>
            <a:r>
              <a:rPr sz="1400" dirty="0">
                <a:latin typeface="微软雅黑" panose="020B0503020204020204" pitchFamily="34" charset="-122"/>
                <a:ea typeface="微软雅黑" panose="020B0503020204020204" pitchFamily="34" charset="-122"/>
                <a:cs typeface="华文新魏" panose="02010800040101010101" charset="-122"/>
              </a:rPr>
              <a:t>]‘/’动作表达式</a:t>
            </a:r>
            <a:endParaRPr sz="1400">
              <a:latin typeface="微软雅黑" panose="020B0503020204020204" pitchFamily="34" charset="-122"/>
              <a:ea typeface="微软雅黑" panose="020B0503020204020204" pitchFamily="34" charset="-122"/>
              <a:cs typeface="华文新魏" panose="02010800040101010101" charset="-122"/>
            </a:endParaRPr>
          </a:p>
        </p:txBody>
      </p:sp>
      <p:sp>
        <p:nvSpPr>
          <p:cNvPr id="18" name="标题 17"/>
          <p:cNvSpPr>
            <a:spLocks noGrp="1"/>
          </p:cNvSpPr>
          <p:nvPr>
            <p:ph type="title"/>
          </p:nvPr>
        </p:nvSpPr>
        <p:spPr/>
        <p:txBody>
          <a:bodyPr/>
          <a:lstStyle/>
          <a:p>
            <a:r>
              <a:rPr lang="en-US" altLang="zh-CN" spc="-5" dirty="0"/>
              <a:t>UML</a:t>
            </a:r>
            <a:r>
              <a:rPr lang="zh-CN" altLang="en-US" spc="-5" dirty="0"/>
              <a:t>状态图中的迁移</a:t>
            </a:r>
            <a:r>
              <a:rPr lang="en-US" altLang="zh-CN" spc="-5" dirty="0"/>
              <a:t>(Transitions)</a:t>
            </a:r>
            <a:endParaRPr lang="zh-CN" altLang="en-US" dirty="0"/>
          </a:p>
        </p:txBody>
      </p:sp>
      <p:sp>
        <p:nvSpPr>
          <p:cNvPr id="19" name="灯片编号占位符 18"/>
          <p:cNvSpPr>
            <a:spLocks noGrp="1"/>
          </p:cNvSpPr>
          <p:nvPr>
            <p:ph type="sldNum" sz="quarter" idx="12"/>
          </p:nvPr>
        </p:nvSpPr>
        <p:spPr/>
        <p:txBody>
          <a:bodyPr/>
          <a:lstStyle/>
          <a:p>
            <a:fld id="{74D2AB8B-5816-41F2-8B4B-CA5C3E4E6A65}" type="slidenum">
              <a:rPr lang="zh-CN" altLang="en-US" smtClean="0"/>
              <a:t>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626"/>
    </mc:Choice>
    <mc:Fallback xmlns="">
      <p:transition spd="slow" advTm="77626"/>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27450" y="1415761"/>
            <a:ext cx="10707502" cy="4519827"/>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事件</a:t>
            </a:r>
            <a:r>
              <a:rPr sz="2400" spc="-5" dirty="0">
                <a:latin typeface="微软雅黑" panose="020B0503020204020204" pitchFamily="34" charset="-122"/>
                <a:ea typeface="微软雅黑" panose="020B0503020204020204" pitchFamily="34" charset="-122"/>
                <a:cs typeface="华文新魏" panose="02010800040101010101" charset="-122"/>
              </a:rPr>
              <a:t>(Events)</a:t>
            </a:r>
            <a:r>
              <a:rPr sz="2400" dirty="0">
                <a:latin typeface="微软雅黑" panose="020B0503020204020204" pitchFamily="34" charset="-122"/>
                <a:ea typeface="微软雅黑" panose="020B0503020204020204" pitchFamily="34" charset="-122"/>
                <a:cs typeface="华文新魏" panose="02010800040101010101" charset="-122"/>
              </a:rPr>
              <a:t>的意义在于系统需要了解正在发生什么</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状态图中，事件仅需和系统或当前建模的对象相关</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从系统角度出发，事件必须建模成一个瞬间可完成的动作</a:t>
            </a:r>
          </a:p>
          <a:p>
            <a:pPr marL="1155700" lvl="2" indent="-228600">
              <a:lnSpc>
                <a:spcPct val="100000"/>
              </a:lnSpc>
              <a:spcBef>
                <a:spcPts val="96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新魏" panose="02010800040101010101" charset="-122"/>
              </a:rPr>
              <a:t>例如.</a:t>
            </a:r>
            <a:r>
              <a:rPr sz="1800" spc="-5" dirty="0">
                <a:latin typeface="微软雅黑" panose="020B0503020204020204" pitchFamily="34" charset="-122"/>
                <a:ea typeface="微软雅黑" panose="020B0503020204020204" pitchFamily="34" charset="-122"/>
                <a:cs typeface="华文新魏" panose="02010800040101010101" charset="-122"/>
              </a:rPr>
              <a:t> </a:t>
            </a:r>
            <a:r>
              <a:rPr sz="1800" dirty="0">
                <a:latin typeface="微软雅黑" panose="020B0503020204020204" pitchFamily="34" charset="-122"/>
                <a:ea typeface="微软雅黑" panose="020B0503020204020204" pitchFamily="34" charset="-122"/>
                <a:cs typeface="华文新魏" panose="02010800040101010101" charset="-122"/>
              </a:rPr>
              <a:t>完成工作，考试未通过，系统崩溃</a:t>
            </a:r>
          </a:p>
          <a:p>
            <a:pPr marL="698500" lvl="1" indent="-228600">
              <a:lnSpc>
                <a:spcPct val="100000"/>
              </a:lnSpc>
              <a:spcBef>
                <a:spcPts val="98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在</a:t>
            </a:r>
            <a:r>
              <a:rPr sz="2000" spc="-5" dirty="0">
                <a:latin typeface="微软雅黑" panose="020B0503020204020204" pitchFamily="34" charset="-122"/>
                <a:ea typeface="微软雅黑" panose="020B0503020204020204" pitchFamily="34" charset="-122"/>
                <a:cs typeface="华文新魏" panose="02010800040101010101" charset="-122"/>
              </a:rPr>
              <a:t>OOD(</a:t>
            </a:r>
            <a:r>
              <a:rPr sz="2000" dirty="0">
                <a:latin typeface="微软雅黑" panose="020B0503020204020204" pitchFamily="34" charset="-122"/>
                <a:ea typeface="微软雅黑" panose="020B0503020204020204" pitchFamily="34" charset="-122"/>
                <a:cs typeface="华文新魏" panose="02010800040101010101" charset="-122"/>
              </a:rPr>
              <a:t>面向对象设计)中通过传递消息的方式实现事件</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在</a:t>
            </a:r>
            <a:r>
              <a:rPr sz="2400" spc="-5" dirty="0">
                <a:latin typeface="微软雅黑" panose="020B0503020204020204" pitchFamily="34" charset="-122"/>
                <a:ea typeface="微软雅黑" panose="020B0503020204020204" pitchFamily="34" charset="-122"/>
                <a:cs typeface="华文新魏" panose="02010800040101010101" charset="-122"/>
              </a:rPr>
              <a:t>UML</a:t>
            </a:r>
            <a:r>
              <a:rPr sz="2400" dirty="0">
                <a:latin typeface="微软雅黑" panose="020B0503020204020204" pitchFamily="34" charset="-122"/>
                <a:ea typeface="微软雅黑" panose="020B0503020204020204" pitchFamily="34" charset="-122"/>
                <a:cs typeface="华文新魏" panose="02010800040101010101" charset="-122"/>
              </a:rPr>
              <a:t>中，有四种类型的事件</a:t>
            </a:r>
          </a:p>
          <a:p>
            <a:pPr marL="698500" lvl="1" indent="-228600">
              <a:lnSpc>
                <a:spcPct val="100000"/>
              </a:lnSpc>
              <a:spcBef>
                <a:spcPts val="1040"/>
              </a:spcBef>
              <a:buFont typeface="Arial" panose="020B0604020202020204"/>
              <a:buChar char="•"/>
              <a:tabLst>
                <a:tab pos="697865" algn="l"/>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变更事件</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(Change</a:t>
            </a:r>
            <a:r>
              <a:rPr sz="20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events)</a:t>
            </a:r>
            <a:r>
              <a:rPr sz="2000" spc="-1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，当给定条件成立时就会发生变更事件</a:t>
            </a:r>
          </a:p>
          <a:p>
            <a:pPr marL="698500" lvl="1" indent="-228600">
              <a:lnSpc>
                <a:spcPct val="100000"/>
              </a:lnSpc>
              <a:spcBef>
                <a:spcPts val="1000"/>
              </a:spcBef>
              <a:buFont typeface="Arial" panose="020B0604020202020204"/>
              <a:buChar char="•"/>
              <a:tabLst>
                <a:tab pos="697865" algn="l"/>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调用事件</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(Call</a:t>
            </a:r>
            <a:r>
              <a:rPr sz="2000" spc="-1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events)</a:t>
            </a:r>
            <a:r>
              <a:rPr sz="2000" spc="-1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，当给定对象的操作被调用执行时会发生调用事件</a:t>
            </a:r>
          </a:p>
          <a:p>
            <a:pPr marL="698500" lvl="1" indent="-228600">
              <a:lnSpc>
                <a:spcPct val="100000"/>
              </a:lnSpc>
              <a:spcBef>
                <a:spcPts val="1000"/>
              </a:spcBef>
              <a:buFont typeface="Arial" panose="020B0604020202020204"/>
              <a:buChar char="•"/>
              <a:tabLst>
                <a:tab pos="697865" algn="l"/>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时间事件</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(Elapsed-time</a:t>
            </a:r>
            <a:r>
              <a:rPr sz="2000" spc="-5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events)</a:t>
            </a:r>
            <a:r>
              <a:rPr sz="2000" spc="-4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，表明时间段过去，或某个特殊时间点的触发</a:t>
            </a:r>
          </a:p>
          <a:p>
            <a:pPr marL="698500" lvl="1" indent="-228600">
              <a:lnSpc>
                <a:spcPct val="100000"/>
              </a:lnSpc>
              <a:spcBef>
                <a:spcPts val="900"/>
              </a:spcBef>
              <a:buFont typeface="Arial" panose="020B0604020202020204"/>
              <a:buChar char="•"/>
              <a:tabLst>
                <a:tab pos="697865" algn="l"/>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信号事件</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(Signal</a:t>
            </a:r>
            <a:r>
              <a:rPr sz="20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events)</a:t>
            </a:r>
            <a:r>
              <a:rPr sz="20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，当给定对象收到某实时信号</a:t>
            </a:r>
          </a:p>
        </p:txBody>
      </p:sp>
      <p:sp>
        <p:nvSpPr>
          <p:cNvPr id="7" name="标题 6"/>
          <p:cNvSpPr>
            <a:spLocks noGrp="1"/>
          </p:cNvSpPr>
          <p:nvPr>
            <p:ph type="title"/>
          </p:nvPr>
        </p:nvSpPr>
        <p:spPr/>
        <p:txBody>
          <a:bodyPr/>
          <a:lstStyle/>
          <a:p>
            <a:r>
              <a:rPr lang="en-US" altLang="zh-CN" spc="-5" dirty="0"/>
              <a:t>UML</a:t>
            </a:r>
            <a:r>
              <a:rPr lang="zh-CN" altLang="en-US" spc="-5" dirty="0"/>
              <a:t>状态图中的事件</a:t>
            </a:r>
            <a:r>
              <a:rPr lang="en-US" altLang="zh-CN" spc="-5" dirty="0"/>
              <a:t>(Event)</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2320"/>
    </mc:Choice>
    <mc:Fallback xmlns="">
      <p:transition spd="slow" advTm="8232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2207" y="1648696"/>
            <a:ext cx="9887585" cy="1259840"/>
          </a:xfrm>
          <a:prstGeom prst="rect">
            <a:avLst/>
          </a:prstGeom>
        </p:spPr>
        <p:txBody>
          <a:bodyPr vert="horz" wrap="square" lIns="0" tIns="58419" rIns="0" bIns="0" rtlCol="0">
            <a:spAutoFit/>
          </a:bodyPr>
          <a:lstStyle/>
          <a:p>
            <a:pPr marL="241300" marR="5080" indent="-228600">
              <a:lnSpc>
                <a:spcPts val="2800"/>
              </a:lnSpc>
              <a:spcBef>
                <a:spcPts val="460"/>
              </a:spcBef>
              <a:buClr>
                <a:srgbClr val="800000"/>
              </a:buClr>
              <a:buFont typeface="Arial" panose="020B0604020202020204"/>
              <a:buChar char="•"/>
              <a:tabLst>
                <a:tab pos="241300" algn="l"/>
              </a:tabLst>
            </a:pPr>
            <a:r>
              <a:rPr sz="26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变更事件(Change</a:t>
            </a:r>
            <a:r>
              <a:rPr sz="2600" b="1" spc="-35"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6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a:t>
            </a:r>
            <a:r>
              <a:rPr sz="2600" spc="-5" dirty="0">
                <a:latin typeface="微软雅黑" panose="020B0503020204020204" pitchFamily="34" charset="-122"/>
                <a:ea typeface="微软雅黑" panose="020B0503020204020204" pitchFamily="34" charset="-122"/>
                <a:cs typeface="华文新魏" panose="02010800040101010101" charset="-122"/>
              </a:rPr>
              <a:t>:</a:t>
            </a:r>
            <a:r>
              <a:rPr sz="2600" spc="-30" dirty="0">
                <a:latin typeface="微软雅黑" panose="020B0503020204020204" pitchFamily="34" charset="-122"/>
                <a:ea typeface="微软雅黑" panose="020B0503020204020204" pitchFamily="34" charset="-122"/>
                <a:cs typeface="华文新魏" panose="02010800040101010101" charset="-122"/>
              </a:rPr>
              <a:t> </a:t>
            </a:r>
            <a:r>
              <a:rPr sz="2600" dirty="0" err="1">
                <a:latin typeface="微软雅黑" panose="020B0503020204020204" pitchFamily="34" charset="-122"/>
                <a:ea typeface="微软雅黑" panose="020B0503020204020204" pitchFamily="34" charset="-122"/>
                <a:cs typeface="华文新魏" panose="02010800040101010101" charset="-122"/>
              </a:rPr>
              <a:t>通过布尔表达式中变量的改变，使得表示式成立的事件，通过</a:t>
            </a:r>
            <a:r>
              <a:rPr sz="2600" spc="-5" dirty="0" err="1">
                <a:latin typeface="微软雅黑" panose="020B0503020204020204" pitchFamily="34" charset="-122"/>
                <a:ea typeface="微软雅黑" panose="020B0503020204020204" pitchFamily="34" charset="-122"/>
                <a:cs typeface="华文新魏" panose="02010800040101010101" charset="-122"/>
              </a:rPr>
              <a:t>”when”</a:t>
            </a:r>
            <a:r>
              <a:rPr sz="2600" dirty="0" err="1">
                <a:latin typeface="微软雅黑" panose="020B0503020204020204" pitchFamily="34" charset="-122"/>
                <a:ea typeface="微软雅黑" panose="020B0503020204020204" pitchFamily="34" charset="-122"/>
                <a:cs typeface="华文新魏" panose="02010800040101010101" charset="-122"/>
              </a:rPr>
              <a:t>关键字进行提示</a:t>
            </a:r>
            <a:endParaRPr sz="26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64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例：</a:t>
            </a:r>
          </a:p>
        </p:txBody>
      </p:sp>
      <p:sp>
        <p:nvSpPr>
          <p:cNvPr id="3" name="object 3"/>
          <p:cNvSpPr txBox="1"/>
          <p:nvPr/>
        </p:nvSpPr>
        <p:spPr>
          <a:xfrm>
            <a:off x="1152207" y="5342869"/>
            <a:ext cx="9887585" cy="1093888"/>
          </a:xfrm>
          <a:prstGeom prst="rect">
            <a:avLst/>
          </a:prstGeom>
        </p:spPr>
        <p:txBody>
          <a:bodyPr vert="horz" wrap="square" lIns="0" tIns="52069" rIns="0" bIns="0" rtlCol="0">
            <a:spAutoFit/>
          </a:bodyPr>
          <a:lstStyle/>
          <a:p>
            <a:pPr marL="241300" indent="-228600">
              <a:lnSpc>
                <a:spcPct val="100000"/>
              </a:lnSpc>
              <a:spcBef>
                <a:spcPts val="41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变更事件和警戒条件(guard</a:t>
            </a:r>
            <a:r>
              <a:rPr sz="2600" spc="-5" dirty="0">
                <a:latin typeface="微软雅黑" panose="020B0503020204020204" pitchFamily="34" charset="-122"/>
                <a:ea typeface="微软雅黑" panose="020B0503020204020204" pitchFamily="34" charset="-122"/>
                <a:cs typeface="华文新魏" panose="02010800040101010101" charset="-122"/>
              </a:rPr>
              <a:t> condition)</a:t>
            </a:r>
            <a:r>
              <a:rPr sz="2600" dirty="0">
                <a:latin typeface="微软雅黑" panose="020B0503020204020204" pitchFamily="34" charset="-122"/>
                <a:ea typeface="微软雅黑" panose="020B0503020204020204" pitchFamily="34" charset="-122"/>
                <a:cs typeface="华文新魏" panose="02010800040101010101" charset="-122"/>
              </a:rPr>
              <a:t>的区别：</a:t>
            </a:r>
          </a:p>
          <a:p>
            <a:pPr marL="755650" lvl="1" indent="-285750">
              <a:lnSpc>
                <a:spcPct val="100000"/>
              </a:lnSpc>
              <a:spcBef>
                <a:spcPts val="240"/>
              </a:spcBef>
              <a:buFont typeface="Arial" panose="020B0604020202020204"/>
              <a:buChar char="•"/>
              <a:tabLst>
                <a:tab pos="755015" algn="l"/>
                <a:tab pos="755650" algn="l"/>
              </a:tabLst>
            </a:pPr>
            <a:r>
              <a:rPr sz="2000" dirty="0">
                <a:latin typeface="微软雅黑" panose="020B0503020204020204" pitchFamily="34" charset="-122"/>
                <a:ea typeface="微软雅黑" panose="020B0503020204020204" pitchFamily="34" charset="-122"/>
                <a:cs typeface="华文新魏" panose="02010800040101010101" charset="-122"/>
              </a:rPr>
              <a:t>警戒条件只在所相关的事件出现后计算一次，如果值为false</a:t>
            </a:r>
            <a:r>
              <a:rPr sz="2000" spc="-5" dirty="0">
                <a:latin typeface="微软雅黑" panose="020B0503020204020204" pitchFamily="34" charset="-122"/>
                <a:ea typeface="微软雅黑" panose="020B0503020204020204" pitchFamily="34" charset="-122"/>
                <a:cs typeface="华文新魏" panose="02010800040101010101" charset="-122"/>
              </a:rPr>
              <a:t>，</a:t>
            </a:r>
            <a:r>
              <a:rPr sz="2000" dirty="0">
                <a:latin typeface="微软雅黑" panose="020B0503020204020204" pitchFamily="34" charset="-122"/>
                <a:ea typeface="微软雅黑" panose="020B0503020204020204" pitchFamily="34" charset="-122"/>
                <a:cs typeface="华文新魏" panose="02010800040101010101" charset="-122"/>
              </a:rPr>
              <a:t>则不进行状态转移。</a:t>
            </a:r>
          </a:p>
        </p:txBody>
      </p:sp>
      <p:sp>
        <p:nvSpPr>
          <p:cNvPr id="5" name="object 5"/>
          <p:cNvSpPr/>
          <p:nvPr/>
        </p:nvSpPr>
        <p:spPr>
          <a:xfrm>
            <a:off x="2495619" y="3240319"/>
            <a:ext cx="5355689" cy="1767174"/>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标题 8"/>
          <p:cNvSpPr>
            <a:spLocks noGrp="1"/>
          </p:cNvSpPr>
          <p:nvPr>
            <p:ph type="title"/>
          </p:nvPr>
        </p:nvSpPr>
        <p:spPr>
          <a:xfrm>
            <a:off x="441434" y="0"/>
            <a:ext cx="11204028" cy="1325563"/>
          </a:xfrm>
        </p:spPr>
        <p:txBody>
          <a:bodyPr>
            <a:normAutofit/>
          </a:bodyPr>
          <a:lstStyle/>
          <a:p>
            <a:r>
              <a:rPr lang="en-US" altLang="zh-CN" sz="3600" spc="-5" dirty="0"/>
              <a:t>UML</a:t>
            </a:r>
            <a:r>
              <a:rPr lang="zh-CN" altLang="en-US" sz="3600" spc="-5" dirty="0"/>
              <a:t>状态图中的事件</a:t>
            </a:r>
            <a:r>
              <a:rPr lang="en-US" altLang="zh-CN" sz="3600" spc="-5" dirty="0"/>
              <a:t>(Event)——</a:t>
            </a:r>
            <a:r>
              <a:rPr lang="zh-CN" altLang="en-US" sz="3600" spc="-5" dirty="0"/>
              <a:t>变更</a:t>
            </a:r>
            <a:r>
              <a:rPr lang="en-US" altLang="zh-CN" sz="3600" spc="-5" dirty="0"/>
              <a:t>(Change)</a:t>
            </a:r>
            <a:r>
              <a:rPr lang="zh-CN" altLang="en-US" sz="3600" spc="-5" dirty="0"/>
              <a:t>事件</a:t>
            </a:r>
            <a:endParaRPr lang="zh-CN" altLang="en-US" sz="3600"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43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422"/>
    </mc:Choice>
    <mc:Fallback xmlns="">
      <p:transition spd="slow" advTm="49422"/>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1608" y="1869414"/>
            <a:ext cx="10024110" cy="2428869"/>
          </a:xfrm>
          <a:prstGeom prst="rect">
            <a:avLst/>
          </a:prstGeom>
        </p:spPr>
        <p:txBody>
          <a:bodyPr vert="horz" wrap="square" lIns="0" tIns="58419" rIns="0" bIns="0" rtlCol="0">
            <a:spAutoFit/>
          </a:bodyPr>
          <a:lstStyle/>
          <a:p>
            <a:pPr marL="241300" marR="5080" indent="-228600">
              <a:lnSpc>
                <a:spcPts val="2800"/>
              </a:lnSpc>
              <a:spcBef>
                <a:spcPts val="460"/>
              </a:spcBef>
              <a:buClr>
                <a:srgbClr val="800000"/>
              </a:buClr>
              <a:buFont typeface="Arial" panose="020B0604020202020204"/>
              <a:buChar char="•"/>
              <a:tabLst>
                <a:tab pos="241300" algn="l"/>
              </a:tabLst>
            </a:pPr>
            <a:r>
              <a:rPr sz="26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调用事件(Call</a:t>
            </a:r>
            <a:r>
              <a:rPr sz="2600" b="1" spc="-4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6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a:t>
            </a:r>
            <a:r>
              <a:rPr sz="2600" spc="-5" dirty="0">
                <a:latin typeface="微软雅黑" panose="020B0503020204020204" pitchFamily="34" charset="-122"/>
                <a:ea typeface="微软雅黑" panose="020B0503020204020204" pitchFamily="34" charset="-122"/>
                <a:cs typeface="华文新魏" panose="02010800040101010101" charset="-122"/>
              </a:rPr>
              <a:t>:</a:t>
            </a:r>
            <a:r>
              <a:rPr sz="2600" spc="-30" dirty="0">
                <a:latin typeface="微软雅黑" panose="020B0503020204020204" pitchFamily="34" charset="-122"/>
                <a:ea typeface="微软雅黑" panose="020B0503020204020204" pitchFamily="34" charset="-122"/>
                <a:cs typeface="华文新魏" panose="02010800040101010101" charset="-122"/>
              </a:rPr>
              <a:t> </a:t>
            </a:r>
            <a:r>
              <a:rPr sz="2600" dirty="0" err="1">
                <a:latin typeface="微软雅黑" panose="020B0503020204020204" pitchFamily="34" charset="-122"/>
                <a:ea typeface="微软雅黑" panose="020B0503020204020204" pitchFamily="34" charset="-122"/>
                <a:cs typeface="华文新魏" panose="02010800040101010101" charset="-122"/>
              </a:rPr>
              <a:t>在这一类事件中，状态迁移的动作会调用对象的方法</a:t>
            </a:r>
            <a:endParaRPr sz="26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640"/>
              </a:spcBef>
              <a:buFont typeface="Arial" panose="020B0604020202020204"/>
              <a:buChar char="•"/>
              <a:tabLst>
                <a:tab pos="241300" algn="l"/>
                <a:tab pos="2713355" algn="l"/>
              </a:tabLst>
            </a:pPr>
            <a:r>
              <a:rPr sz="2600" dirty="0">
                <a:latin typeface="微软雅黑" panose="020B0503020204020204" pitchFamily="34" charset="-122"/>
                <a:ea typeface="微软雅黑" panose="020B0503020204020204" pitchFamily="34" charset="-122"/>
                <a:cs typeface="华文新魏" panose="02010800040101010101" charset="-122"/>
              </a:rPr>
              <a:t>语法格式如下：	</a:t>
            </a: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事件名</a:t>
            </a:r>
            <a:r>
              <a:rPr sz="2400" b="1" spc="-10" dirty="0">
                <a:solidFill>
                  <a:srgbClr val="800000"/>
                </a:solidFill>
                <a:latin typeface="微软雅黑" panose="020B0503020204020204" pitchFamily="34" charset="-122"/>
                <a:ea typeface="微软雅黑" panose="020B0503020204020204" pitchFamily="34" charset="-122"/>
                <a:cs typeface="华文新魏" panose="02010800040101010101" charset="-122"/>
              </a:rPr>
              <a:t> </a:t>
            </a: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 [逗号分隔的参数列表] </a:t>
            </a: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20"/>
              </a:spcBef>
              <a:buFont typeface="Arial" panose="020B0604020202020204"/>
              <a:buChar char="•"/>
              <a:tabLst>
                <a:tab pos="697865" algn="l"/>
                <a:tab pos="698500" algn="l"/>
                <a:tab pos="4745990" algn="l"/>
              </a:tabLst>
            </a:pPr>
            <a:r>
              <a:rPr sz="2200" dirty="0">
                <a:latin typeface="微软雅黑" panose="020B0503020204020204" pitchFamily="34" charset="-122"/>
                <a:ea typeface="微软雅黑" panose="020B0503020204020204" pitchFamily="34" charset="-122"/>
                <a:cs typeface="华文新魏" panose="02010800040101010101" charset="-122"/>
              </a:rPr>
              <a:t>其中参数列表中的参数格式为：	</a:t>
            </a:r>
            <a:r>
              <a:rPr sz="2000" b="1" spc="-5" dirty="0" err="1">
                <a:solidFill>
                  <a:srgbClr val="800000"/>
                </a:solidFill>
                <a:latin typeface="微软雅黑" panose="020B0503020204020204" pitchFamily="34" charset="-122"/>
                <a:ea typeface="微软雅黑" panose="020B0503020204020204" pitchFamily="34" charset="-122"/>
                <a:cs typeface="华文新魏" panose="02010800040101010101" charset="-122"/>
              </a:rPr>
              <a:t>参数名</a:t>
            </a:r>
            <a:r>
              <a:rPr sz="2000" b="1" spc="-5" dirty="0" err="1">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000" b="1" spc="-5" dirty="0" err="1">
                <a:solidFill>
                  <a:srgbClr val="800000"/>
                </a:solidFill>
                <a:latin typeface="微软雅黑" panose="020B0503020204020204" pitchFamily="34" charset="-122"/>
                <a:ea typeface="微软雅黑" panose="020B0503020204020204" pitchFamily="34" charset="-122"/>
                <a:cs typeface="华文新魏" panose="02010800040101010101" charset="-122"/>
              </a:rPr>
              <a:t>类型</a:t>
            </a:r>
            <a:endParaRPr lang="en-US" altLang="zh-CN" sz="20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20"/>
              </a:spcBef>
              <a:buFont typeface="Arial" panose="020B0604020202020204"/>
              <a:buChar char="•"/>
              <a:tabLst>
                <a:tab pos="697865" algn="l"/>
                <a:tab pos="698500" algn="l"/>
                <a:tab pos="4745990" algn="l"/>
              </a:tabLst>
            </a:pPr>
            <a:endParaRPr sz="2000" dirty="0">
              <a:latin typeface="微软雅黑" panose="020B0503020204020204" pitchFamily="34" charset="-122"/>
              <a:ea typeface="微软雅黑" panose="020B0503020204020204" pitchFamily="34" charset="-122"/>
              <a:cs typeface="华文新魏" panose="02010800040101010101" charset="-122"/>
            </a:endParaRPr>
          </a:p>
          <a:p>
            <a:pPr marL="12700">
              <a:lnSpc>
                <a:spcPct val="100000"/>
              </a:lnSpc>
              <a:spcBef>
                <a:spcPts val="620"/>
              </a:spcBef>
            </a:pPr>
            <a:r>
              <a:rPr sz="2600" dirty="0">
                <a:latin typeface="微软雅黑" panose="020B0503020204020204" pitchFamily="34" charset="-122"/>
                <a:ea typeface="微软雅黑" panose="020B0503020204020204" pitchFamily="34" charset="-122"/>
                <a:cs typeface="华文新魏" panose="02010800040101010101" charset="-122"/>
              </a:rPr>
              <a:t>例：</a:t>
            </a:r>
          </a:p>
        </p:txBody>
      </p:sp>
      <p:sp>
        <p:nvSpPr>
          <p:cNvPr id="3" name="object 3"/>
          <p:cNvSpPr/>
          <p:nvPr/>
        </p:nvSpPr>
        <p:spPr>
          <a:xfrm>
            <a:off x="1726835" y="4847568"/>
            <a:ext cx="8493656" cy="751325"/>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a:xfrm>
            <a:off x="283780" y="269208"/>
            <a:ext cx="12023833" cy="1325563"/>
          </a:xfrm>
        </p:spPr>
        <p:txBody>
          <a:bodyPr>
            <a:normAutofit/>
          </a:bodyPr>
          <a:lstStyle/>
          <a:p>
            <a:r>
              <a:rPr lang="en-US" altLang="zh-CN" sz="3600" spc="-5" dirty="0"/>
              <a:t>UML</a:t>
            </a:r>
            <a:r>
              <a:rPr lang="zh-CN" altLang="en-US" sz="3600" spc="-5" dirty="0"/>
              <a:t>状态图中的事件</a:t>
            </a:r>
            <a:r>
              <a:rPr lang="en-US" altLang="zh-CN" sz="3600" spc="-5" dirty="0"/>
              <a:t>(Event)——</a:t>
            </a:r>
            <a:r>
              <a:rPr lang="zh-CN" altLang="en-US" sz="3600" spc="-5" dirty="0"/>
              <a:t>调用</a:t>
            </a:r>
            <a:r>
              <a:rPr lang="en-US" altLang="zh-CN" sz="3600" spc="-5" dirty="0"/>
              <a:t>(Call)</a:t>
            </a:r>
            <a:r>
              <a:rPr lang="zh-CN" altLang="en-US" sz="3600" spc="-5" dirty="0"/>
              <a:t>事件</a:t>
            </a:r>
            <a:endParaRPr lang="zh-CN" altLang="en-US" sz="3600"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44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2548"/>
    </mc:Choice>
    <mc:Fallback xmlns="">
      <p:transition spd="slow" advTm="32548"/>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953" y="1590013"/>
            <a:ext cx="10252930" cy="2127314"/>
          </a:xfrm>
          <a:prstGeom prst="rect">
            <a:avLst/>
          </a:prstGeom>
        </p:spPr>
        <p:txBody>
          <a:bodyPr vert="horz" wrap="square" lIns="0" tIns="12700" rIns="0" bIns="0" rtlCol="0">
            <a:spAutoFit/>
          </a:bodyPr>
          <a:lstStyle/>
          <a:p>
            <a:pPr marL="241300" marR="5080" indent="-228600">
              <a:lnSpc>
                <a:spcPct val="119000"/>
              </a:lnSpc>
              <a:spcBef>
                <a:spcPts val="100"/>
              </a:spcBef>
              <a:buClr>
                <a:srgbClr val="800000"/>
              </a:buClr>
              <a:buFont typeface="Arial" panose="020B0604020202020204"/>
              <a:buChar char="•"/>
              <a:tabLst>
                <a:tab pos="241300" algn="l"/>
              </a:tabLst>
            </a:pPr>
            <a:r>
              <a:rPr sz="26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时间事件(Time</a:t>
            </a:r>
            <a:r>
              <a:rPr sz="2600" b="1" spc="-4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6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a:t>
            </a:r>
            <a:r>
              <a:rPr sz="2600" spc="-5" dirty="0">
                <a:latin typeface="微软雅黑" panose="020B0503020204020204" pitchFamily="34" charset="-122"/>
                <a:ea typeface="微软雅黑" panose="020B0503020204020204" pitchFamily="34" charset="-122"/>
                <a:cs typeface="华文新魏" panose="02010800040101010101" charset="-122"/>
              </a:rPr>
              <a:t>:</a:t>
            </a:r>
            <a:r>
              <a:rPr sz="2600" spc="-30" dirty="0">
                <a:latin typeface="微软雅黑" panose="020B0503020204020204" pitchFamily="34" charset="-122"/>
                <a:ea typeface="微软雅黑" panose="020B0503020204020204" pitchFamily="34" charset="-122"/>
                <a:cs typeface="华文新魏" panose="02010800040101010101" charset="-122"/>
              </a:rPr>
              <a:t> </a:t>
            </a:r>
            <a:r>
              <a:rPr sz="2600" dirty="0" err="1">
                <a:latin typeface="微软雅黑" panose="020B0503020204020204" pitchFamily="34" charset="-122"/>
                <a:ea typeface="微软雅黑" panose="020B0503020204020204" pitchFamily="34" charset="-122"/>
                <a:cs typeface="华文新魏" panose="02010800040101010101" charset="-122"/>
              </a:rPr>
              <a:t>通过时间表达式是否满足来表示事件，例如一个绝对时间点的到来，或者经过时间段过去后对象进入一个新状态</a:t>
            </a:r>
            <a:endParaRPr sz="2600" dirty="0">
              <a:latin typeface="微软雅黑" panose="020B0503020204020204" pitchFamily="34" charset="-122"/>
              <a:ea typeface="微软雅黑" panose="020B0503020204020204" pitchFamily="34" charset="-122"/>
              <a:cs typeface="华文新魏" panose="02010800040101010101" charset="-122"/>
            </a:endParaRPr>
          </a:p>
          <a:p>
            <a:pPr marL="12700" marR="6175375">
              <a:lnSpc>
                <a:spcPct val="129000"/>
              </a:lnSpc>
              <a:spcBef>
                <a:spcPts val="680"/>
              </a:spcBef>
              <a:buFont typeface="Arial" panose="020B0604020202020204"/>
              <a:buChar char="•"/>
              <a:tabLst>
                <a:tab pos="241300" algn="l"/>
              </a:tabLst>
            </a:pPr>
            <a:r>
              <a:rPr sz="2600" dirty="0" err="1">
                <a:latin typeface="微软雅黑" panose="020B0503020204020204" pitchFamily="34" charset="-122"/>
                <a:ea typeface="微软雅黑" panose="020B0503020204020204" pitchFamily="34" charset="-122"/>
                <a:cs typeface="华文新魏" panose="02010800040101010101" charset="-122"/>
              </a:rPr>
              <a:t>用关键字afte</a:t>
            </a:r>
            <a:r>
              <a:rPr sz="2600" spc="-5" dirty="0" err="1">
                <a:latin typeface="微软雅黑" panose="020B0503020204020204" pitchFamily="34" charset="-122"/>
                <a:ea typeface="微软雅黑" panose="020B0503020204020204" pitchFamily="34" charset="-122"/>
                <a:cs typeface="华文新魏" panose="02010800040101010101" charset="-122"/>
              </a:rPr>
              <a:t>r</a:t>
            </a:r>
            <a:r>
              <a:rPr sz="2600" dirty="0" err="1">
                <a:latin typeface="微软雅黑" panose="020B0503020204020204" pitchFamily="34" charset="-122"/>
                <a:ea typeface="微软雅黑" panose="020B0503020204020204" pitchFamily="34" charset="-122"/>
                <a:cs typeface="华文新魏" panose="02010800040101010101" charset="-122"/>
              </a:rPr>
              <a:t>或whe</a:t>
            </a:r>
            <a:r>
              <a:rPr sz="2600" spc="-5" dirty="0" err="1">
                <a:latin typeface="微软雅黑" panose="020B0503020204020204" pitchFamily="34" charset="-122"/>
                <a:ea typeface="微软雅黑" panose="020B0503020204020204" pitchFamily="34" charset="-122"/>
                <a:cs typeface="华文新魏" panose="02010800040101010101" charset="-122"/>
              </a:rPr>
              <a:t>n</a:t>
            </a:r>
            <a:r>
              <a:rPr sz="2600" dirty="0" err="1">
                <a:latin typeface="微软雅黑" panose="020B0503020204020204" pitchFamily="34" charset="-122"/>
                <a:ea typeface="微软雅黑" panose="020B0503020204020204" pitchFamily="34" charset="-122"/>
                <a:cs typeface="华文新魏" panose="02010800040101010101" charset="-122"/>
              </a:rPr>
              <a:t>表示</a:t>
            </a:r>
            <a:endParaRPr lang="en-US" altLang="zh-CN" sz="2600" dirty="0">
              <a:latin typeface="微软雅黑" panose="020B0503020204020204" pitchFamily="34" charset="-122"/>
              <a:ea typeface="微软雅黑" panose="020B0503020204020204" pitchFamily="34" charset="-122"/>
              <a:cs typeface="华文新魏" panose="02010800040101010101" charset="-122"/>
            </a:endParaRPr>
          </a:p>
          <a:p>
            <a:pPr marL="12700" marR="6175375">
              <a:lnSpc>
                <a:spcPct val="129000"/>
              </a:lnSpc>
              <a:spcBef>
                <a:spcPts val="680"/>
              </a:spcBef>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 例：</a:t>
            </a:r>
          </a:p>
        </p:txBody>
      </p:sp>
      <p:sp>
        <p:nvSpPr>
          <p:cNvPr id="3" name="object 3"/>
          <p:cNvSpPr/>
          <p:nvPr/>
        </p:nvSpPr>
        <p:spPr>
          <a:xfrm>
            <a:off x="2474875" y="3686951"/>
            <a:ext cx="7231452" cy="2373032"/>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a:xfrm>
            <a:off x="210064" y="375634"/>
            <a:ext cx="12349654" cy="1325563"/>
          </a:xfrm>
        </p:spPr>
        <p:txBody>
          <a:bodyPr>
            <a:normAutofit/>
          </a:bodyPr>
          <a:lstStyle/>
          <a:p>
            <a:r>
              <a:rPr lang="en-US" altLang="zh-CN" sz="3600" spc="-5" dirty="0"/>
              <a:t>UML</a:t>
            </a:r>
            <a:r>
              <a:rPr lang="zh-CN" altLang="en-US" sz="3600" spc="-5" dirty="0"/>
              <a:t>状态图中的事件</a:t>
            </a:r>
            <a:r>
              <a:rPr lang="en-US" altLang="zh-CN" sz="3600" spc="-5" dirty="0"/>
              <a:t>(Event)——</a:t>
            </a:r>
            <a:r>
              <a:rPr lang="zh-CN" altLang="en-US" sz="3600" spc="-5" dirty="0"/>
              <a:t>时间</a:t>
            </a:r>
            <a:r>
              <a:rPr lang="en-US" altLang="zh-CN" sz="3600" spc="-5" dirty="0"/>
              <a:t>(Time)</a:t>
            </a:r>
            <a:r>
              <a:rPr lang="zh-CN" altLang="en-US" sz="3600" spc="-5" dirty="0"/>
              <a:t>事件</a:t>
            </a:r>
            <a:endParaRPr lang="zh-CN" altLang="en-US" sz="3600"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45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3209"/>
    </mc:Choice>
    <mc:Fallback xmlns="">
      <p:transition spd="slow" advTm="53209"/>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2574" y="1592036"/>
            <a:ext cx="5323425" cy="3626121"/>
          </a:xfrm>
          <a:prstGeom prst="rect">
            <a:avLst/>
          </a:prstGeom>
        </p:spPr>
        <p:txBody>
          <a:bodyPr vert="horz" wrap="square" lIns="0" tIns="6350" rIns="0" bIns="0" rtlCol="0">
            <a:spAutoFit/>
          </a:bodyPr>
          <a:lstStyle/>
          <a:p>
            <a:pPr marL="240665" marR="5080" indent="-228600">
              <a:lnSpc>
                <a:spcPct val="120000"/>
              </a:lnSpc>
              <a:spcBef>
                <a:spcPts val="50"/>
              </a:spcBef>
              <a:buFont typeface="Arial" panose="020B0604020202020204"/>
              <a:buChar char="•"/>
              <a:tabLst>
                <a:tab pos="241300" algn="l"/>
              </a:tabLst>
            </a:pP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信号事件</a:t>
            </a: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(Signal</a:t>
            </a:r>
            <a:r>
              <a:rPr sz="2400" b="1" spc="-2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event)</a:t>
            </a:r>
            <a:r>
              <a:rPr sz="2400"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a:t>
            </a:r>
            <a:r>
              <a:rPr sz="2400" spc="-15" dirty="0">
                <a:solidFill>
                  <a:srgbClr val="800000"/>
                </a:solidFill>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表示接受一 个对象发送的信号（信息）的事件， 有可能引发状态迁移（状态改变）</a:t>
            </a:r>
          </a:p>
          <a:p>
            <a:pPr marL="241300" indent="-228600">
              <a:lnSpc>
                <a:spcPct val="100000"/>
              </a:lnSpc>
              <a:spcBef>
                <a:spcPts val="148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新魏" panose="02010800040101010101" charset="-122"/>
              </a:rPr>
              <a:t>语法格式如下：</a:t>
            </a:r>
          </a:p>
          <a:p>
            <a:pPr marL="469265">
              <a:lnSpc>
                <a:spcPct val="100000"/>
              </a:lnSpc>
              <a:spcBef>
                <a:spcPts val="1000"/>
              </a:spcBef>
            </a:pPr>
            <a:r>
              <a:rPr sz="19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事件名</a:t>
            </a:r>
            <a:r>
              <a:rPr sz="1900" b="1" spc="-10" dirty="0">
                <a:solidFill>
                  <a:srgbClr val="800000"/>
                </a:solidFill>
                <a:latin typeface="微软雅黑" panose="020B0503020204020204" pitchFamily="34" charset="-122"/>
                <a:ea typeface="微软雅黑" panose="020B0503020204020204" pitchFamily="34" charset="-122"/>
                <a:cs typeface="华文新魏" panose="02010800040101010101" charset="-122"/>
              </a:rPr>
              <a:t> </a:t>
            </a:r>
            <a:r>
              <a:rPr sz="19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 [逗号分隔的参数列表]</a:t>
            </a:r>
            <a:r>
              <a:rPr sz="1900" b="1" spc="-10" dirty="0">
                <a:solidFill>
                  <a:srgbClr val="800000"/>
                </a:solidFill>
                <a:latin typeface="微软雅黑" panose="020B0503020204020204" pitchFamily="34" charset="-122"/>
                <a:ea typeface="微软雅黑" panose="020B0503020204020204" pitchFamily="34" charset="-122"/>
                <a:cs typeface="华文新魏" panose="02010800040101010101" charset="-122"/>
              </a:rPr>
              <a:t> </a:t>
            </a:r>
            <a:r>
              <a:rPr sz="19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endParaRPr sz="19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信号事件与调用事件的区别：</a:t>
            </a:r>
          </a:p>
          <a:p>
            <a:pPr marL="697865" marR="106680" lvl="1" indent="-228600">
              <a:lnSpc>
                <a:spcPct val="121000"/>
              </a:lnSpc>
              <a:spcBef>
                <a:spcPts val="5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信号事件是一个异步事件，调用事件一 般是一个同步事件。</a:t>
            </a:r>
          </a:p>
        </p:txBody>
      </p:sp>
      <p:sp>
        <p:nvSpPr>
          <p:cNvPr id="4" name="object 4"/>
          <p:cNvSpPr/>
          <p:nvPr/>
        </p:nvSpPr>
        <p:spPr>
          <a:xfrm>
            <a:off x="6344636" y="1711205"/>
            <a:ext cx="4683603" cy="383217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a:xfrm>
            <a:off x="523937" y="266473"/>
            <a:ext cx="10537865" cy="1325563"/>
          </a:xfrm>
        </p:spPr>
        <p:txBody>
          <a:bodyPr>
            <a:normAutofit/>
          </a:bodyPr>
          <a:lstStyle/>
          <a:p>
            <a:r>
              <a:rPr lang="en-US" altLang="zh-CN" sz="3600" spc="-5" dirty="0"/>
              <a:t>UML</a:t>
            </a:r>
            <a:r>
              <a:rPr lang="zh-CN" altLang="en-US" sz="3600" spc="-5" dirty="0"/>
              <a:t>状态图中的事件</a:t>
            </a:r>
            <a:r>
              <a:rPr lang="en-US" altLang="zh-CN" sz="3600" spc="-5" dirty="0"/>
              <a:t>(Event)——</a:t>
            </a:r>
            <a:r>
              <a:rPr lang="zh-CN" altLang="en-US" sz="3600" spc="-5" dirty="0"/>
              <a:t>信号</a:t>
            </a:r>
            <a:r>
              <a:rPr lang="en-US" altLang="zh-CN" sz="3600" spc="-5" dirty="0"/>
              <a:t>(Signal)</a:t>
            </a:r>
            <a:r>
              <a:rPr lang="zh-CN" altLang="en-US" sz="3600" spc="-5" dirty="0"/>
              <a:t>事件</a:t>
            </a:r>
            <a:endParaRPr lang="zh-CN" altLang="en-US" sz="3600"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46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1690"/>
    </mc:Choice>
    <mc:Fallback xmlns="">
      <p:transition spd="slow" advTm="3169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199" y="1538658"/>
            <a:ext cx="10660117" cy="3774110"/>
          </a:xfrm>
          <a:prstGeom prst="rect">
            <a:avLst/>
          </a:prstGeom>
        </p:spPr>
        <p:txBody>
          <a:bodyPr vert="horz" wrap="square" lIns="0" tIns="237490" rIns="0" bIns="0" rtlCol="0">
            <a:spAutoFit/>
          </a:bodyPr>
          <a:lstStyle/>
          <a:p>
            <a:pPr marL="241300" indent="-228600">
              <a:lnSpc>
                <a:spcPct val="100000"/>
              </a:lnSpc>
              <a:spcBef>
                <a:spcPts val="1870"/>
              </a:spcBef>
              <a:buClr>
                <a:srgbClr val="800000"/>
              </a:buClr>
              <a:buFont typeface="Arial" panose="020B0604020202020204"/>
              <a:buChar char="•"/>
              <a:tabLst>
                <a:tab pos="241300" algn="l"/>
              </a:tabLst>
            </a:pP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动作</a:t>
            </a:r>
            <a:r>
              <a:rPr sz="2400" dirty="0">
                <a:latin typeface="微软雅黑" panose="020B0503020204020204" pitchFamily="34" charset="-122"/>
                <a:ea typeface="微软雅黑" panose="020B0503020204020204" pitchFamily="34" charset="-122"/>
                <a:cs typeface="华文新魏" panose="02010800040101010101" charset="-122"/>
              </a:rPr>
              <a:t>是在状态内部或者状态间迁移时执行的原子操作</a:t>
            </a: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两种特殊的动作:入口动作(entry</a:t>
            </a:r>
            <a:r>
              <a:rPr sz="2400" spc="-15"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action)</a:t>
            </a:r>
            <a:r>
              <a:rPr sz="2400" dirty="0">
                <a:latin typeface="微软雅黑" panose="020B0503020204020204" pitchFamily="34" charset="-122"/>
                <a:ea typeface="微软雅黑" panose="020B0503020204020204" pitchFamily="34" charset="-122"/>
                <a:cs typeface="华文新魏" panose="02010800040101010101" charset="-122"/>
              </a:rPr>
              <a:t>和出口动作(exit</a:t>
            </a:r>
            <a:r>
              <a:rPr sz="2400" spc="-10"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action)</a:t>
            </a:r>
            <a:endParaRPr sz="2400" dirty="0">
              <a:latin typeface="微软雅黑" panose="020B0503020204020204" pitchFamily="34" charset="-122"/>
              <a:ea typeface="微软雅黑" panose="020B0503020204020204" pitchFamily="34" charset="-122"/>
              <a:cs typeface="华文新魏" panose="02010800040101010101" charset="-122"/>
            </a:endParaRPr>
          </a:p>
          <a:p>
            <a:pPr marL="755650" lvl="1" indent="-285750">
              <a:lnSpc>
                <a:spcPct val="100000"/>
              </a:lnSpc>
              <a:spcBef>
                <a:spcPts val="1020"/>
              </a:spcBef>
              <a:buFont typeface="Arial" panose="020B0604020202020204"/>
              <a:buChar char="•"/>
              <a:tabLst>
                <a:tab pos="755015" algn="l"/>
                <a:tab pos="755650" algn="l"/>
              </a:tabLst>
            </a:pPr>
            <a:r>
              <a:rPr sz="2400" u="sng" spc="-5" dirty="0">
                <a:latin typeface="微软雅黑" panose="020B0503020204020204" pitchFamily="34" charset="-122"/>
                <a:ea typeface="微软雅黑" panose="020B0503020204020204" pitchFamily="34" charset="-122"/>
                <a:cs typeface="华文新魏" panose="02010800040101010101" charset="-122"/>
              </a:rPr>
              <a:t>Entry</a:t>
            </a:r>
            <a:r>
              <a:rPr sz="2400" u="sng" dirty="0">
                <a:latin typeface="微软雅黑" panose="020B0503020204020204" pitchFamily="34" charset="-122"/>
                <a:ea typeface="微软雅黑" panose="020B0503020204020204" pitchFamily="34" charset="-122"/>
                <a:cs typeface="华文新魏" panose="02010800040101010101" charset="-122"/>
              </a:rPr>
              <a:t>动作</a:t>
            </a:r>
            <a:r>
              <a:rPr sz="2400" dirty="0">
                <a:latin typeface="微软雅黑" panose="020B0503020204020204" pitchFamily="34" charset="-122"/>
                <a:ea typeface="微软雅黑" panose="020B0503020204020204" pitchFamily="34" charset="-122"/>
                <a:cs typeface="华文新魏" panose="02010800040101010101" charset="-122"/>
              </a:rPr>
              <a:t>：进入状态时执行的活动，格式如下：</a:t>
            </a:r>
          </a:p>
          <a:p>
            <a:pPr marL="762000">
              <a:lnSpc>
                <a:spcPct val="100000"/>
              </a:lnSpc>
              <a:spcBef>
                <a:spcPts val="1440"/>
              </a:spcBef>
            </a:pPr>
            <a:r>
              <a:rPr sz="2400" dirty="0">
                <a:latin typeface="微软雅黑" panose="020B0503020204020204" pitchFamily="34" charset="-122"/>
                <a:ea typeface="微软雅黑" panose="020B0503020204020204" pitchFamily="34" charset="-122"/>
                <a:cs typeface="华文新魏" panose="02010800040101010101" charset="-122"/>
              </a:rPr>
              <a:t>‘entry’</a:t>
            </a:r>
            <a:r>
              <a:rPr sz="2400" spc="-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‘/’action-expression</a:t>
            </a:r>
          </a:p>
          <a:p>
            <a:pPr marL="755650" lvl="1" indent="-285750">
              <a:lnSpc>
                <a:spcPct val="100000"/>
              </a:lnSpc>
              <a:spcBef>
                <a:spcPts val="1020"/>
              </a:spcBef>
              <a:buFont typeface="Arial" panose="020B0604020202020204"/>
              <a:buChar char="•"/>
              <a:tabLst>
                <a:tab pos="755015" algn="l"/>
                <a:tab pos="755650" algn="l"/>
              </a:tabLst>
            </a:pPr>
            <a:r>
              <a:rPr sz="2400" u="sng" spc="-5" dirty="0">
                <a:latin typeface="微软雅黑" panose="020B0503020204020204" pitchFamily="34" charset="-122"/>
                <a:ea typeface="微软雅黑" panose="020B0503020204020204" pitchFamily="34" charset="-122"/>
                <a:cs typeface="华文新魏" panose="02010800040101010101" charset="-122"/>
              </a:rPr>
              <a:t>Exit</a:t>
            </a:r>
            <a:r>
              <a:rPr sz="2400" u="sng" dirty="0">
                <a:latin typeface="微软雅黑" panose="020B0503020204020204" pitchFamily="34" charset="-122"/>
                <a:ea typeface="微软雅黑" panose="020B0503020204020204" pitchFamily="34" charset="-122"/>
                <a:cs typeface="华文新魏" panose="02010800040101010101" charset="-122"/>
              </a:rPr>
              <a:t>动作：</a:t>
            </a:r>
            <a:r>
              <a:rPr sz="2400" dirty="0">
                <a:latin typeface="微软雅黑" panose="020B0503020204020204" pitchFamily="34" charset="-122"/>
                <a:ea typeface="微软雅黑" panose="020B0503020204020204" pitchFamily="34" charset="-122"/>
                <a:cs typeface="华文新魏" panose="02010800040101010101" charset="-122"/>
              </a:rPr>
              <a:t>退出状态时执行的活动，格式如下：</a:t>
            </a:r>
          </a:p>
          <a:p>
            <a:pPr marL="762000">
              <a:lnSpc>
                <a:spcPct val="100000"/>
              </a:lnSpc>
              <a:spcBef>
                <a:spcPts val="1540"/>
              </a:spcBef>
            </a:pPr>
            <a:r>
              <a:rPr sz="2400" dirty="0">
                <a:latin typeface="微软雅黑" panose="020B0503020204020204" pitchFamily="34" charset="-122"/>
                <a:ea typeface="微软雅黑" panose="020B0503020204020204" pitchFamily="34" charset="-122"/>
                <a:cs typeface="华文新魏" panose="02010800040101010101" charset="-122"/>
              </a:rPr>
              <a:t>‘exit’</a:t>
            </a:r>
            <a:r>
              <a:rPr sz="2400" spc="-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‘/’action-expression</a:t>
            </a:r>
          </a:p>
          <a:p>
            <a:pPr marL="469900">
              <a:lnSpc>
                <a:spcPct val="100000"/>
              </a:lnSpc>
              <a:spcBef>
                <a:spcPts val="1020"/>
              </a:spcBef>
            </a:pPr>
            <a:r>
              <a:rPr sz="2400" dirty="0">
                <a:latin typeface="微软雅黑" panose="020B0503020204020204" pitchFamily="34" charset="-122"/>
                <a:ea typeface="微软雅黑" panose="020B0503020204020204" pitchFamily="34" charset="-122"/>
                <a:cs typeface="华文新魏" panose="02010800040101010101" charset="-122"/>
              </a:rPr>
              <a:t>(其中</a:t>
            </a:r>
            <a:r>
              <a:rPr sz="2400" spc="-50"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action-expression</a:t>
            </a:r>
            <a:r>
              <a:rPr sz="2400" spc="-4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可以引用对象本身的属性和输入事件的参数)</a:t>
            </a:r>
          </a:p>
        </p:txBody>
      </p:sp>
      <p:sp>
        <p:nvSpPr>
          <p:cNvPr id="7" name="标题 6"/>
          <p:cNvSpPr>
            <a:spLocks noGrp="1"/>
          </p:cNvSpPr>
          <p:nvPr>
            <p:ph type="title"/>
          </p:nvPr>
        </p:nvSpPr>
        <p:spPr/>
        <p:txBody>
          <a:bodyPr/>
          <a:lstStyle/>
          <a:p>
            <a:r>
              <a:rPr lang="en-US" altLang="zh-CN" spc="-5" dirty="0"/>
              <a:t>UML</a:t>
            </a:r>
            <a:r>
              <a:rPr lang="zh-CN" altLang="en-US" spc="-5" dirty="0"/>
              <a:t>状态图中的动作</a:t>
            </a:r>
            <a:r>
              <a:rPr lang="en-US" altLang="zh-CN" spc="-5" dirty="0"/>
              <a:t>(Action)</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47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9750"/>
    </mc:Choice>
    <mc:Fallback xmlns="">
      <p:transition spd="slow" advTm="6975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36335" y="1573476"/>
            <a:ext cx="871930" cy="426523"/>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华文新魏" panose="02010800040101010101" charset="-122"/>
                <a:cs typeface="华文新魏" panose="02010800040101010101" charset="-122"/>
              </a:rPr>
              <a:t>Order</a:t>
            </a:r>
            <a:endParaRPr sz="2000">
              <a:latin typeface="华文新魏" panose="02010800040101010101" charset="-122"/>
              <a:cs typeface="华文新魏" panose="02010800040101010101" charset="-122"/>
            </a:endParaRPr>
          </a:p>
        </p:txBody>
      </p:sp>
      <p:sp>
        <p:nvSpPr>
          <p:cNvPr id="3" name="object 3"/>
          <p:cNvSpPr/>
          <p:nvPr/>
        </p:nvSpPr>
        <p:spPr>
          <a:xfrm>
            <a:off x="3977658" y="1881065"/>
            <a:ext cx="258174" cy="20300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3878116" y="1581436"/>
            <a:ext cx="530983"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Start</a:t>
            </a:r>
            <a:endParaRPr sz="1600" dirty="0">
              <a:latin typeface="华文新魏" panose="02010800040101010101" charset="-122"/>
              <a:cs typeface="华文新魏" panose="02010800040101010101" charset="-122"/>
            </a:endParaRPr>
          </a:p>
        </p:txBody>
      </p:sp>
      <p:sp>
        <p:nvSpPr>
          <p:cNvPr id="5" name="object 5"/>
          <p:cNvSpPr txBox="1"/>
          <p:nvPr/>
        </p:nvSpPr>
        <p:spPr>
          <a:xfrm>
            <a:off x="1264857" y="2756666"/>
            <a:ext cx="1469985"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get next</a:t>
            </a:r>
            <a:r>
              <a:rPr sz="1600" b="1" spc="-60"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item</a:t>
            </a:r>
            <a:endParaRPr sz="1600">
              <a:latin typeface="华文新魏" panose="02010800040101010101" charset="-122"/>
              <a:cs typeface="华文新魏" panose="02010800040101010101" charset="-122"/>
            </a:endParaRPr>
          </a:p>
        </p:txBody>
      </p:sp>
      <p:sp>
        <p:nvSpPr>
          <p:cNvPr id="6" name="object 6"/>
          <p:cNvSpPr txBox="1"/>
          <p:nvPr/>
        </p:nvSpPr>
        <p:spPr>
          <a:xfrm>
            <a:off x="1264855" y="2939169"/>
            <a:ext cx="2565487"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[Not all items</a:t>
            </a:r>
            <a:r>
              <a:rPr sz="1600" b="1" spc="-3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checked]</a:t>
            </a:r>
            <a:endParaRPr sz="1600">
              <a:latin typeface="华文新魏" panose="02010800040101010101" charset="-122"/>
              <a:cs typeface="华文新魏" panose="02010800040101010101" charset="-122"/>
            </a:endParaRPr>
          </a:p>
        </p:txBody>
      </p:sp>
      <p:sp>
        <p:nvSpPr>
          <p:cNvPr id="7" name="object 7"/>
          <p:cNvSpPr txBox="1"/>
          <p:nvPr/>
        </p:nvSpPr>
        <p:spPr>
          <a:xfrm>
            <a:off x="6096000" y="3062854"/>
            <a:ext cx="3640759" cy="518091"/>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[All items checked</a:t>
            </a:r>
            <a:r>
              <a:rPr sz="1600" b="1" spc="-4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&amp;&amp;</a:t>
            </a:r>
            <a:endParaRPr lang="en-US" altLang="zh-CN" sz="1600" b="1" spc="-5" dirty="0">
              <a:latin typeface="华文新魏" panose="02010800040101010101" charset="-122"/>
              <a:cs typeface="华文新魏" panose="02010800040101010101" charset="-122"/>
            </a:endParaRPr>
          </a:p>
          <a:p>
            <a:pPr marL="12700">
              <a:lnSpc>
                <a:spcPct val="100000"/>
              </a:lnSpc>
              <a:spcBef>
                <a:spcPts val="100"/>
              </a:spcBef>
            </a:pPr>
            <a:r>
              <a:rPr lang="en-US" sz="1600" b="1" spc="-5" dirty="0">
                <a:latin typeface="华文新魏" panose="02010800040101010101" charset="-122"/>
                <a:cs typeface="华文新魏" panose="02010800040101010101" charset="-122"/>
              </a:rPr>
              <a:t>all items available]</a:t>
            </a:r>
            <a:endParaRPr sz="1600" dirty="0">
              <a:latin typeface="华文新魏" panose="02010800040101010101" charset="-122"/>
              <a:cs typeface="华文新魏" panose="02010800040101010101" charset="-122"/>
            </a:endParaRPr>
          </a:p>
        </p:txBody>
      </p:sp>
      <p:sp>
        <p:nvSpPr>
          <p:cNvPr id="8" name="object 8"/>
          <p:cNvSpPr txBox="1"/>
          <p:nvPr/>
        </p:nvSpPr>
        <p:spPr>
          <a:xfrm>
            <a:off x="3296168" y="3322708"/>
            <a:ext cx="8072539" cy="537392"/>
          </a:xfrm>
          <a:prstGeom prst="rect">
            <a:avLst/>
          </a:prstGeom>
        </p:spPr>
        <p:txBody>
          <a:bodyPr vert="horz" wrap="square" lIns="0" tIns="46990" rIns="0" bIns="0" rtlCol="0">
            <a:spAutoFit/>
          </a:bodyPr>
          <a:lstStyle/>
          <a:p>
            <a:pPr marL="191770" marR="43180" indent="-141605">
              <a:lnSpc>
                <a:spcPts val="1660"/>
              </a:lnSpc>
              <a:spcBef>
                <a:spcPts val="370"/>
              </a:spcBef>
              <a:tabLst>
                <a:tab pos="513715" algn="l"/>
                <a:tab pos="1998980" algn="l"/>
                <a:tab pos="2211070" algn="l"/>
                <a:tab pos="4239260" algn="l"/>
                <a:tab pos="4488815" algn="l"/>
                <a:tab pos="4860925" algn="l"/>
                <a:tab pos="6368415" algn="l"/>
              </a:tabLst>
            </a:pPr>
            <a:r>
              <a:rPr sz="1600" b="1" u="heavy" dirty="0">
                <a:uFill>
                  <a:solidFill>
                    <a:srgbClr val="000000"/>
                  </a:solidFill>
                </a:uFill>
                <a:latin typeface="Times New Roman" panose="02020603050405020304"/>
                <a:cs typeface="Times New Roman" panose="02020603050405020304"/>
              </a:rPr>
              <a:t> 		</a:t>
            </a:r>
            <a:r>
              <a:rPr sz="1600" b="1" u="heavy" spc="-5" dirty="0">
                <a:uFill>
                  <a:solidFill>
                    <a:srgbClr val="000000"/>
                  </a:solidFill>
                </a:uFill>
                <a:latin typeface="华文新魏" panose="02010800040101010101" charset="-122"/>
                <a:cs typeface="华文新魏" panose="02010800040101010101" charset="-122"/>
              </a:rPr>
              <a:t>Checking	</a:t>
            </a:r>
            <a:r>
              <a:rPr sz="2400" b="1" u="heavy" spc="-7" baseline="19000" dirty="0">
                <a:uFill>
                  <a:solidFill>
                    <a:srgbClr val="000000"/>
                  </a:solidFill>
                </a:uFill>
                <a:latin typeface="华文新魏" panose="02010800040101010101" charset="-122"/>
                <a:cs typeface="华文新魏" panose="02010800040101010101" charset="-122"/>
              </a:rPr>
              <a:t>		</a:t>
            </a:r>
            <a:r>
              <a:rPr sz="1600" b="1" u="heavy" spc="-5" dirty="0">
                <a:uFill>
                  <a:solidFill>
                    <a:srgbClr val="000000"/>
                  </a:solidFill>
                </a:uFill>
                <a:latin typeface="华文新魏" panose="02010800040101010101" charset="-122"/>
                <a:cs typeface="华文新魏" panose="02010800040101010101" charset="-122"/>
              </a:rPr>
              <a:t> 		</a:t>
            </a:r>
            <a:r>
              <a:rPr lang="en-US" altLang="zh-CN" sz="1600" b="1" u="heavy" spc="-5" dirty="0">
                <a:uFill>
                  <a:solidFill>
                    <a:srgbClr val="000000"/>
                  </a:solidFill>
                </a:uFill>
                <a:latin typeface="华文新魏" panose="02010800040101010101" charset="-122"/>
                <a:cs typeface="华文新魏" panose="02010800040101010101" charset="-122"/>
              </a:rPr>
              <a:t>                          </a:t>
            </a:r>
            <a:r>
              <a:rPr sz="1600" b="1" u="heavy" spc="-5" dirty="0">
                <a:uFill>
                  <a:solidFill>
                    <a:srgbClr val="000000"/>
                  </a:solidFill>
                </a:uFill>
                <a:latin typeface="华文新魏" panose="02010800040101010101" charset="-122"/>
                <a:cs typeface="华文新魏" panose="02010800040101010101" charset="-122"/>
              </a:rPr>
              <a:t>Dispatching 	</a:t>
            </a:r>
            <a:r>
              <a:rPr sz="1600" b="1" dirty="0">
                <a:latin typeface="华文新魏" panose="02010800040101010101" charset="-122"/>
                <a:cs typeface="华文新魏" panose="02010800040101010101" charset="-122"/>
              </a:rPr>
              <a:t> </a:t>
            </a:r>
            <a:r>
              <a:rPr lang="en-US" altLang="zh-CN" sz="1600" b="1" dirty="0">
                <a:latin typeface="华文新魏" panose="02010800040101010101" charset="-122"/>
                <a:cs typeface="华文新魏" panose="02010800040101010101" charset="-122"/>
              </a:rPr>
              <a:t>  </a:t>
            </a:r>
          </a:p>
          <a:p>
            <a:pPr marL="191770" marR="43180" indent="-141605">
              <a:lnSpc>
                <a:spcPts val="1660"/>
              </a:lnSpc>
              <a:spcBef>
                <a:spcPts val="370"/>
              </a:spcBef>
              <a:tabLst>
                <a:tab pos="513715" algn="l"/>
                <a:tab pos="1998980" algn="l"/>
                <a:tab pos="2211070" algn="l"/>
                <a:tab pos="4239260" algn="l"/>
                <a:tab pos="4488815" algn="l"/>
                <a:tab pos="4860925" algn="l"/>
                <a:tab pos="6368415" algn="l"/>
              </a:tabLst>
            </a:pPr>
            <a:r>
              <a:rPr lang="en-US" altLang="zh-CN" sz="1600" b="1" spc="-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do:</a:t>
            </a:r>
            <a:r>
              <a:rPr sz="1600" b="1" spc="1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check</a:t>
            </a:r>
            <a:r>
              <a:rPr sz="1600" b="1" spc="1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item	</a:t>
            </a:r>
            <a:r>
              <a:rPr lang="en-US" altLang="zh-CN" sz="1600" b="1" spc="-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do: initiate</a:t>
            </a:r>
            <a:r>
              <a:rPr sz="1600" b="1" spc="-20"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delivery</a:t>
            </a:r>
            <a:endParaRPr sz="1600" dirty="0">
              <a:latin typeface="华文新魏" panose="02010800040101010101" charset="-122"/>
              <a:cs typeface="华文新魏" panose="02010800040101010101" charset="-122"/>
            </a:endParaRPr>
          </a:p>
        </p:txBody>
      </p:sp>
      <p:sp>
        <p:nvSpPr>
          <p:cNvPr id="9" name="object 9"/>
          <p:cNvSpPr txBox="1"/>
          <p:nvPr/>
        </p:nvSpPr>
        <p:spPr>
          <a:xfrm>
            <a:off x="3630991" y="4848268"/>
            <a:ext cx="902272"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Waiting</a:t>
            </a:r>
            <a:endParaRPr sz="1600">
              <a:latin typeface="华文新魏" panose="02010800040101010101" charset="-122"/>
              <a:cs typeface="华文新魏" panose="02010800040101010101" charset="-122"/>
            </a:endParaRPr>
          </a:p>
        </p:txBody>
      </p:sp>
      <p:sp>
        <p:nvSpPr>
          <p:cNvPr id="10" name="object 10"/>
          <p:cNvSpPr txBox="1"/>
          <p:nvPr/>
        </p:nvSpPr>
        <p:spPr>
          <a:xfrm>
            <a:off x="1336718" y="5576228"/>
            <a:ext cx="1595345"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Item</a:t>
            </a:r>
            <a:r>
              <a:rPr sz="1600" b="1" spc="-5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Received</a:t>
            </a:r>
            <a:endParaRPr sz="1600">
              <a:latin typeface="华文新魏" panose="02010800040101010101" charset="-122"/>
              <a:cs typeface="华文新魏" panose="02010800040101010101" charset="-122"/>
            </a:endParaRPr>
          </a:p>
        </p:txBody>
      </p:sp>
      <p:sp>
        <p:nvSpPr>
          <p:cNvPr id="11" name="object 11"/>
          <p:cNvSpPr txBox="1"/>
          <p:nvPr/>
        </p:nvSpPr>
        <p:spPr>
          <a:xfrm>
            <a:off x="1336716" y="5758730"/>
            <a:ext cx="2776283"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[some items not in</a:t>
            </a:r>
            <a:r>
              <a:rPr sz="1600" b="1" spc="-3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stock]</a:t>
            </a:r>
            <a:endParaRPr sz="1600">
              <a:latin typeface="华文新魏" panose="02010800040101010101" charset="-122"/>
              <a:cs typeface="华文新魏" panose="02010800040101010101" charset="-122"/>
            </a:endParaRPr>
          </a:p>
        </p:txBody>
      </p:sp>
      <p:sp>
        <p:nvSpPr>
          <p:cNvPr id="12" name="object 12"/>
          <p:cNvSpPr txBox="1"/>
          <p:nvPr/>
        </p:nvSpPr>
        <p:spPr>
          <a:xfrm>
            <a:off x="1187669" y="3976768"/>
            <a:ext cx="2878487" cy="584008"/>
          </a:xfrm>
          <a:prstGeom prst="rect">
            <a:avLst/>
          </a:prstGeom>
        </p:spPr>
        <p:txBody>
          <a:bodyPr vert="horz" wrap="square" lIns="0" tIns="73660" rIns="0" bIns="0" rtlCol="0">
            <a:spAutoFit/>
          </a:bodyPr>
          <a:lstStyle/>
          <a:p>
            <a:pPr marL="165100" marR="5080" indent="-153035">
              <a:lnSpc>
                <a:spcPct val="75000"/>
              </a:lnSpc>
              <a:spcBef>
                <a:spcPts val="580"/>
              </a:spcBef>
            </a:pPr>
            <a:r>
              <a:rPr sz="1600" b="1" spc="-5" dirty="0">
                <a:latin typeface="华文新魏" panose="02010800040101010101" charset="-122"/>
                <a:cs typeface="华文新魏" panose="02010800040101010101" charset="-122"/>
              </a:rPr>
              <a:t>[All items checked &amp;&amp;  some items not in</a:t>
            </a:r>
            <a:r>
              <a:rPr sz="1600" b="1" spc="-40"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stock]</a:t>
            </a:r>
            <a:endParaRPr sz="1600">
              <a:latin typeface="华文新魏" panose="02010800040101010101" charset="-122"/>
              <a:cs typeface="华文新魏" panose="02010800040101010101" charset="-122"/>
            </a:endParaRPr>
          </a:p>
        </p:txBody>
      </p:sp>
      <p:sp>
        <p:nvSpPr>
          <p:cNvPr id="13" name="object 13"/>
          <p:cNvSpPr txBox="1"/>
          <p:nvPr/>
        </p:nvSpPr>
        <p:spPr>
          <a:xfrm>
            <a:off x="9505074" y="5393725"/>
            <a:ext cx="1103485"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Delivered</a:t>
            </a:r>
            <a:endParaRPr sz="1600">
              <a:latin typeface="华文新魏" panose="02010800040101010101" charset="-122"/>
              <a:cs typeface="华文新魏" panose="02010800040101010101" charset="-122"/>
            </a:endParaRPr>
          </a:p>
        </p:txBody>
      </p:sp>
      <p:sp>
        <p:nvSpPr>
          <p:cNvPr id="14" name="object 14"/>
          <p:cNvSpPr/>
          <p:nvPr/>
        </p:nvSpPr>
        <p:spPr>
          <a:xfrm>
            <a:off x="4022905" y="3090910"/>
            <a:ext cx="157032" cy="153794"/>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4102752" y="2075873"/>
            <a:ext cx="5589" cy="1062206"/>
          </a:xfrm>
          <a:custGeom>
            <a:avLst/>
            <a:gdLst/>
            <a:ahLst/>
            <a:cxnLst/>
            <a:rect l="l" t="t" r="r" b="b"/>
            <a:pathLst>
              <a:path w="4445" h="822325">
                <a:moveTo>
                  <a:pt x="4233" y="0"/>
                </a:moveTo>
                <a:lnTo>
                  <a:pt x="0" y="822324"/>
                </a:lnTo>
              </a:path>
            </a:pathLst>
          </a:custGeom>
          <a:ln w="12699">
            <a:solidFill>
              <a:srgbClr val="000000"/>
            </a:solidFill>
          </a:ln>
        </p:spPr>
        <p:txBody>
          <a:bodyPr wrap="square" lIns="0" tIns="0" rIns="0" bIns="0" rtlCol="0"/>
          <a:lstStyle/>
          <a:p>
            <a:endParaRPr/>
          </a:p>
        </p:txBody>
      </p:sp>
      <p:sp>
        <p:nvSpPr>
          <p:cNvPr id="16" name="object 16"/>
          <p:cNvSpPr txBox="1"/>
          <p:nvPr/>
        </p:nvSpPr>
        <p:spPr>
          <a:xfrm>
            <a:off x="4307028" y="2393712"/>
            <a:ext cx="1489946"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/get first</a:t>
            </a:r>
            <a:r>
              <a:rPr sz="1600" b="1" spc="-5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item</a:t>
            </a:r>
            <a:endParaRPr sz="1600">
              <a:latin typeface="华文新魏" panose="02010800040101010101" charset="-122"/>
              <a:cs typeface="华文新魏" panose="02010800040101010101" charset="-122"/>
            </a:endParaRPr>
          </a:p>
        </p:txBody>
      </p:sp>
      <p:sp>
        <p:nvSpPr>
          <p:cNvPr id="17" name="object 17"/>
          <p:cNvSpPr/>
          <p:nvPr/>
        </p:nvSpPr>
        <p:spPr>
          <a:xfrm>
            <a:off x="2979571" y="3259061"/>
            <a:ext cx="234217" cy="110732"/>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1723310" y="3320576"/>
            <a:ext cx="1488350" cy="328094"/>
          </a:xfrm>
          <a:custGeom>
            <a:avLst/>
            <a:gdLst/>
            <a:ahLst/>
            <a:cxnLst/>
            <a:rect l="l" t="t" r="r" b="b"/>
            <a:pathLst>
              <a:path w="1183639" h="254000">
                <a:moveTo>
                  <a:pt x="1183215" y="254000"/>
                </a:moveTo>
                <a:lnTo>
                  <a:pt x="0" y="254000"/>
                </a:lnTo>
                <a:lnTo>
                  <a:pt x="0" y="6349"/>
                </a:lnTo>
                <a:lnTo>
                  <a:pt x="1130299" y="6349"/>
                </a:lnTo>
                <a:lnTo>
                  <a:pt x="1071032" y="0"/>
                </a:lnTo>
              </a:path>
            </a:pathLst>
          </a:custGeom>
          <a:ln w="12699">
            <a:solidFill>
              <a:srgbClr val="000000"/>
            </a:solidFill>
          </a:ln>
        </p:spPr>
        <p:txBody>
          <a:bodyPr wrap="square" lIns="0" tIns="0" rIns="0" bIns="0" rtlCol="0"/>
          <a:lstStyle/>
          <a:p>
            <a:endParaRPr/>
          </a:p>
        </p:txBody>
      </p:sp>
      <p:sp>
        <p:nvSpPr>
          <p:cNvPr id="19" name="object 19"/>
          <p:cNvSpPr/>
          <p:nvPr/>
        </p:nvSpPr>
        <p:spPr>
          <a:xfrm>
            <a:off x="8398525" y="3453867"/>
            <a:ext cx="220910" cy="112782"/>
          </a:xfrm>
          <a:prstGeom prst="rect">
            <a:avLst/>
          </a:prstGeom>
          <a:blipFill>
            <a:blip r:embed="rId6" cstate="print"/>
            <a:stretch>
              <a:fillRect/>
            </a:stretch>
          </a:blipFill>
        </p:spPr>
        <p:txBody>
          <a:bodyPr wrap="square" lIns="0" tIns="0" rIns="0" bIns="0" rtlCol="0"/>
          <a:lstStyle/>
          <a:p>
            <a:endParaRPr/>
          </a:p>
        </p:txBody>
      </p:sp>
      <p:sp>
        <p:nvSpPr>
          <p:cNvPr id="20" name="object 20"/>
          <p:cNvSpPr/>
          <p:nvPr/>
        </p:nvSpPr>
        <p:spPr>
          <a:xfrm>
            <a:off x="3267021" y="4909787"/>
            <a:ext cx="220910" cy="110731"/>
          </a:xfrm>
          <a:prstGeom prst="rect">
            <a:avLst/>
          </a:prstGeom>
          <a:blipFill>
            <a:blip r:embed="rId7" cstate="print"/>
            <a:stretch>
              <a:fillRect/>
            </a:stretch>
          </a:blipFill>
        </p:spPr>
        <p:txBody>
          <a:bodyPr wrap="square" lIns="0" tIns="0" rIns="0" bIns="0" rtlCol="0"/>
          <a:lstStyle/>
          <a:p>
            <a:endParaRPr/>
          </a:p>
        </p:txBody>
      </p:sp>
      <p:sp>
        <p:nvSpPr>
          <p:cNvPr id="21" name="object 21"/>
          <p:cNvSpPr/>
          <p:nvPr/>
        </p:nvSpPr>
        <p:spPr>
          <a:xfrm>
            <a:off x="2535088" y="4965152"/>
            <a:ext cx="1149798" cy="593031"/>
          </a:xfrm>
          <a:custGeom>
            <a:avLst/>
            <a:gdLst/>
            <a:ahLst/>
            <a:cxnLst/>
            <a:rect l="l" t="t" r="r" b="b"/>
            <a:pathLst>
              <a:path w="914400" h="459104">
                <a:moveTo>
                  <a:pt x="914399" y="141287"/>
                </a:moveTo>
                <a:lnTo>
                  <a:pt x="914399" y="458787"/>
                </a:lnTo>
                <a:lnTo>
                  <a:pt x="0" y="458787"/>
                </a:lnTo>
                <a:lnTo>
                  <a:pt x="0" y="0"/>
                </a:lnTo>
                <a:lnTo>
                  <a:pt x="643466" y="0"/>
                </a:lnTo>
              </a:path>
            </a:pathLst>
          </a:custGeom>
          <a:ln w="12699">
            <a:solidFill>
              <a:srgbClr val="000000"/>
            </a:solidFill>
          </a:ln>
        </p:spPr>
        <p:txBody>
          <a:bodyPr wrap="square" lIns="0" tIns="0" rIns="0" bIns="0" rtlCol="0"/>
          <a:lstStyle/>
          <a:p>
            <a:endParaRPr/>
          </a:p>
        </p:txBody>
      </p:sp>
      <p:sp>
        <p:nvSpPr>
          <p:cNvPr id="22" name="object 22"/>
          <p:cNvSpPr/>
          <p:nvPr/>
        </p:nvSpPr>
        <p:spPr>
          <a:xfrm>
            <a:off x="4416818" y="4637055"/>
            <a:ext cx="157032" cy="153794"/>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4496664" y="3784010"/>
            <a:ext cx="0" cy="908822"/>
          </a:xfrm>
          <a:custGeom>
            <a:avLst/>
            <a:gdLst/>
            <a:ahLst/>
            <a:cxnLst/>
            <a:rect l="l" t="t" r="r" b="b"/>
            <a:pathLst>
              <a:path h="703579">
                <a:moveTo>
                  <a:pt x="0" y="0"/>
                </a:moveTo>
                <a:lnTo>
                  <a:pt x="0" y="176212"/>
                </a:lnTo>
                <a:lnTo>
                  <a:pt x="0" y="703262"/>
                </a:lnTo>
              </a:path>
            </a:pathLst>
          </a:custGeom>
          <a:ln w="12699">
            <a:solidFill>
              <a:srgbClr val="000000"/>
            </a:solidFill>
          </a:ln>
        </p:spPr>
        <p:txBody>
          <a:bodyPr wrap="square" lIns="0" tIns="0" rIns="0" bIns="0" rtlCol="0"/>
          <a:lstStyle/>
          <a:p>
            <a:endParaRPr/>
          </a:p>
        </p:txBody>
      </p:sp>
      <p:sp>
        <p:nvSpPr>
          <p:cNvPr id="24" name="object 24"/>
          <p:cNvSpPr/>
          <p:nvPr/>
        </p:nvSpPr>
        <p:spPr>
          <a:xfrm>
            <a:off x="8276095" y="3710188"/>
            <a:ext cx="228893" cy="110732"/>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4842667" y="3745052"/>
            <a:ext cx="3524450" cy="1119622"/>
          </a:xfrm>
          <a:custGeom>
            <a:avLst/>
            <a:gdLst/>
            <a:ahLst/>
            <a:cxnLst/>
            <a:rect l="l" t="t" r="r" b="b"/>
            <a:pathLst>
              <a:path w="2802890" h="866775">
                <a:moveTo>
                  <a:pt x="0" y="866774"/>
                </a:moveTo>
                <a:lnTo>
                  <a:pt x="2802465" y="0"/>
                </a:lnTo>
              </a:path>
            </a:pathLst>
          </a:custGeom>
          <a:ln w="12699">
            <a:solidFill>
              <a:srgbClr val="000000"/>
            </a:solidFill>
          </a:ln>
        </p:spPr>
        <p:txBody>
          <a:bodyPr wrap="square" lIns="0" tIns="0" rIns="0" bIns="0" rtlCol="0"/>
          <a:lstStyle/>
          <a:p>
            <a:endParaRPr/>
          </a:p>
        </p:txBody>
      </p:sp>
      <p:sp>
        <p:nvSpPr>
          <p:cNvPr id="26" name="object 26"/>
          <p:cNvSpPr txBox="1"/>
          <p:nvPr/>
        </p:nvSpPr>
        <p:spPr>
          <a:xfrm>
            <a:off x="6332483" y="4393037"/>
            <a:ext cx="1595345"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Item</a:t>
            </a:r>
            <a:r>
              <a:rPr sz="1600" b="1" spc="-5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Received</a:t>
            </a:r>
            <a:endParaRPr sz="1600">
              <a:latin typeface="华文新魏" panose="02010800040101010101" charset="-122"/>
              <a:cs typeface="华文新魏" panose="02010800040101010101" charset="-122"/>
            </a:endParaRPr>
          </a:p>
        </p:txBody>
      </p:sp>
      <p:sp>
        <p:nvSpPr>
          <p:cNvPr id="27" name="object 27"/>
          <p:cNvSpPr txBox="1"/>
          <p:nvPr/>
        </p:nvSpPr>
        <p:spPr>
          <a:xfrm>
            <a:off x="6332483" y="4575540"/>
            <a:ext cx="2159863"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[all items</a:t>
            </a:r>
            <a:r>
              <a:rPr sz="1600" b="1" spc="-4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available]</a:t>
            </a:r>
            <a:endParaRPr sz="1600">
              <a:latin typeface="华文新魏" panose="02010800040101010101" charset="-122"/>
              <a:cs typeface="华文新魏" panose="02010800040101010101" charset="-122"/>
            </a:endParaRPr>
          </a:p>
        </p:txBody>
      </p:sp>
      <p:sp>
        <p:nvSpPr>
          <p:cNvPr id="28" name="object 28"/>
          <p:cNvSpPr/>
          <p:nvPr/>
        </p:nvSpPr>
        <p:spPr>
          <a:xfrm>
            <a:off x="10091285" y="5182512"/>
            <a:ext cx="154370" cy="153794"/>
          </a:xfrm>
          <a:prstGeom prst="rect">
            <a:avLst/>
          </a:prstGeom>
          <a:blipFill>
            <a:blip r:embed="rId9" cstate="print"/>
            <a:stretch>
              <a:fillRect/>
            </a:stretch>
          </a:blipFill>
        </p:spPr>
        <p:txBody>
          <a:bodyPr wrap="square" lIns="0" tIns="0" rIns="0" bIns="0" rtlCol="0"/>
          <a:lstStyle/>
          <a:p>
            <a:endParaRPr/>
          </a:p>
        </p:txBody>
      </p:sp>
      <p:sp>
        <p:nvSpPr>
          <p:cNvPr id="29" name="object 29"/>
          <p:cNvSpPr/>
          <p:nvPr/>
        </p:nvSpPr>
        <p:spPr>
          <a:xfrm>
            <a:off x="10144513" y="3843479"/>
            <a:ext cx="23954" cy="1386199"/>
          </a:xfrm>
          <a:custGeom>
            <a:avLst/>
            <a:gdLst/>
            <a:ahLst/>
            <a:cxnLst/>
            <a:rect l="l" t="t" r="r" b="b"/>
            <a:pathLst>
              <a:path w="19050" h="1073150">
                <a:moveTo>
                  <a:pt x="0" y="0"/>
                </a:moveTo>
                <a:lnTo>
                  <a:pt x="19050" y="1073149"/>
                </a:lnTo>
              </a:path>
            </a:pathLst>
          </a:custGeom>
          <a:ln w="12699">
            <a:solidFill>
              <a:srgbClr val="000000"/>
            </a:solidFill>
          </a:ln>
        </p:spPr>
        <p:txBody>
          <a:bodyPr wrap="square" lIns="0" tIns="0" rIns="0" bIns="0" rtlCol="0"/>
          <a:lstStyle/>
          <a:p>
            <a:endParaRPr/>
          </a:p>
        </p:txBody>
      </p:sp>
      <p:sp>
        <p:nvSpPr>
          <p:cNvPr id="30" name="object 30"/>
          <p:cNvSpPr txBox="1"/>
          <p:nvPr/>
        </p:nvSpPr>
        <p:spPr>
          <a:xfrm>
            <a:off x="10250315" y="4393037"/>
            <a:ext cx="1103485" cy="34778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Delivered</a:t>
            </a:r>
            <a:endParaRPr sz="1600">
              <a:latin typeface="华文新魏" panose="02010800040101010101" charset="-122"/>
              <a:cs typeface="华文新魏" panose="02010800040101010101" charset="-122"/>
            </a:endParaRPr>
          </a:p>
        </p:txBody>
      </p:sp>
      <p:sp>
        <p:nvSpPr>
          <p:cNvPr id="31" name="object 31"/>
          <p:cNvSpPr/>
          <p:nvPr/>
        </p:nvSpPr>
        <p:spPr>
          <a:xfrm>
            <a:off x="8590159" y="3304172"/>
            <a:ext cx="2499212" cy="631582"/>
          </a:xfrm>
          <a:custGeom>
            <a:avLst/>
            <a:gdLst/>
            <a:ahLst/>
            <a:cxnLst/>
            <a:rect l="l" t="t" r="r" b="b"/>
            <a:pathLst>
              <a:path w="2099945" h="488950">
                <a:moveTo>
                  <a:pt x="0" y="61093"/>
                </a:moveTo>
                <a:lnTo>
                  <a:pt x="4801" y="37313"/>
                </a:lnTo>
                <a:lnTo>
                  <a:pt x="17893" y="17893"/>
                </a:lnTo>
                <a:lnTo>
                  <a:pt x="37313" y="4801"/>
                </a:lnTo>
                <a:lnTo>
                  <a:pt x="61093" y="0"/>
                </a:lnTo>
                <a:lnTo>
                  <a:pt x="2038638" y="0"/>
                </a:lnTo>
                <a:lnTo>
                  <a:pt x="2062418" y="4801"/>
                </a:lnTo>
                <a:lnTo>
                  <a:pt x="2081838" y="17893"/>
                </a:lnTo>
                <a:lnTo>
                  <a:pt x="2094931" y="37313"/>
                </a:lnTo>
                <a:lnTo>
                  <a:pt x="2099732" y="61093"/>
                </a:lnTo>
                <a:lnTo>
                  <a:pt x="2099732" y="427856"/>
                </a:lnTo>
                <a:lnTo>
                  <a:pt x="2094931" y="451636"/>
                </a:lnTo>
                <a:lnTo>
                  <a:pt x="2081838" y="471055"/>
                </a:lnTo>
                <a:lnTo>
                  <a:pt x="2062418" y="484148"/>
                </a:lnTo>
                <a:lnTo>
                  <a:pt x="2038638" y="488949"/>
                </a:lnTo>
                <a:lnTo>
                  <a:pt x="61093" y="488949"/>
                </a:lnTo>
                <a:lnTo>
                  <a:pt x="37313" y="484148"/>
                </a:lnTo>
                <a:lnTo>
                  <a:pt x="17893" y="471055"/>
                </a:lnTo>
                <a:lnTo>
                  <a:pt x="4801" y="451636"/>
                </a:lnTo>
                <a:lnTo>
                  <a:pt x="0" y="427856"/>
                </a:lnTo>
                <a:lnTo>
                  <a:pt x="0" y="61093"/>
                </a:lnTo>
                <a:close/>
              </a:path>
            </a:pathLst>
          </a:custGeom>
          <a:ln w="38099">
            <a:solidFill>
              <a:srgbClr val="941100"/>
            </a:solidFill>
          </a:ln>
        </p:spPr>
        <p:txBody>
          <a:bodyPr wrap="square" lIns="0" tIns="0" rIns="0" bIns="0" rtlCol="0"/>
          <a:lstStyle/>
          <a:p>
            <a:endParaRPr/>
          </a:p>
        </p:txBody>
      </p:sp>
      <p:sp>
        <p:nvSpPr>
          <p:cNvPr id="32" name="object 32"/>
          <p:cNvSpPr/>
          <p:nvPr/>
        </p:nvSpPr>
        <p:spPr>
          <a:xfrm>
            <a:off x="3141927" y="3285717"/>
            <a:ext cx="2534345" cy="650447"/>
          </a:xfrm>
          <a:custGeom>
            <a:avLst/>
            <a:gdLst/>
            <a:ahLst/>
            <a:cxnLst/>
            <a:rect l="l" t="t" r="r" b="b"/>
            <a:pathLst>
              <a:path w="2015489" h="503554">
                <a:moveTo>
                  <a:pt x="0" y="62891"/>
                </a:moveTo>
                <a:lnTo>
                  <a:pt x="4942" y="38411"/>
                </a:lnTo>
                <a:lnTo>
                  <a:pt x="18420" y="18420"/>
                </a:lnTo>
                <a:lnTo>
                  <a:pt x="38411" y="4942"/>
                </a:lnTo>
                <a:lnTo>
                  <a:pt x="62891" y="0"/>
                </a:lnTo>
                <a:lnTo>
                  <a:pt x="1952174" y="0"/>
                </a:lnTo>
                <a:lnTo>
                  <a:pt x="1976654" y="4942"/>
                </a:lnTo>
                <a:lnTo>
                  <a:pt x="1996645" y="18420"/>
                </a:lnTo>
                <a:lnTo>
                  <a:pt x="2010124" y="38411"/>
                </a:lnTo>
                <a:lnTo>
                  <a:pt x="2015066" y="62891"/>
                </a:lnTo>
                <a:lnTo>
                  <a:pt x="2015066" y="440444"/>
                </a:lnTo>
                <a:lnTo>
                  <a:pt x="2010124" y="464925"/>
                </a:lnTo>
                <a:lnTo>
                  <a:pt x="1996645" y="484916"/>
                </a:lnTo>
                <a:lnTo>
                  <a:pt x="1976654" y="498394"/>
                </a:lnTo>
                <a:lnTo>
                  <a:pt x="1952174" y="503337"/>
                </a:lnTo>
                <a:lnTo>
                  <a:pt x="62891" y="503337"/>
                </a:lnTo>
                <a:lnTo>
                  <a:pt x="38411" y="498394"/>
                </a:lnTo>
                <a:lnTo>
                  <a:pt x="18420" y="484916"/>
                </a:lnTo>
                <a:lnTo>
                  <a:pt x="4942" y="464925"/>
                </a:lnTo>
                <a:lnTo>
                  <a:pt x="0" y="440444"/>
                </a:lnTo>
                <a:lnTo>
                  <a:pt x="0" y="62891"/>
                </a:lnTo>
                <a:close/>
              </a:path>
            </a:pathLst>
          </a:custGeom>
          <a:ln w="38099">
            <a:solidFill>
              <a:srgbClr val="941100"/>
            </a:solidFill>
          </a:ln>
        </p:spPr>
        <p:txBody>
          <a:bodyPr wrap="square" lIns="0" tIns="0" rIns="0" bIns="0" rtlCol="0"/>
          <a:lstStyle/>
          <a:p>
            <a:endParaRPr/>
          </a:p>
        </p:txBody>
      </p:sp>
      <p:sp>
        <p:nvSpPr>
          <p:cNvPr id="33" name="object 33"/>
          <p:cNvSpPr/>
          <p:nvPr/>
        </p:nvSpPr>
        <p:spPr>
          <a:xfrm>
            <a:off x="3479945" y="4780596"/>
            <a:ext cx="1256793" cy="377309"/>
          </a:xfrm>
          <a:custGeom>
            <a:avLst/>
            <a:gdLst/>
            <a:ahLst/>
            <a:cxnLst/>
            <a:rect l="l" t="t" r="r" b="b"/>
            <a:pathLst>
              <a:path w="999489" h="292100">
                <a:moveTo>
                  <a:pt x="0" y="36497"/>
                </a:moveTo>
                <a:lnTo>
                  <a:pt x="2868" y="22291"/>
                </a:lnTo>
                <a:lnTo>
                  <a:pt x="10690" y="10689"/>
                </a:lnTo>
                <a:lnTo>
                  <a:pt x="22291" y="2868"/>
                </a:lnTo>
                <a:lnTo>
                  <a:pt x="36498" y="0"/>
                </a:lnTo>
                <a:lnTo>
                  <a:pt x="962568" y="0"/>
                </a:lnTo>
                <a:lnTo>
                  <a:pt x="976775" y="2868"/>
                </a:lnTo>
                <a:lnTo>
                  <a:pt x="988376" y="10689"/>
                </a:lnTo>
                <a:lnTo>
                  <a:pt x="996198" y="22291"/>
                </a:lnTo>
                <a:lnTo>
                  <a:pt x="999066" y="36497"/>
                </a:lnTo>
                <a:lnTo>
                  <a:pt x="999066" y="255602"/>
                </a:lnTo>
                <a:lnTo>
                  <a:pt x="996198" y="269808"/>
                </a:lnTo>
                <a:lnTo>
                  <a:pt x="988376" y="281410"/>
                </a:lnTo>
                <a:lnTo>
                  <a:pt x="976775" y="289231"/>
                </a:lnTo>
                <a:lnTo>
                  <a:pt x="962568" y="292100"/>
                </a:lnTo>
                <a:lnTo>
                  <a:pt x="36498" y="292100"/>
                </a:lnTo>
                <a:lnTo>
                  <a:pt x="22291" y="289231"/>
                </a:lnTo>
                <a:lnTo>
                  <a:pt x="10690" y="281410"/>
                </a:lnTo>
                <a:lnTo>
                  <a:pt x="2868" y="269808"/>
                </a:lnTo>
                <a:lnTo>
                  <a:pt x="0" y="255602"/>
                </a:lnTo>
                <a:lnTo>
                  <a:pt x="0" y="36497"/>
                </a:lnTo>
                <a:close/>
              </a:path>
            </a:pathLst>
          </a:custGeom>
          <a:ln w="38099">
            <a:solidFill>
              <a:srgbClr val="941100"/>
            </a:solidFill>
          </a:ln>
        </p:spPr>
        <p:txBody>
          <a:bodyPr wrap="square" lIns="0" tIns="0" rIns="0" bIns="0" rtlCol="0"/>
          <a:lstStyle/>
          <a:p>
            <a:endParaRPr/>
          </a:p>
        </p:txBody>
      </p:sp>
      <p:sp>
        <p:nvSpPr>
          <p:cNvPr id="34" name="object 34"/>
          <p:cNvSpPr/>
          <p:nvPr/>
        </p:nvSpPr>
        <p:spPr>
          <a:xfrm>
            <a:off x="9484444" y="5371169"/>
            <a:ext cx="1384548" cy="332196"/>
          </a:xfrm>
          <a:custGeom>
            <a:avLst/>
            <a:gdLst/>
            <a:ahLst/>
            <a:cxnLst/>
            <a:rect l="l" t="t" r="r" b="b"/>
            <a:pathLst>
              <a:path w="1101090" h="257175">
                <a:moveTo>
                  <a:pt x="0" y="32134"/>
                </a:moveTo>
                <a:lnTo>
                  <a:pt x="2525" y="19626"/>
                </a:lnTo>
                <a:lnTo>
                  <a:pt x="9411" y="9411"/>
                </a:lnTo>
                <a:lnTo>
                  <a:pt x="19625" y="2525"/>
                </a:lnTo>
                <a:lnTo>
                  <a:pt x="32133" y="0"/>
                </a:lnTo>
                <a:lnTo>
                  <a:pt x="1068532" y="0"/>
                </a:lnTo>
                <a:lnTo>
                  <a:pt x="1081040" y="2525"/>
                </a:lnTo>
                <a:lnTo>
                  <a:pt x="1091255" y="9411"/>
                </a:lnTo>
                <a:lnTo>
                  <a:pt x="1098141" y="19626"/>
                </a:lnTo>
                <a:lnTo>
                  <a:pt x="1100667" y="32134"/>
                </a:lnTo>
                <a:lnTo>
                  <a:pt x="1100667" y="225040"/>
                </a:lnTo>
                <a:lnTo>
                  <a:pt x="1098141" y="237548"/>
                </a:lnTo>
                <a:lnTo>
                  <a:pt x="1091255" y="247763"/>
                </a:lnTo>
                <a:lnTo>
                  <a:pt x="1081040" y="254649"/>
                </a:lnTo>
                <a:lnTo>
                  <a:pt x="1068532" y="257174"/>
                </a:lnTo>
                <a:lnTo>
                  <a:pt x="32133" y="257174"/>
                </a:lnTo>
                <a:lnTo>
                  <a:pt x="19625" y="254649"/>
                </a:lnTo>
                <a:lnTo>
                  <a:pt x="9411" y="247763"/>
                </a:lnTo>
                <a:lnTo>
                  <a:pt x="2525" y="237548"/>
                </a:lnTo>
                <a:lnTo>
                  <a:pt x="0" y="225040"/>
                </a:lnTo>
                <a:lnTo>
                  <a:pt x="0" y="32134"/>
                </a:lnTo>
                <a:close/>
              </a:path>
            </a:pathLst>
          </a:custGeom>
          <a:ln w="38099">
            <a:solidFill>
              <a:srgbClr val="941100"/>
            </a:solidFill>
          </a:ln>
        </p:spPr>
        <p:txBody>
          <a:bodyPr wrap="square" lIns="0" tIns="0" rIns="0" bIns="0" rtlCol="0"/>
          <a:lstStyle/>
          <a:p>
            <a:endParaRPr/>
          </a:p>
        </p:txBody>
      </p:sp>
      <p:sp>
        <p:nvSpPr>
          <p:cNvPr id="36" name="object 36"/>
          <p:cNvSpPr/>
          <p:nvPr/>
        </p:nvSpPr>
        <p:spPr>
          <a:xfrm>
            <a:off x="7357853" y="5416282"/>
            <a:ext cx="258171" cy="203006"/>
          </a:xfrm>
          <a:prstGeom prst="rect">
            <a:avLst/>
          </a:prstGeom>
          <a:blipFill>
            <a:blip r:embed="rId3" cstate="print"/>
            <a:stretch>
              <a:fillRect/>
            </a:stretch>
          </a:blipFill>
        </p:spPr>
        <p:txBody>
          <a:bodyPr wrap="square" lIns="0" tIns="0" rIns="0" bIns="0" rtlCol="0"/>
          <a:lstStyle/>
          <a:p>
            <a:endParaRPr/>
          </a:p>
        </p:txBody>
      </p:sp>
      <p:sp>
        <p:nvSpPr>
          <p:cNvPr id="37" name="object 37"/>
          <p:cNvSpPr/>
          <p:nvPr/>
        </p:nvSpPr>
        <p:spPr>
          <a:xfrm>
            <a:off x="7246067" y="5332207"/>
            <a:ext cx="482276" cy="371567"/>
          </a:xfrm>
          <a:custGeom>
            <a:avLst/>
            <a:gdLst/>
            <a:ahLst/>
            <a:cxnLst/>
            <a:rect l="l" t="t" r="r" b="b"/>
            <a:pathLst>
              <a:path w="383540" h="287654">
                <a:moveTo>
                  <a:pt x="0" y="143668"/>
                </a:moveTo>
                <a:lnTo>
                  <a:pt x="6842" y="105476"/>
                </a:lnTo>
                <a:lnTo>
                  <a:pt x="26153" y="71156"/>
                </a:lnTo>
                <a:lnTo>
                  <a:pt x="56106" y="42079"/>
                </a:lnTo>
                <a:lnTo>
                  <a:pt x="94875" y="19615"/>
                </a:lnTo>
                <a:lnTo>
                  <a:pt x="140634" y="5131"/>
                </a:lnTo>
                <a:lnTo>
                  <a:pt x="191558" y="0"/>
                </a:lnTo>
                <a:lnTo>
                  <a:pt x="242481" y="5131"/>
                </a:lnTo>
                <a:lnTo>
                  <a:pt x="288240" y="19615"/>
                </a:lnTo>
                <a:lnTo>
                  <a:pt x="327009" y="42079"/>
                </a:lnTo>
                <a:lnTo>
                  <a:pt x="356962" y="71156"/>
                </a:lnTo>
                <a:lnTo>
                  <a:pt x="376273" y="105476"/>
                </a:lnTo>
                <a:lnTo>
                  <a:pt x="383116" y="143668"/>
                </a:lnTo>
                <a:lnTo>
                  <a:pt x="376273" y="181861"/>
                </a:lnTo>
                <a:lnTo>
                  <a:pt x="356962" y="216181"/>
                </a:lnTo>
                <a:lnTo>
                  <a:pt x="327009" y="245258"/>
                </a:lnTo>
                <a:lnTo>
                  <a:pt x="288240" y="267722"/>
                </a:lnTo>
                <a:lnTo>
                  <a:pt x="242481" y="282205"/>
                </a:lnTo>
                <a:lnTo>
                  <a:pt x="191558" y="287337"/>
                </a:lnTo>
                <a:lnTo>
                  <a:pt x="140634" y="282205"/>
                </a:lnTo>
                <a:lnTo>
                  <a:pt x="94875" y="267722"/>
                </a:lnTo>
                <a:lnTo>
                  <a:pt x="56106" y="245258"/>
                </a:lnTo>
                <a:lnTo>
                  <a:pt x="26153" y="216181"/>
                </a:lnTo>
                <a:lnTo>
                  <a:pt x="6842" y="181861"/>
                </a:lnTo>
                <a:lnTo>
                  <a:pt x="0" y="143668"/>
                </a:lnTo>
                <a:close/>
              </a:path>
            </a:pathLst>
          </a:custGeom>
          <a:ln w="25399">
            <a:solidFill>
              <a:srgbClr val="000000"/>
            </a:solidFill>
          </a:ln>
        </p:spPr>
        <p:txBody>
          <a:bodyPr wrap="square" lIns="0" tIns="0" rIns="0" bIns="0" rtlCol="0"/>
          <a:lstStyle/>
          <a:p>
            <a:endParaRPr/>
          </a:p>
        </p:txBody>
      </p:sp>
      <p:sp>
        <p:nvSpPr>
          <p:cNvPr id="38" name="object 38"/>
          <p:cNvSpPr/>
          <p:nvPr/>
        </p:nvSpPr>
        <p:spPr>
          <a:xfrm>
            <a:off x="7759747" y="5516760"/>
            <a:ext cx="1658424" cy="0"/>
          </a:xfrm>
          <a:custGeom>
            <a:avLst/>
            <a:gdLst/>
            <a:ahLst/>
            <a:cxnLst/>
            <a:rect l="l" t="t" r="r" b="b"/>
            <a:pathLst>
              <a:path w="1318895">
                <a:moveTo>
                  <a:pt x="1318683" y="0"/>
                </a:moveTo>
                <a:lnTo>
                  <a:pt x="0" y="0"/>
                </a:lnTo>
              </a:path>
            </a:pathLst>
          </a:custGeom>
          <a:ln w="9524">
            <a:solidFill>
              <a:srgbClr val="000000"/>
            </a:solidFill>
          </a:ln>
        </p:spPr>
        <p:txBody>
          <a:bodyPr wrap="square" lIns="0" tIns="0" rIns="0" bIns="0" rtlCol="0"/>
          <a:lstStyle/>
          <a:p>
            <a:endParaRPr/>
          </a:p>
        </p:txBody>
      </p:sp>
      <p:sp>
        <p:nvSpPr>
          <p:cNvPr id="39" name="object 39"/>
          <p:cNvSpPr/>
          <p:nvPr/>
        </p:nvSpPr>
        <p:spPr>
          <a:xfrm>
            <a:off x="7727810" y="5467546"/>
            <a:ext cx="95816" cy="98428"/>
          </a:xfrm>
          <a:custGeom>
            <a:avLst/>
            <a:gdLst/>
            <a:ahLst/>
            <a:cxnLst/>
            <a:rect l="l" t="t" r="r" b="b"/>
            <a:pathLst>
              <a:path w="76200" h="76200">
                <a:moveTo>
                  <a:pt x="76200" y="0"/>
                </a:moveTo>
                <a:lnTo>
                  <a:pt x="0" y="38099"/>
                </a:lnTo>
                <a:lnTo>
                  <a:pt x="76200" y="76199"/>
                </a:lnTo>
                <a:lnTo>
                  <a:pt x="76200" y="0"/>
                </a:lnTo>
                <a:close/>
              </a:path>
            </a:pathLst>
          </a:custGeom>
          <a:solidFill>
            <a:srgbClr val="000000"/>
          </a:solidFill>
        </p:spPr>
        <p:txBody>
          <a:bodyPr wrap="square" lIns="0" tIns="0" rIns="0" bIns="0" rtlCol="0"/>
          <a:lstStyle/>
          <a:p>
            <a:endParaRPr/>
          </a:p>
        </p:txBody>
      </p:sp>
      <p:sp>
        <p:nvSpPr>
          <p:cNvPr id="43" name="标题 42"/>
          <p:cNvSpPr>
            <a:spLocks noGrp="1"/>
          </p:cNvSpPr>
          <p:nvPr>
            <p:ph type="title"/>
          </p:nvPr>
        </p:nvSpPr>
        <p:spPr/>
        <p:txBody>
          <a:bodyPr/>
          <a:lstStyle/>
          <a:p>
            <a:r>
              <a:rPr lang="zh-CN" altLang="en-US" spc="-5" dirty="0"/>
              <a:t>例：订单处理</a:t>
            </a:r>
            <a:endParaRPr lang="zh-CN" altLang="en-US" dirty="0"/>
          </a:p>
        </p:txBody>
      </p:sp>
      <p:sp>
        <p:nvSpPr>
          <p:cNvPr id="45" name="灯片编号占位符 44"/>
          <p:cNvSpPr>
            <a:spLocks noGrp="1"/>
          </p:cNvSpPr>
          <p:nvPr>
            <p:ph type="sldNum" sz="quarter" idx="12"/>
          </p:nvPr>
        </p:nvSpPr>
        <p:spPr/>
        <p:txBody>
          <a:bodyPr/>
          <a:lstStyle/>
          <a:p>
            <a:fld id="{74D2AB8B-5816-41F2-8B4B-CA5C3E4E6A65}"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75055"/>
    </mc:Choice>
    <mc:Fallback xmlns="">
      <p:transition spd="slow" advTm="175055"/>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69490" y="2887298"/>
            <a:ext cx="4826000" cy="718820"/>
          </a:xfrm>
          <a:prstGeom prst="rect">
            <a:avLst/>
          </a:prstGeom>
        </p:spPr>
        <p:txBody>
          <a:bodyPr vert="horz" wrap="square" lIns="0" tIns="43180" rIns="0" bIns="0" rtlCol="0">
            <a:spAutoFit/>
          </a:bodyPr>
          <a:lstStyle/>
          <a:p>
            <a:pPr marL="12700">
              <a:lnSpc>
                <a:spcPct val="100000"/>
              </a:lnSpc>
              <a:spcBef>
                <a:spcPts val="340"/>
              </a:spcBef>
            </a:pPr>
            <a:r>
              <a:rPr sz="2400" dirty="0">
                <a:latin typeface="微软雅黑" panose="020B0503020204020204" pitchFamily="34" charset="-122"/>
                <a:ea typeface="微软雅黑" panose="020B0503020204020204" pitchFamily="34" charset="-122"/>
                <a:cs typeface="华文新魏" panose="02010800040101010101" charset="-122"/>
              </a:rPr>
              <a:t>“OR”的组合状态</a:t>
            </a:r>
          </a:p>
          <a:p>
            <a:pPr marL="698500" indent="-228600">
              <a:lnSpc>
                <a:spcPct val="100000"/>
              </a:lnSpc>
              <a:spcBef>
                <a:spcPts val="18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新魏" panose="02010800040101010101" charset="-122"/>
              </a:rPr>
              <a:t>处于组合状态时只能满足其中一个子状态</a:t>
            </a:r>
          </a:p>
        </p:txBody>
      </p:sp>
      <p:sp>
        <p:nvSpPr>
          <p:cNvPr id="5" name="object 5"/>
          <p:cNvSpPr txBox="1"/>
          <p:nvPr/>
        </p:nvSpPr>
        <p:spPr>
          <a:xfrm>
            <a:off x="5903441" y="2876481"/>
            <a:ext cx="42627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华文新魏" panose="02010800040101010101" charset="-122"/>
              </a:rPr>
              <a:t>“AN</a:t>
            </a:r>
            <a:r>
              <a:rPr sz="2400" spc="-5" dirty="0">
                <a:latin typeface="微软雅黑" panose="020B0503020204020204" pitchFamily="34" charset="-122"/>
                <a:ea typeface="微软雅黑" panose="020B0503020204020204" pitchFamily="34" charset="-122"/>
                <a:cs typeface="华文新魏" panose="02010800040101010101" charset="-122"/>
              </a:rPr>
              <a:t>D</a:t>
            </a:r>
            <a:r>
              <a:rPr sz="2400" dirty="0">
                <a:latin typeface="微软雅黑" panose="020B0503020204020204" pitchFamily="34" charset="-122"/>
                <a:ea typeface="微软雅黑" panose="020B0503020204020204" pitchFamily="34" charset="-122"/>
                <a:cs typeface="华文新魏" panose="02010800040101010101" charset="-122"/>
              </a:rPr>
              <a:t>”的组合状态(并发状态)</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6" name="object 6"/>
          <p:cNvSpPr txBox="1"/>
          <p:nvPr/>
        </p:nvSpPr>
        <p:spPr>
          <a:xfrm>
            <a:off x="6360638" y="3219380"/>
            <a:ext cx="5442479" cy="666849"/>
          </a:xfrm>
          <a:prstGeom prst="rect">
            <a:avLst/>
          </a:prstGeom>
        </p:spPr>
        <p:txBody>
          <a:bodyPr vert="horz" wrap="square" lIns="0" tIns="60960" rIns="0" bIns="0" rtlCol="0">
            <a:spAutoFit/>
          </a:bodyPr>
          <a:lstStyle/>
          <a:p>
            <a:pPr marL="241300" indent="-228600">
              <a:lnSpc>
                <a:spcPct val="100000"/>
              </a:lnSpc>
              <a:spcBef>
                <a:spcPts val="480"/>
              </a:spcBef>
              <a:buFont typeface="Arial" panose="020B0604020202020204"/>
              <a:buChar char="•"/>
              <a:tabLst>
                <a:tab pos="240665" algn="l"/>
                <a:tab pos="241300" algn="l"/>
              </a:tabLst>
            </a:pPr>
            <a:r>
              <a:rPr dirty="0">
                <a:latin typeface="微软雅黑" panose="020B0503020204020204" pitchFamily="34" charset="-122"/>
                <a:ea typeface="微软雅黑" panose="020B0503020204020204" pitchFamily="34" charset="-122"/>
              </a:rPr>
              <a:t>处于组合状态时，满足所有的子状态</a:t>
            </a:r>
          </a:p>
          <a:p>
            <a:pPr marL="241300" indent="-228600">
              <a:lnSpc>
                <a:spcPct val="100000"/>
              </a:lnSpc>
              <a:spcBef>
                <a:spcPts val="380"/>
              </a:spcBef>
              <a:buFont typeface="Arial" panose="020B0604020202020204"/>
              <a:buChar char="•"/>
              <a:tabLst>
                <a:tab pos="240665" algn="l"/>
                <a:tab pos="241300" algn="l"/>
              </a:tabLst>
            </a:pPr>
            <a:r>
              <a:rPr dirty="0">
                <a:latin typeface="微软雅黑" panose="020B0503020204020204" pitchFamily="34" charset="-122"/>
                <a:ea typeface="微软雅黑" panose="020B0503020204020204" pitchFamily="34" charset="-122"/>
              </a:rPr>
              <a:t>通常，AND的子状态会进一步嵌套为OR的子状态</a:t>
            </a:r>
          </a:p>
        </p:txBody>
      </p:sp>
      <p:sp>
        <p:nvSpPr>
          <p:cNvPr id="7" name="object 7"/>
          <p:cNvSpPr txBox="1"/>
          <p:nvPr/>
        </p:nvSpPr>
        <p:spPr>
          <a:xfrm>
            <a:off x="679786" y="1360943"/>
            <a:ext cx="6159500" cy="1376680"/>
          </a:xfrm>
          <a:prstGeom prst="rect">
            <a:avLst/>
          </a:prstGeom>
        </p:spPr>
        <p:txBody>
          <a:bodyPr vert="horz" wrap="square" lIns="0" tIns="154940" rIns="0" bIns="0" rtlCol="0">
            <a:spAutoFit/>
          </a:bodyPr>
          <a:lstStyle/>
          <a:p>
            <a:pPr marL="355600" indent="-342900">
              <a:lnSpc>
                <a:spcPct val="100000"/>
              </a:lnSpc>
              <a:spcBef>
                <a:spcPts val="1220"/>
              </a:spcBef>
              <a:buClr>
                <a:srgbClr val="44546A"/>
              </a:buClr>
              <a:buSzPct val="75000"/>
              <a:buFont typeface="Arial" panose="020B0604020202020204"/>
              <a:buChar char="•"/>
              <a:tabLst>
                <a:tab pos="354965" algn="l"/>
                <a:tab pos="355600" algn="l"/>
              </a:tabLst>
            </a:pPr>
            <a:r>
              <a:rPr sz="2000" dirty="0">
                <a:latin typeface="微软雅黑" panose="020B0503020204020204" pitchFamily="34" charset="-122"/>
                <a:ea typeface="微软雅黑" panose="020B0503020204020204" pitchFamily="34" charset="-122"/>
                <a:cs typeface="华文新魏" panose="02010800040101010101" charset="-122"/>
              </a:rPr>
              <a:t>可以通过状态嵌套的方式简化图表</a:t>
            </a:r>
          </a:p>
          <a:p>
            <a:pPr marL="812800" lvl="1" indent="-343535">
              <a:lnSpc>
                <a:spcPct val="100000"/>
              </a:lnSpc>
              <a:spcBef>
                <a:spcPts val="1120"/>
              </a:spcBef>
              <a:buClr>
                <a:srgbClr val="44546A"/>
              </a:buClr>
              <a:buSzPct val="75000"/>
              <a:buFont typeface="Arial" panose="020B0604020202020204"/>
              <a:buChar char="•"/>
              <a:tabLst>
                <a:tab pos="812165" algn="l"/>
                <a:tab pos="8128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一个组合状态可以包含一个或多个状态</a:t>
            </a:r>
            <a:endParaRPr sz="2000" dirty="0">
              <a:latin typeface="微软雅黑" panose="020B0503020204020204" pitchFamily="34" charset="-122"/>
              <a:ea typeface="微软雅黑" panose="020B0503020204020204" pitchFamily="34" charset="-122"/>
              <a:cs typeface="华文新魏" panose="02010800040101010101" charset="-122"/>
            </a:endParaRPr>
          </a:p>
          <a:p>
            <a:pPr marL="812800" lvl="1" indent="-343535">
              <a:lnSpc>
                <a:spcPct val="100000"/>
              </a:lnSpc>
              <a:spcBef>
                <a:spcPts val="1200"/>
              </a:spcBef>
              <a:buClr>
                <a:srgbClr val="44546A"/>
              </a:buClr>
              <a:buSzPct val="75000"/>
              <a:buFont typeface="Arial" panose="020B0604020202020204"/>
              <a:buChar char="•"/>
              <a:tabLst>
                <a:tab pos="812165" algn="l"/>
                <a:tab pos="8128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组合状态可以实现从不同抽象层次去体现状态图</a:t>
            </a:r>
            <a:endParaRPr sz="2000" dirty="0">
              <a:latin typeface="微软雅黑" panose="020B0503020204020204" pitchFamily="34" charset="-122"/>
              <a:ea typeface="微软雅黑" panose="020B0503020204020204" pitchFamily="34" charset="-122"/>
              <a:cs typeface="华文新魏" panose="02010800040101010101" charset="-122"/>
            </a:endParaRPr>
          </a:p>
        </p:txBody>
      </p:sp>
      <p:sp>
        <p:nvSpPr>
          <p:cNvPr id="8" name="object 8"/>
          <p:cNvSpPr/>
          <p:nvPr/>
        </p:nvSpPr>
        <p:spPr>
          <a:xfrm>
            <a:off x="1299632" y="3833638"/>
            <a:ext cx="2946400" cy="2286000"/>
          </a:xfrm>
          <a:custGeom>
            <a:avLst/>
            <a:gdLst/>
            <a:ahLst/>
            <a:cxnLst/>
            <a:rect l="l" t="t" r="r" b="b"/>
            <a:pathLst>
              <a:path w="2946400" h="2286000">
                <a:moveTo>
                  <a:pt x="2565391" y="0"/>
                </a:moveTo>
                <a:lnTo>
                  <a:pt x="381007" y="0"/>
                </a:lnTo>
                <a:lnTo>
                  <a:pt x="333214" y="2968"/>
                </a:lnTo>
                <a:lnTo>
                  <a:pt x="287193" y="11636"/>
                </a:lnTo>
                <a:lnTo>
                  <a:pt x="243300" y="25646"/>
                </a:lnTo>
                <a:lnTo>
                  <a:pt x="201893" y="44641"/>
                </a:lnTo>
                <a:lnTo>
                  <a:pt x="163329" y="68264"/>
                </a:lnTo>
                <a:lnTo>
                  <a:pt x="127965" y="96158"/>
                </a:lnTo>
                <a:lnTo>
                  <a:pt x="96157" y="127965"/>
                </a:lnTo>
                <a:lnTo>
                  <a:pt x="68263" y="163330"/>
                </a:lnTo>
                <a:lnTo>
                  <a:pt x="44640" y="201894"/>
                </a:lnTo>
                <a:lnTo>
                  <a:pt x="25646" y="243301"/>
                </a:lnTo>
                <a:lnTo>
                  <a:pt x="11636" y="287194"/>
                </a:lnTo>
                <a:lnTo>
                  <a:pt x="2968" y="333216"/>
                </a:lnTo>
                <a:lnTo>
                  <a:pt x="0" y="381008"/>
                </a:lnTo>
                <a:lnTo>
                  <a:pt x="0" y="1904992"/>
                </a:lnTo>
                <a:lnTo>
                  <a:pt x="2968" y="1952785"/>
                </a:lnTo>
                <a:lnTo>
                  <a:pt x="11636" y="1998806"/>
                </a:lnTo>
                <a:lnTo>
                  <a:pt x="25646" y="2042699"/>
                </a:lnTo>
                <a:lnTo>
                  <a:pt x="44640" y="2084106"/>
                </a:lnTo>
                <a:lnTo>
                  <a:pt x="68263" y="2122670"/>
                </a:lnTo>
                <a:lnTo>
                  <a:pt x="96157" y="2158034"/>
                </a:lnTo>
                <a:lnTo>
                  <a:pt x="127965" y="2189842"/>
                </a:lnTo>
                <a:lnTo>
                  <a:pt x="163329" y="2217736"/>
                </a:lnTo>
                <a:lnTo>
                  <a:pt x="201893" y="2241359"/>
                </a:lnTo>
                <a:lnTo>
                  <a:pt x="243300" y="2260353"/>
                </a:lnTo>
                <a:lnTo>
                  <a:pt x="287193" y="2274363"/>
                </a:lnTo>
                <a:lnTo>
                  <a:pt x="333214" y="2283031"/>
                </a:lnTo>
                <a:lnTo>
                  <a:pt x="381007" y="2286000"/>
                </a:lnTo>
                <a:lnTo>
                  <a:pt x="2565391" y="2286000"/>
                </a:lnTo>
                <a:lnTo>
                  <a:pt x="2613183" y="2283031"/>
                </a:lnTo>
                <a:lnTo>
                  <a:pt x="2659205" y="2274363"/>
                </a:lnTo>
                <a:lnTo>
                  <a:pt x="2703098" y="2260353"/>
                </a:lnTo>
                <a:lnTo>
                  <a:pt x="2744505" y="2241359"/>
                </a:lnTo>
                <a:lnTo>
                  <a:pt x="2783069" y="2217736"/>
                </a:lnTo>
                <a:lnTo>
                  <a:pt x="2818434" y="2189842"/>
                </a:lnTo>
                <a:lnTo>
                  <a:pt x="2850241" y="2158034"/>
                </a:lnTo>
                <a:lnTo>
                  <a:pt x="2878135" y="2122670"/>
                </a:lnTo>
                <a:lnTo>
                  <a:pt x="2901758" y="2084106"/>
                </a:lnTo>
                <a:lnTo>
                  <a:pt x="2920753" y="2042699"/>
                </a:lnTo>
                <a:lnTo>
                  <a:pt x="2934763" y="1998806"/>
                </a:lnTo>
                <a:lnTo>
                  <a:pt x="2943431" y="1952785"/>
                </a:lnTo>
                <a:lnTo>
                  <a:pt x="2946400" y="1904992"/>
                </a:lnTo>
                <a:lnTo>
                  <a:pt x="2946400" y="381008"/>
                </a:lnTo>
                <a:lnTo>
                  <a:pt x="2943431" y="333216"/>
                </a:lnTo>
                <a:lnTo>
                  <a:pt x="2934763" y="287194"/>
                </a:lnTo>
                <a:lnTo>
                  <a:pt x="2920753" y="243301"/>
                </a:lnTo>
                <a:lnTo>
                  <a:pt x="2901758" y="201894"/>
                </a:lnTo>
                <a:lnTo>
                  <a:pt x="2878135" y="163330"/>
                </a:lnTo>
                <a:lnTo>
                  <a:pt x="2850241" y="127965"/>
                </a:lnTo>
                <a:lnTo>
                  <a:pt x="2818434" y="96158"/>
                </a:lnTo>
                <a:lnTo>
                  <a:pt x="2783069" y="68264"/>
                </a:lnTo>
                <a:lnTo>
                  <a:pt x="2744505" y="44641"/>
                </a:lnTo>
                <a:lnTo>
                  <a:pt x="2703098" y="25646"/>
                </a:lnTo>
                <a:lnTo>
                  <a:pt x="2659205" y="11636"/>
                </a:lnTo>
                <a:lnTo>
                  <a:pt x="2613183" y="2968"/>
                </a:lnTo>
                <a:lnTo>
                  <a:pt x="2565391" y="0"/>
                </a:lnTo>
                <a:close/>
              </a:path>
            </a:pathLst>
          </a:custGeom>
          <a:solidFill>
            <a:srgbClr val="ECEBEB"/>
          </a:solidFill>
        </p:spPr>
        <p:txBody>
          <a:bodyPr wrap="square" lIns="0" tIns="0" rIns="0" bIns="0" rtlCol="0"/>
          <a:lstStyle/>
          <a:p>
            <a:endParaRPr/>
          </a:p>
        </p:txBody>
      </p:sp>
      <p:sp>
        <p:nvSpPr>
          <p:cNvPr id="9" name="object 9"/>
          <p:cNvSpPr/>
          <p:nvPr/>
        </p:nvSpPr>
        <p:spPr>
          <a:xfrm>
            <a:off x="1299632" y="3833638"/>
            <a:ext cx="2946400" cy="2286000"/>
          </a:xfrm>
          <a:custGeom>
            <a:avLst/>
            <a:gdLst/>
            <a:ahLst/>
            <a:cxnLst/>
            <a:rect l="l" t="t" r="r" b="b"/>
            <a:pathLst>
              <a:path w="2946400" h="2286000">
                <a:moveTo>
                  <a:pt x="0" y="381007"/>
                </a:moveTo>
                <a:lnTo>
                  <a:pt x="2968" y="333215"/>
                </a:lnTo>
                <a:lnTo>
                  <a:pt x="11636" y="287193"/>
                </a:lnTo>
                <a:lnTo>
                  <a:pt x="25646" y="243301"/>
                </a:lnTo>
                <a:lnTo>
                  <a:pt x="44641" y="201894"/>
                </a:lnTo>
                <a:lnTo>
                  <a:pt x="68263" y="163329"/>
                </a:lnTo>
                <a:lnTo>
                  <a:pt x="96157" y="127965"/>
                </a:lnTo>
                <a:lnTo>
                  <a:pt x="127965" y="96157"/>
                </a:lnTo>
                <a:lnTo>
                  <a:pt x="163329" y="68263"/>
                </a:lnTo>
                <a:lnTo>
                  <a:pt x="201894" y="44641"/>
                </a:lnTo>
                <a:lnTo>
                  <a:pt x="243301" y="25646"/>
                </a:lnTo>
                <a:lnTo>
                  <a:pt x="287193" y="11636"/>
                </a:lnTo>
                <a:lnTo>
                  <a:pt x="333215" y="2968"/>
                </a:lnTo>
                <a:lnTo>
                  <a:pt x="381007" y="0"/>
                </a:lnTo>
                <a:lnTo>
                  <a:pt x="2565391" y="0"/>
                </a:lnTo>
                <a:lnTo>
                  <a:pt x="2613184" y="2968"/>
                </a:lnTo>
                <a:lnTo>
                  <a:pt x="2659205" y="11636"/>
                </a:lnTo>
                <a:lnTo>
                  <a:pt x="2703098" y="25646"/>
                </a:lnTo>
                <a:lnTo>
                  <a:pt x="2744505" y="44641"/>
                </a:lnTo>
                <a:lnTo>
                  <a:pt x="2783069" y="68263"/>
                </a:lnTo>
                <a:lnTo>
                  <a:pt x="2818433" y="96157"/>
                </a:lnTo>
                <a:lnTo>
                  <a:pt x="2850241" y="127965"/>
                </a:lnTo>
                <a:lnTo>
                  <a:pt x="2878135" y="163329"/>
                </a:lnTo>
                <a:lnTo>
                  <a:pt x="2901758" y="201894"/>
                </a:lnTo>
                <a:lnTo>
                  <a:pt x="2920753" y="243301"/>
                </a:lnTo>
                <a:lnTo>
                  <a:pt x="2934762" y="287193"/>
                </a:lnTo>
                <a:lnTo>
                  <a:pt x="2943430" y="333215"/>
                </a:lnTo>
                <a:lnTo>
                  <a:pt x="2946399" y="381007"/>
                </a:lnTo>
                <a:lnTo>
                  <a:pt x="2946399" y="1904991"/>
                </a:lnTo>
                <a:lnTo>
                  <a:pt x="2943430" y="1952784"/>
                </a:lnTo>
                <a:lnTo>
                  <a:pt x="2934762" y="1998805"/>
                </a:lnTo>
                <a:lnTo>
                  <a:pt x="2920753" y="2042698"/>
                </a:lnTo>
                <a:lnTo>
                  <a:pt x="2901758" y="2084105"/>
                </a:lnTo>
                <a:lnTo>
                  <a:pt x="2878135" y="2122669"/>
                </a:lnTo>
                <a:lnTo>
                  <a:pt x="2850241" y="2158033"/>
                </a:lnTo>
                <a:lnTo>
                  <a:pt x="2818433" y="2189841"/>
                </a:lnTo>
                <a:lnTo>
                  <a:pt x="2783069" y="2217735"/>
                </a:lnTo>
                <a:lnTo>
                  <a:pt x="2744505" y="2241358"/>
                </a:lnTo>
                <a:lnTo>
                  <a:pt x="2703098" y="2260353"/>
                </a:lnTo>
                <a:lnTo>
                  <a:pt x="2659205" y="2274362"/>
                </a:lnTo>
                <a:lnTo>
                  <a:pt x="2613184" y="2283030"/>
                </a:lnTo>
                <a:lnTo>
                  <a:pt x="2565391" y="2285999"/>
                </a:lnTo>
                <a:lnTo>
                  <a:pt x="381007" y="2285999"/>
                </a:lnTo>
                <a:lnTo>
                  <a:pt x="333215" y="2283030"/>
                </a:lnTo>
                <a:lnTo>
                  <a:pt x="287193" y="2274362"/>
                </a:lnTo>
                <a:lnTo>
                  <a:pt x="243301" y="2260353"/>
                </a:lnTo>
                <a:lnTo>
                  <a:pt x="201894" y="2241358"/>
                </a:lnTo>
                <a:lnTo>
                  <a:pt x="163329" y="2217735"/>
                </a:lnTo>
                <a:lnTo>
                  <a:pt x="127965" y="2189841"/>
                </a:lnTo>
                <a:lnTo>
                  <a:pt x="96157" y="2158033"/>
                </a:lnTo>
                <a:lnTo>
                  <a:pt x="68263" y="2122669"/>
                </a:lnTo>
                <a:lnTo>
                  <a:pt x="44641" y="2084105"/>
                </a:lnTo>
                <a:lnTo>
                  <a:pt x="25646" y="2042698"/>
                </a:lnTo>
                <a:lnTo>
                  <a:pt x="11636" y="1998805"/>
                </a:lnTo>
                <a:lnTo>
                  <a:pt x="2968" y="1952784"/>
                </a:lnTo>
                <a:lnTo>
                  <a:pt x="0" y="1904991"/>
                </a:lnTo>
                <a:lnTo>
                  <a:pt x="0" y="381007"/>
                </a:lnTo>
                <a:close/>
              </a:path>
            </a:pathLst>
          </a:custGeom>
          <a:ln w="19049">
            <a:solidFill>
              <a:srgbClr val="000000"/>
            </a:solidFill>
          </a:ln>
        </p:spPr>
        <p:txBody>
          <a:bodyPr wrap="square" lIns="0" tIns="0" rIns="0" bIns="0" rtlCol="0"/>
          <a:lstStyle/>
          <a:p>
            <a:endParaRPr/>
          </a:p>
        </p:txBody>
      </p:sp>
      <p:sp>
        <p:nvSpPr>
          <p:cNvPr id="10" name="object 10"/>
          <p:cNvSpPr txBox="1"/>
          <p:nvPr/>
        </p:nvSpPr>
        <p:spPr>
          <a:xfrm>
            <a:off x="2258482" y="3818232"/>
            <a:ext cx="1025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employed</a:t>
            </a:r>
            <a:endParaRPr sz="1800">
              <a:latin typeface="华文新魏" panose="02010800040101010101" charset="-122"/>
              <a:cs typeface="华文新魏" panose="02010800040101010101" charset="-122"/>
            </a:endParaRPr>
          </a:p>
        </p:txBody>
      </p:sp>
      <p:sp>
        <p:nvSpPr>
          <p:cNvPr id="11" name="object 11"/>
          <p:cNvSpPr/>
          <p:nvPr/>
        </p:nvSpPr>
        <p:spPr>
          <a:xfrm>
            <a:off x="2671231" y="5129038"/>
            <a:ext cx="0" cy="355600"/>
          </a:xfrm>
          <a:custGeom>
            <a:avLst/>
            <a:gdLst/>
            <a:ahLst/>
            <a:cxnLst/>
            <a:rect l="l" t="t" r="r" b="b"/>
            <a:pathLst>
              <a:path h="355600">
                <a:moveTo>
                  <a:pt x="0" y="0"/>
                </a:moveTo>
                <a:lnTo>
                  <a:pt x="0" y="355599"/>
                </a:lnTo>
              </a:path>
            </a:pathLst>
          </a:custGeom>
          <a:ln w="19049">
            <a:solidFill>
              <a:srgbClr val="000000"/>
            </a:solidFill>
          </a:ln>
        </p:spPr>
        <p:txBody>
          <a:bodyPr wrap="square" lIns="0" tIns="0" rIns="0" bIns="0" rtlCol="0"/>
          <a:lstStyle/>
          <a:p>
            <a:endParaRPr/>
          </a:p>
        </p:txBody>
      </p:sp>
      <p:sp>
        <p:nvSpPr>
          <p:cNvPr id="12" name="object 12"/>
          <p:cNvSpPr/>
          <p:nvPr/>
        </p:nvSpPr>
        <p:spPr>
          <a:xfrm>
            <a:off x="2633131" y="5433838"/>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3" name="object 13"/>
          <p:cNvSpPr/>
          <p:nvPr/>
        </p:nvSpPr>
        <p:spPr>
          <a:xfrm>
            <a:off x="1655232" y="4671838"/>
            <a:ext cx="2032000" cy="457200"/>
          </a:xfrm>
          <a:custGeom>
            <a:avLst/>
            <a:gdLst/>
            <a:ahLst/>
            <a:cxnLst/>
            <a:rect l="l" t="t" r="r" b="b"/>
            <a:pathLst>
              <a:path w="2032000" h="457200">
                <a:moveTo>
                  <a:pt x="0" y="76201"/>
                </a:moveTo>
                <a:lnTo>
                  <a:pt x="5988" y="46540"/>
                </a:lnTo>
                <a:lnTo>
                  <a:pt x="22319" y="22319"/>
                </a:lnTo>
                <a:lnTo>
                  <a:pt x="46540" y="5988"/>
                </a:lnTo>
                <a:lnTo>
                  <a:pt x="76201" y="0"/>
                </a:lnTo>
                <a:lnTo>
                  <a:pt x="1955797" y="0"/>
                </a:lnTo>
                <a:lnTo>
                  <a:pt x="1985458" y="5988"/>
                </a:lnTo>
                <a:lnTo>
                  <a:pt x="2009680" y="22319"/>
                </a:lnTo>
                <a:lnTo>
                  <a:pt x="2026011" y="46540"/>
                </a:lnTo>
                <a:lnTo>
                  <a:pt x="2031999" y="76201"/>
                </a:lnTo>
                <a:lnTo>
                  <a:pt x="2031999" y="380997"/>
                </a:lnTo>
                <a:lnTo>
                  <a:pt x="2026011" y="410659"/>
                </a:lnTo>
                <a:lnTo>
                  <a:pt x="2009680" y="434880"/>
                </a:lnTo>
                <a:lnTo>
                  <a:pt x="1985458" y="451211"/>
                </a:lnTo>
                <a:lnTo>
                  <a:pt x="1955797" y="457199"/>
                </a:lnTo>
                <a:lnTo>
                  <a:pt x="76201" y="457199"/>
                </a:lnTo>
                <a:lnTo>
                  <a:pt x="46540" y="451211"/>
                </a:lnTo>
                <a:lnTo>
                  <a:pt x="22319"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14" name="object 14"/>
          <p:cNvSpPr txBox="1"/>
          <p:nvPr/>
        </p:nvSpPr>
        <p:spPr>
          <a:xfrm>
            <a:off x="1997591" y="4750578"/>
            <a:ext cx="13341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probationary</a:t>
            </a:r>
            <a:endParaRPr sz="1800" dirty="0">
              <a:latin typeface="华文新魏" panose="02010800040101010101" charset="-122"/>
              <a:cs typeface="华文新魏" panose="02010800040101010101" charset="-122"/>
            </a:endParaRPr>
          </a:p>
        </p:txBody>
      </p:sp>
      <p:sp>
        <p:nvSpPr>
          <p:cNvPr id="15" name="object 15"/>
          <p:cNvSpPr/>
          <p:nvPr/>
        </p:nvSpPr>
        <p:spPr>
          <a:xfrm>
            <a:off x="1807632" y="5510038"/>
            <a:ext cx="1727200" cy="457200"/>
          </a:xfrm>
          <a:custGeom>
            <a:avLst/>
            <a:gdLst/>
            <a:ahLst/>
            <a:cxnLst/>
            <a:rect l="l" t="t" r="r" b="b"/>
            <a:pathLst>
              <a:path w="1727200" h="457200">
                <a:moveTo>
                  <a:pt x="0" y="76202"/>
                </a:moveTo>
                <a:lnTo>
                  <a:pt x="5988" y="46540"/>
                </a:lnTo>
                <a:lnTo>
                  <a:pt x="22319" y="22319"/>
                </a:lnTo>
                <a:lnTo>
                  <a:pt x="46540" y="5988"/>
                </a:lnTo>
                <a:lnTo>
                  <a:pt x="76201" y="0"/>
                </a:lnTo>
                <a:lnTo>
                  <a:pt x="1650997" y="0"/>
                </a:lnTo>
                <a:lnTo>
                  <a:pt x="1680658" y="5988"/>
                </a:lnTo>
                <a:lnTo>
                  <a:pt x="1704880" y="22319"/>
                </a:lnTo>
                <a:lnTo>
                  <a:pt x="1721211" y="46540"/>
                </a:lnTo>
                <a:lnTo>
                  <a:pt x="1727199" y="76202"/>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2"/>
                </a:lnTo>
                <a:close/>
              </a:path>
            </a:pathLst>
          </a:custGeom>
          <a:ln w="19049">
            <a:solidFill>
              <a:srgbClr val="000000"/>
            </a:solidFill>
          </a:ln>
        </p:spPr>
        <p:txBody>
          <a:bodyPr wrap="square" lIns="0" tIns="0" rIns="0" bIns="0" rtlCol="0"/>
          <a:lstStyle/>
          <a:p>
            <a:endParaRPr/>
          </a:p>
        </p:txBody>
      </p:sp>
      <p:sp>
        <p:nvSpPr>
          <p:cNvPr id="16" name="object 16"/>
          <p:cNvSpPr txBox="1"/>
          <p:nvPr/>
        </p:nvSpPr>
        <p:spPr>
          <a:xfrm>
            <a:off x="2505591" y="5588779"/>
            <a:ext cx="3397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full</a:t>
            </a:r>
            <a:endParaRPr sz="1800">
              <a:latin typeface="华文新魏" panose="02010800040101010101" charset="-122"/>
              <a:cs typeface="华文新魏" panose="02010800040101010101" charset="-122"/>
            </a:endParaRPr>
          </a:p>
        </p:txBody>
      </p:sp>
      <p:sp>
        <p:nvSpPr>
          <p:cNvPr id="17" name="object 17"/>
          <p:cNvSpPr/>
          <p:nvPr/>
        </p:nvSpPr>
        <p:spPr>
          <a:xfrm>
            <a:off x="2564870" y="4286077"/>
            <a:ext cx="212724" cy="385762"/>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1299633" y="4138440"/>
            <a:ext cx="2946400" cy="0"/>
          </a:xfrm>
          <a:custGeom>
            <a:avLst/>
            <a:gdLst/>
            <a:ahLst/>
            <a:cxnLst/>
            <a:rect l="l" t="t" r="r" b="b"/>
            <a:pathLst>
              <a:path w="2946400">
                <a:moveTo>
                  <a:pt x="2946399" y="0"/>
                </a:moveTo>
                <a:lnTo>
                  <a:pt x="0" y="0"/>
                </a:lnTo>
              </a:path>
            </a:pathLst>
          </a:custGeom>
          <a:ln w="19049">
            <a:solidFill>
              <a:srgbClr val="000000"/>
            </a:solidFill>
          </a:ln>
        </p:spPr>
        <p:txBody>
          <a:bodyPr wrap="square" lIns="0" tIns="0" rIns="0" bIns="0" rtlCol="0"/>
          <a:lstStyle/>
          <a:p>
            <a:endParaRPr/>
          </a:p>
        </p:txBody>
      </p:sp>
      <p:sp>
        <p:nvSpPr>
          <p:cNvPr id="19" name="object 19"/>
          <p:cNvSpPr txBox="1"/>
          <p:nvPr/>
        </p:nvSpPr>
        <p:spPr>
          <a:xfrm>
            <a:off x="2699174" y="5162058"/>
            <a:ext cx="10909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华文新魏" panose="02010800040101010101" charset="-122"/>
                <a:cs typeface="华文新魏" panose="02010800040101010101" charset="-122"/>
              </a:rPr>
              <a:t>after [6</a:t>
            </a:r>
            <a:r>
              <a:rPr sz="1200" spc="-90" dirty="0">
                <a:latin typeface="华文新魏" panose="02010800040101010101" charset="-122"/>
                <a:cs typeface="华文新魏" panose="02010800040101010101" charset="-122"/>
              </a:rPr>
              <a:t> </a:t>
            </a:r>
            <a:r>
              <a:rPr sz="1200" dirty="0">
                <a:latin typeface="华文新魏" panose="02010800040101010101" charset="-122"/>
                <a:cs typeface="华文新魏" panose="02010800040101010101" charset="-122"/>
              </a:rPr>
              <a:t>months]</a:t>
            </a:r>
            <a:endParaRPr sz="1200">
              <a:latin typeface="华文新魏" panose="02010800040101010101" charset="-122"/>
              <a:cs typeface="华文新魏" panose="02010800040101010101" charset="-122"/>
            </a:endParaRPr>
          </a:p>
        </p:txBody>
      </p:sp>
      <p:grpSp>
        <p:nvGrpSpPr>
          <p:cNvPr id="38" name="组合 37"/>
          <p:cNvGrpSpPr/>
          <p:nvPr/>
        </p:nvGrpSpPr>
        <p:grpSpPr>
          <a:xfrm>
            <a:off x="7503229" y="4011355"/>
            <a:ext cx="2641600" cy="2301406"/>
            <a:chOff x="7478100" y="3818232"/>
            <a:chExt cx="2641600" cy="2301406"/>
          </a:xfrm>
        </p:grpSpPr>
        <p:sp>
          <p:nvSpPr>
            <p:cNvPr id="20" name="object 20"/>
            <p:cNvSpPr/>
            <p:nvPr/>
          </p:nvSpPr>
          <p:spPr>
            <a:xfrm>
              <a:off x="7478100" y="3833638"/>
              <a:ext cx="2641600" cy="2286000"/>
            </a:xfrm>
            <a:custGeom>
              <a:avLst/>
              <a:gdLst/>
              <a:ahLst/>
              <a:cxnLst/>
              <a:rect l="l" t="t" r="r" b="b"/>
              <a:pathLst>
                <a:path w="2641600" h="2286000">
                  <a:moveTo>
                    <a:pt x="2260591" y="0"/>
                  </a:moveTo>
                  <a:lnTo>
                    <a:pt x="381007" y="0"/>
                  </a:lnTo>
                  <a:lnTo>
                    <a:pt x="333214" y="2968"/>
                  </a:lnTo>
                  <a:lnTo>
                    <a:pt x="287193" y="11636"/>
                  </a:lnTo>
                  <a:lnTo>
                    <a:pt x="243300" y="25646"/>
                  </a:lnTo>
                  <a:lnTo>
                    <a:pt x="201893" y="44641"/>
                  </a:lnTo>
                  <a:lnTo>
                    <a:pt x="163329" y="68264"/>
                  </a:lnTo>
                  <a:lnTo>
                    <a:pt x="127965" y="96158"/>
                  </a:lnTo>
                  <a:lnTo>
                    <a:pt x="96157" y="127965"/>
                  </a:lnTo>
                  <a:lnTo>
                    <a:pt x="68263" y="163330"/>
                  </a:lnTo>
                  <a:lnTo>
                    <a:pt x="44640" y="201894"/>
                  </a:lnTo>
                  <a:lnTo>
                    <a:pt x="25646" y="243301"/>
                  </a:lnTo>
                  <a:lnTo>
                    <a:pt x="11636" y="287194"/>
                  </a:lnTo>
                  <a:lnTo>
                    <a:pt x="2968" y="333216"/>
                  </a:lnTo>
                  <a:lnTo>
                    <a:pt x="0" y="381008"/>
                  </a:lnTo>
                  <a:lnTo>
                    <a:pt x="0" y="1904992"/>
                  </a:lnTo>
                  <a:lnTo>
                    <a:pt x="2968" y="1952785"/>
                  </a:lnTo>
                  <a:lnTo>
                    <a:pt x="11636" y="1998806"/>
                  </a:lnTo>
                  <a:lnTo>
                    <a:pt x="25646" y="2042699"/>
                  </a:lnTo>
                  <a:lnTo>
                    <a:pt x="44640" y="2084106"/>
                  </a:lnTo>
                  <a:lnTo>
                    <a:pt x="68263" y="2122670"/>
                  </a:lnTo>
                  <a:lnTo>
                    <a:pt x="96157" y="2158034"/>
                  </a:lnTo>
                  <a:lnTo>
                    <a:pt x="127965" y="2189842"/>
                  </a:lnTo>
                  <a:lnTo>
                    <a:pt x="163329" y="2217736"/>
                  </a:lnTo>
                  <a:lnTo>
                    <a:pt x="201893" y="2241359"/>
                  </a:lnTo>
                  <a:lnTo>
                    <a:pt x="243300" y="2260353"/>
                  </a:lnTo>
                  <a:lnTo>
                    <a:pt x="287193" y="2274363"/>
                  </a:lnTo>
                  <a:lnTo>
                    <a:pt x="333214" y="2283031"/>
                  </a:lnTo>
                  <a:lnTo>
                    <a:pt x="381007" y="2286000"/>
                  </a:lnTo>
                  <a:lnTo>
                    <a:pt x="2260591" y="2286000"/>
                  </a:lnTo>
                  <a:lnTo>
                    <a:pt x="2308383" y="2283031"/>
                  </a:lnTo>
                  <a:lnTo>
                    <a:pt x="2354405" y="2274363"/>
                  </a:lnTo>
                  <a:lnTo>
                    <a:pt x="2398297" y="2260353"/>
                  </a:lnTo>
                  <a:lnTo>
                    <a:pt x="2439704" y="2241359"/>
                  </a:lnTo>
                  <a:lnTo>
                    <a:pt x="2478269" y="2217736"/>
                  </a:lnTo>
                  <a:lnTo>
                    <a:pt x="2513633" y="2189842"/>
                  </a:lnTo>
                  <a:lnTo>
                    <a:pt x="2545441" y="2158034"/>
                  </a:lnTo>
                  <a:lnTo>
                    <a:pt x="2573334" y="2122670"/>
                  </a:lnTo>
                  <a:lnTo>
                    <a:pt x="2596957" y="2084106"/>
                  </a:lnTo>
                  <a:lnTo>
                    <a:pt x="2615952" y="2042699"/>
                  </a:lnTo>
                  <a:lnTo>
                    <a:pt x="2629962" y="1998806"/>
                  </a:lnTo>
                  <a:lnTo>
                    <a:pt x="2638630" y="1952785"/>
                  </a:lnTo>
                  <a:lnTo>
                    <a:pt x="2641598" y="1904992"/>
                  </a:lnTo>
                  <a:lnTo>
                    <a:pt x="2641598" y="381008"/>
                  </a:lnTo>
                  <a:lnTo>
                    <a:pt x="2638630" y="333216"/>
                  </a:lnTo>
                  <a:lnTo>
                    <a:pt x="2629962" y="287194"/>
                  </a:lnTo>
                  <a:lnTo>
                    <a:pt x="2615952" y="243301"/>
                  </a:lnTo>
                  <a:lnTo>
                    <a:pt x="2596957" y="201894"/>
                  </a:lnTo>
                  <a:lnTo>
                    <a:pt x="2573334" y="163330"/>
                  </a:lnTo>
                  <a:lnTo>
                    <a:pt x="2545441" y="127965"/>
                  </a:lnTo>
                  <a:lnTo>
                    <a:pt x="2513633" y="96158"/>
                  </a:lnTo>
                  <a:lnTo>
                    <a:pt x="2478269" y="68264"/>
                  </a:lnTo>
                  <a:lnTo>
                    <a:pt x="2439704" y="44641"/>
                  </a:lnTo>
                  <a:lnTo>
                    <a:pt x="2398297" y="25646"/>
                  </a:lnTo>
                  <a:lnTo>
                    <a:pt x="2354405" y="11636"/>
                  </a:lnTo>
                  <a:lnTo>
                    <a:pt x="2308383" y="2968"/>
                  </a:lnTo>
                  <a:lnTo>
                    <a:pt x="2260591" y="0"/>
                  </a:lnTo>
                  <a:close/>
                </a:path>
              </a:pathLst>
            </a:custGeom>
            <a:solidFill>
              <a:srgbClr val="FEFED5"/>
            </a:solidFill>
          </p:spPr>
          <p:txBody>
            <a:bodyPr wrap="square" lIns="0" tIns="0" rIns="0" bIns="0" rtlCol="0"/>
            <a:lstStyle/>
            <a:p>
              <a:endParaRPr/>
            </a:p>
          </p:txBody>
        </p:sp>
        <p:sp>
          <p:nvSpPr>
            <p:cNvPr id="21" name="object 21"/>
            <p:cNvSpPr/>
            <p:nvPr/>
          </p:nvSpPr>
          <p:spPr>
            <a:xfrm>
              <a:off x="7478100" y="3833638"/>
              <a:ext cx="2641600" cy="2286000"/>
            </a:xfrm>
            <a:custGeom>
              <a:avLst/>
              <a:gdLst/>
              <a:ahLst/>
              <a:cxnLst/>
              <a:rect l="l" t="t" r="r" b="b"/>
              <a:pathLst>
                <a:path w="2641600" h="2286000">
                  <a:moveTo>
                    <a:pt x="0" y="381007"/>
                  </a:moveTo>
                  <a:lnTo>
                    <a:pt x="2968" y="333215"/>
                  </a:lnTo>
                  <a:lnTo>
                    <a:pt x="11636" y="287193"/>
                  </a:lnTo>
                  <a:lnTo>
                    <a:pt x="25646" y="243301"/>
                  </a:lnTo>
                  <a:lnTo>
                    <a:pt x="44641" y="201894"/>
                  </a:lnTo>
                  <a:lnTo>
                    <a:pt x="68263" y="163329"/>
                  </a:lnTo>
                  <a:lnTo>
                    <a:pt x="96157" y="127965"/>
                  </a:lnTo>
                  <a:lnTo>
                    <a:pt x="127965" y="96157"/>
                  </a:lnTo>
                  <a:lnTo>
                    <a:pt x="163329" y="68263"/>
                  </a:lnTo>
                  <a:lnTo>
                    <a:pt x="201894" y="44641"/>
                  </a:lnTo>
                  <a:lnTo>
                    <a:pt x="243301" y="25646"/>
                  </a:lnTo>
                  <a:lnTo>
                    <a:pt x="287193" y="11636"/>
                  </a:lnTo>
                  <a:lnTo>
                    <a:pt x="333214" y="2968"/>
                  </a:lnTo>
                  <a:lnTo>
                    <a:pt x="381007" y="0"/>
                  </a:lnTo>
                  <a:lnTo>
                    <a:pt x="2260591" y="0"/>
                  </a:lnTo>
                  <a:lnTo>
                    <a:pt x="2308384" y="2968"/>
                  </a:lnTo>
                  <a:lnTo>
                    <a:pt x="2354405" y="11636"/>
                  </a:lnTo>
                  <a:lnTo>
                    <a:pt x="2398298" y="25646"/>
                  </a:lnTo>
                  <a:lnTo>
                    <a:pt x="2439705" y="44641"/>
                  </a:lnTo>
                  <a:lnTo>
                    <a:pt x="2478269" y="68263"/>
                  </a:lnTo>
                  <a:lnTo>
                    <a:pt x="2513634" y="96157"/>
                  </a:lnTo>
                  <a:lnTo>
                    <a:pt x="2545441" y="127965"/>
                  </a:lnTo>
                  <a:lnTo>
                    <a:pt x="2573335" y="163329"/>
                  </a:lnTo>
                  <a:lnTo>
                    <a:pt x="2596958" y="201894"/>
                  </a:lnTo>
                  <a:lnTo>
                    <a:pt x="2615953" y="243301"/>
                  </a:lnTo>
                  <a:lnTo>
                    <a:pt x="2629963" y="287193"/>
                  </a:lnTo>
                  <a:lnTo>
                    <a:pt x="2638630" y="333215"/>
                  </a:lnTo>
                  <a:lnTo>
                    <a:pt x="2641599" y="381007"/>
                  </a:lnTo>
                  <a:lnTo>
                    <a:pt x="2641599" y="1904991"/>
                  </a:lnTo>
                  <a:lnTo>
                    <a:pt x="2638630" y="1952784"/>
                  </a:lnTo>
                  <a:lnTo>
                    <a:pt x="2629963" y="1998805"/>
                  </a:lnTo>
                  <a:lnTo>
                    <a:pt x="2615953" y="2042698"/>
                  </a:lnTo>
                  <a:lnTo>
                    <a:pt x="2596958" y="2084105"/>
                  </a:lnTo>
                  <a:lnTo>
                    <a:pt x="2573335" y="2122669"/>
                  </a:lnTo>
                  <a:lnTo>
                    <a:pt x="2545441" y="2158033"/>
                  </a:lnTo>
                  <a:lnTo>
                    <a:pt x="2513634" y="2189841"/>
                  </a:lnTo>
                  <a:lnTo>
                    <a:pt x="2478269" y="2217735"/>
                  </a:lnTo>
                  <a:lnTo>
                    <a:pt x="2439705" y="2241358"/>
                  </a:lnTo>
                  <a:lnTo>
                    <a:pt x="2398298" y="2260353"/>
                  </a:lnTo>
                  <a:lnTo>
                    <a:pt x="2354405" y="2274362"/>
                  </a:lnTo>
                  <a:lnTo>
                    <a:pt x="2308384" y="2283030"/>
                  </a:lnTo>
                  <a:lnTo>
                    <a:pt x="2260591" y="2285999"/>
                  </a:lnTo>
                  <a:lnTo>
                    <a:pt x="381007" y="2285999"/>
                  </a:lnTo>
                  <a:lnTo>
                    <a:pt x="333214" y="2283030"/>
                  </a:lnTo>
                  <a:lnTo>
                    <a:pt x="287193" y="2274362"/>
                  </a:lnTo>
                  <a:lnTo>
                    <a:pt x="243301" y="2260353"/>
                  </a:lnTo>
                  <a:lnTo>
                    <a:pt x="201894" y="2241358"/>
                  </a:lnTo>
                  <a:lnTo>
                    <a:pt x="163329" y="2217735"/>
                  </a:lnTo>
                  <a:lnTo>
                    <a:pt x="127965" y="2189841"/>
                  </a:lnTo>
                  <a:lnTo>
                    <a:pt x="96157" y="2158033"/>
                  </a:lnTo>
                  <a:lnTo>
                    <a:pt x="68263" y="2122669"/>
                  </a:lnTo>
                  <a:lnTo>
                    <a:pt x="44641" y="2084105"/>
                  </a:lnTo>
                  <a:lnTo>
                    <a:pt x="25646" y="2042698"/>
                  </a:lnTo>
                  <a:lnTo>
                    <a:pt x="11636" y="1998805"/>
                  </a:lnTo>
                  <a:lnTo>
                    <a:pt x="2968" y="1952784"/>
                  </a:lnTo>
                  <a:lnTo>
                    <a:pt x="0" y="1904991"/>
                  </a:lnTo>
                  <a:lnTo>
                    <a:pt x="0" y="381007"/>
                  </a:lnTo>
                  <a:close/>
                </a:path>
              </a:pathLst>
            </a:custGeom>
            <a:ln w="19049">
              <a:solidFill>
                <a:srgbClr val="000000"/>
              </a:solidFill>
            </a:ln>
          </p:spPr>
          <p:txBody>
            <a:bodyPr wrap="square" lIns="0" tIns="0" rIns="0" bIns="0" rtlCol="0"/>
            <a:lstStyle/>
            <a:p>
              <a:endParaRPr/>
            </a:p>
          </p:txBody>
        </p:sp>
        <p:sp>
          <p:nvSpPr>
            <p:cNvPr id="22" name="object 22"/>
            <p:cNvSpPr txBox="1"/>
            <p:nvPr/>
          </p:nvSpPr>
          <p:spPr>
            <a:xfrm>
              <a:off x="8284550" y="3818232"/>
              <a:ext cx="10255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employed</a:t>
              </a:r>
              <a:endParaRPr sz="1800" dirty="0">
                <a:latin typeface="华文新魏" panose="02010800040101010101" charset="-122"/>
                <a:cs typeface="华文新魏" panose="02010800040101010101" charset="-122"/>
              </a:endParaRPr>
            </a:p>
          </p:txBody>
        </p:sp>
        <p:sp>
          <p:nvSpPr>
            <p:cNvPr id="23" name="object 23"/>
            <p:cNvSpPr/>
            <p:nvPr/>
          </p:nvSpPr>
          <p:spPr>
            <a:xfrm>
              <a:off x="8494100" y="5281438"/>
              <a:ext cx="355600" cy="203200"/>
            </a:xfrm>
            <a:custGeom>
              <a:avLst/>
              <a:gdLst/>
              <a:ahLst/>
              <a:cxnLst/>
              <a:rect l="l" t="t" r="r" b="b"/>
              <a:pathLst>
                <a:path w="355600" h="203200">
                  <a:moveTo>
                    <a:pt x="0" y="0"/>
                  </a:moveTo>
                  <a:lnTo>
                    <a:pt x="355599" y="0"/>
                  </a:lnTo>
                  <a:lnTo>
                    <a:pt x="355599" y="203199"/>
                  </a:lnTo>
                </a:path>
              </a:pathLst>
            </a:custGeom>
            <a:ln w="19049">
              <a:solidFill>
                <a:srgbClr val="000000"/>
              </a:solidFill>
            </a:ln>
          </p:spPr>
          <p:txBody>
            <a:bodyPr wrap="square" lIns="0" tIns="0" rIns="0" bIns="0" rtlCol="0"/>
            <a:lstStyle/>
            <a:p>
              <a:endParaRPr/>
            </a:p>
          </p:txBody>
        </p:sp>
        <p:sp>
          <p:nvSpPr>
            <p:cNvPr id="24" name="object 24"/>
            <p:cNvSpPr/>
            <p:nvPr/>
          </p:nvSpPr>
          <p:spPr>
            <a:xfrm>
              <a:off x="8811600" y="5433838"/>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25" name="object 25"/>
            <p:cNvSpPr/>
            <p:nvPr/>
          </p:nvSpPr>
          <p:spPr>
            <a:xfrm>
              <a:off x="7986100" y="451944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2" y="457199"/>
                  </a:lnTo>
                  <a:lnTo>
                    <a:pt x="46540" y="451211"/>
                  </a:lnTo>
                  <a:lnTo>
                    <a:pt x="22318"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26" name="object 26"/>
            <p:cNvSpPr txBox="1"/>
            <p:nvPr/>
          </p:nvSpPr>
          <p:spPr>
            <a:xfrm>
              <a:off x="8328459" y="4598179"/>
              <a:ext cx="105092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华文新魏" panose="02010800040101010101" charset="-122"/>
                  <a:cs typeface="华文新魏" panose="02010800040101010101" charset="-122"/>
                </a:rPr>
                <a:t>on</a:t>
              </a:r>
              <a:r>
                <a:rPr sz="1800" b="1" spc="-6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payroll</a:t>
              </a:r>
              <a:endParaRPr sz="1800">
                <a:latin typeface="华文新魏" panose="02010800040101010101" charset="-122"/>
                <a:cs typeface="华文新魏" panose="02010800040101010101" charset="-122"/>
              </a:endParaRPr>
            </a:p>
          </p:txBody>
        </p:sp>
        <p:sp>
          <p:nvSpPr>
            <p:cNvPr id="27" name="object 27"/>
            <p:cNvSpPr/>
            <p:nvPr/>
          </p:nvSpPr>
          <p:spPr>
            <a:xfrm>
              <a:off x="7986100" y="5510038"/>
              <a:ext cx="1727200" cy="533400"/>
            </a:xfrm>
            <a:custGeom>
              <a:avLst/>
              <a:gdLst/>
              <a:ahLst/>
              <a:cxnLst/>
              <a:rect l="l" t="t" r="r" b="b"/>
              <a:pathLst>
                <a:path w="1727200" h="533400">
                  <a:moveTo>
                    <a:pt x="0" y="88901"/>
                  </a:moveTo>
                  <a:lnTo>
                    <a:pt x="6986" y="54297"/>
                  </a:lnTo>
                  <a:lnTo>
                    <a:pt x="26038" y="26038"/>
                  </a:lnTo>
                  <a:lnTo>
                    <a:pt x="54297" y="6986"/>
                  </a:lnTo>
                  <a:lnTo>
                    <a:pt x="88902" y="0"/>
                  </a:lnTo>
                  <a:lnTo>
                    <a:pt x="1638297" y="0"/>
                  </a:lnTo>
                  <a:lnTo>
                    <a:pt x="1672902" y="6986"/>
                  </a:lnTo>
                  <a:lnTo>
                    <a:pt x="1701160" y="26038"/>
                  </a:lnTo>
                  <a:lnTo>
                    <a:pt x="1720213" y="54297"/>
                  </a:lnTo>
                  <a:lnTo>
                    <a:pt x="1727199" y="88901"/>
                  </a:lnTo>
                  <a:lnTo>
                    <a:pt x="1727199" y="444497"/>
                  </a:lnTo>
                  <a:lnTo>
                    <a:pt x="1720213" y="479102"/>
                  </a:lnTo>
                  <a:lnTo>
                    <a:pt x="1701160" y="507361"/>
                  </a:lnTo>
                  <a:lnTo>
                    <a:pt x="1672902" y="526413"/>
                  </a:lnTo>
                  <a:lnTo>
                    <a:pt x="1638297" y="533399"/>
                  </a:lnTo>
                  <a:lnTo>
                    <a:pt x="88902" y="533399"/>
                  </a:lnTo>
                  <a:lnTo>
                    <a:pt x="54297" y="526413"/>
                  </a:lnTo>
                  <a:lnTo>
                    <a:pt x="26038" y="507361"/>
                  </a:lnTo>
                  <a:lnTo>
                    <a:pt x="6986" y="479102"/>
                  </a:lnTo>
                  <a:lnTo>
                    <a:pt x="0" y="444497"/>
                  </a:lnTo>
                  <a:lnTo>
                    <a:pt x="0" y="88901"/>
                  </a:lnTo>
                  <a:close/>
                </a:path>
              </a:pathLst>
            </a:custGeom>
            <a:ln w="19049">
              <a:solidFill>
                <a:srgbClr val="000000"/>
              </a:solidFill>
            </a:ln>
          </p:spPr>
          <p:txBody>
            <a:bodyPr wrap="square" lIns="0" tIns="0" rIns="0" bIns="0" rtlCol="0"/>
            <a:lstStyle/>
            <a:p>
              <a:endParaRPr/>
            </a:p>
          </p:txBody>
        </p:sp>
        <p:sp>
          <p:nvSpPr>
            <p:cNvPr id="28" name="object 28"/>
            <p:cNvSpPr txBox="1"/>
            <p:nvPr/>
          </p:nvSpPr>
          <p:spPr>
            <a:xfrm>
              <a:off x="8344878" y="5489719"/>
              <a:ext cx="991869" cy="566420"/>
            </a:xfrm>
            <a:prstGeom prst="rect">
              <a:avLst/>
            </a:prstGeom>
          </p:spPr>
          <p:txBody>
            <a:bodyPr vert="horz" wrap="square" lIns="0" tIns="27940" rIns="0" bIns="0" rtlCol="0">
              <a:spAutoFit/>
            </a:bodyPr>
            <a:lstStyle/>
            <a:p>
              <a:pPr marL="12700" marR="5080" indent="76200">
                <a:lnSpc>
                  <a:spcPts val="2100"/>
                </a:lnSpc>
                <a:spcBef>
                  <a:spcPts val="220"/>
                </a:spcBef>
              </a:pPr>
              <a:r>
                <a:rPr sz="1800" b="1" spc="-5" dirty="0">
                  <a:latin typeface="华文新魏" panose="02010800040101010101" charset="-122"/>
                  <a:cs typeface="华文新魏" panose="02010800040101010101" charset="-122"/>
                </a:rPr>
                <a:t>assigned  to</a:t>
              </a:r>
              <a:r>
                <a:rPr sz="1800" b="1" spc="-75" dirty="0">
                  <a:latin typeface="华文新魏" panose="02010800040101010101" charset="-122"/>
                  <a:cs typeface="华文新魏" panose="02010800040101010101" charset="-122"/>
                </a:rPr>
                <a:t> </a:t>
              </a:r>
              <a:r>
                <a:rPr sz="1800" b="1" spc="-5" dirty="0">
                  <a:latin typeface="华文新魏" panose="02010800040101010101" charset="-122"/>
                  <a:cs typeface="华文新魏" panose="02010800040101010101" charset="-122"/>
                </a:rPr>
                <a:t>project</a:t>
              </a:r>
              <a:endParaRPr sz="1800">
                <a:latin typeface="华文新魏" panose="02010800040101010101" charset="-122"/>
                <a:cs typeface="华文新魏" panose="02010800040101010101" charset="-122"/>
              </a:endParaRPr>
            </a:p>
          </p:txBody>
        </p:sp>
        <p:sp>
          <p:nvSpPr>
            <p:cNvPr id="29" name="object 29"/>
            <p:cNvSpPr/>
            <p:nvPr/>
          </p:nvSpPr>
          <p:spPr>
            <a:xfrm>
              <a:off x="8387736" y="4209877"/>
              <a:ext cx="212724" cy="161924"/>
            </a:xfrm>
            <a:prstGeom prst="rect">
              <a:avLst/>
            </a:prstGeom>
            <a:blipFill>
              <a:blip r:embed="rId4" cstate="print"/>
              <a:stretch>
                <a:fillRect/>
              </a:stretch>
            </a:blipFill>
          </p:spPr>
          <p:txBody>
            <a:bodyPr wrap="square" lIns="0" tIns="0" rIns="0" bIns="0" rtlCol="0"/>
            <a:lstStyle/>
            <a:p>
              <a:endParaRPr/>
            </a:p>
          </p:txBody>
        </p:sp>
        <p:sp>
          <p:nvSpPr>
            <p:cNvPr id="30" name="object 30"/>
            <p:cNvSpPr/>
            <p:nvPr/>
          </p:nvSpPr>
          <p:spPr>
            <a:xfrm>
              <a:off x="8595700" y="4290840"/>
              <a:ext cx="254000" cy="203200"/>
            </a:xfrm>
            <a:custGeom>
              <a:avLst/>
              <a:gdLst/>
              <a:ahLst/>
              <a:cxnLst/>
              <a:rect l="l" t="t" r="r" b="b"/>
              <a:pathLst>
                <a:path w="254000" h="203200">
                  <a:moveTo>
                    <a:pt x="0" y="0"/>
                  </a:moveTo>
                  <a:lnTo>
                    <a:pt x="253999" y="0"/>
                  </a:lnTo>
                  <a:lnTo>
                    <a:pt x="253999" y="203199"/>
                  </a:lnTo>
                </a:path>
              </a:pathLst>
            </a:custGeom>
            <a:ln w="19049">
              <a:solidFill>
                <a:srgbClr val="000000"/>
              </a:solidFill>
            </a:ln>
          </p:spPr>
          <p:txBody>
            <a:bodyPr wrap="square" lIns="0" tIns="0" rIns="0" bIns="0" rtlCol="0"/>
            <a:lstStyle/>
            <a:p>
              <a:endParaRPr/>
            </a:p>
          </p:txBody>
        </p:sp>
        <p:sp>
          <p:nvSpPr>
            <p:cNvPr id="31" name="object 31"/>
            <p:cNvSpPr/>
            <p:nvPr/>
          </p:nvSpPr>
          <p:spPr>
            <a:xfrm>
              <a:off x="8811600" y="444323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32" name="object 32"/>
            <p:cNvSpPr/>
            <p:nvPr/>
          </p:nvSpPr>
          <p:spPr>
            <a:xfrm>
              <a:off x="7478100" y="4138440"/>
              <a:ext cx="2641600" cy="0"/>
            </a:xfrm>
            <a:custGeom>
              <a:avLst/>
              <a:gdLst/>
              <a:ahLst/>
              <a:cxnLst/>
              <a:rect l="l" t="t" r="r" b="b"/>
              <a:pathLst>
                <a:path w="2641600">
                  <a:moveTo>
                    <a:pt x="2641598" y="0"/>
                  </a:moveTo>
                  <a:lnTo>
                    <a:pt x="0" y="0"/>
                  </a:lnTo>
                </a:path>
              </a:pathLst>
            </a:custGeom>
            <a:ln w="19049">
              <a:solidFill>
                <a:srgbClr val="000000"/>
              </a:solidFill>
            </a:ln>
          </p:spPr>
          <p:txBody>
            <a:bodyPr wrap="square" lIns="0" tIns="0" rIns="0" bIns="0" rtlCol="0"/>
            <a:lstStyle/>
            <a:p>
              <a:endParaRPr/>
            </a:p>
          </p:txBody>
        </p:sp>
        <p:sp>
          <p:nvSpPr>
            <p:cNvPr id="33" name="object 33"/>
            <p:cNvSpPr/>
            <p:nvPr/>
          </p:nvSpPr>
          <p:spPr>
            <a:xfrm>
              <a:off x="8286136" y="5200477"/>
              <a:ext cx="212725" cy="161924"/>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7478100" y="5129038"/>
              <a:ext cx="2641600" cy="0"/>
            </a:xfrm>
            <a:custGeom>
              <a:avLst/>
              <a:gdLst/>
              <a:ahLst/>
              <a:cxnLst/>
              <a:rect l="l" t="t" r="r" b="b"/>
              <a:pathLst>
                <a:path w="2641600">
                  <a:moveTo>
                    <a:pt x="2641598" y="0"/>
                  </a:moveTo>
                  <a:lnTo>
                    <a:pt x="0" y="0"/>
                  </a:lnTo>
                </a:path>
              </a:pathLst>
            </a:custGeom>
            <a:ln w="19049">
              <a:solidFill>
                <a:srgbClr val="000000"/>
              </a:solidFill>
            </a:ln>
          </p:spPr>
          <p:txBody>
            <a:bodyPr wrap="square" lIns="0" tIns="0" rIns="0" bIns="0" rtlCol="0"/>
            <a:lstStyle/>
            <a:p>
              <a:endParaRPr/>
            </a:p>
          </p:txBody>
        </p:sp>
      </p:grpSp>
      <p:sp>
        <p:nvSpPr>
          <p:cNvPr id="37" name="标题 36"/>
          <p:cNvSpPr>
            <a:spLocks noGrp="1"/>
          </p:cNvSpPr>
          <p:nvPr>
            <p:ph type="title"/>
          </p:nvPr>
        </p:nvSpPr>
        <p:spPr/>
        <p:txBody>
          <a:bodyPr/>
          <a:lstStyle/>
          <a:p>
            <a:r>
              <a:rPr lang="en-US" altLang="zh-CN" spc="-5" dirty="0"/>
              <a:t>UML</a:t>
            </a:r>
            <a:r>
              <a:rPr lang="zh-CN" altLang="en-US" spc="-5" dirty="0"/>
              <a:t>状态图中的组合状态（</a:t>
            </a:r>
            <a:r>
              <a:rPr lang="en-US" altLang="zh-CN" spc="-5" dirty="0" err="1"/>
              <a:t>Superstates</a:t>
            </a:r>
            <a:r>
              <a:rPr lang="zh-CN" altLang="en-US" spc="-5" dirty="0"/>
              <a:t>）</a:t>
            </a:r>
            <a:endParaRPr lang="zh-CN" altLang="en-US" dirty="0"/>
          </a:p>
        </p:txBody>
      </p:sp>
      <p:sp>
        <p:nvSpPr>
          <p:cNvPr id="39" name="灯片编号占位符 38"/>
          <p:cNvSpPr>
            <a:spLocks noGrp="1"/>
          </p:cNvSpPr>
          <p:nvPr>
            <p:ph type="sldNum" sz="quarter" idx="12"/>
          </p:nvPr>
        </p:nvSpPr>
        <p:spPr/>
        <p:txBody>
          <a:bodyPr/>
          <a:lstStyle/>
          <a:p>
            <a:fld id="{74D2AB8B-5816-41F2-8B4B-CA5C3E4E6A65}" type="slidenum">
              <a:rPr lang="zh-CN" altLang="en-US" smtClean="0"/>
              <a:t>49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8736"/>
    </mc:Choice>
    <mc:Fallback xmlns="">
      <p:transition spd="slow" advTm="138736"/>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01207" y="290164"/>
            <a:ext cx="3411831" cy="646331"/>
          </a:xfrm>
          <a:prstGeom prst="rect">
            <a:avLst/>
          </a:prstGeom>
        </p:spPr>
        <p:txBody>
          <a:bodyPr wrap="none">
            <a:spAutoFit/>
          </a:bodyPr>
          <a:lstStyle/>
          <a:p>
            <a:r>
              <a:rPr lang="zh-CN" altLang="en-US" sz="3600" b="1" spc="-5" dirty="0">
                <a:latin typeface="微软雅黑" panose="020B0503020204020204" pitchFamily="34" charset="-122"/>
                <a:ea typeface="微软雅黑" panose="020B0503020204020204" pitchFamily="34" charset="-122"/>
              </a:rPr>
              <a:t>组合状态的例子</a:t>
            </a:r>
            <a:endParaRPr lang="zh-CN" altLang="en-US" sz="3600"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304800" y="1127883"/>
            <a:ext cx="11582400" cy="5255095"/>
            <a:chOff x="304800" y="1124745"/>
            <a:chExt cx="11582400" cy="5255095"/>
          </a:xfrm>
        </p:grpSpPr>
        <p:sp>
          <p:nvSpPr>
            <p:cNvPr id="5" name="object 3"/>
            <p:cNvSpPr/>
            <p:nvPr/>
          </p:nvSpPr>
          <p:spPr>
            <a:xfrm>
              <a:off x="1219199" y="2267745"/>
              <a:ext cx="1304290" cy="460375"/>
            </a:xfrm>
            <a:custGeom>
              <a:avLst/>
              <a:gdLst/>
              <a:ahLst/>
              <a:cxnLst/>
              <a:rect l="l" t="t" r="r" b="b"/>
              <a:pathLst>
                <a:path w="1304289" h="460375">
                  <a:moveTo>
                    <a:pt x="0" y="76730"/>
                  </a:moveTo>
                  <a:lnTo>
                    <a:pt x="6029" y="46863"/>
                  </a:lnTo>
                  <a:lnTo>
                    <a:pt x="22473" y="22474"/>
                  </a:lnTo>
                  <a:lnTo>
                    <a:pt x="46863" y="6029"/>
                  </a:lnTo>
                  <a:lnTo>
                    <a:pt x="76730" y="0"/>
                  </a:lnTo>
                  <a:lnTo>
                    <a:pt x="1227135" y="0"/>
                  </a:lnTo>
                  <a:lnTo>
                    <a:pt x="1257002" y="6029"/>
                  </a:lnTo>
                  <a:lnTo>
                    <a:pt x="1281392" y="22474"/>
                  </a:lnTo>
                  <a:lnTo>
                    <a:pt x="1297836" y="46863"/>
                  </a:lnTo>
                  <a:lnTo>
                    <a:pt x="1303866" y="76730"/>
                  </a:lnTo>
                  <a:lnTo>
                    <a:pt x="1303866" y="383643"/>
                  </a:lnTo>
                  <a:lnTo>
                    <a:pt x="1297836" y="413511"/>
                  </a:lnTo>
                  <a:lnTo>
                    <a:pt x="1281392" y="437900"/>
                  </a:lnTo>
                  <a:lnTo>
                    <a:pt x="1257002" y="454345"/>
                  </a:lnTo>
                  <a:lnTo>
                    <a:pt x="1227135" y="460374"/>
                  </a:lnTo>
                  <a:lnTo>
                    <a:pt x="76730" y="460374"/>
                  </a:lnTo>
                  <a:lnTo>
                    <a:pt x="46863" y="454345"/>
                  </a:lnTo>
                  <a:lnTo>
                    <a:pt x="22473"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6" name="object 4"/>
            <p:cNvSpPr txBox="1"/>
            <p:nvPr/>
          </p:nvSpPr>
          <p:spPr>
            <a:xfrm>
              <a:off x="1714113" y="2378552"/>
              <a:ext cx="30670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idle</a:t>
              </a:r>
              <a:endParaRPr sz="1400">
                <a:latin typeface="华文新魏" panose="02010800040101010101" charset="-122"/>
                <a:cs typeface="华文新魏" panose="02010800040101010101" charset="-122"/>
              </a:endParaRPr>
            </a:p>
          </p:txBody>
        </p:sp>
        <p:sp>
          <p:nvSpPr>
            <p:cNvPr id="7" name="object 5"/>
            <p:cNvSpPr/>
            <p:nvPr/>
          </p:nvSpPr>
          <p:spPr>
            <a:xfrm>
              <a:off x="8839198" y="2267745"/>
              <a:ext cx="1304290" cy="460375"/>
            </a:xfrm>
            <a:custGeom>
              <a:avLst/>
              <a:gdLst/>
              <a:ahLst/>
              <a:cxnLst/>
              <a:rect l="l" t="t" r="r" b="b"/>
              <a:pathLst>
                <a:path w="1304290" h="460375">
                  <a:moveTo>
                    <a:pt x="0" y="76730"/>
                  </a:moveTo>
                  <a:lnTo>
                    <a:pt x="6029" y="46863"/>
                  </a:lnTo>
                  <a:lnTo>
                    <a:pt x="22474" y="22474"/>
                  </a:lnTo>
                  <a:lnTo>
                    <a:pt x="46863" y="6029"/>
                  </a:lnTo>
                  <a:lnTo>
                    <a:pt x="76730" y="0"/>
                  </a:lnTo>
                  <a:lnTo>
                    <a:pt x="1227136" y="0"/>
                  </a:lnTo>
                  <a:lnTo>
                    <a:pt x="1257003" y="6029"/>
                  </a:lnTo>
                  <a:lnTo>
                    <a:pt x="1281392" y="22474"/>
                  </a:lnTo>
                  <a:lnTo>
                    <a:pt x="1297837" y="46863"/>
                  </a:lnTo>
                  <a:lnTo>
                    <a:pt x="1303867" y="76730"/>
                  </a:lnTo>
                  <a:lnTo>
                    <a:pt x="1303867" y="383643"/>
                  </a:lnTo>
                  <a:lnTo>
                    <a:pt x="1297837" y="413511"/>
                  </a:lnTo>
                  <a:lnTo>
                    <a:pt x="1281392" y="437900"/>
                  </a:lnTo>
                  <a:lnTo>
                    <a:pt x="1257003" y="454345"/>
                  </a:lnTo>
                  <a:lnTo>
                    <a:pt x="1227136" y="460374"/>
                  </a:lnTo>
                  <a:lnTo>
                    <a:pt x="76730" y="460374"/>
                  </a:lnTo>
                  <a:lnTo>
                    <a:pt x="46863" y="454345"/>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8" name="object 6"/>
            <p:cNvSpPr txBox="1"/>
            <p:nvPr/>
          </p:nvSpPr>
          <p:spPr>
            <a:xfrm>
              <a:off x="9080112" y="2378552"/>
              <a:ext cx="81915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connected</a:t>
              </a:r>
              <a:endParaRPr sz="1400">
                <a:latin typeface="华文新魏" panose="02010800040101010101" charset="-122"/>
                <a:cs typeface="华文新魏" panose="02010800040101010101" charset="-122"/>
              </a:endParaRPr>
            </a:p>
          </p:txBody>
        </p:sp>
        <p:sp>
          <p:nvSpPr>
            <p:cNvPr id="9" name="object 7"/>
            <p:cNvSpPr/>
            <p:nvPr/>
          </p:nvSpPr>
          <p:spPr>
            <a:xfrm>
              <a:off x="6400798" y="2267745"/>
              <a:ext cx="1304290" cy="460375"/>
            </a:xfrm>
            <a:custGeom>
              <a:avLst/>
              <a:gdLst/>
              <a:ahLst/>
              <a:cxnLst/>
              <a:rect l="l" t="t" r="r" b="b"/>
              <a:pathLst>
                <a:path w="1304290" h="460375">
                  <a:moveTo>
                    <a:pt x="0" y="76730"/>
                  </a:moveTo>
                  <a:lnTo>
                    <a:pt x="6029" y="46863"/>
                  </a:lnTo>
                  <a:lnTo>
                    <a:pt x="22474" y="22474"/>
                  </a:lnTo>
                  <a:lnTo>
                    <a:pt x="46863" y="6029"/>
                  </a:lnTo>
                  <a:lnTo>
                    <a:pt x="76730" y="0"/>
                  </a:lnTo>
                  <a:lnTo>
                    <a:pt x="1227135" y="0"/>
                  </a:lnTo>
                  <a:lnTo>
                    <a:pt x="1257002" y="6029"/>
                  </a:lnTo>
                  <a:lnTo>
                    <a:pt x="1281392" y="22474"/>
                  </a:lnTo>
                  <a:lnTo>
                    <a:pt x="1297836" y="46863"/>
                  </a:lnTo>
                  <a:lnTo>
                    <a:pt x="1303866" y="76730"/>
                  </a:lnTo>
                  <a:lnTo>
                    <a:pt x="1303866" y="383643"/>
                  </a:lnTo>
                  <a:lnTo>
                    <a:pt x="1297836" y="413511"/>
                  </a:lnTo>
                  <a:lnTo>
                    <a:pt x="1281392" y="437900"/>
                  </a:lnTo>
                  <a:lnTo>
                    <a:pt x="1257002" y="454345"/>
                  </a:lnTo>
                  <a:lnTo>
                    <a:pt x="1227135" y="460374"/>
                  </a:lnTo>
                  <a:lnTo>
                    <a:pt x="76730" y="460374"/>
                  </a:lnTo>
                  <a:lnTo>
                    <a:pt x="46863" y="454345"/>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10" name="object 8"/>
            <p:cNvSpPr txBox="1"/>
            <p:nvPr/>
          </p:nvSpPr>
          <p:spPr>
            <a:xfrm>
              <a:off x="6768712" y="2378552"/>
              <a:ext cx="55816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ringing</a:t>
              </a:r>
              <a:endParaRPr sz="1400">
                <a:latin typeface="华文新魏" panose="02010800040101010101" charset="-122"/>
                <a:cs typeface="华文新魏" panose="02010800040101010101" charset="-122"/>
              </a:endParaRPr>
            </a:p>
          </p:txBody>
        </p:sp>
        <p:sp>
          <p:nvSpPr>
            <p:cNvPr id="11" name="object 9"/>
            <p:cNvSpPr/>
            <p:nvPr/>
          </p:nvSpPr>
          <p:spPr>
            <a:xfrm>
              <a:off x="3759200" y="2267745"/>
              <a:ext cx="1304290" cy="460375"/>
            </a:xfrm>
            <a:custGeom>
              <a:avLst/>
              <a:gdLst/>
              <a:ahLst/>
              <a:cxnLst/>
              <a:rect l="l" t="t" r="r" b="b"/>
              <a:pathLst>
                <a:path w="1304289" h="460375">
                  <a:moveTo>
                    <a:pt x="0" y="76730"/>
                  </a:moveTo>
                  <a:lnTo>
                    <a:pt x="6029" y="46863"/>
                  </a:lnTo>
                  <a:lnTo>
                    <a:pt x="22474" y="22474"/>
                  </a:lnTo>
                  <a:lnTo>
                    <a:pt x="46863" y="6029"/>
                  </a:lnTo>
                  <a:lnTo>
                    <a:pt x="76730" y="0"/>
                  </a:lnTo>
                  <a:lnTo>
                    <a:pt x="1227135" y="0"/>
                  </a:lnTo>
                  <a:lnTo>
                    <a:pt x="1257002" y="6029"/>
                  </a:lnTo>
                  <a:lnTo>
                    <a:pt x="1281392" y="22474"/>
                  </a:lnTo>
                  <a:lnTo>
                    <a:pt x="1297836" y="46863"/>
                  </a:lnTo>
                  <a:lnTo>
                    <a:pt x="1303866" y="76730"/>
                  </a:lnTo>
                  <a:lnTo>
                    <a:pt x="1303866" y="383643"/>
                  </a:lnTo>
                  <a:lnTo>
                    <a:pt x="1297836" y="413511"/>
                  </a:lnTo>
                  <a:lnTo>
                    <a:pt x="1281392" y="437900"/>
                  </a:lnTo>
                  <a:lnTo>
                    <a:pt x="1257002" y="454345"/>
                  </a:lnTo>
                  <a:lnTo>
                    <a:pt x="1227135" y="460374"/>
                  </a:lnTo>
                  <a:lnTo>
                    <a:pt x="76730" y="460374"/>
                  </a:lnTo>
                  <a:lnTo>
                    <a:pt x="46863" y="454345"/>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12" name="object 10"/>
            <p:cNvSpPr txBox="1"/>
            <p:nvPr/>
          </p:nvSpPr>
          <p:spPr>
            <a:xfrm>
              <a:off x="4216012" y="2271871"/>
              <a:ext cx="378460" cy="441959"/>
            </a:xfrm>
            <a:prstGeom prst="rect">
              <a:avLst/>
            </a:prstGeom>
          </p:spPr>
          <p:txBody>
            <a:bodyPr vert="horz" wrap="square" lIns="0" tIns="27939" rIns="0" bIns="0" rtlCol="0">
              <a:spAutoFit/>
            </a:bodyPr>
            <a:lstStyle/>
            <a:p>
              <a:pPr marL="12700" marR="5080" indent="38100">
                <a:lnSpc>
                  <a:spcPts val="1600"/>
                </a:lnSpc>
                <a:spcBef>
                  <a:spcPts val="220"/>
                </a:spcBef>
              </a:pPr>
              <a:r>
                <a:rPr sz="1400" b="1" spc="-5" dirty="0">
                  <a:latin typeface="华文新魏" panose="02010800040101010101" charset="-122"/>
                  <a:cs typeface="华文新魏" panose="02010800040101010101" charset="-122"/>
                </a:rPr>
                <a:t>dial  tone</a:t>
              </a:r>
              <a:endParaRPr sz="1400">
                <a:latin typeface="华文新魏" panose="02010800040101010101" charset="-122"/>
                <a:cs typeface="华文新魏" panose="02010800040101010101" charset="-122"/>
              </a:endParaRPr>
            </a:p>
          </p:txBody>
        </p:sp>
        <p:sp>
          <p:nvSpPr>
            <p:cNvPr id="13" name="object 11"/>
            <p:cNvSpPr/>
            <p:nvPr/>
          </p:nvSpPr>
          <p:spPr>
            <a:xfrm>
              <a:off x="3759200" y="1124745"/>
              <a:ext cx="1304290" cy="460375"/>
            </a:xfrm>
            <a:custGeom>
              <a:avLst/>
              <a:gdLst/>
              <a:ahLst/>
              <a:cxnLst/>
              <a:rect l="l" t="t" r="r" b="b"/>
              <a:pathLst>
                <a:path w="1304289" h="460375">
                  <a:moveTo>
                    <a:pt x="0" y="76730"/>
                  </a:moveTo>
                  <a:lnTo>
                    <a:pt x="6029" y="46863"/>
                  </a:lnTo>
                  <a:lnTo>
                    <a:pt x="22474" y="22474"/>
                  </a:lnTo>
                  <a:lnTo>
                    <a:pt x="46863" y="6029"/>
                  </a:lnTo>
                  <a:lnTo>
                    <a:pt x="76730" y="0"/>
                  </a:lnTo>
                  <a:lnTo>
                    <a:pt x="1227135" y="0"/>
                  </a:lnTo>
                  <a:lnTo>
                    <a:pt x="1257002" y="6029"/>
                  </a:lnTo>
                  <a:lnTo>
                    <a:pt x="1281392" y="22474"/>
                  </a:lnTo>
                  <a:lnTo>
                    <a:pt x="1297836" y="46863"/>
                  </a:lnTo>
                  <a:lnTo>
                    <a:pt x="1303866" y="76730"/>
                  </a:lnTo>
                  <a:lnTo>
                    <a:pt x="1303866" y="383643"/>
                  </a:lnTo>
                  <a:lnTo>
                    <a:pt x="1297836" y="413511"/>
                  </a:lnTo>
                  <a:lnTo>
                    <a:pt x="1281392" y="437900"/>
                  </a:lnTo>
                  <a:lnTo>
                    <a:pt x="1257002" y="454345"/>
                  </a:lnTo>
                  <a:lnTo>
                    <a:pt x="1227135" y="460374"/>
                  </a:lnTo>
                  <a:lnTo>
                    <a:pt x="76730" y="460374"/>
                  </a:lnTo>
                  <a:lnTo>
                    <a:pt x="46863" y="454345"/>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14" name="object 12"/>
            <p:cNvSpPr txBox="1"/>
            <p:nvPr/>
          </p:nvSpPr>
          <p:spPr>
            <a:xfrm>
              <a:off x="4216012" y="1235552"/>
              <a:ext cx="37592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busy</a:t>
              </a:r>
              <a:endParaRPr sz="1400">
                <a:latin typeface="华文新魏" panose="02010800040101010101" charset="-122"/>
                <a:cs typeface="华文新魏" panose="02010800040101010101" charset="-122"/>
              </a:endParaRPr>
            </a:p>
          </p:txBody>
        </p:sp>
        <p:sp>
          <p:nvSpPr>
            <p:cNvPr id="15" name="object 13"/>
            <p:cNvSpPr/>
            <p:nvPr/>
          </p:nvSpPr>
          <p:spPr>
            <a:xfrm>
              <a:off x="3597010" y="2426495"/>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16" name="object 14"/>
            <p:cNvSpPr/>
            <p:nvPr/>
          </p:nvSpPr>
          <p:spPr>
            <a:xfrm>
              <a:off x="6238609" y="2426495"/>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17" name="object 15"/>
            <p:cNvSpPr/>
            <p:nvPr/>
          </p:nvSpPr>
          <p:spPr>
            <a:xfrm>
              <a:off x="4411132" y="1627982"/>
              <a:ext cx="0" cy="625475"/>
            </a:xfrm>
            <a:custGeom>
              <a:avLst/>
              <a:gdLst/>
              <a:ahLst/>
              <a:cxnLst/>
              <a:rect l="l" t="t" r="r" b="b"/>
              <a:pathLst>
                <a:path h="625475">
                  <a:moveTo>
                    <a:pt x="0" y="625474"/>
                  </a:moveTo>
                  <a:lnTo>
                    <a:pt x="0" y="0"/>
                  </a:lnTo>
                </a:path>
              </a:pathLst>
            </a:custGeom>
            <a:ln w="28574">
              <a:solidFill>
                <a:srgbClr val="000000"/>
              </a:solidFill>
            </a:ln>
          </p:spPr>
          <p:txBody>
            <a:bodyPr wrap="square" lIns="0" tIns="0" rIns="0" bIns="0" rtlCol="0"/>
            <a:lstStyle/>
            <a:p>
              <a:endParaRPr/>
            </a:p>
          </p:txBody>
        </p:sp>
        <p:sp>
          <p:nvSpPr>
            <p:cNvPr id="18" name="object 16"/>
            <p:cNvSpPr/>
            <p:nvPr/>
          </p:nvSpPr>
          <p:spPr>
            <a:xfrm>
              <a:off x="4339695" y="1599407"/>
              <a:ext cx="142875" cy="142875"/>
            </a:xfrm>
            <a:custGeom>
              <a:avLst/>
              <a:gdLst/>
              <a:ahLst/>
              <a:cxnLst/>
              <a:rect l="l" t="t" r="r" b="b"/>
              <a:pathLst>
                <a:path w="142875" h="142875">
                  <a:moveTo>
                    <a:pt x="71437" y="0"/>
                  </a:moveTo>
                  <a:lnTo>
                    <a:pt x="0" y="142875"/>
                  </a:lnTo>
                  <a:lnTo>
                    <a:pt x="142875" y="142875"/>
                  </a:lnTo>
                  <a:lnTo>
                    <a:pt x="71437" y="0"/>
                  </a:lnTo>
                  <a:close/>
                </a:path>
              </a:pathLst>
            </a:custGeom>
            <a:solidFill>
              <a:srgbClr val="000000"/>
            </a:solidFill>
          </p:spPr>
          <p:txBody>
            <a:bodyPr wrap="square" lIns="0" tIns="0" rIns="0" bIns="0" rtlCol="0"/>
            <a:lstStyle/>
            <a:p>
              <a:endParaRPr/>
            </a:p>
          </p:txBody>
        </p:sp>
        <p:sp>
          <p:nvSpPr>
            <p:cNvPr id="19" name="object 17"/>
            <p:cNvSpPr/>
            <p:nvPr/>
          </p:nvSpPr>
          <p:spPr>
            <a:xfrm>
              <a:off x="1870074" y="2743200"/>
              <a:ext cx="2540000" cy="302260"/>
            </a:xfrm>
            <a:custGeom>
              <a:avLst/>
              <a:gdLst/>
              <a:ahLst/>
              <a:cxnLst/>
              <a:rect l="l" t="t" r="r" b="b"/>
              <a:pathLst>
                <a:path w="2540000" h="302260">
                  <a:moveTo>
                    <a:pt x="2539999" y="0"/>
                  </a:moveTo>
                  <a:lnTo>
                    <a:pt x="2539999" y="301719"/>
                  </a:lnTo>
                  <a:lnTo>
                    <a:pt x="0" y="301719"/>
                  </a:lnTo>
                  <a:lnTo>
                    <a:pt x="0" y="30162"/>
                  </a:lnTo>
                </a:path>
              </a:pathLst>
            </a:custGeom>
            <a:ln w="28574">
              <a:solidFill>
                <a:srgbClr val="000000"/>
              </a:solidFill>
            </a:ln>
          </p:spPr>
          <p:txBody>
            <a:bodyPr wrap="square" lIns="0" tIns="0" rIns="0" bIns="0" rtlCol="0"/>
            <a:lstStyle/>
            <a:p>
              <a:endParaRPr/>
            </a:p>
          </p:txBody>
        </p:sp>
        <p:sp>
          <p:nvSpPr>
            <p:cNvPr id="20" name="object 18"/>
            <p:cNvSpPr/>
            <p:nvPr/>
          </p:nvSpPr>
          <p:spPr>
            <a:xfrm>
              <a:off x="1798637" y="2744788"/>
              <a:ext cx="142875" cy="142875"/>
            </a:xfrm>
            <a:custGeom>
              <a:avLst/>
              <a:gdLst/>
              <a:ahLst/>
              <a:cxnLst/>
              <a:rect l="l" t="t" r="r" b="b"/>
              <a:pathLst>
                <a:path w="142875" h="142875">
                  <a:moveTo>
                    <a:pt x="71437" y="0"/>
                  </a:moveTo>
                  <a:lnTo>
                    <a:pt x="0" y="142875"/>
                  </a:lnTo>
                  <a:lnTo>
                    <a:pt x="142875" y="142875"/>
                  </a:lnTo>
                  <a:lnTo>
                    <a:pt x="71437" y="0"/>
                  </a:lnTo>
                  <a:close/>
                </a:path>
              </a:pathLst>
            </a:custGeom>
            <a:solidFill>
              <a:srgbClr val="000000"/>
            </a:solidFill>
          </p:spPr>
          <p:txBody>
            <a:bodyPr wrap="square" lIns="0" tIns="0" rIns="0" bIns="0" rtlCol="0"/>
            <a:lstStyle/>
            <a:p>
              <a:endParaRPr/>
            </a:p>
          </p:txBody>
        </p:sp>
        <p:sp>
          <p:nvSpPr>
            <p:cNvPr id="21" name="object 19"/>
            <p:cNvSpPr/>
            <p:nvPr/>
          </p:nvSpPr>
          <p:spPr>
            <a:xfrm>
              <a:off x="1871132" y="1354932"/>
              <a:ext cx="1869439" cy="869950"/>
            </a:xfrm>
            <a:custGeom>
              <a:avLst/>
              <a:gdLst/>
              <a:ahLst/>
              <a:cxnLst/>
              <a:rect l="l" t="t" r="r" b="b"/>
              <a:pathLst>
                <a:path w="1869439" h="869950">
                  <a:moveTo>
                    <a:pt x="1869016" y="0"/>
                  </a:moveTo>
                  <a:lnTo>
                    <a:pt x="0" y="0"/>
                  </a:lnTo>
                  <a:lnTo>
                    <a:pt x="0" y="869949"/>
                  </a:lnTo>
                </a:path>
              </a:pathLst>
            </a:custGeom>
            <a:ln w="28574">
              <a:solidFill>
                <a:srgbClr val="000000"/>
              </a:solidFill>
            </a:ln>
          </p:spPr>
          <p:txBody>
            <a:bodyPr wrap="square" lIns="0" tIns="0" rIns="0" bIns="0" rtlCol="0"/>
            <a:lstStyle/>
            <a:p>
              <a:endParaRPr/>
            </a:p>
          </p:txBody>
        </p:sp>
        <p:sp>
          <p:nvSpPr>
            <p:cNvPr id="22" name="object 20"/>
            <p:cNvSpPr/>
            <p:nvPr/>
          </p:nvSpPr>
          <p:spPr>
            <a:xfrm>
              <a:off x="1799695" y="2110582"/>
              <a:ext cx="142875" cy="142875"/>
            </a:xfrm>
            <a:custGeom>
              <a:avLst/>
              <a:gdLst/>
              <a:ahLst/>
              <a:cxnLst/>
              <a:rect l="l" t="t" r="r" b="b"/>
              <a:pathLst>
                <a:path w="142875" h="142875">
                  <a:moveTo>
                    <a:pt x="142875" y="0"/>
                  </a:moveTo>
                  <a:lnTo>
                    <a:pt x="0" y="0"/>
                  </a:lnTo>
                  <a:lnTo>
                    <a:pt x="71437" y="142875"/>
                  </a:lnTo>
                  <a:lnTo>
                    <a:pt x="142875" y="0"/>
                  </a:lnTo>
                  <a:close/>
                </a:path>
              </a:pathLst>
            </a:custGeom>
            <a:solidFill>
              <a:srgbClr val="000000"/>
            </a:solidFill>
          </p:spPr>
          <p:txBody>
            <a:bodyPr wrap="square" lIns="0" tIns="0" rIns="0" bIns="0" rtlCol="0"/>
            <a:lstStyle/>
            <a:p>
              <a:endParaRPr/>
            </a:p>
          </p:txBody>
        </p:sp>
        <p:sp>
          <p:nvSpPr>
            <p:cNvPr id="23" name="object 21"/>
            <p:cNvSpPr/>
            <p:nvPr/>
          </p:nvSpPr>
          <p:spPr>
            <a:xfrm>
              <a:off x="1870075" y="2743200"/>
              <a:ext cx="5181600" cy="557530"/>
            </a:xfrm>
            <a:custGeom>
              <a:avLst/>
              <a:gdLst/>
              <a:ahLst/>
              <a:cxnLst/>
              <a:rect l="l" t="t" r="r" b="b"/>
              <a:pathLst>
                <a:path w="5181600" h="557529">
                  <a:moveTo>
                    <a:pt x="5181598" y="0"/>
                  </a:moveTo>
                  <a:lnTo>
                    <a:pt x="5181598" y="557388"/>
                  </a:lnTo>
                  <a:lnTo>
                    <a:pt x="0" y="557388"/>
                  </a:lnTo>
                  <a:lnTo>
                    <a:pt x="0" y="30162"/>
                  </a:lnTo>
                </a:path>
              </a:pathLst>
            </a:custGeom>
            <a:ln w="28574">
              <a:solidFill>
                <a:srgbClr val="000000"/>
              </a:solidFill>
            </a:ln>
          </p:spPr>
          <p:txBody>
            <a:bodyPr wrap="square" lIns="0" tIns="0" rIns="0" bIns="0" rtlCol="0"/>
            <a:lstStyle/>
            <a:p>
              <a:endParaRPr/>
            </a:p>
          </p:txBody>
        </p:sp>
        <p:sp>
          <p:nvSpPr>
            <p:cNvPr id="24" name="object 22"/>
            <p:cNvSpPr/>
            <p:nvPr/>
          </p:nvSpPr>
          <p:spPr>
            <a:xfrm>
              <a:off x="1798637" y="2744788"/>
              <a:ext cx="142875" cy="142875"/>
            </a:xfrm>
            <a:custGeom>
              <a:avLst/>
              <a:gdLst/>
              <a:ahLst/>
              <a:cxnLst/>
              <a:rect l="l" t="t" r="r" b="b"/>
              <a:pathLst>
                <a:path w="142875" h="142875">
                  <a:moveTo>
                    <a:pt x="71437" y="0"/>
                  </a:moveTo>
                  <a:lnTo>
                    <a:pt x="0" y="142875"/>
                  </a:lnTo>
                  <a:lnTo>
                    <a:pt x="142875" y="142875"/>
                  </a:lnTo>
                  <a:lnTo>
                    <a:pt x="71437" y="0"/>
                  </a:lnTo>
                  <a:close/>
                </a:path>
              </a:pathLst>
            </a:custGeom>
            <a:solidFill>
              <a:srgbClr val="000000"/>
            </a:solidFill>
          </p:spPr>
          <p:txBody>
            <a:bodyPr wrap="square" lIns="0" tIns="0" rIns="0" bIns="0" rtlCol="0"/>
            <a:lstStyle/>
            <a:p>
              <a:endParaRPr/>
            </a:p>
          </p:txBody>
        </p:sp>
        <p:sp>
          <p:nvSpPr>
            <p:cNvPr id="25" name="object 23"/>
            <p:cNvSpPr/>
            <p:nvPr/>
          </p:nvSpPr>
          <p:spPr>
            <a:xfrm>
              <a:off x="8677009" y="2426495"/>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26" name="object 24"/>
            <p:cNvSpPr/>
            <p:nvPr/>
          </p:nvSpPr>
          <p:spPr>
            <a:xfrm>
              <a:off x="1870075" y="2743200"/>
              <a:ext cx="7620000" cy="884555"/>
            </a:xfrm>
            <a:custGeom>
              <a:avLst/>
              <a:gdLst/>
              <a:ahLst/>
              <a:cxnLst/>
              <a:rect l="l" t="t" r="r" b="b"/>
              <a:pathLst>
                <a:path w="7620000" h="884554">
                  <a:moveTo>
                    <a:pt x="7619997" y="0"/>
                  </a:moveTo>
                  <a:lnTo>
                    <a:pt x="7619997" y="884515"/>
                  </a:lnTo>
                  <a:lnTo>
                    <a:pt x="0" y="884515"/>
                  </a:lnTo>
                  <a:lnTo>
                    <a:pt x="0" y="30162"/>
                  </a:lnTo>
                </a:path>
              </a:pathLst>
            </a:custGeom>
            <a:ln w="28574">
              <a:solidFill>
                <a:srgbClr val="000000"/>
              </a:solidFill>
            </a:ln>
          </p:spPr>
          <p:txBody>
            <a:bodyPr wrap="square" lIns="0" tIns="0" rIns="0" bIns="0" rtlCol="0"/>
            <a:lstStyle/>
            <a:p>
              <a:endParaRPr/>
            </a:p>
          </p:txBody>
        </p:sp>
        <p:sp>
          <p:nvSpPr>
            <p:cNvPr id="27" name="object 25"/>
            <p:cNvSpPr/>
            <p:nvPr/>
          </p:nvSpPr>
          <p:spPr>
            <a:xfrm>
              <a:off x="1798637" y="2744788"/>
              <a:ext cx="142875" cy="142875"/>
            </a:xfrm>
            <a:custGeom>
              <a:avLst/>
              <a:gdLst/>
              <a:ahLst/>
              <a:cxnLst/>
              <a:rect l="l" t="t" r="r" b="b"/>
              <a:pathLst>
                <a:path w="142875" h="142875">
                  <a:moveTo>
                    <a:pt x="71437" y="0"/>
                  </a:moveTo>
                  <a:lnTo>
                    <a:pt x="0" y="142875"/>
                  </a:lnTo>
                  <a:lnTo>
                    <a:pt x="142875" y="142875"/>
                  </a:lnTo>
                  <a:lnTo>
                    <a:pt x="71437" y="0"/>
                  </a:lnTo>
                  <a:close/>
                </a:path>
              </a:pathLst>
            </a:custGeom>
            <a:solidFill>
              <a:srgbClr val="000000"/>
            </a:solidFill>
          </p:spPr>
          <p:txBody>
            <a:bodyPr wrap="square" lIns="0" tIns="0" rIns="0" bIns="0" rtlCol="0"/>
            <a:lstStyle/>
            <a:p>
              <a:endParaRPr/>
            </a:p>
          </p:txBody>
        </p:sp>
        <p:sp>
          <p:nvSpPr>
            <p:cNvPr id="28" name="object 26"/>
            <p:cNvSpPr txBox="1"/>
            <p:nvPr/>
          </p:nvSpPr>
          <p:spPr>
            <a:xfrm>
              <a:off x="2536189" y="1157764"/>
              <a:ext cx="63373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on</a:t>
              </a:r>
              <a:r>
                <a:rPr sz="1400" b="1" spc="-8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hook</a:t>
              </a:r>
              <a:endParaRPr sz="1400">
                <a:latin typeface="Times New Roman" panose="02020603050405020304"/>
                <a:cs typeface="Times New Roman" panose="02020603050405020304"/>
              </a:endParaRPr>
            </a:p>
          </p:txBody>
        </p:sp>
        <p:sp>
          <p:nvSpPr>
            <p:cNvPr id="29" name="object 27"/>
            <p:cNvSpPr txBox="1"/>
            <p:nvPr/>
          </p:nvSpPr>
          <p:spPr>
            <a:xfrm>
              <a:off x="2529416" y="2300764"/>
              <a:ext cx="1195070" cy="238760"/>
            </a:xfrm>
            <a:prstGeom prst="rect">
              <a:avLst/>
            </a:prstGeom>
          </p:spPr>
          <p:txBody>
            <a:bodyPr vert="horz" wrap="square" lIns="0" tIns="12700" rIns="0" bIns="0" rtlCol="0">
              <a:spAutoFit/>
            </a:bodyPr>
            <a:lstStyle/>
            <a:p>
              <a:pPr marL="12700">
                <a:lnSpc>
                  <a:spcPct val="100000"/>
                </a:lnSpc>
                <a:spcBef>
                  <a:spcPts val="100"/>
                </a:spcBef>
                <a:tabLst>
                  <a:tab pos="1181735" algn="l"/>
                </a:tabLst>
              </a:pPr>
              <a:r>
                <a:rPr sz="1400" b="1" u="heavy" dirty="0">
                  <a:uFill>
                    <a:solidFill>
                      <a:srgbClr val="000000"/>
                    </a:solidFill>
                  </a:uFill>
                  <a:latin typeface="Times New Roman" panose="02020603050405020304"/>
                  <a:cs typeface="Times New Roman" panose="02020603050405020304"/>
                </a:rPr>
                <a:t> </a:t>
              </a:r>
              <a:r>
                <a:rPr sz="1400" b="1" u="heavy" spc="150" dirty="0">
                  <a:uFill>
                    <a:solidFill>
                      <a:srgbClr val="000000"/>
                    </a:solidFill>
                  </a:uFill>
                  <a:latin typeface="Times New Roman" panose="02020603050405020304"/>
                  <a:cs typeface="Times New Roman" panose="02020603050405020304"/>
                </a:rPr>
                <a:t> </a:t>
              </a:r>
              <a:r>
                <a:rPr sz="1400" b="1" u="heavy" dirty="0">
                  <a:uFill>
                    <a:solidFill>
                      <a:srgbClr val="000000"/>
                    </a:solidFill>
                  </a:uFill>
                  <a:latin typeface="Times New Roman" panose="02020603050405020304"/>
                  <a:cs typeface="Times New Roman" panose="02020603050405020304"/>
                </a:rPr>
                <a:t>off</a:t>
              </a:r>
              <a:r>
                <a:rPr sz="1400" b="1" u="heavy" spc="-100" dirty="0">
                  <a:uFill>
                    <a:solidFill>
                      <a:srgbClr val="000000"/>
                    </a:solidFill>
                  </a:uFill>
                  <a:latin typeface="Times New Roman" panose="02020603050405020304"/>
                  <a:cs typeface="Times New Roman" panose="02020603050405020304"/>
                </a:rPr>
                <a:t> </a:t>
              </a:r>
              <a:r>
                <a:rPr sz="1400" b="1" u="heavy" dirty="0">
                  <a:uFill>
                    <a:solidFill>
                      <a:srgbClr val="000000"/>
                    </a:solidFill>
                  </a:uFill>
                  <a:latin typeface="Times New Roman" panose="02020603050405020304"/>
                  <a:cs typeface="Times New Roman" panose="02020603050405020304"/>
                </a:rPr>
                <a:t>hook	</a:t>
              </a:r>
              <a:endParaRPr sz="1400">
                <a:latin typeface="Times New Roman" panose="02020603050405020304"/>
                <a:cs typeface="Times New Roman" panose="02020603050405020304"/>
              </a:endParaRPr>
            </a:p>
          </p:txBody>
        </p:sp>
        <p:sp>
          <p:nvSpPr>
            <p:cNvPr id="30" name="object 28"/>
            <p:cNvSpPr txBox="1"/>
            <p:nvPr/>
          </p:nvSpPr>
          <p:spPr>
            <a:xfrm>
              <a:off x="3344028" y="1789589"/>
              <a:ext cx="969010" cy="441959"/>
            </a:xfrm>
            <a:prstGeom prst="rect">
              <a:avLst/>
            </a:prstGeom>
          </p:spPr>
          <p:txBody>
            <a:bodyPr vert="horz" wrap="square" lIns="0" tIns="27939" rIns="0" bIns="0" rtlCol="0">
              <a:spAutoFit/>
            </a:bodyPr>
            <a:lstStyle/>
            <a:p>
              <a:pPr marL="12700" marR="5080" indent="626745">
                <a:lnSpc>
                  <a:spcPts val="1600"/>
                </a:lnSpc>
                <a:spcBef>
                  <a:spcPts val="220"/>
                </a:spcBef>
              </a:pPr>
              <a:r>
                <a:rPr sz="1400" b="1" dirty="0">
                  <a:latin typeface="Times New Roman" panose="02020603050405020304"/>
                  <a:cs typeface="Times New Roman" panose="02020603050405020304"/>
                </a:rPr>
                <a:t>Dial  </a:t>
              </a:r>
              <a:r>
                <a:rPr sz="1400" b="1" spc="-5" dirty="0">
                  <a:latin typeface="Times New Roman" panose="02020603050405020304"/>
                  <a:cs typeface="Times New Roman" panose="02020603050405020304"/>
                </a:rPr>
                <a:t>[callee</a:t>
              </a:r>
              <a:r>
                <a:rPr sz="1400" b="1" spc="-7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busy]</a:t>
              </a:r>
              <a:endParaRPr sz="1400">
                <a:latin typeface="Times New Roman" panose="02020603050405020304"/>
                <a:cs typeface="Times New Roman" panose="02020603050405020304"/>
              </a:endParaRPr>
            </a:p>
          </p:txBody>
        </p:sp>
        <p:sp>
          <p:nvSpPr>
            <p:cNvPr id="31" name="object 29"/>
            <p:cNvSpPr txBox="1"/>
            <p:nvPr/>
          </p:nvSpPr>
          <p:spPr>
            <a:xfrm>
              <a:off x="5069415" y="2300764"/>
              <a:ext cx="1296670" cy="441959"/>
            </a:xfrm>
            <a:prstGeom prst="rect">
              <a:avLst/>
            </a:prstGeom>
          </p:spPr>
          <p:txBody>
            <a:bodyPr vert="horz" wrap="square" lIns="0" tIns="27939" rIns="0" bIns="0" rtlCol="0">
              <a:spAutoFit/>
            </a:bodyPr>
            <a:lstStyle/>
            <a:p>
              <a:pPr marL="140335" marR="5080" indent="-128270">
                <a:lnSpc>
                  <a:spcPts val="1600"/>
                </a:lnSpc>
                <a:spcBef>
                  <a:spcPts val="220"/>
                </a:spcBef>
                <a:tabLst>
                  <a:tab pos="414020" algn="l"/>
                  <a:tab pos="1283335" algn="l"/>
                </a:tabLst>
              </a:pPr>
              <a:r>
                <a:rPr sz="1400" b="1" u="heavy" dirty="0">
                  <a:uFill>
                    <a:solidFill>
                      <a:srgbClr val="000000"/>
                    </a:solidFill>
                  </a:uFill>
                  <a:latin typeface="Times New Roman" panose="02020603050405020304"/>
                  <a:cs typeface="Times New Roman" panose="02020603050405020304"/>
                </a:rPr>
                <a:t> 		Dial 	</a:t>
              </a:r>
              <a:r>
                <a:rPr sz="1400" b="1"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[callee</a:t>
              </a:r>
              <a:r>
                <a:rPr sz="1400" b="1" spc="-10"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idle]</a:t>
              </a:r>
              <a:endParaRPr sz="1400">
                <a:latin typeface="Times New Roman" panose="02020603050405020304"/>
                <a:cs typeface="Times New Roman" panose="02020603050405020304"/>
              </a:endParaRPr>
            </a:p>
          </p:txBody>
        </p:sp>
        <p:sp>
          <p:nvSpPr>
            <p:cNvPr id="32" name="object 30"/>
            <p:cNvSpPr txBox="1"/>
            <p:nvPr/>
          </p:nvSpPr>
          <p:spPr>
            <a:xfrm>
              <a:off x="7711015" y="2300764"/>
              <a:ext cx="1093470" cy="441959"/>
            </a:xfrm>
            <a:prstGeom prst="rect">
              <a:avLst/>
            </a:prstGeom>
          </p:spPr>
          <p:txBody>
            <a:bodyPr vert="horz" wrap="square" lIns="0" tIns="27939" rIns="0" bIns="0" rtlCol="0">
              <a:spAutoFit/>
            </a:bodyPr>
            <a:lstStyle/>
            <a:p>
              <a:pPr marL="158750" marR="5080" indent="-146685">
                <a:lnSpc>
                  <a:spcPts val="1600"/>
                </a:lnSpc>
                <a:spcBef>
                  <a:spcPts val="220"/>
                </a:spcBef>
                <a:tabLst>
                  <a:tab pos="198120" algn="l"/>
                  <a:tab pos="1080135" algn="l"/>
                </a:tabLst>
              </a:pPr>
              <a:r>
                <a:rPr sz="1400" b="1" u="heavy" dirty="0">
                  <a:uFill>
                    <a:solidFill>
                      <a:srgbClr val="000000"/>
                    </a:solidFill>
                  </a:uFill>
                  <a:latin typeface="Times New Roman" panose="02020603050405020304"/>
                  <a:cs typeface="Times New Roman" panose="02020603050405020304"/>
                </a:rPr>
                <a:t> 		</a:t>
              </a:r>
              <a:r>
                <a:rPr sz="1400" b="1" u="heavy" spc="-5" dirty="0">
                  <a:uFill>
                    <a:solidFill>
                      <a:srgbClr val="000000"/>
                    </a:solidFill>
                  </a:uFill>
                  <a:latin typeface="Times New Roman" panose="02020603050405020304"/>
                  <a:cs typeface="Times New Roman" panose="02020603050405020304"/>
                </a:rPr>
                <a:t>Callee 	</a:t>
              </a:r>
              <a:r>
                <a:rPr sz="1400" b="1"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accepts</a:t>
              </a:r>
              <a:endParaRPr sz="1400">
                <a:latin typeface="Times New Roman" panose="02020603050405020304"/>
                <a:cs typeface="Times New Roman" panose="02020603050405020304"/>
              </a:endParaRPr>
            </a:p>
          </p:txBody>
        </p:sp>
        <p:sp>
          <p:nvSpPr>
            <p:cNvPr id="33" name="object 31"/>
            <p:cNvSpPr/>
            <p:nvPr/>
          </p:nvSpPr>
          <p:spPr>
            <a:xfrm>
              <a:off x="4778989" y="1735772"/>
              <a:ext cx="4713605" cy="516890"/>
            </a:xfrm>
            <a:custGeom>
              <a:avLst/>
              <a:gdLst/>
              <a:ahLst/>
              <a:cxnLst/>
              <a:rect l="l" t="t" r="r" b="b"/>
              <a:pathLst>
                <a:path w="4713605" h="516889">
                  <a:moveTo>
                    <a:pt x="4713202" y="516890"/>
                  </a:moveTo>
                  <a:lnTo>
                    <a:pt x="4713202" y="0"/>
                  </a:lnTo>
                  <a:lnTo>
                    <a:pt x="10745" y="0"/>
                  </a:lnTo>
                  <a:lnTo>
                    <a:pt x="0" y="501022"/>
                  </a:lnTo>
                </a:path>
              </a:pathLst>
            </a:custGeom>
            <a:ln w="28574">
              <a:solidFill>
                <a:srgbClr val="000000"/>
              </a:solidFill>
            </a:ln>
          </p:spPr>
          <p:txBody>
            <a:bodyPr wrap="square" lIns="0" tIns="0" rIns="0" bIns="0" rtlCol="0"/>
            <a:lstStyle/>
            <a:p>
              <a:endParaRPr/>
            </a:p>
          </p:txBody>
        </p:sp>
        <p:sp>
          <p:nvSpPr>
            <p:cNvPr id="34" name="object 32"/>
            <p:cNvSpPr/>
            <p:nvPr/>
          </p:nvSpPr>
          <p:spPr>
            <a:xfrm>
              <a:off x="4710018" y="2120990"/>
              <a:ext cx="142875" cy="144780"/>
            </a:xfrm>
            <a:custGeom>
              <a:avLst/>
              <a:gdLst/>
              <a:ahLst/>
              <a:cxnLst/>
              <a:rect l="l" t="t" r="r" b="b"/>
              <a:pathLst>
                <a:path w="142875" h="144780">
                  <a:moveTo>
                    <a:pt x="0" y="0"/>
                  </a:moveTo>
                  <a:lnTo>
                    <a:pt x="68357" y="144373"/>
                  </a:lnTo>
                  <a:lnTo>
                    <a:pt x="142843" y="3064"/>
                  </a:lnTo>
                  <a:lnTo>
                    <a:pt x="0" y="0"/>
                  </a:lnTo>
                  <a:close/>
                </a:path>
              </a:pathLst>
            </a:custGeom>
            <a:solidFill>
              <a:srgbClr val="000000"/>
            </a:solidFill>
          </p:spPr>
          <p:txBody>
            <a:bodyPr wrap="square" lIns="0" tIns="0" rIns="0" bIns="0" rtlCol="0"/>
            <a:lstStyle/>
            <a:p>
              <a:endParaRPr/>
            </a:p>
          </p:txBody>
        </p:sp>
        <p:sp>
          <p:nvSpPr>
            <p:cNvPr id="35" name="object 33"/>
            <p:cNvSpPr txBox="1"/>
            <p:nvPr/>
          </p:nvSpPr>
          <p:spPr>
            <a:xfrm>
              <a:off x="6250309" y="1789589"/>
              <a:ext cx="141351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Times New Roman" panose="02020603050405020304"/>
                  <a:cs typeface="Times New Roman" panose="02020603050405020304"/>
                </a:rPr>
                <a:t>Callee</a:t>
              </a:r>
              <a:r>
                <a:rPr sz="1400" b="1" spc="-30"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disconnects</a:t>
              </a:r>
              <a:endParaRPr sz="1400">
                <a:latin typeface="Times New Roman" panose="02020603050405020304"/>
                <a:cs typeface="Times New Roman" panose="02020603050405020304"/>
              </a:endParaRPr>
            </a:p>
          </p:txBody>
        </p:sp>
        <p:sp>
          <p:nvSpPr>
            <p:cNvPr id="36" name="object 34"/>
            <p:cNvSpPr/>
            <p:nvPr/>
          </p:nvSpPr>
          <p:spPr>
            <a:xfrm>
              <a:off x="3251200" y="3941440"/>
              <a:ext cx="7518400" cy="2438400"/>
            </a:xfrm>
            <a:custGeom>
              <a:avLst/>
              <a:gdLst/>
              <a:ahLst/>
              <a:cxnLst/>
              <a:rect l="l" t="t" r="r" b="b"/>
              <a:pathLst>
                <a:path w="7518400" h="2438400">
                  <a:moveTo>
                    <a:pt x="7111991" y="0"/>
                  </a:moveTo>
                  <a:lnTo>
                    <a:pt x="406407" y="0"/>
                  </a:lnTo>
                  <a:lnTo>
                    <a:pt x="359011" y="2734"/>
                  </a:lnTo>
                  <a:lnTo>
                    <a:pt x="313221" y="10733"/>
                  </a:lnTo>
                  <a:lnTo>
                    <a:pt x="269342" y="23693"/>
                  </a:lnTo>
                  <a:lnTo>
                    <a:pt x="227679" y="41307"/>
                  </a:lnTo>
                  <a:lnTo>
                    <a:pt x="188536" y="63272"/>
                  </a:lnTo>
                  <a:lnTo>
                    <a:pt x="152220" y="89283"/>
                  </a:lnTo>
                  <a:lnTo>
                    <a:pt x="119033" y="119034"/>
                  </a:lnTo>
                  <a:lnTo>
                    <a:pt x="89282" y="152220"/>
                  </a:lnTo>
                  <a:lnTo>
                    <a:pt x="63272" y="188537"/>
                  </a:lnTo>
                  <a:lnTo>
                    <a:pt x="41307" y="227680"/>
                  </a:lnTo>
                  <a:lnTo>
                    <a:pt x="23692" y="269343"/>
                  </a:lnTo>
                  <a:lnTo>
                    <a:pt x="10733" y="313223"/>
                  </a:lnTo>
                  <a:lnTo>
                    <a:pt x="2734" y="359013"/>
                  </a:lnTo>
                  <a:lnTo>
                    <a:pt x="0" y="406408"/>
                  </a:lnTo>
                  <a:lnTo>
                    <a:pt x="0" y="2031991"/>
                  </a:lnTo>
                  <a:lnTo>
                    <a:pt x="2734" y="2079387"/>
                  </a:lnTo>
                  <a:lnTo>
                    <a:pt x="10733" y="2125177"/>
                  </a:lnTo>
                  <a:lnTo>
                    <a:pt x="23692" y="2169056"/>
                  </a:lnTo>
                  <a:lnTo>
                    <a:pt x="41307" y="2210719"/>
                  </a:lnTo>
                  <a:lnTo>
                    <a:pt x="63272" y="2249862"/>
                  </a:lnTo>
                  <a:lnTo>
                    <a:pt x="89282" y="2286179"/>
                  </a:lnTo>
                  <a:lnTo>
                    <a:pt x="119033" y="2319365"/>
                  </a:lnTo>
                  <a:lnTo>
                    <a:pt x="152220" y="2349116"/>
                  </a:lnTo>
                  <a:lnTo>
                    <a:pt x="188536" y="2375127"/>
                  </a:lnTo>
                  <a:lnTo>
                    <a:pt x="227679" y="2397092"/>
                  </a:lnTo>
                  <a:lnTo>
                    <a:pt x="269342" y="2414706"/>
                  </a:lnTo>
                  <a:lnTo>
                    <a:pt x="313221" y="2427666"/>
                  </a:lnTo>
                  <a:lnTo>
                    <a:pt x="359011" y="2435665"/>
                  </a:lnTo>
                  <a:lnTo>
                    <a:pt x="406407" y="2438399"/>
                  </a:lnTo>
                  <a:lnTo>
                    <a:pt x="7111991" y="2438399"/>
                  </a:lnTo>
                  <a:lnTo>
                    <a:pt x="7159386" y="2435665"/>
                  </a:lnTo>
                  <a:lnTo>
                    <a:pt x="7205176" y="2427666"/>
                  </a:lnTo>
                  <a:lnTo>
                    <a:pt x="7249055" y="2414706"/>
                  </a:lnTo>
                  <a:lnTo>
                    <a:pt x="7290718" y="2397092"/>
                  </a:lnTo>
                  <a:lnTo>
                    <a:pt x="7329861" y="2375127"/>
                  </a:lnTo>
                  <a:lnTo>
                    <a:pt x="7366178" y="2349116"/>
                  </a:lnTo>
                  <a:lnTo>
                    <a:pt x="7399364" y="2319365"/>
                  </a:lnTo>
                  <a:lnTo>
                    <a:pt x="7429115" y="2286179"/>
                  </a:lnTo>
                  <a:lnTo>
                    <a:pt x="7455125" y="2249862"/>
                  </a:lnTo>
                  <a:lnTo>
                    <a:pt x="7477090" y="2210719"/>
                  </a:lnTo>
                  <a:lnTo>
                    <a:pt x="7494705" y="2169056"/>
                  </a:lnTo>
                  <a:lnTo>
                    <a:pt x="7507665" y="2125177"/>
                  </a:lnTo>
                  <a:lnTo>
                    <a:pt x="7515664" y="2079387"/>
                  </a:lnTo>
                  <a:lnTo>
                    <a:pt x="7518398" y="2031991"/>
                  </a:lnTo>
                  <a:lnTo>
                    <a:pt x="7518398" y="406408"/>
                  </a:lnTo>
                  <a:lnTo>
                    <a:pt x="7515664" y="359013"/>
                  </a:lnTo>
                  <a:lnTo>
                    <a:pt x="7507665" y="313223"/>
                  </a:lnTo>
                  <a:lnTo>
                    <a:pt x="7494705" y="269343"/>
                  </a:lnTo>
                  <a:lnTo>
                    <a:pt x="7477090" y="227680"/>
                  </a:lnTo>
                  <a:lnTo>
                    <a:pt x="7455125" y="188537"/>
                  </a:lnTo>
                  <a:lnTo>
                    <a:pt x="7429115" y="152220"/>
                  </a:lnTo>
                  <a:lnTo>
                    <a:pt x="7399364" y="119034"/>
                  </a:lnTo>
                  <a:lnTo>
                    <a:pt x="7366178" y="89283"/>
                  </a:lnTo>
                  <a:lnTo>
                    <a:pt x="7329861" y="63272"/>
                  </a:lnTo>
                  <a:lnTo>
                    <a:pt x="7290718" y="41307"/>
                  </a:lnTo>
                  <a:lnTo>
                    <a:pt x="7249055" y="23693"/>
                  </a:lnTo>
                  <a:lnTo>
                    <a:pt x="7205176" y="10733"/>
                  </a:lnTo>
                  <a:lnTo>
                    <a:pt x="7159386" y="2734"/>
                  </a:lnTo>
                  <a:lnTo>
                    <a:pt x="7111991" y="0"/>
                  </a:lnTo>
                  <a:close/>
                </a:path>
              </a:pathLst>
            </a:custGeom>
            <a:solidFill>
              <a:srgbClr val="F6F6F6"/>
            </a:solidFill>
          </p:spPr>
          <p:txBody>
            <a:bodyPr wrap="square" lIns="0" tIns="0" rIns="0" bIns="0" rtlCol="0"/>
            <a:lstStyle/>
            <a:p>
              <a:endParaRPr/>
            </a:p>
          </p:txBody>
        </p:sp>
        <p:sp>
          <p:nvSpPr>
            <p:cNvPr id="37" name="object 35"/>
            <p:cNvSpPr/>
            <p:nvPr/>
          </p:nvSpPr>
          <p:spPr>
            <a:xfrm>
              <a:off x="3251199" y="3941440"/>
              <a:ext cx="7518400" cy="2438400"/>
            </a:xfrm>
            <a:custGeom>
              <a:avLst/>
              <a:gdLst/>
              <a:ahLst/>
              <a:cxnLst/>
              <a:rect l="l" t="t" r="r" b="b"/>
              <a:pathLst>
                <a:path w="7518400" h="2438400">
                  <a:moveTo>
                    <a:pt x="0" y="406407"/>
                  </a:moveTo>
                  <a:lnTo>
                    <a:pt x="2734" y="359012"/>
                  </a:lnTo>
                  <a:lnTo>
                    <a:pt x="10733" y="313222"/>
                  </a:lnTo>
                  <a:lnTo>
                    <a:pt x="23693" y="269343"/>
                  </a:lnTo>
                  <a:lnTo>
                    <a:pt x="41307" y="227679"/>
                  </a:lnTo>
                  <a:lnTo>
                    <a:pt x="63272" y="188537"/>
                  </a:lnTo>
                  <a:lnTo>
                    <a:pt x="89283" y="152220"/>
                  </a:lnTo>
                  <a:lnTo>
                    <a:pt x="119034" y="119034"/>
                  </a:lnTo>
                  <a:lnTo>
                    <a:pt x="152220" y="89283"/>
                  </a:lnTo>
                  <a:lnTo>
                    <a:pt x="188537" y="63272"/>
                  </a:lnTo>
                  <a:lnTo>
                    <a:pt x="227680" y="41307"/>
                  </a:lnTo>
                  <a:lnTo>
                    <a:pt x="269343" y="23693"/>
                  </a:lnTo>
                  <a:lnTo>
                    <a:pt x="313222" y="10733"/>
                  </a:lnTo>
                  <a:lnTo>
                    <a:pt x="359012" y="2734"/>
                  </a:lnTo>
                  <a:lnTo>
                    <a:pt x="406407" y="0"/>
                  </a:lnTo>
                  <a:lnTo>
                    <a:pt x="7111990" y="0"/>
                  </a:lnTo>
                  <a:lnTo>
                    <a:pt x="7159386" y="2734"/>
                  </a:lnTo>
                  <a:lnTo>
                    <a:pt x="7205175" y="10733"/>
                  </a:lnTo>
                  <a:lnTo>
                    <a:pt x="7249054" y="23693"/>
                  </a:lnTo>
                  <a:lnTo>
                    <a:pt x="7290718" y="41307"/>
                  </a:lnTo>
                  <a:lnTo>
                    <a:pt x="7329860" y="63272"/>
                  </a:lnTo>
                  <a:lnTo>
                    <a:pt x="7366177" y="89283"/>
                  </a:lnTo>
                  <a:lnTo>
                    <a:pt x="7399364" y="119034"/>
                  </a:lnTo>
                  <a:lnTo>
                    <a:pt x="7429114" y="152220"/>
                  </a:lnTo>
                  <a:lnTo>
                    <a:pt x="7455125" y="188537"/>
                  </a:lnTo>
                  <a:lnTo>
                    <a:pt x="7477090" y="227679"/>
                  </a:lnTo>
                  <a:lnTo>
                    <a:pt x="7494705" y="269343"/>
                  </a:lnTo>
                  <a:lnTo>
                    <a:pt x="7507664" y="313222"/>
                  </a:lnTo>
                  <a:lnTo>
                    <a:pt x="7515663" y="359012"/>
                  </a:lnTo>
                  <a:lnTo>
                    <a:pt x="7518398" y="406407"/>
                  </a:lnTo>
                  <a:lnTo>
                    <a:pt x="7518398" y="2031991"/>
                  </a:lnTo>
                  <a:lnTo>
                    <a:pt x="7515663" y="2079387"/>
                  </a:lnTo>
                  <a:lnTo>
                    <a:pt x="7507664" y="2125177"/>
                  </a:lnTo>
                  <a:lnTo>
                    <a:pt x="7494705" y="2169056"/>
                  </a:lnTo>
                  <a:lnTo>
                    <a:pt x="7477090" y="2210719"/>
                  </a:lnTo>
                  <a:lnTo>
                    <a:pt x="7455125" y="2249861"/>
                  </a:lnTo>
                  <a:lnTo>
                    <a:pt x="7429114" y="2286178"/>
                  </a:lnTo>
                  <a:lnTo>
                    <a:pt x="7399364" y="2319365"/>
                  </a:lnTo>
                  <a:lnTo>
                    <a:pt x="7366177" y="2349116"/>
                  </a:lnTo>
                  <a:lnTo>
                    <a:pt x="7329860" y="2375126"/>
                  </a:lnTo>
                  <a:lnTo>
                    <a:pt x="7290718" y="2397091"/>
                  </a:lnTo>
                  <a:lnTo>
                    <a:pt x="7249054" y="2414706"/>
                  </a:lnTo>
                  <a:lnTo>
                    <a:pt x="7205175" y="2427665"/>
                  </a:lnTo>
                  <a:lnTo>
                    <a:pt x="7159386" y="2435665"/>
                  </a:lnTo>
                  <a:lnTo>
                    <a:pt x="7111990" y="2438399"/>
                  </a:lnTo>
                  <a:lnTo>
                    <a:pt x="406407" y="2438399"/>
                  </a:lnTo>
                  <a:lnTo>
                    <a:pt x="359012" y="2435665"/>
                  </a:lnTo>
                  <a:lnTo>
                    <a:pt x="313222" y="2427665"/>
                  </a:lnTo>
                  <a:lnTo>
                    <a:pt x="269343" y="2414706"/>
                  </a:lnTo>
                  <a:lnTo>
                    <a:pt x="227680" y="2397091"/>
                  </a:lnTo>
                  <a:lnTo>
                    <a:pt x="188537" y="2375126"/>
                  </a:lnTo>
                  <a:lnTo>
                    <a:pt x="152220" y="2349116"/>
                  </a:lnTo>
                  <a:lnTo>
                    <a:pt x="119034" y="2319365"/>
                  </a:lnTo>
                  <a:lnTo>
                    <a:pt x="89283" y="2286178"/>
                  </a:lnTo>
                  <a:lnTo>
                    <a:pt x="63272" y="2249861"/>
                  </a:lnTo>
                  <a:lnTo>
                    <a:pt x="41307" y="2210719"/>
                  </a:lnTo>
                  <a:lnTo>
                    <a:pt x="23693" y="2169056"/>
                  </a:lnTo>
                  <a:lnTo>
                    <a:pt x="10733" y="2125177"/>
                  </a:lnTo>
                  <a:lnTo>
                    <a:pt x="2734" y="2079387"/>
                  </a:lnTo>
                  <a:lnTo>
                    <a:pt x="0" y="2031991"/>
                  </a:lnTo>
                  <a:lnTo>
                    <a:pt x="0" y="406407"/>
                  </a:lnTo>
                  <a:close/>
                </a:path>
              </a:pathLst>
            </a:custGeom>
            <a:ln w="28574">
              <a:solidFill>
                <a:srgbClr val="000000"/>
              </a:solidFill>
            </a:ln>
          </p:spPr>
          <p:txBody>
            <a:bodyPr wrap="square" lIns="0" tIns="0" rIns="0" bIns="0" rtlCol="0"/>
            <a:lstStyle/>
            <a:p>
              <a:endParaRPr/>
            </a:p>
          </p:txBody>
        </p:sp>
        <p:sp>
          <p:nvSpPr>
            <p:cNvPr id="38" name="object 36"/>
            <p:cNvSpPr/>
            <p:nvPr/>
          </p:nvSpPr>
          <p:spPr>
            <a:xfrm>
              <a:off x="508000" y="5541640"/>
              <a:ext cx="1304290" cy="460375"/>
            </a:xfrm>
            <a:custGeom>
              <a:avLst/>
              <a:gdLst/>
              <a:ahLst/>
              <a:cxnLst/>
              <a:rect l="l" t="t" r="r" b="b"/>
              <a:pathLst>
                <a:path w="1304289" h="460375">
                  <a:moveTo>
                    <a:pt x="0" y="76730"/>
                  </a:moveTo>
                  <a:lnTo>
                    <a:pt x="6029" y="46863"/>
                  </a:lnTo>
                  <a:lnTo>
                    <a:pt x="22473" y="22473"/>
                  </a:lnTo>
                  <a:lnTo>
                    <a:pt x="46863" y="6029"/>
                  </a:lnTo>
                  <a:lnTo>
                    <a:pt x="76730" y="0"/>
                  </a:lnTo>
                  <a:lnTo>
                    <a:pt x="1227135" y="0"/>
                  </a:lnTo>
                  <a:lnTo>
                    <a:pt x="1257002" y="6029"/>
                  </a:lnTo>
                  <a:lnTo>
                    <a:pt x="1281392" y="22473"/>
                  </a:lnTo>
                  <a:lnTo>
                    <a:pt x="1297836" y="46863"/>
                  </a:lnTo>
                  <a:lnTo>
                    <a:pt x="1303866" y="76730"/>
                  </a:lnTo>
                  <a:lnTo>
                    <a:pt x="1303866" y="383643"/>
                  </a:lnTo>
                  <a:lnTo>
                    <a:pt x="1297836" y="413511"/>
                  </a:lnTo>
                  <a:lnTo>
                    <a:pt x="1281392" y="437900"/>
                  </a:lnTo>
                  <a:lnTo>
                    <a:pt x="1257002" y="454344"/>
                  </a:lnTo>
                  <a:lnTo>
                    <a:pt x="1227135" y="460374"/>
                  </a:lnTo>
                  <a:lnTo>
                    <a:pt x="76730" y="460374"/>
                  </a:lnTo>
                  <a:lnTo>
                    <a:pt x="46863" y="454344"/>
                  </a:lnTo>
                  <a:lnTo>
                    <a:pt x="22473"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39" name="object 37"/>
            <p:cNvSpPr txBox="1"/>
            <p:nvPr/>
          </p:nvSpPr>
          <p:spPr>
            <a:xfrm>
              <a:off x="1002913" y="5652447"/>
              <a:ext cx="30670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idle</a:t>
              </a:r>
              <a:endParaRPr sz="1400">
                <a:latin typeface="华文新魏" panose="02010800040101010101" charset="-122"/>
                <a:cs typeface="华文新魏" panose="02010800040101010101" charset="-122"/>
              </a:endParaRPr>
            </a:p>
          </p:txBody>
        </p:sp>
        <p:sp>
          <p:nvSpPr>
            <p:cNvPr id="40" name="object 38"/>
            <p:cNvSpPr/>
            <p:nvPr/>
          </p:nvSpPr>
          <p:spPr>
            <a:xfrm>
              <a:off x="9143998" y="5541640"/>
              <a:ext cx="1304290" cy="460375"/>
            </a:xfrm>
            <a:custGeom>
              <a:avLst/>
              <a:gdLst/>
              <a:ahLst/>
              <a:cxnLst/>
              <a:rect l="l" t="t" r="r" b="b"/>
              <a:pathLst>
                <a:path w="1304290" h="460375">
                  <a:moveTo>
                    <a:pt x="1227136" y="0"/>
                  </a:moveTo>
                  <a:lnTo>
                    <a:pt x="76730" y="0"/>
                  </a:lnTo>
                  <a:lnTo>
                    <a:pt x="46863" y="6029"/>
                  </a:lnTo>
                  <a:lnTo>
                    <a:pt x="22473" y="22473"/>
                  </a:lnTo>
                  <a:lnTo>
                    <a:pt x="6029" y="46863"/>
                  </a:lnTo>
                  <a:lnTo>
                    <a:pt x="0" y="76730"/>
                  </a:lnTo>
                  <a:lnTo>
                    <a:pt x="0" y="383643"/>
                  </a:lnTo>
                  <a:lnTo>
                    <a:pt x="6029" y="413510"/>
                  </a:lnTo>
                  <a:lnTo>
                    <a:pt x="22473" y="437900"/>
                  </a:lnTo>
                  <a:lnTo>
                    <a:pt x="46863" y="454344"/>
                  </a:lnTo>
                  <a:lnTo>
                    <a:pt x="76730" y="460374"/>
                  </a:lnTo>
                  <a:lnTo>
                    <a:pt x="1227136" y="460374"/>
                  </a:lnTo>
                  <a:lnTo>
                    <a:pt x="1257002" y="454344"/>
                  </a:lnTo>
                  <a:lnTo>
                    <a:pt x="1281392" y="437900"/>
                  </a:lnTo>
                  <a:lnTo>
                    <a:pt x="1297837" y="413510"/>
                  </a:lnTo>
                  <a:lnTo>
                    <a:pt x="1303867" y="383643"/>
                  </a:lnTo>
                  <a:lnTo>
                    <a:pt x="1303867" y="76730"/>
                  </a:lnTo>
                  <a:lnTo>
                    <a:pt x="1297837" y="46863"/>
                  </a:lnTo>
                  <a:lnTo>
                    <a:pt x="1281392" y="22473"/>
                  </a:lnTo>
                  <a:lnTo>
                    <a:pt x="1257002" y="6029"/>
                  </a:lnTo>
                  <a:lnTo>
                    <a:pt x="1227136" y="0"/>
                  </a:lnTo>
                  <a:close/>
                </a:path>
              </a:pathLst>
            </a:custGeom>
            <a:solidFill>
              <a:srgbClr val="FFFFFF"/>
            </a:solidFill>
          </p:spPr>
          <p:txBody>
            <a:bodyPr wrap="square" lIns="0" tIns="0" rIns="0" bIns="0" rtlCol="0"/>
            <a:lstStyle/>
            <a:p>
              <a:endParaRPr/>
            </a:p>
          </p:txBody>
        </p:sp>
        <p:sp>
          <p:nvSpPr>
            <p:cNvPr id="41" name="object 39"/>
            <p:cNvSpPr/>
            <p:nvPr/>
          </p:nvSpPr>
          <p:spPr>
            <a:xfrm>
              <a:off x="9143998" y="5541640"/>
              <a:ext cx="1304290" cy="460375"/>
            </a:xfrm>
            <a:custGeom>
              <a:avLst/>
              <a:gdLst/>
              <a:ahLst/>
              <a:cxnLst/>
              <a:rect l="l" t="t" r="r" b="b"/>
              <a:pathLst>
                <a:path w="1304290" h="460375">
                  <a:moveTo>
                    <a:pt x="0" y="76730"/>
                  </a:moveTo>
                  <a:lnTo>
                    <a:pt x="6029" y="46863"/>
                  </a:lnTo>
                  <a:lnTo>
                    <a:pt x="22474" y="22473"/>
                  </a:lnTo>
                  <a:lnTo>
                    <a:pt x="46863" y="6029"/>
                  </a:lnTo>
                  <a:lnTo>
                    <a:pt x="76730" y="0"/>
                  </a:lnTo>
                  <a:lnTo>
                    <a:pt x="1227135" y="0"/>
                  </a:lnTo>
                  <a:lnTo>
                    <a:pt x="1257002" y="6029"/>
                  </a:lnTo>
                  <a:lnTo>
                    <a:pt x="1281392" y="22473"/>
                  </a:lnTo>
                  <a:lnTo>
                    <a:pt x="1297836" y="46863"/>
                  </a:lnTo>
                  <a:lnTo>
                    <a:pt x="1303866" y="76730"/>
                  </a:lnTo>
                  <a:lnTo>
                    <a:pt x="1303866" y="383643"/>
                  </a:lnTo>
                  <a:lnTo>
                    <a:pt x="1297836" y="413511"/>
                  </a:lnTo>
                  <a:lnTo>
                    <a:pt x="1281392" y="437900"/>
                  </a:lnTo>
                  <a:lnTo>
                    <a:pt x="1257002" y="454344"/>
                  </a:lnTo>
                  <a:lnTo>
                    <a:pt x="1227135" y="460374"/>
                  </a:lnTo>
                  <a:lnTo>
                    <a:pt x="76730" y="460374"/>
                  </a:lnTo>
                  <a:lnTo>
                    <a:pt x="46863" y="454344"/>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42" name="object 40"/>
            <p:cNvSpPr txBox="1"/>
            <p:nvPr/>
          </p:nvSpPr>
          <p:spPr>
            <a:xfrm>
              <a:off x="9384912" y="5652447"/>
              <a:ext cx="81915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connected</a:t>
              </a:r>
              <a:endParaRPr sz="1400">
                <a:latin typeface="华文新魏" panose="02010800040101010101" charset="-122"/>
                <a:cs typeface="华文新魏" panose="02010800040101010101" charset="-122"/>
              </a:endParaRPr>
            </a:p>
          </p:txBody>
        </p:sp>
        <p:sp>
          <p:nvSpPr>
            <p:cNvPr id="43" name="object 41"/>
            <p:cNvSpPr/>
            <p:nvPr/>
          </p:nvSpPr>
          <p:spPr>
            <a:xfrm>
              <a:off x="6705598" y="5541640"/>
              <a:ext cx="1304290" cy="460375"/>
            </a:xfrm>
            <a:custGeom>
              <a:avLst/>
              <a:gdLst/>
              <a:ahLst/>
              <a:cxnLst/>
              <a:rect l="l" t="t" r="r" b="b"/>
              <a:pathLst>
                <a:path w="1304290" h="460375">
                  <a:moveTo>
                    <a:pt x="1227136" y="0"/>
                  </a:moveTo>
                  <a:lnTo>
                    <a:pt x="76730" y="0"/>
                  </a:lnTo>
                  <a:lnTo>
                    <a:pt x="46864" y="6029"/>
                  </a:lnTo>
                  <a:lnTo>
                    <a:pt x="22474" y="22473"/>
                  </a:lnTo>
                  <a:lnTo>
                    <a:pt x="6030" y="46863"/>
                  </a:lnTo>
                  <a:lnTo>
                    <a:pt x="0" y="76730"/>
                  </a:lnTo>
                  <a:lnTo>
                    <a:pt x="0" y="383643"/>
                  </a:lnTo>
                  <a:lnTo>
                    <a:pt x="6030" y="413510"/>
                  </a:lnTo>
                  <a:lnTo>
                    <a:pt x="22474" y="437900"/>
                  </a:lnTo>
                  <a:lnTo>
                    <a:pt x="46864" y="454344"/>
                  </a:lnTo>
                  <a:lnTo>
                    <a:pt x="76730" y="460374"/>
                  </a:lnTo>
                  <a:lnTo>
                    <a:pt x="1227136" y="460374"/>
                  </a:lnTo>
                  <a:lnTo>
                    <a:pt x="1257003" y="454344"/>
                  </a:lnTo>
                  <a:lnTo>
                    <a:pt x="1281393" y="437900"/>
                  </a:lnTo>
                  <a:lnTo>
                    <a:pt x="1297837" y="413510"/>
                  </a:lnTo>
                  <a:lnTo>
                    <a:pt x="1303867" y="383643"/>
                  </a:lnTo>
                  <a:lnTo>
                    <a:pt x="1303867" y="76730"/>
                  </a:lnTo>
                  <a:lnTo>
                    <a:pt x="1297837" y="46863"/>
                  </a:lnTo>
                  <a:lnTo>
                    <a:pt x="1281393" y="22473"/>
                  </a:lnTo>
                  <a:lnTo>
                    <a:pt x="1257003" y="6029"/>
                  </a:lnTo>
                  <a:lnTo>
                    <a:pt x="1227136" y="0"/>
                  </a:lnTo>
                  <a:close/>
                </a:path>
              </a:pathLst>
            </a:custGeom>
            <a:solidFill>
              <a:srgbClr val="FFFFFF"/>
            </a:solidFill>
          </p:spPr>
          <p:txBody>
            <a:bodyPr wrap="square" lIns="0" tIns="0" rIns="0" bIns="0" rtlCol="0"/>
            <a:lstStyle/>
            <a:p>
              <a:endParaRPr/>
            </a:p>
          </p:txBody>
        </p:sp>
        <p:sp>
          <p:nvSpPr>
            <p:cNvPr id="44" name="object 42"/>
            <p:cNvSpPr/>
            <p:nvPr/>
          </p:nvSpPr>
          <p:spPr>
            <a:xfrm>
              <a:off x="6705598" y="5541640"/>
              <a:ext cx="1304290" cy="460375"/>
            </a:xfrm>
            <a:custGeom>
              <a:avLst/>
              <a:gdLst/>
              <a:ahLst/>
              <a:cxnLst/>
              <a:rect l="l" t="t" r="r" b="b"/>
              <a:pathLst>
                <a:path w="1304290" h="460375">
                  <a:moveTo>
                    <a:pt x="0" y="76730"/>
                  </a:moveTo>
                  <a:lnTo>
                    <a:pt x="6029" y="46863"/>
                  </a:lnTo>
                  <a:lnTo>
                    <a:pt x="22474" y="22473"/>
                  </a:lnTo>
                  <a:lnTo>
                    <a:pt x="46863" y="6029"/>
                  </a:lnTo>
                  <a:lnTo>
                    <a:pt x="76730" y="0"/>
                  </a:lnTo>
                  <a:lnTo>
                    <a:pt x="1227135" y="0"/>
                  </a:lnTo>
                  <a:lnTo>
                    <a:pt x="1257002" y="6029"/>
                  </a:lnTo>
                  <a:lnTo>
                    <a:pt x="1281392" y="22473"/>
                  </a:lnTo>
                  <a:lnTo>
                    <a:pt x="1297836" y="46863"/>
                  </a:lnTo>
                  <a:lnTo>
                    <a:pt x="1303866" y="76730"/>
                  </a:lnTo>
                  <a:lnTo>
                    <a:pt x="1303866" y="383643"/>
                  </a:lnTo>
                  <a:lnTo>
                    <a:pt x="1297836" y="413511"/>
                  </a:lnTo>
                  <a:lnTo>
                    <a:pt x="1281392" y="437900"/>
                  </a:lnTo>
                  <a:lnTo>
                    <a:pt x="1257002" y="454344"/>
                  </a:lnTo>
                  <a:lnTo>
                    <a:pt x="1227135" y="460374"/>
                  </a:lnTo>
                  <a:lnTo>
                    <a:pt x="76730" y="460374"/>
                  </a:lnTo>
                  <a:lnTo>
                    <a:pt x="46863" y="454344"/>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45" name="object 43"/>
            <p:cNvSpPr txBox="1"/>
            <p:nvPr/>
          </p:nvSpPr>
          <p:spPr>
            <a:xfrm>
              <a:off x="7073512" y="5652447"/>
              <a:ext cx="55816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ringing</a:t>
              </a:r>
              <a:endParaRPr sz="1400">
                <a:latin typeface="华文新魏" panose="02010800040101010101" charset="-122"/>
                <a:cs typeface="华文新魏" panose="02010800040101010101" charset="-122"/>
              </a:endParaRPr>
            </a:p>
          </p:txBody>
        </p:sp>
        <p:sp>
          <p:nvSpPr>
            <p:cNvPr id="46" name="object 44"/>
            <p:cNvSpPr/>
            <p:nvPr/>
          </p:nvSpPr>
          <p:spPr>
            <a:xfrm>
              <a:off x="4064000" y="5541640"/>
              <a:ext cx="1304290" cy="460375"/>
            </a:xfrm>
            <a:custGeom>
              <a:avLst/>
              <a:gdLst/>
              <a:ahLst/>
              <a:cxnLst/>
              <a:rect l="l" t="t" r="r" b="b"/>
              <a:pathLst>
                <a:path w="1304289" h="460375">
                  <a:moveTo>
                    <a:pt x="1227134" y="0"/>
                  </a:moveTo>
                  <a:lnTo>
                    <a:pt x="76730" y="0"/>
                  </a:lnTo>
                  <a:lnTo>
                    <a:pt x="46863" y="6029"/>
                  </a:lnTo>
                  <a:lnTo>
                    <a:pt x="22473" y="22473"/>
                  </a:lnTo>
                  <a:lnTo>
                    <a:pt x="6029" y="46863"/>
                  </a:lnTo>
                  <a:lnTo>
                    <a:pt x="0" y="76730"/>
                  </a:lnTo>
                  <a:lnTo>
                    <a:pt x="0" y="383643"/>
                  </a:lnTo>
                  <a:lnTo>
                    <a:pt x="6029" y="413510"/>
                  </a:lnTo>
                  <a:lnTo>
                    <a:pt x="22473" y="437900"/>
                  </a:lnTo>
                  <a:lnTo>
                    <a:pt x="46863" y="454344"/>
                  </a:lnTo>
                  <a:lnTo>
                    <a:pt x="76730" y="460374"/>
                  </a:lnTo>
                  <a:lnTo>
                    <a:pt x="1227134" y="460374"/>
                  </a:lnTo>
                  <a:lnTo>
                    <a:pt x="1257002" y="454344"/>
                  </a:lnTo>
                  <a:lnTo>
                    <a:pt x="1281392" y="437900"/>
                  </a:lnTo>
                  <a:lnTo>
                    <a:pt x="1297837" y="413510"/>
                  </a:lnTo>
                  <a:lnTo>
                    <a:pt x="1303867" y="383643"/>
                  </a:lnTo>
                  <a:lnTo>
                    <a:pt x="1303867" y="76730"/>
                  </a:lnTo>
                  <a:lnTo>
                    <a:pt x="1297837" y="46863"/>
                  </a:lnTo>
                  <a:lnTo>
                    <a:pt x="1281392" y="22473"/>
                  </a:lnTo>
                  <a:lnTo>
                    <a:pt x="1257002" y="6029"/>
                  </a:lnTo>
                  <a:lnTo>
                    <a:pt x="1227134" y="0"/>
                  </a:lnTo>
                  <a:close/>
                </a:path>
              </a:pathLst>
            </a:custGeom>
            <a:solidFill>
              <a:srgbClr val="FFFFFF"/>
            </a:solidFill>
          </p:spPr>
          <p:txBody>
            <a:bodyPr wrap="square" lIns="0" tIns="0" rIns="0" bIns="0" rtlCol="0"/>
            <a:lstStyle/>
            <a:p>
              <a:endParaRPr/>
            </a:p>
          </p:txBody>
        </p:sp>
        <p:sp>
          <p:nvSpPr>
            <p:cNvPr id="47" name="object 45"/>
            <p:cNvSpPr/>
            <p:nvPr/>
          </p:nvSpPr>
          <p:spPr>
            <a:xfrm>
              <a:off x="4064000" y="5541640"/>
              <a:ext cx="1304290" cy="460375"/>
            </a:xfrm>
            <a:custGeom>
              <a:avLst/>
              <a:gdLst/>
              <a:ahLst/>
              <a:cxnLst/>
              <a:rect l="l" t="t" r="r" b="b"/>
              <a:pathLst>
                <a:path w="1304289" h="460375">
                  <a:moveTo>
                    <a:pt x="0" y="76730"/>
                  </a:moveTo>
                  <a:lnTo>
                    <a:pt x="6029" y="46863"/>
                  </a:lnTo>
                  <a:lnTo>
                    <a:pt x="22474" y="22473"/>
                  </a:lnTo>
                  <a:lnTo>
                    <a:pt x="46863" y="6029"/>
                  </a:lnTo>
                  <a:lnTo>
                    <a:pt x="76730" y="0"/>
                  </a:lnTo>
                  <a:lnTo>
                    <a:pt x="1227135" y="0"/>
                  </a:lnTo>
                  <a:lnTo>
                    <a:pt x="1257002" y="6029"/>
                  </a:lnTo>
                  <a:lnTo>
                    <a:pt x="1281392" y="22473"/>
                  </a:lnTo>
                  <a:lnTo>
                    <a:pt x="1297836" y="46863"/>
                  </a:lnTo>
                  <a:lnTo>
                    <a:pt x="1303866" y="76730"/>
                  </a:lnTo>
                  <a:lnTo>
                    <a:pt x="1303866" y="383643"/>
                  </a:lnTo>
                  <a:lnTo>
                    <a:pt x="1297836" y="413511"/>
                  </a:lnTo>
                  <a:lnTo>
                    <a:pt x="1281392" y="437900"/>
                  </a:lnTo>
                  <a:lnTo>
                    <a:pt x="1257002" y="454344"/>
                  </a:lnTo>
                  <a:lnTo>
                    <a:pt x="1227135" y="460374"/>
                  </a:lnTo>
                  <a:lnTo>
                    <a:pt x="76730" y="460374"/>
                  </a:lnTo>
                  <a:lnTo>
                    <a:pt x="46863" y="454344"/>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48" name="object 46"/>
            <p:cNvSpPr txBox="1"/>
            <p:nvPr/>
          </p:nvSpPr>
          <p:spPr>
            <a:xfrm>
              <a:off x="4520813" y="5545767"/>
              <a:ext cx="378460" cy="441959"/>
            </a:xfrm>
            <a:prstGeom prst="rect">
              <a:avLst/>
            </a:prstGeom>
          </p:spPr>
          <p:txBody>
            <a:bodyPr vert="horz" wrap="square" lIns="0" tIns="27940" rIns="0" bIns="0" rtlCol="0">
              <a:spAutoFit/>
            </a:bodyPr>
            <a:lstStyle/>
            <a:p>
              <a:pPr marL="12700" marR="5080" indent="38100">
                <a:lnSpc>
                  <a:spcPts val="1600"/>
                </a:lnSpc>
                <a:spcBef>
                  <a:spcPts val="220"/>
                </a:spcBef>
              </a:pPr>
              <a:r>
                <a:rPr sz="1400" b="1" spc="-5" dirty="0">
                  <a:latin typeface="华文新魏" panose="02010800040101010101" charset="-122"/>
                  <a:cs typeface="华文新魏" panose="02010800040101010101" charset="-122"/>
                </a:rPr>
                <a:t>dial  tone</a:t>
              </a:r>
              <a:endParaRPr sz="1400">
                <a:latin typeface="华文新魏" panose="02010800040101010101" charset="-122"/>
                <a:cs typeface="华文新魏" panose="02010800040101010101" charset="-122"/>
              </a:endParaRPr>
            </a:p>
          </p:txBody>
        </p:sp>
        <p:sp>
          <p:nvSpPr>
            <p:cNvPr id="49" name="object 47"/>
            <p:cNvSpPr/>
            <p:nvPr/>
          </p:nvSpPr>
          <p:spPr>
            <a:xfrm>
              <a:off x="4064000" y="4398640"/>
              <a:ext cx="1304290" cy="460375"/>
            </a:xfrm>
            <a:custGeom>
              <a:avLst/>
              <a:gdLst/>
              <a:ahLst/>
              <a:cxnLst/>
              <a:rect l="l" t="t" r="r" b="b"/>
              <a:pathLst>
                <a:path w="1304289" h="460375">
                  <a:moveTo>
                    <a:pt x="1227134" y="0"/>
                  </a:moveTo>
                  <a:lnTo>
                    <a:pt x="76730" y="0"/>
                  </a:lnTo>
                  <a:lnTo>
                    <a:pt x="46863" y="6029"/>
                  </a:lnTo>
                  <a:lnTo>
                    <a:pt x="22473" y="22473"/>
                  </a:lnTo>
                  <a:lnTo>
                    <a:pt x="6029" y="46863"/>
                  </a:lnTo>
                  <a:lnTo>
                    <a:pt x="0" y="76730"/>
                  </a:lnTo>
                  <a:lnTo>
                    <a:pt x="0" y="383644"/>
                  </a:lnTo>
                  <a:lnTo>
                    <a:pt x="6029" y="413511"/>
                  </a:lnTo>
                  <a:lnTo>
                    <a:pt x="22473" y="437901"/>
                  </a:lnTo>
                  <a:lnTo>
                    <a:pt x="46863" y="454345"/>
                  </a:lnTo>
                  <a:lnTo>
                    <a:pt x="76730" y="460375"/>
                  </a:lnTo>
                  <a:lnTo>
                    <a:pt x="1227134" y="460375"/>
                  </a:lnTo>
                  <a:lnTo>
                    <a:pt x="1257002" y="454345"/>
                  </a:lnTo>
                  <a:lnTo>
                    <a:pt x="1281392" y="437901"/>
                  </a:lnTo>
                  <a:lnTo>
                    <a:pt x="1297837" y="413511"/>
                  </a:lnTo>
                  <a:lnTo>
                    <a:pt x="1303867" y="383644"/>
                  </a:lnTo>
                  <a:lnTo>
                    <a:pt x="1303867" y="76730"/>
                  </a:lnTo>
                  <a:lnTo>
                    <a:pt x="1297837" y="46863"/>
                  </a:lnTo>
                  <a:lnTo>
                    <a:pt x="1281392" y="22473"/>
                  </a:lnTo>
                  <a:lnTo>
                    <a:pt x="1257002" y="6029"/>
                  </a:lnTo>
                  <a:lnTo>
                    <a:pt x="1227134" y="0"/>
                  </a:lnTo>
                  <a:close/>
                </a:path>
              </a:pathLst>
            </a:custGeom>
            <a:solidFill>
              <a:srgbClr val="FFFFFF"/>
            </a:solidFill>
          </p:spPr>
          <p:txBody>
            <a:bodyPr wrap="square" lIns="0" tIns="0" rIns="0" bIns="0" rtlCol="0"/>
            <a:lstStyle/>
            <a:p>
              <a:endParaRPr/>
            </a:p>
          </p:txBody>
        </p:sp>
        <p:sp>
          <p:nvSpPr>
            <p:cNvPr id="50" name="object 48"/>
            <p:cNvSpPr/>
            <p:nvPr/>
          </p:nvSpPr>
          <p:spPr>
            <a:xfrm>
              <a:off x="4064000" y="4398640"/>
              <a:ext cx="1304290" cy="460375"/>
            </a:xfrm>
            <a:custGeom>
              <a:avLst/>
              <a:gdLst/>
              <a:ahLst/>
              <a:cxnLst/>
              <a:rect l="l" t="t" r="r" b="b"/>
              <a:pathLst>
                <a:path w="1304289" h="460375">
                  <a:moveTo>
                    <a:pt x="0" y="76730"/>
                  </a:moveTo>
                  <a:lnTo>
                    <a:pt x="6029" y="46863"/>
                  </a:lnTo>
                  <a:lnTo>
                    <a:pt x="22474" y="22474"/>
                  </a:lnTo>
                  <a:lnTo>
                    <a:pt x="46863" y="6029"/>
                  </a:lnTo>
                  <a:lnTo>
                    <a:pt x="76730" y="0"/>
                  </a:lnTo>
                  <a:lnTo>
                    <a:pt x="1227135" y="0"/>
                  </a:lnTo>
                  <a:lnTo>
                    <a:pt x="1257002" y="6029"/>
                  </a:lnTo>
                  <a:lnTo>
                    <a:pt x="1281392" y="22474"/>
                  </a:lnTo>
                  <a:lnTo>
                    <a:pt x="1297836" y="46863"/>
                  </a:lnTo>
                  <a:lnTo>
                    <a:pt x="1303866" y="76730"/>
                  </a:lnTo>
                  <a:lnTo>
                    <a:pt x="1303866" y="383643"/>
                  </a:lnTo>
                  <a:lnTo>
                    <a:pt x="1297836" y="413511"/>
                  </a:lnTo>
                  <a:lnTo>
                    <a:pt x="1281392" y="437900"/>
                  </a:lnTo>
                  <a:lnTo>
                    <a:pt x="1257002" y="454345"/>
                  </a:lnTo>
                  <a:lnTo>
                    <a:pt x="1227135" y="460374"/>
                  </a:lnTo>
                  <a:lnTo>
                    <a:pt x="76730" y="460374"/>
                  </a:lnTo>
                  <a:lnTo>
                    <a:pt x="46863" y="454345"/>
                  </a:lnTo>
                  <a:lnTo>
                    <a:pt x="22474" y="437900"/>
                  </a:lnTo>
                  <a:lnTo>
                    <a:pt x="6029" y="413511"/>
                  </a:lnTo>
                  <a:lnTo>
                    <a:pt x="0" y="383643"/>
                  </a:lnTo>
                  <a:lnTo>
                    <a:pt x="0" y="76730"/>
                  </a:lnTo>
                  <a:close/>
                </a:path>
              </a:pathLst>
            </a:custGeom>
            <a:ln w="28574">
              <a:solidFill>
                <a:srgbClr val="000000"/>
              </a:solidFill>
            </a:ln>
          </p:spPr>
          <p:txBody>
            <a:bodyPr wrap="square" lIns="0" tIns="0" rIns="0" bIns="0" rtlCol="0"/>
            <a:lstStyle/>
            <a:p>
              <a:endParaRPr/>
            </a:p>
          </p:txBody>
        </p:sp>
        <p:sp>
          <p:nvSpPr>
            <p:cNvPr id="51" name="object 49"/>
            <p:cNvSpPr txBox="1"/>
            <p:nvPr/>
          </p:nvSpPr>
          <p:spPr>
            <a:xfrm>
              <a:off x="2836757" y="2809400"/>
              <a:ext cx="2396490" cy="1939289"/>
            </a:xfrm>
            <a:prstGeom prst="rect">
              <a:avLst/>
            </a:prstGeom>
          </p:spPr>
          <p:txBody>
            <a:bodyPr vert="horz" wrap="square" lIns="0" tIns="37465" rIns="0" bIns="0" rtlCol="0">
              <a:spAutoFit/>
            </a:bodyPr>
            <a:lstStyle/>
            <a:p>
              <a:pPr marR="1755140" algn="ctr">
                <a:lnSpc>
                  <a:spcPct val="100000"/>
                </a:lnSpc>
                <a:spcBef>
                  <a:spcPts val="295"/>
                </a:spcBef>
              </a:pPr>
              <a:r>
                <a:rPr sz="1400" b="1" dirty="0">
                  <a:latin typeface="Times New Roman" panose="02020603050405020304"/>
                  <a:cs typeface="Times New Roman" panose="02020603050405020304"/>
                </a:rPr>
                <a:t>on</a:t>
              </a:r>
              <a:r>
                <a:rPr sz="1400" b="1" spc="-8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hook</a:t>
              </a:r>
              <a:endParaRPr sz="1400">
                <a:latin typeface="Times New Roman" panose="02020603050405020304"/>
                <a:cs typeface="Times New Roman" panose="02020603050405020304"/>
              </a:endParaRPr>
            </a:p>
            <a:p>
              <a:pPr marR="70485" algn="ctr">
                <a:lnSpc>
                  <a:spcPct val="100000"/>
                </a:lnSpc>
                <a:spcBef>
                  <a:spcPts val="195"/>
                </a:spcBef>
              </a:pPr>
              <a:r>
                <a:rPr sz="1400" b="1" dirty="0">
                  <a:latin typeface="Times New Roman" panose="02020603050405020304"/>
                  <a:cs typeface="Times New Roman" panose="02020603050405020304"/>
                </a:rPr>
                <a:t>on</a:t>
              </a:r>
              <a:r>
                <a:rPr sz="1400" b="1" spc="-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hook</a:t>
              </a:r>
              <a:endParaRPr sz="1400">
                <a:latin typeface="Times New Roman" panose="02020603050405020304"/>
                <a:cs typeface="Times New Roman" panose="02020603050405020304"/>
              </a:endParaRPr>
            </a:p>
            <a:p>
              <a:pPr marL="1775460">
                <a:lnSpc>
                  <a:spcPct val="100000"/>
                </a:lnSpc>
                <a:spcBef>
                  <a:spcPts val="1030"/>
                </a:spcBef>
              </a:pPr>
              <a:r>
                <a:rPr sz="1400" b="1" dirty="0">
                  <a:latin typeface="Times New Roman" panose="02020603050405020304"/>
                  <a:cs typeface="Times New Roman" panose="02020603050405020304"/>
                </a:rPr>
                <a:t>on</a:t>
              </a:r>
              <a:r>
                <a:rPr sz="1400" b="1" spc="-8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hook</a:t>
              </a:r>
              <a:endParaRPr sz="1400">
                <a:latin typeface="Times New Roman" panose="02020603050405020304"/>
                <a:cs typeface="Times New Roman" panose="02020603050405020304"/>
              </a:endParaRPr>
            </a:p>
            <a:p>
              <a:pPr>
                <a:lnSpc>
                  <a:spcPct val="100000"/>
                </a:lnSpc>
              </a:pPr>
              <a:endParaRPr sz="1500">
                <a:latin typeface="Times New Roman" panose="02020603050405020304"/>
                <a:cs typeface="Times New Roman" panose="02020603050405020304"/>
              </a:endParaRPr>
            </a:p>
            <a:p>
              <a:pPr>
                <a:lnSpc>
                  <a:spcPct val="100000"/>
                </a:lnSpc>
                <a:spcBef>
                  <a:spcPts val="10"/>
                </a:spcBef>
              </a:pPr>
              <a:endParaRPr sz="1350">
                <a:latin typeface="Times New Roman" panose="02020603050405020304"/>
                <a:cs typeface="Times New Roman" panose="02020603050405020304"/>
              </a:endParaRPr>
            </a:p>
            <a:p>
              <a:pPr marL="533400">
                <a:lnSpc>
                  <a:spcPct val="100000"/>
                </a:lnSpc>
              </a:pPr>
              <a:r>
                <a:rPr sz="1400" b="1" spc="-5" dirty="0">
                  <a:latin typeface="华文新魏" panose="02010800040101010101" charset="-122"/>
                  <a:cs typeface="华文新魏" panose="02010800040101010101" charset="-122"/>
                </a:rPr>
                <a:t>Off-hook</a:t>
              </a:r>
              <a:endParaRPr sz="1400">
                <a:latin typeface="华文新魏" panose="02010800040101010101" charset="-122"/>
                <a:cs typeface="华文新魏" panose="02010800040101010101" charset="-122"/>
              </a:endParaRPr>
            </a:p>
            <a:p>
              <a:pPr>
                <a:lnSpc>
                  <a:spcPct val="100000"/>
                </a:lnSpc>
              </a:pPr>
              <a:endParaRPr sz="1700">
                <a:latin typeface="Times New Roman" panose="02020603050405020304"/>
                <a:cs typeface="Times New Roman" panose="02020603050405020304"/>
              </a:endParaRPr>
            </a:p>
            <a:p>
              <a:pPr marL="1696720">
                <a:lnSpc>
                  <a:spcPct val="100000"/>
                </a:lnSpc>
                <a:spcBef>
                  <a:spcPts val="5"/>
                </a:spcBef>
              </a:pPr>
              <a:r>
                <a:rPr sz="1400" b="1" spc="-5" dirty="0">
                  <a:latin typeface="华文新魏" panose="02010800040101010101" charset="-122"/>
                  <a:cs typeface="华文新魏" panose="02010800040101010101" charset="-122"/>
                </a:rPr>
                <a:t>busy</a:t>
              </a:r>
              <a:endParaRPr sz="1400">
                <a:latin typeface="华文新魏" panose="02010800040101010101" charset="-122"/>
                <a:cs typeface="华文新魏" panose="02010800040101010101" charset="-122"/>
              </a:endParaRPr>
            </a:p>
          </p:txBody>
        </p:sp>
        <p:sp>
          <p:nvSpPr>
            <p:cNvPr id="52" name="object 50"/>
            <p:cNvSpPr/>
            <p:nvPr/>
          </p:nvSpPr>
          <p:spPr>
            <a:xfrm>
              <a:off x="1830917" y="5768652"/>
              <a:ext cx="1390015" cy="3175"/>
            </a:xfrm>
            <a:custGeom>
              <a:avLst/>
              <a:gdLst/>
              <a:ahLst/>
              <a:cxnLst/>
              <a:rect l="l" t="t" r="r" b="b"/>
              <a:pathLst>
                <a:path w="1390014" h="3175">
                  <a:moveTo>
                    <a:pt x="0" y="3174"/>
                  </a:moveTo>
                  <a:lnTo>
                    <a:pt x="698499" y="3174"/>
                  </a:lnTo>
                  <a:lnTo>
                    <a:pt x="698499" y="0"/>
                  </a:lnTo>
                  <a:lnTo>
                    <a:pt x="1389855" y="0"/>
                  </a:lnTo>
                </a:path>
              </a:pathLst>
            </a:custGeom>
            <a:ln w="28574">
              <a:solidFill>
                <a:srgbClr val="000000"/>
              </a:solidFill>
            </a:ln>
          </p:spPr>
          <p:txBody>
            <a:bodyPr wrap="square" lIns="0" tIns="0" rIns="0" bIns="0" rtlCol="0"/>
            <a:lstStyle/>
            <a:p>
              <a:endParaRPr/>
            </a:p>
          </p:txBody>
        </p:sp>
        <p:sp>
          <p:nvSpPr>
            <p:cNvPr id="53" name="object 51"/>
            <p:cNvSpPr/>
            <p:nvPr/>
          </p:nvSpPr>
          <p:spPr>
            <a:xfrm>
              <a:off x="3106473" y="5697215"/>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54" name="object 52"/>
            <p:cNvSpPr/>
            <p:nvPr/>
          </p:nvSpPr>
          <p:spPr>
            <a:xfrm>
              <a:off x="6543410" y="5700390"/>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55" name="object 53"/>
            <p:cNvSpPr/>
            <p:nvPr/>
          </p:nvSpPr>
          <p:spPr>
            <a:xfrm>
              <a:off x="4715933" y="4901877"/>
              <a:ext cx="0" cy="625475"/>
            </a:xfrm>
            <a:custGeom>
              <a:avLst/>
              <a:gdLst/>
              <a:ahLst/>
              <a:cxnLst/>
              <a:rect l="l" t="t" r="r" b="b"/>
              <a:pathLst>
                <a:path h="625475">
                  <a:moveTo>
                    <a:pt x="0" y="625474"/>
                  </a:moveTo>
                  <a:lnTo>
                    <a:pt x="0" y="0"/>
                  </a:lnTo>
                </a:path>
              </a:pathLst>
            </a:custGeom>
            <a:ln w="28574">
              <a:solidFill>
                <a:srgbClr val="000000"/>
              </a:solidFill>
            </a:ln>
          </p:spPr>
          <p:txBody>
            <a:bodyPr wrap="square" lIns="0" tIns="0" rIns="0" bIns="0" rtlCol="0"/>
            <a:lstStyle/>
            <a:p>
              <a:endParaRPr/>
            </a:p>
          </p:txBody>
        </p:sp>
        <p:sp>
          <p:nvSpPr>
            <p:cNvPr id="56" name="object 54"/>
            <p:cNvSpPr/>
            <p:nvPr/>
          </p:nvSpPr>
          <p:spPr>
            <a:xfrm>
              <a:off x="4644495" y="4873302"/>
              <a:ext cx="142875" cy="142875"/>
            </a:xfrm>
            <a:custGeom>
              <a:avLst/>
              <a:gdLst/>
              <a:ahLst/>
              <a:cxnLst/>
              <a:rect l="l" t="t" r="r" b="b"/>
              <a:pathLst>
                <a:path w="142875" h="142875">
                  <a:moveTo>
                    <a:pt x="71437" y="0"/>
                  </a:moveTo>
                  <a:lnTo>
                    <a:pt x="0" y="142875"/>
                  </a:lnTo>
                  <a:lnTo>
                    <a:pt x="142875" y="142875"/>
                  </a:lnTo>
                  <a:lnTo>
                    <a:pt x="71437" y="0"/>
                  </a:lnTo>
                  <a:close/>
                </a:path>
              </a:pathLst>
            </a:custGeom>
            <a:solidFill>
              <a:srgbClr val="000000"/>
            </a:solidFill>
          </p:spPr>
          <p:txBody>
            <a:bodyPr wrap="square" lIns="0" tIns="0" rIns="0" bIns="0" rtlCol="0"/>
            <a:lstStyle/>
            <a:p>
              <a:endParaRPr/>
            </a:p>
          </p:txBody>
        </p:sp>
        <p:sp>
          <p:nvSpPr>
            <p:cNvPr id="57" name="object 55"/>
            <p:cNvSpPr/>
            <p:nvPr/>
          </p:nvSpPr>
          <p:spPr>
            <a:xfrm>
              <a:off x="1159933" y="5160640"/>
              <a:ext cx="2072639" cy="338455"/>
            </a:xfrm>
            <a:custGeom>
              <a:avLst/>
              <a:gdLst/>
              <a:ahLst/>
              <a:cxnLst/>
              <a:rect l="l" t="t" r="r" b="b"/>
              <a:pathLst>
                <a:path w="2072639" h="338454">
                  <a:moveTo>
                    <a:pt x="2072216" y="0"/>
                  </a:moveTo>
                  <a:lnTo>
                    <a:pt x="0" y="0"/>
                  </a:lnTo>
                  <a:lnTo>
                    <a:pt x="0" y="338137"/>
                  </a:lnTo>
                </a:path>
              </a:pathLst>
            </a:custGeom>
            <a:ln w="28574">
              <a:solidFill>
                <a:srgbClr val="000000"/>
              </a:solidFill>
            </a:ln>
          </p:spPr>
          <p:txBody>
            <a:bodyPr wrap="square" lIns="0" tIns="0" rIns="0" bIns="0" rtlCol="0"/>
            <a:lstStyle/>
            <a:p>
              <a:endParaRPr/>
            </a:p>
          </p:txBody>
        </p:sp>
        <p:sp>
          <p:nvSpPr>
            <p:cNvPr id="58" name="object 56"/>
            <p:cNvSpPr/>
            <p:nvPr/>
          </p:nvSpPr>
          <p:spPr>
            <a:xfrm>
              <a:off x="1088495" y="5384477"/>
              <a:ext cx="142875" cy="142875"/>
            </a:xfrm>
            <a:custGeom>
              <a:avLst/>
              <a:gdLst/>
              <a:ahLst/>
              <a:cxnLst/>
              <a:rect l="l" t="t" r="r" b="b"/>
              <a:pathLst>
                <a:path w="142875" h="142875">
                  <a:moveTo>
                    <a:pt x="142875" y="0"/>
                  </a:moveTo>
                  <a:lnTo>
                    <a:pt x="0" y="0"/>
                  </a:lnTo>
                  <a:lnTo>
                    <a:pt x="71437" y="142874"/>
                  </a:lnTo>
                  <a:lnTo>
                    <a:pt x="142875" y="0"/>
                  </a:lnTo>
                  <a:close/>
                </a:path>
              </a:pathLst>
            </a:custGeom>
            <a:solidFill>
              <a:srgbClr val="000000"/>
            </a:solidFill>
          </p:spPr>
          <p:txBody>
            <a:bodyPr wrap="square" lIns="0" tIns="0" rIns="0" bIns="0" rtlCol="0"/>
            <a:lstStyle/>
            <a:p>
              <a:endParaRPr/>
            </a:p>
          </p:txBody>
        </p:sp>
        <p:sp>
          <p:nvSpPr>
            <p:cNvPr id="59" name="object 57"/>
            <p:cNvSpPr/>
            <p:nvPr/>
          </p:nvSpPr>
          <p:spPr>
            <a:xfrm>
              <a:off x="8981809" y="5700390"/>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60" name="object 58"/>
            <p:cNvSpPr txBox="1"/>
            <p:nvPr/>
          </p:nvSpPr>
          <p:spPr>
            <a:xfrm>
              <a:off x="2089572" y="4965059"/>
              <a:ext cx="63373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on</a:t>
              </a:r>
              <a:r>
                <a:rPr sz="1400" b="1" spc="-8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hook</a:t>
              </a:r>
              <a:endParaRPr sz="1400">
                <a:latin typeface="Times New Roman" panose="02020603050405020304"/>
                <a:cs typeface="Times New Roman" panose="02020603050405020304"/>
              </a:endParaRPr>
            </a:p>
          </p:txBody>
        </p:sp>
        <p:sp>
          <p:nvSpPr>
            <p:cNvPr id="61" name="object 59"/>
            <p:cNvSpPr txBox="1"/>
            <p:nvPr/>
          </p:nvSpPr>
          <p:spPr>
            <a:xfrm>
              <a:off x="2129789" y="5574659"/>
              <a:ext cx="65278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off</a:t>
              </a:r>
              <a:r>
                <a:rPr sz="1400" b="1" spc="-8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hook</a:t>
              </a:r>
              <a:endParaRPr sz="1400">
                <a:latin typeface="Times New Roman" panose="02020603050405020304"/>
                <a:cs typeface="Times New Roman" panose="02020603050405020304"/>
              </a:endParaRPr>
            </a:p>
          </p:txBody>
        </p:sp>
        <p:sp>
          <p:nvSpPr>
            <p:cNvPr id="62" name="object 60"/>
            <p:cNvSpPr txBox="1"/>
            <p:nvPr/>
          </p:nvSpPr>
          <p:spPr>
            <a:xfrm>
              <a:off x="3648828" y="5063484"/>
              <a:ext cx="969010" cy="441959"/>
            </a:xfrm>
            <a:prstGeom prst="rect">
              <a:avLst/>
            </a:prstGeom>
          </p:spPr>
          <p:txBody>
            <a:bodyPr vert="horz" wrap="square" lIns="0" tIns="27939" rIns="0" bIns="0" rtlCol="0">
              <a:spAutoFit/>
            </a:bodyPr>
            <a:lstStyle/>
            <a:p>
              <a:pPr marL="12700" marR="5080" indent="626745">
                <a:lnSpc>
                  <a:spcPts val="1600"/>
                </a:lnSpc>
                <a:spcBef>
                  <a:spcPts val="220"/>
                </a:spcBef>
              </a:pPr>
              <a:r>
                <a:rPr sz="1400" b="1" dirty="0">
                  <a:latin typeface="Times New Roman" panose="02020603050405020304"/>
                  <a:cs typeface="Times New Roman" panose="02020603050405020304"/>
                </a:rPr>
                <a:t>Dial  </a:t>
              </a:r>
              <a:r>
                <a:rPr sz="1400" b="1" spc="-5" dirty="0">
                  <a:latin typeface="Times New Roman" panose="02020603050405020304"/>
                  <a:cs typeface="Times New Roman" panose="02020603050405020304"/>
                </a:rPr>
                <a:t>[callee</a:t>
              </a:r>
              <a:r>
                <a:rPr sz="1400" b="1" spc="-7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busy]</a:t>
              </a:r>
              <a:endParaRPr sz="1400">
                <a:latin typeface="Times New Roman" panose="02020603050405020304"/>
                <a:cs typeface="Times New Roman" panose="02020603050405020304"/>
              </a:endParaRPr>
            </a:p>
          </p:txBody>
        </p:sp>
        <p:sp>
          <p:nvSpPr>
            <p:cNvPr id="63" name="object 61"/>
            <p:cNvSpPr txBox="1"/>
            <p:nvPr/>
          </p:nvSpPr>
          <p:spPr>
            <a:xfrm>
              <a:off x="5374216" y="5574659"/>
              <a:ext cx="1296670" cy="441959"/>
            </a:xfrm>
            <a:prstGeom prst="rect">
              <a:avLst/>
            </a:prstGeom>
          </p:spPr>
          <p:txBody>
            <a:bodyPr vert="horz" wrap="square" lIns="0" tIns="27940" rIns="0" bIns="0" rtlCol="0">
              <a:spAutoFit/>
            </a:bodyPr>
            <a:lstStyle/>
            <a:p>
              <a:pPr marL="140335" marR="5080" indent="-128270">
                <a:lnSpc>
                  <a:spcPts val="1600"/>
                </a:lnSpc>
                <a:spcBef>
                  <a:spcPts val="220"/>
                </a:spcBef>
                <a:tabLst>
                  <a:tab pos="414020" algn="l"/>
                  <a:tab pos="1283335" algn="l"/>
                </a:tabLst>
              </a:pPr>
              <a:r>
                <a:rPr sz="1400" b="1" u="heavy" dirty="0">
                  <a:uFill>
                    <a:solidFill>
                      <a:srgbClr val="000000"/>
                    </a:solidFill>
                  </a:uFill>
                  <a:latin typeface="Times New Roman" panose="02020603050405020304"/>
                  <a:cs typeface="Times New Roman" panose="02020603050405020304"/>
                </a:rPr>
                <a:t> 		Dial 	</a:t>
              </a:r>
              <a:r>
                <a:rPr sz="1400" b="1"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[callee</a:t>
              </a:r>
              <a:r>
                <a:rPr sz="1400" b="1" spc="-10"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idle]</a:t>
              </a:r>
              <a:endParaRPr sz="1400">
                <a:latin typeface="Times New Roman" panose="02020603050405020304"/>
                <a:cs typeface="Times New Roman" panose="02020603050405020304"/>
              </a:endParaRPr>
            </a:p>
          </p:txBody>
        </p:sp>
        <p:sp>
          <p:nvSpPr>
            <p:cNvPr id="64" name="object 62"/>
            <p:cNvSpPr txBox="1"/>
            <p:nvPr/>
          </p:nvSpPr>
          <p:spPr>
            <a:xfrm>
              <a:off x="8015815" y="5574659"/>
              <a:ext cx="1093470" cy="441959"/>
            </a:xfrm>
            <a:prstGeom prst="rect">
              <a:avLst/>
            </a:prstGeom>
          </p:spPr>
          <p:txBody>
            <a:bodyPr vert="horz" wrap="square" lIns="0" tIns="27940" rIns="0" bIns="0" rtlCol="0">
              <a:spAutoFit/>
            </a:bodyPr>
            <a:lstStyle/>
            <a:p>
              <a:pPr marL="158750" marR="5080" indent="-146685">
                <a:lnSpc>
                  <a:spcPts val="1600"/>
                </a:lnSpc>
                <a:spcBef>
                  <a:spcPts val="220"/>
                </a:spcBef>
                <a:tabLst>
                  <a:tab pos="198120" algn="l"/>
                  <a:tab pos="1080135" algn="l"/>
                </a:tabLst>
              </a:pPr>
              <a:r>
                <a:rPr sz="1400" b="1" u="heavy" dirty="0">
                  <a:uFill>
                    <a:solidFill>
                      <a:srgbClr val="000000"/>
                    </a:solidFill>
                  </a:uFill>
                  <a:latin typeface="Times New Roman" panose="02020603050405020304"/>
                  <a:cs typeface="Times New Roman" panose="02020603050405020304"/>
                </a:rPr>
                <a:t> 		</a:t>
              </a:r>
              <a:r>
                <a:rPr sz="1400" b="1" u="heavy" spc="-5" dirty="0">
                  <a:uFill>
                    <a:solidFill>
                      <a:srgbClr val="000000"/>
                    </a:solidFill>
                  </a:uFill>
                  <a:latin typeface="Times New Roman" panose="02020603050405020304"/>
                  <a:cs typeface="Times New Roman" panose="02020603050405020304"/>
                </a:rPr>
                <a:t>Callee 	</a:t>
              </a:r>
              <a:r>
                <a:rPr sz="1400" b="1"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accepts</a:t>
              </a:r>
              <a:endParaRPr sz="1400">
                <a:latin typeface="Times New Roman" panose="02020603050405020304"/>
                <a:cs typeface="Times New Roman" panose="02020603050405020304"/>
              </a:endParaRPr>
            </a:p>
          </p:txBody>
        </p:sp>
        <p:sp>
          <p:nvSpPr>
            <p:cNvPr id="65" name="object 63"/>
            <p:cNvSpPr/>
            <p:nvPr/>
          </p:nvSpPr>
          <p:spPr>
            <a:xfrm>
              <a:off x="5083788" y="5009667"/>
              <a:ext cx="4713605" cy="516890"/>
            </a:xfrm>
            <a:custGeom>
              <a:avLst/>
              <a:gdLst/>
              <a:ahLst/>
              <a:cxnLst/>
              <a:rect l="l" t="t" r="r" b="b"/>
              <a:pathLst>
                <a:path w="4713605" h="516889">
                  <a:moveTo>
                    <a:pt x="4713202" y="516890"/>
                  </a:moveTo>
                  <a:lnTo>
                    <a:pt x="4713202" y="0"/>
                  </a:lnTo>
                  <a:lnTo>
                    <a:pt x="10746" y="0"/>
                  </a:lnTo>
                  <a:lnTo>
                    <a:pt x="0" y="501022"/>
                  </a:lnTo>
                </a:path>
              </a:pathLst>
            </a:custGeom>
            <a:ln w="28574">
              <a:solidFill>
                <a:srgbClr val="000000"/>
              </a:solidFill>
            </a:ln>
          </p:spPr>
          <p:txBody>
            <a:bodyPr wrap="square" lIns="0" tIns="0" rIns="0" bIns="0" rtlCol="0"/>
            <a:lstStyle/>
            <a:p>
              <a:endParaRPr/>
            </a:p>
          </p:txBody>
        </p:sp>
        <p:sp>
          <p:nvSpPr>
            <p:cNvPr id="66" name="object 64"/>
            <p:cNvSpPr/>
            <p:nvPr/>
          </p:nvSpPr>
          <p:spPr>
            <a:xfrm>
              <a:off x="5014817" y="5394885"/>
              <a:ext cx="142875" cy="144780"/>
            </a:xfrm>
            <a:custGeom>
              <a:avLst/>
              <a:gdLst/>
              <a:ahLst/>
              <a:cxnLst/>
              <a:rect l="l" t="t" r="r" b="b"/>
              <a:pathLst>
                <a:path w="142875" h="144779">
                  <a:moveTo>
                    <a:pt x="0" y="0"/>
                  </a:moveTo>
                  <a:lnTo>
                    <a:pt x="68357" y="144373"/>
                  </a:lnTo>
                  <a:lnTo>
                    <a:pt x="142841" y="3063"/>
                  </a:lnTo>
                  <a:lnTo>
                    <a:pt x="0" y="0"/>
                  </a:lnTo>
                  <a:close/>
                </a:path>
              </a:pathLst>
            </a:custGeom>
            <a:solidFill>
              <a:srgbClr val="000000"/>
            </a:solidFill>
          </p:spPr>
          <p:txBody>
            <a:bodyPr wrap="square" lIns="0" tIns="0" rIns="0" bIns="0" rtlCol="0"/>
            <a:lstStyle/>
            <a:p>
              <a:endParaRPr/>
            </a:p>
          </p:txBody>
        </p:sp>
        <p:sp>
          <p:nvSpPr>
            <p:cNvPr id="67" name="object 65"/>
            <p:cNvSpPr txBox="1"/>
            <p:nvPr/>
          </p:nvSpPr>
          <p:spPr>
            <a:xfrm>
              <a:off x="6555109" y="5063484"/>
              <a:ext cx="141351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Times New Roman" panose="02020603050405020304"/>
                  <a:cs typeface="Times New Roman" panose="02020603050405020304"/>
                </a:rPr>
                <a:t>Callee</a:t>
              </a:r>
              <a:r>
                <a:rPr sz="1400" b="1" spc="-30" dirty="0">
                  <a:latin typeface="Times New Roman" panose="02020603050405020304"/>
                  <a:cs typeface="Times New Roman" panose="02020603050405020304"/>
                </a:rPr>
                <a:t> </a:t>
              </a:r>
              <a:r>
                <a:rPr sz="1400" b="1" spc="-5" dirty="0">
                  <a:latin typeface="Times New Roman" panose="02020603050405020304"/>
                  <a:cs typeface="Times New Roman" panose="02020603050405020304"/>
                </a:rPr>
                <a:t>disconnects</a:t>
              </a:r>
              <a:endParaRPr sz="1400">
                <a:latin typeface="Times New Roman" panose="02020603050405020304"/>
                <a:cs typeface="Times New Roman" panose="02020603050405020304"/>
              </a:endParaRPr>
            </a:p>
          </p:txBody>
        </p:sp>
        <p:sp>
          <p:nvSpPr>
            <p:cNvPr id="68" name="object 66"/>
            <p:cNvSpPr/>
            <p:nvPr/>
          </p:nvSpPr>
          <p:spPr>
            <a:xfrm>
              <a:off x="3556000" y="5814689"/>
              <a:ext cx="260350" cy="519430"/>
            </a:xfrm>
            <a:custGeom>
              <a:avLst/>
              <a:gdLst/>
              <a:ahLst/>
              <a:cxnLst/>
              <a:rect l="l" t="t" r="r" b="b"/>
              <a:pathLst>
                <a:path w="260350" h="519429">
                  <a:moveTo>
                    <a:pt x="130175" y="0"/>
                  </a:moveTo>
                  <a:lnTo>
                    <a:pt x="72927" y="26381"/>
                  </a:lnTo>
                  <a:lnTo>
                    <a:pt x="48757" y="57021"/>
                  </a:lnTo>
                  <a:lnTo>
                    <a:pt x="28598" y="97217"/>
                  </a:lnTo>
                  <a:lnTo>
                    <a:pt x="13231" y="145410"/>
                  </a:lnTo>
                  <a:lnTo>
                    <a:pt x="3438" y="200042"/>
                  </a:lnTo>
                  <a:lnTo>
                    <a:pt x="0" y="259557"/>
                  </a:lnTo>
                  <a:lnTo>
                    <a:pt x="3438" y="319071"/>
                  </a:lnTo>
                  <a:lnTo>
                    <a:pt x="13231" y="373703"/>
                  </a:lnTo>
                  <a:lnTo>
                    <a:pt x="28598" y="421896"/>
                  </a:lnTo>
                  <a:lnTo>
                    <a:pt x="48757" y="462092"/>
                  </a:lnTo>
                  <a:lnTo>
                    <a:pt x="72927" y="492732"/>
                  </a:lnTo>
                  <a:lnTo>
                    <a:pt x="130175" y="519113"/>
                  </a:lnTo>
                  <a:lnTo>
                    <a:pt x="160022" y="512258"/>
                  </a:lnTo>
                  <a:lnTo>
                    <a:pt x="211592" y="462092"/>
                  </a:lnTo>
                  <a:lnTo>
                    <a:pt x="231751" y="421896"/>
                  </a:lnTo>
                  <a:lnTo>
                    <a:pt x="247118" y="373703"/>
                  </a:lnTo>
                  <a:lnTo>
                    <a:pt x="256911" y="319071"/>
                  </a:lnTo>
                  <a:lnTo>
                    <a:pt x="260350" y="259557"/>
                  </a:lnTo>
                  <a:lnTo>
                    <a:pt x="256911" y="200042"/>
                  </a:lnTo>
                  <a:lnTo>
                    <a:pt x="247118" y="145410"/>
                  </a:lnTo>
                  <a:lnTo>
                    <a:pt x="231751" y="97217"/>
                  </a:lnTo>
                  <a:lnTo>
                    <a:pt x="211592" y="57021"/>
                  </a:lnTo>
                  <a:lnTo>
                    <a:pt x="187422" y="26381"/>
                  </a:lnTo>
                  <a:lnTo>
                    <a:pt x="130175" y="0"/>
                  </a:lnTo>
                  <a:close/>
                </a:path>
              </a:pathLst>
            </a:custGeom>
            <a:solidFill>
              <a:srgbClr val="000000"/>
            </a:solidFill>
          </p:spPr>
          <p:txBody>
            <a:bodyPr wrap="square" lIns="0" tIns="0" rIns="0" bIns="0" rtlCol="0"/>
            <a:lstStyle/>
            <a:p>
              <a:endParaRPr/>
            </a:p>
          </p:txBody>
        </p:sp>
        <p:sp>
          <p:nvSpPr>
            <p:cNvPr id="69" name="object 67"/>
            <p:cNvSpPr/>
            <p:nvPr/>
          </p:nvSpPr>
          <p:spPr>
            <a:xfrm>
              <a:off x="3685116" y="5771826"/>
              <a:ext cx="350520" cy="43180"/>
            </a:xfrm>
            <a:custGeom>
              <a:avLst/>
              <a:gdLst/>
              <a:ahLst/>
              <a:cxnLst/>
              <a:rect l="l" t="t" r="r" b="b"/>
              <a:pathLst>
                <a:path w="350520" h="43179">
                  <a:moveTo>
                    <a:pt x="0" y="42862"/>
                  </a:moveTo>
                  <a:lnTo>
                    <a:pt x="0" y="0"/>
                  </a:lnTo>
                  <a:lnTo>
                    <a:pt x="350308" y="0"/>
                  </a:lnTo>
                </a:path>
              </a:pathLst>
            </a:custGeom>
            <a:ln w="28574">
              <a:solidFill>
                <a:srgbClr val="000000"/>
              </a:solidFill>
            </a:ln>
          </p:spPr>
          <p:txBody>
            <a:bodyPr wrap="square" lIns="0" tIns="0" rIns="0" bIns="0" rtlCol="0"/>
            <a:lstStyle/>
            <a:p>
              <a:endParaRPr/>
            </a:p>
          </p:txBody>
        </p:sp>
        <p:sp>
          <p:nvSpPr>
            <p:cNvPr id="70" name="object 68"/>
            <p:cNvSpPr/>
            <p:nvPr/>
          </p:nvSpPr>
          <p:spPr>
            <a:xfrm>
              <a:off x="3921125" y="5700389"/>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p>
          </p:txBody>
        </p:sp>
        <p:sp>
          <p:nvSpPr>
            <p:cNvPr id="71" name="object 69"/>
            <p:cNvSpPr/>
            <p:nvPr/>
          </p:nvSpPr>
          <p:spPr>
            <a:xfrm>
              <a:off x="304800" y="3789040"/>
              <a:ext cx="11582400" cy="0"/>
            </a:xfrm>
            <a:custGeom>
              <a:avLst/>
              <a:gdLst/>
              <a:ahLst/>
              <a:cxnLst/>
              <a:rect l="l" t="t" r="r" b="b"/>
              <a:pathLst>
                <a:path w="11582400">
                  <a:moveTo>
                    <a:pt x="0" y="0"/>
                  </a:moveTo>
                  <a:lnTo>
                    <a:pt x="11582395" y="0"/>
                  </a:lnTo>
                </a:path>
              </a:pathLst>
            </a:custGeom>
            <a:ln w="28574">
              <a:solidFill>
                <a:srgbClr val="941100"/>
              </a:solidFill>
            </a:ln>
          </p:spPr>
          <p:txBody>
            <a:bodyPr wrap="square" lIns="0" tIns="0" rIns="0" bIns="0" rtlCol="0"/>
            <a:lstStyle/>
            <a:p>
              <a:endParaRPr/>
            </a:p>
          </p:txBody>
        </p:sp>
        <p:sp>
          <p:nvSpPr>
            <p:cNvPr id="72" name="object 70"/>
            <p:cNvSpPr/>
            <p:nvPr/>
          </p:nvSpPr>
          <p:spPr>
            <a:xfrm>
              <a:off x="552163" y="3261060"/>
              <a:ext cx="639445" cy="1276985"/>
            </a:xfrm>
            <a:custGeom>
              <a:avLst/>
              <a:gdLst/>
              <a:ahLst/>
              <a:cxnLst/>
              <a:rect l="l" t="t" r="r" b="b"/>
              <a:pathLst>
                <a:path w="639444" h="1276985">
                  <a:moveTo>
                    <a:pt x="478421" y="0"/>
                  </a:moveTo>
                  <a:lnTo>
                    <a:pt x="142313" y="429708"/>
                  </a:lnTo>
                  <a:lnTo>
                    <a:pt x="110258" y="473974"/>
                  </a:lnTo>
                  <a:lnTo>
                    <a:pt x="82258" y="519411"/>
                  </a:lnTo>
                  <a:lnTo>
                    <a:pt x="58323" y="565685"/>
                  </a:lnTo>
                  <a:lnTo>
                    <a:pt x="38465" y="612463"/>
                  </a:lnTo>
                  <a:lnTo>
                    <a:pt x="22693" y="659413"/>
                  </a:lnTo>
                  <a:lnTo>
                    <a:pt x="11018" y="706201"/>
                  </a:lnTo>
                  <a:lnTo>
                    <a:pt x="3450" y="752494"/>
                  </a:lnTo>
                  <a:lnTo>
                    <a:pt x="0" y="797960"/>
                  </a:lnTo>
                  <a:lnTo>
                    <a:pt x="677" y="842265"/>
                  </a:lnTo>
                  <a:lnTo>
                    <a:pt x="5492" y="885077"/>
                  </a:lnTo>
                  <a:lnTo>
                    <a:pt x="14455" y="926062"/>
                  </a:lnTo>
                  <a:lnTo>
                    <a:pt x="27577" y="964888"/>
                  </a:lnTo>
                  <a:lnTo>
                    <a:pt x="44868" y="1001221"/>
                  </a:lnTo>
                  <a:lnTo>
                    <a:pt x="66339" y="1034728"/>
                  </a:lnTo>
                  <a:lnTo>
                    <a:pt x="91999" y="1065078"/>
                  </a:lnTo>
                  <a:lnTo>
                    <a:pt x="121859" y="1091935"/>
                  </a:lnTo>
                  <a:lnTo>
                    <a:pt x="188900" y="1144374"/>
                  </a:lnTo>
                  <a:lnTo>
                    <a:pt x="85241" y="1276899"/>
                  </a:lnTo>
                  <a:lnTo>
                    <a:pt x="462445" y="1126023"/>
                  </a:lnTo>
                  <a:lnTo>
                    <a:pt x="499726" y="856112"/>
                  </a:lnTo>
                  <a:lnTo>
                    <a:pt x="414372" y="856112"/>
                  </a:lnTo>
                  <a:lnTo>
                    <a:pt x="347331" y="803673"/>
                  </a:lnTo>
                  <a:lnTo>
                    <a:pt x="311723" y="768190"/>
                  </a:lnTo>
                  <a:lnTo>
                    <a:pt x="286851" y="727200"/>
                  </a:lnTo>
                  <a:lnTo>
                    <a:pt x="273135" y="683068"/>
                  </a:lnTo>
                  <a:lnTo>
                    <a:pt x="270994" y="638161"/>
                  </a:lnTo>
                  <a:lnTo>
                    <a:pt x="280850" y="594846"/>
                  </a:lnTo>
                  <a:lnTo>
                    <a:pt x="303122" y="555489"/>
                  </a:lnTo>
                  <a:lnTo>
                    <a:pt x="639230" y="125780"/>
                  </a:lnTo>
                  <a:lnTo>
                    <a:pt x="478421" y="0"/>
                  </a:lnTo>
                  <a:close/>
                </a:path>
                <a:path w="639444" h="1276985">
                  <a:moveTo>
                    <a:pt x="518031" y="723586"/>
                  </a:moveTo>
                  <a:lnTo>
                    <a:pt x="414372" y="856112"/>
                  </a:lnTo>
                  <a:lnTo>
                    <a:pt x="499726" y="856112"/>
                  </a:lnTo>
                  <a:lnTo>
                    <a:pt x="518031" y="723586"/>
                  </a:lnTo>
                  <a:close/>
                </a:path>
              </a:pathLst>
            </a:custGeom>
            <a:solidFill>
              <a:srgbClr val="941100"/>
            </a:solidFill>
          </p:spPr>
          <p:txBody>
            <a:bodyPr wrap="square" lIns="0" tIns="0" rIns="0" bIns="0" rtlCol="0"/>
            <a:lstStyle/>
            <a:p>
              <a:endParaRPr/>
            </a:p>
          </p:txBody>
        </p:sp>
        <p:sp>
          <p:nvSpPr>
            <p:cNvPr id="73" name="object 71"/>
            <p:cNvSpPr/>
            <p:nvPr/>
          </p:nvSpPr>
          <p:spPr>
            <a:xfrm>
              <a:off x="552163" y="3261060"/>
              <a:ext cx="639445" cy="1276985"/>
            </a:xfrm>
            <a:custGeom>
              <a:avLst/>
              <a:gdLst/>
              <a:ahLst/>
              <a:cxnLst/>
              <a:rect l="l" t="t" r="r" b="b"/>
              <a:pathLst>
                <a:path w="639444" h="1276985">
                  <a:moveTo>
                    <a:pt x="462445" y="1126024"/>
                  </a:moveTo>
                  <a:lnTo>
                    <a:pt x="85241" y="1276899"/>
                  </a:lnTo>
                  <a:lnTo>
                    <a:pt x="188900" y="1144373"/>
                  </a:lnTo>
                  <a:lnTo>
                    <a:pt x="121859" y="1091935"/>
                  </a:lnTo>
                  <a:lnTo>
                    <a:pt x="91999" y="1065078"/>
                  </a:lnTo>
                  <a:lnTo>
                    <a:pt x="66339" y="1034728"/>
                  </a:lnTo>
                  <a:lnTo>
                    <a:pt x="44868" y="1001221"/>
                  </a:lnTo>
                  <a:lnTo>
                    <a:pt x="27577" y="964888"/>
                  </a:lnTo>
                  <a:lnTo>
                    <a:pt x="14455" y="926062"/>
                  </a:lnTo>
                  <a:lnTo>
                    <a:pt x="5492" y="885077"/>
                  </a:lnTo>
                  <a:lnTo>
                    <a:pt x="677" y="842265"/>
                  </a:lnTo>
                  <a:lnTo>
                    <a:pt x="0" y="797960"/>
                  </a:lnTo>
                  <a:lnTo>
                    <a:pt x="3450" y="752494"/>
                  </a:lnTo>
                  <a:lnTo>
                    <a:pt x="11018" y="706201"/>
                  </a:lnTo>
                  <a:lnTo>
                    <a:pt x="22693" y="659413"/>
                  </a:lnTo>
                  <a:lnTo>
                    <a:pt x="38465" y="612463"/>
                  </a:lnTo>
                  <a:lnTo>
                    <a:pt x="58323" y="565685"/>
                  </a:lnTo>
                  <a:lnTo>
                    <a:pt x="82258" y="519411"/>
                  </a:lnTo>
                  <a:lnTo>
                    <a:pt x="110258" y="473974"/>
                  </a:lnTo>
                  <a:lnTo>
                    <a:pt x="142313" y="429707"/>
                  </a:lnTo>
                  <a:lnTo>
                    <a:pt x="478421" y="0"/>
                  </a:lnTo>
                  <a:lnTo>
                    <a:pt x="639230" y="125781"/>
                  </a:lnTo>
                  <a:lnTo>
                    <a:pt x="303122" y="555489"/>
                  </a:lnTo>
                  <a:lnTo>
                    <a:pt x="280850" y="594846"/>
                  </a:lnTo>
                  <a:lnTo>
                    <a:pt x="270994" y="638162"/>
                  </a:lnTo>
                  <a:lnTo>
                    <a:pt x="273135" y="683068"/>
                  </a:lnTo>
                  <a:lnTo>
                    <a:pt x="286851" y="727200"/>
                  </a:lnTo>
                  <a:lnTo>
                    <a:pt x="311723" y="768190"/>
                  </a:lnTo>
                  <a:lnTo>
                    <a:pt x="347331" y="803673"/>
                  </a:lnTo>
                  <a:lnTo>
                    <a:pt x="414372" y="856111"/>
                  </a:lnTo>
                  <a:lnTo>
                    <a:pt x="518031" y="723586"/>
                  </a:lnTo>
                  <a:lnTo>
                    <a:pt x="462445" y="1126024"/>
                  </a:lnTo>
                  <a:close/>
                </a:path>
              </a:pathLst>
            </a:custGeom>
            <a:ln w="9524">
              <a:solidFill>
                <a:srgbClr val="941100"/>
              </a:solidFill>
            </a:ln>
          </p:spPr>
          <p:txBody>
            <a:bodyPr wrap="square" lIns="0" tIns="0" rIns="0" bIns="0" rtlCol="0"/>
            <a:lstStyle/>
            <a:p>
              <a:endParaRPr/>
            </a:p>
          </p:txBody>
        </p:sp>
      </p:grpSp>
      <p:sp>
        <p:nvSpPr>
          <p:cNvPr id="74" name="灯片编号占位符 73"/>
          <p:cNvSpPr>
            <a:spLocks noGrp="1"/>
          </p:cNvSpPr>
          <p:nvPr>
            <p:ph type="sldNum" sz="quarter" idx="12"/>
          </p:nvPr>
        </p:nvSpPr>
        <p:spPr/>
        <p:txBody>
          <a:bodyPr/>
          <a:lstStyle/>
          <a:p>
            <a:fld id="{74D2AB8B-5816-41F2-8B4B-CA5C3E4E6A65}" type="slidenum">
              <a:rPr lang="zh-CN" altLang="en-US" smtClean="0"/>
              <a:t>50</a:t>
            </a:fld>
            <a:endParaRPr lang="zh-CN" altLang="en-US"/>
          </a:p>
        </p:txBody>
      </p:sp>
      <p:sp>
        <p:nvSpPr>
          <p:cNvPr id="75" name="墨迹 74"/>
          <p:cNvSpPr/>
          <p:nvPr/>
        </p:nvSpPr>
        <p:spPr bwMode="auto">
          <a:xfrm>
            <a:off x="2379960" y="1997280"/>
            <a:ext cx="1842480" cy="1468440"/>
          </a:xfrm>
          <a:prstGeom prst="rect">
            <a:avLst/>
          </a:prstGeom>
        </p:spPr>
      </p:sp>
    </p:spTree>
  </p:cSld>
  <p:clrMapOvr>
    <a:masterClrMapping/>
  </p:clrMapOvr>
  <mc:AlternateContent xmlns:mc="http://schemas.openxmlformats.org/markup-compatibility/2006" xmlns:p14="http://schemas.microsoft.com/office/powerpoint/2010/main">
    <mc:Choice Requires="p14">
      <p:transition spd="slow" p14:dur="2000" advTm="101858"/>
    </mc:Choice>
    <mc:Fallback xmlns="">
      <p:transition spd="slow" advTm="1018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75"/>
                                        </p:tgtEl>
                                        <p:attrNameLst>
                                          <p:attrName>style.visibility</p:attrName>
                                        </p:attrNameLst>
                                      </p:cBhvr>
                                      <p:to>
                                        <p:strVal val="visible"/>
                                      </p:to>
                                    </p:set>
                                    <p:cmd type="call" cmd="playFrom(0.0)">
                                      <p:cBhvr>
                                        <p:cTn id="7" dur="1" fill="hold"/>
                                        <p:tgtEl>
                                          <p:spTgt spid="7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01207" y="290164"/>
            <a:ext cx="3411831" cy="646331"/>
          </a:xfrm>
          <a:prstGeom prst="rect">
            <a:avLst/>
          </a:prstGeom>
        </p:spPr>
        <p:txBody>
          <a:bodyPr wrap="none">
            <a:spAutoFit/>
          </a:bodyPr>
          <a:lstStyle/>
          <a:p>
            <a:r>
              <a:rPr lang="zh-CN" altLang="en-US" sz="3600" b="1" spc="-5" dirty="0">
                <a:latin typeface="微软雅黑" panose="020B0503020204020204" pitchFamily="34" charset="-122"/>
                <a:ea typeface="微软雅黑" panose="020B0503020204020204" pitchFamily="34" charset="-122"/>
              </a:rPr>
              <a:t>组合状态的例子</a:t>
            </a:r>
            <a:endParaRPr lang="zh-CN" altLang="en-US" sz="3600" b="1" dirty="0">
              <a:latin typeface="微软雅黑" panose="020B0503020204020204" pitchFamily="34" charset="-122"/>
              <a:ea typeface="微软雅黑" panose="020B0503020204020204" pitchFamily="34" charset="-122"/>
            </a:endParaRPr>
          </a:p>
        </p:txBody>
      </p:sp>
      <p:grpSp>
        <p:nvGrpSpPr>
          <p:cNvPr id="74" name="组合 73"/>
          <p:cNvGrpSpPr/>
          <p:nvPr/>
        </p:nvGrpSpPr>
        <p:grpSpPr>
          <a:xfrm>
            <a:off x="711199" y="1268760"/>
            <a:ext cx="11074400" cy="4800600"/>
            <a:chOff x="711199" y="1268760"/>
            <a:chExt cx="11074400" cy="4800600"/>
          </a:xfrm>
        </p:grpSpPr>
        <p:sp>
          <p:nvSpPr>
            <p:cNvPr id="75" name="object 2"/>
            <p:cNvSpPr/>
            <p:nvPr/>
          </p:nvSpPr>
          <p:spPr>
            <a:xfrm>
              <a:off x="711199" y="2183160"/>
              <a:ext cx="9042400" cy="3886200"/>
            </a:xfrm>
            <a:custGeom>
              <a:avLst/>
              <a:gdLst/>
              <a:ahLst/>
              <a:cxnLst/>
              <a:rect l="l" t="t" r="r" b="b"/>
              <a:pathLst>
                <a:path w="9042400" h="3886200">
                  <a:moveTo>
                    <a:pt x="8394684" y="0"/>
                  </a:moveTo>
                  <a:lnTo>
                    <a:pt x="647712" y="0"/>
                  </a:lnTo>
                  <a:lnTo>
                    <a:pt x="599373" y="1776"/>
                  </a:lnTo>
                  <a:lnTo>
                    <a:pt x="551998" y="7022"/>
                  </a:lnTo>
                  <a:lnTo>
                    <a:pt x="505714" y="15613"/>
                  </a:lnTo>
                  <a:lnTo>
                    <a:pt x="460644" y="27423"/>
                  </a:lnTo>
                  <a:lnTo>
                    <a:pt x="416916" y="42327"/>
                  </a:lnTo>
                  <a:lnTo>
                    <a:pt x="374653" y="60199"/>
                  </a:lnTo>
                  <a:lnTo>
                    <a:pt x="333981" y="80916"/>
                  </a:lnTo>
                  <a:lnTo>
                    <a:pt x="295026" y="104350"/>
                  </a:lnTo>
                  <a:lnTo>
                    <a:pt x="257912" y="130377"/>
                  </a:lnTo>
                  <a:lnTo>
                    <a:pt x="222765" y="158872"/>
                  </a:lnTo>
                  <a:lnTo>
                    <a:pt x="189710" y="189710"/>
                  </a:lnTo>
                  <a:lnTo>
                    <a:pt x="158873" y="222765"/>
                  </a:lnTo>
                  <a:lnTo>
                    <a:pt x="130377" y="257912"/>
                  </a:lnTo>
                  <a:lnTo>
                    <a:pt x="104350" y="295026"/>
                  </a:lnTo>
                  <a:lnTo>
                    <a:pt x="80916" y="333981"/>
                  </a:lnTo>
                  <a:lnTo>
                    <a:pt x="60200" y="374653"/>
                  </a:lnTo>
                  <a:lnTo>
                    <a:pt x="42327" y="416915"/>
                  </a:lnTo>
                  <a:lnTo>
                    <a:pt x="27423" y="460644"/>
                  </a:lnTo>
                  <a:lnTo>
                    <a:pt x="15613" y="505713"/>
                  </a:lnTo>
                  <a:lnTo>
                    <a:pt x="7022" y="551998"/>
                  </a:lnTo>
                  <a:lnTo>
                    <a:pt x="1776" y="599373"/>
                  </a:lnTo>
                  <a:lnTo>
                    <a:pt x="0" y="647712"/>
                  </a:lnTo>
                  <a:lnTo>
                    <a:pt x="0" y="3238486"/>
                  </a:lnTo>
                  <a:lnTo>
                    <a:pt x="1776" y="3286825"/>
                  </a:lnTo>
                  <a:lnTo>
                    <a:pt x="7022" y="3334200"/>
                  </a:lnTo>
                  <a:lnTo>
                    <a:pt x="15613" y="3380485"/>
                  </a:lnTo>
                  <a:lnTo>
                    <a:pt x="27423" y="3425554"/>
                  </a:lnTo>
                  <a:lnTo>
                    <a:pt x="42327" y="3469282"/>
                  </a:lnTo>
                  <a:lnTo>
                    <a:pt x="60200" y="3511545"/>
                  </a:lnTo>
                  <a:lnTo>
                    <a:pt x="80916" y="3552217"/>
                  </a:lnTo>
                  <a:lnTo>
                    <a:pt x="104350" y="3591172"/>
                  </a:lnTo>
                  <a:lnTo>
                    <a:pt x="130377" y="3628286"/>
                  </a:lnTo>
                  <a:lnTo>
                    <a:pt x="158873" y="3663433"/>
                  </a:lnTo>
                  <a:lnTo>
                    <a:pt x="189710" y="3696488"/>
                  </a:lnTo>
                  <a:lnTo>
                    <a:pt x="222765" y="3727326"/>
                  </a:lnTo>
                  <a:lnTo>
                    <a:pt x="257912" y="3755821"/>
                  </a:lnTo>
                  <a:lnTo>
                    <a:pt x="295026" y="3781848"/>
                  </a:lnTo>
                  <a:lnTo>
                    <a:pt x="333981" y="3805283"/>
                  </a:lnTo>
                  <a:lnTo>
                    <a:pt x="374653" y="3825999"/>
                  </a:lnTo>
                  <a:lnTo>
                    <a:pt x="416916" y="3843871"/>
                  </a:lnTo>
                  <a:lnTo>
                    <a:pt x="460644" y="3858775"/>
                  </a:lnTo>
                  <a:lnTo>
                    <a:pt x="505714" y="3870585"/>
                  </a:lnTo>
                  <a:lnTo>
                    <a:pt x="551998" y="3879176"/>
                  </a:lnTo>
                  <a:lnTo>
                    <a:pt x="599373" y="3884422"/>
                  </a:lnTo>
                  <a:lnTo>
                    <a:pt x="647712" y="3886199"/>
                  </a:lnTo>
                  <a:lnTo>
                    <a:pt x="8394684" y="3886199"/>
                  </a:lnTo>
                  <a:lnTo>
                    <a:pt x="8443024" y="3884422"/>
                  </a:lnTo>
                  <a:lnTo>
                    <a:pt x="8490399" y="3879176"/>
                  </a:lnTo>
                  <a:lnTo>
                    <a:pt x="8536684" y="3870585"/>
                  </a:lnTo>
                  <a:lnTo>
                    <a:pt x="8581753" y="3858775"/>
                  </a:lnTo>
                  <a:lnTo>
                    <a:pt x="8625482" y="3843871"/>
                  </a:lnTo>
                  <a:lnTo>
                    <a:pt x="8667745" y="3825999"/>
                  </a:lnTo>
                  <a:lnTo>
                    <a:pt x="8708416" y="3805283"/>
                  </a:lnTo>
                  <a:lnTo>
                    <a:pt x="8747372" y="3781848"/>
                  </a:lnTo>
                  <a:lnTo>
                    <a:pt x="8784486" y="3755821"/>
                  </a:lnTo>
                  <a:lnTo>
                    <a:pt x="8819633" y="3727326"/>
                  </a:lnTo>
                  <a:lnTo>
                    <a:pt x="8852688" y="3696488"/>
                  </a:lnTo>
                  <a:lnTo>
                    <a:pt x="8883525" y="3663433"/>
                  </a:lnTo>
                  <a:lnTo>
                    <a:pt x="8912020" y="3628286"/>
                  </a:lnTo>
                  <a:lnTo>
                    <a:pt x="8938048" y="3591172"/>
                  </a:lnTo>
                  <a:lnTo>
                    <a:pt x="8961482" y="3552217"/>
                  </a:lnTo>
                  <a:lnTo>
                    <a:pt x="8982198" y="3511545"/>
                  </a:lnTo>
                  <a:lnTo>
                    <a:pt x="9000071" y="3469282"/>
                  </a:lnTo>
                  <a:lnTo>
                    <a:pt x="9014975" y="3425554"/>
                  </a:lnTo>
                  <a:lnTo>
                    <a:pt x="9026785" y="3380485"/>
                  </a:lnTo>
                  <a:lnTo>
                    <a:pt x="9035375" y="3334200"/>
                  </a:lnTo>
                  <a:lnTo>
                    <a:pt x="9040622" y="3286825"/>
                  </a:lnTo>
                  <a:lnTo>
                    <a:pt x="9042398" y="3238486"/>
                  </a:lnTo>
                  <a:lnTo>
                    <a:pt x="9042398" y="647712"/>
                  </a:lnTo>
                  <a:lnTo>
                    <a:pt x="9040622" y="599373"/>
                  </a:lnTo>
                  <a:lnTo>
                    <a:pt x="9035375" y="551998"/>
                  </a:lnTo>
                  <a:lnTo>
                    <a:pt x="9026785" y="505713"/>
                  </a:lnTo>
                  <a:lnTo>
                    <a:pt x="9014975" y="460644"/>
                  </a:lnTo>
                  <a:lnTo>
                    <a:pt x="9000071" y="416915"/>
                  </a:lnTo>
                  <a:lnTo>
                    <a:pt x="8982198" y="374653"/>
                  </a:lnTo>
                  <a:lnTo>
                    <a:pt x="8961482" y="333981"/>
                  </a:lnTo>
                  <a:lnTo>
                    <a:pt x="8938048" y="295026"/>
                  </a:lnTo>
                  <a:lnTo>
                    <a:pt x="8912020" y="257912"/>
                  </a:lnTo>
                  <a:lnTo>
                    <a:pt x="8883525" y="222765"/>
                  </a:lnTo>
                  <a:lnTo>
                    <a:pt x="8852688" y="189710"/>
                  </a:lnTo>
                  <a:lnTo>
                    <a:pt x="8819633" y="158872"/>
                  </a:lnTo>
                  <a:lnTo>
                    <a:pt x="8784486" y="130377"/>
                  </a:lnTo>
                  <a:lnTo>
                    <a:pt x="8747372" y="104350"/>
                  </a:lnTo>
                  <a:lnTo>
                    <a:pt x="8708416" y="80916"/>
                  </a:lnTo>
                  <a:lnTo>
                    <a:pt x="8667745" y="60199"/>
                  </a:lnTo>
                  <a:lnTo>
                    <a:pt x="8625482" y="42327"/>
                  </a:lnTo>
                  <a:lnTo>
                    <a:pt x="8581753" y="27423"/>
                  </a:lnTo>
                  <a:lnTo>
                    <a:pt x="8536684" y="15613"/>
                  </a:lnTo>
                  <a:lnTo>
                    <a:pt x="8490399" y="7022"/>
                  </a:lnTo>
                  <a:lnTo>
                    <a:pt x="8443024" y="1776"/>
                  </a:lnTo>
                  <a:lnTo>
                    <a:pt x="8394684" y="0"/>
                  </a:lnTo>
                  <a:close/>
                </a:path>
              </a:pathLst>
            </a:custGeom>
            <a:solidFill>
              <a:srgbClr val="FEFED5"/>
            </a:solidFill>
          </p:spPr>
          <p:txBody>
            <a:bodyPr wrap="square" lIns="0" tIns="0" rIns="0" bIns="0" rtlCol="0"/>
            <a:lstStyle/>
            <a:p>
              <a:endParaRPr/>
            </a:p>
          </p:txBody>
        </p:sp>
        <p:sp>
          <p:nvSpPr>
            <p:cNvPr id="76" name="object 3"/>
            <p:cNvSpPr/>
            <p:nvPr/>
          </p:nvSpPr>
          <p:spPr>
            <a:xfrm>
              <a:off x="711199" y="2183160"/>
              <a:ext cx="9042400" cy="3886200"/>
            </a:xfrm>
            <a:custGeom>
              <a:avLst/>
              <a:gdLst/>
              <a:ahLst/>
              <a:cxnLst/>
              <a:rect l="l" t="t" r="r" b="b"/>
              <a:pathLst>
                <a:path w="9042400" h="3886200">
                  <a:moveTo>
                    <a:pt x="0" y="647712"/>
                  </a:moveTo>
                  <a:lnTo>
                    <a:pt x="1776" y="599373"/>
                  </a:lnTo>
                  <a:lnTo>
                    <a:pt x="7022" y="551998"/>
                  </a:lnTo>
                  <a:lnTo>
                    <a:pt x="15613" y="505713"/>
                  </a:lnTo>
                  <a:lnTo>
                    <a:pt x="27423" y="460644"/>
                  </a:lnTo>
                  <a:lnTo>
                    <a:pt x="42327" y="416916"/>
                  </a:lnTo>
                  <a:lnTo>
                    <a:pt x="60200" y="374653"/>
                  </a:lnTo>
                  <a:lnTo>
                    <a:pt x="80916" y="333981"/>
                  </a:lnTo>
                  <a:lnTo>
                    <a:pt x="104350" y="295026"/>
                  </a:lnTo>
                  <a:lnTo>
                    <a:pt x="130377" y="257912"/>
                  </a:lnTo>
                  <a:lnTo>
                    <a:pt x="158873" y="222765"/>
                  </a:lnTo>
                  <a:lnTo>
                    <a:pt x="189710" y="189710"/>
                  </a:lnTo>
                  <a:lnTo>
                    <a:pt x="222765" y="158872"/>
                  </a:lnTo>
                  <a:lnTo>
                    <a:pt x="257912" y="130377"/>
                  </a:lnTo>
                  <a:lnTo>
                    <a:pt x="295026" y="104350"/>
                  </a:lnTo>
                  <a:lnTo>
                    <a:pt x="333981" y="80916"/>
                  </a:lnTo>
                  <a:lnTo>
                    <a:pt x="374653" y="60200"/>
                  </a:lnTo>
                  <a:lnTo>
                    <a:pt x="416916" y="42327"/>
                  </a:lnTo>
                  <a:lnTo>
                    <a:pt x="460644" y="27423"/>
                  </a:lnTo>
                  <a:lnTo>
                    <a:pt x="505714" y="15613"/>
                  </a:lnTo>
                  <a:lnTo>
                    <a:pt x="551998" y="7022"/>
                  </a:lnTo>
                  <a:lnTo>
                    <a:pt x="599373" y="1776"/>
                  </a:lnTo>
                  <a:lnTo>
                    <a:pt x="647712" y="0"/>
                  </a:lnTo>
                  <a:lnTo>
                    <a:pt x="8394684" y="0"/>
                  </a:lnTo>
                  <a:lnTo>
                    <a:pt x="8443024" y="1776"/>
                  </a:lnTo>
                  <a:lnTo>
                    <a:pt x="8490399" y="7022"/>
                  </a:lnTo>
                  <a:lnTo>
                    <a:pt x="8536683" y="15613"/>
                  </a:lnTo>
                  <a:lnTo>
                    <a:pt x="8581752" y="27423"/>
                  </a:lnTo>
                  <a:lnTo>
                    <a:pt x="8625481" y="42327"/>
                  </a:lnTo>
                  <a:lnTo>
                    <a:pt x="8667744" y="60200"/>
                  </a:lnTo>
                  <a:lnTo>
                    <a:pt x="8708415" y="80916"/>
                  </a:lnTo>
                  <a:lnTo>
                    <a:pt x="8747371" y="104350"/>
                  </a:lnTo>
                  <a:lnTo>
                    <a:pt x="8784484" y="130377"/>
                  </a:lnTo>
                  <a:lnTo>
                    <a:pt x="8819631" y="158872"/>
                  </a:lnTo>
                  <a:lnTo>
                    <a:pt x="8852686" y="189710"/>
                  </a:lnTo>
                  <a:lnTo>
                    <a:pt x="8883524" y="222765"/>
                  </a:lnTo>
                  <a:lnTo>
                    <a:pt x="8912019" y="257912"/>
                  </a:lnTo>
                  <a:lnTo>
                    <a:pt x="8938047" y="295026"/>
                  </a:lnTo>
                  <a:lnTo>
                    <a:pt x="8961481" y="333981"/>
                  </a:lnTo>
                  <a:lnTo>
                    <a:pt x="8982197" y="374653"/>
                  </a:lnTo>
                  <a:lnTo>
                    <a:pt x="9000070" y="416916"/>
                  </a:lnTo>
                  <a:lnTo>
                    <a:pt x="9014974" y="460644"/>
                  </a:lnTo>
                  <a:lnTo>
                    <a:pt x="9026784" y="505713"/>
                  </a:lnTo>
                  <a:lnTo>
                    <a:pt x="9035374" y="551998"/>
                  </a:lnTo>
                  <a:lnTo>
                    <a:pt x="9040621" y="599373"/>
                  </a:lnTo>
                  <a:lnTo>
                    <a:pt x="9042397" y="647712"/>
                  </a:lnTo>
                  <a:lnTo>
                    <a:pt x="9042397" y="3238485"/>
                  </a:lnTo>
                  <a:lnTo>
                    <a:pt x="9040621" y="3286825"/>
                  </a:lnTo>
                  <a:lnTo>
                    <a:pt x="9035374" y="3334200"/>
                  </a:lnTo>
                  <a:lnTo>
                    <a:pt x="9026784" y="3380484"/>
                  </a:lnTo>
                  <a:lnTo>
                    <a:pt x="9014974" y="3425553"/>
                  </a:lnTo>
                  <a:lnTo>
                    <a:pt x="9000070" y="3469282"/>
                  </a:lnTo>
                  <a:lnTo>
                    <a:pt x="8982197" y="3511545"/>
                  </a:lnTo>
                  <a:lnTo>
                    <a:pt x="8961481" y="3552216"/>
                  </a:lnTo>
                  <a:lnTo>
                    <a:pt x="8938047" y="3591172"/>
                  </a:lnTo>
                  <a:lnTo>
                    <a:pt x="8912019" y="3628286"/>
                  </a:lnTo>
                  <a:lnTo>
                    <a:pt x="8883524" y="3663433"/>
                  </a:lnTo>
                  <a:lnTo>
                    <a:pt x="8852686" y="3696487"/>
                  </a:lnTo>
                  <a:lnTo>
                    <a:pt x="8819631" y="3727325"/>
                  </a:lnTo>
                  <a:lnTo>
                    <a:pt x="8784484" y="3755820"/>
                  </a:lnTo>
                  <a:lnTo>
                    <a:pt x="8747371" y="3781848"/>
                  </a:lnTo>
                  <a:lnTo>
                    <a:pt x="8708415" y="3805282"/>
                  </a:lnTo>
                  <a:lnTo>
                    <a:pt x="8667744" y="3825998"/>
                  </a:lnTo>
                  <a:lnTo>
                    <a:pt x="8625481" y="3843871"/>
                  </a:lnTo>
                  <a:lnTo>
                    <a:pt x="8581752" y="3858775"/>
                  </a:lnTo>
                  <a:lnTo>
                    <a:pt x="8536683" y="3870585"/>
                  </a:lnTo>
                  <a:lnTo>
                    <a:pt x="8490399" y="3879175"/>
                  </a:lnTo>
                  <a:lnTo>
                    <a:pt x="8443024" y="3884422"/>
                  </a:lnTo>
                  <a:lnTo>
                    <a:pt x="8394684" y="3886198"/>
                  </a:lnTo>
                  <a:lnTo>
                    <a:pt x="647712" y="3886198"/>
                  </a:lnTo>
                  <a:lnTo>
                    <a:pt x="599373" y="3884422"/>
                  </a:lnTo>
                  <a:lnTo>
                    <a:pt x="551998" y="3879175"/>
                  </a:lnTo>
                  <a:lnTo>
                    <a:pt x="505714" y="3870585"/>
                  </a:lnTo>
                  <a:lnTo>
                    <a:pt x="460644" y="3858775"/>
                  </a:lnTo>
                  <a:lnTo>
                    <a:pt x="416916" y="3843871"/>
                  </a:lnTo>
                  <a:lnTo>
                    <a:pt x="374653" y="3825998"/>
                  </a:lnTo>
                  <a:lnTo>
                    <a:pt x="333981" y="3805282"/>
                  </a:lnTo>
                  <a:lnTo>
                    <a:pt x="295026" y="3781848"/>
                  </a:lnTo>
                  <a:lnTo>
                    <a:pt x="257912" y="3755820"/>
                  </a:lnTo>
                  <a:lnTo>
                    <a:pt x="222765" y="3727325"/>
                  </a:lnTo>
                  <a:lnTo>
                    <a:pt x="189710" y="3696487"/>
                  </a:lnTo>
                  <a:lnTo>
                    <a:pt x="158873" y="3663433"/>
                  </a:lnTo>
                  <a:lnTo>
                    <a:pt x="130377" y="3628286"/>
                  </a:lnTo>
                  <a:lnTo>
                    <a:pt x="104350" y="3591172"/>
                  </a:lnTo>
                  <a:lnTo>
                    <a:pt x="80916" y="3552216"/>
                  </a:lnTo>
                  <a:lnTo>
                    <a:pt x="60200" y="3511545"/>
                  </a:lnTo>
                  <a:lnTo>
                    <a:pt x="42327" y="3469282"/>
                  </a:lnTo>
                  <a:lnTo>
                    <a:pt x="27423" y="3425553"/>
                  </a:lnTo>
                  <a:lnTo>
                    <a:pt x="15613" y="3380484"/>
                  </a:lnTo>
                  <a:lnTo>
                    <a:pt x="7022" y="3334200"/>
                  </a:lnTo>
                  <a:lnTo>
                    <a:pt x="1776" y="3286825"/>
                  </a:lnTo>
                  <a:lnTo>
                    <a:pt x="0" y="3238485"/>
                  </a:lnTo>
                  <a:lnTo>
                    <a:pt x="0" y="647712"/>
                  </a:lnTo>
                  <a:close/>
                </a:path>
              </a:pathLst>
            </a:custGeom>
            <a:ln w="19049">
              <a:solidFill>
                <a:srgbClr val="000000"/>
              </a:solidFill>
            </a:ln>
          </p:spPr>
          <p:txBody>
            <a:bodyPr wrap="square" lIns="0" tIns="0" rIns="0" bIns="0" rtlCol="0"/>
            <a:lstStyle/>
            <a:p>
              <a:endParaRPr/>
            </a:p>
          </p:txBody>
        </p:sp>
        <p:sp>
          <p:nvSpPr>
            <p:cNvPr id="77" name="object 4"/>
            <p:cNvSpPr/>
            <p:nvPr/>
          </p:nvSpPr>
          <p:spPr>
            <a:xfrm>
              <a:off x="1422400" y="3630960"/>
              <a:ext cx="4368800" cy="1905000"/>
            </a:xfrm>
            <a:custGeom>
              <a:avLst/>
              <a:gdLst/>
              <a:ahLst/>
              <a:cxnLst/>
              <a:rect l="l" t="t" r="r" b="b"/>
              <a:pathLst>
                <a:path w="4368800" h="1905000">
                  <a:moveTo>
                    <a:pt x="4051293" y="0"/>
                  </a:moveTo>
                  <a:lnTo>
                    <a:pt x="317506" y="0"/>
                  </a:lnTo>
                  <a:lnTo>
                    <a:pt x="270587" y="3442"/>
                  </a:lnTo>
                  <a:lnTo>
                    <a:pt x="225806" y="13442"/>
                  </a:lnTo>
                  <a:lnTo>
                    <a:pt x="183653" y="29509"/>
                  </a:lnTo>
                  <a:lnTo>
                    <a:pt x="144620" y="51152"/>
                  </a:lnTo>
                  <a:lnTo>
                    <a:pt x="109198" y="77878"/>
                  </a:lnTo>
                  <a:lnTo>
                    <a:pt x="77878" y="109198"/>
                  </a:lnTo>
                  <a:lnTo>
                    <a:pt x="51152" y="144620"/>
                  </a:lnTo>
                  <a:lnTo>
                    <a:pt x="29509" y="183653"/>
                  </a:lnTo>
                  <a:lnTo>
                    <a:pt x="13442" y="225806"/>
                  </a:lnTo>
                  <a:lnTo>
                    <a:pt x="3442" y="270587"/>
                  </a:lnTo>
                  <a:lnTo>
                    <a:pt x="0" y="317506"/>
                  </a:lnTo>
                  <a:lnTo>
                    <a:pt x="0" y="1587493"/>
                  </a:lnTo>
                  <a:lnTo>
                    <a:pt x="3442" y="1634412"/>
                  </a:lnTo>
                  <a:lnTo>
                    <a:pt x="13442" y="1679193"/>
                  </a:lnTo>
                  <a:lnTo>
                    <a:pt x="29509" y="1721346"/>
                  </a:lnTo>
                  <a:lnTo>
                    <a:pt x="51152" y="1760379"/>
                  </a:lnTo>
                  <a:lnTo>
                    <a:pt x="77878" y="1795801"/>
                  </a:lnTo>
                  <a:lnTo>
                    <a:pt x="109198" y="1827121"/>
                  </a:lnTo>
                  <a:lnTo>
                    <a:pt x="144620" y="1853847"/>
                  </a:lnTo>
                  <a:lnTo>
                    <a:pt x="183653" y="1875490"/>
                  </a:lnTo>
                  <a:lnTo>
                    <a:pt x="225806" y="1891557"/>
                  </a:lnTo>
                  <a:lnTo>
                    <a:pt x="270587" y="1901557"/>
                  </a:lnTo>
                  <a:lnTo>
                    <a:pt x="317506" y="1905000"/>
                  </a:lnTo>
                  <a:lnTo>
                    <a:pt x="4051293" y="1905000"/>
                  </a:lnTo>
                  <a:lnTo>
                    <a:pt x="4098212" y="1901557"/>
                  </a:lnTo>
                  <a:lnTo>
                    <a:pt x="4142993" y="1891557"/>
                  </a:lnTo>
                  <a:lnTo>
                    <a:pt x="4185145" y="1875490"/>
                  </a:lnTo>
                  <a:lnTo>
                    <a:pt x="4224178" y="1853847"/>
                  </a:lnTo>
                  <a:lnTo>
                    <a:pt x="4259600" y="1827121"/>
                  </a:lnTo>
                  <a:lnTo>
                    <a:pt x="4290919" y="1795801"/>
                  </a:lnTo>
                  <a:lnTo>
                    <a:pt x="4317646" y="1760379"/>
                  </a:lnTo>
                  <a:lnTo>
                    <a:pt x="4339288" y="1721346"/>
                  </a:lnTo>
                  <a:lnTo>
                    <a:pt x="4355355" y="1679193"/>
                  </a:lnTo>
                  <a:lnTo>
                    <a:pt x="4365356" y="1634412"/>
                  </a:lnTo>
                  <a:lnTo>
                    <a:pt x="4368798" y="1587493"/>
                  </a:lnTo>
                  <a:lnTo>
                    <a:pt x="4368798" y="317506"/>
                  </a:lnTo>
                  <a:lnTo>
                    <a:pt x="4365356" y="270587"/>
                  </a:lnTo>
                  <a:lnTo>
                    <a:pt x="4355355" y="225806"/>
                  </a:lnTo>
                  <a:lnTo>
                    <a:pt x="4339288" y="183653"/>
                  </a:lnTo>
                  <a:lnTo>
                    <a:pt x="4317646" y="144620"/>
                  </a:lnTo>
                  <a:lnTo>
                    <a:pt x="4290919" y="109198"/>
                  </a:lnTo>
                  <a:lnTo>
                    <a:pt x="4259600" y="77878"/>
                  </a:lnTo>
                  <a:lnTo>
                    <a:pt x="4224178" y="51152"/>
                  </a:lnTo>
                  <a:lnTo>
                    <a:pt x="4185145" y="29509"/>
                  </a:lnTo>
                  <a:lnTo>
                    <a:pt x="4142993" y="13442"/>
                  </a:lnTo>
                  <a:lnTo>
                    <a:pt x="4098212" y="3442"/>
                  </a:lnTo>
                  <a:lnTo>
                    <a:pt x="4051293" y="0"/>
                  </a:lnTo>
                  <a:close/>
                </a:path>
              </a:pathLst>
            </a:custGeom>
            <a:solidFill>
              <a:srgbClr val="EBFEE3"/>
            </a:solidFill>
          </p:spPr>
          <p:txBody>
            <a:bodyPr wrap="square" lIns="0" tIns="0" rIns="0" bIns="0" rtlCol="0"/>
            <a:lstStyle/>
            <a:p>
              <a:endParaRPr/>
            </a:p>
          </p:txBody>
        </p:sp>
        <p:sp>
          <p:nvSpPr>
            <p:cNvPr id="78" name="object 5"/>
            <p:cNvSpPr/>
            <p:nvPr/>
          </p:nvSpPr>
          <p:spPr>
            <a:xfrm>
              <a:off x="1422400" y="3630960"/>
              <a:ext cx="4368800" cy="1905000"/>
            </a:xfrm>
            <a:custGeom>
              <a:avLst/>
              <a:gdLst/>
              <a:ahLst/>
              <a:cxnLst/>
              <a:rect l="l" t="t" r="r" b="b"/>
              <a:pathLst>
                <a:path w="4368800" h="1905000">
                  <a:moveTo>
                    <a:pt x="0" y="317506"/>
                  </a:moveTo>
                  <a:lnTo>
                    <a:pt x="3442" y="270587"/>
                  </a:lnTo>
                  <a:lnTo>
                    <a:pt x="13442" y="225806"/>
                  </a:lnTo>
                  <a:lnTo>
                    <a:pt x="29509" y="183653"/>
                  </a:lnTo>
                  <a:lnTo>
                    <a:pt x="51152" y="144620"/>
                  </a:lnTo>
                  <a:lnTo>
                    <a:pt x="77878" y="109198"/>
                  </a:lnTo>
                  <a:lnTo>
                    <a:pt x="109198" y="77878"/>
                  </a:lnTo>
                  <a:lnTo>
                    <a:pt x="144620" y="51152"/>
                  </a:lnTo>
                  <a:lnTo>
                    <a:pt x="183653" y="29509"/>
                  </a:lnTo>
                  <a:lnTo>
                    <a:pt x="225806" y="13442"/>
                  </a:lnTo>
                  <a:lnTo>
                    <a:pt x="270587" y="3442"/>
                  </a:lnTo>
                  <a:lnTo>
                    <a:pt x="317505" y="0"/>
                  </a:lnTo>
                  <a:lnTo>
                    <a:pt x="4051292" y="0"/>
                  </a:lnTo>
                  <a:lnTo>
                    <a:pt x="4098211" y="3442"/>
                  </a:lnTo>
                  <a:lnTo>
                    <a:pt x="4142992" y="13442"/>
                  </a:lnTo>
                  <a:lnTo>
                    <a:pt x="4185145" y="29509"/>
                  </a:lnTo>
                  <a:lnTo>
                    <a:pt x="4224178" y="51152"/>
                  </a:lnTo>
                  <a:lnTo>
                    <a:pt x="4259600" y="77878"/>
                  </a:lnTo>
                  <a:lnTo>
                    <a:pt x="4290920" y="109198"/>
                  </a:lnTo>
                  <a:lnTo>
                    <a:pt x="4317646" y="144620"/>
                  </a:lnTo>
                  <a:lnTo>
                    <a:pt x="4339289" y="183653"/>
                  </a:lnTo>
                  <a:lnTo>
                    <a:pt x="4355355" y="225806"/>
                  </a:lnTo>
                  <a:lnTo>
                    <a:pt x="4365356" y="270587"/>
                  </a:lnTo>
                  <a:lnTo>
                    <a:pt x="4368798" y="317506"/>
                  </a:lnTo>
                  <a:lnTo>
                    <a:pt x="4368798" y="1587493"/>
                  </a:lnTo>
                  <a:lnTo>
                    <a:pt x="4365356" y="1634412"/>
                  </a:lnTo>
                  <a:lnTo>
                    <a:pt x="4355355" y="1679193"/>
                  </a:lnTo>
                  <a:lnTo>
                    <a:pt x="4339289" y="1721346"/>
                  </a:lnTo>
                  <a:lnTo>
                    <a:pt x="4317646" y="1760378"/>
                  </a:lnTo>
                  <a:lnTo>
                    <a:pt x="4290920" y="1795800"/>
                  </a:lnTo>
                  <a:lnTo>
                    <a:pt x="4259600" y="1827120"/>
                  </a:lnTo>
                  <a:lnTo>
                    <a:pt x="4224178" y="1853847"/>
                  </a:lnTo>
                  <a:lnTo>
                    <a:pt x="4185145" y="1875489"/>
                  </a:lnTo>
                  <a:lnTo>
                    <a:pt x="4142992" y="1891556"/>
                  </a:lnTo>
                  <a:lnTo>
                    <a:pt x="4098211" y="1901556"/>
                  </a:lnTo>
                  <a:lnTo>
                    <a:pt x="4051292" y="1904999"/>
                  </a:lnTo>
                  <a:lnTo>
                    <a:pt x="317505" y="1904999"/>
                  </a:lnTo>
                  <a:lnTo>
                    <a:pt x="270587" y="1901556"/>
                  </a:lnTo>
                  <a:lnTo>
                    <a:pt x="225806" y="1891556"/>
                  </a:lnTo>
                  <a:lnTo>
                    <a:pt x="183653" y="1875489"/>
                  </a:lnTo>
                  <a:lnTo>
                    <a:pt x="144620" y="1853847"/>
                  </a:lnTo>
                  <a:lnTo>
                    <a:pt x="109198" y="1827120"/>
                  </a:lnTo>
                  <a:lnTo>
                    <a:pt x="77878" y="1795800"/>
                  </a:lnTo>
                  <a:lnTo>
                    <a:pt x="51152" y="1760378"/>
                  </a:lnTo>
                  <a:lnTo>
                    <a:pt x="29509" y="1721346"/>
                  </a:lnTo>
                  <a:lnTo>
                    <a:pt x="13442" y="1679193"/>
                  </a:lnTo>
                  <a:lnTo>
                    <a:pt x="3442" y="1634412"/>
                  </a:lnTo>
                  <a:lnTo>
                    <a:pt x="0" y="1587493"/>
                  </a:lnTo>
                  <a:lnTo>
                    <a:pt x="0" y="317506"/>
                  </a:lnTo>
                  <a:close/>
                </a:path>
              </a:pathLst>
            </a:custGeom>
            <a:ln w="19049">
              <a:solidFill>
                <a:srgbClr val="000000"/>
              </a:solidFill>
            </a:ln>
          </p:spPr>
          <p:txBody>
            <a:bodyPr wrap="square" lIns="0" tIns="0" rIns="0" bIns="0" rtlCol="0"/>
            <a:lstStyle/>
            <a:p>
              <a:endParaRPr/>
            </a:p>
          </p:txBody>
        </p:sp>
        <p:sp>
          <p:nvSpPr>
            <p:cNvPr id="79" name="object 6"/>
            <p:cNvSpPr txBox="1"/>
            <p:nvPr/>
          </p:nvSpPr>
          <p:spPr>
            <a:xfrm>
              <a:off x="3263812" y="3596953"/>
              <a:ext cx="6864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single</a:t>
              </a:r>
              <a:endParaRPr sz="1800" dirty="0">
                <a:latin typeface="Arial" panose="020B0604020202020204"/>
                <a:cs typeface="Arial" panose="020B0604020202020204"/>
              </a:endParaRPr>
            </a:p>
          </p:txBody>
        </p:sp>
        <p:sp>
          <p:nvSpPr>
            <p:cNvPr id="80" name="object 7"/>
            <p:cNvSpPr/>
            <p:nvPr/>
          </p:nvSpPr>
          <p:spPr>
            <a:xfrm>
              <a:off x="6299198" y="3630960"/>
              <a:ext cx="3149600" cy="1828800"/>
            </a:xfrm>
            <a:custGeom>
              <a:avLst/>
              <a:gdLst/>
              <a:ahLst/>
              <a:cxnLst/>
              <a:rect l="l" t="t" r="r" b="b"/>
              <a:pathLst>
                <a:path w="3149600" h="1828800">
                  <a:moveTo>
                    <a:pt x="2844794" y="0"/>
                  </a:moveTo>
                  <a:lnTo>
                    <a:pt x="304806" y="0"/>
                  </a:lnTo>
                  <a:lnTo>
                    <a:pt x="255365" y="3989"/>
                  </a:lnTo>
                  <a:lnTo>
                    <a:pt x="208464" y="15539"/>
                  </a:lnTo>
                  <a:lnTo>
                    <a:pt x="164730" y="34021"/>
                  </a:lnTo>
                  <a:lnTo>
                    <a:pt x="124791" y="58809"/>
                  </a:lnTo>
                  <a:lnTo>
                    <a:pt x="89275" y="89275"/>
                  </a:lnTo>
                  <a:lnTo>
                    <a:pt x="58809" y="124791"/>
                  </a:lnTo>
                  <a:lnTo>
                    <a:pt x="34021" y="164730"/>
                  </a:lnTo>
                  <a:lnTo>
                    <a:pt x="15539" y="208464"/>
                  </a:lnTo>
                  <a:lnTo>
                    <a:pt x="3989" y="255365"/>
                  </a:lnTo>
                  <a:lnTo>
                    <a:pt x="0" y="304806"/>
                  </a:lnTo>
                  <a:lnTo>
                    <a:pt x="0" y="1523993"/>
                  </a:lnTo>
                  <a:lnTo>
                    <a:pt x="3989" y="1573434"/>
                  </a:lnTo>
                  <a:lnTo>
                    <a:pt x="15539" y="1620335"/>
                  </a:lnTo>
                  <a:lnTo>
                    <a:pt x="34021" y="1664069"/>
                  </a:lnTo>
                  <a:lnTo>
                    <a:pt x="58809" y="1704008"/>
                  </a:lnTo>
                  <a:lnTo>
                    <a:pt x="89275" y="1739524"/>
                  </a:lnTo>
                  <a:lnTo>
                    <a:pt x="124791" y="1769990"/>
                  </a:lnTo>
                  <a:lnTo>
                    <a:pt x="164730" y="1794778"/>
                  </a:lnTo>
                  <a:lnTo>
                    <a:pt x="208464" y="1813260"/>
                  </a:lnTo>
                  <a:lnTo>
                    <a:pt x="255365" y="1824810"/>
                  </a:lnTo>
                  <a:lnTo>
                    <a:pt x="304806" y="1828800"/>
                  </a:lnTo>
                  <a:lnTo>
                    <a:pt x="2844794" y="1828800"/>
                  </a:lnTo>
                  <a:lnTo>
                    <a:pt x="2894235" y="1824810"/>
                  </a:lnTo>
                  <a:lnTo>
                    <a:pt x="2941136" y="1813260"/>
                  </a:lnTo>
                  <a:lnTo>
                    <a:pt x="2984870" y="1794778"/>
                  </a:lnTo>
                  <a:lnTo>
                    <a:pt x="3024808" y="1769990"/>
                  </a:lnTo>
                  <a:lnTo>
                    <a:pt x="3060324" y="1739524"/>
                  </a:lnTo>
                  <a:lnTo>
                    <a:pt x="3090790" y="1704008"/>
                  </a:lnTo>
                  <a:lnTo>
                    <a:pt x="3115578" y="1664069"/>
                  </a:lnTo>
                  <a:lnTo>
                    <a:pt x="3134060" y="1620335"/>
                  </a:lnTo>
                  <a:lnTo>
                    <a:pt x="3145610" y="1573434"/>
                  </a:lnTo>
                  <a:lnTo>
                    <a:pt x="3149600" y="1523993"/>
                  </a:lnTo>
                  <a:lnTo>
                    <a:pt x="3149600" y="304806"/>
                  </a:lnTo>
                  <a:lnTo>
                    <a:pt x="3145610" y="255365"/>
                  </a:lnTo>
                  <a:lnTo>
                    <a:pt x="3134060" y="208464"/>
                  </a:lnTo>
                  <a:lnTo>
                    <a:pt x="3115578" y="164730"/>
                  </a:lnTo>
                  <a:lnTo>
                    <a:pt x="3090790" y="124791"/>
                  </a:lnTo>
                  <a:lnTo>
                    <a:pt x="3060324" y="89275"/>
                  </a:lnTo>
                  <a:lnTo>
                    <a:pt x="3024808" y="58809"/>
                  </a:lnTo>
                  <a:lnTo>
                    <a:pt x="2984870" y="34021"/>
                  </a:lnTo>
                  <a:lnTo>
                    <a:pt x="2941136" y="15539"/>
                  </a:lnTo>
                  <a:lnTo>
                    <a:pt x="2894235" y="3989"/>
                  </a:lnTo>
                  <a:lnTo>
                    <a:pt x="2844794" y="0"/>
                  </a:lnTo>
                  <a:close/>
                </a:path>
              </a:pathLst>
            </a:custGeom>
            <a:solidFill>
              <a:srgbClr val="EBFEE3"/>
            </a:solidFill>
          </p:spPr>
          <p:txBody>
            <a:bodyPr wrap="square" lIns="0" tIns="0" rIns="0" bIns="0" rtlCol="0"/>
            <a:lstStyle/>
            <a:p>
              <a:endParaRPr/>
            </a:p>
          </p:txBody>
        </p:sp>
        <p:sp>
          <p:nvSpPr>
            <p:cNvPr id="81" name="object 8"/>
            <p:cNvSpPr/>
            <p:nvPr/>
          </p:nvSpPr>
          <p:spPr>
            <a:xfrm>
              <a:off x="6299198" y="3630960"/>
              <a:ext cx="3149600" cy="1828800"/>
            </a:xfrm>
            <a:custGeom>
              <a:avLst/>
              <a:gdLst/>
              <a:ahLst/>
              <a:cxnLst/>
              <a:rect l="l" t="t" r="r" b="b"/>
              <a:pathLst>
                <a:path w="3149600" h="1828800">
                  <a:moveTo>
                    <a:pt x="0" y="304806"/>
                  </a:moveTo>
                  <a:lnTo>
                    <a:pt x="3989" y="255364"/>
                  </a:lnTo>
                  <a:lnTo>
                    <a:pt x="15539" y="208463"/>
                  </a:lnTo>
                  <a:lnTo>
                    <a:pt x="34021" y="164730"/>
                  </a:lnTo>
                  <a:lnTo>
                    <a:pt x="58809" y="124791"/>
                  </a:lnTo>
                  <a:lnTo>
                    <a:pt x="89275" y="89275"/>
                  </a:lnTo>
                  <a:lnTo>
                    <a:pt x="124791" y="58809"/>
                  </a:lnTo>
                  <a:lnTo>
                    <a:pt x="164730" y="34021"/>
                  </a:lnTo>
                  <a:lnTo>
                    <a:pt x="208463" y="15539"/>
                  </a:lnTo>
                  <a:lnTo>
                    <a:pt x="255364" y="3989"/>
                  </a:lnTo>
                  <a:lnTo>
                    <a:pt x="304806" y="0"/>
                  </a:lnTo>
                  <a:lnTo>
                    <a:pt x="2844793" y="0"/>
                  </a:lnTo>
                  <a:lnTo>
                    <a:pt x="2894234" y="3989"/>
                  </a:lnTo>
                  <a:lnTo>
                    <a:pt x="2941135" y="15539"/>
                  </a:lnTo>
                  <a:lnTo>
                    <a:pt x="2984869" y="34021"/>
                  </a:lnTo>
                  <a:lnTo>
                    <a:pt x="3024807" y="58809"/>
                  </a:lnTo>
                  <a:lnTo>
                    <a:pt x="3060323" y="89275"/>
                  </a:lnTo>
                  <a:lnTo>
                    <a:pt x="3090789" y="124791"/>
                  </a:lnTo>
                  <a:lnTo>
                    <a:pt x="3115577" y="164730"/>
                  </a:lnTo>
                  <a:lnTo>
                    <a:pt x="3134060" y="208463"/>
                  </a:lnTo>
                  <a:lnTo>
                    <a:pt x="3145610" y="255364"/>
                  </a:lnTo>
                  <a:lnTo>
                    <a:pt x="3149599" y="304806"/>
                  </a:lnTo>
                  <a:lnTo>
                    <a:pt x="3149599" y="1523993"/>
                  </a:lnTo>
                  <a:lnTo>
                    <a:pt x="3145610" y="1573434"/>
                  </a:lnTo>
                  <a:lnTo>
                    <a:pt x="3134060" y="1620335"/>
                  </a:lnTo>
                  <a:lnTo>
                    <a:pt x="3115577" y="1664069"/>
                  </a:lnTo>
                  <a:lnTo>
                    <a:pt x="3090789" y="1704008"/>
                  </a:lnTo>
                  <a:lnTo>
                    <a:pt x="3060323" y="1739523"/>
                  </a:lnTo>
                  <a:lnTo>
                    <a:pt x="3024807" y="1769989"/>
                  </a:lnTo>
                  <a:lnTo>
                    <a:pt x="2984869" y="1794777"/>
                  </a:lnTo>
                  <a:lnTo>
                    <a:pt x="2941135" y="1813260"/>
                  </a:lnTo>
                  <a:lnTo>
                    <a:pt x="2894234" y="1824810"/>
                  </a:lnTo>
                  <a:lnTo>
                    <a:pt x="2844793" y="1828799"/>
                  </a:lnTo>
                  <a:lnTo>
                    <a:pt x="304806" y="1828799"/>
                  </a:lnTo>
                  <a:lnTo>
                    <a:pt x="255364" y="1824810"/>
                  </a:lnTo>
                  <a:lnTo>
                    <a:pt x="208463" y="1813260"/>
                  </a:lnTo>
                  <a:lnTo>
                    <a:pt x="164730" y="1794777"/>
                  </a:lnTo>
                  <a:lnTo>
                    <a:pt x="124791" y="1769989"/>
                  </a:lnTo>
                  <a:lnTo>
                    <a:pt x="89275" y="1739523"/>
                  </a:lnTo>
                  <a:lnTo>
                    <a:pt x="58809" y="1704008"/>
                  </a:lnTo>
                  <a:lnTo>
                    <a:pt x="34021" y="1664069"/>
                  </a:lnTo>
                  <a:lnTo>
                    <a:pt x="15539" y="1620335"/>
                  </a:lnTo>
                  <a:lnTo>
                    <a:pt x="3989" y="1573434"/>
                  </a:lnTo>
                  <a:lnTo>
                    <a:pt x="0" y="1523993"/>
                  </a:lnTo>
                  <a:lnTo>
                    <a:pt x="0" y="304806"/>
                  </a:lnTo>
                  <a:close/>
                </a:path>
              </a:pathLst>
            </a:custGeom>
            <a:ln w="19049">
              <a:solidFill>
                <a:srgbClr val="000000"/>
              </a:solidFill>
            </a:ln>
          </p:spPr>
          <p:txBody>
            <a:bodyPr wrap="square" lIns="0" tIns="0" rIns="0" bIns="0" rtlCol="0"/>
            <a:lstStyle/>
            <a:p>
              <a:endParaRPr/>
            </a:p>
          </p:txBody>
        </p:sp>
        <p:sp>
          <p:nvSpPr>
            <p:cNvPr id="82" name="object 9"/>
            <p:cNvSpPr txBox="1"/>
            <p:nvPr/>
          </p:nvSpPr>
          <p:spPr>
            <a:xfrm>
              <a:off x="7423130" y="3593234"/>
              <a:ext cx="9023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coupled</a:t>
              </a:r>
              <a:endParaRPr sz="1800">
                <a:latin typeface="Arial" panose="020B0604020202020204"/>
                <a:cs typeface="Arial" panose="020B0604020202020204"/>
              </a:endParaRPr>
            </a:p>
          </p:txBody>
        </p:sp>
        <p:sp>
          <p:nvSpPr>
            <p:cNvPr id="83" name="object 10"/>
            <p:cNvSpPr/>
            <p:nvPr/>
          </p:nvSpPr>
          <p:spPr>
            <a:xfrm>
              <a:off x="3348037" y="1416398"/>
              <a:ext cx="212724" cy="161924"/>
            </a:xfrm>
            <a:prstGeom prst="rect">
              <a:avLst/>
            </a:prstGeom>
            <a:blipFill>
              <a:blip r:embed="rId3" cstate="print"/>
              <a:stretch>
                <a:fillRect/>
              </a:stretch>
            </a:blipFill>
          </p:spPr>
          <p:txBody>
            <a:bodyPr wrap="square" lIns="0" tIns="0" rIns="0" bIns="0" rtlCol="0"/>
            <a:lstStyle/>
            <a:p>
              <a:endParaRPr/>
            </a:p>
          </p:txBody>
        </p:sp>
        <p:sp>
          <p:nvSpPr>
            <p:cNvPr id="84" name="object 11"/>
            <p:cNvSpPr/>
            <p:nvPr/>
          </p:nvSpPr>
          <p:spPr>
            <a:xfrm>
              <a:off x="3556000" y="1497360"/>
              <a:ext cx="787400" cy="0"/>
            </a:xfrm>
            <a:custGeom>
              <a:avLst/>
              <a:gdLst/>
              <a:ahLst/>
              <a:cxnLst/>
              <a:rect l="l" t="t" r="r" b="b"/>
              <a:pathLst>
                <a:path w="787400">
                  <a:moveTo>
                    <a:pt x="0" y="0"/>
                  </a:moveTo>
                  <a:lnTo>
                    <a:pt x="787399" y="0"/>
                  </a:lnTo>
                </a:path>
              </a:pathLst>
            </a:custGeom>
            <a:ln w="19049">
              <a:solidFill>
                <a:srgbClr val="000000"/>
              </a:solidFill>
            </a:ln>
          </p:spPr>
          <p:txBody>
            <a:bodyPr wrap="square" lIns="0" tIns="0" rIns="0" bIns="0" rtlCol="0"/>
            <a:lstStyle/>
            <a:p>
              <a:endParaRPr/>
            </a:p>
          </p:txBody>
        </p:sp>
        <p:sp>
          <p:nvSpPr>
            <p:cNvPr id="85" name="object 12"/>
            <p:cNvSpPr/>
            <p:nvPr/>
          </p:nvSpPr>
          <p:spPr>
            <a:xfrm>
              <a:off x="4292600" y="145926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86" name="object 13"/>
            <p:cNvSpPr/>
            <p:nvPr/>
          </p:nvSpPr>
          <p:spPr>
            <a:xfrm>
              <a:off x="5232398" y="1735485"/>
              <a:ext cx="0" cy="422275"/>
            </a:xfrm>
            <a:custGeom>
              <a:avLst/>
              <a:gdLst/>
              <a:ahLst/>
              <a:cxnLst/>
              <a:rect l="l" t="t" r="r" b="b"/>
              <a:pathLst>
                <a:path h="422275">
                  <a:moveTo>
                    <a:pt x="0" y="0"/>
                  </a:moveTo>
                  <a:lnTo>
                    <a:pt x="0" y="422274"/>
                  </a:lnTo>
                </a:path>
              </a:pathLst>
            </a:custGeom>
            <a:ln w="19049">
              <a:solidFill>
                <a:srgbClr val="000000"/>
              </a:solidFill>
            </a:ln>
          </p:spPr>
          <p:txBody>
            <a:bodyPr wrap="square" lIns="0" tIns="0" rIns="0" bIns="0" rtlCol="0"/>
            <a:lstStyle/>
            <a:p>
              <a:endParaRPr/>
            </a:p>
          </p:txBody>
        </p:sp>
        <p:sp>
          <p:nvSpPr>
            <p:cNvPr id="87" name="object 14"/>
            <p:cNvSpPr/>
            <p:nvPr/>
          </p:nvSpPr>
          <p:spPr>
            <a:xfrm>
              <a:off x="5194298" y="210696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88" name="object 15"/>
            <p:cNvSpPr/>
            <p:nvPr/>
          </p:nvSpPr>
          <p:spPr>
            <a:xfrm>
              <a:off x="5079998" y="2945160"/>
              <a:ext cx="1600200" cy="0"/>
            </a:xfrm>
            <a:custGeom>
              <a:avLst/>
              <a:gdLst/>
              <a:ahLst/>
              <a:cxnLst/>
              <a:rect l="l" t="t" r="r" b="b"/>
              <a:pathLst>
                <a:path w="1600200">
                  <a:moveTo>
                    <a:pt x="0" y="0"/>
                  </a:moveTo>
                  <a:lnTo>
                    <a:pt x="1600199" y="0"/>
                  </a:lnTo>
                </a:path>
              </a:pathLst>
            </a:custGeom>
            <a:ln w="19049">
              <a:solidFill>
                <a:srgbClr val="000000"/>
              </a:solidFill>
            </a:ln>
          </p:spPr>
          <p:txBody>
            <a:bodyPr wrap="square" lIns="0" tIns="0" rIns="0" bIns="0" rtlCol="0"/>
            <a:lstStyle/>
            <a:p>
              <a:endParaRPr/>
            </a:p>
          </p:txBody>
        </p:sp>
        <p:sp>
          <p:nvSpPr>
            <p:cNvPr id="89" name="object 16"/>
            <p:cNvSpPr/>
            <p:nvPr/>
          </p:nvSpPr>
          <p:spPr>
            <a:xfrm>
              <a:off x="6629398" y="290706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90" name="object 17"/>
            <p:cNvSpPr/>
            <p:nvPr/>
          </p:nvSpPr>
          <p:spPr>
            <a:xfrm>
              <a:off x="11526834" y="3816698"/>
              <a:ext cx="212724" cy="161925"/>
            </a:xfrm>
            <a:prstGeom prst="rect">
              <a:avLst/>
            </a:prstGeom>
            <a:blipFill>
              <a:blip r:embed="rId3" cstate="print"/>
              <a:stretch>
                <a:fillRect/>
              </a:stretch>
            </a:blipFill>
          </p:spPr>
          <p:txBody>
            <a:bodyPr wrap="square" lIns="0" tIns="0" rIns="0" bIns="0" rtlCol="0"/>
            <a:lstStyle/>
            <a:p>
              <a:endParaRPr/>
            </a:p>
          </p:txBody>
        </p:sp>
        <p:sp>
          <p:nvSpPr>
            <p:cNvPr id="91" name="object 18"/>
            <p:cNvSpPr/>
            <p:nvPr/>
          </p:nvSpPr>
          <p:spPr>
            <a:xfrm>
              <a:off x="11480799" y="3783360"/>
              <a:ext cx="304800" cy="228600"/>
            </a:xfrm>
            <a:custGeom>
              <a:avLst/>
              <a:gdLst/>
              <a:ahLst/>
              <a:cxnLst/>
              <a:rect l="l" t="t" r="r" b="b"/>
              <a:pathLst>
                <a:path w="304800" h="228600">
                  <a:moveTo>
                    <a:pt x="0" y="114299"/>
                  </a:moveTo>
                  <a:lnTo>
                    <a:pt x="29404" y="46795"/>
                  </a:lnTo>
                  <a:lnTo>
                    <a:pt x="62394" y="22053"/>
                  </a:lnTo>
                  <a:lnTo>
                    <a:pt x="104229" y="5827"/>
                  </a:lnTo>
                  <a:lnTo>
                    <a:pt x="152399" y="0"/>
                  </a:lnTo>
                  <a:lnTo>
                    <a:pt x="200570" y="5827"/>
                  </a:lnTo>
                  <a:lnTo>
                    <a:pt x="242405" y="22053"/>
                  </a:lnTo>
                  <a:lnTo>
                    <a:pt x="275395" y="46795"/>
                  </a:lnTo>
                  <a:lnTo>
                    <a:pt x="297030" y="78172"/>
                  </a:lnTo>
                  <a:lnTo>
                    <a:pt x="304799" y="114299"/>
                  </a:lnTo>
                  <a:lnTo>
                    <a:pt x="297030" y="150427"/>
                  </a:lnTo>
                  <a:lnTo>
                    <a:pt x="275395" y="181804"/>
                  </a:lnTo>
                  <a:lnTo>
                    <a:pt x="242405" y="206546"/>
                  </a:lnTo>
                  <a:lnTo>
                    <a:pt x="200570" y="222772"/>
                  </a:lnTo>
                  <a:lnTo>
                    <a:pt x="152399" y="228600"/>
                  </a:lnTo>
                  <a:lnTo>
                    <a:pt x="104229" y="222772"/>
                  </a:lnTo>
                  <a:lnTo>
                    <a:pt x="62394" y="206546"/>
                  </a:lnTo>
                  <a:lnTo>
                    <a:pt x="29404" y="181804"/>
                  </a:lnTo>
                  <a:lnTo>
                    <a:pt x="7769" y="150427"/>
                  </a:lnTo>
                  <a:lnTo>
                    <a:pt x="0" y="114299"/>
                  </a:lnTo>
                  <a:close/>
                </a:path>
              </a:pathLst>
            </a:custGeom>
            <a:ln w="19049">
              <a:solidFill>
                <a:srgbClr val="000000"/>
              </a:solidFill>
            </a:ln>
          </p:spPr>
          <p:txBody>
            <a:bodyPr wrap="square" lIns="0" tIns="0" rIns="0" bIns="0" rtlCol="0"/>
            <a:lstStyle/>
            <a:p>
              <a:endParaRPr/>
            </a:p>
          </p:txBody>
        </p:sp>
        <p:sp>
          <p:nvSpPr>
            <p:cNvPr id="92" name="object 19"/>
            <p:cNvSpPr/>
            <p:nvPr/>
          </p:nvSpPr>
          <p:spPr>
            <a:xfrm>
              <a:off x="6108700" y="1497360"/>
              <a:ext cx="4813300" cy="1270000"/>
            </a:xfrm>
            <a:custGeom>
              <a:avLst/>
              <a:gdLst/>
              <a:ahLst/>
              <a:cxnLst/>
              <a:rect l="l" t="t" r="r" b="b"/>
              <a:pathLst>
                <a:path w="4813300" h="1270000">
                  <a:moveTo>
                    <a:pt x="0" y="0"/>
                  </a:moveTo>
                  <a:lnTo>
                    <a:pt x="4813298" y="0"/>
                  </a:lnTo>
                  <a:lnTo>
                    <a:pt x="4813298" y="1269999"/>
                  </a:lnTo>
                </a:path>
              </a:pathLst>
            </a:custGeom>
            <a:ln w="19049">
              <a:solidFill>
                <a:srgbClr val="000000"/>
              </a:solidFill>
            </a:ln>
          </p:spPr>
          <p:txBody>
            <a:bodyPr wrap="square" lIns="0" tIns="0" rIns="0" bIns="0" rtlCol="0"/>
            <a:lstStyle/>
            <a:p>
              <a:endParaRPr/>
            </a:p>
          </p:txBody>
        </p:sp>
        <p:sp>
          <p:nvSpPr>
            <p:cNvPr id="93" name="object 20"/>
            <p:cNvSpPr/>
            <p:nvPr/>
          </p:nvSpPr>
          <p:spPr>
            <a:xfrm>
              <a:off x="10883900" y="271656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94" name="object 21"/>
            <p:cNvSpPr/>
            <p:nvPr/>
          </p:nvSpPr>
          <p:spPr>
            <a:xfrm>
              <a:off x="4368798" y="1268760"/>
              <a:ext cx="1727200" cy="457200"/>
            </a:xfrm>
            <a:custGeom>
              <a:avLst/>
              <a:gdLst/>
              <a:ahLst/>
              <a:cxnLst/>
              <a:rect l="l" t="t" r="r" b="b"/>
              <a:pathLst>
                <a:path w="1727200" h="457200">
                  <a:moveTo>
                    <a:pt x="0" y="76201"/>
                  </a:moveTo>
                  <a:lnTo>
                    <a:pt x="5988" y="46540"/>
                  </a:lnTo>
                  <a:lnTo>
                    <a:pt x="22319" y="22319"/>
                  </a:lnTo>
                  <a:lnTo>
                    <a:pt x="46540" y="5988"/>
                  </a:lnTo>
                  <a:lnTo>
                    <a:pt x="76201" y="0"/>
                  </a:lnTo>
                  <a:lnTo>
                    <a:pt x="1650997" y="0"/>
                  </a:lnTo>
                  <a:lnTo>
                    <a:pt x="1680658" y="5988"/>
                  </a:lnTo>
                  <a:lnTo>
                    <a:pt x="1704880" y="22319"/>
                  </a:lnTo>
                  <a:lnTo>
                    <a:pt x="1721211" y="46540"/>
                  </a:lnTo>
                  <a:lnTo>
                    <a:pt x="1727199" y="76201"/>
                  </a:lnTo>
                  <a:lnTo>
                    <a:pt x="1727199" y="380998"/>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8"/>
                  </a:lnTo>
                  <a:lnTo>
                    <a:pt x="0" y="76201"/>
                  </a:lnTo>
                  <a:close/>
                </a:path>
              </a:pathLst>
            </a:custGeom>
            <a:ln w="19049">
              <a:solidFill>
                <a:srgbClr val="000000"/>
              </a:solidFill>
            </a:ln>
          </p:spPr>
          <p:txBody>
            <a:bodyPr wrap="square" lIns="0" tIns="0" rIns="0" bIns="0" rtlCol="0"/>
            <a:lstStyle/>
            <a:p>
              <a:endParaRPr/>
            </a:p>
          </p:txBody>
        </p:sp>
        <p:sp>
          <p:nvSpPr>
            <p:cNvPr id="95" name="object 22"/>
            <p:cNvSpPr txBox="1"/>
            <p:nvPr/>
          </p:nvSpPr>
          <p:spPr>
            <a:xfrm>
              <a:off x="4940298" y="1347500"/>
              <a:ext cx="571500" cy="1163955"/>
            </a:xfrm>
            <a:prstGeom prst="rect">
              <a:avLst/>
            </a:prstGeom>
          </p:spPr>
          <p:txBody>
            <a:bodyPr vert="horz" wrap="square" lIns="0" tIns="12700" rIns="0" bIns="0" rtlCol="0">
              <a:spAutoFit/>
            </a:bodyPr>
            <a:lstStyle/>
            <a:p>
              <a:pPr marL="24765">
                <a:lnSpc>
                  <a:spcPct val="100000"/>
                </a:lnSpc>
                <a:spcBef>
                  <a:spcPts val="100"/>
                </a:spcBef>
              </a:pPr>
              <a:r>
                <a:rPr sz="1800" b="1" dirty="0">
                  <a:latin typeface="Arial" panose="020B0604020202020204"/>
                  <a:cs typeface="Arial" panose="020B0604020202020204"/>
                </a:rPr>
                <a:t>child</a:t>
              </a:r>
              <a:endParaRPr sz="1800">
                <a:latin typeface="Arial" panose="020B0604020202020204"/>
                <a:cs typeface="Arial" panose="020B0604020202020204"/>
              </a:endParaRPr>
            </a:p>
            <a:p>
              <a:pPr>
                <a:lnSpc>
                  <a:spcPct val="100000"/>
                </a:lnSpc>
              </a:pPr>
              <a:endParaRPr sz="1800">
                <a:latin typeface="Times New Roman" panose="02020603050405020304"/>
                <a:cs typeface="Times New Roman" panose="02020603050405020304"/>
              </a:endParaRPr>
            </a:p>
            <a:p>
              <a:pPr>
                <a:lnSpc>
                  <a:spcPct val="100000"/>
                </a:lnSpc>
                <a:spcBef>
                  <a:spcPts val="40"/>
                </a:spcBef>
              </a:pPr>
              <a:endParaRPr sz="2200">
                <a:latin typeface="Times New Roman" panose="02020603050405020304"/>
                <a:cs typeface="Times New Roman" panose="02020603050405020304"/>
              </a:endParaRPr>
            </a:p>
            <a:p>
              <a:pPr marL="12700">
                <a:lnSpc>
                  <a:spcPct val="100000"/>
                </a:lnSpc>
                <a:spcBef>
                  <a:spcPts val="5"/>
                </a:spcBef>
              </a:pPr>
              <a:r>
                <a:rPr sz="1800" b="1" dirty="0">
                  <a:latin typeface="Arial" panose="020B0604020202020204"/>
                  <a:cs typeface="Arial" panose="020B0604020202020204"/>
                </a:rPr>
                <a:t>adult</a:t>
              </a:r>
              <a:endParaRPr sz="1800">
                <a:latin typeface="Arial" panose="020B0604020202020204"/>
                <a:cs typeface="Arial" panose="020B0604020202020204"/>
              </a:endParaRPr>
            </a:p>
          </p:txBody>
        </p:sp>
        <p:sp>
          <p:nvSpPr>
            <p:cNvPr id="96" name="object 23"/>
            <p:cNvSpPr/>
            <p:nvPr/>
          </p:nvSpPr>
          <p:spPr>
            <a:xfrm>
              <a:off x="3251199" y="2716560"/>
              <a:ext cx="1828800" cy="457200"/>
            </a:xfrm>
            <a:custGeom>
              <a:avLst/>
              <a:gdLst/>
              <a:ahLst/>
              <a:cxnLst/>
              <a:rect l="l" t="t" r="r" b="b"/>
              <a:pathLst>
                <a:path w="1828800" h="457200">
                  <a:moveTo>
                    <a:pt x="0" y="76201"/>
                  </a:moveTo>
                  <a:lnTo>
                    <a:pt x="5988" y="46540"/>
                  </a:lnTo>
                  <a:lnTo>
                    <a:pt x="22319" y="22319"/>
                  </a:lnTo>
                  <a:lnTo>
                    <a:pt x="46540" y="5988"/>
                  </a:lnTo>
                  <a:lnTo>
                    <a:pt x="76201" y="0"/>
                  </a:lnTo>
                  <a:lnTo>
                    <a:pt x="1752597" y="0"/>
                  </a:lnTo>
                  <a:lnTo>
                    <a:pt x="1782258" y="5988"/>
                  </a:lnTo>
                  <a:lnTo>
                    <a:pt x="1806480" y="22319"/>
                  </a:lnTo>
                  <a:lnTo>
                    <a:pt x="1822811" y="46540"/>
                  </a:lnTo>
                  <a:lnTo>
                    <a:pt x="1828799" y="76201"/>
                  </a:lnTo>
                  <a:lnTo>
                    <a:pt x="1828799" y="380998"/>
                  </a:lnTo>
                  <a:lnTo>
                    <a:pt x="1822811" y="410659"/>
                  </a:lnTo>
                  <a:lnTo>
                    <a:pt x="1806480" y="434880"/>
                  </a:lnTo>
                  <a:lnTo>
                    <a:pt x="1782258" y="451211"/>
                  </a:lnTo>
                  <a:lnTo>
                    <a:pt x="1752597" y="457199"/>
                  </a:lnTo>
                  <a:lnTo>
                    <a:pt x="76201" y="457199"/>
                  </a:lnTo>
                  <a:lnTo>
                    <a:pt x="46540" y="451211"/>
                  </a:lnTo>
                  <a:lnTo>
                    <a:pt x="22319" y="434880"/>
                  </a:lnTo>
                  <a:lnTo>
                    <a:pt x="5988" y="410659"/>
                  </a:lnTo>
                  <a:lnTo>
                    <a:pt x="0" y="380998"/>
                  </a:lnTo>
                  <a:lnTo>
                    <a:pt x="0" y="76201"/>
                  </a:lnTo>
                  <a:close/>
                </a:path>
              </a:pathLst>
            </a:custGeom>
            <a:ln w="19049">
              <a:solidFill>
                <a:srgbClr val="000000"/>
              </a:solidFill>
            </a:ln>
          </p:spPr>
          <p:txBody>
            <a:bodyPr wrap="square" lIns="0" tIns="0" rIns="0" bIns="0" rtlCol="0"/>
            <a:lstStyle/>
            <a:p>
              <a:endParaRPr/>
            </a:p>
          </p:txBody>
        </p:sp>
        <p:sp>
          <p:nvSpPr>
            <p:cNvPr id="97" name="object 24"/>
            <p:cNvSpPr txBox="1"/>
            <p:nvPr/>
          </p:nvSpPr>
          <p:spPr>
            <a:xfrm>
              <a:off x="3479258" y="2795300"/>
              <a:ext cx="13595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working</a:t>
              </a:r>
              <a:r>
                <a:rPr sz="1800" b="1" spc="-85" dirty="0">
                  <a:latin typeface="Arial" panose="020B0604020202020204"/>
                  <a:cs typeface="Arial" panose="020B0604020202020204"/>
                </a:rPr>
                <a:t> </a:t>
              </a:r>
              <a:r>
                <a:rPr sz="1800" b="1" spc="-5" dirty="0">
                  <a:latin typeface="Arial" panose="020B0604020202020204"/>
                  <a:cs typeface="Arial" panose="020B0604020202020204"/>
                </a:rPr>
                <a:t>age</a:t>
              </a:r>
              <a:endParaRPr sz="1800">
                <a:latin typeface="Arial" panose="020B0604020202020204"/>
                <a:cs typeface="Arial" panose="020B0604020202020204"/>
              </a:endParaRPr>
            </a:p>
          </p:txBody>
        </p:sp>
        <p:sp>
          <p:nvSpPr>
            <p:cNvPr id="98" name="object 25"/>
            <p:cNvSpPr/>
            <p:nvPr/>
          </p:nvSpPr>
          <p:spPr>
            <a:xfrm>
              <a:off x="6705598" y="271656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7" y="0"/>
                  </a:lnTo>
                  <a:lnTo>
                    <a:pt x="1680658" y="5988"/>
                  </a:lnTo>
                  <a:lnTo>
                    <a:pt x="1704880" y="22319"/>
                  </a:lnTo>
                  <a:lnTo>
                    <a:pt x="1721211" y="46540"/>
                  </a:lnTo>
                  <a:lnTo>
                    <a:pt x="1727199" y="76201"/>
                  </a:lnTo>
                  <a:lnTo>
                    <a:pt x="1727199" y="380998"/>
                  </a:lnTo>
                  <a:lnTo>
                    <a:pt x="1721211" y="410659"/>
                  </a:lnTo>
                  <a:lnTo>
                    <a:pt x="1704880" y="434880"/>
                  </a:lnTo>
                  <a:lnTo>
                    <a:pt x="1680658" y="451211"/>
                  </a:lnTo>
                  <a:lnTo>
                    <a:pt x="1650997" y="457199"/>
                  </a:lnTo>
                  <a:lnTo>
                    <a:pt x="76202" y="457199"/>
                  </a:lnTo>
                  <a:lnTo>
                    <a:pt x="46540" y="451211"/>
                  </a:lnTo>
                  <a:lnTo>
                    <a:pt x="22318" y="434880"/>
                  </a:lnTo>
                  <a:lnTo>
                    <a:pt x="5988" y="410659"/>
                  </a:lnTo>
                  <a:lnTo>
                    <a:pt x="0" y="380998"/>
                  </a:lnTo>
                  <a:lnTo>
                    <a:pt x="0" y="76201"/>
                  </a:lnTo>
                  <a:close/>
                </a:path>
              </a:pathLst>
            </a:custGeom>
            <a:ln w="19049">
              <a:solidFill>
                <a:srgbClr val="000000"/>
              </a:solidFill>
            </a:ln>
          </p:spPr>
          <p:txBody>
            <a:bodyPr wrap="square" lIns="0" tIns="0" rIns="0" bIns="0" rtlCol="0"/>
            <a:lstStyle/>
            <a:p>
              <a:endParaRPr/>
            </a:p>
          </p:txBody>
        </p:sp>
        <p:sp>
          <p:nvSpPr>
            <p:cNvPr id="99" name="object 26"/>
            <p:cNvSpPr txBox="1"/>
            <p:nvPr/>
          </p:nvSpPr>
          <p:spPr>
            <a:xfrm>
              <a:off x="7213057" y="2795300"/>
              <a:ext cx="7118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senior</a:t>
              </a:r>
              <a:endParaRPr sz="1800">
                <a:latin typeface="Arial" panose="020B0604020202020204"/>
                <a:cs typeface="Arial" panose="020B0604020202020204"/>
              </a:endParaRPr>
            </a:p>
          </p:txBody>
        </p:sp>
        <p:sp>
          <p:nvSpPr>
            <p:cNvPr id="100" name="object 27"/>
            <p:cNvSpPr/>
            <p:nvPr/>
          </p:nvSpPr>
          <p:spPr>
            <a:xfrm>
              <a:off x="1625599" y="4392960"/>
              <a:ext cx="1727200" cy="457200"/>
            </a:xfrm>
            <a:custGeom>
              <a:avLst/>
              <a:gdLst/>
              <a:ahLst/>
              <a:cxnLst/>
              <a:rect l="l" t="t" r="r" b="b"/>
              <a:pathLst>
                <a:path w="1727200" h="457200">
                  <a:moveTo>
                    <a:pt x="0" y="76201"/>
                  </a:moveTo>
                  <a:lnTo>
                    <a:pt x="5988" y="46540"/>
                  </a:lnTo>
                  <a:lnTo>
                    <a:pt x="22319" y="22319"/>
                  </a:lnTo>
                  <a:lnTo>
                    <a:pt x="46540" y="5988"/>
                  </a:lnTo>
                  <a:lnTo>
                    <a:pt x="76201"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101" name="object 28"/>
            <p:cNvSpPr txBox="1"/>
            <p:nvPr/>
          </p:nvSpPr>
          <p:spPr>
            <a:xfrm>
              <a:off x="1917158" y="4471700"/>
              <a:ext cx="1143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panose="020B0604020202020204"/>
                  <a:cs typeface="Arial" panose="020B0604020202020204"/>
                </a:rPr>
                <a:t>unmarried</a:t>
              </a:r>
              <a:endParaRPr sz="1800">
                <a:latin typeface="Arial" panose="020B0604020202020204"/>
                <a:cs typeface="Arial" panose="020B0604020202020204"/>
              </a:endParaRPr>
            </a:p>
          </p:txBody>
        </p:sp>
        <p:sp>
          <p:nvSpPr>
            <p:cNvPr id="102" name="object 29"/>
            <p:cNvSpPr/>
            <p:nvPr/>
          </p:nvSpPr>
          <p:spPr>
            <a:xfrm>
              <a:off x="7213598" y="408816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2" y="457199"/>
                  </a:lnTo>
                  <a:lnTo>
                    <a:pt x="46540" y="451211"/>
                  </a:lnTo>
                  <a:lnTo>
                    <a:pt x="22318"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103" name="object 30"/>
            <p:cNvSpPr txBox="1"/>
            <p:nvPr/>
          </p:nvSpPr>
          <p:spPr>
            <a:xfrm>
              <a:off x="7644857" y="4166900"/>
              <a:ext cx="8642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married</a:t>
              </a:r>
              <a:endParaRPr sz="1800">
                <a:latin typeface="Arial" panose="020B0604020202020204"/>
                <a:cs typeface="Arial" panose="020B0604020202020204"/>
              </a:endParaRPr>
            </a:p>
          </p:txBody>
        </p:sp>
        <p:sp>
          <p:nvSpPr>
            <p:cNvPr id="104" name="object 31"/>
            <p:cNvSpPr/>
            <p:nvPr/>
          </p:nvSpPr>
          <p:spPr>
            <a:xfrm>
              <a:off x="3759200" y="4926360"/>
              <a:ext cx="1727200" cy="457200"/>
            </a:xfrm>
            <a:custGeom>
              <a:avLst/>
              <a:gdLst/>
              <a:ahLst/>
              <a:cxnLst/>
              <a:rect l="l" t="t" r="r" b="b"/>
              <a:pathLst>
                <a:path w="1727200" h="457200">
                  <a:moveTo>
                    <a:pt x="0" y="76201"/>
                  </a:moveTo>
                  <a:lnTo>
                    <a:pt x="5988" y="46540"/>
                  </a:lnTo>
                  <a:lnTo>
                    <a:pt x="22319" y="22319"/>
                  </a:lnTo>
                  <a:lnTo>
                    <a:pt x="46540" y="5988"/>
                  </a:lnTo>
                  <a:lnTo>
                    <a:pt x="76201"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105" name="object 32"/>
            <p:cNvSpPr txBox="1"/>
            <p:nvPr/>
          </p:nvSpPr>
          <p:spPr>
            <a:xfrm>
              <a:off x="4126958" y="5005100"/>
              <a:ext cx="9785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panose="020B0604020202020204"/>
                  <a:cs typeface="Arial" panose="020B0604020202020204"/>
                </a:rPr>
                <a:t>divorced</a:t>
              </a:r>
              <a:endParaRPr sz="1800">
                <a:latin typeface="Arial" panose="020B0604020202020204"/>
                <a:cs typeface="Arial" panose="020B0604020202020204"/>
              </a:endParaRPr>
            </a:p>
          </p:txBody>
        </p:sp>
        <p:sp>
          <p:nvSpPr>
            <p:cNvPr id="106" name="object 33"/>
            <p:cNvSpPr/>
            <p:nvPr/>
          </p:nvSpPr>
          <p:spPr>
            <a:xfrm>
              <a:off x="3759200" y="4240560"/>
              <a:ext cx="1727200" cy="457200"/>
            </a:xfrm>
            <a:custGeom>
              <a:avLst/>
              <a:gdLst/>
              <a:ahLst/>
              <a:cxnLst/>
              <a:rect l="l" t="t" r="r" b="b"/>
              <a:pathLst>
                <a:path w="1727200" h="457200">
                  <a:moveTo>
                    <a:pt x="0" y="76201"/>
                  </a:moveTo>
                  <a:lnTo>
                    <a:pt x="5988" y="46540"/>
                  </a:lnTo>
                  <a:lnTo>
                    <a:pt x="22319" y="22319"/>
                  </a:lnTo>
                  <a:lnTo>
                    <a:pt x="46540" y="5988"/>
                  </a:lnTo>
                  <a:lnTo>
                    <a:pt x="76201"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1" y="457199"/>
                  </a:lnTo>
                  <a:lnTo>
                    <a:pt x="46540" y="451211"/>
                  </a:lnTo>
                  <a:lnTo>
                    <a:pt x="22319"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107" name="object 34"/>
            <p:cNvSpPr txBox="1"/>
            <p:nvPr/>
          </p:nvSpPr>
          <p:spPr>
            <a:xfrm>
              <a:off x="4126958" y="4319300"/>
              <a:ext cx="9906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panose="020B0604020202020204"/>
                  <a:cs typeface="Arial" panose="020B0604020202020204"/>
                </a:rPr>
                <a:t>widowed</a:t>
              </a:r>
              <a:endParaRPr sz="1800">
                <a:latin typeface="Arial" panose="020B0604020202020204"/>
                <a:cs typeface="Arial" panose="020B0604020202020204"/>
              </a:endParaRPr>
            </a:p>
          </p:txBody>
        </p:sp>
        <p:sp>
          <p:nvSpPr>
            <p:cNvPr id="108" name="object 35"/>
            <p:cNvSpPr/>
            <p:nvPr/>
          </p:nvSpPr>
          <p:spPr>
            <a:xfrm>
              <a:off x="7213598" y="485016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7" y="0"/>
                  </a:lnTo>
                  <a:lnTo>
                    <a:pt x="1680658" y="5988"/>
                  </a:lnTo>
                  <a:lnTo>
                    <a:pt x="1704880" y="22319"/>
                  </a:lnTo>
                  <a:lnTo>
                    <a:pt x="1721211" y="46540"/>
                  </a:lnTo>
                  <a:lnTo>
                    <a:pt x="1727199" y="76201"/>
                  </a:lnTo>
                  <a:lnTo>
                    <a:pt x="1727199" y="380997"/>
                  </a:lnTo>
                  <a:lnTo>
                    <a:pt x="1721211" y="410659"/>
                  </a:lnTo>
                  <a:lnTo>
                    <a:pt x="1704880" y="434880"/>
                  </a:lnTo>
                  <a:lnTo>
                    <a:pt x="1680658" y="451211"/>
                  </a:lnTo>
                  <a:lnTo>
                    <a:pt x="1650997" y="457199"/>
                  </a:lnTo>
                  <a:lnTo>
                    <a:pt x="76202" y="457199"/>
                  </a:lnTo>
                  <a:lnTo>
                    <a:pt x="46540" y="451211"/>
                  </a:lnTo>
                  <a:lnTo>
                    <a:pt x="22318" y="434880"/>
                  </a:lnTo>
                  <a:lnTo>
                    <a:pt x="5988" y="410659"/>
                  </a:lnTo>
                  <a:lnTo>
                    <a:pt x="0" y="380997"/>
                  </a:lnTo>
                  <a:lnTo>
                    <a:pt x="0" y="76201"/>
                  </a:lnTo>
                  <a:close/>
                </a:path>
              </a:pathLst>
            </a:custGeom>
            <a:ln w="19049">
              <a:solidFill>
                <a:srgbClr val="000000"/>
              </a:solidFill>
            </a:ln>
          </p:spPr>
          <p:txBody>
            <a:bodyPr wrap="square" lIns="0" tIns="0" rIns="0" bIns="0" rtlCol="0"/>
            <a:lstStyle/>
            <a:p>
              <a:endParaRPr/>
            </a:p>
          </p:txBody>
        </p:sp>
        <p:sp>
          <p:nvSpPr>
            <p:cNvPr id="109" name="object 36"/>
            <p:cNvSpPr txBox="1"/>
            <p:nvPr/>
          </p:nvSpPr>
          <p:spPr>
            <a:xfrm>
              <a:off x="7517857" y="4928900"/>
              <a:ext cx="11055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panose="020B0604020202020204"/>
                  <a:cs typeface="Arial" panose="020B0604020202020204"/>
                </a:rPr>
                <a:t>separated</a:t>
              </a:r>
              <a:endParaRPr sz="1800">
                <a:latin typeface="Arial" panose="020B0604020202020204"/>
                <a:cs typeface="Arial" panose="020B0604020202020204"/>
              </a:endParaRPr>
            </a:p>
          </p:txBody>
        </p:sp>
        <p:sp>
          <p:nvSpPr>
            <p:cNvPr id="110" name="object 37"/>
            <p:cNvSpPr/>
            <p:nvPr/>
          </p:nvSpPr>
          <p:spPr>
            <a:xfrm>
              <a:off x="5511800" y="5027960"/>
              <a:ext cx="783590" cy="127000"/>
            </a:xfrm>
            <a:custGeom>
              <a:avLst/>
              <a:gdLst/>
              <a:ahLst/>
              <a:cxnLst/>
              <a:rect l="l" t="t" r="r" b="b"/>
              <a:pathLst>
                <a:path w="783589" h="127000">
                  <a:moveTo>
                    <a:pt x="783166" y="0"/>
                  </a:moveTo>
                  <a:lnTo>
                    <a:pt x="381017" y="0"/>
                  </a:lnTo>
                  <a:lnTo>
                    <a:pt x="381017" y="126999"/>
                  </a:lnTo>
                  <a:lnTo>
                    <a:pt x="0" y="126999"/>
                  </a:lnTo>
                </a:path>
              </a:pathLst>
            </a:custGeom>
            <a:ln w="19049">
              <a:solidFill>
                <a:srgbClr val="000000"/>
              </a:solidFill>
            </a:ln>
          </p:spPr>
          <p:txBody>
            <a:bodyPr wrap="square" lIns="0" tIns="0" rIns="0" bIns="0" rtlCol="0"/>
            <a:lstStyle/>
            <a:p>
              <a:endParaRPr/>
            </a:p>
          </p:txBody>
        </p:sp>
        <p:sp>
          <p:nvSpPr>
            <p:cNvPr id="111" name="object 38"/>
            <p:cNvSpPr/>
            <p:nvPr/>
          </p:nvSpPr>
          <p:spPr>
            <a:xfrm>
              <a:off x="5486400" y="5116860"/>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112" name="object 39"/>
            <p:cNvSpPr/>
            <p:nvPr/>
          </p:nvSpPr>
          <p:spPr>
            <a:xfrm>
              <a:off x="5511800" y="4469160"/>
              <a:ext cx="785495" cy="76200"/>
            </a:xfrm>
            <a:custGeom>
              <a:avLst/>
              <a:gdLst/>
              <a:ahLst/>
              <a:cxnLst/>
              <a:rect l="l" t="t" r="r" b="b"/>
              <a:pathLst>
                <a:path w="785495" h="76200">
                  <a:moveTo>
                    <a:pt x="785283" y="76199"/>
                  </a:moveTo>
                  <a:lnTo>
                    <a:pt x="380995" y="76199"/>
                  </a:lnTo>
                  <a:lnTo>
                    <a:pt x="380995" y="0"/>
                  </a:lnTo>
                  <a:lnTo>
                    <a:pt x="0" y="0"/>
                  </a:lnTo>
                </a:path>
              </a:pathLst>
            </a:custGeom>
            <a:ln w="19049">
              <a:solidFill>
                <a:srgbClr val="000000"/>
              </a:solidFill>
            </a:ln>
          </p:spPr>
          <p:txBody>
            <a:bodyPr wrap="square" lIns="0" tIns="0" rIns="0" bIns="0" rtlCol="0"/>
            <a:lstStyle/>
            <a:p>
              <a:endParaRPr/>
            </a:p>
          </p:txBody>
        </p:sp>
        <p:sp>
          <p:nvSpPr>
            <p:cNvPr id="113" name="object 40"/>
            <p:cNvSpPr/>
            <p:nvPr/>
          </p:nvSpPr>
          <p:spPr>
            <a:xfrm>
              <a:off x="5486400" y="4431060"/>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114" name="object 41"/>
            <p:cNvSpPr/>
            <p:nvPr/>
          </p:nvSpPr>
          <p:spPr>
            <a:xfrm>
              <a:off x="3606800" y="5481985"/>
              <a:ext cx="4263390" cy="282575"/>
            </a:xfrm>
            <a:custGeom>
              <a:avLst/>
              <a:gdLst/>
              <a:ahLst/>
              <a:cxnLst/>
              <a:rect l="l" t="t" r="r" b="b"/>
              <a:pathLst>
                <a:path w="4263390" h="282575">
                  <a:moveTo>
                    <a:pt x="0" y="53974"/>
                  </a:moveTo>
                  <a:lnTo>
                    <a:pt x="0" y="282574"/>
                  </a:lnTo>
                  <a:lnTo>
                    <a:pt x="4262965" y="282574"/>
                  </a:lnTo>
                  <a:lnTo>
                    <a:pt x="4262965" y="0"/>
                  </a:lnTo>
                </a:path>
              </a:pathLst>
            </a:custGeom>
            <a:ln w="19049">
              <a:solidFill>
                <a:srgbClr val="000000"/>
              </a:solidFill>
            </a:ln>
          </p:spPr>
          <p:txBody>
            <a:bodyPr wrap="square" lIns="0" tIns="0" rIns="0" bIns="0" rtlCol="0"/>
            <a:lstStyle/>
            <a:p>
              <a:endParaRPr/>
            </a:p>
          </p:txBody>
        </p:sp>
        <p:sp>
          <p:nvSpPr>
            <p:cNvPr id="115" name="object 42"/>
            <p:cNvSpPr/>
            <p:nvPr/>
          </p:nvSpPr>
          <p:spPr>
            <a:xfrm>
              <a:off x="7831666" y="5456585"/>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116" name="object 43"/>
            <p:cNvSpPr/>
            <p:nvPr/>
          </p:nvSpPr>
          <p:spPr>
            <a:xfrm>
              <a:off x="8077197" y="4545360"/>
              <a:ext cx="0" cy="279400"/>
            </a:xfrm>
            <a:custGeom>
              <a:avLst/>
              <a:gdLst/>
              <a:ahLst/>
              <a:cxnLst/>
              <a:rect l="l" t="t" r="r" b="b"/>
              <a:pathLst>
                <a:path h="279400">
                  <a:moveTo>
                    <a:pt x="0" y="0"/>
                  </a:moveTo>
                  <a:lnTo>
                    <a:pt x="0" y="279399"/>
                  </a:lnTo>
                </a:path>
              </a:pathLst>
            </a:custGeom>
            <a:ln w="19049">
              <a:solidFill>
                <a:srgbClr val="000000"/>
              </a:solidFill>
            </a:ln>
          </p:spPr>
          <p:txBody>
            <a:bodyPr wrap="square" lIns="0" tIns="0" rIns="0" bIns="0" rtlCol="0"/>
            <a:lstStyle/>
            <a:p>
              <a:endParaRPr/>
            </a:p>
          </p:txBody>
        </p:sp>
        <p:sp>
          <p:nvSpPr>
            <p:cNvPr id="117" name="object 44"/>
            <p:cNvSpPr/>
            <p:nvPr/>
          </p:nvSpPr>
          <p:spPr>
            <a:xfrm>
              <a:off x="8039098" y="477396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18" name="object 45"/>
            <p:cNvSpPr/>
            <p:nvPr/>
          </p:nvSpPr>
          <p:spPr>
            <a:xfrm>
              <a:off x="1925637" y="2864198"/>
              <a:ext cx="212724" cy="161925"/>
            </a:xfrm>
            <a:prstGeom prst="rect">
              <a:avLst/>
            </a:prstGeom>
            <a:blipFill>
              <a:blip r:embed="rId3" cstate="print"/>
              <a:stretch>
                <a:fillRect/>
              </a:stretch>
            </a:blipFill>
          </p:spPr>
          <p:txBody>
            <a:bodyPr wrap="square" lIns="0" tIns="0" rIns="0" bIns="0" rtlCol="0"/>
            <a:lstStyle/>
            <a:p>
              <a:endParaRPr/>
            </a:p>
          </p:txBody>
        </p:sp>
        <p:sp>
          <p:nvSpPr>
            <p:cNvPr id="119" name="object 46"/>
            <p:cNvSpPr/>
            <p:nvPr/>
          </p:nvSpPr>
          <p:spPr>
            <a:xfrm>
              <a:off x="2133600" y="2945160"/>
              <a:ext cx="1092200" cy="0"/>
            </a:xfrm>
            <a:custGeom>
              <a:avLst/>
              <a:gdLst/>
              <a:ahLst/>
              <a:cxnLst/>
              <a:rect l="l" t="t" r="r" b="b"/>
              <a:pathLst>
                <a:path w="1092200">
                  <a:moveTo>
                    <a:pt x="0" y="0"/>
                  </a:moveTo>
                  <a:lnTo>
                    <a:pt x="1092199" y="0"/>
                  </a:lnTo>
                </a:path>
              </a:pathLst>
            </a:custGeom>
            <a:ln w="19049">
              <a:solidFill>
                <a:srgbClr val="000000"/>
              </a:solidFill>
            </a:ln>
          </p:spPr>
          <p:txBody>
            <a:bodyPr wrap="square" lIns="0" tIns="0" rIns="0" bIns="0" rtlCol="0"/>
            <a:lstStyle/>
            <a:p>
              <a:endParaRPr/>
            </a:p>
          </p:txBody>
        </p:sp>
        <p:sp>
          <p:nvSpPr>
            <p:cNvPr id="120" name="object 47"/>
            <p:cNvSpPr/>
            <p:nvPr/>
          </p:nvSpPr>
          <p:spPr>
            <a:xfrm>
              <a:off x="3175000" y="290706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121" name="object 48"/>
            <p:cNvSpPr/>
            <p:nvPr/>
          </p:nvSpPr>
          <p:spPr>
            <a:xfrm>
              <a:off x="2027237" y="4007198"/>
              <a:ext cx="212724" cy="161924"/>
            </a:xfrm>
            <a:prstGeom prst="rect">
              <a:avLst/>
            </a:prstGeom>
            <a:blipFill>
              <a:blip r:embed="rId4" cstate="print"/>
              <a:stretch>
                <a:fillRect/>
              </a:stretch>
            </a:blipFill>
          </p:spPr>
          <p:txBody>
            <a:bodyPr wrap="square" lIns="0" tIns="0" rIns="0" bIns="0" rtlCol="0"/>
            <a:lstStyle/>
            <a:p>
              <a:endParaRPr/>
            </a:p>
          </p:txBody>
        </p:sp>
        <p:sp>
          <p:nvSpPr>
            <p:cNvPr id="122" name="object 49"/>
            <p:cNvSpPr/>
            <p:nvPr/>
          </p:nvSpPr>
          <p:spPr>
            <a:xfrm>
              <a:off x="2235200" y="4088160"/>
              <a:ext cx="254000" cy="279400"/>
            </a:xfrm>
            <a:custGeom>
              <a:avLst/>
              <a:gdLst/>
              <a:ahLst/>
              <a:cxnLst/>
              <a:rect l="l" t="t" r="r" b="b"/>
              <a:pathLst>
                <a:path w="254000" h="279400">
                  <a:moveTo>
                    <a:pt x="0" y="0"/>
                  </a:moveTo>
                  <a:lnTo>
                    <a:pt x="253999" y="0"/>
                  </a:lnTo>
                  <a:lnTo>
                    <a:pt x="253999" y="279400"/>
                  </a:lnTo>
                </a:path>
              </a:pathLst>
            </a:custGeom>
            <a:ln w="19049">
              <a:solidFill>
                <a:srgbClr val="000000"/>
              </a:solidFill>
            </a:ln>
          </p:spPr>
          <p:txBody>
            <a:bodyPr wrap="square" lIns="0" tIns="0" rIns="0" bIns="0" rtlCol="0"/>
            <a:lstStyle/>
            <a:p>
              <a:endParaRPr/>
            </a:p>
          </p:txBody>
        </p:sp>
        <p:sp>
          <p:nvSpPr>
            <p:cNvPr id="123" name="object 50"/>
            <p:cNvSpPr/>
            <p:nvPr/>
          </p:nvSpPr>
          <p:spPr>
            <a:xfrm>
              <a:off x="2451100" y="431676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24" name="object 51"/>
            <p:cNvSpPr/>
            <p:nvPr/>
          </p:nvSpPr>
          <p:spPr>
            <a:xfrm>
              <a:off x="6497635" y="4235798"/>
              <a:ext cx="212725" cy="161924"/>
            </a:xfrm>
            <a:prstGeom prst="rect">
              <a:avLst/>
            </a:prstGeom>
            <a:blipFill>
              <a:blip r:embed="rId3" cstate="print"/>
              <a:stretch>
                <a:fillRect/>
              </a:stretch>
            </a:blipFill>
          </p:spPr>
          <p:txBody>
            <a:bodyPr wrap="square" lIns="0" tIns="0" rIns="0" bIns="0" rtlCol="0"/>
            <a:lstStyle/>
            <a:p>
              <a:endParaRPr/>
            </a:p>
          </p:txBody>
        </p:sp>
        <p:sp>
          <p:nvSpPr>
            <p:cNvPr id="125" name="object 52"/>
            <p:cNvSpPr/>
            <p:nvPr/>
          </p:nvSpPr>
          <p:spPr>
            <a:xfrm>
              <a:off x="6705598" y="4316760"/>
              <a:ext cx="482600" cy="0"/>
            </a:xfrm>
            <a:custGeom>
              <a:avLst/>
              <a:gdLst/>
              <a:ahLst/>
              <a:cxnLst/>
              <a:rect l="l" t="t" r="r" b="b"/>
              <a:pathLst>
                <a:path w="482600">
                  <a:moveTo>
                    <a:pt x="0" y="0"/>
                  </a:moveTo>
                  <a:lnTo>
                    <a:pt x="482599" y="0"/>
                  </a:lnTo>
                </a:path>
              </a:pathLst>
            </a:custGeom>
            <a:ln w="19049">
              <a:solidFill>
                <a:srgbClr val="000000"/>
              </a:solidFill>
            </a:ln>
          </p:spPr>
          <p:txBody>
            <a:bodyPr wrap="square" lIns="0" tIns="0" rIns="0" bIns="0" rtlCol="0"/>
            <a:lstStyle/>
            <a:p>
              <a:endParaRPr/>
            </a:p>
          </p:txBody>
        </p:sp>
        <p:sp>
          <p:nvSpPr>
            <p:cNvPr id="126" name="object 53"/>
            <p:cNvSpPr/>
            <p:nvPr/>
          </p:nvSpPr>
          <p:spPr>
            <a:xfrm>
              <a:off x="7137398" y="427866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127" name="object 54"/>
            <p:cNvSpPr/>
            <p:nvPr/>
          </p:nvSpPr>
          <p:spPr>
            <a:xfrm>
              <a:off x="9753598" y="3275360"/>
              <a:ext cx="1168400" cy="850900"/>
            </a:xfrm>
            <a:custGeom>
              <a:avLst/>
              <a:gdLst/>
              <a:ahLst/>
              <a:cxnLst/>
              <a:rect l="l" t="t" r="r" b="b"/>
              <a:pathLst>
                <a:path w="1168400" h="850900">
                  <a:moveTo>
                    <a:pt x="0" y="850899"/>
                  </a:moveTo>
                  <a:lnTo>
                    <a:pt x="1168399" y="850899"/>
                  </a:lnTo>
                  <a:lnTo>
                    <a:pt x="1168399" y="0"/>
                  </a:lnTo>
                </a:path>
              </a:pathLst>
            </a:custGeom>
            <a:ln w="19049">
              <a:solidFill>
                <a:srgbClr val="000000"/>
              </a:solidFill>
            </a:ln>
          </p:spPr>
          <p:txBody>
            <a:bodyPr wrap="square" lIns="0" tIns="0" rIns="0" bIns="0" rtlCol="0"/>
            <a:lstStyle/>
            <a:p>
              <a:endParaRPr/>
            </a:p>
          </p:txBody>
        </p:sp>
        <p:sp>
          <p:nvSpPr>
            <p:cNvPr id="128" name="object 55"/>
            <p:cNvSpPr/>
            <p:nvPr/>
          </p:nvSpPr>
          <p:spPr>
            <a:xfrm>
              <a:off x="10883898" y="3249960"/>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129" name="object 56"/>
            <p:cNvSpPr/>
            <p:nvPr/>
          </p:nvSpPr>
          <p:spPr>
            <a:xfrm>
              <a:off x="10058398" y="2792760"/>
              <a:ext cx="1727200" cy="457200"/>
            </a:xfrm>
            <a:custGeom>
              <a:avLst/>
              <a:gdLst/>
              <a:ahLst/>
              <a:cxnLst/>
              <a:rect l="l" t="t" r="r" b="b"/>
              <a:pathLst>
                <a:path w="1727200" h="457200">
                  <a:moveTo>
                    <a:pt x="0" y="76201"/>
                  </a:moveTo>
                  <a:lnTo>
                    <a:pt x="5988" y="46540"/>
                  </a:lnTo>
                  <a:lnTo>
                    <a:pt x="22318" y="22319"/>
                  </a:lnTo>
                  <a:lnTo>
                    <a:pt x="46540" y="5988"/>
                  </a:lnTo>
                  <a:lnTo>
                    <a:pt x="76202" y="0"/>
                  </a:lnTo>
                  <a:lnTo>
                    <a:pt x="1650997" y="0"/>
                  </a:lnTo>
                  <a:lnTo>
                    <a:pt x="1680658" y="5988"/>
                  </a:lnTo>
                  <a:lnTo>
                    <a:pt x="1704880" y="22319"/>
                  </a:lnTo>
                  <a:lnTo>
                    <a:pt x="1721211" y="46540"/>
                  </a:lnTo>
                  <a:lnTo>
                    <a:pt x="1727199" y="76201"/>
                  </a:lnTo>
                  <a:lnTo>
                    <a:pt x="1727199" y="380998"/>
                  </a:lnTo>
                  <a:lnTo>
                    <a:pt x="1721211" y="410659"/>
                  </a:lnTo>
                  <a:lnTo>
                    <a:pt x="1704880" y="434880"/>
                  </a:lnTo>
                  <a:lnTo>
                    <a:pt x="1680658" y="451211"/>
                  </a:lnTo>
                  <a:lnTo>
                    <a:pt x="1650997" y="457199"/>
                  </a:lnTo>
                  <a:lnTo>
                    <a:pt x="76202" y="457199"/>
                  </a:lnTo>
                  <a:lnTo>
                    <a:pt x="46540" y="451211"/>
                  </a:lnTo>
                  <a:lnTo>
                    <a:pt x="22318" y="434880"/>
                  </a:lnTo>
                  <a:lnTo>
                    <a:pt x="5988" y="410659"/>
                  </a:lnTo>
                  <a:lnTo>
                    <a:pt x="0" y="380998"/>
                  </a:lnTo>
                  <a:lnTo>
                    <a:pt x="0" y="76201"/>
                  </a:lnTo>
                  <a:close/>
                </a:path>
              </a:pathLst>
            </a:custGeom>
            <a:ln w="19049">
              <a:solidFill>
                <a:srgbClr val="000000"/>
              </a:solidFill>
            </a:ln>
          </p:spPr>
          <p:txBody>
            <a:bodyPr wrap="square" lIns="0" tIns="0" rIns="0" bIns="0" rtlCol="0"/>
            <a:lstStyle/>
            <a:p>
              <a:endParaRPr/>
            </a:p>
          </p:txBody>
        </p:sp>
        <p:sp>
          <p:nvSpPr>
            <p:cNvPr id="130" name="object 57"/>
            <p:cNvSpPr txBox="1"/>
            <p:nvPr/>
          </p:nvSpPr>
          <p:spPr>
            <a:xfrm>
              <a:off x="10388057" y="2871500"/>
              <a:ext cx="10674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panose="020B0604020202020204"/>
                  <a:cs typeface="Arial" panose="020B0604020202020204"/>
                </a:rPr>
                <a:t>deceased</a:t>
              </a:r>
              <a:endParaRPr sz="1800">
                <a:latin typeface="Arial" panose="020B0604020202020204"/>
                <a:cs typeface="Arial" panose="020B0604020202020204"/>
              </a:endParaRPr>
            </a:p>
          </p:txBody>
        </p:sp>
        <p:sp>
          <p:nvSpPr>
            <p:cNvPr id="131" name="object 58"/>
            <p:cNvSpPr/>
            <p:nvPr/>
          </p:nvSpPr>
          <p:spPr>
            <a:xfrm>
              <a:off x="11379199" y="3249960"/>
              <a:ext cx="254000" cy="498475"/>
            </a:xfrm>
            <a:custGeom>
              <a:avLst/>
              <a:gdLst/>
              <a:ahLst/>
              <a:cxnLst/>
              <a:rect l="l" t="t" r="r" b="b"/>
              <a:pathLst>
                <a:path w="254000" h="498475">
                  <a:moveTo>
                    <a:pt x="0" y="0"/>
                  </a:moveTo>
                  <a:lnTo>
                    <a:pt x="0" y="266689"/>
                  </a:lnTo>
                  <a:lnTo>
                    <a:pt x="253999" y="266689"/>
                  </a:lnTo>
                  <a:lnTo>
                    <a:pt x="253999" y="498474"/>
                  </a:lnTo>
                </a:path>
              </a:pathLst>
            </a:custGeom>
            <a:ln w="19049">
              <a:solidFill>
                <a:srgbClr val="000000"/>
              </a:solidFill>
            </a:ln>
          </p:spPr>
          <p:txBody>
            <a:bodyPr wrap="square" lIns="0" tIns="0" rIns="0" bIns="0" rtlCol="0"/>
            <a:lstStyle/>
            <a:p>
              <a:endParaRPr/>
            </a:p>
          </p:txBody>
        </p:sp>
        <p:sp>
          <p:nvSpPr>
            <p:cNvPr id="132" name="object 59"/>
            <p:cNvSpPr/>
            <p:nvPr/>
          </p:nvSpPr>
          <p:spPr>
            <a:xfrm>
              <a:off x="11595098" y="3697635"/>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33" name="object 60"/>
            <p:cNvSpPr/>
            <p:nvPr/>
          </p:nvSpPr>
          <p:spPr>
            <a:xfrm>
              <a:off x="812801" y="2564160"/>
              <a:ext cx="8839200" cy="0"/>
            </a:xfrm>
            <a:custGeom>
              <a:avLst/>
              <a:gdLst/>
              <a:ahLst/>
              <a:cxnLst/>
              <a:rect l="l" t="t" r="r" b="b"/>
              <a:pathLst>
                <a:path w="8839200">
                  <a:moveTo>
                    <a:pt x="8839197" y="0"/>
                  </a:moveTo>
                  <a:lnTo>
                    <a:pt x="0" y="1"/>
                  </a:lnTo>
                </a:path>
              </a:pathLst>
            </a:custGeom>
            <a:ln w="19049">
              <a:solidFill>
                <a:srgbClr val="000000"/>
              </a:solidFill>
            </a:ln>
          </p:spPr>
          <p:txBody>
            <a:bodyPr wrap="square" lIns="0" tIns="0" rIns="0" bIns="0" rtlCol="0"/>
            <a:lstStyle/>
            <a:p>
              <a:endParaRPr/>
            </a:p>
          </p:txBody>
        </p:sp>
        <p:sp>
          <p:nvSpPr>
            <p:cNvPr id="134" name="object 61"/>
            <p:cNvSpPr/>
            <p:nvPr/>
          </p:nvSpPr>
          <p:spPr>
            <a:xfrm>
              <a:off x="1422399" y="3935759"/>
              <a:ext cx="4368800" cy="0"/>
            </a:xfrm>
            <a:custGeom>
              <a:avLst/>
              <a:gdLst/>
              <a:ahLst/>
              <a:cxnLst/>
              <a:rect l="l" t="t" r="r" b="b"/>
              <a:pathLst>
                <a:path w="4368800">
                  <a:moveTo>
                    <a:pt x="4368798" y="0"/>
                  </a:moveTo>
                  <a:lnTo>
                    <a:pt x="0" y="0"/>
                  </a:lnTo>
                </a:path>
              </a:pathLst>
            </a:custGeom>
            <a:ln w="19049">
              <a:solidFill>
                <a:srgbClr val="000000"/>
              </a:solidFill>
            </a:ln>
          </p:spPr>
          <p:txBody>
            <a:bodyPr wrap="square" lIns="0" tIns="0" rIns="0" bIns="0" rtlCol="0"/>
            <a:lstStyle/>
            <a:p>
              <a:endParaRPr/>
            </a:p>
          </p:txBody>
        </p:sp>
        <p:sp>
          <p:nvSpPr>
            <p:cNvPr id="135" name="object 62"/>
            <p:cNvSpPr/>
            <p:nvPr/>
          </p:nvSpPr>
          <p:spPr>
            <a:xfrm>
              <a:off x="6299199" y="3935759"/>
              <a:ext cx="3149600" cy="0"/>
            </a:xfrm>
            <a:custGeom>
              <a:avLst/>
              <a:gdLst/>
              <a:ahLst/>
              <a:cxnLst/>
              <a:rect l="l" t="t" r="r" b="b"/>
              <a:pathLst>
                <a:path w="3149600">
                  <a:moveTo>
                    <a:pt x="3149599" y="0"/>
                  </a:moveTo>
                  <a:lnTo>
                    <a:pt x="0" y="0"/>
                  </a:lnTo>
                </a:path>
              </a:pathLst>
            </a:custGeom>
            <a:ln w="19049">
              <a:solidFill>
                <a:srgbClr val="000000"/>
              </a:solidFill>
            </a:ln>
          </p:spPr>
          <p:txBody>
            <a:bodyPr wrap="square" lIns="0" tIns="0" rIns="0" bIns="0" rtlCol="0"/>
            <a:lstStyle/>
            <a:p>
              <a:endParaRPr/>
            </a:p>
          </p:txBody>
        </p:sp>
        <p:sp>
          <p:nvSpPr>
            <p:cNvPr id="136" name="object 63"/>
            <p:cNvSpPr/>
            <p:nvPr/>
          </p:nvSpPr>
          <p:spPr>
            <a:xfrm>
              <a:off x="711201" y="3402359"/>
              <a:ext cx="9042400" cy="0"/>
            </a:xfrm>
            <a:custGeom>
              <a:avLst/>
              <a:gdLst/>
              <a:ahLst/>
              <a:cxnLst/>
              <a:rect l="l" t="t" r="r" b="b"/>
              <a:pathLst>
                <a:path w="9042400">
                  <a:moveTo>
                    <a:pt x="9042397" y="1"/>
                  </a:moveTo>
                  <a:lnTo>
                    <a:pt x="0" y="0"/>
                  </a:lnTo>
                </a:path>
              </a:pathLst>
            </a:custGeom>
            <a:ln w="19049">
              <a:solidFill>
                <a:srgbClr val="000000"/>
              </a:solidFill>
              <a:prstDash val="dash"/>
            </a:ln>
          </p:spPr>
          <p:txBody>
            <a:bodyPr wrap="square" lIns="0" tIns="0" rIns="0" bIns="0" rtlCol="0"/>
            <a:lstStyle/>
            <a:p>
              <a:endParaRPr/>
            </a:p>
          </p:txBody>
        </p:sp>
        <p:sp>
          <p:nvSpPr>
            <p:cNvPr id="137" name="object 64"/>
            <p:cNvSpPr/>
            <p:nvPr/>
          </p:nvSpPr>
          <p:spPr>
            <a:xfrm>
              <a:off x="909637" y="4235798"/>
              <a:ext cx="212724" cy="161924"/>
            </a:xfrm>
            <a:prstGeom prst="rect">
              <a:avLst/>
            </a:prstGeom>
            <a:blipFill>
              <a:blip r:embed="rId3" cstate="print"/>
              <a:stretch>
                <a:fillRect/>
              </a:stretch>
            </a:blipFill>
          </p:spPr>
          <p:txBody>
            <a:bodyPr wrap="square" lIns="0" tIns="0" rIns="0" bIns="0" rtlCol="0"/>
            <a:lstStyle/>
            <a:p>
              <a:endParaRPr/>
            </a:p>
          </p:txBody>
        </p:sp>
        <p:sp>
          <p:nvSpPr>
            <p:cNvPr id="138" name="object 65"/>
            <p:cNvSpPr/>
            <p:nvPr/>
          </p:nvSpPr>
          <p:spPr>
            <a:xfrm>
              <a:off x="1015999" y="4392960"/>
              <a:ext cx="381000" cy="190500"/>
            </a:xfrm>
            <a:custGeom>
              <a:avLst/>
              <a:gdLst/>
              <a:ahLst/>
              <a:cxnLst/>
              <a:rect l="l" t="t" r="r" b="b"/>
              <a:pathLst>
                <a:path w="381000" h="190500">
                  <a:moveTo>
                    <a:pt x="0" y="0"/>
                  </a:moveTo>
                  <a:lnTo>
                    <a:pt x="0" y="190499"/>
                  </a:lnTo>
                  <a:lnTo>
                    <a:pt x="380999" y="190499"/>
                  </a:lnTo>
                </a:path>
              </a:pathLst>
            </a:custGeom>
            <a:ln w="19049">
              <a:solidFill>
                <a:srgbClr val="000000"/>
              </a:solidFill>
            </a:ln>
          </p:spPr>
          <p:txBody>
            <a:bodyPr wrap="square" lIns="0" tIns="0" rIns="0" bIns="0" rtlCol="0"/>
            <a:lstStyle/>
            <a:p>
              <a:endParaRPr/>
            </a:p>
          </p:txBody>
        </p:sp>
        <p:sp>
          <p:nvSpPr>
            <p:cNvPr id="139" name="object 66"/>
            <p:cNvSpPr/>
            <p:nvPr/>
          </p:nvSpPr>
          <p:spPr>
            <a:xfrm>
              <a:off x="1346200" y="454536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grpSp>
      <p:sp>
        <p:nvSpPr>
          <p:cNvPr id="2" name="灯片编号占位符 1"/>
          <p:cNvSpPr>
            <a:spLocks noGrp="1"/>
          </p:cNvSpPr>
          <p:nvPr>
            <p:ph type="sldNum" sz="quarter" idx="12"/>
          </p:nvPr>
        </p:nvSpPr>
        <p:spPr/>
        <p:txBody>
          <a:bodyPr/>
          <a:lstStyle/>
          <a:p>
            <a:fld id="{74D2AB8B-5816-41F2-8B4B-CA5C3E4E6A65}" type="slidenum">
              <a:rPr lang="zh-CN" altLang="en-US" smtClean="0"/>
              <a:t>51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2493"/>
    </mc:Choice>
    <mc:Fallback xmlns="">
      <p:transition spd="slow" advTm="82493"/>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8772" y="1826828"/>
            <a:ext cx="5620497" cy="3922356"/>
          </a:xfrm>
          <a:prstGeom prst="rect">
            <a:avLst/>
          </a:prstGeom>
        </p:spPr>
        <p:txBody>
          <a:bodyPr vert="horz" wrap="square" lIns="0" tIns="12065" rIns="0" bIns="0" rtlCol="0">
            <a:spAutoFit/>
          </a:bodyPr>
          <a:lstStyle/>
          <a:p>
            <a:pPr marL="240665" marR="5080" indent="-228600">
              <a:lnSpc>
                <a:spcPct val="150000"/>
              </a:lnSpc>
              <a:spcBef>
                <a:spcPts val="95"/>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指向组合状态边界的状态迁移等价于指向该组合状态初态的迁移</a:t>
            </a:r>
            <a:endParaRPr sz="2400" dirty="0">
              <a:latin typeface="微软雅黑" panose="020B0503020204020204" pitchFamily="34" charset="-122"/>
              <a:ea typeface="微软雅黑" panose="020B0503020204020204" pitchFamily="34" charset="-122"/>
              <a:cs typeface="华文新魏" panose="02010800040101010101" charset="-122"/>
            </a:endParaRPr>
          </a:p>
          <a:p>
            <a:pPr marL="749300" marR="50165" lvl="1" indent="-279400">
              <a:lnSpc>
                <a:spcPct val="150000"/>
              </a:lnSpc>
              <a:spcBef>
                <a:spcPts val="320"/>
              </a:spcBef>
              <a:buFont typeface="Arial" panose="020B0604020202020204"/>
              <a:buChar char="•"/>
              <a:tabLst>
                <a:tab pos="755015" algn="l"/>
                <a:tab pos="755650" algn="l"/>
              </a:tabLst>
            </a:pPr>
            <a:r>
              <a:rPr sz="2000" dirty="0">
                <a:latin typeface="微软雅黑" panose="020B0503020204020204" pitchFamily="34" charset="-122"/>
                <a:ea typeface="微软雅黑" panose="020B0503020204020204" pitchFamily="34" charset="-122"/>
                <a:cs typeface="华文新魏" panose="02010800040101010101" charset="-122"/>
              </a:rPr>
              <a:t>所有属于该组合状态的入口条件将被执 行</a:t>
            </a:r>
          </a:p>
          <a:p>
            <a:pPr marL="240665" marR="5080" indent="-228600">
              <a:lnSpc>
                <a:spcPct val="150000"/>
              </a:lnSpc>
              <a:spcBef>
                <a:spcPts val="335"/>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从组合状态边界转出的迁移等价于从该组合状态的终态发出迁移</a:t>
            </a:r>
            <a:endParaRPr sz="2400" dirty="0">
              <a:latin typeface="微软雅黑" panose="020B0503020204020204" pitchFamily="34" charset="-122"/>
              <a:ea typeface="微软雅黑" panose="020B0503020204020204" pitchFamily="34" charset="-122"/>
              <a:cs typeface="华文新魏" panose="02010800040101010101" charset="-122"/>
            </a:endParaRPr>
          </a:p>
          <a:p>
            <a:pPr marL="755650" lvl="1" indent="-285750">
              <a:lnSpc>
                <a:spcPct val="150000"/>
              </a:lnSpc>
              <a:spcBef>
                <a:spcPts val="780"/>
              </a:spcBef>
              <a:buFont typeface="Arial" panose="020B0604020202020204"/>
              <a:buChar char="•"/>
              <a:tabLst>
                <a:tab pos="755015" algn="l"/>
                <a:tab pos="755650" algn="l"/>
              </a:tabLst>
            </a:pPr>
            <a:r>
              <a:rPr sz="2000" dirty="0">
                <a:latin typeface="微软雅黑" panose="020B0503020204020204" pitchFamily="34" charset="-122"/>
                <a:ea typeface="微软雅黑" panose="020B0503020204020204" pitchFamily="34" charset="-122"/>
                <a:cs typeface="华文新魏" panose="02010800040101010101" charset="-122"/>
              </a:rPr>
              <a:t>所有出口条件均将被执行</a:t>
            </a:r>
          </a:p>
          <a:p>
            <a:pPr marL="241300" indent="-228600">
              <a:lnSpc>
                <a:spcPct val="150000"/>
              </a:lnSpc>
              <a:spcBef>
                <a:spcPts val="83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迁移可直接指向组合状态的子状态</a:t>
            </a:r>
          </a:p>
        </p:txBody>
      </p:sp>
      <p:sp>
        <p:nvSpPr>
          <p:cNvPr id="5" name="object 5"/>
          <p:cNvSpPr/>
          <p:nvPr/>
        </p:nvSpPr>
        <p:spPr>
          <a:xfrm>
            <a:off x="6816080" y="1700807"/>
            <a:ext cx="4537720" cy="3701509"/>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组合状态的状态迁移</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52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8024"/>
    </mc:Choice>
    <mc:Fallback xmlns="">
      <p:transition spd="slow" advTm="58024"/>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6196" y="5848033"/>
            <a:ext cx="11214537" cy="321242"/>
          </a:xfrm>
          <a:prstGeom prst="rect">
            <a:avLst/>
          </a:prstGeom>
        </p:spPr>
        <p:txBody>
          <a:bodyPr vert="horz" wrap="square" lIns="0" tIns="13335" rIns="0" bIns="0" rtlCol="0">
            <a:spAutoFit/>
          </a:bodyPr>
          <a:lstStyle/>
          <a:p>
            <a:pPr marL="12700">
              <a:lnSpc>
                <a:spcPct val="100000"/>
              </a:lnSpc>
              <a:spcBef>
                <a:spcPts val="105"/>
              </a:spcBef>
            </a:pPr>
            <a:r>
              <a:rPr sz="2000" b="1" i="1" spc="-55" dirty="0">
                <a:latin typeface="微软雅黑" panose="020B0503020204020204" pitchFamily="34" charset="-122"/>
                <a:ea typeface="微软雅黑" panose="020B0503020204020204" pitchFamily="34" charset="-122"/>
                <a:cs typeface="华文新魏" panose="02010800040101010101" charset="-122"/>
              </a:rPr>
              <a:t>练习：在图中增加一个新的状态和相关的状态迁移，表示在物品投递之前的任何环节都可以取消订单</a:t>
            </a:r>
            <a:endParaRPr sz="2000" dirty="0">
              <a:latin typeface="微软雅黑" panose="020B0503020204020204" pitchFamily="34" charset="-122"/>
              <a:ea typeface="微软雅黑" panose="020B0503020204020204" pitchFamily="34" charset="-122"/>
              <a:cs typeface="华文新魏" panose="02010800040101010101" charset="-122"/>
            </a:endParaRPr>
          </a:p>
        </p:txBody>
      </p:sp>
      <p:grpSp>
        <p:nvGrpSpPr>
          <p:cNvPr id="48" name="组合 47"/>
          <p:cNvGrpSpPr/>
          <p:nvPr/>
        </p:nvGrpSpPr>
        <p:grpSpPr>
          <a:xfrm>
            <a:off x="1660634" y="1481960"/>
            <a:ext cx="9693165" cy="4136578"/>
            <a:chOff x="2046287" y="1515021"/>
            <a:chExt cx="7986924" cy="3461757"/>
          </a:xfrm>
        </p:grpSpPr>
        <p:sp>
          <p:nvSpPr>
            <p:cNvPr id="3" name="object 3"/>
            <p:cNvSpPr txBox="1"/>
            <p:nvPr/>
          </p:nvSpPr>
          <p:spPr>
            <a:xfrm>
              <a:off x="2323571" y="1528093"/>
              <a:ext cx="560070"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Order</a:t>
              </a:r>
              <a:endParaRPr sz="1600">
                <a:latin typeface="华文新魏" panose="02010800040101010101" charset="-122"/>
                <a:cs typeface="华文新魏" panose="02010800040101010101" charset="-122"/>
              </a:endParaRPr>
            </a:p>
          </p:txBody>
        </p:sp>
        <p:sp>
          <p:nvSpPr>
            <p:cNvPr id="4" name="object 4"/>
            <p:cNvSpPr txBox="1"/>
            <p:nvPr/>
          </p:nvSpPr>
          <p:spPr>
            <a:xfrm>
              <a:off x="4097338" y="2866355"/>
              <a:ext cx="62611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Checking</a:t>
              </a:r>
              <a:endParaRPr sz="1200">
                <a:latin typeface="华文新魏" panose="02010800040101010101" charset="-122"/>
                <a:cs typeface="华文新魏" panose="02010800040101010101" charset="-122"/>
              </a:endParaRPr>
            </a:p>
          </p:txBody>
        </p:sp>
        <p:sp>
          <p:nvSpPr>
            <p:cNvPr id="5" name="object 5"/>
            <p:cNvSpPr/>
            <p:nvPr/>
          </p:nvSpPr>
          <p:spPr>
            <a:xfrm>
              <a:off x="3647017" y="3098130"/>
              <a:ext cx="1949450" cy="0"/>
            </a:xfrm>
            <a:custGeom>
              <a:avLst/>
              <a:gdLst/>
              <a:ahLst/>
              <a:cxnLst/>
              <a:rect l="l" t="t" r="r" b="b"/>
              <a:pathLst>
                <a:path w="1949450">
                  <a:moveTo>
                    <a:pt x="1949448" y="0"/>
                  </a:moveTo>
                  <a:lnTo>
                    <a:pt x="0" y="1"/>
                  </a:lnTo>
                </a:path>
              </a:pathLst>
            </a:custGeom>
            <a:ln w="12699">
              <a:solidFill>
                <a:srgbClr val="000000"/>
              </a:solidFill>
            </a:ln>
          </p:spPr>
          <p:txBody>
            <a:bodyPr wrap="square" lIns="0" tIns="0" rIns="0" bIns="0" rtlCol="0"/>
            <a:lstStyle/>
            <a:p>
              <a:endParaRPr/>
            </a:p>
          </p:txBody>
        </p:sp>
        <p:sp>
          <p:nvSpPr>
            <p:cNvPr id="6" name="object 6"/>
            <p:cNvSpPr txBox="1"/>
            <p:nvPr/>
          </p:nvSpPr>
          <p:spPr>
            <a:xfrm>
              <a:off x="3775605" y="3077493"/>
              <a:ext cx="98488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do: check</a:t>
              </a:r>
              <a:r>
                <a:rPr sz="1200" b="1" spc="-5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item</a:t>
              </a:r>
              <a:endParaRPr sz="1200" dirty="0">
                <a:latin typeface="华文新魏" panose="02010800040101010101" charset="-122"/>
                <a:cs typeface="华文新魏" panose="02010800040101010101" charset="-122"/>
              </a:endParaRPr>
            </a:p>
          </p:txBody>
        </p:sp>
        <p:sp>
          <p:nvSpPr>
            <p:cNvPr id="7" name="object 7"/>
            <p:cNvSpPr/>
            <p:nvPr/>
          </p:nvSpPr>
          <p:spPr>
            <a:xfrm>
              <a:off x="4265082" y="1766218"/>
              <a:ext cx="205318" cy="157163"/>
            </a:xfrm>
            <a:prstGeom prst="rect">
              <a:avLst/>
            </a:prstGeom>
            <a:blipFill>
              <a:blip r:embed="rId3" cstate="print"/>
              <a:stretch>
                <a:fillRect/>
              </a:stretch>
            </a:blipFill>
          </p:spPr>
          <p:txBody>
            <a:bodyPr wrap="square" lIns="0" tIns="0" rIns="0" bIns="0" rtlCol="0"/>
            <a:lstStyle/>
            <a:p>
              <a:endParaRPr/>
            </a:p>
          </p:txBody>
        </p:sp>
        <p:sp>
          <p:nvSpPr>
            <p:cNvPr id="8" name="object 8"/>
            <p:cNvSpPr txBox="1"/>
            <p:nvPr/>
          </p:nvSpPr>
          <p:spPr>
            <a:xfrm>
              <a:off x="4248785" y="1515021"/>
              <a:ext cx="323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Start</a:t>
              </a:r>
              <a:endParaRPr sz="1200" dirty="0">
                <a:latin typeface="华文新魏" panose="02010800040101010101" charset="-122"/>
                <a:cs typeface="华文新魏" panose="02010800040101010101" charset="-122"/>
              </a:endParaRPr>
            </a:p>
          </p:txBody>
        </p:sp>
        <p:sp>
          <p:nvSpPr>
            <p:cNvPr id="9" name="object 9"/>
            <p:cNvSpPr txBox="1"/>
            <p:nvPr/>
          </p:nvSpPr>
          <p:spPr>
            <a:xfrm>
              <a:off x="2107671" y="2444080"/>
              <a:ext cx="1536700" cy="349885"/>
            </a:xfrm>
            <a:prstGeom prst="rect">
              <a:avLst/>
            </a:prstGeom>
          </p:spPr>
          <p:txBody>
            <a:bodyPr vert="horz" wrap="square" lIns="0" tIns="12700" rIns="0" bIns="0" rtlCol="0">
              <a:spAutoFit/>
            </a:bodyPr>
            <a:lstStyle/>
            <a:p>
              <a:pPr marL="12700">
                <a:lnSpc>
                  <a:spcPts val="1275"/>
                </a:lnSpc>
                <a:spcBef>
                  <a:spcPts val="100"/>
                </a:spcBef>
              </a:pPr>
              <a:r>
                <a:rPr sz="1200" b="1" spc="-5" dirty="0">
                  <a:latin typeface="华文新魏" panose="02010800040101010101" charset="-122"/>
                  <a:cs typeface="华文新魏" panose="02010800040101010101" charset="-122"/>
                </a:rPr>
                <a:t>get next</a:t>
              </a:r>
              <a:r>
                <a:rPr sz="1200" b="1" spc="-1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item</a:t>
              </a:r>
              <a:endParaRPr sz="1200">
                <a:latin typeface="华文新魏" panose="02010800040101010101" charset="-122"/>
                <a:cs typeface="华文新魏" panose="02010800040101010101" charset="-122"/>
              </a:endParaRPr>
            </a:p>
            <a:p>
              <a:pPr marL="12700">
                <a:lnSpc>
                  <a:spcPts val="1275"/>
                </a:lnSpc>
              </a:pPr>
              <a:r>
                <a:rPr sz="1200" b="1" spc="-5" dirty="0">
                  <a:latin typeface="华文新魏" panose="02010800040101010101" charset="-122"/>
                  <a:cs typeface="华文新魏" panose="02010800040101010101" charset="-122"/>
                </a:rPr>
                <a:t>[Not all items</a:t>
              </a:r>
              <a:r>
                <a:rPr sz="1200" b="1" spc="-3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checked]</a:t>
              </a:r>
              <a:endParaRPr sz="1200">
                <a:latin typeface="华文新魏" panose="02010800040101010101" charset="-122"/>
                <a:cs typeface="华文新魏" panose="02010800040101010101" charset="-122"/>
              </a:endParaRPr>
            </a:p>
          </p:txBody>
        </p:sp>
        <p:sp>
          <p:nvSpPr>
            <p:cNvPr id="10" name="object 10"/>
            <p:cNvSpPr txBox="1"/>
            <p:nvPr/>
          </p:nvSpPr>
          <p:spPr>
            <a:xfrm>
              <a:off x="8444970" y="2866355"/>
              <a:ext cx="79121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Dispatching</a:t>
              </a:r>
              <a:endParaRPr sz="1200">
                <a:latin typeface="华文新魏" panose="02010800040101010101" charset="-122"/>
                <a:cs typeface="华文新魏" panose="02010800040101010101" charset="-122"/>
              </a:endParaRPr>
            </a:p>
          </p:txBody>
        </p:sp>
        <p:sp>
          <p:nvSpPr>
            <p:cNvPr id="11" name="object 11"/>
            <p:cNvSpPr/>
            <p:nvPr/>
          </p:nvSpPr>
          <p:spPr>
            <a:xfrm>
              <a:off x="7916333" y="3090191"/>
              <a:ext cx="2049145" cy="0"/>
            </a:xfrm>
            <a:custGeom>
              <a:avLst/>
              <a:gdLst/>
              <a:ahLst/>
              <a:cxnLst/>
              <a:rect l="l" t="t" r="r" b="b"/>
              <a:pathLst>
                <a:path w="2049145">
                  <a:moveTo>
                    <a:pt x="2048932" y="0"/>
                  </a:moveTo>
                  <a:lnTo>
                    <a:pt x="0" y="1"/>
                  </a:lnTo>
                </a:path>
              </a:pathLst>
            </a:custGeom>
            <a:ln w="12699">
              <a:solidFill>
                <a:srgbClr val="000000"/>
              </a:solidFill>
            </a:ln>
          </p:spPr>
          <p:txBody>
            <a:bodyPr wrap="square" lIns="0" tIns="0" rIns="0" bIns="0" rtlCol="0"/>
            <a:lstStyle/>
            <a:p>
              <a:endParaRPr/>
            </a:p>
          </p:txBody>
        </p:sp>
        <p:sp>
          <p:nvSpPr>
            <p:cNvPr id="12" name="object 12"/>
            <p:cNvSpPr txBox="1"/>
            <p:nvPr/>
          </p:nvSpPr>
          <p:spPr>
            <a:xfrm>
              <a:off x="8072437" y="3077493"/>
              <a:ext cx="131191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do: initiate</a:t>
              </a:r>
              <a:r>
                <a:rPr sz="1200" b="1" spc="-3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delivery</a:t>
              </a:r>
              <a:endParaRPr sz="1200">
                <a:latin typeface="华文新魏" panose="02010800040101010101" charset="-122"/>
                <a:cs typeface="华文新魏" panose="02010800040101010101" charset="-122"/>
              </a:endParaRPr>
            </a:p>
          </p:txBody>
        </p:sp>
        <p:sp>
          <p:nvSpPr>
            <p:cNvPr id="13" name="object 13"/>
            <p:cNvSpPr txBox="1"/>
            <p:nvPr/>
          </p:nvSpPr>
          <p:spPr>
            <a:xfrm>
              <a:off x="5761038" y="2655216"/>
              <a:ext cx="1457960" cy="349885"/>
            </a:xfrm>
            <a:prstGeom prst="rect">
              <a:avLst/>
            </a:prstGeom>
          </p:spPr>
          <p:txBody>
            <a:bodyPr vert="horz" wrap="square" lIns="0" tIns="53975" rIns="0" bIns="0" rtlCol="0">
              <a:spAutoFit/>
            </a:bodyPr>
            <a:lstStyle/>
            <a:p>
              <a:pPr marL="43180" marR="5080" indent="-31115">
                <a:lnSpc>
                  <a:spcPct val="77000"/>
                </a:lnSpc>
                <a:spcBef>
                  <a:spcPts val="425"/>
                </a:spcBef>
              </a:pPr>
              <a:r>
                <a:rPr sz="1200" b="1" spc="-5" dirty="0">
                  <a:latin typeface="华文新魏" panose="02010800040101010101" charset="-122"/>
                  <a:cs typeface="华文新魏" panose="02010800040101010101" charset="-122"/>
                </a:rPr>
                <a:t>[All items checked</a:t>
              </a:r>
              <a:r>
                <a:rPr sz="1200" b="1" spc="-4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&amp;&amp;  all items</a:t>
              </a:r>
              <a:r>
                <a:rPr sz="1200" b="1" spc="-2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available]</a:t>
              </a:r>
              <a:endParaRPr sz="1200">
                <a:latin typeface="华文新魏" panose="02010800040101010101" charset="-122"/>
                <a:cs typeface="华文新魏" panose="02010800040101010101" charset="-122"/>
              </a:endParaRPr>
            </a:p>
          </p:txBody>
        </p:sp>
        <p:sp>
          <p:nvSpPr>
            <p:cNvPr id="14" name="object 14"/>
            <p:cNvSpPr txBox="1"/>
            <p:nvPr/>
          </p:nvSpPr>
          <p:spPr>
            <a:xfrm>
              <a:off x="3989388" y="4063330"/>
              <a:ext cx="54483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Waiting</a:t>
              </a:r>
              <a:endParaRPr sz="1200">
                <a:latin typeface="华文新魏" panose="02010800040101010101" charset="-122"/>
                <a:cs typeface="华文新魏" panose="02010800040101010101" charset="-122"/>
              </a:endParaRPr>
            </a:p>
          </p:txBody>
        </p:sp>
        <p:sp>
          <p:nvSpPr>
            <p:cNvPr id="15" name="object 15"/>
            <p:cNvSpPr txBox="1"/>
            <p:nvPr/>
          </p:nvSpPr>
          <p:spPr>
            <a:xfrm>
              <a:off x="2164820" y="4626893"/>
              <a:ext cx="1662430" cy="349885"/>
            </a:xfrm>
            <a:prstGeom prst="rect">
              <a:avLst/>
            </a:prstGeom>
          </p:spPr>
          <p:txBody>
            <a:bodyPr vert="horz" wrap="square" lIns="0" tIns="12700" rIns="0" bIns="0" rtlCol="0">
              <a:spAutoFit/>
            </a:bodyPr>
            <a:lstStyle/>
            <a:p>
              <a:pPr marL="12700">
                <a:lnSpc>
                  <a:spcPts val="1275"/>
                </a:lnSpc>
                <a:spcBef>
                  <a:spcPts val="100"/>
                </a:spcBef>
              </a:pPr>
              <a:r>
                <a:rPr sz="1200" b="1" spc="-5" dirty="0">
                  <a:latin typeface="华文新魏" panose="02010800040101010101" charset="-122"/>
                  <a:cs typeface="华文新魏" panose="02010800040101010101" charset="-122"/>
                </a:rPr>
                <a:t>Item</a:t>
              </a:r>
              <a:r>
                <a:rPr sz="1200" b="1" spc="-1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Received</a:t>
              </a:r>
              <a:endParaRPr sz="1200">
                <a:latin typeface="华文新魏" panose="02010800040101010101" charset="-122"/>
                <a:cs typeface="华文新魏" panose="02010800040101010101" charset="-122"/>
              </a:endParaRPr>
            </a:p>
            <a:p>
              <a:pPr marL="12700">
                <a:lnSpc>
                  <a:spcPts val="1275"/>
                </a:lnSpc>
              </a:pPr>
              <a:r>
                <a:rPr sz="1200" b="1" spc="-5" dirty="0">
                  <a:latin typeface="华文新魏" panose="02010800040101010101" charset="-122"/>
                  <a:cs typeface="华文新魏" panose="02010800040101010101" charset="-122"/>
                </a:rPr>
                <a:t>[some items not in</a:t>
              </a:r>
              <a:r>
                <a:rPr sz="1200" b="1" spc="-2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stock]</a:t>
              </a:r>
              <a:endParaRPr sz="1200">
                <a:latin typeface="华文新魏" panose="02010800040101010101" charset="-122"/>
                <a:cs typeface="华文新魏" panose="02010800040101010101" charset="-122"/>
              </a:endParaRPr>
            </a:p>
          </p:txBody>
        </p:sp>
        <p:sp>
          <p:nvSpPr>
            <p:cNvPr id="16" name="object 16"/>
            <p:cNvSpPr txBox="1"/>
            <p:nvPr/>
          </p:nvSpPr>
          <p:spPr>
            <a:xfrm>
              <a:off x="2046287" y="3388643"/>
              <a:ext cx="1758314" cy="391160"/>
            </a:xfrm>
            <a:prstGeom prst="rect">
              <a:avLst/>
            </a:prstGeom>
          </p:spPr>
          <p:txBody>
            <a:bodyPr vert="horz" wrap="square" lIns="0" tIns="12700" rIns="0" bIns="0" rtlCol="0">
              <a:spAutoFit/>
            </a:bodyPr>
            <a:lstStyle/>
            <a:p>
              <a:pPr marL="161925" marR="5080" indent="-149860">
                <a:lnSpc>
                  <a:spcPct val="100000"/>
                </a:lnSpc>
                <a:spcBef>
                  <a:spcPts val="100"/>
                </a:spcBef>
              </a:pPr>
              <a:r>
                <a:rPr sz="1200" b="1" spc="-5" dirty="0">
                  <a:latin typeface="华文新魏" panose="02010800040101010101" charset="-122"/>
                  <a:cs typeface="华文新魏" panose="02010800040101010101" charset="-122"/>
                </a:rPr>
                <a:t>[All items checked &amp;&amp;  some items not in</a:t>
              </a:r>
              <a:r>
                <a:rPr sz="1200" b="1" spc="-3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stock]</a:t>
              </a:r>
              <a:endParaRPr sz="1200">
                <a:latin typeface="华文新魏" panose="02010800040101010101" charset="-122"/>
                <a:cs typeface="华文新魏" panose="02010800040101010101" charset="-122"/>
              </a:endParaRPr>
            </a:p>
          </p:txBody>
        </p:sp>
        <p:sp>
          <p:nvSpPr>
            <p:cNvPr id="17" name="object 17"/>
            <p:cNvSpPr txBox="1"/>
            <p:nvPr/>
          </p:nvSpPr>
          <p:spPr>
            <a:xfrm>
              <a:off x="8660871" y="4485605"/>
              <a:ext cx="6648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Delivered</a:t>
              </a:r>
              <a:endParaRPr sz="1200">
                <a:latin typeface="华文新魏" panose="02010800040101010101" charset="-122"/>
                <a:cs typeface="华文新魏" panose="02010800040101010101" charset="-122"/>
              </a:endParaRPr>
            </a:p>
          </p:txBody>
        </p:sp>
        <p:sp>
          <p:nvSpPr>
            <p:cNvPr id="18" name="object 18"/>
            <p:cNvSpPr/>
            <p:nvPr/>
          </p:nvSpPr>
          <p:spPr>
            <a:xfrm>
              <a:off x="4301066" y="2702841"/>
              <a:ext cx="124883" cy="119062"/>
            </a:xfrm>
            <a:prstGeom prst="rect">
              <a:avLst/>
            </a:prstGeom>
            <a:blipFill>
              <a:blip r:embed="rId4" cstate="print"/>
              <a:stretch>
                <a:fillRect/>
              </a:stretch>
            </a:blipFill>
          </p:spPr>
          <p:txBody>
            <a:bodyPr wrap="square" lIns="0" tIns="0" rIns="0" bIns="0" rtlCol="0"/>
            <a:lstStyle/>
            <a:p>
              <a:endParaRPr/>
            </a:p>
          </p:txBody>
        </p:sp>
        <p:sp>
          <p:nvSpPr>
            <p:cNvPr id="19" name="object 19"/>
            <p:cNvSpPr/>
            <p:nvPr/>
          </p:nvSpPr>
          <p:spPr>
            <a:xfrm>
              <a:off x="4364566" y="1917032"/>
              <a:ext cx="4445" cy="822325"/>
            </a:xfrm>
            <a:custGeom>
              <a:avLst/>
              <a:gdLst/>
              <a:ahLst/>
              <a:cxnLst/>
              <a:rect l="l" t="t" r="r" b="b"/>
              <a:pathLst>
                <a:path w="4445" h="822325">
                  <a:moveTo>
                    <a:pt x="4233" y="0"/>
                  </a:moveTo>
                  <a:lnTo>
                    <a:pt x="0" y="822324"/>
                  </a:lnTo>
                </a:path>
              </a:pathLst>
            </a:custGeom>
            <a:ln w="12699">
              <a:solidFill>
                <a:srgbClr val="000000"/>
              </a:solidFill>
            </a:ln>
          </p:spPr>
          <p:txBody>
            <a:bodyPr wrap="square" lIns="0" tIns="0" rIns="0" bIns="0" rtlCol="0"/>
            <a:lstStyle/>
            <a:p>
              <a:endParaRPr/>
            </a:p>
          </p:txBody>
        </p:sp>
        <p:sp>
          <p:nvSpPr>
            <p:cNvPr id="20" name="object 20"/>
            <p:cNvSpPr txBox="1"/>
            <p:nvPr/>
          </p:nvSpPr>
          <p:spPr>
            <a:xfrm>
              <a:off x="4527020" y="2163093"/>
              <a:ext cx="8947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/get first</a:t>
              </a:r>
              <a:r>
                <a:rPr sz="1200" b="1" spc="-5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item</a:t>
              </a:r>
              <a:endParaRPr sz="1200">
                <a:latin typeface="华文新魏" panose="02010800040101010101" charset="-122"/>
                <a:cs typeface="华文新魏" panose="02010800040101010101" charset="-122"/>
              </a:endParaRPr>
            </a:p>
          </p:txBody>
        </p:sp>
        <p:sp>
          <p:nvSpPr>
            <p:cNvPr id="21" name="object 21"/>
            <p:cNvSpPr/>
            <p:nvPr/>
          </p:nvSpPr>
          <p:spPr>
            <a:xfrm>
              <a:off x="3471333" y="2833018"/>
              <a:ext cx="186266" cy="85725"/>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2472266" y="2880641"/>
              <a:ext cx="1183640" cy="254000"/>
            </a:xfrm>
            <a:custGeom>
              <a:avLst/>
              <a:gdLst/>
              <a:ahLst/>
              <a:cxnLst/>
              <a:rect l="l" t="t" r="r" b="b"/>
              <a:pathLst>
                <a:path w="1183639" h="254000">
                  <a:moveTo>
                    <a:pt x="1183215" y="254000"/>
                  </a:moveTo>
                  <a:lnTo>
                    <a:pt x="0" y="254000"/>
                  </a:lnTo>
                  <a:lnTo>
                    <a:pt x="0" y="6349"/>
                  </a:lnTo>
                  <a:lnTo>
                    <a:pt x="1130299" y="6349"/>
                  </a:lnTo>
                  <a:lnTo>
                    <a:pt x="1071032" y="0"/>
                  </a:lnTo>
                </a:path>
              </a:pathLst>
            </a:custGeom>
            <a:ln w="12699">
              <a:solidFill>
                <a:srgbClr val="000000"/>
              </a:solidFill>
            </a:ln>
          </p:spPr>
          <p:txBody>
            <a:bodyPr wrap="square" lIns="0" tIns="0" rIns="0" bIns="0" rtlCol="0"/>
            <a:lstStyle/>
            <a:p>
              <a:endParaRPr/>
            </a:p>
          </p:txBody>
        </p:sp>
        <p:sp>
          <p:nvSpPr>
            <p:cNvPr id="23" name="object 23"/>
            <p:cNvSpPr/>
            <p:nvPr/>
          </p:nvSpPr>
          <p:spPr>
            <a:xfrm>
              <a:off x="7780866" y="2983830"/>
              <a:ext cx="175683" cy="87312"/>
            </a:xfrm>
            <a:prstGeom prst="rect">
              <a:avLst/>
            </a:prstGeom>
            <a:blipFill>
              <a:blip r:embed="rId6" cstate="print"/>
              <a:stretch>
                <a:fillRect/>
              </a:stretch>
            </a:blipFill>
          </p:spPr>
          <p:txBody>
            <a:bodyPr wrap="square" lIns="0" tIns="0" rIns="0" bIns="0" rtlCol="0"/>
            <a:lstStyle/>
            <a:p>
              <a:endParaRPr/>
            </a:p>
          </p:txBody>
        </p:sp>
        <p:sp>
          <p:nvSpPr>
            <p:cNvPr id="24" name="object 24"/>
            <p:cNvSpPr/>
            <p:nvPr/>
          </p:nvSpPr>
          <p:spPr>
            <a:xfrm>
              <a:off x="5596466" y="3026691"/>
              <a:ext cx="2239645" cy="0"/>
            </a:xfrm>
            <a:custGeom>
              <a:avLst/>
              <a:gdLst/>
              <a:ahLst/>
              <a:cxnLst/>
              <a:rect l="l" t="t" r="r" b="b"/>
              <a:pathLst>
                <a:path w="2239645">
                  <a:moveTo>
                    <a:pt x="0" y="0"/>
                  </a:moveTo>
                  <a:lnTo>
                    <a:pt x="2239432" y="1"/>
                  </a:lnTo>
                </a:path>
              </a:pathLst>
            </a:custGeom>
            <a:ln w="12699">
              <a:solidFill>
                <a:srgbClr val="000000"/>
              </a:solidFill>
            </a:ln>
          </p:spPr>
          <p:txBody>
            <a:bodyPr wrap="square" lIns="0" tIns="0" rIns="0" bIns="0" rtlCol="0"/>
            <a:lstStyle/>
            <a:p>
              <a:endParaRPr/>
            </a:p>
          </p:txBody>
        </p:sp>
        <p:sp>
          <p:nvSpPr>
            <p:cNvPr id="25" name="object 25"/>
            <p:cNvSpPr/>
            <p:nvPr/>
          </p:nvSpPr>
          <p:spPr>
            <a:xfrm>
              <a:off x="3699934" y="4110956"/>
              <a:ext cx="175683" cy="85724"/>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3117849" y="4153818"/>
              <a:ext cx="914400" cy="459105"/>
            </a:xfrm>
            <a:custGeom>
              <a:avLst/>
              <a:gdLst/>
              <a:ahLst/>
              <a:cxnLst/>
              <a:rect l="l" t="t" r="r" b="b"/>
              <a:pathLst>
                <a:path w="914400" h="459104">
                  <a:moveTo>
                    <a:pt x="914399" y="141287"/>
                  </a:moveTo>
                  <a:lnTo>
                    <a:pt x="914399" y="458787"/>
                  </a:lnTo>
                  <a:lnTo>
                    <a:pt x="0" y="458787"/>
                  </a:lnTo>
                  <a:lnTo>
                    <a:pt x="0" y="0"/>
                  </a:lnTo>
                  <a:lnTo>
                    <a:pt x="643466" y="0"/>
                  </a:lnTo>
                </a:path>
              </a:pathLst>
            </a:custGeom>
            <a:ln w="12699">
              <a:solidFill>
                <a:srgbClr val="000000"/>
              </a:solidFill>
            </a:ln>
          </p:spPr>
          <p:txBody>
            <a:bodyPr wrap="square" lIns="0" tIns="0" rIns="0" bIns="0" rtlCol="0"/>
            <a:lstStyle/>
            <a:p>
              <a:endParaRPr/>
            </a:p>
          </p:txBody>
        </p:sp>
        <p:sp>
          <p:nvSpPr>
            <p:cNvPr id="27" name="object 27"/>
            <p:cNvSpPr/>
            <p:nvPr/>
          </p:nvSpPr>
          <p:spPr>
            <a:xfrm>
              <a:off x="4614333" y="3899816"/>
              <a:ext cx="124883" cy="119062"/>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4677832" y="3239416"/>
              <a:ext cx="0" cy="703580"/>
            </a:xfrm>
            <a:custGeom>
              <a:avLst/>
              <a:gdLst/>
              <a:ahLst/>
              <a:cxnLst/>
              <a:rect l="l" t="t" r="r" b="b"/>
              <a:pathLst>
                <a:path h="703579">
                  <a:moveTo>
                    <a:pt x="0" y="0"/>
                  </a:moveTo>
                  <a:lnTo>
                    <a:pt x="0" y="176212"/>
                  </a:lnTo>
                  <a:lnTo>
                    <a:pt x="0" y="703262"/>
                  </a:lnTo>
                </a:path>
              </a:pathLst>
            </a:custGeom>
            <a:ln w="12699">
              <a:solidFill>
                <a:srgbClr val="000000"/>
              </a:solidFill>
            </a:ln>
          </p:spPr>
          <p:txBody>
            <a:bodyPr wrap="square" lIns="0" tIns="0" rIns="0" bIns="0" rtlCol="0"/>
            <a:lstStyle/>
            <a:p>
              <a:endParaRPr/>
            </a:p>
          </p:txBody>
        </p:sp>
        <p:sp>
          <p:nvSpPr>
            <p:cNvPr id="29" name="object 29"/>
            <p:cNvSpPr/>
            <p:nvPr/>
          </p:nvSpPr>
          <p:spPr>
            <a:xfrm>
              <a:off x="7683501" y="3182266"/>
              <a:ext cx="182032" cy="85725"/>
            </a:xfrm>
            <a:prstGeom prst="rect">
              <a:avLst/>
            </a:prstGeom>
            <a:blipFill>
              <a:blip r:embed="rId8" cstate="print"/>
              <a:stretch>
                <a:fillRect/>
              </a:stretch>
            </a:blipFill>
          </p:spPr>
          <p:txBody>
            <a:bodyPr wrap="square" lIns="0" tIns="0" rIns="0" bIns="0" rtlCol="0"/>
            <a:lstStyle/>
            <a:p>
              <a:endParaRPr/>
            </a:p>
          </p:txBody>
        </p:sp>
        <p:sp>
          <p:nvSpPr>
            <p:cNvPr id="30" name="object 30"/>
            <p:cNvSpPr/>
            <p:nvPr/>
          </p:nvSpPr>
          <p:spPr>
            <a:xfrm>
              <a:off x="4952998" y="3209256"/>
              <a:ext cx="2802890" cy="866775"/>
            </a:xfrm>
            <a:custGeom>
              <a:avLst/>
              <a:gdLst/>
              <a:ahLst/>
              <a:cxnLst/>
              <a:rect l="l" t="t" r="r" b="b"/>
              <a:pathLst>
                <a:path w="2802890" h="866775">
                  <a:moveTo>
                    <a:pt x="0" y="866774"/>
                  </a:moveTo>
                  <a:lnTo>
                    <a:pt x="2802465" y="0"/>
                  </a:lnTo>
                </a:path>
              </a:pathLst>
            </a:custGeom>
            <a:ln w="12699">
              <a:solidFill>
                <a:srgbClr val="000000"/>
              </a:solidFill>
            </a:ln>
          </p:spPr>
          <p:txBody>
            <a:bodyPr wrap="square" lIns="0" tIns="0" rIns="0" bIns="0" rtlCol="0"/>
            <a:lstStyle/>
            <a:p>
              <a:endParaRPr/>
            </a:p>
          </p:txBody>
        </p:sp>
        <p:sp>
          <p:nvSpPr>
            <p:cNvPr id="31" name="object 31"/>
            <p:cNvSpPr txBox="1"/>
            <p:nvPr/>
          </p:nvSpPr>
          <p:spPr>
            <a:xfrm>
              <a:off x="6137804" y="3710905"/>
              <a:ext cx="1294765" cy="349885"/>
            </a:xfrm>
            <a:prstGeom prst="rect">
              <a:avLst/>
            </a:prstGeom>
          </p:spPr>
          <p:txBody>
            <a:bodyPr vert="horz" wrap="square" lIns="0" tIns="12700" rIns="0" bIns="0" rtlCol="0">
              <a:spAutoFit/>
            </a:bodyPr>
            <a:lstStyle/>
            <a:p>
              <a:pPr marL="12700">
                <a:lnSpc>
                  <a:spcPts val="1275"/>
                </a:lnSpc>
                <a:spcBef>
                  <a:spcPts val="100"/>
                </a:spcBef>
              </a:pPr>
              <a:r>
                <a:rPr sz="1200" b="1" spc="-5" dirty="0">
                  <a:latin typeface="华文新魏" panose="02010800040101010101" charset="-122"/>
                  <a:cs typeface="华文新魏" panose="02010800040101010101" charset="-122"/>
                </a:rPr>
                <a:t>Item</a:t>
              </a:r>
              <a:r>
                <a:rPr sz="1200" b="1" spc="-1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Received</a:t>
              </a:r>
              <a:endParaRPr sz="1200">
                <a:latin typeface="华文新魏" panose="02010800040101010101" charset="-122"/>
                <a:cs typeface="华文新魏" panose="02010800040101010101" charset="-122"/>
              </a:endParaRPr>
            </a:p>
            <a:p>
              <a:pPr marL="12700">
                <a:lnSpc>
                  <a:spcPts val="1275"/>
                </a:lnSpc>
              </a:pPr>
              <a:r>
                <a:rPr sz="1200" b="1" spc="-5" dirty="0">
                  <a:latin typeface="华文新魏" panose="02010800040101010101" charset="-122"/>
                  <a:cs typeface="华文新魏" panose="02010800040101010101" charset="-122"/>
                </a:rPr>
                <a:t>[all items</a:t>
              </a:r>
              <a:r>
                <a:rPr sz="1200" b="1" spc="-3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available]</a:t>
              </a:r>
              <a:endParaRPr sz="1200">
                <a:latin typeface="华文新魏" panose="02010800040101010101" charset="-122"/>
                <a:cs typeface="华文新魏" panose="02010800040101010101" charset="-122"/>
              </a:endParaRPr>
            </a:p>
          </p:txBody>
        </p:sp>
        <p:sp>
          <p:nvSpPr>
            <p:cNvPr id="32" name="object 32"/>
            <p:cNvSpPr/>
            <p:nvPr/>
          </p:nvSpPr>
          <p:spPr>
            <a:xfrm>
              <a:off x="9127067" y="4322091"/>
              <a:ext cx="122766" cy="119062"/>
            </a:xfrm>
            <a:prstGeom prst="rect">
              <a:avLst/>
            </a:prstGeom>
            <a:blipFill>
              <a:blip r:embed="rId9" cstate="print"/>
              <a:stretch>
                <a:fillRect/>
              </a:stretch>
            </a:blipFill>
          </p:spPr>
          <p:txBody>
            <a:bodyPr wrap="square" lIns="0" tIns="0" rIns="0" bIns="0" rtlCol="0"/>
            <a:lstStyle/>
            <a:p>
              <a:endParaRPr/>
            </a:p>
          </p:txBody>
        </p:sp>
        <p:sp>
          <p:nvSpPr>
            <p:cNvPr id="33" name="object 33"/>
            <p:cNvSpPr/>
            <p:nvPr/>
          </p:nvSpPr>
          <p:spPr>
            <a:xfrm>
              <a:off x="9169398" y="3285455"/>
              <a:ext cx="19050" cy="1073150"/>
            </a:xfrm>
            <a:custGeom>
              <a:avLst/>
              <a:gdLst/>
              <a:ahLst/>
              <a:cxnLst/>
              <a:rect l="l" t="t" r="r" b="b"/>
              <a:pathLst>
                <a:path w="19050" h="1073150">
                  <a:moveTo>
                    <a:pt x="0" y="0"/>
                  </a:moveTo>
                  <a:lnTo>
                    <a:pt x="19050" y="1073149"/>
                  </a:lnTo>
                </a:path>
              </a:pathLst>
            </a:custGeom>
            <a:ln w="12699">
              <a:solidFill>
                <a:srgbClr val="000000"/>
              </a:solidFill>
            </a:ln>
          </p:spPr>
          <p:txBody>
            <a:bodyPr wrap="square" lIns="0" tIns="0" rIns="0" bIns="0" rtlCol="0"/>
            <a:lstStyle/>
            <a:p>
              <a:endParaRPr/>
            </a:p>
          </p:txBody>
        </p:sp>
        <p:sp>
          <p:nvSpPr>
            <p:cNvPr id="34" name="object 34"/>
            <p:cNvSpPr txBox="1"/>
            <p:nvPr/>
          </p:nvSpPr>
          <p:spPr>
            <a:xfrm>
              <a:off x="9253539" y="3710905"/>
              <a:ext cx="6648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Delivered</a:t>
              </a:r>
              <a:endParaRPr sz="1200">
                <a:latin typeface="华文新魏" panose="02010800040101010101" charset="-122"/>
                <a:cs typeface="华文新魏" panose="02010800040101010101" charset="-122"/>
              </a:endParaRPr>
            </a:p>
          </p:txBody>
        </p:sp>
        <p:sp>
          <p:nvSpPr>
            <p:cNvPr id="35" name="object 35"/>
            <p:cNvSpPr/>
            <p:nvPr/>
          </p:nvSpPr>
          <p:spPr>
            <a:xfrm>
              <a:off x="7933266" y="2867941"/>
              <a:ext cx="2099945" cy="488950"/>
            </a:xfrm>
            <a:custGeom>
              <a:avLst/>
              <a:gdLst/>
              <a:ahLst/>
              <a:cxnLst/>
              <a:rect l="l" t="t" r="r" b="b"/>
              <a:pathLst>
                <a:path w="2099945" h="488950">
                  <a:moveTo>
                    <a:pt x="0" y="61093"/>
                  </a:moveTo>
                  <a:lnTo>
                    <a:pt x="4801" y="37313"/>
                  </a:lnTo>
                  <a:lnTo>
                    <a:pt x="17893" y="17893"/>
                  </a:lnTo>
                  <a:lnTo>
                    <a:pt x="37313" y="4801"/>
                  </a:lnTo>
                  <a:lnTo>
                    <a:pt x="61093" y="0"/>
                  </a:lnTo>
                  <a:lnTo>
                    <a:pt x="2038638" y="0"/>
                  </a:lnTo>
                  <a:lnTo>
                    <a:pt x="2062418" y="4801"/>
                  </a:lnTo>
                  <a:lnTo>
                    <a:pt x="2081838" y="17893"/>
                  </a:lnTo>
                  <a:lnTo>
                    <a:pt x="2094931" y="37313"/>
                  </a:lnTo>
                  <a:lnTo>
                    <a:pt x="2099732" y="61093"/>
                  </a:lnTo>
                  <a:lnTo>
                    <a:pt x="2099732" y="427856"/>
                  </a:lnTo>
                  <a:lnTo>
                    <a:pt x="2094931" y="451636"/>
                  </a:lnTo>
                  <a:lnTo>
                    <a:pt x="2081838" y="471055"/>
                  </a:lnTo>
                  <a:lnTo>
                    <a:pt x="2062418" y="484148"/>
                  </a:lnTo>
                  <a:lnTo>
                    <a:pt x="2038638" y="488949"/>
                  </a:lnTo>
                  <a:lnTo>
                    <a:pt x="61093" y="488949"/>
                  </a:lnTo>
                  <a:lnTo>
                    <a:pt x="37313" y="484148"/>
                  </a:lnTo>
                  <a:lnTo>
                    <a:pt x="17893" y="471055"/>
                  </a:lnTo>
                  <a:lnTo>
                    <a:pt x="4801" y="451636"/>
                  </a:lnTo>
                  <a:lnTo>
                    <a:pt x="0" y="427856"/>
                  </a:lnTo>
                  <a:lnTo>
                    <a:pt x="0" y="61093"/>
                  </a:lnTo>
                  <a:close/>
                </a:path>
              </a:pathLst>
            </a:custGeom>
            <a:ln w="12699">
              <a:solidFill>
                <a:srgbClr val="000000"/>
              </a:solidFill>
            </a:ln>
          </p:spPr>
          <p:txBody>
            <a:bodyPr wrap="square" lIns="0" tIns="0" rIns="0" bIns="0" rtlCol="0"/>
            <a:lstStyle/>
            <a:p>
              <a:endParaRPr/>
            </a:p>
          </p:txBody>
        </p:sp>
        <p:sp>
          <p:nvSpPr>
            <p:cNvPr id="36" name="object 36"/>
            <p:cNvSpPr/>
            <p:nvPr/>
          </p:nvSpPr>
          <p:spPr>
            <a:xfrm>
              <a:off x="3600450" y="2853655"/>
              <a:ext cx="2015489" cy="431800"/>
            </a:xfrm>
            <a:custGeom>
              <a:avLst/>
              <a:gdLst/>
              <a:ahLst/>
              <a:cxnLst/>
              <a:rect l="l" t="t" r="r" b="b"/>
              <a:pathLst>
                <a:path w="2015489" h="431800">
                  <a:moveTo>
                    <a:pt x="0" y="53952"/>
                  </a:moveTo>
                  <a:lnTo>
                    <a:pt x="4239" y="32951"/>
                  </a:lnTo>
                  <a:lnTo>
                    <a:pt x="15802" y="15802"/>
                  </a:lnTo>
                  <a:lnTo>
                    <a:pt x="32951" y="4239"/>
                  </a:lnTo>
                  <a:lnTo>
                    <a:pt x="53952" y="0"/>
                  </a:lnTo>
                  <a:lnTo>
                    <a:pt x="1961113" y="0"/>
                  </a:lnTo>
                  <a:lnTo>
                    <a:pt x="1982114" y="4239"/>
                  </a:lnTo>
                  <a:lnTo>
                    <a:pt x="1999263" y="15802"/>
                  </a:lnTo>
                  <a:lnTo>
                    <a:pt x="2010826" y="32951"/>
                  </a:lnTo>
                  <a:lnTo>
                    <a:pt x="2015066" y="53952"/>
                  </a:lnTo>
                  <a:lnTo>
                    <a:pt x="2015066" y="377847"/>
                  </a:lnTo>
                  <a:lnTo>
                    <a:pt x="2010826" y="398847"/>
                  </a:lnTo>
                  <a:lnTo>
                    <a:pt x="1999263" y="415997"/>
                  </a:lnTo>
                  <a:lnTo>
                    <a:pt x="1982114" y="427560"/>
                  </a:lnTo>
                  <a:lnTo>
                    <a:pt x="1961113" y="431799"/>
                  </a:lnTo>
                  <a:lnTo>
                    <a:pt x="53952" y="431799"/>
                  </a:lnTo>
                  <a:lnTo>
                    <a:pt x="32951" y="427560"/>
                  </a:lnTo>
                  <a:lnTo>
                    <a:pt x="15802" y="415997"/>
                  </a:lnTo>
                  <a:lnTo>
                    <a:pt x="4239" y="398847"/>
                  </a:lnTo>
                  <a:lnTo>
                    <a:pt x="0" y="377847"/>
                  </a:lnTo>
                  <a:lnTo>
                    <a:pt x="0" y="53952"/>
                  </a:lnTo>
                  <a:close/>
                </a:path>
              </a:pathLst>
            </a:custGeom>
            <a:ln w="12699">
              <a:solidFill>
                <a:srgbClr val="000000"/>
              </a:solidFill>
            </a:ln>
          </p:spPr>
          <p:txBody>
            <a:bodyPr wrap="square" lIns="0" tIns="0" rIns="0" bIns="0" rtlCol="0"/>
            <a:lstStyle/>
            <a:p>
              <a:endParaRPr/>
            </a:p>
          </p:txBody>
        </p:sp>
        <p:sp>
          <p:nvSpPr>
            <p:cNvPr id="37" name="object 37"/>
            <p:cNvSpPr/>
            <p:nvPr/>
          </p:nvSpPr>
          <p:spPr>
            <a:xfrm>
              <a:off x="3869266" y="4010941"/>
              <a:ext cx="999490" cy="292100"/>
            </a:xfrm>
            <a:custGeom>
              <a:avLst/>
              <a:gdLst/>
              <a:ahLst/>
              <a:cxnLst/>
              <a:rect l="l" t="t" r="r" b="b"/>
              <a:pathLst>
                <a:path w="999489" h="292100">
                  <a:moveTo>
                    <a:pt x="0" y="36497"/>
                  </a:moveTo>
                  <a:lnTo>
                    <a:pt x="2868" y="22291"/>
                  </a:lnTo>
                  <a:lnTo>
                    <a:pt x="10690" y="10689"/>
                  </a:lnTo>
                  <a:lnTo>
                    <a:pt x="22291" y="2868"/>
                  </a:lnTo>
                  <a:lnTo>
                    <a:pt x="36498" y="0"/>
                  </a:lnTo>
                  <a:lnTo>
                    <a:pt x="962568" y="0"/>
                  </a:lnTo>
                  <a:lnTo>
                    <a:pt x="976775" y="2868"/>
                  </a:lnTo>
                  <a:lnTo>
                    <a:pt x="988376" y="10689"/>
                  </a:lnTo>
                  <a:lnTo>
                    <a:pt x="996198" y="22291"/>
                  </a:lnTo>
                  <a:lnTo>
                    <a:pt x="999066" y="36497"/>
                  </a:lnTo>
                  <a:lnTo>
                    <a:pt x="999066" y="255602"/>
                  </a:lnTo>
                  <a:lnTo>
                    <a:pt x="996198" y="269808"/>
                  </a:lnTo>
                  <a:lnTo>
                    <a:pt x="988376" y="281410"/>
                  </a:lnTo>
                  <a:lnTo>
                    <a:pt x="976775" y="289231"/>
                  </a:lnTo>
                  <a:lnTo>
                    <a:pt x="962568" y="292100"/>
                  </a:lnTo>
                  <a:lnTo>
                    <a:pt x="36498" y="292100"/>
                  </a:lnTo>
                  <a:lnTo>
                    <a:pt x="22291" y="289231"/>
                  </a:lnTo>
                  <a:lnTo>
                    <a:pt x="10690" y="281410"/>
                  </a:lnTo>
                  <a:lnTo>
                    <a:pt x="2868" y="269808"/>
                  </a:lnTo>
                  <a:lnTo>
                    <a:pt x="0" y="255602"/>
                  </a:lnTo>
                  <a:lnTo>
                    <a:pt x="0" y="36497"/>
                  </a:lnTo>
                  <a:close/>
                </a:path>
              </a:pathLst>
            </a:custGeom>
            <a:ln w="12699">
              <a:solidFill>
                <a:srgbClr val="000000"/>
              </a:solidFill>
            </a:ln>
          </p:spPr>
          <p:txBody>
            <a:bodyPr wrap="square" lIns="0" tIns="0" rIns="0" bIns="0" rtlCol="0"/>
            <a:lstStyle/>
            <a:p>
              <a:endParaRPr/>
            </a:p>
          </p:txBody>
        </p:sp>
        <p:sp>
          <p:nvSpPr>
            <p:cNvPr id="38" name="object 38"/>
            <p:cNvSpPr/>
            <p:nvPr/>
          </p:nvSpPr>
          <p:spPr>
            <a:xfrm>
              <a:off x="8644465" y="4468143"/>
              <a:ext cx="1101090" cy="257175"/>
            </a:xfrm>
            <a:custGeom>
              <a:avLst/>
              <a:gdLst/>
              <a:ahLst/>
              <a:cxnLst/>
              <a:rect l="l" t="t" r="r" b="b"/>
              <a:pathLst>
                <a:path w="1101090" h="257175">
                  <a:moveTo>
                    <a:pt x="0" y="32134"/>
                  </a:moveTo>
                  <a:lnTo>
                    <a:pt x="2525" y="19626"/>
                  </a:lnTo>
                  <a:lnTo>
                    <a:pt x="9411" y="9411"/>
                  </a:lnTo>
                  <a:lnTo>
                    <a:pt x="19625" y="2525"/>
                  </a:lnTo>
                  <a:lnTo>
                    <a:pt x="32133" y="0"/>
                  </a:lnTo>
                  <a:lnTo>
                    <a:pt x="1068532" y="0"/>
                  </a:lnTo>
                  <a:lnTo>
                    <a:pt x="1081040" y="2525"/>
                  </a:lnTo>
                  <a:lnTo>
                    <a:pt x="1091255" y="9411"/>
                  </a:lnTo>
                  <a:lnTo>
                    <a:pt x="1098141" y="19626"/>
                  </a:lnTo>
                  <a:lnTo>
                    <a:pt x="1100667" y="32134"/>
                  </a:lnTo>
                  <a:lnTo>
                    <a:pt x="1100667" y="225040"/>
                  </a:lnTo>
                  <a:lnTo>
                    <a:pt x="1098141" y="237548"/>
                  </a:lnTo>
                  <a:lnTo>
                    <a:pt x="1091255" y="247763"/>
                  </a:lnTo>
                  <a:lnTo>
                    <a:pt x="1081040" y="254649"/>
                  </a:lnTo>
                  <a:lnTo>
                    <a:pt x="1068532" y="257174"/>
                  </a:lnTo>
                  <a:lnTo>
                    <a:pt x="32133" y="257174"/>
                  </a:lnTo>
                  <a:lnTo>
                    <a:pt x="19625" y="254649"/>
                  </a:lnTo>
                  <a:lnTo>
                    <a:pt x="9411" y="247763"/>
                  </a:lnTo>
                  <a:lnTo>
                    <a:pt x="2525" y="237548"/>
                  </a:lnTo>
                  <a:lnTo>
                    <a:pt x="0" y="225040"/>
                  </a:lnTo>
                  <a:lnTo>
                    <a:pt x="0" y="32134"/>
                  </a:lnTo>
                  <a:close/>
                </a:path>
              </a:pathLst>
            </a:custGeom>
            <a:ln w="12699">
              <a:solidFill>
                <a:srgbClr val="000000"/>
              </a:solidFill>
            </a:ln>
          </p:spPr>
          <p:txBody>
            <a:bodyPr wrap="square" lIns="0" tIns="0" rIns="0" bIns="0" rtlCol="0"/>
            <a:lstStyle/>
            <a:p>
              <a:endParaRPr/>
            </a:p>
          </p:txBody>
        </p:sp>
        <p:sp>
          <p:nvSpPr>
            <p:cNvPr id="40" name="object 40"/>
            <p:cNvSpPr/>
            <p:nvPr/>
          </p:nvSpPr>
          <p:spPr>
            <a:xfrm>
              <a:off x="6953250" y="4503068"/>
              <a:ext cx="205316" cy="157161"/>
            </a:xfrm>
            <a:prstGeom prst="rect">
              <a:avLst/>
            </a:prstGeom>
            <a:blipFill>
              <a:blip r:embed="rId3" cstate="print"/>
              <a:stretch>
                <a:fillRect/>
              </a:stretch>
            </a:blipFill>
          </p:spPr>
          <p:txBody>
            <a:bodyPr wrap="square" lIns="0" tIns="0" rIns="0" bIns="0" rtlCol="0"/>
            <a:lstStyle/>
            <a:p>
              <a:endParaRPr/>
            </a:p>
          </p:txBody>
        </p:sp>
        <p:sp>
          <p:nvSpPr>
            <p:cNvPr id="41" name="object 41"/>
            <p:cNvSpPr/>
            <p:nvPr/>
          </p:nvSpPr>
          <p:spPr>
            <a:xfrm>
              <a:off x="6864350" y="4437980"/>
              <a:ext cx="383540" cy="287655"/>
            </a:xfrm>
            <a:custGeom>
              <a:avLst/>
              <a:gdLst/>
              <a:ahLst/>
              <a:cxnLst/>
              <a:rect l="l" t="t" r="r" b="b"/>
              <a:pathLst>
                <a:path w="383540" h="287654">
                  <a:moveTo>
                    <a:pt x="0" y="143668"/>
                  </a:moveTo>
                  <a:lnTo>
                    <a:pt x="6842" y="105476"/>
                  </a:lnTo>
                  <a:lnTo>
                    <a:pt x="26153" y="71156"/>
                  </a:lnTo>
                  <a:lnTo>
                    <a:pt x="56106" y="42079"/>
                  </a:lnTo>
                  <a:lnTo>
                    <a:pt x="94875" y="19615"/>
                  </a:lnTo>
                  <a:lnTo>
                    <a:pt x="140634" y="5131"/>
                  </a:lnTo>
                  <a:lnTo>
                    <a:pt x="191558" y="0"/>
                  </a:lnTo>
                  <a:lnTo>
                    <a:pt x="242481" y="5131"/>
                  </a:lnTo>
                  <a:lnTo>
                    <a:pt x="288240" y="19615"/>
                  </a:lnTo>
                  <a:lnTo>
                    <a:pt x="327009" y="42079"/>
                  </a:lnTo>
                  <a:lnTo>
                    <a:pt x="356962" y="71156"/>
                  </a:lnTo>
                  <a:lnTo>
                    <a:pt x="376273" y="105476"/>
                  </a:lnTo>
                  <a:lnTo>
                    <a:pt x="383116" y="143668"/>
                  </a:lnTo>
                  <a:lnTo>
                    <a:pt x="376273" y="181861"/>
                  </a:lnTo>
                  <a:lnTo>
                    <a:pt x="356962" y="216181"/>
                  </a:lnTo>
                  <a:lnTo>
                    <a:pt x="327009" y="245258"/>
                  </a:lnTo>
                  <a:lnTo>
                    <a:pt x="288240" y="267722"/>
                  </a:lnTo>
                  <a:lnTo>
                    <a:pt x="242481" y="282205"/>
                  </a:lnTo>
                  <a:lnTo>
                    <a:pt x="191558" y="287337"/>
                  </a:lnTo>
                  <a:lnTo>
                    <a:pt x="140634" y="282205"/>
                  </a:lnTo>
                  <a:lnTo>
                    <a:pt x="94875" y="267722"/>
                  </a:lnTo>
                  <a:lnTo>
                    <a:pt x="56106" y="245258"/>
                  </a:lnTo>
                  <a:lnTo>
                    <a:pt x="26153" y="216181"/>
                  </a:lnTo>
                  <a:lnTo>
                    <a:pt x="6842" y="181861"/>
                  </a:lnTo>
                  <a:lnTo>
                    <a:pt x="0" y="143668"/>
                  </a:lnTo>
                  <a:close/>
                </a:path>
              </a:pathLst>
            </a:custGeom>
            <a:ln w="25399">
              <a:solidFill>
                <a:srgbClr val="000000"/>
              </a:solidFill>
            </a:ln>
          </p:spPr>
          <p:txBody>
            <a:bodyPr wrap="square" lIns="0" tIns="0" rIns="0" bIns="0" rtlCol="0"/>
            <a:lstStyle/>
            <a:p>
              <a:endParaRPr/>
            </a:p>
          </p:txBody>
        </p:sp>
        <p:sp>
          <p:nvSpPr>
            <p:cNvPr id="42" name="object 42"/>
            <p:cNvSpPr/>
            <p:nvPr/>
          </p:nvSpPr>
          <p:spPr>
            <a:xfrm>
              <a:off x="7272865" y="4580855"/>
              <a:ext cx="1318895" cy="0"/>
            </a:xfrm>
            <a:custGeom>
              <a:avLst/>
              <a:gdLst/>
              <a:ahLst/>
              <a:cxnLst/>
              <a:rect l="l" t="t" r="r" b="b"/>
              <a:pathLst>
                <a:path w="1318895">
                  <a:moveTo>
                    <a:pt x="1318683" y="0"/>
                  </a:moveTo>
                  <a:lnTo>
                    <a:pt x="0" y="0"/>
                  </a:lnTo>
                </a:path>
              </a:pathLst>
            </a:custGeom>
            <a:ln w="9524">
              <a:solidFill>
                <a:srgbClr val="000000"/>
              </a:solidFill>
            </a:ln>
          </p:spPr>
          <p:txBody>
            <a:bodyPr wrap="square" lIns="0" tIns="0" rIns="0" bIns="0" rtlCol="0"/>
            <a:lstStyle/>
            <a:p>
              <a:endParaRPr/>
            </a:p>
          </p:txBody>
        </p:sp>
        <p:sp>
          <p:nvSpPr>
            <p:cNvPr id="43" name="object 43"/>
            <p:cNvSpPr/>
            <p:nvPr/>
          </p:nvSpPr>
          <p:spPr>
            <a:xfrm>
              <a:off x="7247466" y="4542755"/>
              <a:ext cx="76200" cy="76200"/>
            </a:xfrm>
            <a:custGeom>
              <a:avLst/>
              <a:gdLst/>
              <a:ahLst/>
              <a:cxnLst/>
              <a:rect l="l" t="t" r="r" b="b"/>
              <a:pathLst>
                <a:path w="76200" h="76200">
                  <a:moveTo>
                    <a:pt x="76200" y="0"/>
                  </a:moveTo>
                  <a:lnTo>
                    <a:pt x="0" y="38099"/>
                  </a:lnTo>
                  <a:lnTo>
                    <a:pt x="76200" y="76199"/>
                  </a:lnTo>
                  <a:lnTo>
                    <a:pt x="76200" y="0"/>
                  </a:lnTo>
                  <a:close/>
                </a:path>
              </a:pathLst>
            </a:custGeom>
            <a:solidFill>
              <a:srgbClr val="000000"/>
            </a:solidFill>
          </p:spPr>
          <p:txBody>
            <a:bodyPr wrap="square" lIns="0" tIns="0" rIns="0" bIns="0" rtlCol="0"/>
            <a:lstStyle/>
            <a:p>
              <a:endParaRPr/>
            </a:p>
          </p:txBody>
        </p:sp>
      </p:grpSp>
      <p:sp>
        <p:nvSpPr>
          <p:cNvPr id="47" name="标题 46"/>
          <p:cNvSpPr>
            <a:spLocks noGrp="1"/>
          </p:cNvSpPr>
          <p:nvPr>
            <p:ph type="title"/>
          </p:nvPr>
        </p:nvSpPr>
        <p:spPr/>
        <p:txBody>
          <a:bodyPr/>
          <a:lstStyle/>
          <a:p>
            <a:r>
              <a:rPr lang="zh-CN" altLang="en-US" spc="-5" dirty="0"/>
              <a:t>练习：组合状态</a:t>
            </a:r>
            <a:endParaRPr lang="zh-CN" altLang="en-US" dirty="0"/>
          </a:p>
        </p:txBody>
      </p:sp>
      <p:sp>
        <p:nvSpPr>
          <p:cNvPr id="49" name="灯片编号占位符 48"/>
          <p:cNvSpPr>
            <a:spLocks noGrp="1"/>
          </p:cNvSpPr>
          <p:nvPr>
            <p:ph type="sldNum" sz="quarter" idx="12"/>
          </p:nvPr>
        </p:nvSpPr>
        <p:spPr/>
        <p:txBody>
          <a:bodyPr/>
          <a:lstStyle/>
          <a:p>
            <a:fld id="{74D2AB8B-5816-41F2-8B4B-CA5C3E4E6A65}" type="slidenum">
              <a:rPr lang="zh-CN" altLang="en-US" smtClean="0"/>
              <a:t>53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4750"/>
    </mc:Choice>
    <mc:Fallback xmlns="">
      <p:transition spd="slow" advTm="5475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430867" y="2204367"/>
            <a:ext cx="9533890" cy="2665730"/>
          </a:xfrm>
          <a:custGeom>
            <a:avLst/>
            <a:gdLst/>
            <a:ahLst/>
            <a:cxnLst/>
            <a:rect l="l" t="t" r="r" b="b"/>
            <a:pathLst>
              <a:path w="9533890" h="2665729">
                <a:moveTo>
                  <a:pt x="0" y="333042"/>
                </a:moveTo>
                <a:lnTo>
                  <a:pt x="3611" y="283828"/>
                </a:lnTo>
                <a:lnTo>
                  <a:pt x="14100" y="236855"/>
                </a:lnTo>
                <a:lnTo>
                  <a:pt x="30953" y="192640"/>
                </a:lnTo>
                <a:lnTo>
                  <a:pt x="53655" y="151697"/>
                </a:lnTo>
                <a:lnTo>
                  <a:pt x="81689" y="114542"/>
                </a:lnTo>
                <a:lnTo>
                  <a:pt x="114542" y="81689"/>
                </a:lnTo>
                <a:lnTo>
                  <a:pt x="151697" y="53655"/>
                </a:lnTo>
                <a:lnTo>
                  <a:pt x="192640" y="30953"/>
                </a:lnTo>
                <a:lnTo>
                  <a:pt x="236855" y="14100"/>
                </a:lnTo>
                <a:lnTo>
                  <a:pt x="283828" y="3611"/>
                </a:lnTo>
                <a:lnTo>
                  <a:pt x="333042" y="0"/>
                </a:lnTo>
                <a:lnTo>
                  <a:pt x="9200421" y="0"/>
                </a:lnTo>
                <a:lnTo>
                  <a:pt x="9249636" y="3611"/>
                </a:lnTo>
                <a:lnTo>
                  <a:pt x="9296609" y="14100"/>
                </a:lnTo>
                <a:lnTo>
                  <a:pt x="9340824" y="30953"/>
                </a:lnTo>
                <a:lnTo>
                  <a:pt x="9381767" y="53655"/>
                </a:lnTo>
                <a:lnTo>
                  <a:pt x="9418922" y="81689"/>
                </a:lnTo>
                <a:lnTo>
                  <a:pt x="9451774" y="114542"/>
                </a:lnTo>
                <a:lnTo>
                  <a:pt x="9479809" y="151697"/>
                </a:lnTo>
                <a:lnTo>
                  <a:pt x="9502510" y="192640"/>
                </a:lnTo>
                <a:lnTo>
                  <a:pt x="9519363" y="236855"/>
                </a:lnTo>
                <a:lnTo>
                  <a:pt x="9529853" y="283828"/>
                </a:lnTo>
                <a:lnTo>
                  <a:pt x="9533464" y="333042"/>
                </a:lnTo>
                <a:lnTo>
                  <a:pt x="9533464" y="2332369"/>
                </a:lnTo>
                <a:lnTo>
                  <a:pt x="9529853" y="2381584"/>
                </a:lnTo>
                <a:lnTo>
                  <a:pt x="9519363" y="2428556"/>
                </a:lnTo>
                <a:lnTo>
                  <a:pt x="9502510" y="2472771"/>
                </a:lnTo>
                <a:lnTo>
                  <a:pt x="9479809" y="2513714"/>
                </a:lnTo>
                <a:lnTo>
                  <a:pt x="9451774" y="2550869"/>
                </a:lnTo>
                <a:lnTo>
                  <a:pt x="9418922" y="2583722"/>
                </a:lnTo>
                <a:lnTo>
                  <a:pt x="9381767" y="2611757"/>
                </a:lnTo>
                <a:lnTo>
                  <a:pt x="9340824" y="2634458"/>
                </a:lnTo>
                <a:lnTo>
                  <a:pt x="9296609" y="2651311"/>
                </a:lnTo>
                <a:lnTo>
                  <a:pt x="9249636" y="2661801"/>
                </a:lnTo>
                <a:lnTo>
                  <a:pt x="9200421" y="2665412"/>
                </a:lnTo>
                <a:lnTo>
                  <a:pt x="333042" y="2665412"/>
                </a:lnTo>
                <a:lnTo>
                  <a:pt x="283828" y="2661801"/>
                </a:lnTo>
                <a:lnTo>
                  <a:pt x="236855" y="2651311"/>
                </a:lnTo>
                <a:lnTo>
                  <a:pt x="192640" y="2634458"/>
                </a:lnTo>
                <a:lnTo>
                  <a:pt x="151697" y="2611757"/>
                </a:lnTo>
                <a:lnTo>
                  <a:pt x="114542" y="2583722"/>
                </a:lnTo>
                <a:lnTo>
                  <a:pt x="81689" y="2550869"/>
                </a:lnTo>
                <a:lnTo>
                  <a:pt x="53655" y="2513714"/>
                </a:lnTo>
                <a:lnTo>
                  <a:pt x="30953" y="2472771"/>
                </a:lnTo>
                <a:lnTo>
                  <a:pt x="14100" y="2428556"/>
                </a:lnTo>
                <a:lnTo>
                  <a:pt x="3611" y="2381584"/>
                </a:lnTo>
                <a:lnTo>
                  <a:pt x="0" y="2332369"/>
                </a:lnTo>
                <a:lnTo>
                  <a:pt x="0" y="333042"/>
                </a:lnTo>
                <a:close/>
              </a:path>
            </a:pathLst>
          </a:custGeom>
          <a:ln w="12699">
            <a:solidFill>
              <a:srgbClr val="000000"/>
            </a:solidFill>
          </a:ln>
        </p:spPr>
        <p:txBody>
          <a:bodyPr wrap="square" lIns="0" tIns="0" rIns="0" bIns="0" rtlCol="0"/>
          <a:lstStyle/>
          <a:p>
            <a:endParaRPr/>
          </a:p>
        </p:txBody>
      </p:sp>
      <p:sp>
        <p:nvSpPr>
          <p:cNvPr id="4" name="object 4"/>
          <p:cNvSpPr/>
          <p:nvPr/>
        </p:nvSpPr>
        <p:spPr>
          <a:xfrm>
            <a:off x="3564466" y="5360316"/>
            <a:ext cx="1609090" cy="444500"/>
          </a:xfrm>
          <a:custGeom>
            <a:avLst/>
            <a:gdLst/>
            <a:ahLst/>
            <a:cxnLst/>
            <a:rect l="l" t="t" r="r" b="b"/>
            <a:pathLst>
              <a:path w="1609089" h="444500">
                <a:moveTo>
                  <a:pt x="0" y="55540"/>
                </a:moveTo>
                <a:lnTo>
                  <a:pt x="4364" y="33921"/>
                </a:lnTo>
                <a:lnTo>
                  <a:pt x="16267" y="16267"/>
                </a:lnTo>
                <a:lnTo>
                  <a:pt x="33921" y="4364"/>
                </a:lnTo>
                <a:lnTo>
                  <a:pt x="55540" y="0"/>
                </a:lnTo>
                <a:lnTo>
                  <a:pt x="1553126" y="0"/>
                </a:lnTo>
                <a:lnTo>
                  <a:pt x="1574745" y="4364"/>
                </a:lnTo>
                <a:lnTo>
                  <a:pt x="1592399" y="16267"/>
                </a:lnTo>
                <a:lnTo>
                  <a:pt x="1604302" y="33921"/>
                </a:lnTo>
                <a:lnTo>
                  <a:pt x="1608666" y="55540"/>
                </a:lnTo>
                <a:lnTo>
                  <a:pt x="1608666" y="388959"/>
                </a:lnTo>
                <a:lnTo>
                  <a:pt x="1604302" y="410578"/>
                </a:lnTo>
                <a:lnTo>
                  <a:pt x="1592399" y="428232"/>
                </a:lnTo>
                <a:lnTo>
                  <a:pt x="1574745" y="440135"/>
                </a:lnTo>
                <a:lnTo>
                  <a:pt x="1553126" y="444499"/>
                </a:lnTo>
                <a:lnTo>
                  <a:pt x="55540" y="444499"/>
                </a:lnTo>
                <a:lnTo>
                  <a:pt x="33921" y="440135"/>
                </a:lnTo>
                <a:lnTo>
                  <a:pt x="16267" y="428232"/>
                </a:lnTo>
                <a:lnTo>
                  <a:pt x="4364" y="410578"/>
                </a:lnTo>
                <a:lnTo>
                  <a:pt x="0" y="388959"/>
                </a:lnTo>
                <a:lnTo>
                  <a:pt x="0" y="55540"/>
                </a:lnTo>
                <a:close/>
              </a:path>
            </a:pathLst>
          </a:custGeom>
          <a:ln w="12699">
            <a:solidFill>
              <a:srgbClr val="000000"/>
            </a:solidFill>
          </a:ln>
        </p:spPr>
        <p:txBody>
          <a:bodyPr wrap="square" lIns="0" tIns="0" rIns="0" bIns="0" rtlCol="0"/>
          <a:lstStyle/>
          <a:p>
            <a:endParaRPr/>
          </a:p>
        </p:txBody>
      </p:sp>
      <p:sp>
        <p:nvSpPr>
          <p:cNvPr id="5" name="object 5"/>
          <p:cNvSpPr/>
          <p:nvPr/>
        </p:nvSpPr>
        <p:spPr>
          <a:xfrm>
            <a:off x="8441265" y="5360316"/>
            <a:ext cx="1507490" cy="444500"/>
          </a:xfrm>
          <a:custGeom>
            <a:avLst/>
            <a:gdLst/>
            <a:ahLst/>
            <a:cxnLst/>
            <a:rect l="l" t="t" r="r" b="b"/>
            <a:pathLst>
              <a:path w="1507490" h="444500">
                <a:moveTo>
                  <a:pt x="0" y="55540"/>
                </a:moveTo>
                <a:lnTo>
                  <a:pt x="4364" y="33921"/>
                </a:lnTo>
                <a:lnTo>
                  <a:pt x="16267" y="16267"/>
                </a:lnTo>
                <a:lnTo>
                  <a:pt x="33921" y="4364"/>
                </a:lnTo>
                <a:lnTo>
                  <a:pt x="55540" y="0"/>
                </a:lnTo>
                <a:lnTo>
                  <a:pt x="1451527" y="0"/>
                </a:lnTo>
                <a:lnTo>
                  <a:pt x="1473145" y="4364"/>
                </a:lnTo>
                <a:lnTo>
                  <a:pt x="1490799" y="16267"/>
                </a:lnTo>
                <a:lnTo>
                  <a:pt x="1502702" y="33921"/>
                </a:lnTo>
                <a:lnTo>
                  <a:pt x="1507067" y="55540"/>
                </a:lnTo>
                <a:lnTo>
                  <a:pt x="1507067" y="388959"/>
                </a:lnTo>
                <a:lnTo>
                  <a:pt x="1502702" y="410578"/>
                </a:lnTo>
                <a:lnTo>
                  <a:pt x="1490799" y="428232"/>
                </a:lnTo>
                <a:lnTo>
                  <a:pt x="1473145" y="440135"/>
                </a:lnTo>
                <a:lnTo>
                  <a:pt x="1451527" y="444499"/>
                </a:lnTo>
                <a:lnTo>
                  <a:pt x="55540" y="444499"/>
                </a:lnTo>
                <a:lnTo>
                  <a:pt x="33921" y="440135"/>
                </a:lnTo>
                <a:lnTo>
                  <a:pt x="16267" y="428232"/>
                </a:lnTo>
                <a:lnTo>
                  <a:pt x="4364" y="410578"/>
                </a:lnTo>
                <a:lnTo>
                  <a:pt x="0" y="388959"/>
                </a:lnTo>
                <a:lnTo>
                  <a:pt x="0" y="55540"/>
                </a:lnTo>
                <a:close/>
              </a:path>
            </a:pathLst>
          </a:custGeom>
          <a:ln w="12699">
            <a:solidFill>
              <a:srgbClr val="000000"/>
            </a:solidFill>
          </a:ln>
        </p:spPr>
        <p:txBody>
          <a:bodyPr wrap="square" lIns="0" tIns="0" rIns="0" bIns="0" rtlCol="0"/>
          <a:lstStyle/>
          <a:p>
            <a:endParaRPr/>
          </a:p>
        </p:txBody>
      </p:sp>
      <p:sp>
        <p:nvSpPr>
          <p:cNvPr id="6" name="object 6"/>
          <p:cNvSpPr txBox="1"/>
          <p:nvPr/>
        </p:nvSpPr>
        <p:spPr>
          <a:xfrm>
            <a:off x="3716340" y="5439693"/>
            <a:ext cx="990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Cancelled</a:t>
            </a:r>
            <a:endParaRPr sz="1800">
              <a:latin typeface="华文新魏" panose="02010800040101010101" charset="-122"/>
              <a:cs typeface="华文新魏" panose="02010800040101010101" charset="-122"/>
            </a:endParaRPr>
          </a:p>
        </p:txBody>
      </p:sp>
      <p:sp>
        <p:nvSpPr>
          <p:cNvPr id="7" name="object 7"/>
          <p:cNvSpPr txBox="1"/>
          <p:nvPr/>
        </p:nvSpPr>
        <p:spPr>
          <a:xfrm>
            <a:off x="8491539" y="5439693"/>
            <a:ext cx="9842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Delivered</a:t>
            </a:r>
            <a:endParaRPr sz="1800">
              <a:latin typeface="华文新魏" panose="02010800040101010101" charset="-122"/>
              <a:cs typeface="华文新魏" panose="02010800040101010101" charset="-122"/>
            </a:endParaRPr>
          </a:p>
        </p:txBody>
      </p:sp>
      <p:sp>
        <p:nvSpPr>
          <p:cNvPr id="8" name="object 8"/>
          <p:cNvSpPr/>
          <p:nvPr/>
        </p:nvSpPr>
        <p:spPr>
          <a:xfrm>
            <a:off x="4464051" y="4869780"/>
            <a:ext cx="0" cy="419100"/>
          </a:xfrm>
          <a:custGeom>
            <a:avLst/>
            <a:gdLst/>
            <a:ahLst/>
            <a:cxnLst/>
            <a:rect l="l" t="t" r="r" b="b"/>
            <a:pathLst>
              <a:path h="419100">
                <a:moveTo>
                  <a:pt x="0" y="0"/>
                </a:moveTo>
                <a:lnTo>
                  <a:pt x="0" y="419099"/>
                </a:lnTo>
              </a:path>
            </a:pathLst>
          </a:custGeom>
          <a:ln w="12699">
            <a:solidFill>
              <a:srgbClr val="000000"/>
            </a:solidFill>
          </a:ln>
        </p:spPr>
        <p:txBody>
          <a:bodyPr wrap="square" lIns="0" tIns="0" rIns="0" bIns="0" rtlCol="0"/>
          <a:lstStyle/>
          <a:p>
            <a:endParaRPr/>
          </a:p>
        </p:txBody>
      </p:sp>
      <p:sp>
        <p:nvSpPr>
          <p:cNvPr id="9" name="object 9"/>
          <p:cNvSpPr/>
          <p:nvPr/>
        </p:nvSpPr>
        <p:spPr>
          <a:xfrm>
            <a:off x="4425951" y="523808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0" name="object 10"/>
          <p:cNvSpPr txBox="1"/>
          <p:nvPr/>
        </p:nvSpPr>
        <p:spPr>
          <a:xfrm>
            <a:off x="8574087" y="1588416"/>
            <a:ext cx="18161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Superstate</a:t>
            </a:r>
            <a:r>
              <a:rPr sz="2000" spc="-90" dirty="0">
                <a:latin typeface="华文新魏" panose="02010800040101010101" charset="-122"/>
                <a:cs typeface="华文新魏" panose="02010800040101010101" charset="-122"/>
              </a:rPr>
              <a:t> </a:t>
            </a:r>
            <a:r>
              <a:rPr sz="2000" dirty="0">
                <a:latin typeface="华文新魏" panose="02010800040101010101" charset="-122"/>
                <a:cs typeface="华文新魏" panose="02010800040101010101" charset="-122"/>
              </a:rPr>
              <a:t>name</a:t>
            </a:r>
            <a:endParaRPr sz="2000">
              <a:latin typeface="华文新魏" panose="02010800040101010101" charset="-122"/>
              <a:cs typeface="华文新魏" panose="02010800040101010101" charset="-122"/>
            </a:endParaRPr>
          </a:p>
        </p:txBody>
      </p:sp>
      <p:sp>
        <p:nvSpPr>
          <p:cNvPr id="11" name="object 11"/>
          <p:cNvSpPr txBox="1"/>
          <p:nvPr/>
        </p:nvSpPr>
        <p:spPr>
          <a:xfrm>
            <a:off x="7562848" y="2221830"/>
            <a:ext cx="1405890" cy="444500"/>
          </a:xfrm>
          <a:prstGeom prst="rect">
            <a:avLst/>
          </a:prstGeom>
          <a:ln w="12699">
            <a:solidFill>
              <a:srgbClr val="000000"/>
            </a:solidFill>
          </a:ln>
        </p:spPr>
        <p:txBody>
          <a:bodyPr vert="horz" wrap="square" lIns="0" tIns="23495" rIns="0" bIns="0" rtlCol="0">
            <a:spAutoFit/>
          </a:bodyPr>
          <a:lstStyle/>
          <a:p>
            <a:pPr marL="62865">
              <a:lnSpc>
                <a:spcPct val="100000"/>
              </a:lnSpc>
              <a:spcBef>
                <a:spcPts val="185"/>
              </a:spcBef>
            </a:pPr>
            <a:r>
              <a:rPr sz="2400" dirty="0">
                <a:latin typeface="华文新魏" panose="02010800040101010101" charset="-122"/>
                <a:cs typeface="华文新魏" panose="02010800040101010101" charset="-122"/>
              </a:rPr>
              <a:t>Active</a:t>
            </a:r>
            <a:endParaRPr sz="2400">
              <a:latin typeface="华文新魏" panose="02010800040101010101" charset="-122"/>
              <a:cs typeface="华文新魏" panose="02010800040101010101" charset="-122"/>
            </a:endParaRPr>
          </a:p>
        </p:txBody>
      </p:sp>
      <p:sp>
        <p:nvSpPr>
          <p:cNvPr id="12" name="object 12"/>
          <p:cNvSpPr/>
          <p:nvPr/>
        </p:nvSpPr>
        <p:spPr>
          <a:xfrm>
            <a:off x="8475602" y="1917030"/>
            <a:ext cx="205104" cy="272415"/>
          </a:xfrm>
          <a:custGeom>
            <a:avLst/>
            <a:gdLst/>
            <a:ahLst/>
            <a:cxnLst/>
            <a:rect l="l" t="t" r="r" b="b"/>
            <a:pathLst>
              <a:path w="205104" h="272414">
                <a:moveTo>
                  <a:pt x="204845" y="0"/>
                </a:moveTo>
                <a:lnTo>
                  <a:pt x="0" y="271815"/>
                </a:lnTo>
              </a:path>
            </a:pathLst>
          </a:custGeom>
          <a:ln w="12699">
            <a:solidFill>
              <a:srgbClr val="000000"/>
            </a:solidFill>
          </a:ln>
        </p:spPr>
        <p:txBody>
          <a:bodyPr wrap="square" lIns="0" tIns="0" rIns="0" bIns="0" rtlCol="0"/>
          <a:lstStyle/>
          <a:p>
            <a:endParaRPr/>
          </a:p>
        </p:txBody>
      </p:sp>
      <p:sp>
        <p:nvSpPr>
          <p:cNvPr id="13" name="object 13"/>
          <p:cNvSpPr/>
          <p:nvPr/>
        </p:nvSpPr>
        <p:spPr>
          <a:xfrm>
            <a:off x="8460316" y="2125346"/>
            <a:ext cx="76835" cy="83820"/>
          </a:xfrm>
          <a:custGeom>
            <a:avLst/>
            <a:gdLst/>
            <a:ahLst/>
            <a:cxnLst/>
            <a:rect l="l" t="t" r="r" b="b"/>
            <a:pathLst>
              <a:path w="76834" h="83819">
                <a:moveTo>
                  <a:pt x="15434" y="0"/>
                </a:moveTo>
                <a:lnTo>
                  <a:pt x="0" y="83784"/>
                </a:lnTo>
                <a:lnTo>
                  <a:pt x="76287" y="45860"/>
                </a:lnTo>
                <a:lnTo>
                  <a:pt x="15434" y="0"/>
                </a:lnTo>
                <a:close/>
              </a:path>
            </a:pathLst>
          </a:custGeom>
          <a:solidFill>
            <a:srgbClr val="000000"/>
          </a:solidFill>
        </p:spPr>
        <p:txBody>
          <a:bodyPr wrap="square" lIns="0" tIns="0" rIns="0" bIns="0" rtlCol="0"/>
          <a:lstStyle/>
          <a:p>
            <a:endParaRPr/>
          </a:p>
        </p:txBody>
      </p:sp>
      <p:sp>
        <p:nvSpPr>
          <p:cNvPr id="14" name="object 14"/>
          <p:cNvSpPr/>
          <p:nvPr/>
        </p:nvSpPr>
        <p:spPr>
          <a:xfrm>
            <a:off x="9042817" y="3572793"/>
            <a:ext cx="29209" cy="1774825"/>
          </a:xfrm>
          <a:custGeom>
            <a:avLst/>
            <a:gdLst/>
            <a:ahLst/>
            <a:cxnLst/>
            <a:rect l="l" t="t" r="r" b="b"/>
            <a:pathLst>
              <a:path w="29209" h="1774825">
                <a:moveTo>
                  <a:pt x="29215" y="0"/>
                </a:moveTo>
                <a:lnTo>
                  <a:pt x="0" y="1774827"/>
                </a:lnTo>
              </a:path>
            </a:pathLst>
          </a:custGeom>
          <a:ln w="12699">
            <a:solidFill>
              <a:srgbClr val="000000"/>
            </a:solidFill>
          </a:ln>
        </p:spPr>
        <p:txBody>
          <a:bodyPr wrap="square" lIns="0" tIns="0" rIns="0" bIns="0" rtlCol="0"/>
          <a:lstStyle/>
          <a:p>
            <a:endParaRPr/>
          </a:p>
        </p:txBody>
      </p:sp>
      <p:sp>
        <p:nvSpPr>
          <p:cNvPr id="15" name="object 15"/>
          <p:cNvSpPr/>
          <p:nvPr/>
        </p:nvSpPr>
        <p:spPr>
          <a:xfrm>
            <a:off x="9005558" y="5296201"/>
            <a:ext cx="76200" cy="76835"/>
          </a:xfrm>
          <a:custGeom>
            <a:avLst/>
            <a:gdLst/>
            <a:ahLst/>
            <a:cxnLst/>
            <a:rect l="l" t="t" r="r" b="b"/>
            <a:pathLst>
              <a:path w="76200" h="76835">
                <a:moveTo>
                  <a:pt x="0" y="0"/>
                </a:moveTo>
                <a:lnTo>
                  <a:pt x="36840" y="76817"/>
                </a:lnTo>
                <a:lnTo>
                  <a:pt x="76189" y="1254"/>
                </a:lnTo>
                <a:lnTo>
                  <a:pt x="0" y="0"/>
                </a:lnTo>
                <a:close/>
              </a:path>
            </a:pathLst>
          </a:custGeom>
          <a:solidFill>
            <a:srgbClr val="000000"/>
          </a:solidFill>
        </p:spPr>
        <p:txBody>
          <a:bodyPr wrap="square" lIns="0" tIns="0" rIns="0" bIns="0" rtlCol="0"/>
          <a:lstStyle/>
          <a:p>
            <a:endParaRPr/>
          </a:p>
        </p:txBody>
      </p:sp>
      <p:sp>
        <p:nvSpPr>
          <p:cNvPr id="16" name="object 16"/>
          <p:cNvSpPr txBox="1"/>
          <p:nvPr/>
        </p:nvSpPr>
        <p:spPr>
          <a:xfrm>
            <a:off x="2046288" y="1372518"/>
            <a:ext cx="560070"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Order</a:t>
            </a:r>
            <a:endParaRPr sz="1600">
              <a:latin typeface="华文新魏" panose="02010800040101010101" charset="-122"/>
              <a:cs typeface="华文新魏" panose="02010800040101010101" charset="-122"/>
            </a:endParaRPr>
          </a:p>
        </p:txBody>
      </p:sp>
      <p:sp>
        <p:nvSpPr>
          <p:cNvPr id="17" name="object 17"/>
          <p:cNvSpPr txBox="1"/>
          <p:nvPr/>
        </p:nvSpPr>
        <p:spPr>
          <a:xfrm>
            <a:off x="4097338" y="3082255"/>
            <a:ext cx="62611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Checking</a:t>
            </a:r>
            <a:endParaRPr sz="1200">
              <a:latin typeface="华文新魏" panose="02010800040101010101" charset="-122"/>
              <a:cs typeface="华文新魏" panose="02010800040101010101" charset="-122"/>
            </a:endParaRPr>
          </a:p>
        </p:txBody>
      </p:sp>
      <p:sp>
        <p:nvSpPr>
          <p:cNvPr id="18" name="object 18"/>
          <p:cNvSpPr/>
          <p:nvPr/>
        </p:nvSpPr>
        <p:spPr>
          <a:xfrm>
            <a:off x="3647017" y="3314030"/>
            <a:ext cx="1949450" cy="0"/>
          </a:xfrm>
          <a:custGeom>
            <a:avLst/>
            <a:gdLst/>
            <a:ahLst/>
            <a:cxnLst/>
            <a:rect l="l" t="t" r="r" b="b"/>
            <a:pathLst>
              <a:path w="1949450">
                <a:moveTo>
                  <a:pt x="1949448" y="0"/>
                </a:moveTo>
                <a:lnTo>
                  <a:pt x="0" y="1"/>
                </a:lnTo>
              </a:path>
            </a:pathLst>
          </a:custGeom>
          <a:ln w="12699">
            <a:solidFill>
              <a:srgbClr val="000000"/>
            </a:solidFill>
          </a:ln>
        </p:spPr>
        <p:txBody>
          <a:bodyPr wrap="square" lIns="0" tIns="0" rIns="0" bIns="0" rtlCol="0"/>
          <a:lstStyle/>
          <a:p>
            <a:endParaRPr/>
          </a:p>
        </p:txBody>
      </p:sp>
      <p:sp>
        <p:nvSpPr>
          <p:cNvPr id="19" name="object 19"/>
          <p:cNvSpPr txBox="1"/>
          <p:nvPr/>
        </p:nvSpPr>
        <p:spPr>
          <a:xfrm>
            <a:off x="3775605" y="3293393"/>
            <a:ext cx="98488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do: check</a:t>
            </a:r>
            <a:r>
              <a:rPr sz="1200" b="1" spc="-5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item</a:t>
            </a:r>
            <a:endParaRPr sz="1200">
              <a:latin typeface="华文新魏" panose="02010800040101010101" charset="-122"/>
              <a:cs typeface="华文新魏" panose="02010800040101010101" charset="-122"/>
            </a:endParaRPr>
          </a:p>
        </p:txBody>
      </p:sp>
      <p:sp>
        <p:nvSpPr>
          <p:cNvPr id="20" name="object 20"/>
          <p:cNvSpPr/>
          <p:nvPr/>
        </p:nvSpPr>
        <p:spPr>
          <a:xfrm>
            <a:off x="4265082" y="1910682"/>
            <a:ext cx="205318" cy="166687"/>
          </a:xfrm>
          <a:prstGeom prst="rect">
            <a:avLst/>
          </a:prstGeom>
          <a:blipFill>
            <a:blip r:embed="rId3" cstate="print"/>
            <a:stretch>
              <a:fillRect/>
            </a:stretch>
          </a:blipFill>
        </p:spPr>
        <p:txBody>
          <a:bodyPr wrap="square" lIns="0" tIns="0" rIns="0" bIns="0" rtlCol="0"/>
          <a:lstStyle/>
          <a:p>
            <a:endParaRPr/>
          </a:p>
        </p:txBody>
      </p:sp>
      <p:sp>
        <p:nvSpPr>
          <p:cNvPr id="21" name="object 21"/>
          <p:cNvSpPr txBox="1"/>
          <p:nvPr/>
        </p:nvSpPr>
        <p:spPr>
          <a:xfrm>
            <a:off x="4218065" y="1653345"/>
            <a:ext cx="323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Start</a:t>
            </a:r>
            <a:endParaRPr sz="1200" dirty="0">
              <a:latin typeface="华文新魏" panose="02010800040101010101" charset="-122"/>
              <a:cs typeface="华文新魏" panose="02010800040101010101" charset="-122"/>
            </a:endParaRPr>
          </a:p>
        </p:txBody>
      </p:sp>
      <p:sp>
        <p:nvSpPr>
          <p:cNvPr id="22" name="object 22"/>
          <p:cNvSpPr txBox="1"/>
          <p:nvPr/>
        </p:nvSpPr>
        <p:spPr>
          <a:xfrm>
            <a:off x="2107671" y="2659980"/>
            <a:ext cx="1536700" cy="349885"/>
          </a:xfrm>
          <a:prstGeom prst="rect">
            <a:avLst/>
          </a:prstGeom>
        </p:spPr>
        <p:txBody>
          <a:bodyPr vert="horz" wrap="square" lIns="0" tIns="12700" rIns="0" bIns="0" rtlCol="0">
            <a:spAutoFit/>
          </a:bodyPr>
          <a:lstStyle/>
          <a:p>
            <a:pPr marL="12700">
              <a:lnSpc>
                <a:spcPts val="1275"/>
              </a:lnSpc>
              <a:spcBef>
                <a:spcPts val="100"/>
              </a:spcBef>
            </a:pPr>
            <a:r>
              <a:rPr sz="1200" b="1" spc="-5" dirty="0">
                <a:latin typeface="华文新魏" panose="02010800040101010101" charset="-122"/>
                <a:cs typeface="华文新魏" panose="02010800040101010101" charset="-122"/>
              </a:rPr>
              <a:t>get next</a:t>
            </a:r>
            <a:r>
              <a:rPr sz="1200" b="1" spc="-1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item</a:t>
            </a:r>
            <a:endParaRPr sz="1200">
              <a:latin typeface="华文新魏" panose="02010800040101010101" charset="-122"/>
              <a:cs typeface="华文新魏" panose="02010800040101010101" charset="-122"/>
            </a:endParaRPr>
          </a:p>
          <a:p>
            <a:pPr marL="12700">
              <a:lnSpc>
                <a:spcPts val="1275"/>
              </a:lnSpc>
            </a:pPr>
            <a:r>
              <a:rPr sz="1200" b="1" spc="-5" dirty="0">
                <a:latin typeface="华文新魏" panose="02010800040101010101" charset="-122"/>
                <a:cs typeface="华文新魏" panose="02010800040101010101" charset="-122"/>
              </a:rPr>
              <a:t>[Not all items</a:t>
            </a:r>
            <a:r>
              <a:rPr sz="1200" b="1" spc="-3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checked]</a:t>
            </a:r>
            <a:endParaRPr sz="1200">
              <a:latin typeface="华文新魏" panose="02010800040101010101" charset="-122"/>
              <a:cs typeface="华文新魏" panose="02010800040101010101" charset="-122"/>
            </a:endParaRPr>
          </a:p>
        </p:txBody>
      </p:sp>
      <p:sp>
        <p:nvSpPr>
          <p:cNvPr id="23" name="object 23"/>
          <p:cNvSpPr txBox="1"/>
          <p:nvPr/>
        </p:nvSpPr>
        <p:spPr>
          <a:xfrm>
            <a:off x="8444970" y="3082255"/>
            <a:ext cx="79121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Dispatching</a:t>
            </a:r>
            <a:endParaRPr sz="1200">
              <a:latin typeface="华文新魏" panose="02010800040101010101" charset="-122"/>
              <a:cs typeface="华文新魏" panose="02010800040101010101" charset="-122"/>
            </a:endParaRPr>
          </a:p>
        </p:txBody>
      </p:sp>
      <p:sp>
        <p:nvSpPr>
          <p:cNvPr id="24" name="object 24"/>
          <p:cNvSpPr/>
          <p:nvPr/>
        </p:nvSpPr>
        <p:spPr>
          <a:xfrm>
            <a:off x="7916333" y="3306091"/>
            <a:ext cx="2049145" cy="0"/>
          </a:xfrm>
          <a:custGeom>
            <a:avLst/>
            <a:gdLst/>
            <a:ahLst/>
            <a:cxnLst/>
            <a:rect l="l" t="t" r="r" b="b"/>
            <a:pathLst>
              <a:path w="2049145">
                <a:moveTo>
                  <a:pt x="2048932" y="0"/>
                </a:moveTo>
                <a:lnTo>
                  <a:pt x="0" y="1"/>
                </a:lnTo>
              </a:path>
            </a:pathLst>
          </a:custGeom>
          <a:ln w="12699">
            <a:solidFill>
              <a:srgbClr val="000000"/>
            </a:solidFill>
          </a:ln>
        </p:spPr>
        <p:txBody>
          <a:bodyPr wrap="square" lIns="0" tIns="0" rIns="0" bIns="0" rtlCol="0"/>
          <a:lstStyle/>
          <a:p>
            <a:endParaRPr/>
          </a:p>
        </p:txBody>
      </p:sp>
      <p:sp>
        <p:nvSpPr>
          <p:cNvPr id="25" name="object 25"/>
          <p:cNvSpPr txBox="1"/>
          <p:nvPr/>
        </p:nvSpPr>
        <p:spPr>
          <a:xfrm>
            <a:off x="8072437" y="3293393"/>
            <a:ext cx="131191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do: initiate</a:t>
            </a:r>
            <a:r>
              <a:rPr sz="1200" b="1" spc="-3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delivery</a:t>
            </a:r>
            <a:endParaRPr sz="1200">
              <a:latin typeface="华文新魏" panose="02010800040101010101" charset="-122"/>
              <a:cs typeface="华文新魏" panose="02010800040101010101" charset="-122"/>
            </a:endParaRPr>
          </a:p>
        </p:txBody>
      </p:sp>
      <p:sp>
        <p:nvSpPr>
          <p:cNvPr id="26" name="object 26"/>
          <p:cNvSpPr txBox="1"/>
          <p:nvPr/>
        </p:nvSpPr>
        <p:spPr>
          <a:xfrm>
            <a:off x="5761038" y="2871116"/>
            <a:ext cx="1457960" cy="349885"/>
          </a:xfrm>
          <a:prstGeom prst="rect">
            <a:avLst/>
          </a:prstGeom>
        </p:spPr>
        <p:txBody>
          <a:bodyPr vert="horz" wrap="square" lIns="0" tIns="53975" rIns="0" bIns="0" rtlCol="0">
            <a:spAutoFit/>
          </a:bodyPr>
          <a:lstStyle/>
          <a:p>
            <a:pPr marL="43180" marR="5080" indent="-31115">
              <a:lnSpc>
                <a:spcPct val="77000"/>
              </a:lnSpc>
              <a:spcBef>
                <a:spcPts val="425"/>
              </a:spcBef>
            </a:pPr>
            <a:r>
              <a:rPr sz="1200" b="1" spc="-5" dirty="0">
                <a:latin typeface="华文新魏" panose="02010800040101010101" charset="-122"/>
                <a:cs typeface="华文新魏" panose="02010800040101010101" charset="-122"/>
              </a:rPr>
              <a:t>[All items checked</a:t>
            </a:r>
            <a:r>
              <a:rPr sz="1200" b="1" spc="-4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&amp;&amp;  all items</a:t>
            </a:r>
            <a:r>
              <a:rPr sz="1200" b="1" spc="-2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available]</a:t>
            </a:r>
            <a:endParaRPr sz="1200">
              <a:latin typeface="华文新魏" panose="02010800040101010101" charset="-122"/>
              <a:cs typeface="华文新魏" panose="02010800040101010101" charset="-122"/>
            </a:endParaRPr>
          </a:p>
        </p:txBody>
      </p:sp>
      <p:sp>
        <p:nvSpPr>
          <p:cNvPr id="27" name="object 27"/>
          <p:cNvSpPr txBox="1"/>
          <p:nvPr/>
        </p:nvSpPr>
        <p:spPr>
          <a:xfrm>
            <a:off x="3989388" y="4291930"/>
            <a:ext cx="54483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Waiting</a:t>
            </a:r>
            <a:endParaRPr sz="1200">
              <a:latin typeface="华文新魏" panose="02010800040101010101" charset="-122"/>
              <a:cs typeface="华文新魏" panose="02010800040101010101" charset="-122"/>
            </a:endParaRPr>
          </a:p>
        </p:txBody>
      </p:sp>
      <p:sp>
        <p:nvSpPr>
          <p:cNvPr id="28" name="object 28"/>
          <p:cNvSpPr txBox="1"/>
          <p:nvPr/>
        </p:nvSpPr>
        <p:spPr>
          <a:xfrm>
            <a:off x="1756305" y="4344318"/>
            <a:ext cx="958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Item</a:t>
            </a:r>
            <a:r>
              <a:rPr sz="1200" b="1" spc="-4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Received</a:t>
            </a:r>
            <a:endParaRPr sz="1200">
              <a:latin typeface="华文新魏" panose="02010800040101010101" charset="-122"/>
              <a:cs typeface="华文新魏" panose="02010800040101010101" charset="-122"/>
            </a:endParaRPr>
          </a:p>
        </p:txBody>
      </p:sp>
      <p:sp>
        <p:nvSpPr>
          <p:cNvPr id="29" name="object 29"/>
          <p:cNvSpPr txBox="1"/>
          <p:nvPr/>
        </p:nvSpPr>
        <p:spPr>
          <a:xfrm>
            <a:off x="1756304" y="4485605"/>
            <a:ext cx="2242820" cy="788670"/>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[some items not in</a:t>
            </a:r>
            <a:r>
              <a:rPr sz="1200" b="1" spc="-1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stock]</a:t>
            </a:r>
            <a:endParaRPr sz="1200">
              <a:latin typeface="华文新魏" panose="02010800040101010101" charset="-122"/>
              <a:cs typeface="华文新魏" panose="02010800040101010101" charset="-122"/>
            </a:endParaRPr>
          </a:p>
          <a:p>
            <a:pPr>
              <a:lnSpc>
                <a:spcPct val="100000"/>
              </a:lnSpc>
            </a:pPr>
            <a:endParaRPr sz="1200">
              <a:latin typeface="Times New Roman" panose="02020603050405020304"/>
              <a:cs typeface="Times New Roman" panose="02020603050405020304"/>
            </a:endParaRPr>
          </a:p>
          <a:p>
            <a:pPr>
              <a:lnSpc>
                <a:spcPct val="100000"/>
              </a:lnSpc>
            </a:pPr>
            <a:endParaRPr sz="1100">
              <a:latin typeface="Times New Roman" panose="02020603050405020304"/>
              <a:cs typeface="Times New Roman" panose="02020603050405020304"/>
            </a:endParaRPr>
          </a:p>
          <a:p>
            <a:pPr marL="1181100">
              <a:lnSpc>
                <a:spcPct val="100000"/>
              </a:lnSpc>
            </a:pPr>
            <a:r>
              <a:rPr sz="1600" dirty="0">
                <a:latin typeface="华文新魏" panose="02010800040101010101" charset="-122"/>
                <a:cs typeface="华文新魏" panose="02010800040101010101" charset="-122"/>
              </a:rPr>
              <a:t>cancellation</a:t>
            </a:r>
            <a:endParaRPr sz="1600">
              <a:latin typeface="华文新魏" panose="02010800040101010101" charset="-122"/>
              <a:cs typeface="华文新魏" panose="02010800040101010101" charset="-122"/>
            </a:endParaRPr>
          </a:p>
        </p:txBody>
      </p:sp>
      <p:sp>
        <p:nvSpPr>
          <p:cNvPr id="30" name="object 30"/>
          <p:cNvSpPr txBox="1"/>
          <p:nvPr/>
        </p:nvSpPr>
        <p:spPr>
          <a:xfrm>
            <a:off x="2046287" y="3604543"/>
            <a:ext cx="1758314" cy="391160"/>
          </a:xfrm>
          <a:prstGeom prst="rect">
            <a:avLst/>
          </a:prstGeom>
        </p:spPr>
        <p:txBody>
          <a:bodyPr vert="horz" wrap="square" lIns="0" tIns="12700" rIns="0" bIns="0" rtlCol="0">
            <a:spAutoFit/>
          </a:bodyPr>
          <a:lstStyle/>
          <a:p>
            <a:pPr marL="161925" marR="5080" indent="-149860">
              <a:lnSpc>
                <a:spcPct val="100000"/>
              </a:lnSpc>
              <a:spcBef>
                <a:spcPts val="100"/>
              </a:spcBef>
            </a:pPr>
            <a:r>
              <a:rPr sz="1200" b="1" spc="-5" dirty="0">
                <a:latin typeface="华文新魏" panose="02010800040101010101" charset="-122"/>
                <a:cs typeface="华文新魏" panose="02010800040101010101" charset="-122"/>
              </a:rPr>
              <a:t>[All items checked &amp;&amp;  some items not in</a:t>
            </a:r>
            <a:r>
              <a:rPr sz="1200" b="1" spc="-3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stock]</a:t>
            </a:r>
            <a:endParaRPr sz="1200" dirty="0">
              <a:latin typeface="华文新魏" panose="02010800040101010101" charset="-122"/>
              <a:cs typeface="华文新魏" panose="02010800040101010101" charset="-122"/>
            </a:endParaRPr>
          </a:p>
        </p:txBody>
      </p:sp>
      <p:sp>
        <p:nvSpPr>
          <p:cNvPr id="31" name="object 31"/>
          <p:cNvSpPr/>
          <p:nvPr/>
        </p:nvSpPr>
        <p:spPr>
          <a:xfrm>
            <a:off x="4301066" y="2918741"/>
            <a:ext cx="124883" cy="119062"/>
          </a:xfrm>
          <a:prstGeom prst="rect">
            <a:avLst/>
          </a:prstGeom>
          <a:blipFill>
            <a:blip r:embed="rId4" cstate="print"/>
            <a:stretch>
              <a:fillRect/>
            </a:stretch>
          </a:blipFill>
        </p:spPr>
        <p:txBody>
          <a:bodyPr wrap="square" lIns="0" tIns="0" rIns="0" bIns="0" rtlCol="0"/>
          <a:lstStyle/>
          <a:p>
            <a:endParaRPr/>
          </a:p>
        </p:txBody>
      </p:sp>
      <p:sp>
        <p:nvSpPr>
          <p:cNvPr id="32" name="object 32"/>
          <p:cNvSpPr/>
          <p:nvPr/>
        </p:nvSpPr>
        <p:spPr>
          <a:xfrm>
            <a:off x="4364565" y="2102766"/>
            <a:ext cx="0" cy="852805"/>
          </a:xfrm>
          <a:custGeom>
            <a:avLst/>
            <a:gdLst/>
            <a:ahLst/>
            <a:cxnLst/>
            <a:rect l="l" t="t" r="r" b="b"/>
            <a:pathLst>
              <a:path h="852805">
                <a:moveTo>
                  <a:pt x="0" y="0"/>
                </a:moveTo>
                <a:lnTo>
                  <a:pt x="1" y="852487"/>
                </a:lnTo>
              </a:path>
            </a:pathLst>
          </a:custGeom>
          <a:ln w="12699">
            <a:solidFill>
              <a:srgbClr val="000000"/>
            </a:solidFill>
          </a:ln>
        </p:spPr>
        <p:txBody>
          <a:bodyPr wrap="square" lIns="0" tIns="0" rIns="0" bIns="0" rtlCol="0"/>
          <a:lstStyle/>
          <a:p>
            <a:endParaRPr/>
          </a:p>
        </p:txBody>
      </p:sp>
      <p:sp>
        <p:nvSpPr>
          <p:cNvPr id="33" name="object 33"/>
          <p:cNvSpPr txBox="1"/>
          <p:nvPr/>
        </p:nvSpPr>
        <p:spPr>
          <a:xfrm>
            <a:off x="4527020" y="2378993"/>
            <a:ext cx="8947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/get first</a:t>
            </a:r>
            <a:r>
              <a:rPr sz="1200" b="1" spc="-50"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item</a:t>
            </a:r>
            <a:endParaRPr sz="1200">
              <a:latin typeface="华文新魏" panose="02010800040101010101" charset="-122"/>
              <a:cs typeface="华文新魏" panose="02010800040101010101" charset="-122"/>
            </a:endParaRPr>
          </a:p>
        </p:txBody>
      </p:sp>
      <p:sp>
        <p:nvSpPr>
          <p:cNvPr id="34" name="object 34"/>
          <p:cNvSpPr/>
          <p:nvPr/>
        </p:nvSpPr>
        <p:spPr>
          <a:xfrm>
            <a:off x="3471333" y="3048918"/>
            <a:ext cx="186266" cy="85725"/>
          </a:xfrm>
          <a:prstGeom prst="rect">
            <a:avLst/>
          </a:prstGeom>
          <a:blipFill>
            <a:blip r:embed="rId5" cstate="print"/>
            <a:stretch>
              <a:fillRect/>
            </a:stretch>
          </a:blipFill>
        </p:spPr>
        <p:txBody>
          <a:bodyPr wrap="square" lIns="0" tIns="0" rIns="0" bIns="0" rtlCol="0"/>
          <a:lstStyle/>
          <a:p>
            <a:endParaRPr/>
          </a:p>
        </p:txBody>
      </p:sp>
      <p:sp>
        <p:nvSpPr>
          <p:cNvPr id="35" name="object 35"/>
          <p:cNvSpPr/>
          <p:nvPr/>
        </p:nvSpPr>
        <p:spPr>
          <a:xfrm>
            <a:off x="2472266" y="3096541"/>
            <a:ext cx="1183640" cy="254000"/>
          </a:xfrm>
          <a:custGeom>
            <a:avLst/>
            <a:gdLst/>
            <a:ahLst/>
            <a:cxnLst/>
            <a:rect l="l" t="t" r="r" b="b"/>
            <a:pathLst>
              <a:path w="1183639" h="254000">
                <a:moveTo>
                  <a:pt x="1183215" y="254000"/>
                </a:moveTo>
                <a:lnTo>
                  <a:pt x="0" y="254000"/>
                </a:lnTo>
                <a:lnTo>
                  <a:pt x="0" y="6349"/>
                </a:lnTo>
                <a:lnTo>
                  <a:pt x="1130299" y="6349"/>
                </a:lnTo>
                <a:lnTo>
                  <a:pt x="1071032" y="0"/>
                </a:lnTo>
              </a:path>
            </a:pathLst>
          </a:custGeom>
          <a:ln w="12699">
            <a:solidFill>
              <a:srgbClr val="000000"/>
            </a:solidFill>
          </a:ln>
        </p:spPr>
        <p:txBody>
          <a:bodyPr wrap="square" lIns="0" tIns="0" rIns="0" bIns="0" rtlCol="0"/>
          <a:lstStyle/>
          <a:p>
            <a:endParaRPr/>
          </a:p>
        </p:txBody>
      </p:sp>
      <p:sp>
        <p:nvSpPr>
          <p:cNvPr id="36" name="object 36"/>
          <p:cNvSpPr/>
          <p:nvPr/>
        </p:nvSpPr>
        <p:spPr>
          <a:xfrm>
            <a:off x="7780866" y="3199730"/>
            <a:ext cx="175683" cy="87312"/>
          </a:xfrm>
          <a:prstGeom prst="rect">
            <a:avLst/>
          </a:prstGeom>
          <a:blipFill>
            <a:blip r:embed="rId6" cstate="print"/>
            <a:stretch>
              <a:fillRect/>
            </a:stretch>
          </a:blipFill>
        </p:spPr>
        <p:txBody>
          <a:bodyPr wrap="square" lIns="0" tIns="0" rIns="0" bIns="0" rtlCol="0"/>
          <a:lstStyle/>
          <a:p>
            <a:endParaRPr/>
          </a:p>
        </p:txBody>
      </p:sp>
      <p:sp>
        <p:nvSpPr>
          <p:cNvPr id="37" name="object 37"/>
          <p:cNvSpPr/>
          <p:nvPr/>
        </p:nvSpPr>
        <p:spPr>
          <a:xfrm>
            <a:off x="5596466" y="3242591"/>
            <a:ext cx="2239645" cy="0"/>
          </a:xfrm>
          <a:custGeom>
            <a:avLst/>
            <a:gdLst/>
            <a:ahLst/>
            <a:cxnLst/>
            <a:rect l="l" t="t" r="r" b="b"/>
            <a:pathLst>
              <a:path w="2239645">
                <a:moveTo>
                  <a:pt x="0" y="0"/>
                </a:moveTo>
                <a:lnTo>
                  <a:pt x="2239432" y="1"/>
                </a:lnTo>
              </a:path>
            </a:pathLst>
          </a:custGeom>
          <a:ln w="12699">
            <a:solidFill>
              <a:srgbClr val="000000"/>
            </a:solidFill>
          </a:ln>
        </p:spPr>
        <p:txBody>
          <a:bodyPr wrap="square" lIns="0" tIns="0" rIns="0" bIns="0" rtlCol="0"/>
          <a:lstStyle/>
          <a:p>
            <a:endParaRPr/>
          </a:p>
        </p:txBody>
      </p:sp>
      <p:sp>
        <p:nvSpPr>
          <p:cNvPr id="38" name="object 38"/>
          <p:cNvSpPr/>
          <p:nvPr/>
        </p:nvSpPr>
        <p:spPr>
          <a:xfrm>
            <a:off x="3699934" y="4339555"/>
            <a:ext cx="175683" cy="85724"/>
          </a:xfrm>
          <a:prstGeom prst="rect">
            <a:avLst/>
          </a:prstGeom>
          <a:blipFill>
            <a:blip r:embed="rId7" cstate="print"/>
            <a:stretch>
              <a:fillRect/>
            </a:stretch>
          </a:blipFill>
        </p:spPr>
        <p:txBody>
          <a:bodyPr wrap="square" lIns="0" tIns="0" rIns="0" bIns="0" rtlCol="0"/>
          <a:lstStyle/>
          <a:p>
            <a:endParaRPr/>
          </a:p>
        </p:txBody>
      </p:sp>
      <p:sp>
        <p:nvSpPr>
          <p:cNvPr id="39" name="object 39"/>
          <p:cNvSpPr/>
          <p:nvPr/>
        </p:nvSpPr>
        <p:spPr>
          <a:xfrm>
            <a:off x="3117849" y="4382418"/>
            <a:ext cx="914400" cy="459105"/>
          </a:xfrm>
          <a:custGeom>
            <a:avLst/>
            <a:gdLst/>
            <a:ahLst/>
            <a:cxnLst/>
            <a:rect l="l" t="t" r="r" b="b"/>
            <a:pathLst>
              <a:path w="914400" h="459104">
                <a:moveTo>
                  <a:pt x="914399" y="141287"/>
                </a:moveTo>
                <a:lnTo>
                  <a:pt x="914399" y="458787"/>
                </a:lnTo>
                <a:lnTo>
                  <a:pt x="0" y="458787"/>
                </a:lnTo>
                <a:lnTo>
                  <a:pt x="0" y="0"/>
                </a:lnTo>
                <a:lnTo>
                  <a:pt x="643466" y="0"/>
                </a:lnTo>
              </a:path>
            </a:pathLst>
          </a:custGeom>
          <a:ln w="12699">
            <a:solidFill>
              <a:srgbClr val="000000"/>
            </a:solidFill>
          </a:ln>
        </p:spPr>
        <p:txBody>
          <a:bodyPr wrap="square" lIns="0" tIns="0" rIns="0" bIns="0" rtlCol="0"/>
          <a:lstStyle/>
          <a:p>
            <a:endParaRPr/>
          </a:p>
        </p:txBody>
      </p:sp>
      <p:sp>
        <p:nvSpPr>
          <p:cNvPr id="40" name="object 40"/>
          <p:cNvSpPr/>
          <p:nvPr/>
        </p:nvSpPr>
        <p:spPr>
          <a:xfrm>
            <a:off x="4614333" y="4115716"/>
            <a:ext cx="124883" cy="119062"/>
          </a:xfrm>
          <a:prstGeom prst="rect">
            <a:avLst/>
          </a:prstGeom>
          <a:blipFill>
            <a:blip r:embed="rId4" cstate="print"/>
            <a:stretch>
              <a:fillRect/>
            </a:stretch>
          </a:blipFill>
        </p:spPr>
        <p:txBody>
          <a:bodyPr wrap="square" lIns="0" tIns="0" rIns="0" bIns="0" rtlCol="0"/>
          <a:lstStyle/>
          <a:p>
            <a:endParaRPr/>
          </a:p>
        </p:txBody>
      </p:sp>
      <p:sp>
        <p:nvSpPr>
          <p:cNvPr id="41" name="object 41"/>
          <p:cNvSpPr/>
          <p:nvPr/>
        </p:nvSpPr>
        <p:spPr>
          <a:xfrm>
            <a:off x="4677832" y="3455316"/>
            <a:ext cx="0" cy="703580"/>
          </a:xfrm>
          <a:custGeom>
            <a:avLst/>
            <a:gdLst/>
            <a:ahLst/>
            <a:cxnLst/>
            <a:rect l="l" t="t" r="r" b="b"/>
            <a:pathLst>
              <a:path h="703579">
                <a:moveTo>
                  <a:pt x="0" y="0"/>
                </a:moveTo>
                <a:lnTo>
                  <a:pt x="0" y="176212"/>
                </a:lnTo>
                <a:lnTo>
                  <a:pt x="0" y="703262"/>
                </a:lnTo>
              </a:path>
            </a:pathLst>
          </a:custGeom>
          <a:ln w="12699">
            <a:solidFill>
              <a:srgbClr val="000000"/>
            </a:solidFill>
          </a:ln>
        </p:spPr>
        <p:txBody>
          <a:bodyPr wrap="square" lIns="0" tIns="0" rIns="0" bIns="0" rtlCol="0"/>
          <a:lstStyle/>
          <a:p>
            <a:endParaRPr/>
          </a:p>
        </p:txBody>
      </p:sp>
      <p:sp>
        <p:nvSpPr>
          <p:cNvPr id="42" name="object 42"/>
          <p:cNvSpPr/>
          <p:nvPr/>
        </p:nvSpPr>
        <p:spPr>
          <a:xfrm>
            <a:off x="7683501" y="3398166"/>
            <a:ext cx="182032" cy="85725"/>
          </a:xfrm>
          <a:prstGeom prst="rect">
            <a:avLst/>
          </a:prstGeom>
          <a:blipFill>
            <a:blip r:embed="rId8" cstate="print"/>
            <a:stretch>
              <a:fillRect/>
            </a:stretch>
          </a:blipFill>
        </p:spPr>
        <p:txBody>
          <a:bodyPr wrap="square" lIns="0" tIns="0" rIns="0" bIns="0" rtlCol="0"/>
          <a:lstStyle/>
          <a:p>
            <a:endParaRPr/>
          </a:p>
        </p:txBody>
      </p:sp>
      <p:sp>
        <p:nvSpPr>
          <p:cNvPr id="43" name="object 43"/>
          <p:cNvSpPr/>
          <p:nvPr/>
        </p:nvSpPr>
        <p:spPr>
          <a:xfrm>
            <a:off x="4952998" y="3425156"/>
            <a:ext cx="2802890" cy="866775"/>
          </a:xfrm>
          <a:custGeom>
            <a:avLst/>
            <a:gdLst/>
            <a:ahLst/>
            <a:cxnLst/>
            <a:rect l="l" t="t" r="r" b="b"/>
            <a:pathLst>
              <a:path w="2802890" h="866775">
                <a:moveTo>
                  <a:pt x="0" y="866774"/>
                </a:moveTo>
                <a:lnTo>
                  <a:pt x="2802465" y="0"/>
                </a:lnTo>
              </a:path>
            </a:pathLst>
          </a:custGeom>
          <a:ln w="12699">
            <a:solidFill>
              <a:srgbClr val="000000"/>
            </a:solidFill>
          </a:ln>
        </p:spPr>
        <p:txBody>
          <a:bodyPr wrap="square" lIns="0" tIns="0" rIns="0" bIns="0" rtlCol="0"/>
          <a:lstStyle/>
          <a:p>
            <a:endParaRPr/>
          </a:p>
        </p:txBody>
      </p:sp>
      <p:sp>
        <p:nvSpPr>
          <p:cNvPr id="44" name="object 44"/>
          <p:cNvSpPr txBox="1"/>
          <p:nvPr/>
        </p:nvSpPr>
        <p:spPr>
          <a:xfrm>
            <a:off x="6137804" y="3926805"/>
            <a:ext cx="1294765" cy="349885"/>
          </a:xfrm>
          <a:prstGeom prst="rect">
            <a:avLst/>
          </a:prstGeom>
        </p:spPr>
        <p:txBody>
          <a:bodyPr vert="horz" wrap="square" lIns="0" tIns="12700" rIns="0" bIns="0" rtlCol="0">
            <a:spAutoFit/>
          </a:bodyPr>
          <a:lstStyle/>
          <a:p>
            <a:pPr marL="12700">
              <a:lnSpc>
                <a:spcPts val="1275"/>
              </a:lnSpc>
              <a:spcBef>
                <a:spcPts val="100"/>
              </a:spcBef>
            </a:pPr>
            <a:r>
              <a:rPr sz="1200" b="1" spc="-5" dirty="0">
                <a:latin typeface="华文新魏" panose="02010800040101010101" charset="-122"/>
                <a:cs typeface="华文新魏" panose="02010800040101010101" charset="-122"/>
              </a:rPr>
              <a:t>Item</a:t>
            </a:r>
            <a:r>
              <a:rPr sz="1200" b="1" spc="-1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Received</a:t>
            </a:r>
            <a:endParaRPr sz="1200">
              <a:latin typeface="华文新魏" panose="02010800040101010101" charset="-122"/>
              <a:cs typeface="华文新魏" panose="02010800040101010101" charset="-122"/>
            </a:endParaRPr>
          </a:p>
          <a:p>
            <a:pPr marL="12700">
              <a:lnSpc>
                <a:spcPts val="1275"/>
              </a:lnSpc>
            </a:pPr>
            <a:r>
              <a:rPr sz="1200" b="1" spc="-5" dirty="0">
                <a:latin typeface="华文新魏" panose="02010800040101010101" charset="-122"/>
                <a:cs typeface="华文新魏" panose="02010800040101010101" charset="-122"/>
              </a:rPr>
              <a:t>[all items</a:t>
            </a:r>
            <a:r>
              <a:rPr sz="1200" b="1" spc="-35" dirty="0">
                <a:latin typeface="华文新魏" panose="02010800040101010101" charset="-122"/>
                <a:cs typeface="华文新魏" panose="02010800040101010101" charset="-122"/>
              </a:rPr>
              <a:t> </a:t>
            </a:r>
            <a:r>
              <a:rPr sz="1200" b="1" spc="-5" dirty="0">
                <a:latin typeface="华文新魏" panose="02010800040101010101" charset="-122"/>
                <a:cs typeface="华文新魏" panose="02010800040101010101" charset="-122"/>
              </a:rPr>
              <a:t>available]</a:t>
            </a:r>
            <a:endParaRPr sz="1200">
              <a:latin typeface="华文新魏" panose="02010800040101010101" charset="-122"/>
              <a:cs typeface="华文新魏" panose="02010800040101010101" charset="-122"/>
            </a:endParaRPr>
          </a:p>
        </p:txBody>
      </p:sp>
      <p:sp>
        <p:nvSpPr>
          <p:cNvPr id="45" name="object 45"/>
          <p:cNvSpPr txBox="1"/>
          <p:nvPr/>
        </p:nvSpPr>
        <p:spPr>
          <a:xfrm>
            <a:off x="9149820" y="4325268"/>
            <a:ext cx="6648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华文新魏" panose="02010800040101010101" charset="-122"/>
                <a:cs typeface="华文新魏" panose="02010800040101010101" charset="-122"/>
              </a:rPr>
              <a:t>Delivered</a:t>
            </a:r>
            <a:endParaRPr sz="1200">
              <a:latin typeface="华文新魏" panose="02010800040101010101" charset="-122"/>
              <a:cs typeface="华文新魏" panose="02010800040101010101" charset="-122"/>
            </a:endParaRPr>
          </a:p>
        </p:txBody>
      </p:sp>
      <p:sp>
        <p:nvSpPr>
          <p:cNvPr id="46" name="object 46"/>
          <p:cNvSpPr/>
          <p:nvPr/>
        </p:nvSpPr>
        <p:spPr>
          <a:xfrm>
            <a:off x="7933266" y="3083841"/>
            <a:ext cx="2099945" cy="488950"/>
          </a:xfrm>
          <a:custGeom>
            <a:avLst/>
            <a:gdLst/>
            <a:ahLst/>
            <a:cxnLst/>
            <a:rect l="l" t="t" r="r" b="b"/>
            <a:pathLst>
              <a:path w="2099945" h="488950">
                <a:moveTo>
                  <a:pt x="0" y="61093"/>
                </a:moveTo>
                <a:lnTo>
                  <a:pt x="4801" y="37313"/>
                </a:lnTo>
                <a:lnTo>
                  <a:pt x="17893" y="17893"/>
                </a:lnTo>
                <a:lnTo>
                  <a:pt x="37313" y="4801"/>
                </a:lnTo>
                <a:lnTo>
                  <a:pt x="61093" y="0"/>
                </a:lnTo>
                <a:lnTo>
                  <a:pt x="2038638" y="0"/>
                </a:lnTo>
                <a:lnTo>
                  <a:pt x="2062418" y="4801"/>
                </a:lnTo>
                <a:lnTo>
                  <a:pt x="2081838" y="17893"/>
                </a:lnTo>
                <a:lnTo>
                  <a:pt x="2094931" y="37313"/>
                </a:lnTo>
                <a:lnTo>
                  <a:pt x="2099732" y="61093"/>
                </a:lnTo>
                <a:lnTo>
                  <a:pt x="2099732" y="427856"/>
                </a:lnTo>
                <a:lnTo>
                  <a:pt x="2094931" y="451636"/>
                </a:lnTo>
                <a:lnTo>
                  <a:pt x="2081838" y="471055"/>
                </a:lnTo>
                <a:lnTo>
                  <a:pt x="2062418" y="484148"/>
                </a:lnTo>
                <a:lnTo>
                  <a:pt x="2038638" y="488949"/>
                </a:lnTo>
                <a:lnTo>
                  <a:pt x="61093" y="488949"/>
                </a:lnTo>
                <a:lnTo>
                  <a:pt x="37313" y="484148"/>
                </a:lnTo>
                <a:lnTo>
                  <a:pt x="17893" y="471055"/>
                </a:lnTo>
                <a:lnTo>
                  <a:pt x="4801" y="451636"/>
                </a:lnTo>
                <a:lnTo>
                  <a:pt x="0" y="427856"/>
                </a:lnTo>
                <a:lnTo>
                  <a:pt x="0" y="61093"/>
                </a:lnTo>
                <a:close/>
              </a:path>
            </a:pathLst>
          </a:custGeom>
          <a:ln w="12699">
            <a:solidFill>
              <a:srgbClr val="000000"/>
            </a:solidFill>
          </a:ln>
        </p:spPr>
        <p:txBody>
          <a:bodyPr wrap="square" lIns="0" tIns="0" rIns="0" bIns="0" rtlCol="0"/>
          <a:lstStyle/>
          <a:p>
            <a:endParaRPr/>
          </a:p>
        </p:txBody>
      </p:sp>
      <p:sp>
        <p:nvSpPr>
          <p:cNvPr id="47" name="object 47"/>
          <p:cNvSpPr/>
          <p:nvPr/>
        </p:nvSpPr>
        <p:spPr>
          <a:xfrm>
            <a:off x="3600450" y="3069555"/>
            <a:ext cx="2015489" cy="431800"/>
          </a:xfrm>
          <a:custGeom>
            <a:avLst/>
            <a:gdLst/>
            <a:ahLst/>
            <a:cxnLst/>
            <a:rect l="l" t="t" r="r" b="b"/>
            <a:pathLst>
              <a:path w="2015489" h="431800">
                <a:moveTo>
                  <a:pt x="0" y="53952"/>
                </a:moveTo>
                <a:lnTo>
                  <a:pt x="4239" y="32951"/>
                </a:lnTo>
                <a:lnTo>
                  <a:pt x="15802" y="15802"/>
                </a:lnTo>
                <a:lnTo>
                  <a:pt x="32951" y="4239"/>
                </a:lnTo>
                <a:lnTo>
                  <a:pt x="53952" y="0"/>
                </a:lnTo>
                <a:lnTo>
                  <a:pt x="1961113" y="0"/>
                </a:lnTo>
                <a:lnTo>
                  <a:pt x="1982114" y="4239"/>
                </a:lnTo>
                <a:lnTo>
                  <a:pt x="1999263" y="15802"/>
                </a:lnTo>
                <a:lnTo>
                  <a:pt x="2010826" y="32951"/>
                </a:lnTo>
                <a:lnTo>
                  <a:pt x="2015066" y="53952"/>
                </a:lnTo>
                <a:lnTo>
                  <a:pt x="2015066" y="377847"/>
                </a:lnTo>
                <a:lnTo>
                  <a:pt x="2010826" y="398847"/>
                </a:lnTo>
                <a:lnTo>
                  <a:pt x="1999263" y="415997"/>
                </a:lnTo>
                <a:lnTo>
                  <a:pt x="1982114" y="427560"/>
                </a:lnTo>
                <a:lnTo>
                  <a:pt x="1961113" y="431799"/>
                </a:lnTo>
                <a:lnTo>
                  <a:pt x="53952" y="431799"/>
                </a:lnTo>
                <a:lnTo>
                  <a:pt x="32951" y="427560"/>
                </a:lnTo>
                <a:lnTo>
                  <a:pt x="15802" y="415997"/>
                </a:lnTo>
                <a:lnTo>
                  <a:pt x="4239" y="398847"/>
                </a:lnTo>
                <a:lnTo>
                  <a:pt x="0" y="377847"/>
                </a:lnTo>
                <a:lnTo>
                  <a:pt x="0" y="53952"/>
                </a:lnTo>
                <a:close/>
              </a:path>
            </a:pathLst>
          </a:custGeom>
          <a:ln w="12699">
            <a:solidFill>
              <a:srgbClr val="000000"/>
            </a:solidFill>
          </a:ln>
        </p:spPr>
        <p:txBody>
          <a:bodyPr wrap="square" lIns="0" tIns="0" rIns="0" bIns="0" rtlCol="0"/>
          <a:lstStyle/>
          <a:p>
            <a:endParaRPr/>
          </a:p>
        </p:txBody>
      </p:sp>
      <p:sp>
        <p:nvSpPr>
          <p:cNvPr id="48" name="object 48"/>
          <p:cNvSpPr/>
          <p:nvPr/>
        </p:nvSpPr>
        <p:spPr>
          <a:xfrm>
            <a:off x="3869266" y="4226841"/>
            <a:ext cx="999490" cy="292100"/>
          </a:xfrm>
          <a:custGeom>
            <a:avLst/>
            <a:gdLst/>
            <a:ahLst/>
            <a:cxnLst/>
            <a:rect l="l" t="t" r="r" b="b"/>
            <a:pathLst>
              <a:path w="999489" h="292100">
                <a:moveTo>
                  <a:pt x="0" y="36497"/>
                </a:moveTo>
                <a:lnTo>
                  <a:pt x="2868" y="22291"/>
                </a:lnTo>
                <a:lnTo>
                  <a:pt x="10690" y="10689"/>
                </a:lnTo>
                <a:lnTo>
                  <a:pt x="22291" y="2868"/>
                </a:lnTo>
                <a:lnTo>
                  <a:pt x="36498" y="0"/>
                </a:lnTo>
                <a:lnTo>
                  <a:pt x="962568" y="0"/>
                </a:lnTo>
                <a:lnTo>
                  <a:pt x="976775" y="2868"/>
                </a:lnTo>
                <a:lnTo>
                  <a:pt x="988376" y="10689"/>
                </a:lnTo>
                <a:lnTo>
                  <a:pt x="996198" y="22291"/>
                </a:lnTo>
                <a:lnTo>
                  <a:pt x="999066" y="36497"/>
                </a:lnTo>
                <a:lnTo>
                  <a:pt x="999066" y="255601"/>
                </a:lnTo>
                <a:lnTo>
                  <a:pt x="996198" y="269808"/>
                </a:lnTo>
                <a:lnTo>
                  <a:pt x="988376" y="281409"/>
                </a:lnTo>
                <a:lnTo>
                  <a:pt x="976775" y="289231"/>
                </a:lnTo>
                <a:lnTo>
                  <a:pt x="962568" y="292099"/>
                </a:lnTo>
                <a:lnTo>
                  <a:pt x="36498" y="292099"/>
                </a:lnTo>
                <a:lnTo>
                  <a:pt x="22291" y="289231"/>
                </a:lnTo>
                <a:lnTo>
                  <a:pt x="10690" y="281409"/>
                </a:lnTo>
                <a:lnTo>
                  <a:pt x="2868" y="269808"/>
                </a:lnTo>
                <a:lnTo>
                  <a:pt x="0" y="255601"/>
                </a:lnTo>
                <a:lnTo>
                  <a:pt x="0" y="36497"/>
                </a:lnTo>
                <a:close/>
              </a:path>
            </a:pathLst>
          </a:custGeom>
          <a:ln w="12699">
            <a:solidFill>
              <a:srgbClr val="000000"/>
            </a:solidFill>
          </a:ln>
        </p:spPr>
        <p:txBody>
          <a:bodyPr wrap="square" lIns="0" tIns="0" rIns="0" bIns="0" rtlCol="0"/>
          <a:lstStyle/>
          <a:p>
            <a:endParaRPr/>
          </a:p>
        </p:txBody>
      </p:sp>
      <p:sp>
        <p:nvSpPr>
          <p:cNvPr id="49" name="object 49"/>
          <p:cNvSpPr/>
          <p:nvPr/>
        </p:nvSpPr>
        <p:spPr>
          <a:xfrm>
            <a:off x="6568016" y="5942929"/>
            <a:ext cx="205316" cy="157163"/>
          </a:xfrm>
          <a:prstGeom prst="rect">
            <a:avLst/>
          </a:prstGeom>
          <a:blipFill>
            <a:blip r:embed="rId9" cstate="print"/>
            <a:stretch>
              <a:fillRect/>
            </a:stretch>
          </a:blipFill>
        </p:spPr>
        <p:txBody>
          <a:bodyPr wrap="square" lIns="0" tIns="0" rIns="0" bIns="0" rtlCol="0"/>
          <a:lstStyle/>
          <a:p>
            <a:endParaRPr/>
          </a:p>
        </p:txBody>
      </p:sp>
      <p:sp>
        <p:nvSpPr>
          <p:cNvPr id="50" name="object 50"/>
          <p:cNvSpPr/>
          <p:nvPr/>
        </p:nvSpPr>
        <p:spPr>
          <a:xfrm>
            <a:off x="6479116" y="5877841"/>
            <a:ext cx="383540" cy="287655"/>
          </a:xfrm>
          <a:custGeom>
            <a:avLst/>
            <a:gdLst/>
            <a:ahLst/>
            <a:cxnLst/>
            <a:rect l="l" t="t" r="r" b="b"/>
            <a:pathLst>
              <a:path w="383540" h="287654">
                <a:moveTo>
                  <a:pt x="0" y="143668"/>
                </a:moveTo>
                <a:lnTo>
                  <a:pt x="6842" y="105476"/>
                </a:lnTo>
                <a:lnTo>
                  <a:pt x="26153" y="71156"/>
                </a:lnTo>
                <a:lnTo>
                  <a:pt x="56106" y="42079"/>
                </a:lnTo>
                <a:lnTo>
                  <a:pt x="94875" y="19615"/>
                </a:lnTo>
                <a:lnTo>
                  <a:pt x="140634" y="5131"/>
                </a:lnTo>
                <a:lnTo>
                  <a:pt x="191558" y="0"/>
                </a:lnTo>
                <a:lnTo>
                  <a:pt x="242481" y="5131"/>
                </a:lnTo>
                <a:lnTo>
                  <a:pt x="288240" y="19615"/>
                </a:lnTo>
                <a:lnTo>
                  <a:pt x="327009" y="42079"/>
                </a:lnTo>
                <a:lnTo>
                  <a:pt x="356962" y="71156"/>
                </a:lnTo>
                <a:lnTo>
                  <a:pt x="376273" y="105476"/>
                </a:lnTo>
                <a:lnTo>
                  <a:pt x="383116" y="143668"/>
                </a:lnTo>
                <a:lnTo>
                  <a:pt x="376273" y="181861"/>
                </a:lnTo>
                <a:lnTo>
                  <a:pt x="356962" y="216181"/>
                </a:lnTo>
                <a:lnTo>
                  <a:pt x="327009" y="245258"/>
                </a:lnTo>
                <a:lnTo>
                  <a:pt x="288240" y="267722"/>
                </a:lnTo>
                <a:lnTo>
                  <a:pt x="242481" y="282205"/>
                </a:lnTo>
                <a:lnTo>
                  <a:pt x="191558" y="287337"/>
                </a:lnTo>
                <a:lnTo>
                  <a:pt x="140634" y="282205"/>
                </a:lnTo>
                <a:lnTo>
                  <a:pt x="94875" y="267722"/>
                </a:lnTo>
                <a:lnTo>
                  <a:pt x="56106" y="245258"/>
                </a:lnTo>
                <a:lnTo>
                  <a:pt x="26153" y="216181"/>
                </a:lnTo>
                <a:lnTo>
                  <a:pt x="6842" y="181861"/>
                </a:lnTo>
                <a:lnTo>
                  <a:pt x="0" y="143668"/>
                </a:lnTo>
                <a:close/>
              </a:path>
            </a:pathLst>
          </a:custGeom>
          <a:ln w="25399">
            <a:solidFill>
              <a:srgbClr val="000000"/>
            </a:solidFill>
          </a:ln>
        </p:spPr>
        <p:txBody>
          <a:bodyPr wrap="square" lIns="0" tIns="0" rIns="0" bIns="0" rtlCol="0"/>
          <a:lstStyle/>
          <a:p>
            <a:endParaRPr/>
          </a:p>
        </p:txBody>
      </p:sp>
      <p:sp>
        <p:nvSpPr>
          <p:cNvPr id="51" name="object 51"/>
          <p:cNvSpPr/>
          <p:nvPr/>
        </p:nvSpPr>
        <p:spPr>
          <a:xfrm>
            <a:off x="6886788" y="5588916"/>
            <a:ext cx="1609725" cy="425450"/>
          </a:xfrm>
          <a:custGeom>
            <a:avLst/>
            <a:gdLst/>
            <a:ahLst/>
            <a:cxnLst/>
            <a:rect l="l" t="t" r="r" b="b"/>
            <a:pathLst>
              <a:path w="1609725" h="425450">
                <a:moveTo>
                  <a:pt x="1609509" y="0"/>
                </a:moveTo>
                <a:lnTo>
                  <a:pt x="0" y="425310"/>
                </a:lnTo>
              </a:path>
            </a:pathLst>
          </a:custGeom>
          <a:ln w="9524">
            <a:solidFill>
              <a:srgbClr val="000000"/>
            </a:solidFill>
          </a:ln>
        </p:spPr>
        <p:txBody>
          <a:bodyPr wrap="square" lIns="0" tIns="0" rIns="0" bIns="0" rtlCol="0"/>
          <a:lstStyle/>
          <a:p>
            <a:endParaRPr/>
          </a:p>
        </p:txBody>
      </p:sp>
      <p:sp>
        <p:nvSpPr>
          <p:cNvPr id="52" name="object 52"/>
          <p:cNvSpPr/>
          <p:nvPr/>
        </p:nvSpPr>
        <p:spPr>
          <a:xfrm>
            <a:off x="6862231" y="5964413"/>
            <a:ext cx="83820" cy="74295"/>
          </a:xfrm>
          <a:custGeom>
            <a:avLst/>
            <a:gdLst/>
            <a:ahLst/>
            <a:cxnLst/>
            <a:rect l="l" t="t" r="r" b="b"/>
            <a:pathLst>
              <a:path w="83820" h="74295">
                <a:moveTo>
                  <a:pt x="63938" y="0"/>
                </a:moveTo>
                <a:lnTo>
                  <a:pt x="0" y="56303"/>
                </a:lnTo>
                <a:lnTo>
                  <a:pt x="83404" y="73671"/>
                </a:lnTo>
                <a:lnTo>
                  <a:pt x="63938" y="0"/>
                </a:lnTo>
                <a:close/>
              </a:path>
            </a:pathLst>
          </a:custGeom>
          <a:solidFill>
            <a:srgbClr val="000000"/>
          </a:solidFill>
        </p:spPr>
        <p:txBody>
          <a:bodyPr wrap="square" lIns="0" tIns="0" rIns="0" bIns="0" rtlCol="0"/>
          <a:lstStyle/>
          <a:p>
            <a:endParaRPr/>
          </a:p>
        </p:txBody>
      </p:sp>
      <p:sp>
        <p:nvSpPr>
          <p:cNvPr id="53" name="object 53"/>
          <p:cNvSpPr/>
          <p:nvPr/>
        </p:nvSpPr>
        <p:spPr>
          <a:xfrm>
            <a:off x="5135032" y="5588916"/>
            <a:ext cx="1320165" cy="424180"/>
          </a:xfrm>
          <a:custGeom>
            <a:avLst/>
            <a:gdLst/>
            <a:ahLst/>
            <a:cxnLst/>
            <a:rect l="l" t="t" r="r" b="b"/>
            <a:pathLst>
              <a:path w="1320164" h="424179">
                <a:moveTo>
                  <a:pt x="0" y="0"/>
                </a:moveTo>
                <a:lnTo>
                  <a:pt x="1319635" y="424029"/>
                </a:lnTo>
              </a:path>
            </a:pathLst>
          </a:custGeom>
          <a:ln w="9524">
            <a:solidFill>
              <a:srgbClr val="000000"/>
            </a:solidFill>
          </a:ln>
        </p:spPr>
        <p:txBody>
          <a:bodyPr wrap="square" lIns="0" tIns="0" rIns="0" bIns="0" rtlCol="0"/>
          <a:lstStyle/>
          <a:p>
            <a:endParaRPr/>
          </a:p>
        </p:txBody>
      </p:sp>
      <p:sp>
        <p:nvSpPr>
          <p:cNvPr id="54" name="object 54"/>
          <p:cNvSpPr/>
          <p:nvPr/>
        </p:nvSpPr>
        <p:spPr>
          <a:xfrm>
            <a:off x="6394649" y="5961132"/>
            <a:ext cx="84455" cy="73025"/>
          </a:xfrm>
          <a:custGeom>
            <a:avLst/>
            <a:gdLst/>
            <a:ahLst/>
            <a:cxnLst/>
            <a:rect l="l" t="t" r="r" b="b"/>
            <a:pathLst>
              <a:path w="84454" h="73025">
                <a:moveTo>
                  <a:pt x="23312" y="0"/>
                </a:moveTo>
                <a:lnTo>
                  <a:pt x="0" y="72546"/>
                </a:lnTo>
                <a:lnTo>
                  <a:pt x="84202" y="59584"/>
                </a:lnTo>
                <a:lnTo>
                  <a:pt x="23312" y="0"/>
                </a:lnTo>
                <a:close/>
              </a:path>
            </a:pathLst>
          </a:custGeom>
          <a:solidFill>
            <a:srgbClr val="000000"/>
          </a:solidFill>
        </p:spPr>
        <p:txBody>
          <a:bodyPr wrap="square" lIns="0" tIns="0" rIns="0" bIns="0" rtlCol="0"/>
          <a:lstStyle/>
          <a:p>
            <a:endParaRPr/>
          </a:p>
        </p:txBody>
      </p:sp>
      <p:sp>
        <p:nvSpPr>
          <p:cNvPr id="58" name="标题 57"/>
          <p:cNvSpPr>
            <a:spLocks noGrp="1"/>
          </p:cNvSpPr>
          <p:nvPr>
            <p:ph type="title"/>
          </p:nvPr>
        </p:nvSpPr>
        <p:spPr/>
        <p:txBody>
          <a:bodyPr/>
          <a:lstStyle/>
          <a:p>
            <a:r>
              <a:rPr lang="zh-CN" altLang="en-US" spc="-5" dirty="0"/>
              <a:t>参考答案</a:t>
            </a:r>
            <a:endParaRPr lang="zh-CN" altLang="en-US" dirty="0"/>
          </a:p>
        </p:txBody>
      </p:sp>
      <p:sp>
        <p:nvSpPr>
          <p:cNvPr id="59" name="灯片编号占位符 58"/>
          <p:cNvSpPr>
            <a:spLocks noGrp="1"/>
          </p:cNvSpPr>
          <p:nvPr>
            <p:ph type="sldNum" sz="quarter" idx="12"/>
          </p:nvPr>
        </p:nvSpPr>
        <p:spPr/>
        <p:txBody>
          <a:bodyPr/>
          <a:lstStyle/>
          <a:p>
            <a:fld id="{74D2AB8B-5816-41F2-8B4B-CA5C3E4E6A65}" type="slidenum">
              <a:rPr lang="zh-CN" altLang="en-US" smtClean="0"/>
              <a:t>54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641"/>
    </mc:Choice>
    <mc:Fallback xmlns="">
      <p:transition spd="slow" advTm="39641"/>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91786" y="3448892"/>
            <a:ext cx="6132805" cy="2454731"/>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850898" y="1582420"/>
            <a:ext cx="10312400" cy="3732945"/>
          </a:xfrm>
          <a:prstGeom prst="rect">
            <a:avLst/>
          </a:prstGeom>
        </p:spPr>
        <p:txBody>
          <a:bodyPr vert="horz" wrap="square" lIns="0" tIns="12065" rIns="0" bIns="0" rtlCol="0">
            <a:spAutoFit/>
          </a:bodyPr>
          <a:lstStyle/>
          <a:p>
            <a:pPr marL="240665" marR="5080" indent="-228600">
              <a:lnSpc>
                <a:spcPct val="118000"/>
              </a:lnSpc>
              <a:spcBef>
                <a:spcPts val="9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历史状态是一种伪状态。当激活这个状态时，会保存从组合状态中退出时所 </a:t>
            </a:r>
            <a:r>
              <a:rPr sz="2400" dirty="0" err="1">
                <a:latin typeface="微软雅黑" panose="020B0503020204020204" pitchFamily="34" charset="-122"/>
                <a:ea typeface="微软雅黑" panose="020B0503020204020204" pitchFamily="34" charset="-122"/>
                <a:cs typeface="华文新魏" panose="02010800040101010101" charset="-122"/>
              </a:rPr>
              <a:t>处的子状态，用H表示</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0665" marR="5080" indent="-228600">
              <a:lnSpc>
                <a:spcPct val="118000"/>
              </a:lnSpc>
              <a:spcBef>
                <a:spcPts val="1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当再次进入组合状态时，可直接进入到这个子状态，而不是再次从组合状态 </a:t>
            </a:r>
            <a:r>
              <a:rPr sz="2400" dirty="0" err="1">
                <a:latin typeface="微软雅黑" panose="020B0503020204020204" pitchFamily="34" charset="-122"/>
                <a:ea typeface="微软雅黑" panose="020B0503020204020204" pitchFamily="34" charset="-122"/>
                <a:cs typeface="华文新魏" panose="02010800040101010101" charset="-122"/>
              </a:rPr>
              <a:t>的初态开始</a:t>
            </a:r>
            <a:r>
              <a:rPr sz="2400" dirty="0">
                <a:latin typeface="微软雅黑" panose="020B0503020204020204" pitchFamily="34" charset="-122"/>
                <a:ea typeface="微软雅黑" panose="020B0503020204020204" pitchFamily="34" charset="-122"/>
                <a:cs typeface="华文新魏" panose="02010800040101010101" charset="-122"/>
              </a:rPr>
              <a:t>。</a:t>
            </a:r>
          </a:p>
          <a:p>
            <a:pPr>
              <a:lnSpc>
                <a:spcPct val="100000"/>
              </a:lnSpc>
              <a:spcBef>
                <a:spcPts val="40"/>
              </a:spcBef>
              <a:buFont typeface="Arial" panose="020B0604020202020204"/>
              <a:buChar char="•"/>
            </a:pPr>
            <a:endParaRPr sz="2050" dirty="0">
              <a:latin typeface="微软雅黑" panose="020B0503020204020204" pitchFamily="34" charset="-122"/>
              <a:ea typeface="微软雅黑" panose="020B0503020204020204" pitchFamily="34" charset="-122"/>
              <a:cs typeface="Times New Roman" panose="02020603050405020304"/>
            </a:endParaRPr>
          </a:p>
          <a:p>
            <a:pPr marL="458470" lvl="1" indent="-229235">
              <a:lnSpc>
                <a:spcPct val="100000"/>
              </a:lnSpc>
              <a:buFont typeface="Arial" panose="020B0604020202020204"/>
              <a:buChar char="•"/>
              <a:tabLst>
                <a:tab pos="459105" algn="l"/>
              </a:tabLst>
            </a:pPr>
            <a:r>
              <a:rPr sz="2400" dirty="0">
                <a:latin typeface="微软雅黑" panose="020B0503020204020204" pitchFamily="34" charset="-122"/>
                <a:ea typeface="微软雅黑" panose="020B0503020204020204" pitchFamily="34" charset="-122"/>
                <a:cs typeface="华文新魏" panose="02010800040101010101" charset="-122"/>
              </a:rPr>
              <a:t>H和H*的区别：</a:t>
            </a:r>
          </a:p>
          <a:p>
            <a:pPr marL="915670" lvl="2" indent="-229235">
              <a:lnSpc>
                <a:spcPct val="100000"/>
              </a:lnSpc>
              <a:spcBef>
                <a:spcPts val="160"/>
              </a:spcBef>
              <a:buFont typeface="Arial" panose="020B0604020202020204"/>
              <a:buChar char="•"/>
              <a:tabLst>
                <a:tab pos="915035" algn="l"/>
                <a:tab pos="916305" algn="l"/>
              </a:tabLst>
            </a:pPr>
            <a:r>
              <a:rPr sz="2000" dirty="0">
                <a:latin typeface="微软雅黑" panose="020B0503020204020204" pitchFamily="34" charset="-122"/>
                <a:ea typeface="微软雅黑" panose="020B0503020204020204" pitchFamily="34" charset="-122"/>
                <a:cs typeface="华文新魏" panose="02010800040101010101" charset="-122"/>
              </a:rPr>
              <a:t>H只记住最外层的组合状态的历史。</a:t>
            </a:r>
          </a:p>
          <a:p>
            <a:pPr marL="915670" lvl="2" indent="-229235">
              <a:lnSpc>
                <a:spcPct val="100000"/>
              </a:lnSpc>
              <a:spcBef>
                <a:spcPts val="300"/>
              </a:spcBef>
              <a:buFont typeface="Arial" panose="020B0604020202020204"/>
              <a:buChar char="•"/>
              <a:tabLst>
                <a:tab pos="915035" algn="l"/>
                <a:tab pos="916305" algn="l"/>
              </a:tabLst>
            </a:pPr>
            <a:r>
              <a:rPr sz="2000" dirty="0">
                <a:latin typeface="微软雅黑" panose="020B0503020204020204" pitchFamily="34" charset="-122"/>
                <a:ea typeface="微软雅黑" panose="020B0503020204020204" pitchFamily="34" charset="-122"/>
                <a:cs typeface="华文新魏" panose="02010800040101010101" charset="-122"/>
              </a:rPr>
              <a:t>H*可记住任何深度的组合状态的历史。</a:t>
            </a:r>
          </a:p>
          <a:p>
            <a:pPr marL="229870">
              <a:lnSpc>
                <a:spcPct val="100000"/>
              </a:lnSpc>
              <a:spcBef>
                <a:spcPts val="760"/>
              </a:spcBef>
            </a:pPr>
            <a:r>
              <a:rPr sz="2400" dirty="0">
                <a:latin typeface="微软雅黑" panose="020B0503020204020204" pitchFamily="34" charset="-122"/>
                <a:ea typeface="微软雅黑" panose="020B0503020204020204" pitchFamily="34" charset="-122"/>
                <a:cs typeface="华文新魏" panose="02010800040101010101" charset="-122"/>
              </a:rPr>
              <a:t>例：历史状态的例子。</a:t>
            </a:r>
          </a:p>
        </p:txBody>
      </p:sp>
      <p:sp>
        <p:nvSpPr>
          <p:cNvPr id="8" name="标题 7"/>
          <p:cNvSpPr>
            <a:spLocks noGrp="1"/>
          </p:cNvSpPr>
          <p:nvPr>
            <p:ph type="title"/>
          </p:nvPr>
        </p:nvSpPr>
        <p:spPr/>
        <p:txBody>
          <a:bodyPr/>
          <a:lstStyle/>
          <a:p>
            <a:r>
              <a:rPr lang="en-US" altLang="zh-CN" spc="-5" dirty="0"/>
              <a:t>UML</a:t>
            </a:r>
            <a:r>
              <a:rPr lang="zh-CN" altLang="en-US" spc="-5" dirty="0"/>
              <a:t>状态图中的历史状态</a:t>
            </a:r>
            <a:r>
              <a:rPr lang="en-US" altLang="zh-CN" spc="-5" dirty="0"/>
              <a:t>(History</a:t>
            </a:r>
            <a:r>
              <a:rPr lang="en-US" altLang="zh-CN" spc="-50" dirty="0"/>
              <a:t> </a:t>
            </a:r>
            <a:r>
              <a:rPr lang="en-US" altLang="zh-CN" spc="-5" dirty="0"/>
              <a:t>State)</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5366"/>
    </mc:Choice>
    <mc:Fallback xmlns="">
      <p:transition spd="slow" advTm="95366"/>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例：课程注册</a:t>
            </a:r>
            <a:endParaRPr lang="zh-CN" altLang="en-US" dirty="0"/>
          </a:p>
        </p:txBody>
      </p:sp>
      <p:pic>
        <p:nvPicPr>
          <p:cNvPr id="5" name="图片 4"/>
          <p:cNvPicPr>
            <a:picLocks noChangeAspect="1"/>
          </p:cNvPicPr>
          <p:nvPr/>
        </p:nvPicPr>
        <p:blipFill>
          <a:blip r:embed="rId3"/>
          <a:stretch>
            <a:fillRect/>
          </a:stretch>
        </p:blipFill>
        <p:spPr>
          <a:xfrm>
            <a:off x="649014" y="1681154"/>
            <a:ext cx="11353800" cy="4701824"/>
          </a:xfrm>
          <a:prstGeom prst="rect">
            <a:avLst/>
          </a:prstGeom>
        </p:spPr>
      </p:pic>
      <p:sp>
        <p:nvSpPr>
          <p:cNvPr id="6" name="灯片编号占位符 5"/>
          <p:cNvSpPr>
            <a:spLocks noGrp="1"/>
          </p:cNvSpPr>
          <p:nvPr>
            <p:ph type="sldNum" sz="quarter" idx="12"/>
          </p:nvPr>
        </p:nvSpPr>
        <p:spPr/>
        <p:txBody>
          <a:bodyPr/>
          <a:lstStyle/>
          <a:p>
            <a:fld id="{74D2AB8B-5816-41F2-8B4B-CA5C3E4E6A65}" type="slidenum">
              <a:rPr lang="zh-CN" altLang="en-US" smtClean="0"/>
              <a:t>56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599"/>
    </mc:Choice>
    <mc:Fallback xmlns="">
      <p:transition spd="slow" advTm="49599"/>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06763" y="1588578"/>
            <a:ext cx="5003800" cy="360680"/>
          </a:xfrm>
          <a:prstGeom prst="rect">
            <a:avLst/>
          </a:prstGeom>
        </p:spPr>
        <p:txBody>
          <a:bodyPr vert="horz" wrap="square" lIns="0" tIns="12700" rIns="0" bIns="0" rtlCol="0">
            <a:spAutoFit/>
          </a:bodyPr>
          <a:lstStyle/>
          <a:p>
            <a:pPr marL="12700">
              <a:lnSpc>
                <a:spcPct val="100000"/>
              </a:lnSpc>
              <a:spcBef>
                <a:spcPts val="100"/>
              </a:spcBef>
              <a:tabLst>
                <a:tab pos="240665" algn="l"/>
                <a:tab pos="241300" algn="l"/>
              </a:tabLst>
            </a:pPr>
            <a:r>
              <a:rPr sz="2200" dirty="0">
                <a:latin typeface="微软雅黑" panose="020B0503020204020204" pitchFamily="34" charset="-122"/>
                <a:ea typeface="微软雅黑" panose="020B0503020204020204" pitchFamily="34" charset="-122"/>
                <a:cs typeface="华文新魏" panose="02010800040101010101" charset="-122"/>
              </a:rPr>
              <a:t>正向工程：根据状态图生成代码。例：</a:t>
            </a:r>
          </a:p>
        </p:txBody>
      </p:sp>
      <p:sp>
        <p:nvSpPr>
          <p:cNvPr id="4" name="object 4"/>
          <p:cNvSpPr txBox="1"/>
          <p:nvPr/>
        </p:nvSpPr>
        <p:spPr>
          <a:xfrm>
            <a:off x="1106763" y="5018654"/>
            <a:ext cx="2743200" cy="319405"/>
          </a:xfrm>
          <a:prstGeom prst="rect">
            <a:avLst/>
          </a:prstGeom>
        </p:spPr>
        <p:txBody>
          <a:bodyPr vert="horz" wrap="square" lIns="0" tIns="0" rIns="0" bIns="0" rtlCol="0">
            <a:spAutoFit/>
          </a:bodyPr>
          <a:lstStyle/>
          <a:p>
            <a:pPr>
              <a:lnSpc>
                <a:spcPts val="2430"/>
              </a:lnSpc>
              <a:tabLst>
                <a:tab pos="227965" algn="l"/>
              </a:tabLst>
            </a:pPr>
            <a:r>
              <a:rPr sz="2200" dirty="0">
                <a:latin typeface="Arial" panose="020B0604020202020204"/>
                <a:cs typeface="Arial" panose="020B0604020202020204"/>
              </a:rPr>
              <a:t>•	</a:t>
            </a:r>
            <a:r>
              <a:rPr sz="2200" dirty="0">
                <a:latin typeface="华文新魏" panose="02010800040101010101" charset="-122"/>
                <a:cs typeface="华文新魏" panose="02010800040101010101" charset="-122"/>
              </a:rPr>
              <a:t>所生成的代码示例：</a:t>
            </a:r>
            <a:endParaRPr sz="2200">
              <a:latin typeface="华文新魏" panose="02010800040101010101" charset="-122"/>
              <a:cs typeface="华文新魏" panose="02010800040101010101" charset="-122"/>
            </a:endParaRPr>
          </a:p>
        </p:txBody>
      </p:sp>
      <p:sp>
        <p:nvSpPr>
          <p:cNvPr id="5" name="object 5"/>
          <p:cNvSpPr/>
          <p:nvPr/>
        </p:nvSpPr>
        <p:spPr>
          <a:xfrm>
            <a:off x="518500" y="2274718"/>
            <a:ext cx="11155000" cy="3837599"/>
          </a:xfrm>
          <a:prstGeom prst="rect">
            <a:avLst/>
          </a:prstGeom>
          <a:blipFill>
            <a:blip r:embed="rId3" cstate="print"/>
            <a:stretch>
              <a:fillRect/>
            </a:stretch>
          </a:blipFill>
        </p:spPr>
        <p:txBody>
          <a:bodyPr wrap="square" lIns="0" tIns="0" rIns="0" bIns="0" rtlCol="0"/>
          <a:lstStyle/>
          <a:p>
            <a:endParaRPr/>
          </a:p>
        </p:txBody>
      </p:sp>
      <p:sp>
        <p:nvSpPr>
          <p:cNvPr id="9" name="标题 8"/>
          <p:cNvSpPr>
            <a:spLocks noGrp="1"/>
          </p:cNvSpPr>
          <p:nvPr>
            <p:ph type="title"/>
          </p:nvPr>
        </p:nvSpPr>
        <p:spPr>
          <a:xfrm>
            <a:off x="838200" y="178465"/>
            <a:ext cx="10515600" cy="1325563"/>
          </a:xfrm>
        </p:spPr>
        <p:txBody>
          <a:bodyPr/>
          <a:lstStyle/>
          <a:p>
            <a:r>
              <a:rPr lang="zh-CN" altLang="en-US" spc="-5" dirty="0"/>
              <a:t>状态图的工具支持</a:t>
            </a:r>
            <a:endParaRPr lang="zh-CN" altLang="en-US"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57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3893"/>
    </mc:Choice>
    <mc:Fallback xmlns="">
      <p:transition spd="slow" advTm="23893"/>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58</a:t>
            </a:fld>
            <a:endParaRPr lang="zh-CN" altLang="en-US"/>
          </a:p>
        </p:txBody>
      </p:sp>
      <p:sp>
        <p:nvSpPr>
          <p:cNvPr id="3" name="object 3"/>
          <p:cNvSpPr txBox="1"/>
          <p:nvPr/>
        </p:nvSpPr>
        <p:spPr>
          <a:xfrm>
            <a:off x="1035181" y="762580"/>
            <a:ext cx="3881754" cy="5816600"/>
          </a:xfrm>
          <a:prstGeom prst="rect">
            <a:avLst/>
          </a:prstGeom>
        </p:spPr>
        <p:txBody>
          <a:bodyPr vert="horz" wrap="square" lIns="0" tIns="53340" rIns="0" bIns="0" rtlCol="0">
            <a:spAutoFit/>
          </a:bodyPr>
          <a:lstStyle/>
          <a:p>
            <a:pPr marL="12700" marR="1002665">
              <a:lnSpc>
                <a:spcPts val="2100"/>
              </a:lnSpc>
              <a:spcBef>
                <a:spcPts val="420"/>
              </a:spcBef>
            </a:pPr>
            <a:r>
              <a:rPr sz="2000" dirty="0">
                <a:latin typeface="Times New Roman" panose="02020603050405020304"/>
                <a:cs typeface="Times New Roman" panose="02020603050405020304"/>
              </a:rPr>
              <a:t>class </a:t>
            </a:r>
            <a:r>
              <a:rPr sz="2000" spc="-5" dirty="0">
                <a:latin typeface="Times New Roman" panose="02020603050405020304"/>
                <a:cs typeface="Times New Roman" panose="02020603050405020304"/>
              </a:rPr>
              <a:t>MessageParser </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public boolean put(char c)</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p>
          <a:p>
            <a:pPr marL="520700" marR="1988820" indent="-254000">
              <a:lnSpc>
                <a:spcPts val="2100"/>
              </a:lnSpc>
              <a:spcBef>
                <a:spcPts val="100"/>
              </a:spcBef>
            </a:pPr>
            <a:r>
              <a:rPr sz="2000" spc="-5" dirty="0">
                <a:latin typeface="Times New Roman" panose="02020603050405020304"/>
                <a:cs typeface="Times New Roman" panose="02020603050405020304"/>
              </a:rPr>
              <a:t>switch (state) </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case</a:t>
            </a:r>
            <a:r>
              <a:rPr sz="2000" spc="-11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Waiting:</a:t>
            </a:r>
            <a:endParaRPr sz="2000" dirty="0">
              <a:latin typeface="Times New Roman" panose="02020603050405020304"/>
              <a:cs typeface="Times New Roman" panose="02020603050405020304"/>
            </a:endParaRPr>
          </a:p>
          <a:p>
            <a:pPr marL="774700">
              <a:lnSpc>
                <a:spcPts val="2030"/>
              </a:lnSpc>
            </a:pPr>
            <a:r>
              <a:rPr sz="2000" spc="-5" dirty="0">
                <a:latin typeface="Times New Roman" panose="02020603050405020304"/>
                <a:cs typeface="Times New Roman" panose="02020603050405020304"/>
              </a:rPr>
              <a:t>if </a:t>
            </a:r>
            <a:r>
              <a:rPr sz="2000" dirty="0">
                <a:latin typeface="Times New Roman" panose="02020603050405020304"/>
                <a:cs typeface="Times New Roman" panose="02020603050405020304"/>
              </a:rPr>
              <a:t>(c == '&lt;')</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p>
          <a:p>
            <a:pPr marL="1028700">
              <a:lnSpc>
                <a:spcPts val="2150"/>
              </a:lnSpc>
            </a:pPr>
            <a:r>
              <a:rPr sz="2000" spc="-5" dirty="0">
                <a:latin typeface="Times New Roman" panose="02020603050405020304"/>
                <a:cs typeface="Times New Roman" panose="02020603050405020304"/>
              </a:rPr>
              <a:t>state </a:t>
            </a:r>
            <a:r>
              <a:rPr sz="2000" dirty="0">
                <a:latin typeface="Times New Roman" panose="02020603050405020304"/>
                <a:cs typeface="Times New Roman" panose="02020603050405020304"/>
              </a:rPr>
              <a:t>=</a:t>
            </a:r>
            <a:r>
              <a:rPr sz="2000" spc="-10" dirty="0">
                <a:latin typeface="Times New Roman" panose="02020603050405020304"/>
                <a:cs typeface="Times New Roman" panose="02020603050405020304"/>
              </a:rPr>
              <a:t> </a:t>
            </a:r>
            <a:r>
              <a:rPr sz="2000" spc="-15" dirty="0">
                <a:latin typeface="Times New Roman" panose="02020603050405020304"/>
                <a:cs typeface="Times New Roman" panose="02020603050405020304"/>
              </a:rPr>
              <a:t>GettingToken;</a:t>
            </a:r>
            <a:endParaRPr sz="2000" dirty="0">
              <a:latin typeface="Times New Roman" panose="02020603050405020304"/>
              <a:cs typeface="Times New Roman" panose="02020603050405020304"/>
            </a:endParaRPr>
          </a:p>
          <a:p>
            <a:pPr marL="1028700" marR="5080">
              <a:lnSpc>
                <a:spcPts val="2200"/>
              </a:lnSpc>
              <a:spcBef>
                <a:spcPts val="140"/>
              </a:spcBef>
            </a:pPr>
            <a:r>
              <a:rPr sz="2000" spc="-5" dirty="0">
                <a:latin typeface="Times New Roman" panose="02020603050405020304"/>
                <a:cs typeface="Times New Roman" panose="02020603050405020304"/>
              </a:rPr>
              <a:t>token </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new</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StringBuffer();  </a:t>
            </a:r>
            <a:r>
              <a:rPr sz="2000" dirty="0">
                <a:latin typeface="Times New Roman" panose="02020603050405020304"/>
                <a:cs typeface="Times New Roman" panose="02020603050405020304"/>
              </a:rPr>
              <a:t>body = </a:t>
            </a:r>
            <a:r>
              <a:rPr sz="2000" spc="-5" dirty="0">
                <a:latin typeface="Times New Roman" panose="02020603050405020304"/>
                <a:cs typeface="Times New Roman" panose="02020603050405020304"/>
              </a:rPr>
              <a:t>new</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StringBuffer();</a:t>
            </a:r>
            <a:endParaRPr sz="2000" dirty="0">
              <a:latin typeface="Times New Roman" panose="02020603050405020304"/>
              <a:cs typeface="Times New Roman" panose="02020603050405020304"/>
            </a:endParaRPr>
          </a:p>
          <a:p>
            <a:pPr marL="774700">
              <a:lnSpc>
                <a:spcPts val="1960"/>
              </a:lnSpc>
            </a:pPr>
            <a:r>
              <a:rPr sz="2000" dirty="0">
                <a:latin typeface="Times New Roman" panose="02020603050405020304"/>
                <a:cs typeface="Times New Roman" panose="02020603050405020304"/>
              </a:rPr>
              <a:t>}</a:t>
            </a:r>
          </a:p>
          <a:p>
            <a:pPr marL="774700">
              <a:lnSpc>
                <a:spcPts val="2200"/>
              </a:lnSpc>
            </a:pPr>
            <a:r>
              <a:rPr sz="2000" spc="-5" dirty="0">
                <a:latin typeface="Times New Roman" panose="02020603050405020304"/>
                <a:cs typeface="Times New Roman" panose="02020603050405020304"/>
              </a:rPr>
              <a:t>break;</a:t>
            </a:r>
            <a:endParaRPr sz="2000" dirty="0">
              <a:latin typeface="Times New Roman" panose="02020603050405020304"/>
              <a:cs typeface="Times New Roman" panose="02020603050405020304"/>
            </a:endParaRPr>
          </a:p>
          <a:p>
            <a:pPr marL="774700" marR="1325245" indent="-254000">
              <a:lnSpc>
                <a:spcPts val="2100"/>
              </a:lnSpc>
              <a:spcBef>
                <a:spcPts val="220"/>
              </a:spcBef>
            </a:pPr>
            <a:r>
              <a:rPr sz="2000" spc="-5" dirty="0">
                <a:latin typeface="Times New Roman" panose="02020603050405020304"/>
                <a:cs typeface="Times New Roman" panose="02020603050405020304"/>
              </a:rPr>
              <a:t>case </a:t>
            </a:r>
            <a:r>
              <a:rPr sz="2000" spc="-15" dirty="0">
                <a:latin typeface="Times New Roman" panose="02020603050405020304"/>
                <a:cs typeface="Times New Roman" panose="02020603050405020304"/>
              </a:rPr>
              <a:t>GettingToken</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if </a:t>
            </a:r>
            <a:r>
              <a:rPr sz="2000" dirty="0">
                <a:latin typeface="Times New Roman" panose="02020603050405020304"/>
                <a:cs typeface="Times New Roman" panose="02020603050405020304"/>
              </a:rPr>
              <a:t>(c ==</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'&gt;')</a:t>
            </a:r>
          </a:p>
          <a:p>
            <a:pPr marL="774700" marR="726440" indent="254000">
              <a:lnSpc>
                <a:spcPts val="2100"/>
              </a:lnSpc>
              <a:spcBef>
                <a:spcPts val="100"/>
              </a:spcBef>
            </a:pPr>
            <a:r>
              <a:rPr sz="2000" spc="-5" dirty="0">
                <a:latin typeface="Times New Roman" panose="02020603050405020304"/>
                <a:cs typeface="Times New Roman" panose="02020603050405020304"/>
              </a:rPr>
              <a:t>state </a:t>
            </a:r>
            <a:r>
              <a:rPr sz="2000" dirty="0">
                <a:latin typeface="Times New Roman" panose="02020603050405020304"/>
                <a:cs typeface="Times New Roman" panose="02020603050405020304"/>
              </a:rPr>
              <a:t>=</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GettingBody;  else</a:t>
            </a:r>
            <a:endParaRPr sz="2000" dirty="0">
              <a:latin typeface="Times New Roman" panose="02020603050405020304"/>
              <a:cs typeface="Times New Roman" panose="02020603050405020304"/>
            </a:endParaRPr>
          </a:p>
          <a:p>
            <a:pPr marL="774700" marR="1131570" indent="254000">
              <a:lnSpc>
                <a:spcPts val="2200"/>
              </a:lnSpc>
              <a:spcBef>
                <a:spcPts val="20"/>
              </a:spcBef>
            </a:pPr>
            <a:r>
              <a:rPr sz="2000" spc="-5" dirty="0">
                <a:latin typeface="Times New Roman" panose="02020603050405020304"/>
                <a:cs typeface="Times New Roman" panose="02020603050405020304"/>
              </a:rPr>
              <a:t>t</a:t>
            </a:r>
            <a:r>
              <a:rPr sz="2000" dirty="0">
                <a:latin typeface="Times New Roman" panose="02020603050405020304"/>
                <a:cs typeface="Times New Roman" panose="02020603050405020304"/>
              </a:rPr>
              <a:t>ok</a:t>
            </a:r>
            <a:r>
              <a:rPr sz="2000" spc="-5" dirty="0">
                <a:latin typeface="Times New Roman" panose="02020603050405020304"/>
                <a:cs typeface="Times New Roman" panose="02020603050405020304"/>
              </a:rPr>
              <a:t>e</a:t>
            </a:r>
            <a:r>
              <a:rPr sz="2000" dirty="0">
                <a:latin typeface="Times New Roman" panose="02020603050405020304"/>
                <a:cs typeface="Times New Roman" panose="02020603050405020304"/>
              </a:rPr>
              <a:t>n.</a:t>
            </a:r>
            <a:r>
              <a:rPr sz="2000" spc="-5" dirty="0">
                <a:latin typeface="Times New Roman" panose="02020603050405020304"/>
                <a:cs typeface="Times New Roman" panose="02020603050405020304"/>
              </a:rPr>
              <a:t>a</a:t>
            </a:r>
            <a:r>
              <a:rPr sz="2000" dirty="0">
                <a:latin typeface="Times New Roman" panose="02020603050405020304"/>
                <a:cs typeface="Times New Roman" panose="02020603050405020304"/>
              </a:rPr>
              <a:t>pp</a:t>
            </a:r>
            <a:r>
              <a:rPr sz="2000" spc="-5" dirty="0">
                <a:latin typeface="Times New Roman" panose="02020603050405020304"/>
                <a:cs typeface="Times New Roman" panose="02020603050405020304"/>
              </a:rPr>
              <a:t>e</a:t>
            </a:r>
            <a:r>
              <a:rPr sz="2000" dirty="0">
                <a:latin typeface="Times New Roman" panose="02020603050405020304"/>
                <a:cs typeface="Times New Roman" panose="02020603050405020304"/>
              </a:rPr>
              <a:t>nd(</a:t>
            </a:r>
            <a:r>
              <a:rPr sz="2000" spc="-5" dirty="0">
                <a:latin typeface="Times New Roman" panose="02020603050405020304"/>
                <a:cs typeface="Times New Roman" panose="02020603050405020304"/>
              </a:rPr>
              <a:t>c</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break;</a:t>
            </a:r>
            <a:endParaRPr sz="2000" dirty="0">
              <a:latin typeface="Times New Roman" panose="02020603050405020304"/>
              <a:cs typeface="Times New Roman" panose="02020603050405020304"/>
            </a:endParaRPr>
          </a:p>
          <a:p>
            <a:pPr marL="520700">
              <a:lnSpc>
                <a:spcPts val="1960"/>
              </a:lnSpc>
            </a:pPr>
            <a:r>
              <a:rPr sz="2000" spc="-5" dirty="0">
                <a:latin typeface="Times New Roman" panose="02020603050405020304"/>
                <a:cs typeface="Times New Roman" panose="02020603050405020304"/>
              </a:rPr>
              <a:t>case GettingBody</a:t>
            </a:r>
            <a:r>
              <a:rPr sz="2000" dirty="0">
                <a:latin typeface="Times New Roman" panose="02020603050405020304"/>
                <a:cs typeface="Times New Roman" panose="02020603050405020304"/>
              </a:rPr>
              <a:t> :</a:t>
            </a:r>
          </a:p>
          <a:p>
            <a:pPr marL="774700">
              <a:lnSpc>
                <a:spcPts val="2150"/>
              </a:lnSpc>
            </a:pPr>
            <a:r>
              <a:rPr sz="2000" spc="-5" dirty="0">
                <a:latin typeface="Times New Roman" panose="02020603050405020304"/>
                <a:cs typeface="Times New Roman" panose="02020603050405020304"/>
              </a:rPr>
              <a:t>if </a:t>
            </a:r>
            <a:r>
              <a:rPr sz="2000" dirty="0">
                <a:latin typeface="Times New Roman" panose="02020603050405020304"/>
                <a:cs typeface="Times New Roman" panose="02020603050405020304"/>
              </a:rPr>
              <a:t>(c == </a:t>
            </a:r>
            <a:r>
              <a:rPr sz="2000" spc="-5" dirty="0">
                <a:latin typeface="Times New Roman" panose="02020603050405020304"/>
                <a:cs typeface="Times New Roman" panose="02020603050405020304"/>
              </a:rPr>
              <a:t>';')</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p>
          <a:p>
            <a:pPr marL="1028700" marR="1245235">
              <a:lnSpc>
                <a:spcPts val="2200"/>
              </a:lnSpc>
              <a:spcBef>
                <a:spcPts val="90"/>
              </a:spcBef>
            </a:pPr>
            <a:r>
              <a:rPr sz="2000" spc="-5" dirty="0">
                <a:latin typeface="Times New Roman" panose="02020603050405020304"/>
                <a:cs typeface="Times New Roman" panose="02020603050405020304"/>
              </a:rPr>
              <a:t>state </a:t>
            </a:r>
            <a:r>
              <a:rPr sz="2000" dirty="0">
                <a:latin typeface="Times New Roman" panose="02020603050405020304"/>
                <a:cs typeface="Times New Roman" panose="02020603050405020304"/>
              </a:rPr>
              <a:t>=</a:t>
            </a:r>
            <a:r>
              <a:rPr sz="2000" spc="-114"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Waiting;  </a:t>
            </a:r>
            <a:r>
              <a:rPr sz="2000" spc="-5" dirty="0">
                <a:latin typeface="Times New Roman" panose="02020603050405020304"/>
                <a:cs typeface="Times New Roman" panose="02020603050405020304"/>
              </a:rPr>
              <a:t>return</a:t>
            </a:r>
            <a:r>
              <a:rPr sz="2000" spc="-1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true;</a:t>
            </a:r>
            <a:endParaRPr sz="2000" dirty="0">
              <a:latin typeface="Times New Roman" panose="02020603050405020304"/>
              <a:cs typeface="Times New Roman" panose="02020603050405020304"/>
            </a:endParaRPr>
          </a:p>
          <a:p>
            <a:pPr marL="774700">
              <a:lnSpc>
                <a:spcPts val="2160"/>
              </a:lnSpc>
            </a:pPr>
            <a:r>
              <a:rPr sz="2000" dirty="0">
                <a:latin typeface="Times New Roman" panose="02020603050405020304"/>
                <a:cs typeface="Times New Roman" panose="02020603050405020304"/>
              </a:rPr>
              <a:t>}</a:t>
            </a:r>
          </a:p>
        </p:txBody>
      </p:sp>
      <p:sp>
        <p:nvSpPr>
          <p:cNvPr id="4" name="object 7"/>
          <p:cNvSpPr txBox="1"/>
          <p:nvPr/>
        </p:nvSpPr>
        <p:spPr>
          <a:xfrm>
            <a:off x="7757576" y="842233"/>
            <a:ext cx="1938655" cy="596900"/>
          </a:xfrm>
          <a:prstGeom prst="rect">
            <a:avLst/>
          </a:prstGeom>
        </p:spPr>
        <p:txBody>
          <a:bodyPr vert="horz" wrap="square" lIns="0" tIns="12700" rIns="0" bIns="0" rtlCol="0">
            <a:spAutoFit/>
          </a:bodyPr>
          <a:lstStyle/>
          <a:p>
            <a:pPr marL="12700">
              <a:lnSpc>
                <a:spcPts val="2250"/>
              </a:lnSpc>
              <a:spcBef>
                <a:spcPts val="100"/>
              </a:spcBef>
            </a:pPr>
            <a:r>
              <a:rPr sz="2000" dirty="0">
                <a:latin typeface="Times New Roman" panose="02020603050405020304"/>
                <a:cs typeface="Times New Roman" panose="02020603050405020304"/>
              </a:rPr>
              <a:t>else</a:t>
            </a:r>
            <a:endParaRPr sz="2000">
              <a:latin typeface="Times New Roman" panose="02020603050405020304"/>
              <a:cs typeface="Times New Roman" panose="02020603050405020304"/>
            </a:endParaRPr>
          </a:p>
          <a:p>
            <a:pPr marL="284480">
              <a:lnSpc>
                <a:spcPts val="2250"/>
              </a:lnSpc>
            </a:pPr>
            <a:r>
              <a:rPr sz="2000" dirty="0">
                <a:latin typeface="Times New Roman" panose="02020603050405020304"/>
                <a:cs typeface="Times New Roman" panose="02020603050405020304"/>
              </a:rPr>
              <a:t>bod</a:t>
            </a:r>
            <a:r>
              <a:rPr sz="2000" spc="-130" dirty="0">
                <a:latin typeface="Times New Roman" panose="02020603050405020304"/>
                <a:cs typeface="Times New Roman" panose="02020603050405020304"/>
              </a:rPr>
              <a:t>y</a:t>
            </a:r>
            <a:r>
              <a:rPr sz="2000" dirty="0">
                <a:latin typeface="Times New Roman" panose="02020603050405020304"/>
                <a:cs typeface="Times New Roman" panose="02020603050405020304"/>
              </a:rPr>
              <a:t>.</a:t>
            </a:r>
            <a:r>
              <a:rPr sz="2000" spc="-5" dirty="0">
                <a:latin typeface="Times New Roman" panose="02020603050405020304"/>
                <a:cs typeface="Times New Roman" panose="02020603050405020304"/>
              </a:rPr>
              <a:t>a</a:t>
            </a:r>
            <a:r>
              <a:rPr sz="2000" dirty="0">
                <a:latin typeface="Times New Roman" panose="02020603050405020304"/>
                <a:cs typeface="Times New Roman" panose="02020603050405020304"/>
              </a:rPr>
              <a:t>pp</a:t>
            </a:r>
            <a:r>
              <a:rPr sz="2000" spc="-5" dirty="0">
                <a:latin typeface="Times New Roman" panose="02020603050405020304"/>
                <a:cs typeface="Times New Roman" panose="02020603050405020304"/>
              </a:rPr>
              <a:t>e</a:t>
            </a:r>
            <a:r>
              <a:rPr sz="2000" dirty="0">
                <a:latin typeface="Times New Roman" panose="02020603050405020304"/>
                <a:cs typeface="Times New Roman" panose="02020603050405020304"/>
              </a:rPr>
              <a:t>nd(</a:t>
            </a:r>
            <a:r>
              <a:rPr sz="2000" spc="-5" dirty="0">
                <a:latin typeface="Times New Roman" panose="02020603050405020304"/>
                <a:cs typeface="Times New Roman" panose="02020603050405020304"/>
              </a:rPr>
              <a:t>c</a:t>
            </a:r>
            <a:r>
              <a:rPr sz="200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p:txBody>
      </p:sp>
      <p:sp>
        <p:nvSpPr>
          <p:cNvPr id="5" name="object 8"/>
          <p:cNvSpPr txBox="1"/>
          <p:nvPr/>
        </p:nvSpPr>
        <p:spPr>
          <a:xfrm>
            <a:off x="7521901" y="1388333"/>
            <a:ext cx="14732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p:txBody>
      </p:sp>
      <p:sp>
        <p:nvSpPr>
          <p:cNvPr id="6" name="object 9"/>
          <p:cNvSpPr txBox="1"/>
          <p:nvPr/>
        </p:nvSpPr>
        <p:spPr>
          <a:xfrm>
            <a:off x="7521901" y="1655033"/>
            <a:ext cx="124587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return</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false;</a:t>
            </a:r>
            <a:endParaRPr sz="2000">
              <a:latin typeface="Times New Roman" panose="02020603050405020304"/>
              <a:cs typeface="Times New Roman" panose="02020603050405020304"/>
            </a:endParaRPr>
          </a:p>
        </p:txBody>
      </p:sp>
      <p:sp>
        <p:nvSpPr>
          <p:cNvPr id="7" name="object 10"/>
          <p:cNvSpPr txBox="1"/>
          <p:nvPr/>
        </p:nvSpPr>
        <p:spPr>
          <a:xfrm>
            <a:off x="7267901" y="1934433"/>
            <a:ext cx="14732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p:txBody>
      </p:sp>
      <p:sp>
        <p:nvSpPr>
          <p:cNvPr id="8" name="object 11"/>
          <p:cNvSpPr txBox="1"/>
          <p:nvPr/>
        </p:nvSpPr>
        <p:spPr>
          <a:xfrm>
            <a:off x="7013901" y="2201133"/>
            <a:ext cx="4115435" cy="3352800"/>
          </a:xfrm>
          <a:prstGeom prst="rect">
            <a:avLst/>
          </a:prstGeom>
        </p:spPr>
        <p:txBody>
          <a:bodyPr vert="horz" wrap="square" lIns="0" tIns="43180" rIns="0" bIns="0" rtlCol="0">
            <a:spAutoFit/>
          </a:bodyPr>
          <a:lstStyle/>
          <a:p>
            <a:pPr marL="266700" marR="757555" indent="-254000">
              <a:lnSpc>
                <a:spcPts val="2200"/>
              </a:lnSpc>
              <a:spcBef>
                <a:spcPts val="340"/>
              </a:spcBef>
            </a:pPr>
            <a:r>
              <a:rPr sz="2000" spc="-5" dirty="0">
                <a:latin typeface="Times New Roman" panose="02020603050405020304"/>
                <a:cs typeface="Times New Roman" panose="02020603050405020304"/>
              </a:rPr>
              <a:t>public StringBuffer </a:t>
            </a:r>
            <a:r>
              <a:rPr sz="2000" spc="-20" dirty="0">
                <a:latin typeface="Times New Roman" panose="02020603050405020304"/>
                <a:cs typeface="Times New Roman" panose="02020603050405020304"/>
              </a:rPr>
              <a:t>getToken() </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return token;</a:t>
            </a:r>
            <a:endParaRPr sz="2000">
              <a:latin typeface="Times New Roman" panose="02020603050405020304"/>
              <a:cs typeface="Times New Roman" panose="02020603050405020304"/>
            </a:endParaRPr>
          </a:p>
          <a:p>
            <a:pPr marL="12700">
              <a:lnSpc>
                <a:spcPts val="2010"/>
              </a:lnSpc>
            </a:pPr>
            <a:r>
              <a:rPr sz="200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a:p>
            <a:pPr marL="266700" marR="838200" indent="-254000">
              <a:lnSpc>
                <a:spcPts val="2200"/>
              </a:lnSpc>
              <a:spcBef>
                <a:spcPts val="90"/>
              </a:spcBef>
            </a:pPr>
            <a:r>
              <a:rPr sz="2000" spc="-5" dirty="0">
                <a:latin typeface="Times New Roman" panose="02020603050405020304"/>
                <a:cs typeface="Times New Roman" panose="02020603050405020304"/>
              </a:rPr>
              <a:t>public StringBuffer getBody() </a:t>
            </a:r>
            <a:r>
              <a:rPr sz="200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return </a:t>
            </a:r>
            <a:r>
              <a:rPr sz="2000" dirty="0">
                <a:latin typeface="Times New Roman" panose="02020603050405020304"/>
                <a:cs typeface="Times New Roman" panose="02020603050405020304"/>
              </a:rPr>
              <a:t>body;</a:t>
            </a:r>
            <a:endParaRPr sz="2000">
              <a:latin typeface="Times New Roman" panose="02020603050405020304"/>
              <a:cs typeface="Times New Roman" panose="02020603050405020304"/>
            </a:endParaRPr>
          </a:p>
          <a:p>
            <a:pPr marL="12700">
              <a:lnSpc>
                <a:spcPts val="2010"/>
              </a:lnSpc>
            </a:pPr>
            <a:r>
              <a:rPr sz="200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a:p>
            <a:pPr marL="12700" marR="5080">
              <a:lnSpc>
                <a:spcPct val="90000"/>
              </a:lnSpc>
              <a:spcBef>
                <a:spcPts val="80"/>
              </a:spcBef>
            </a:pPr>
            <a:r>
              <a:rPr sz="2000" spc="-5" dirty="0">
                <a:latin typeface="Times New Roman" panose="02020603050405020304"/>
                <a:cs typeface="Times New Roman" panose="02020603050405020304"/>
              </a:rPr>
              <a:t>private final static int </a:t>
            </a:r>
            <a:r>
              <a:rPr sz="2000" spc="-30" dirty="0">
                <a:latin typeface="Times New Roman" panose="02020603050405020304"/>
                <a:cs typeface="Times New Roman" panose="02020603050405020304"/>
              </a:rPr>
              <a:t>Waiting </a:t>
            </a:r>
            <a:r>
              <a:rPr sz="2000" dirty="0">
                <a:latin typeface="Times New Roman" panose="02020603050405020304"/>
                <a:cs typeface="Times New Roman" panose="02020603050405020304"/>
              </a:rPr>
              <a:t>= 0;  </a:t>
            </a:r>
            <a:r>
              <a:rPr sz="2000" spc="-5" dirty="0">
                <a:latin typeface="Times New Roman" panose="02020603050405020304"/>
                <a:cs typeface="Times New Roman" panose="02020603050405020304"/>
              </a:rPr>
              <a:t>private final static int </a:t>
            </a:r>
            <a:r>
              <a:rPr sz="2000" spc="-15" dirty="0">
                <a:latin typeface="Times New Roman" panose="02020603050405020304"/>
                <a:cs typeface="Times New Roman" panose="02020603050405020304"/>
              </a:rPr>
              <a:t>GettingToken </a:t>
            </a:r>
            <a:r>
              <a:rPr sz="2000" dirty="0">
                <a:latin typeface="Times New Roman" panose="02020603050405020304"/>
                <a:cs typeface="Times New Roman" panose="02020603050405020304"/>
              </a:rPr>
              <a:t>= 1;  </a:t>
            </a:r>
            <a:r>
              <a:rPr sz="2000" spc="-5" dirty="0">
                <a:latin typeface="Times New Roman" panose="02020603050405020304"/>
                <a:cs typeface="Times New Roman" panose="02020603050405020304"/>
              </a:rPr>
              <a:t>private final static int GettingBody </a:t>
            </a:r>
            <a:r>
              <a:rPr sz="2000" dirty="0">
                <a:latin typeface="Times New Roman" panose="02020603050405020304"/>
                <a:cs typeface="Times New Roman" panose="02020603050405020304"/>
              </a:rPr>
              <a:t>= 2;  </a:t>
            </a:r>
            <a:r>
              <a:rPr sz="2000" spc="-5" dirty="0">
                <a:latin typeface="Times New Roman" panose="02020603050405020304"/>
                <a:cs typeface="Times New Roman" panose="02020603050405020304"/>
              </a:rPr>
              <a:t>private int state </a:t>
            </a:r>
            <a:r>
              <a:rPr sz="2000" dirty="0">
                <a:latin typeface="Times New Roman" panose="02020603050405020304"/>
                <a:cs typeface="Times New Roman" panose="02020603050405020304"/>
              </a:rPr>
              <a:t>=</a:t>
            </a:r>
            <a:r>
              <a:rPr sz="2000" spc="-4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Waiting;</a:t>
            </a:r>
            <a:endParaRPr sz="2000">
              <a:latin typeface="Times New Roman" panose="02020603050405020304"/>
              <a:cs typeface="Times New Roman" panose="02020603050405020304"/>
            </a:endParaRPr>
          </a:p>
          <a:p>
            <a:pPr marL="12700">
              <a:lnSpc>
                <a:spcPts val="2050"/>
              </a:lnSpc>
            </a:pPr>
            <a:r>
              <a:rPr sz="2000" spc="-5" dirty="0">
                <a:latin typeface="Times New Roman" panose="02020603050405020304"/>
                <a:cs typeface="Times New Roman" panose="02020603050405020304"/>
              </a:rPr>
              <a:t>private StringBuffer token, </a:t>
            </a:r>
            <a:r>
              <a:rPr sz="2000" dirty="0">
                <a:latin typeface="Times New Roman" panose="02020603050405020304"/>
                <a:cs typeface="Times New Roman" panose="02020603050405020304"/>
              </a:rPr>
              <a:t>body;</a:t>
            </a:r>
            <a:endParaRPr sz="2000">
              <a:latin typeface="Times New Roman" panose="02020603050405020304"/>
              <a:cs typeface="Times New Roman" panose="02020603050405020304"/>
            </a:endParaRPr>
          </a:p>
          <a:p>
            <a:pPr marL="12700">
              <a:lnSpc>
                <a:spcPts val="2250"/>
              </a:lnSpc>
            </a:pPr>
            <a:r>
              <a:rPr sz="200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p:txBody>
      </p:sp>
      <p:sp>
        <p:nvSpPr>
          <p:cNvPr id="9" name="object 12"/>
          <p:cNvSpPr/>
          <p:nvPr/>
        </p:nvSpPr>
        <p:spPr>
          <a:xfrm>
            <a:off x="5903382" y="26987"/>
            <a:ext cx="45719" cy="6457895"/>
          </a:xfrm>
          <a:custGeom>
            <a:avLst/>
            <a:gdLst/>
            <a:ahLst/>
            <a:cxnLst/>
            <a:rect l="l" t="t" r="r" b="b"/>
            <a:pathLst>
              <a:path h="6831330">
                <a:moveTo>
                  <a:pt x="0" y="0"/>
                </a:moveTo>
                <a:lnTo>
                  <a:pt x="1" y="6831010"/>
                </a:lnTo>
              </a:path>
            </a:pathLst>
          </a:custGeom>
          <a:ln w="38099">
            <a:solidFill>
              <a:srgbClr val="00D2A9"/>
            </a:solidFill>
          </a:ln>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11243"/>
    </mc:Choice>
    <mc:Fallback xmlns="">
      <p:transition spd="slow" advTm="11243"/>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4802" y="1179848"/>
            <a:ext cx="6189980" cy="2476500"/>
          </a:xfrm>
          <a:prstGeom prst="rect">
            <a:avLst/>
          </a:prstGeom>
        </p:spPr>
        <p:txBody>
          <a:bodyPr vert="horz" wrap="square" lIns="0" tIns="190500" rIns="0" bIns="0" rtlCol="0">
            <a:spAutoFit/>
          </a:bodyPr>
          <a:lstStyle/>
          <a:p>
            <a:pPr marL="241300" indent="-228600">
              <a:lnSpc>
                <a:spcPct val="100000"/>
              </a:lnSpc>
              <a:spcBef>
                <a:spcPts val="1500"/>
              </a:spcBef>
              <a:buFont typeface="Arial" panose="020B0604020202020204"/>
              <a:buChar char="•"/>
              <a:tabLst>
                <a:tab pos="240665" algn="l"/>
                <a:tab pos="241300" algn="l"/>
              </a:tabLst>
            </a:pPr>
            <a:r>
              <a:rPr sz="2000" dirty="0">
                <a:latin typeface="华文新魏" panose="02010800040101010101" charset="-122"/>
                <a:cs typeface="华文新魏" panose="02010800040101010101" charset="-122"/>
              </a:rPr>
              <a:t>状态图中的事件为顺序图/交互图中该对象的输入消息</a:t>
            </a:r>
          </a:p>
          <a:p>
            <a:pPr marL="241300" indent="-228600">
              <a:lnSpc>
                <a:spcPct val="100000"/>
              </a:lnSpc>
              <a:spcBef>
                <a:spcPts val="1400"/>
              </a:spcBef>
              <a:buFont typeface="Arial" panose="020B0604020202020204"/>
              <a:buChar char="•"/>
              <a:tabLst>
                <a:tab pos="240665" algn="l"/>
                <a:tab pos="241300" algn="l"/>
              </a:tabLst>
            </a:pPr>
            <a:r>
              <a:rPr sz="2000" dirty="0">
                <a:latin typeface="华文新魏" panose="02010800040101010101" charset="-122"/>
                <a:cs typeface="华文新魏" panose="02010800040101010101" charset="-122"/>
              </a:rPr>
              <a:t>状态图应针对类图中具有重要行为的类进行建模</a:t>
            </a:r>
          </a:p>
          <a:p>
            <a:pPr marL="241300" indent="-228600">
              <a:lnSpc>
                <a:spcPct val="100000"/>
              </a:lnSpc>
              <a:spcBef>
                <a:spcPts val="1500"/>
              </a:spcBef>
              <a:buFont typeface="Arial" panose="020B0604020202020204"/>
              <a:buChar char="•"/>
              <a:tabLst>
                <a:tab pos="240665" algn="l"/>
                <a:tab pos="241300" algn="l"/>
              </a:tabLst>
            </a:pPr>
            <a:r>
              <a:rPr sz="2000" dirty="0">
                <a:latin typeface="华文新魏" panose="02010800040101010101" charset="-122"/>
                <a:cs typeface="华文新魏" panose="02010800040101010101" charset="-122"/>
              </a:rPr>
              <a:t>每个事件、动作对应于相应类中的一个具体操作</a:t>
            </a:r>
          </a:p>
          <a:p>
            <a:pPr marL="241300" indent="-228600">
              <a:lnSpc>
                <a:spcPct val="100000"/>
              </a:lnSpc>
              <a:spcBef>
                <a:spcPts val="1500"/>
              </a:spcBef>
              <a:buFont typeface="Arial" panose="020B0604020202020204"/>
              <a:buChar char="•"/>
              <a:tabLst>
                <a:tab pos="240665" algn="l"/>
                <a:tab pos="241300" algn="l"/>
              </a:tabLst>
            </a:pPr>
            <a:r>
              <a:rPr sz="2000" dirty="0">
                <a:latin typeface="华文新魏" panose="02010800040101010101" charset="-122"/>
                <a:cs typeface="华文新魏" panose="02010800040101010101" charset="-122"/>
              </a:rPr>
              <a:t>状态图中每个输出消息对应于其他类的一个操作</a:t>
            </a:r>
          </a:p>
          <a:p>
            <a:pPr marL="241300" indent="-228600">
              <a:lnSpc>
                <a:spcPct val="100000"/>
              </a:lnSpc>
              <a:spcBef>
                <a:spcPts val="1500"/>
              </a:spcBef>
              <a:buFont typeface="Arial" panose="020B0604020202020204"/>
              <a:buChar char="•"/>
              <a:tabLst>
                <a:tab pos="240665" algn="l"/>
                <a:tab pos="241300" algn="l"/>
              </a:tabLst>
            </a:pPr>
            <a:r>
              <a:rPr sz="2000" dirty="0">
                <a:latin typeface="华文新魏" panose="02010800040101010101" charset="-122"/>
                <a:cs typeface="华文新魏" panose="02010800040101010101" charset="-122"/>
              </a:rPr>
              <a:t>状态图中的操作定义等价于类图中的操作定义</a:t>
            </a:r>
          </a:p>
        </p:txBody>
      </p:sp>
      <p:sp>
        <p:nvSpPr>
          <p:cNvPr id="4" name="object 4"/>
          <p:cNvSpPr/>
          <p:nvPr/>
        </p:nvSpPr>
        <p:spPr>
          <a:xfrm>
            <a:off x="6672064" y="1822162"/>
            <a:ext cx="4922437" cy="362041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877597" y="2663485"/>
            <a:ext cx="1438910" cy="1062355"/>
          </a:xfrm>
          <a:custGeom>
            <a:avLst/>
            <a:gdLst/>
            <a:ahLst/>
            <a:cxnLst/>
            <a:rect l="l" t="t" r="r" b="b"/>
            <a:pathLst>
              <a:path w="1438909" h="1062354">
                <a:moveTo>
                  <a:pt x="719367" y="0"/>
                </a:moveTo>
                <a:lnTo>
                  <a:pt x="663149" y="1597"/>
                </a:lnTo>
                <a:lnTo>
                  <a:pt x="608114" y="6310"/>
                </a:lnTo>
                <a:lnTo>
                  <a:pt x="554423" y="14021"/>
                </a:lnTo>
                <a:lnTo>
                  <a:pt x="502234" y="24612"/>
                </a:lnTo>
                <a:lnTo>
                  <a:pt x="451709" y="37965"/>
                </a:lnTo>
                <a:lnTo>
                  <a:pt x="403007" y="53962"/>
                </a:lnTo>
                <a:lnTo>
                  <a:pt x="356288" y="72484"/>
                </a:lnTo>
                <a:lnTo>
                  <a:pt x="311713" y="93414"/>
                </a:lnTo>
                <a:lnTo>
                  <a:pt x="269439" y="116634"/>
                </a:lnTo>
                <a:lnTo>
                  <a:pt x="229629" y="142026"/>
                </a:lnTo>
                <a:lnTo>
                  <a:pt x="192441" y="169471"/>
                </a:lnTo>
                <a:lnTo>
                  <a:pt x="158037" y="198852"/>
                </a:lnTo>
                <a:lnTo>
                  <a:pt x="126574" y="230050"/>
                </a:lnTo>
                <a:lnTo>
                  <a:pt x="98214" y="262948"/>
                </a:lnTo>
                <a:lnTo>
                  <a:pt x="73117" y="297428"/>
                </a:lnTo>
                <a:lnTo>
                  <a:pt x="51442" y="333371"/>
                </a:lnTo>
                <a:lnTo>
                  <a:pt x="33349" y="370659"/>
                </a:lnTo>
                <a:lnTo>
                  <a:pt x="18999" y="409175"/>
                </a:lnTo>
                <a:lnTo>
                  <a:pt x="8550" y="448801"/>
                </a:lnTo>
                <a:lnTo>
                  <a:pt x="2164" y="489418"/>
                </a:lnTo>
                <a:lnTo>
                  <a:pt x="0" y="530908"/>
                </a:lnTo>
                <a:lnTo>
                  <a:pt x="2164" y="572398"/>
                </a:lnTo>
                <a:lnTo>
                  <a:pt x="8550" y="613015"/>
                </a:lnTo>
                <a:lnTo>
                  <a:pt x="18999" y="652640"/>
                </a:lnTo>
                <a:lnTo>
                  <a:pt x="33349" y="691156"/>
                </a:lnTo>
                <a:lnTo>
                  <a:pt x="51442" y="728445"/>
                </a:lnTo>
                <a:lnTo>
                  <a:pt x="73117" y="764388"/>
                </a:lnTo>
                <a:lnTo>
                  <a:pt x="98214" y="798867"/>
                </a:lnTo>
                <a:lnTo>
                  <a:pt x="126574" y="831765"/>
                </a:lnTo>
                <a:lnTo>
                  <a:pt x="158037" y="862964"/>
                </a:lnTo>
                <a:lnTo>
                  <a:pt x="192441" y="892345"/>
                </a:lnTo>
                <a:lnTo>
                  <a:pt x="229629" y="919790"/>
                </a:lnTo>
                <a:lnTo>
                  <a:pt x="269439" y="945181"/>
                </a:lnTo>
                <a:lnTo>
                  <a:pt x="311713" y="968401"/>
                </a:lnTo>
                <a:lnTo>
                  <a:pt x="356288" y="989331"/>
                </a:lnTo>
                <a:lnTo>
                  <a:pt x="403007" y="1007854"/>
                </a:lnTo>
                <a:lnTo>
                  <a:pt x="451709" y="1023851"/>
                </a:lnTo>
                <a:lnTo>
                  <a:pt x="502234" y="1037203"/>
                </a:lnTo>
                <a:lnTo>
                  <a:pt x="554423" y="1047794"/>
                </a:lnTo>
                <a:lnTo>
                  <a:pt x="608114" y="1055505"/>
                </a:lnTo>
                <a:lnTo>
                  <a:pt x="663149" y="1060219"/>
                </a:lnTo>
                <a:lnTo>
                  <a:pt x="719367" y="1061816"/>
                </a:lnTo>
                <a:lnTo>
                  <a:pt x="775585" y="1060219"/>
                </a:lnTo>
                <a:lnTo>
                  <a:pt x="830620" y="1055505"/>
                </a:lnTo>
                <a:lnTo>
                  <a:pt x="884312" y="1047794"/>
                </a:lnTo>
                <a:lnTo>
                  <a:pt x="936500" y="1037203"/>
                </a:lnTo>
                <a:lnTo>
                  <a:pt x="987025" y="1023851"/>
                </a:lnTo>
                <a:lnTo>
                  <a:pt x="1030716" y="1009500"/>
                </a:lnTo>
                <a:lnTo>
                  <a:pt x="719367" y="1009500"/>
                </a:lnTo>
                <a:lnTo>
                  <a:pt x="664658" y="1007913"/>
                </a:lnTo>
                <a:lnTo>
                  <a:pt x="611168" y="1003236"/>
                </a:lnTo>
                <a:lnTo>
                  <a:pt x="559067" y="995590"/>
                </a:lnTo>
                <a:lnTo>
                  <a:pt x="508527" y="985101"/>
                </a:lnTo>
                <a:lnTo>
                  <a:pt x="459721" y="971889"/>
                </a:lnTo>
                <a:lnTo>
                  <a:pt x="412819" y="956080"/>
                </a:lnTo>
                <a:lnTo>
                  <a:pt x="367993" y="937796"/>
                </a:lnTo>
                <a:lnTo>
                  <a:pt x="325415" y="917159"/>
                </a:lnTo>
                <a:lnTo>
                  <a:pt x="285257" y="894294"/>
                </a:lnTo>
                <a:lnTo>
                  <a:pt x="247691" y="869323"/>
                </a:lnTo>
                <a:lnTo>
                  <a:pt x="212887" y="842370"/>
                </a:lnTo>
                <a:lnTo>
                  <a:pt x="181018" y="813558"/>
                </a:lnTo>
                <a:lnTo>
                  <a:pt x="152256" y="783009"/>
                </a:lnTo>
                <a:lnTo>
                  <a:pt x="126771" y="750848"/>
                </a:lnTo>
                <a:lnTo>
                  <a:pt x="104736" y="717197"/>
                </a:lnTo>
                <a:lnTo>
                  <a:pt x="86323" y="682180"/>
                </a:lnTo>
                <a:lnTo>
                  <a:pt x="71702" y="645919"/>
                </a:lnTo>
                <a:lnTo>
                  <a:pt x="61046" y="608538"/>
                </a:lnTo>
                <a:lnTo>
                  <a:pt x="54527" y="570160"/>
                </a:lnTo>
                <a:lnTo>
                  <a:pt x="52316" y="530908"/>
                </a:lnTo>
                <a:lnTo>
                  <a:pt x="54527" y="491656"/>
                </a:lnTo>
                <a:lnTo>
                  <a:pt x="61046" y="453278"/>
                </a:lnTo>
                <a:lnTo>
                  <a:pt x="71702" y="415897"/>
                </a:lnTo>
                <a:lnTo>
                  <a:pt x="86323" y="379636"/>
                </a:lnTo>
                <a:lnTo>
                  <a:pt x="104736" y="344618"/>
                </a:lnTo>
                <a:lnTo>
                  <a:pt x="126771" y="310967"/>
                </a:lnTo>
                <a:lnTo>
                  <a:pt x="152256" y="278806"/>
                </a:lnTo>
                <a:lnTo>
                  <a:pt x="181018" y="248258"/>
                </a:lnTo>
                <a:lnTo>
                  <a:pt x="212887" y="219445"/>
                </a:lnTo>
                <a:lnTo>
                  <a:pt x="247691" y="192492"/>
                </a:lnTo>
                <a:lnTo>
                  <a:pt x="285257" y="167522"/>
                </a:lnTo>
                <a:lnTo>
                  <a:pt x="325415" y="144656"/>
                </a:lnTo>
                <a:lnTo>
                  <a:pt x="367993" y="124020"/>
                </a:lnTo>
                <a:lnTo>
                  <a:pt x="412819" y="105735"/>
                </a:lnTo>
                <a:lnTo>
                  <a:pt x="459721" y="89926"/>
                </a:lnTo>
                <a:lnTo>
                  <a:pt x="508527" y="76715"/>
                </a:lnTo>
                <a:lnTo>
                  <a:pt x="559067" y="66225"/>
                </a:lnTo>
                <a:lnTo>
                  <a:pt x="611168" y="58580"/>
                </a:lnTo>
                <a:lnTo>
                  <a:pt x="664658" y="53902"/>
                </a:lnTo>
                <a:lnTo>
                  <a:pt x="719367" y="52316"/>
                </a:lnTo>
                <a:lnTo>
                  <a:pt x="1030716" y="52316"/>
                </a:lnTo>
                <a:lnTo>
                  <a:pt x="987025" y="37965"/>
                </a:lnTo>
                <a:lnTo>
                  <a:pt x="936500" y="24612"/>
                </a:lnTo>
                <a:lnTo>
                  <a:pt x="884312" y="14021"/>
                </a:lnTo>
                <a:lnTo>
                  <a:pt x="830620" y="6310"/>
                </a:lnTo>
                <a:lnTo>
                  <a:pt x="775585" y="1597"/>
                </a:lnTo>
                <a:lnTo>
                  <a:pt x="719367" y="0"/>
                </a:lnTo>
                <a:close/>
              </a:path>
              <a:path w="1438909" h="1062354">
                <a:moveTo>
                  <a:pt x="1030716" y="52316"/>
                </a:moveTo>
                <a:lnTo>
                  <a:pt x="719367" y="52316"/>
                </a:lnTo>
                <a:lnTo>
                  <a:pt x="774076" y="53902"/>
                </a:lnTo>
                <a:lnTo>
                  <a:pt x="827566" y="58580"/>
                </a:lnTo>
                <a:lnTo>
                  <a:pt x="879667" y="66225"/>
                </a:lnTo>
                <a:lnTo>
                  <a:pt x="930207" y="76715"/>
                </a:lnTo>
                <a:lnTo>
                  <a:pt x="979014" y="89926"/>
                </a:lnTo>
                <a:lnTo>
                  <a:pt x="1025916" y="105735"/>
                </a:lnTo>
                <a:lnTo>
                  <a:pt x="1070742" y="124020"/>
                </a:lnTo>
                <a:lnTo>
                  <a:pt x="1113319" y="144656"/>
                </a:lnTo>
                <a:lnTo>
                  <a:pt x="1153477" y="167522"/>
                </a:lnTo>
                <a:lnTo>
                  <a:pt x="1191044" y="192492"/>
                </a:lnTo>
                <a:lnTo>
                  <a:pt x="1225848" y="219445"/>
                </a:lnTo>
                <a:lnTo>
                  <a:pt x="1257717" y="248258"/>
                </a:lnTo>
                <a:lnTo>
                  <a:pt x="1286479" y="278806"/>
                </a:lnTo>
                <a:lnTo>
                  <a:pt x="1311964" y="310967"/>
                </a:lnTo>
                <a:lnTo>
                  <a:pt x="1333999" y="344618"/>
                </a:lnTo>
                <a:lnTo>
                  <a:pt x="1352412" y="379636"/>
                </a:lnTo>
                <a:lnTo>
                  <a:pt x="1367033" y="415897"/>
                </a:lnTo>
                <a:lnTo>
                  <a:pt x="1377689" y="453278"/>
                </a:lnTo>
                <a:lnTo>
                  <a:pt x="1384208" y="491656"/>
                </a:lnTo>
                <a:lnTo>
                  <a:pt x="1386419" y="530908"/>
                </a:lnTo>
                <a:lnTo>
                  <a:pt x="1384208" y="570160"/>
                </a:lnTo>
                <a:lnTo>
                  <a:pt x="1377689" y="608538"/>
                </a:lnTo>
                <a:lnTo>
                  <a:pt x="1367033" y="645919"/>
                </a:lnTo>
                <a:lnTo>
                  <a:pt x="1352412" y="682180"/>
                </a:lnTo>
                <a:lnTo>
                  <a:pt x="1333999" y="717197"/>
                </a:lnTo>
                <a:lnTo>
                  <a:pt x="1311964" y="750848"/>
                </a:lnTo>
                <a:lnTo>
                  <a:pt x="1286479" y="783009"/>
                </a:lnTo>
                <a:lnTo>
                  <a:pt x="1257717" y="813558"/>
                </a:lnTo>
                <a:lnTo>
                  <a:pt x="1225848" y="842370"/>
                </a:lnTo>
                <a:lnTo>
                  <a:pt x="1191044" y="869323"/>
                </a:lnTo>
                <a:lnTo>
                  <a:pt x="1153477" y="894294"/>
                </a:lnTo>
                <a:lnTo>
                  <a:pt x="1113319" y="917159"/>
                </a:lnTo>
                <a:lnTo>
                  <a:pt x="1070742" y="937796"/>
                </a:lnTo>
                <a:lnTo>
                  <a:pt x="1025916" y="956080"/>
                </a:lnTo>
                <a:lnTo>
                  <a:pt x="979014" y="971889"/>
                </a:lnTo>
                <a:lnTo>
                  <a:pt x="930207" y="985101"/>
                </a:lnTo>
                <a:lnTo>
                  <a:pt x="879667" y="995590"/>
                </a:lnTo>
                <a:lnTo>
                  <a:pt x="827566" y="1003236"/>
                </a:lnTo>
                <a:lnTo>
                  <a:pt x="774076" y="1007913"/>
                </a:lnTo>
                <a:lnTo>
                  <a:pt x="719367" y="1009500"/>
                </a:lnTo>
                <a:lnTo>
                  <a:pt x="1030716" y="1009500"/>
                </a:lnTo>
                <a:lnTo>
                  <a:pt x="1082446" y="989331"/>
                </a:lnTo>
                <a:lnTo>
                  <a:pt x="1127022" y="968401"/>
                </a:lnTo>
                <a:lnTo>
                  <a:pt x="1169295" y="945181"/>
                </a:lnTo>
                <a:lnTo>
                  <a:pt x="1209105" y="919790"/>
                </a:lnTo>
                <a:lnTo>
                  <a:pt x="1246293" y="892345"/>
                </a:lnTo>
                <a:lnTo>
                  <a:pt x="1280698" y="862964"/>
                </a:lnTo>
                <a:lnTo>
                  <a:pt x="1312160" y="831765"/>
                </a:lnTo>
                <a:lnTo>
                  <a:pt x="1340520" y="798867"/>
                </a:lnTo>
                <a:lnTo>
                  <a:pt x="1365617" y="764388"/>
                </a:lnTo>
                <a:lnTo>
                  <a:pt x="1387292" y="728445"/>
                </a:lnTo>
                <a:lnTo>
                  <a:pt x="1405385" y="691156"/>
                </a:lnTo>
                <a:lnTo>
                  <a:pt x="1419735" y="652640"/>
                </a:lnTo>
                <a:lnTo>
                  <a:pt x="1430184" y="613015"/>
                </a:lnTo>
                <a:lnTo>
                  <a:pt x="1436570" y="572398"/>
                </a:lnTo>
                <a:lnTo>
                  <a:pt x="1438734" y="530908"/>
                </a:lnTo>
                <a:lnTo>
                  <a:pt x="1436570" y="489418"/>
                </a:lnTo>
                <a:lnTo>
                  <a:pt x="1430184" y="448801"/>
                </a:lnTo>
                <a:lnTo>
                  <a:pt x="1419735" y="409175"/>
                </a:lnTo>
                <a:lnTo>
                  <a:pt x="1405385" y="370659"/>
                </a:lnTo>
                <a:lnTo>
                  <a:pt x="1387292" y="333371"/>
                </a:lnTo>
                <a:lnTo>
                  <a:pt x="1365617" y="297428"/>
                </a:lnTo>
                <a:lnTo>
                  <a:pt x="1340520" y="262948"/>
                </a:lnTo>
                <a:lnTo>
                  <a:pt x="1312160" y="230050"/>
                </a:lnTo>
                <a:lnTo>
                  <a:pt x="1280698" y="198852"/>
                </a:lnTo>
                <a:lnTo>
                  <a:pt x="1246293" y="169471"/>
                </a:lnTo>
                <a:lnTo>
                  <a:pt x="1209105" y="142026"/>
                </a:lnTo>
                <a:lnTo>
                  <a:pt x="1169295" y="116634"/>
                </a:lnTo>
                <a:lnTo>
                  <a:pt x="1127022" y="93414"/>
                </a:lnTo>
                <a:lnTo>
                  <a:pt x="1082446" y="72484"/>
                </a:lnTo>
                <a:lnTo>
                  <a:pt x="1035727" y="53962"/>
                </a:lnTo>
                <a:lnTo>
                  <a:pt x="1030716" y="52316"/>
                </a:lnTo>
                <a:close/>
              </a:path>
            </a:pathLst>
          </a:custGeom>
          <a:solidFill>
            <a:srgbClr val="941100"/>
          </a:solidFill>
        </p:spPr>
        <p:txBody>
          <a:bodyPr wrap="square" lIns="0" tIns="0" rIns="0" bIns="0" rtlCol="0"/>
          <a:lstStyle/>
          <a:p>
            <a:endParaRPr/>
          </a:p>
        </p:txBody>
      </p:sp>
      <p:sp>
        <p:nvSpPr>
          <p:cNvPr id="6" name="object 6"/>
          <p:cNvSpPr/>
          <p:nvPr/>
        </p:nvSpPr>
        <p:spPr>
          <a:xfrm>
            <a:off x="6877597" y="2663485"/>
            <a:ext cx="1438910" cy="1062355"/>
          </a:xfrm>
          <a:custGeom>
            <a:avLst/>
            <a:gdLst/>
            <a:ahLst/>
            <a:cxnLst/>
            <a:rect l="l" t="t" r="r" b="b"/>
            <a:pathLst>
              <a:path w="1438909" h="1062354">
                <a:moveTo>
                  <a:pt x="0" y="530907"/>
                </a:moveTo>
                <a:lnTo>
                  <a:pt x="2164" y="489417"/>
                </a:lnTo>
                <a:lnTo>
                  <a:pt x="8550" y="448800"/>
                </a:lnTo>
                <a:lnTo>
                  <a:pt x="18999" y="409175"/>
                </a:lnTo>
                <a:lnTo>
                  <a:pt x="33349" y="370659"/>
                </a:lnTo>
                <a:lnTo>
                  <a:pt x="51442" y="333371"/>
                </a:lnTo>
                <a:lnTo>
                  <a:pt x="73117" y="297428"/>
                </a:lnTo>
                <a:lnTo>
                  <a:pt x="98214" y="262948"/>
                </a:lnTo>
                <a:lnTo>
                  <a:pt x="126574" y="230050"/>
                </a:lnTo>
                <a:lnTo>
                  <a:pt x="158036" y="198852"/>
                </a:lnTo>
                <a:lnTo>
                  <a:pt x="192441" y="169471"/>
                </a:lnTo>
                <a:lnTo>
                  <a:pt x="229629" y="142026"/>
                </a:lnTo>
                <a:lnTo>
                  <a:pt x="269439" y="116634"/>
                </a:lnTo>
                <a:lnTo>
                  <a:pt x="311712" y="93414"/>
                </a:lnTo>
                <a:lnTo>
                  <a:pt x="356288" y="72484"/>
                </a:lnTo>
                <a:lnTo>
                  <a:pt x="403007" y="53962"/>
                </a:lnTo>
                <a:lnTo>
                  <a:pt x="451709" y="37965"/>
                </a:lnTo>
                <a:lnTo>
                  <a:pt x="502234" y="24612"/>
                </a:lnTo>
                <a:lnTo>
                  <a:pt x="554423" y="14021"/>
                </a:lnTo>
                <a:lnTo>
                  <a:pt x="608114" y="6310"/>
                </a:lnTo>
                <a:lnTo>
                  <a:pt x="663149" y="1597"/>
                </a:lnTo>
                <a:lnTo>
                  <a:pt x="719367" y="0"/>
                </a:lnTo>
                <a:lnTo>
                  <a:pt x="775585" y="1597"/>
                </a:lnTo>
                <a:lnTo>
                  <a:pt x="830620" y="6310"/>
                </a:lnTo>
                <a:lnTo>
                  <a:pt x="884312" y="14021"/>
                </a:lnTo>
                <a:lnTo>
                  <a:pt x="936500" y="24612"/>
                </a:lnTo>
                <a:lnTo>
                  <a:pt x="987025" y="37965"/>
                </a:lnTo>
                <a:lnTo>
                  <a:pt x="1035727" y="53962"/>
                </a:lnTo>
                <a:lnTo>
                  <a:pt x="1082446" y="72484"/>
                </a:lnTo>
                <a:lnTo>
                  <a:pt x="1127022" y="93414"/>
                </a:lnTo>
                <a:lnTo>
                  <a:pt x="1169295" y="116634"/>
                </a:lnTo>
                <a:lnTo>
                  <a:pt x="1209106" y="142026"/>
                </a:lnTo>
                <a:lnTo>
                  <a:pt x="1246293" y="169471"/>
                </a:lnTo>
                <a:lnTo>
                  <a:pt x="1280698" y="198852"/>
                </a:lnTo>
                <a:lnTo>
                  <a:pt x="1312161" y="230050"/>
                </a:lnTo>
                <a:lnTo>
                  <a:pt x="1340521" y="262948"/>
                </a:lnTo>
                <a:lnTo>
                  <a:pt x="1365618" y="297428"/>
                </a:lnTo>
                <a:lnTo>
                  <a:pt x="1387293" y="333371"/>
                </a:lnTo>
                <a:lnTo>
                  <a:pt x="1405386" y="370659"/>
                </a:lnTo>
                <a:lnTo>
                  <a:pt x="1419736" y="409175"/>
                </a:lnTo>
                <a:lnTo>
                  <a:pt x="1430185" y="448800"/>
                </a:lnTo>
                <a:lnTo>
                  <a:pt x="1436571" y="489417"/>
                </a:lnTo>
                <a:lnTo>
                  <a:pt x="1438735" y="530907"/>
                </a:lnTo>
                <a:lnTo>
                  <a:pt x="1436571" y="572397"/>
                </a:lnTo>
                <a:lnTo>
                  <a:pt x="1430185" y="613014"/>
                </a:lnTo>
                <a:lnTo>
                  <a:pt x="1419736" y="652640"/>
                </a:lnTo>
                <a:lnTo>
                  <a:pt x="1405386" y="691156"/>
                </a:lnTo>
                <a:lnTo>
                  <a:pt x="1387293" y="728444"/>
                </a:lnTo>
                <a:lnTo>
                  <a:pt x="1365618" y="764387"/>
                </a:lnTo>
                <a:lnTo>
                  <a:pt x="1340521" y="798867"/>
                </a:lnTo>
                <a:lnTo>
                  <a:pt x="1312161" y="831765"/>
                </a:lnTo>
                <a:lnTo>
                  <a:pt x="1280698" y="862963"/>
                </a:lnTo>
                <a:lnTo>
                  <a:pt x="1246293" y="892344"/>
                </a:lnTo>
                <a:lnTo>
                  <a:pt x="1209106" y="919789"/>
                </a:lnTo>
                <a:lnTo>
                  <a:pt x="1169295" y="945181"/>
                </a:lnTo>
                <a:lnTo>
                  <a:pt x="1127022" y="968400"/>
                </a:lnTo>
                <a:lnTo>
                  <a:pt x="1082446" y="989331"/>
                </a:lnTo>
                <a:lnTo>
                  <a:pt x="1035727" y="1007853"/>
                </a:lnTo>
                <a:lnTo>
                  <a:pt x="987025" y="1023850"/>
                </a:lnTo>
                <a:lnTo>
                  <a:pt x="936500" y="1037202"/>
                </a:lnTo>
                <a:lnTo>
                  <a:pt x="884312" y="1047793"/>
                </a:lnTo>
                <a:lnTo>
                  <a:pt x="830620" y="1055504"/>
                </a:lnTo>
                <a:lnTo>
                  <a:pt x="775585" y="1060218"/>
                </a:lnTo>
                <a:lnTo>
                  <a:pt x="719367" y="1061815"/>
                </a:lnTo>
                <a:lnTo>
                  <a:pt x="663149" y="1060218"/>
                </a:lnTo>
                <a:lnTo>
                  <a:pt x="608114" y="1055504"/>
                </a:lnTo>
                <a:lnTo>
                  <a:pt x="554423" y="1047793"/>
                </a:lnTo>
                <a:lnTo>
                  <a:pt x="502234" y="1037202"/>
                </a:lnTo>
                <a:lnTo>
                  <a:pt x="451709" y="1023850"/>
                </a:lnTo>
                <a:lnTo>
                  <a:pt x="403007" y="1007853"/>
                </a:lnTo>
                <a:lnTo>
                  <a:pt x="356288" y="989331"/>
                </a:lnTo>
                <a:lnTo>
                  <a:pt x="311712" y="968400"/>
                </a:lnTo>
                <a:lnTo>
                  <a:pt x="269439" y="945181"/>
                </a:lnTo>
                <a:lnTo>
                  <a:pt x="229629" y="919789"/>
                </a:lnTo>
                <a:lnTo>
                  <a:pt x="192441" y="892344"/>
                </a:lnTo>
                <a:lnTo>
                  <a:pt x="158036" y="862963"/>
                </a:lnTo>
                <a:lnTo>
                  <a:pt x="126574" y="831765"/>
                </a:lnTo>
                <a:lnTo>
                  <a:pt x="98214" y="798867"/>
                </a:lnTo>
                <a:lnTo>
                  <a:pt x="73117" y="764387"/>
                </a:lnTo>
                <a:lnTo>
                  <a:pt x="51442" y="728444"/>
                </a:lnTo>
                <a:lnTo>
                  <a:pt x="33349" y="691156"/>
                </a:lnTo>
                <a:lnTo>
                  <a:pt x="18999" y="652640"/>
                </a:lnTo>
                <a:lnTo>
                  <a:pt x="8550" y="613014"/>
                </a:lnTo>
                <a:lnTo>
                  <a:pt x="2164" y="572397"/>
                </a:lnTo>
                <a:lnTo>
                  <a:pt x="0" y="530907"/>
                </a:lnTo>
                <a:close/>
              </a:path>
            </a:pathLst>
          </a:custGeom>
          <a:ln w="6349">
            <a:solidFill>
              <a:srgbClr val="941100"/>
            </a:solidFill>
          </a:ln>
        </p:spPr>
        <p:txBody>
          <a:bodyPr wrap="square" lIns="0" tIns="0" rIns="0" bIns="0" rtlCol="0"/>
          <a:lstStyle/>
          <a:p>
            <a:endParaRPr/>
          </a:p>
        </p:txBody>
      </p:sp>
      <p:sp>
        <p:nvSpPr>
          <p:cNvPr id="7" name="object 7"/>
          <p:cNvSpPr/>
          <p:nvPr/>
        </p:nvSpPr>
        <p:spPr>
          <a:xfrm>
            <a:off x="6929913" y="2715801"/>
            <a:ext cx="1334135" cy="957580"/>
          </a:xfrm>
          <a:custGeom>
            <a:avLst/>
            <a:gdLst/>
            <a:ahLst/>
            <a:cxnLst/>
            <a:rect l="l" t="t" r="r" b="b"/>
            <a:pathLst>
              <a:path w="1334134" h="957579">
                <a:moveTo>
                  <a:pt x="0" y="478592"/>
                </a:moveTo>
                <a:lnTo>
                  <a:pt x="2211" y="517844"/>
                </a:lnTo>
                <a:lnTo>
                  <a:pt x="8730" y="556222"/>
                </a:lnTo>
                <a:lnTo>
                  <a:pt x="19386" y="593603"/>
                </a:lnTo>
                <a:lnTo>
                  <a:pt x="34006" y="629864"/>
                </a:lnTo>
                <a:lnTo>
                  <a:pt x="52420" y="664881"/>
                </a:lnTo>
                <a:lnTo>
                  <a:pt x="74455" y="698532"/>
                </a:lnTo>
                <a:lnTo>
                  <a:pt x="99939" y="730693"/>
                </a:lnTo>
                <a:lnTo>
                  <a:pt x="128702" y="761242"/>
                </a:lnTo>
                <a:lnTo>
                  <a:pt x="160571" y="790054"/>
                </a:lnTo>
                <a:lnTo>
                  <a:pt x="195374" y="817007"/>
                </a:lnTo>
                <a:lnTo>
                  <a:pt x="232941" y="841978"/>
                </a:lnTo>
                <a:lnTo>
                  <a:pt x="273099" y="864843"/>
                </a:lnTo>
                <a:lnTo>
                  <a:pt x="315677" y="885479"/>
                </a:lnTo>
                <a:lnTo>
                  <a:pt x="360502" y="903764"/>
                </a:lnTo>
                <a:lnTo>
                  <a:pt x="407404" y="919573"/>
                </a:lnTo>
                <a:lnTo>
                  <a:pt x="456211" y="932784"/>
                </a:lnTo>
                <a:lnTo>
                  <a:pt x="506751" y="943274"/>
                </a:lnTo>
                <a:lnTo>
                  <a:pt x="558852" y="950919"/>
                </a:lnTo>
                <a:lnTo>
                  <a:pt x="612342" y="955597"/>
                </a:lnTo>
                <a:lnTo>
                  <a:pt x="667051" y="957183"/>
                </a:lnTo>
                <a:lnTo>
                  <a:pt x="721760" y="955597"/>
                </a:lnTo>
                <a:lnTo>
                  <a:pt x="775250" y="950919"/>
                </a:lnTo>
                <a:lnTo>
                  <a:pt x="827351" y="943274"/>
                </a:lnTo>
                <a:lnTo>
                  <a:pt x="877891" y="932784"/>
                </a:lnTo>
                <a:lnTo>
                  <a:pt x="926698" y="919573"/>
                </a:lnTo>
                <a:lnTo>
                  <a:pt x="973600" y="903764"/>
                </a:lnTo>
                <a:lnTo>
                  <a:pt x="1018426" y="885479"/>
                </a:lnTo>
                <a:lnTo>
                  <a:pt x="1061004" y="864843"/>
                </a:lnTo>
                <a:lnTo>
                  <a:pt x="1101162" y="841978"/>
                </a:lnTo>
                <a:lnTo>
                  <a:pt x="1138728" y="817007"/>
                </a:lnTo>
                <a:lnTo>
                  <a:pt x="1173532" y="790054"/>
                </a:lnTo>
                <a:lnTo>
                  <a:pt x="1205401" y="761242"/>
                </a:lnTo>
                <a:lnTo>
                  <a:pt x="1234164" y="730693"/>
                </a:lnTo>
                <a:lnTo>
                  <a:pt x="1259648" y="698532"/>
                </a:lnTo>
                <a:lnTo>
                  <a:pt x="1281683" y="664881"/>
                </a:lnTo>
                <a:lnTo>
                  <a:pt x="1300096" y="629864"/>
                </a:lnTo>
                <a:lnTo>
                  <a:pt x="1314717" y="593603"/>
                </a:lnTo>
                <a:lnTo>
                  <a:pt x="1325373" y="556222"/>
                </a:lnTo>
                <a:lnTo>
                  <a:pt x="1331892" y="517844"/>
                </a:lnTo>
                <a:lnTo>
                  <a:pt x="1334103" y="478592"/>
                </a:lnTo>
                <a:lnTo>
                  <a:pt x="1331892" y="439340"/>
                </a:lnTo>
                <a:lnTo>
                  <a:pt x="1325373" y="400961"/>
                </a:lnTo>
                <a:lnTo>
                  <a:pt x="1314717" y="363580"/>
                </a:lnTo>
                <a:lnTo>
                  <a:pt x="1300096" y="327319"/>
                </a:lnTo>
                <a:lnTo>
                  <a:pt x="1281683" y="292302"/>
                </a:lnTo>
                <a:lnTo>
                  <a:pt x="1259648" y="258651"/>
                </a:lnTo>
                <a:lnTo>
                  <a:pt x="1234164" y="226490"/>
                </a:lnTo>
                <a:lnTo>
                  <a:pt x="1205401" y="195941"/>
                </a:lnTo>
                <a:lnTo>
                  <a:pt x="1173532" y="167129"/>
                </a:lnTo>
                <a:lnTo>
                  <a:pt x="1138728" y="140176"/>
                </a:lnTo>
                <a:lnTo>
                  <a:pt x="1101162" y="115205"/>
                </a:lnTo>
                <a:lnTo>
                  <a:pt x="1061004" y="92340"/>
                </a:lnTo>
                <a:lnTo>
                  <a:pt x="1018426" y="71704"/>
                </a:lnTo>
                <a:lnTo>
                  <a:pt x="973600" y="53419"/>
                </a:lnTo>
                <a:lnTo>
                  <a:pt x="926698" y="37610"/>
                </a:lnTo>
                <a:lnTo>
                  <a:pt x="877891" y="24398"/>
                </a:lnTo>
                <a:lnTo>
                  <a:pt x="827351" y="13909"/>
                </a:lnTo>
                <a:lnTo>
                  <a:pt x="775250" y="6263"/>
                </a:lnTo>
                <a:lnTo>
                  <a:pt x="721760" y="1586"/>
                </a:lnTo>
                <a:lnTo>
                  <a:pt x="667051" y="0"/>
                </a:lnTo>
                <a:lnTo>
                  <a:pt x="612342" y="1586"/>
                </a:lnTo>
                <a:lnTo>
                  <a:pt x="558852" y="6263"/>
                </a:lnTo>
                <a:lnTo>
                  <a:pt x="506751" y="13909"/>
                </a:lnTo>
                <a:lnTo>
                  <a:pt x="456211" y="24398"/>
                </a:lnTo>
                <a:lnTo>
                  <a:pt x="407404" y="37610"/>
                </a:lnTo>
                <a:lnTo>
                  <a:pt x="360502" y="53419"/>
                </a:lnTo>
                <a:lnTo>
                  <a:pt x="315677" y="71704"/>
                </a:lnTo>
                <a:lnTo>
                  <a:pt x="273099" y="92340"/>
                </a:lnTo>
                <a:lnTo>
                  <a:pt x="232941" y="115205"/>
                </a:lnTo>
                <a:lnTo>
                  <a:pt x="195374" y="140176"/>
                </a:lnTo>
                <a:lnTo>
                  <a:pt x="160571" y="167129"/>
                </a:lnTo>
                <a:lnTo>
                  <a:pt x="128702" y="195941"/>
                </a:lnTo>
                <a:lnTo>
                  <a:pt x="99939" y="226490"/>
                </a:lnTo>
                <a:lnTo>
                  <a:pt x="74455" y="258651"/>
                </a:lnTo>
                <a:lnTo>
                  <a:pt x="52420" y="292302"/>
                </a:lnTo>
                <a:lnTo>
                  <a:pt x="34006" y="327319"/>
                </a:lnTo>
                <a:lnTo>
                  <a:pt x="19386" y="363580"/>
                </a:lnTo>
                <a:lnTo>
                  <a:pt x="8730" y="400961"/>
                </a:lnTo>
                <a:lnTo>
                  <a:pt x="2211" y="439340"/>
                </a:lnTo>
                <a:lnTo>
                  <a:pt x="0" y="478592"/>
                </a:lnTo>
                <a:close/>
              </a:path>
            </a:pathLst>
          </a:custGeom>
          <a:ln w="6349">
            <a:solidFill>
              <a:srgbClr val="941100"/>
            </a:solidFill>
          </a:ln>
        </p:spPr>
        <p:txBody>
          <a:bodyPr wrap="square" lIns="0" tIns="0" rIns="0" bIns="0" rtlCol="0"/>
          <a:lstStyle/>
          <a:p>
            <a:endParaRPr/>
          </a:p>
        </p:txBody>
      </p:sp>
      <p:sp>
        <p:nvSpPr>
          <p:cNvPr id="9" name="object 9"/>
          <p:cNvSpPr txBox="1"/>
          <p:nvPr/>
        </p:nvSpPr>
        <p:spPr>
          <a:xfrm>
            <a:off x="557163" y="3729324"/>
            <a:ext cx="49339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Order</a:t>
            </a:r>
            <a:endParaRPr sz="1400">
              <a:latin typeface="华文新魏" panose="02010800040101010101" charset="-122"/>
              <a:cs typeface="华文新魏" panose="02010800040101010101" charset="-122"/>
            </a:endParaRPr>
          </a:p>
        </p:txBody>
      </p:sp>
      <p:sp>
        <p:nvSpPr>
          <p:cNvPr id="10" name="object 10"/>
          <p:cNvSpPr/>
          <p:nvPr/>
        </p:nvSpPr>
        <p:spPr>
          <a:xfrm>
            <a:off x="2074268" y="3699414"/>
            <a:ext cx="164695" cy="139577"/>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1781299" y="3836262"/>
            <a:ext cx="298450" cy="19304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华文新魏" panose="02010800040101010101" charset="-122"/>
                <a:cs typeface="华文新魏" panose="02010800040101010101" charset="-122"/>
              </a:rPr>
              <a:t>Start</a:t>
            </a:r>
            <a:endParaRPr sz="1100">
              <a:latin typeface="华文新魏" panose="02010800040101010101" charset="-122"/>
              <a:cs typeface="华文新魏" panose="02010800040101010101" charset="-122"/>
            </a:endParaRPr>
          </a:p>
        </p:txBody>
      </p:sp>
      <p:sp>
        <p:nvSpPr>
          <p:cNvPr id="12" name="object 12"/>
          <p:cNvSpPr txBox="1"/>
          <p:nvPr/>
        </p:nvSpPr>
        <p:spPr>
          <a:xfrm>
            <a:off x="389578" y="4173773"/>
            <a:ext cx="1410970" cy="317500"/>
          </a:xfrm>
          <a:prstGeom prst="rect">
            <a:avLst/>
          </a:prstGeom>
        </p:spPr>
        <p:txBody>
          <a:bodyPr vert="horz" wrap="square" lIns="0" tIns="12700" rIns="0" bIns="0" rtlCol="0">
            <a:spAutoFit/>
          </a:bodyPr>
          <a:lstStyle/>
          <a:p>
            <a:pPr marL="12700">
              <a:lnSpc>
                <a:spcPts val="1150"/>
              </a:lnSpc>
              <a:spcBef>
                <a:spcPts val="100"/>
              </a:spcBef>
            </a:pPr>
            <a:r>
              <a:rPr sz="1100" b="1" spc="-5" dirty="0">
                <a:latin typeface="华文新魏" panose="02010800040101010101" charset="-122"/>
                <a:cs typeface="华文新魏" panose="02010800040101010101" charset="-122"/>
              </a:rPr>
              <a:t>get next</a:t>
            </a:r>
            <a:r>
              <a:rPr sz="1100" b="1" spc="-15"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item</a:t>
            </a:r>
            <a:endParaRPr sz="1100">
              <a:latin typeface="华文新魏" panose="02010800040101010101" charset="-122"/>
              <a:cs typeface="华文新魏" panose="02010800040101010101" charset="-122"/>
            </a:endParaRPr>
          </a:p>
          <a:p>
            <a:pPr marL="12700">
              <a:lnSpc>
                <a:spcPts val="1150"/>
              </a:lnSpc>
            </a:pPr>
            <a:r>
              <a:rPr sz="1100" b="1" spc="-5" dirty="0">
                <a:latin typeface="华文新魏" panose="02010800040101010101" charset="-122"/>
                <a:cs typeface="华文新魏" panose="02010800040101010101" charset="-122"/>
              </a:rPr>
              <a:t>[Not all items</a:t>
            </a:r>
            <a:r>
              <a:rPr sz="1100" b="1" spc="-25"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checked]</a:t>
            </a:r>
            <a:endParaRPr sz="1100">
              <a:latin typeface="华文新魏" panose="02010800040101010101" charset="-122"/>
              <a:cs typeface="华文新魏" panose="02010800040101010101" charset="-122"/>
            </a:endParaRPr>
          </a:p>
        </p:txBody>
      </p:sp>
      <p:sp>
        <p:nvSpPr>
          <p:cNvPr id="13" name="object 13"/>
          <p:cNvSpPr txBox="1"/>
          <p:nvPr/>
        </p:nvSpPr>
        <p:spPr>
          <a:xfrm>
            <a:off x="3272485" y="4359212"/>
            <a:ext cx="1338580" cy="19304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华文新魏" panose="02010800040101010101" charset="-122"/>
                <a:cs typeface="华文新魏" panose="02010800040101010101" charset="-122"/>
              </a:rPr>
              <a:t>[All items checked</a:t>
            </a:r>
            <a:r>
              <a:rPr sz="1100" b="1" spc="-35"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&amp;&amp;</a:t>
            </a:r>
            <a:endParaRPr sz="1100">
              <a:latin typeface="华文新魏" panose="02010800040101010101" charset="-122"/>
              <a:cs typeface="华文新魏" panose="02010800040101010101" charset="-122"/>
            </a:endParaRPr>
          </a:p>
        </p:txBody>
      </p:sp>
      <p:sp>
        <p:nvSpPr>
          <p:cNvPr id="14" name="object 14"/>
          <p:cNvSpPr txBox="1"/>
          <p:nvPr/>
        </p:nvSpPr>
        <p:spPr>
          <a:xfrm>
            <a:off x="1874459" y="5595923"/>
            <a:ext cx="501650" cy="19304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华文新魏" panose="02010800040101010101" charset="-122"/>
                <a:cs typeface="华文新魏" panose="02010800040101010101" charset="-122"/>
              </a:rPr>
              <a:t>Waiting</a:t>
            </a:r>
            <a:endParaRPr sz="1100">
              <a:latin typeface="华文新魏" panose="02010800040101010101" charset="-122"/>
              <a:cs typeface="华文新魏" panose="02010800040101010101" charset="-122"/>
            </a:endParaRPr>
          </a:p>
        </p:txBody>
      </p:sp>
      <p:sp>
        <p:nvSpPr>
          <p:cNvPr id="15" name="object 15"/>
          <p:cNvSpPr txBox="1"/>
          <p:nvPr/>
        </p:nvSpPr>
        <p:spPr>
          <a:xfrm>
            <a:off x="434674" y="6090886"/>
            <a:ext cx="1525905" cy="317500"/>
          </a:xfrm>
          <a:prstGeom prst="rect">
            <a:avLst/>
          </a:prstGeom>
        </p:spPr>
        <p:txBody>
          <a:bodyPr vert="horz" wrap="square" lIns="0" tIns="12700" rIns="0" bIns="0" rtlCol="0">
            <a:spAutoFit/>
          </a:bodyPr>
          <a:lstStyle/>
          <a:p>
            <a:pPr marL="12700">
              <a:lnSpc>
                <a:spcPts val="1150"/>
              </a:lnSpc>
              <a:spcBef>
                <a:spcPts val="100"/>
              </a:spcBef>
            </a:pPr>
            <a:r>
              <a:rPr sz="1100" b="1" spc="-5" dirty="0">
                <a:latin typeface="华文新魏" panose="02010800040101010101" charset="-122"/>
                <a:cs typeface="华文新魏" panose="02010800040101010101" charset="-122"/>
              </a:rPr>
              <a:t>Item</a:t>
            </a:r>
            <a:r>
              <a:rPr sz="1100" b="1" spc="-10"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Received</a:t>
            </a:r>
            <a:endParaRPr sz="1100">
              <a:latin typeface="华文新魏" panose="02010800040101010101" charset="-122"/>
              <a:cs typeface="华文新魏" panose="02010800040101010101" charset="-122"/>
            </a:endParaRPr>
          </a:p>
          <a:p>
            <a:pPr marL="12700">
              <a:lnSpc>
                <a:spcPts val="1150"/>
              </a:lnSpc>
            </a:pPr>
            <a:r>
              <a:rPr sz="1100" b="1" spc="-5" dirty="0">
                <a:latin typeface="华文新魏" panose="02010800040101010101" charset="-122"/>
                <a:cs typeface="华文新魏" panose="02010800040101010101" charset="-122"/>
              </a:rPr>
              <a:t>[some items not in</a:t>
            </a:r>
            <a:r>
              <a:rPr sz="1100" b="1" spc="-25"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stock]</a:t>
            </a:r>
            <a:endParaRPr sz="1100">
              <a:latin typeface="华文新魏" panose="02010800040101010101" charset="-122"/>
              <a:cs typeface="华文新魏" panose="02010800040101010101" charset="-122"/>
            </a:endParaRPr>
          </a:p>
        </p:txBody>
      </p:sp>
      <p:sp>
        <p:nvSpPr>
          <p:cNvPr id="16" name="object 16"/>
          <p:cNvSpPr txBox="1"/>
          <p:nvPr/>
        </p:nvSpPr>
        <p:spPr>
          <a:xfrm>
            <a:off x="328439" y="4526848"/>
            <a:ext cx="6309360" cy="829944"/>
          </a:xfrm>
          <a:prstGeom prst="rect">
            <a:avLst/>
          </a:prstGeom>
        </p:spPr>
        <p:txBody>
          <a:bodyPr vert="horz" wrap="square" lIns="0" tIns="12700" rIns="0" bIns="0" rtlCol="0">
            <a:spAutoFit/>
          </a:bodyPr>
          <a:lstStyle/>
          <a:p>
            <a:pPr marL="1390015" marR="55880" indent="-130810">
              <a:lnSpc>
                <a:spcPct val="111000"/>
              </a:lnSpc>
              <a:spcBef>
                <a:spcPts val="100"/>
              </a:spcBef>
              <a:tabLst>
                <a:tab pos="1643380" algn="l"/>
                <a:tab pos="2797175" algn="l"/>
                <a:tab pos="2984500" algn="l"/>
                <a:tab pos="4564380" algn="l"/>
                <a:tab pos="4780280" algn="l"/>
                <a:tab pos="5074285" algn="l"/>
                <a:tab pos="6244590" algn="l"/>
              </a:tabLst>
            </a:pPr>
            <a:r>
              <a:rPr sz="1100" b="1" u="heavy" dirty="0">
                <a:uFill>
                  <a:solidFill>
                    <a:srgbClr val="000000"/>
                  </a:solidFill>
                </a:uFill>
                <a:latin typeface="Times New Roman" panose="02020603050405020304"/>
                <a:cs typeface="Times New Roman" panose="02020603050405020304"/>
              </a:rPr>
              <a:t> 		</a:t>
            </a:r>
            <a:r>
              <a:rPr sz="1100" b="1" u="heavy" spc="-5" dirty="0">
                <a:uFill>
                  <a:solidFill>
                    <a:srgbClr val="000000"/>
                  </a:solidFill>
                </a:uFill>
                <a:latin typeface="华文新魏" panose="02010800040101010101" charset="-122"/>
                <a:cs typeface="华文新魏" panose="02010800040101010101" charset="-122"/>
              </a:rPr>
              <a:t>Checking	</a:t>
            </a:r>
            <a:r>
              <a:rPr sz="1650" b="1" u="heavy" spc="-7" baseline="25000" dirty="0">
                <a:uFill>
                  <a:solidFill>
                    <a:srgbClr val="000000"/>
                  </a:solidFill>
                </a:uFill>
                <a:latin typeface="华文新魏" panose="02010800040101010101" charset="-122"/>
                <a:cs typeface="华文新魏" panose="02010800040101010101" charset="-122"/>
              </a:rPr>
              <a:t>	all</a:t>
            </a:r>
            <a:r>
              <a:rPr sz="1650" b="1" u="heavy" spc="7" baseline="25000" dirty="0">
                <a:uFill>
                  <a:solidFill>
                    <a:srgbClr val="000000"/>
                  </a:solidFill>
                </a:uFill>
                <a:latin typeface="华文新魏" panose="02010800040101010101" charset="-122"/>
                <a:cs typeface="华文新魏" panose="02010800040101010101" charset="-122"/>
              </a:rPr>
              <a:t> </a:t>
            </a:r>
            <a:r>
              <a:rPr sz="1650" b="1" u="heavy" spc="-7" baseline="25000" dirty="0">
                <a:uFill>
                  <a:solidFill>
                    <a:srgbClr val="000000"/>
                  </a:solidFill>
                </a:uFill>
                <a:latin typeface="华文新魏" panose="02010800040101010101" charset="-122"/>
                <a:cs typeface="华文新魏" panose="02010800040101010101" charset="-122"/>
              </a:rPr>
              <a:t>items</a:t>
            </a:r>
            <a:r>
              <a:rPr sz="1650" b="1" u="heavy" spc="7" baseline="25000" dirty="0">
                <a:uFill>
                  <a:solidFill>
                    <a:srgbClr val="000000"/>
                  </a:solidFill>
                </a:uFill>
                <a:latin typeface="华文新魏" panose="02010800040101010101" charset="-122"/>
                <a:cs typeface="华文新魏" panose="02010800040101010101" charset="-122"/>
              </a:rPr>
              <a:t> </a:t>
            </a:r>
            <a:r>
              <a:rPr sz="1650" b="1" u="heavy" spc="-7" baseline="25000" dirty="0">
                <a:uFill>
                  <a:solidFill>
                    <a:srgbClr val="000000"/>
                  </a:solidFill>
                </a:uFill>
                <a:latin typeface="华文新魏" panose="02010800040101010101" charset="-122"/>
                <a:cs typeface="华文新魏" panose="02010800040101010101" charset="-122"/>
              </a:rPr>
              <a:t>available]	</a:t>
            </a:r>
            <a:r>
              <a:rPr sz="1100" b="1" u="heavy" spc="-5" dirty="0">
                <a:uFill>
                  <a:solidFill>
                    <a:srgbClr val="000000"/>
                  </a:solidFill>
                </a:uFill>
                <a:latin typeface="华文新魏" panose="02010800040101010101" charset="-122"/>
                <a:cs typeface="华文新魏" panose="02010800040101010101" charset="-122"/>
              </a:rPr>
              <a:t> 		Dispatching 	</a:t>
            </a:r>
            <a:r>
              <a:rPr sz="1100" b="1"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do:</a:t>
            </a:r>
            <a:r>
              <a:rPr sz="1100" b="1" spc="15"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check</a:t>
            </a:r>
            <a:r>
              <a:rPr sz="1100" b="1" spc="20"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item				do: initiate</a:t>
            </a:r>
            <a:r>
              <a:rPr sz="1100" b="1" spc="-10"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delivery</a:t>
            </a:r>
            <a:endParaRPr sz="1100">
              <a:latin typeface="华文新魏" panose="02010800040101010101" charset="-122"/>
              <a:cs typeface="华文新魏" panose="02010800040101010101" charset="-122"/>
            </a:endParaRPr>
          </a:p>
          <a:p>
            <a:pPr marL="146685" marR="4702810" indent="-121920">
              <a:lnSpc>
                <a:spcPts val="1260"/>
              </a:lnSpc>
              <a:spcBef>
                <a:spcPts val="925"/>
              </a:spcBef>
            </a:pPr>
            <a:r>
              <a:rPr sz="1100" b="1" spc="-5" dirty="0">
                <a:latin typeface="华文新魏" panose="02010800040101010101" charset="-122"/>
                <a:cs typeface="华文新魏" panose="02010800040101010101" charset="-122"/>
              </a:rPr>
              <a:t>[All items checked &amp;&amp;  some items not in</a:t>
            </a:r>
            <a:r>
              <a:rPr sz="1100" b="1" spc="-30"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stock]</a:t>
            </a:r>
            <a:endParaRPr sz="1100">
              <a:latin typeface="华文新魏" panose="02010800040101010101" charset="-122"/>
              <a:cs typeface="华文新魏" panose="02010800040101010101" charset="-122"/>
            </a:endParaRPr>
          </a:p>
        </p:txBody>
      </p:sp>
      <p:sp>
        <p:nvSpPr>
          <p:cNvPr id="17" name="object 17"/>
          <p:cNvSpPr txBox="1"/>
          <p:nvPr/>
        </p:nvSpPr>
        <p:spPr>
          <a:xfrm>
            <a:off x="5560768" y="5966797"/>
            <a:ext cx="611505" cy="19304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华文新魏" panose="02010800040101010101" charset="-122"/>
                <a:cs typeface="华文新魏" panose="02010800040101010101" charset="-122"/>
              </a:rPr>
              <a:t>Delivered</a:t>
            </a:r>
            <a:endParaRPr sz="1100">
              <a:latin typeface="华文新魏" panose="02010800040101010101" charset="-122"/>
              <a:cs typeface="华文新魏" panose="02010800040101010101" charset="-122"/>
            </a:endParaRPr>
          </a:p>
        </p:txBody>
      </p:sp>
      <p:sp>
        <p:nvSpPr>
          <p:cNvPr id="18" name="object 18"/>
          <p:cNvSpPr/>
          <p:nvPr/>
        </p:nvSpPr>
        <p:spPr>
          <a:xfrm>
            <a:off x="2102662" y="4396400"/>
            <a:ext cx="101224" cy="106115"/>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2132219" y="3697574"/>
            <a:ext cx="3810" cy="722630"/>
          </a:xfrm>
          <a:custGeom>
            <a:avLst/>
            <a:gdLst/>
            <a:ahLst/>
            <a:cxnLst/>
            <a:rect l="l" t="t" r="r" b="b"/>
            <a:pathLst>
              <a:path w="3810" h="722629">
                <a:moveTo>
                  <a:pt x="3339" y="0"/>
                </a:moveTo>
                <a:lnTo>
                  <a:pt x="0" y="722227"/>
                </a:lnTo>
              </a:path>
            </a:pathLst>
          </a:custGeom>
          <a:ln w="12699">
            <a:solidFill>
              <a:srgbClr val="000000"/>
            </a:solidFill>
          </a:ln>
        </p:spPr>
        <p:txBody>
          <a:bodyPr wrap="square" lIns="0" tIns="0" rIns="0" bIns="0" rtlCol="0"/>
          <a:lstStyle/>
          <a:p>
            <a:endParaRPr/>
          </a:p>
        </p:txBody>
      </p:sp>
      <p:sp>
        <p:nvSpPr>
          <p:cNvPr id="20" name="object 20"/>
          <p:cNvSpPr txBox="1"/>
          <p:nvPr/>
        </p:nvSpPr>
        <p:spPr>
          <a:xfrm>
            <a:off x="2298707" y="3926989"/>
            <a:ext cx="822325" cy="19304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华文新魏" panose="02010800040101010101" charset="-122"/>
                <a:cs typeface="华文新魏" panose="02010800040101010101" charset="-122"/>
              </a:rPr>
              <a:t>/get first</a:t>
            </a:r>
            <a:r>
              <a:rPr sz="1100" b="1" spc="-50"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item</a:t>
            </a:r>
            <a:endParaRPr sz="1100">
              <a:latin typeface="华文新魏" panose="02010800040101010101" charset="-122"/>
              <a:cs typeface="华文新魏" panose="02010800040101010101" charset="-122"/>
            </a:endParaRPr>
          </a:p>
        </p:txBody>
      </p:sp>
      <p:sp>
        <p:nvSpPr>
          <p:cNvPr id="21" name="object 21"/>
          <p:cNvSpPr/>
          <p:nvPr/>
        </p:nvSpPr>
        <p:spPr>
          <a:xfrm>
            <a:off x="1447912" y="4510732"/>
            <a:ext cx="149662" cy="76836"/>
          </a:xfrm>
          <a:prstGeom prst="rect">
            <a:avLst/>
          </a:prstGeom>
          <a:blipFill>
            <a:blip r:embed="rId6" cstate="print"/>
            <a:stretch>
              <a:fillRect/>
            </a:stretch>
          </a:blipFill>
        </p:spPr>
        <p:txBody>
          <a:bodyPr wrap="square" lIns="0" tIns="0" rIns="0" bIns="0" rtlCol="0"/>
          <a:lstStyle/>
          <a:p>
            <a:endParaRPr/>
          </a:p>
        </p:txBody>
      </p:sp>
      <p:sp>
        <p:nvSpPr>
          <p:cNvPr id="22" name="object 22"/>
          <p:cNvSpPr/>
          <p:nvPr/>
        </p:nvSpPr>
        <p:spPr>
          <a:xfrm>
            <a:off x="660878" y="4553330"/>
            <a:ext cx="934085" cy="223520"/>
          </a:xfrm>
          <a:custGeom>
            <a:avLst/>
            <a:gdLst/>
            <a:ahLst/>
            <a:cxnLst/>
            <a:rect l="l" t="t" r="r" b="b"/>
            <a:pathLst>
              <a:path w="934085" h="223520">
                <a:moveTo>
                  <a:pt x="933686" y="223082"/>
                </a:moveTo>
                <a:lnTo>
                  <a:pt x="0" y="223082"/>
                </a:lnTo>
                <a:lnTo>
                  <a:pt x="0" y="5576"/>
                </a:lnTo>
                <a:lnTo>
                  <a:pt x="891929" y="5576"/>
                </a:lnTo>
                <a:lnTo>
                  <a:pt x="845161" y="0"/>
                </a:lnTo>
              </a:path>
            </a:pathLst>
          </a:custGeom>
          <a:ln w="12699">
            <a:solidFill>
              <a:srgbClr val="000000"/>
            </a:solidFill>
          </a:ln>
        </p:spPr>
        <p:txBody>
          <a:bodyPr wrap="square" lIns="0" tIns="0" rIns="0" bIns="0" rtlCol="0"/>
          <a:lstStyle/>
          <a:p>
            <a:endParaRPr/>
          </a:p>
        </p:txBody>
      </p:sp>
      <p:sp>
        <p:nvSpPr>
          <p:cNvPr id="23" name="object 23"/>
          <p:cNvSpPr/>
          <p:nvPr/>
        </p:nvSpPr>
        <p:spPr>
          <a:xfrm>
            <a:off x="4848604" y="4643186"/>
            <a:ext cx="141311" cy="78230"/>
          </a:xfrm>
          <a:prstGeom prst="rect">
            <a:avLst/>
          </a:prstGeom>
          <a:blipFill>
            <a:blip r:embed="rId7" cstate="print"/>
            <a:stretch>
              <a:fillRect/>
            </a:stretch>
          </a:blipFill>
        </p:spPr>
        <p:txBody>
          <a:bodyPr wrap="square" lIns="0" tIns="0" rIns="0" bIns="0" rtlCol="0"/>
          <a:lstStyle/>
          <a:p>
            <a:endParaRPr/>
          </a:p>
        </p:txBody>
      </p:sp>
      <p:sp>
        <p:nvSpPr>
          <p:cNvPr id="24" name="object 24"/>
          <p:cNvSpPr/>
          <p:nvPr/>
        </p:nvSpPr>
        <p:spPr>
          <a:xfrm>
            <a:off x="1628303" y="5633112"/>
            <a:ext cx="141311" cy="76835"/>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1170314" y="5671531"/>
            <a:ext cx="721995" cy="403225"/>
          </a:xfrm>
          <a:custGeom>
            <a:avLst/>
            <a:gdLst/>
            <a:ahLst/>
            <a:cxnLst/>
            <a:rect l="l" t="t" r="r" b="b"/>
            <a:pathLst>
              <a:path w="721994" h="403225">
                <a:moveTo>
                  <a:pt x="721560" y="124089"/>
                </a:moveTo>
                <a:lnTo>
                  <a:pt x="721560" y="402941"/>
                </a:lnTo>
                <a:lnTo>
                  <a:pt x="0" y="402941"/>
                </a:lnTo>
                <a:lnTo>
                  <a:pt x="0" y="0"/>
                </a:lnTo>
                <a:lnTo>
                  <a:pt x="507764" y="0"/>
                </a:lnTo>
              </a:path>
            </a:pathLst>
          </a:custGeom>
          <a:ln w="12699">
            <a:solidFill>
              <a:srgbClr val="000000"/>
            </a:solidFill>
          </a:ln>
        </p:spPr>
        <p:txBody>
          <a:bodyPr wrap="square" lIns="0" tIns="0" rIns="0" bIns="0" rtlCol="0"/>
          <a:lstStyle/>
          <a:p>
            <a:endParaRPr/>
          </a:p>
        </p:txBody>
      </p:sp>
      <p:sp>
        <p:nvSpPr>
          <p:cNvPr id="26" name="object 26"/>
          <p:cNvSpPr/>
          <p:nvPr/>
        </p:nvSpPr>
        <p:spPr>
          <a:xfrm>
            <a:off x="2349864" y="5447675"/>
            <a:ext cx="101224" cy="106115"/>
          </a:xfrm>
          <a:prstGeom prst="rect">
            <a:avLst/>
          </a:prstGeom>
          <a:blipFill>
            <a:blip r:embed="rId9" cstate="print"/>
            <a:stretch>
              <a:fillRect/>
            </a:stretch>
          </a:blipFill>
        </p:spPr>
        <p:txBody>
          <a:bodyPr wrap="square" lIns="0" tIns="0" rIns="0" bIns="0" rtlCol="0"/>
          <a:lstStyle/>
          <a:p>
            <a:endParaRPr/>
          </a:p>
        </p:txBody>
      </p:sp>
      <p:sp>
        <p:nvSpPr>
          <p:cNvPr id="27" name="object 27"/>
          <p:cNvSpPr/>
          <p:nvPr/>
        </p:nvSpPr>
        <p:spPr>
          <a:xfrm>
            <a:off x="2401312" y="4868435"/>
            <a:ext cx="0" cy="617855"/>
          </a:xfrm>
          <a:custGeom>
            <a:avLst/>
            <a:gdLst/>
            <a:ahLst/>
            <a:cxnLst/>
            <a:rect l="l" t="t" r="r" b="b"/>
            <a:pathLst>
              <a:path h="617854">
                <a:moveTo>
                  <a:pt x="0" y="0"/>
                </a:moveTo>
                <a:lnTo>
                  <a:pt x="0" y="154763"/>
                </a:lnTo>
                <a:lnTo>
                  <a:pt x="0" y="617658"/>
                </a:lnTo>
              </a:path>
            </a:pathLst>
          </a:custGeom>
          <a:ln w="12699">
            <a:solidFill>
              <a:srgbClr val="000000"/>
            </a:solidFill>
          </a:ln>
        </p:spPr>
        <p:txBody>
          <a:bodyPr wrap="square" lIns="0" tIns="0" rIns="0" bIns="0" rtlCol="0"/>
          <a:lstStyle/>
          <a:p>
            <a:endParaRPr/>
          </a:p>
        </p:txBody>
      </p:sp>
      <p:sp>
        <p:nvSpPr>
          <p:cNvPr id="28" name="object 28"/>
          <p:cNvSpPr/>
          <p:nvPr/>
        </p:nvSpPr>
        <p:spPr>
          <a:xfrm>
            <a:off x="4771772" y="4817469"/>
            <a:ext cx="146321" cy="76836"/>
          </a:xfrm>
          <a:prstGeom prst="rect">
            <a:avLst/>
          </a:prstGeom>
          <a:blipFill>
            <a:blip r:embed="rId10" cstate="print"/>
            <a:stretch>
              <a:fillRect/>
            </a:stretch>
          </a:blipFill>
        </p:spPr>
        <p:txBody>
          <a:bodyPr wrap="square" lIns="0" tIns="0" rIns="0" bIns="0" rtlCol="0"/>
          <a:lstStyle/>
          <a:p>
            <a:endParaRPr/>
          </a:p>
        </p:txBody>
      </p:sp>
      <p:sp>
        <p:nvSpPr>
          <p:cNvPr id="29" name="object 29"/>
          <p:cNvSpPr/>
          <p:nvPr/>
        </p:nvSpPr>
        <p:spPr>
          <a:xfrm>
            <a:off x="2618447" y="4841945"/>
            <a:ext cx="2211705" cy="761365"/>
          </a:xfrm>
          <a:custGeom>
            <a:avLst/>
            <a:gdLst/>
            <a:ahLst/>
            <a:cxnLst/>
            <a:rect l="l" t="t" r="r" b="b"/>
            <a:pathLst>
              <a:path w="2211704" h="761364">
                <a:moveTo>
                  <a:pt x="0" y="761267"/>
                </a:moveTo>
                <a:lnTo>
                  <a:pt x="2211451" y="0"/>
                </a:lnTo>
              </a:path>
            </a:pathLst>
          </a:custGeom>
          <a:ln w="12699">
            <a:solidFill>
              <a:srgbClr val="000000"/>
            </a:solidFill>
          </a:ln>
        </p:spPr>
        <p:txBody>
          <a:bodyPr wrap="square" lIns="0" tIns="0" rIns="0" bIns="0" rtlCol="0"/>
          <a:lstStyle/>
          <a:p>
            <a:endParaRPr/>
          </a:p>
        </p:txBody>
      </p:sp>
      <p:sp>
        <p:nvSpPr>
          <p:cNvPr id="30" name="object 30"/>
          <p:cNvSpPr txBox="1"/>
          <p:nvPr/>
        </p:nvSpPr>
        <p:spPr>
          <a:xfrm>
            <a:off x="3569792" y="5286396"/>
            <a:ext cx="1189355" cy="317500"/>
          </a:xfrm>
          <a:prstGeom prst="rect">
            <a:avLst/>
          </a:prstGeom>
        </p:spPr>
        <p:txBody>
          <a:bodyPr vert="horz" wrap="square" lIns="0" tIns="12700" rIns="0" bIns="0" rtlCol="0">
            <a:spAutoFit/>
          </a:bodyPr>
          <a:lstStyle/>
          <a:p>
            <a:pPr marL="12700">
              <a:lnSpc>
                <a:spcPts val="1150"/>
              </a:lnSpc>
              <a:spcBef>
                <a:spcPts val="100"/>
              </a:spcBef>
            </a:pPr>
            <a:r>
              <a:rPr sz="1100" b="1" spc="-5" dirty="0">
                <a:latin typeface="华文新魏" panose="02010800040101010101" charset="-122"/>
                <a:cs typeface="华文新魏" panose="02010800040101010101" charset="-122"/>
              </a:rPr>
              <a:t>Item</a:t>
            </a:r>
            <a:r>
              <a:rPr sz="1100" b="1" spc="-10"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Received</a:t>
            </a:r>
            <a:endParaRPr sz="1100">
              <a:latin typeface="华文新魏" panose="02010800040101010101" charset="-122"/>
              <a:cs typeface="华文新魏" panose="02010800040101010101" charset="-122"/>
            </a:endParaRPr>
          </a:p>
          <a:p>
            <a:pPr marL="12700">
              <a:lnSpc>
                <a:spcPts val="1150"/>
              </a:lnSpc>
            </a:pPr>
            <a:r>
              <a:rPr sz="1100" b="1" spc="-5" dirty="0">
                <a:latin typeface="华文新魏" panose="02010800040101010101" charset="-122"/>
                <a:cs typeface="华文新魏" panose="02010800040101010101" charset="-122"/>
              </a:rPr>
              <a:t>[all items</a:t>
            </a:r>
            <a:r>
              <a:rPr sz="1100" b="1" spc="-35" dirty="0">
                <a:latin typeface="华文新魏" panose="02010800040101010101" charset="-122"/>
                <a:cs typeface="华文新魏" panose="02010800040101010101" charset="-122"/>
              </a:rPr>
              <a:t> </a:t>
            </a:r>
            <a:r>
              <a:rPr sz="1100" b="1" spc="-5" dirty="0">
                <a:latin typeface="华文新魏" panose="02010800040101010101" charset="-122"/>
                <a:cs typeface="华文新魏" panose="02010800040101010101" charset="-122"/>
              </a:rPr>
              <a:t>available]</a:t>
            </a:r>
            <a:endParaRPr sz="1100">
              <a:latin typeface="华文新魏" panose="02010800040101010101" charset="-122"/>
              <a:cs typeface="华文新魏" panose="02010800040101010101" charset="-122"/>
            </a:endParaRPr>
          </a:p>
        </p:txBody>
      </p:sp>
      <p:sp>
        <p:nvSpPr>
          <p:cNvPr id="31" name="object 31"/>
          <p:cNvSpPr/>
          <p:nvPr/>
        </p:nvSpPr>
        <p:spPr>
          <a:xfrm>
            <a:off x="5910902" y="5818548"/>
            <a:ext cx="99554" cy="106115"/>
          </a:xfrm>
          <a:prstGeom prst="rect">
            <a:avLst/>
          </a:prstGeom>
          <a:blipFill>
            <a:blip r:embed="rId11" cstate="print"/>
            <a:stretch>
              <a:fillRect/>
            </a:stretch>
          </a:blipFill>
        </p:spPr>
        <p:txBody>
          <a:bodyPr wrap="square" lIns="0" tIns="0" rIns="0" bIns="0" rtlCol="0"/>
          <a:lstStyle/>
          <a:p>
            <a:endParaRPr/>
          </a:p>
        </p:txBody>
      </p:sp>
      <p:sp>
        <p:nvSpPr>
          <p:cNvPr id="32" name="object 32"/>
          <p:cNvSpPr/>
          <p:nvPr/>
        </p:nvSpPr>
        <p:spPr>
          <a:xfrm>
            <a:off x="5945647" y="4908868"/>
            <a:ext cx="15240" cy="942975"/>
          </a:xfrm>
          <a:custGeom>
            <a:avLst/>
            <a:gdLst/>
            <a:ahLst/>
            <a:cxnLst/>
            <a:rect l="l" t="t" r="r" b="b"/>
            <a:pathLst>
              <a:path w="15239" h="942975">
                <a:moveTo>
                  <a:pt x="0" y="0"/>
                </a:moveTo>
                <a:lnTo>
                  <a:pt x="15033" y="942521"/>
                </a:lnTo>
              </a:path>
            </a:pathLst>
          </a:custGeom>
          <a:ln w="12699">
            <a:solidFill>
              <a:srgbClr val="000000"/>
            </a:solidFill>
          </a:ln>
        </p:spPr>
        <p:txBody>
          <a:bodyPr wrap="square" lIns="0" tIns="0" rIns="0" bIns="0" rtlCol="0"/>
          <a:lstStyle/>
          <a:p>
            <a:endParaRPr/>
          </a:p>
        </p:txBody>
      </p:sp>
      <p:sp>
        <p:nvSpPr>
          <p:cNvPr id="33" name="object 33"/>
          <p:cNvSpPr txBox="1"/>
          <p:nvPr/>
        </p:nvSpPr>
        <p:spPr>
          <a:xfrm>
            <a:off x="6028445" y="5286396"/>
            <a:ext cx="611505" cy="19304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华文新魏" panose="02010800040101010101" charset="-122"/>
                <a:cs typeface="华文新魏" panose="02010800040101010101" charset="-122"/>
              </a:rPr>
              <a:t>Delivered</a:t>
            </a:r>
            <a:endParaRPr sz="1100">
              <a:latin typeface="华文新魏" panose="02010800040101010101" charset="-122"/>
              <a:cs typeface="华文新魏" panose="02010800040101010101" charset="-122"/>
            </a:endParaRPr>
          </a:p>
        </p:txBody>
      </p:sp>
      <p:sp>
        <p:nvSpPr>
          <p:cNvPr id="34" name="object 34"/>
          <p:cNvSpPr/>
          <p:nvPr/>
        </p:nvSpPr>
        <p:spPr>
          <a:xfrm>
            <a:off x="4970203" y="4542177"/>
            <a:ext cx="1657350" cy="429895"/>
          </a:xfrm>
          <a:custGeom>
            <a:avLst/>
            <a:gdLst/>
            <a:ahLst/>
            <a:cxnLst/>
            <a:rect l="l" t="t" r="r" b="b"/>
            <a:pathLst>
              <a:path w="1657350" h="429895">
                <a:moveTo>
                  <a:pt x="0" y="53657"/>
                </a:moveTo>
                <a:lnTo>
                  <a:pt x="4216" y="32771"/>
                </a:lnTo>
                <a:lnTo>
                  <a:pt x="15715" y="15716"/>
                </a:lnTo>
                <a:lnTo>
                  <a:pt x="32771" y="4216"/>
                </a:lnTo>
                <a:lnTo>
                  <a:pt x="53657" y="0"/>
                </a:lnTo>
                <a:lnTo>
                  <a:pt x="1603259" y="0"/>
                </a:lnTo>
                <a:lnTo>
                  <a:pt x="1624145" y="4216"/>
                </a:lnTo>
                <a:lnTo>
                  <a:pt x="1641201" y="15716"/>
                </a:lnTo>
                <a:lnTo>
                  <a:pt x="1652700" y="32771"/>
                </a:lnTo>
                <a:lnTo>
                  <a:pt x="1656917" y="53657"/>
                </a:lnTo>
                <a:lnTo>
                  <a:pt x="1656917" y="375774"/>
                </a:lnTo>
                <a:lnTo>
                  <a:pt x="1652700" y="396660"/>
                </a:lnTo>
                <a:lnTo>
                  <a:pt x="1641201" y="413716"/>
                </a:lnTo>
                <a:lnTo>
                  <a:pt x="1624145" y="425216"/>
                </a:lnTo>
                <a:lnTo>
                  <a:pt x="1603259" y="429432"/>
                </a:lnTo>
                <a:lnTo>
                  <a:pt x="53657" y="429432"/>
                </a:lnTo>
                <a:lnTo>
                  <a:pt x="32771" y="425216"/>
                </a:lnTo>
                <a:lnTo>
                  <a:pt x="15715" y="413716"/>
                </a:lnTo>
                <a:lnTo>
                  <a:pt x="4216" y="396660"/>
                </a:lnTo>
                <a:lnTo>
                  <a:pt x="0" y="375774"/>
                </a:lnTo>
                <a:lnTo>
                  <a:pt x="0" y="53657"/>
                </a:lnTo>
                <a:close/>
              </a:path>
            </a:pathLst>
          </a:custGeom>
          <a:ln w="12699">
            <a:solidFill>
              <a:srgbClr val="000000"/>
            </a:solidFill>
          </a:ln>
        </p:spPr>
        <p:txBody>
          <a:bodyPr wrap="square" lIns="0" tIns="0" rIns="0" bIns="0" rtlCol="0"/>
          <a:lstStyle/>
          <a:p>
            <a:endParaRPr/>
          </a:p>
        </p:txBody>
      </p:sp>
      <p:sp>
        <p:nvSpPr>
          <p:cNvPr id="35" name="object 35"/>
          <p:cNvSpPr/>
          <p:nvPr/>
        </p:nvSpPr>
        <p:spPr>
          <a:xfrm>
            <a:off x="1551138" y="4529629"/>
            <a:ext cx="1590675" cy="379730"/>
          </a:xfrm>
          <a:custGeom>
            <a:avLst/>
            <a:gdLst/>
            <a:ahLst/>
            <a:cxnLst/>
            <a:rect l="l" t="t" r="r" b="b"/>
            <a:pathLst>
              <a:path w="1590675" h="379729">
                <a:moveTo>
                  <a:pt x="0" y="47386"/>
                </a:moveTo>
                <a:lnTo>
                  <a:pt x="3723" y="28941"/>
                </a:lnTo>
                <a:lnTo>
                  <a:pt x="13879" y="13879"/>
                </a:lnTo>
                <a:lnTo>
                  <a:pt x="28941" y="3723"/>
                </a:lnTo>
                <a:lnTo>
                  <a:pt x="47385" y="0"/>
                </a:lnTo>
                <a:lnTo>
                  <a:pt x="1542721" y="0"/>
                </a:lnTo>
                <a:lnTo>
                  <a:pt x="1561166" y="3723"/>
                </a:lnTo>
                <a:lnTo>
                  <a:pt x="1576228" y="13879"/>
                </a:lnTo>
                <a:lnTo>
                  <a:pt x="1586383" y="28941"/>
                </a:lnTo>
                <a:lnTo>
                  <a:pt x="1590107" y="47386"/>
                </a:lnTo>
                <a:lnTo>
                  <a:pt x="1590107" y="331853"/>
                </a:lnTo>
                <a:lnTo>
                  <a:pt x="1586383" y="350298"/>
                </a:lnTo>
                <a:lnTo>
                  <a:pt x="1576228" y="365360"/>
                </a:lnTo>
                <a:lnTo>
                  <a:pt x="1561166" y="375516"/>
                </a:lnTo>
                <a:lnTo>
                  <a:pt x="1542721" y="379239"/>
                </a:lnTo>
                <a:lnTo>
                  <a:pt x="47385" y="379239"/>
                </a:lnTo>
                <a:lnTo>
                  <a:pt x="28941" y="375516"/>
                </a:lnTo>
                <a:lnTo>
                  <a:pt x="13879" y="365360"/>
                </a:lnTo>
                <a:lnTo>
                  <a:pt x="3723" y="350298"/>
                </a:lnTo>
                <a:lnTo>
                  <a:pt x="0" y="331853"/>
                </a:lnTo>
                <a:lnTo>
                  <a:pt x="0" y="47386"/>
                </a:lnTo>
                <a:close/>
              </a:path>
            </a:pathLst>
          </a:custGeom>
          <a:ln w="12699">
            <a:solidFill>
              <a:srgbClr val="000000"/>
            </a:solidFill>
          </a:ln>
        </p:spPr>
        <p:txBody>
          <a:bodyPr wrap="square" lIns="0" tIns="0" rIns="0" bIns="0" rtlCol="0"/>
          <a:lstStyle/>
          <a:p>
            <a:endParaRPr/>
          </a:p>
        </p:txBody>
      </p:sp>
      <p:sp>
        <p:nvSpPr>
          <p:cNvPr id="36" name="object 36"/>
          <p:cNvSpPr/>
          <p:nvPr/>
        </p:nvSpPr>
        <p:spPr>
          <a:xfrm>
            <a:off x="1763264" y="5546046"/>
            <a:ext cx="788670" cy="256540"/>
          </a:xfrm>
          <a:custGeom>
            <a:avLst/>
            <a:gdLst/>
            <a:ahLst/>
            <a:cxnLst/>
            <a:rect l="l" t="t" r="r" b="b"/>
            <a:pathLst>
              <a:path w="788669" h="256539">
                <a:moveTo>
                  <a:pt x="0" y="32055"/>
                </a:moveTo>
                <a:lnTo>
                  <a:pt x="2519" y="19577"/>
                </a:lnTo>
                <a:lnTo>
                  <a:pt x="9388" y="9388"/>
                </a:lnTo>
                <a:lnTo>
                  <a:pt x="19577" y="2519"/>
                </a:lnTo>
                <a:lnTo>
                  <a:pt x="32055" y="0"/>
                </a:lnTo>
                <a:lnTo>
                  <a:pt x="756317" y="0"/>
                </a:lnTo>
                <a:lnTo>
                  <a:pt x="768794" y="2519"/>
                </a:lnTo>
                <a:lnTo>
                  <a:pt x="778984" y="9388"/>
                </a:lnTo>
                <a:lnTo>
                  <a:pt x="785853" y="19577"/>
                </a:lnTo>
                <a:lnTo>
                  <a:pt x="788372" y="32055"/>
                </a:lnTo>
                <a:lnTo>
                  <a:pt x="788372" y="224488"/>
                </a:lnTo>
                <a:lnTo>
                  <a:pt x="785853" y="236966"/>
                </a:lnTo>
                <a:lnTo>
                  <a:pt x="778984" y="247155"/>
                </a:lnTo>
                <a:lnTo>
                  <a:pt x="768794" y="254024"/>
                </a:lnTo>
                <a:lnTo>
                  <a:pt x="756317" y="256543"/>
                </a:lnTo>
                <a:lnTo>
                  <a:pt x="32055" y="256543"/>
                </a:lnTo>
                <a:lnTo>
                  <a:pt x="19577" y="254024"/>
                </a:lnTo>
                <a:lnTo>
                  <a:pt x="9388" y="247155"/>
                </a:lnTo>
                <a:lnTo>
                  <a:pt x="2519" y="236966"/>
                </a:lnTo>
                <a:lnTo>
                  <a:pt x="0" y="224488"/>
                </a:lnTo>
                <a:lnTo>
                  <a:pt x="0" y="32055"/>
                </a:lnTo>
                <a:close/>
              </a:path>
            </a:pathLst>
          </a:custGeom>
          <a:ln w="12699">
            <a:solidFill>
              <a:srgbClr val="000000"/>
            </a:solidFill>
          </a:ln>
        </p:spPr>
        <p:txBody>
          <a:bodyPr wrap="square" lIns="0" tIns="0" rIns="0" bIns="0" rtlCol="0"/>
          <a:lstStyle/>
          <a:p>
            <a:endParaRPr/>
          </a:p>
        </p:txBody>
      </p:sp>
      <p:sp>
        <p:nvSpPr>
          <p:cNvPr id="37" name="object 37"/>
          <p:cNvSpPr/>
          <p:nvPr/>
        </p:nvSpPr>
        <p:spPr>
          <a:xfrm>
            <a:off x="5531416" y="5947595"/>
            <a:ext cx="868680" cy="226060"/>
          </a:xfrm>
          <a:custGeom>
            <a:avLst/>
            <a:gdLst/>
            <a:ahLst/>
            <a:cxnLst/>
            <a:rect l="l" t="t" r="r" b="b"/>
            <a:pathLst>
              <a:path w="868679" h="226060">
                <a:moveTo>
                  <a:pt x="0" y="28222"/>
                </a:moveTo>
                <a:lnTo>
                  <a:pt x="2217" y="17237"/>
                </a:lnTo>
                <a:lnTo>
                  <a:pt x="8266" y="8266"/>
                </a:lnTo>
                <a:lnTo>
                  <a:pt x="17237" y="2217"/>
                </a:lnTo>
                <a:lnTo>
                  <a:pt x="28223" y="0"/>
                </a:lnTo>
                <a:lnTo>
                  <a:pt x="840322" y="0"/>
                </a:lnTo>
                <a:lnTo>
                  <a:pt x="851308" y="2217"/>
                </a:lnTo>
                <a:lnTo>
                  <a:pt x="860279" y="8266"/>
                </a:lnTo>
                <a:lnTo>
                  <a:pt x="866327" y="17237"/>
                </a:lnTo>
                <a:lnTo>
                  <a:pt x="868545" y="28222"/>
                </a:lnTo>
                <a:lnTo>
                  <a:pt x="868545" y="197647"/>
                </a:lnTo>
                <a:lnTo>
                  <a:pt x="866327" y="208633"/>
                </a:lnTo>
                <a:lnTo>
                  <a:pt x="860279" y="217604"/>
                </a:lnTo>
                <a:lnTo>
                  <a:pt x="851308" y="223653"/>
                </a:lnTo>
                <a:lnTo>
                  <a:pt x="840322" y="225870"/>
                </a:lnTo>
                <a:lnTo>
                  <a:pt x="28223" y="225870"/>
                </a:lnTo>
                <a:lnTo>
                  <a:pt x="17237" y="223653"/>
                </a:lnTo>
                <a:lnTo>
                  <a:pt x="8266" y="217604"/>
                </a:lnTo>
                <a:lnTo>
                  <a:pt x="2217" y="208633"/>
                </a:lnTo>
                <a:lnTo>
                  <a:pt x="0" y="197647"/>
                </a:lnTo>
                <a:lnTo>
                  <a:pt x="0" y="28222"/>
                </a:lnTo>
                <a:close/>
              </a:path>
            </a:pathLst>
          </a:custGeom>
          <a:ln w="12699">
            <a:solidFill>
              <a:srgbClr val="000000"/>
            </a:solidFill>
          </a:ln>
        </p:spPr>
        <p:txBody>
          <a:bodyPr wrap="square" lIns="0" tIns="0" rIns="0" bIns="0" rtlCol="0"/>
          <a:lstStyle/>
          <a:p>
            <a:endParaRPr/>
          </a:p>
        </p:txBody>
      </p:sp>
      <p:sp>
        <p:nvSpPr>
          <p:cNvPr id="38" name="object 38"/>
          <p:cNvSpPr/>
          <p:nvPr/>
        </p:nvSpPr>
        <p:spPr>
          <a:xfrm>
            <a:off x="4195525" y="5977496"/>
            <a:ext cx="164696" cy="139577"/>
          </a:xfrm>
          <a:prstGeom prst="rect">
            <a:avLst/>
          </a:prstGeom>
          <a:blipFill>
            <a:blip r:embed="rId12" cstate="print"/>
            <a:stretch>
              <a:fillRect/>
            </a:stretch>
          </a:blipFill>
        </p:spPr>
        <p:txBody>
          <a:bodyPr wrap="square" lIns="0" tIns="0" rIns="0" bIns="0" rtlCol="0"/>
          <a:lstStyle/>
          <a:p>
            <a:endParaRPr/>
          </a:p>
        </p:txBody>
      </p:sp>
      <p:sp>
        <p:nvSpPr>
          <p:cNvPr id="39" name="object 39"/>
          <p:cNvSpPr/>
          <p:nvPr/>
        </p:nvSpPr>
        <p:spPr>
          <a:xfrm>
            <a:off x="4126712" y="5921104"/>
            <a:ext cx="302895" cy="252729"/>
          </a:xfrm>
          <a:custGeom>
            <a:avLst/>
            <a:gdLst/>
            <a:ahLst/>
            <a:cxnLst/>
            <a:rect l="l" t="t" r="r" b="b"/>
            <a:pathLst>
              <a:path w="302895" h="252729">
                <a:moveTo>
                  <a:pt x="0" y="126180"/>
                </a:moveTo>
                <a:lnTo>
                  <a:pt x="7706" y="86298"/>
                </a:lnTo>
                <a:lnTo>
                  <a:pt x="29165" y="51660"/>
                </a:lnTo>
                <a:lnTo>
                  <a:pt x="61886" y="24345"/>
                </a:lnTo>
                <a:lnTo>
                  <a:pt x="103381" y="6432"/>
                </a:lnTo>
                <a:lnTo>
                  <a:pt x="151160" y="0"/>
                </a:lnTo>
                <a:lnTo>
                  <a:pt x="198938" y="6432"/>
                </a:lnTo>
                <a:lnTo>
                  <a:pt x="240433" y="24345"/>
                </a:lnTo>
                <a:lnTo>
                  <a:pt x="273154" y="51660"/>
                </a:lnTo>
                <a:lnTo>
                  <a:pt x="294613" y="86298"/>
                </a:lnTo>
                <a:lnTo>
                  <a:pt x="302319" y="126180"/>
                </a:lnTo>
                <a:lnTo>
                  <a:pt x="294613" y="166063"/>
                </a:lnTo>
                <a:lnTo>
                  <a:pt x="273154" y="200701"/>
                </a:lnTo>
                <a:lnTo>
                  <a:pt x="240433" y="228016"/>
                </a:lnTo>
                <a:lnTo>
                  <a:pt x="198938" y="245929"/>
                </a:lnTo>
                <a:lnTo>
                  <a:pt x="151160" y="252361"/>
                </a:lnTo>
                <a:lnTo>
                  <a:pt x="103381" y="245929"/>
                </a:lnTo>
                <a:lnTo>
                  <a:pt x="61886" y="228016"/>
                </a:lnTo>
                <a:lnTo>
                  <a:pt x="29165" y="200701"/>
                </a:lnTo>
                <a:lnTo>
                  <a:pt x="7706" y="166063"/>
                </a:lnTo>
                <a:lnTo>
                  <a:pt x="0" y="126180"/>
                </a:lnTo>
                <a:close/>
              </a:path>
            </a:pathLst>
          </a:custGeom>
          <a:ln w="25399">
            <a:solidFill>
              <a:srgbClr val="000000"/>
            </a:solidFill>
          </a:ln>
        </p:spPr>
        <p:txBody>
          <a:bodyPr wrap="square" lIns="0" tIns="0" rIns="0" bIns="0" rtlCol="0"/>
          <a:lstStyle/>
          <a:p>
            <a:endParaRPr/>
          </a:p>
        </p:txBody>
      </p:sp>
      <p:sp>
        <p:nvSpPr>
          <p:cNvPr id="40" name="object 40"/>
          <p:cNvSpPr/>
          <p:nvPr/>
        </p:nvSpPr>
        <p:spPr>
          <a:xfrm>
            <a:off x="4454432" y="6046588"/>
            <a:ext cx="1035685" cy="0"/>
          </a:xfrm>
          <a:custGeom>
            <a:avLst/>
            <a:gdLst/>
            <a:ahLst/>
            <a:cxnLst/>
            <a:rect l="l" t="t" r="r" b="b"/>
            <a:pathLst>
              <a:path w="1035685">
                <a:moveTo>
                  <a:pt x="1035228" y="0"/>
                </a:moveTo>
                <a:lnTo>
                  <a:pt x="0" y="0"/>
                </a:lnTo>
              </a:path>
            </a:pathLst>
          </a:custGeom>
          <a:ln w="9524">
            <a:solidFill>
              <a:srgbClr val="000000"/>
            </a:solidFill>
          </a:ln>
        </p:spPr>
        <p:txBody>
          <a:bodyPr wrap="square" lIns="0" tIns="0" rIns="0" bIns="0" rtlCol="0"/>
          <a:lstStyle/>
          <a:p>
            <a:endParaRPr/>
          </a:p>
        </p:txBody>
      </p:sp>
      <p:sp>
        <p:nvSpPr>
          <p:cNvPr id="41" name="object 41"/>
          <p:cNvSpPr/>
          <p:nvPr/>
        </p:nvSpPr>
        <p:spPr>
          <a:xfrm>
            <a:off x="4429032" y="6008488"/>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42" name="object 42"/>
          <p:cNvSpPr/>
          <p:nvPr/>
        </p:nvSpPr>
        <p:spPr>
          <a:xfrm>
            <a:off x="1487487" y="4489662"/>
            <a:ext cx="1512570" cy="576580"/>
          </a:xfrm>
          <a:custGeom>
            <a:avLst/>
            <a:gdLst/>
            <a:ahLst/>
            <a:cxnLst/>
            <a:rect l="l" t="t" r="r" b="b"/>
            <a:pathLst>
              <a:path w="1512570" h="576579">
                <a:moveTo>
                  <a:pt x="756084" y="0"/>
                </a:moveTo>
                <a:lnTo>
                  <a:pt x="687265" y="1177"/>
                </a:lnTo>
                <a:lnTo>
                  <a:pt x="620177" y="4640"/>
                </a:lnTo>
                <a:lnTo>
                  <a:pt x="555087" y="10288"/>
                </a:lnTo>
                <a:lnTo>
                  <a:pt x="492262" y="18019"/>
                </a:lnTo>
                <a:lnTo>
                  <a:pt x="431968" y="27732"/>
                </a:lnTo>
                <a:lnTo>
                  <a:pt x="374474" y="39324"/>
                </a:lnTo>
                <a:lnTo>
                  <a:pt x="320045" y="52694"/>
                </a:lnTo>
                <a:lnTo>
                  <a:pt x="268948" y="67741"/>
                </a:lnTo>
                <a:lnTo>
                  <a:pt x="221452" y="84362"/>
                </a:lnTo>
                <a:lnTo>
                  <a:pt x="177821" y="102456"/>
                </a:lnTo>
                <a:lnTo>
                  <a:pt x="138324" y="121921"/>
                </a:lnTo>
                <a:lnTo>
                  <a:pt x="103227" y="142656"/>
                </a:lnTo>
                <a:lnTo>
                  <a:pt x="47302" y="187528"/>
                </a:lnTo>
                <a:lnTo>
                  <a:pt x="12181" y="236257"/>
                </a:lnTo>
                <a:lnTo>
                  <a:pt x="0" y="288032"/>
                </a:lnTo>
                <a:lnTo>
                  <a:pt x="3089" y="314248"/>
                </a:lnTo>
                <a:lnTo>
                  <a:pt x="27008" y="364602"/>
                </a:lnTo>
                <a:lnTo>
                  <a:pt x="72798" y="411504"/>
                </a:lnTo>
                <a:lnTo>
                  <a:pt x="138324" y="454142"/>
                </a:lnTo>
                <a:lnTo>
                  <a:pt x="177821" y="473607"/>
                </a:lnTo>
                <a:lnTo>
                  <a:pt x="221452" y="491701"/>
                </a:lnTo>
                <a:lnTo>
                  <a:pt x="268948" y="508322"/>
                </a:lnTo>
                <a:lnTo>
                  <a:pt x="320045" y="523369"/>
                </a:lnTo>
                <a:lnTo>
                  <a:pt x="374474" y="536739"/>
                </a:lnTo>
                <a:lnTo>
                  <a:pt x="431968" y="548331"/>
                </a:lnTo>
                <a:lnTo>
                  <a:pt x="492262" y="558044"/>
                </a:lnTo>
                <a:lnTo>
                  <a:pt x="555087" y="565775"/>
                </a:lnTo>
                <a:lnTo>
                  <a:pt x="620177" y="571423"/>
                </a:lnTo>
                <a:lnTo>
                  <a:pt x="687265" y="574887"/>
                </a:lnTo>
                <a:lnTo>
                  <a:pt x="756084" y="576064"/>
                </a:lnTo>
                <a:lnTo>
                  <a:pt x="824903" y="574887"/>
                </a:lnTo>
                <a:lnTo>
                  <a:pt x="891991" y="571423"/>
                </a:lnTo>
                <a:lnTo>
                  <a:pt x="957081" y="565775"/>
                </a:lnTo>
                <a:lnTo>
                  <a:pt x="1019906" y="558044"/>
                </a:lnTo>
                <a:lnTo>
                  <a:pt x="1080199" y="548331"/>
                </a:lnTo>
                <a:lnTo>
                  <a:pt x="1137694" y="536739"/>
                </a:lnTo>
                <a:lnTo>
                  <a:pt x="1182825" y="525653"/>
                </a:lnTo>
                <a:lnTo>
                  <a:pt x="756084" y="525653"/>
                </a:lnTo>
                <a:lnTo>
                  <a:pt x="688123" y="524565"/>
                </a:lnTo>
                <a:lnTo>
                  <a:pt x="621990" y="521368"/>
                </a:lnTo>
                <a:lnTo>
                  <a:pt x="557980" y="516161"/>
                </a:lnTo>
                <a:lnTo>
                  <a:pt x="496389" y="509045"/>
                </a:lnTo>
                <a:lnTo>
                  <a:pt x="437513" y="500118"/>
                </a:lnTo>
                <a:lnTo>
                  <a:pt x="381648" y="489480"/>
                </a:lnTo>
                <a:lnTo>
                  <a:pt x="329089" y="477232"/>
                </a:lnTo>
                <a:lnTo>
                  <a:pt x="280133" y="463471"/>
                </a:lnTo>
                <a:lnTo>
                  <a:pt x="235074" y="448298"/>
                </a:lnTo>
                <a:lnTo>
                  <a:pt x="194209" y="431813"/>
                </a:lnTo>
                <a:lnTo>
                  <a:pt x="157833" y="414115"/>
                </a:lnTo>
                <a:lnTo>
                  <a:pt x="99731" y="375478"/>
                </a:lnTo>
                <a:lnTo>
                  <a:pt x="63135" y="333185"/>
                </a:lnTo>
                <a:lnTo>
                  <a:pt x="50411" y="288032"/>
                </a:lnTo>
                <a:lnTo>
                  <a:pt x="53641" y="265147"/>
                </a:lnTo>
                <a:lnTo>
                  <a:pt x="78597" y="221324"/>
                </a:lnTo>
                <a:lnTo>
                  <a:pt x="126241" y="180760"/>
                </a:lnTo>
                <a:lnTo>
                  <a:pt x="194209" y="144250"/>
                </a:lnTo>
                <a:lnTo>
                  <a:pt x="235074" y="127765"/>
                </a:lnTo>
                <a:lnTo>
                  <a:pt x="280133" y="112592"/>
                </a:lnTo>
                <a:lnTo>
                  <a:pt x="329089" y="98832"/>
                </a:lnTo>
                <a:lnTo>
                  <a:pt x="381648" y="86583"/>
                </a:lnTo>
                <a:lnTo>
                  <a:pt x="437513" y="75945"/>
                </a:lnTo>
                <a:lnTo>
                  <a:pt x="496389" y="67018"/>
                </a:lnTo>
                <a:lnTo>
                  <a:pt x="557980" y="59902"/>
                </a:lnTo>
                <a:lnTo>
                  <a:pt x="621990" y="54696"/>
                </a:lnTo>
                <a:lnTo>
                  <a:pt x="688123" y="51499"/>
                </a:lnTo>
                <a:lnTo>
                  <a:pt x="756084" y="50411"/>
                </a:lnTo>
                <a:lnTo>
                  <a:pt x="1182826" y="50411"/>
                </a:lnTo>
                <a:lnTo>
                  <a:pt x="1137694" y="39324"/>
                </a:lnTo>
                <a:lnTo>
                  <a:pt x="1080199" y="27732"/>
                </a:lnTo>
                <a:lnTo>
                  <a:pt x="1019906" y="18019"/>
                </a:lnTo>
                <a:lnTo>
                  <a:pt x="957081" y="10288"/>
                </a:lnTo>
                <a:lnTo>
                  <a:pt x="891991" y="4640"/>
                </a:lnTo>
                <a:lnTo>
                  <a:pt x="824903" y="1177"/>
                </a:lnTo>
                <a:lnTo>
                  <a:pt x="756084" y="0"/>
                </a:lnTo>
                <a:close/>
              </a:path>
              <a:path w="1512570" h="576579">
                <a:moveTo>
                  <a:pt x="1182826" y="50411"/>
                </a:moveTo>
                <a:lnTo>
                  <a:pt x="756084" y="50411"/>
                </a:lnTo>
                <a:lnTo>
                  <a:pt x="824045" y="51499"/>
                </a:lnTo>
                <a:lnTo>
                  <a:pt x="890178" y="54696"/>
                </a:lnTo>
                <a:lnTo>
                  <a:pt x="954188" y="59902"/>
                </a:lnTo>
                <a:lnTo>
                  <a:pt x="1015779" y="67018"/>
                </a:lnTo>
                <a:lnTo>
                  <a:pt x="1074654" y="75945"/>
                </a:lnTo>
                <a:lnTo>
                  <a:pt x="1130519" y="86583"/>
                </a:lnTo>
                <a:lnTo>
                  <a:pt x="1183078" y="98832"/>
                </a:lnTo>
                <a:lnTo>
                  <a:pt x="1232035" y="112592"/>
                </a:lnTo>
                <a:lnTo>
                  <a:pt x="1277094" y="127765"/>
                </a:lnTo>
                <a:lnTo>
                  <a:pt x="1317959" y="144250"/>
                </a:lnTo>
                <a:lnTo>
                  <a:pt x="1354335" y="161948"/>
                </a:lnTo>
                <a:lnTo>
                  <a:pt x="1412437" y="200585"/>
                </a:lnTo>
                <a:lnTo>
                  <a:pt x="1449032" y="242878"/>
                </a:lnTo>
                <a:lnTo>
                  <a:pt x="1461757" y="288032"/>
                </a:lnTo>
                <a:lnTo>
                  <a:pt x="1458526" y="310916"/>
                </a:lnTo>
                <a:lnTo>
                  <a:pt x="1433571" y="354739"/>
                </a:lnTo>
                <a:lnTo>
                  <a:pt x="1385926" y="395304"/>
                </a:lnTo>
                <a:lnTo>
                  <a:pt x="1317959" y="431813"/>
                </a:lnTo>
                <a:lnTo>
                  <a:pt x="1277094" y="448298"/>
                </a:lnTo>
                <a:lnTo>
                  <a:pt x="1232035" y="463471"/>
                </a:lnTo>
                <a:lnTo>
                  <a:pt x="1183078" y="477232"/>
                </a:lnTo>
                <a:lnTo>
                  <a:pt x="1130519" y="489480"/>
                </a:lnTo>
                <a:lnTo>
                  <a:pt x="1074654" y="500118"/>
                </a:lnTo>
                <a:lnTo>
                  <a:pt x="1015779" y="509045"/>
                </a:lnTo>
                <a:lnTo>
                  <a:pt x="954188" y="516161"/>
                </a:lnTo>
                <a:lnTo>
                  <a:pt x="890178" y="521368"/>
                </a:lnTo>
                <a:lnTo>
                  <a:pt x="824045" y="524565"/>
                </a:lnTo>
                <a:lnTo>
                  <a:pt x="756084" y="525653"/>
                </a:lnTo>
                <a:lnTo>
                  <a:pt x="1182825" y="525653"/>
                </a:lnTo>
                <a:lnTo>
                  <a:pt x="1243219" y="508322"/>
                </a:lnTo>
                <a:lnTo>
                  <a:pt x="1290715" y="491701"/>
                </a:lnTo>
                <a:lnTo>
                  <a:pt x="1334346" y="473607"/>
                </a:lnTo>
                <a:lnTo>
                  <a:pt x="1373843" y="454142"/>
                </a:lnTo>
                <a:lnTo>
                  <a:pt x="1408939" y="433407"/>
                </a:lnTo>
                <a:lnTo>
                  <a:pt x="1464864" y="388535"/>
                </a:lnTo>
                <a:lnTo>
                  <a:pt x="1499985" y="339806"/>
                </a:lnTo>
                <a:lnTo>
                  <a:pt x="1512167" y="288032"/>
                </a:lnTo>
                <a:lnTo>
                  <a:pt x="1509077" y="261815"/>
                </a:lnTo>
                <a:lnTo>
                  <a:pt x="1485159" y="211461"/>
                </a:lnTo>
                <a:lnTo>
                  <a:pt x="1439369" y="164559"/>
                </a:lnTo>
                <a:lnTo>
                  <a:pt x="1373843" y="121921"/>
                </a:lnTo>
                <a:lnTo>
                  <a:pt x="1334346" y="102456"/>
                </a:lnTo>
                <a:lnTo>
                  <a:pt x="1290715" y="84362"/>
                </a:lnTo>
                <a:lnTo>
                  <a:pt x="1243219" y="67741"/>
                </a:lnTo>
                <a:lnTo>
                  <a:pt x="1192122" y="52694"/>
                </a:lnTo>
                <a:lnTo>
                  <a:pt x="1182826" y="50411"/>
                </a:lnTo>
                <a:close/>
              </a:path>
            </a:pathLst>
          </a:custGeom>
          <a:solidFill>
            <a:srgbClr val="941100"/>
          </a:solidFill>
        </p:spPr>
        <p:txBody>
          <a:bodyPr wrap="square" lIns="0" tIns="0" rIns="0" bIns="0" rtlCol="0"/>
          <a:lstStyle/>
          <a:p>
            <a:endParaRPr/>
          </a:p>
        </p:txBody>
      </p:sp>
      <p:sp>
        <p:nvSpPr>
          <p:cNvPr id="43" name="object 43"/>
          <p:cNvSpPr/>
          <p:nvPr/>
        </p:nvSpPr>
        <p:spPr>
          <a:xfrm>
            <a:off x="1487487" y="4489662"/>
            <a:ext cx="1512570" cy="576580"/>
          </a:xfrm>
          <a:custGeom>
            <a:avLst/>
            <a:gdLst/>
            <a:ahLst/>
            <a:cxnLst/>
            <a:rect l="l" t="t" r="r" b="b"/>
            <a:pathLst>
              <a:path w="1512570" h="576579">
                <a:moveTo>
                  <a:pt x="0" y="288032"/>
                </a:moveTo>
                <a:lnTo>
                  <a:pt x="12181" y="236257"/>
                </a:lnTo>
                <a:lnTo>
                  <a:pt x="47302" y="187528"/>
                </a:lnTo>
                <a:lnTo>
                  <a:pt x="103227" y="142656"/>
                </a:lnTo>
                <a:lnTo>
                  <a:pt x="138324" y="121921"/>
                </a:lnTo>
                <a:lnTo>
                  <a:pt x="177821" y="102456"/>
                </a:lnTo>
                <a:lnTo>
                  <a:pt x="221451" y="84362"/>
                </a:lnTo>
                <a:lnTo>
                  <a:pt x="268948" y="67741"/>
                </a:lnTo>
                <a:lnTo>
                  <a:pt x="320044" y="52695"/>
                </a:lnTo>
                <a:lnTo>
                  <a:pt x="374473" y="39324"/>
                </a:lnTo>
                <a:lnTo>
                  <a:pt x="431968" y="27732"/>
                </a:lnTo>
                <a:lnTo>
                  <a:pt x="492261" y="18020"/>
                </a:lnTo>
                <a:lnTo>
                  <a:pt x="555086" y="10288"/>
                </a:lnTo>
                <a:lnTo>
                  <a:pt x="620176" y="4640"/>
                </a:lnTo>
                <a:lnTo>
                  <a:pt x="687264" y="1177"/>
                </a:lnTo>
                <a:lnTo>
                  <a:pt x="756083" y="0"/>
                </a:lnTo>
                <a:lnTo>
                  <a:pt x="824902" y="1177"/>
                </a:lnTo>
                <a:lnTo>
                  <a:pt x="891990" y="4640"/>
                </a:lnTo>
                <a:lnTo>
                  <a:pt x="957080" y="10288"/>
                </a:lnTo>
                <a:lnTo>
                  <a:pt x="1019906" y="18020"/>
                </a:lnTo>
                <a:lnTo>
                  <a:pt x="1080199" y="27732"/>
                </a:lnTo>
                <a:lnTo>
                  <a:pt x="1137693" y="39324"/>
                </a:lnTo>
                <a:lnTo>
                  <a:pt x="1192122" y="52695"/>
                </a:lnTo>
                <a:lnTo>
                  <a:pt x="1243219" y="67741"/>
                </a:lnTo>
                <a:lnTo>
                  <a:pt x="1290715" y="84362"/>
                </a:lnTo>
                <a:lnTo>
                  <a:pt x="1334346" y="102456"/>
                </a:lnTo>
                <a:lnTo>
                  <a:pt x="1373843" y="121921"/>
                </a:lnTo>
                <a:lnTo>
                  <a:pt x="1408940" y="142656"/>
                </a:lnTo>
                <a:lnTo>
                  <a:pt x="1464865" y="187528"/>
                </a:lnTo>
                <a:lnTo>
                  <a:pt x="1499986" y="236257"/>
                </a:lnTo>
                <a:lnTo>
                  <a:pt x="1512167" y="288032"/>
                </a:lnTo>
                <a:lnTo>
                  <a:pt x="1509077" y="314248"/>
                </a:lnTo>
                <a:lnTo>
                  <a:pt x="1485159" y="364602"/>
                </a:lnTo>
                <a:lnTo>
                  <a:pt x="1439369" y="411504"/>
                </a:lnTo>
                <a:lnTo>
                  <a:pt x="1373843" y="454141"/>
                </a:lnTo>
                <a:lnTo>
                  <a:pt x="1334346" y="473607"/>
                </a:lnTo>
                <a:lnTo>
                  <a:pt x="1290715" y="491701"/>
                </a:lnTo>
                <a:lnTo>
                  <a:pt x="1243219" y="508322"/>
                </a:lnTo>
                <a:lnTo>
                  <a:pt x="1192122" y="523368"/>
                </a:lnTo>
                <a:lnTo>
                  <a:pt x="1137693" y="536738"/>
                </a:lnTo>
                <a:lnTo>
                  <a:pt x="1080199" y="548331"/>
                </a:lnTo>
                <a:lnTo>
                  <a:pt x="1019906" y="558043"/>
                </a:lnTo>
                <a:lnTo>
                  <a:pt x="957080" y="565774"/>
                </a:lnTo>
                <a:lnTo>
                  <a:pt x="891990" y="571423"/>
                </a:lnTo>
                <a:lnTo>
                  <a:pt x="824902" y="574886"/>
                </a:lnTo>
                <a:lnTo>
                  <a:pt x="756083" y="576063"/>
                </a:lnTo>
                <a:lnTo>
                  <a:pt x="687264" y="574886"/>
                </a:lnTo>
                <a:lnTo>
                  <a:pt x="620176" y="571423"/>
                </a:lnTo>
                <a:lnTo>
                  <a:pt x="555086" y="565774"/>
                </a:lnTo>
                <a:lnTo>
                  <a:pt x="492261" y="558043"/>
                </a:lnTo>
                <a:lnTo>
                  <a:pt x="431968" y="548331"/>
                </a:lnTo>
                <a:lnTo>
                  <a:pt x="374473" y="536738"/>
                </a:lnTo>
                <a:lnTo>
                  <a:pt x="320044" y="523368"/>
                </a:lnTo>
                <a:lnTo>
                  <a:pt x="268948" y="508322"/>
                </a:lnTo>
                <a:lnTo>
                  <a:pt x="221451" y="491701"/>
                </a:lnTo>
                <a:lnTo>
                  <a:pt x="177821" y="473607"/>
                </a:lnTo>
                <a:lnTo>
                  <a:pt x="138324" y="454141"/>
                </a:lnTo>
                <a:lnTo>
                  <a:pt x="103227" y="433407"/>
                </a:lnTo>
                <a:lnTo>
                  <a:pt x="47302" y="388535"/>
                </a:lnTo>
                <a:lnTo>
                  <a:pt x="12181" y="339806"/>
                </a:lnTo>
                <a:lnTo>
                  <a:pt x="0" y="288032"/>
                </a:lnTo>
                <a:close/>
              </a:path>
            </a:pathLst>
          </a:custGeom>
          <a:ln w="6349">
            <a:solidFill>
              <a:srgbClr val="941100"/>
            </a:solidFill>
          </a:ln>
        </p:spPr>
        <p:txBody>
          <a:bodyPr wrap="square" lIns="0" tIns="0" rIns="0" bIns="0" rtlCol="0"/>
          <a:lstStyle/>
          <a:p>
            <a:endParaRPr/>
          </a:p>
        </p:txBody>
      </p:sp>
      <p:sp>
        <p:nvSpPr>
          <p:cNvPr id="44" name="object 44"/>
          <p:cNvSpPr/>
          <p:nvPr/>
        </p:nvSpPr>
        <p:spPr>
          <a:xfrm>
            <a:off x="1537898" y="4540072"/>
            <a:ext cx="1411605" cy="475615"/>
          </a:xfrm>
          <a:custGeom>
            <a:avLst/>
            <a:gdLst/>
            <a:ahLst/>
            <a:cxnLst/>
            <a:rect l="l" t="t" r="r" b="b"/>
            <a:pathLst>
              <a:path w="1411605" h="475614">
                <a:moveTo>
                  <a:pt x="0" y="237620"/>
                </a:moveTo>
                <a:lnTo>
                  <a:pt x="12724" y="282774"/>
                </a:lnTo>
                <a:lnTo>
                  <a:pt x="49320" y="325067"/>
                </a:lnTo>
                <a:lnTo>
                  <a:pt x="107421" y="363704"/>
                </a:lnTo>
                <a:lnTo>
                  <a:pt x="143797" y="381402"/>
                </a:lnTo>
                <a:lnTo>
                  <a:pt x="184663" y="397887"/>
                </a:lnTo>
                <a:lnTo>
                  <a:pt x="229721" y="413060"/>
                </a:lnTo>
                <a:lnTo>
                  <a:pt x="278678" y="426820"/>
                </a:lnTo>
                <a:lnTo>
                  <a:pt x="331237" y="439069"/>
                </a:lnTo>
                <a:lnTo>
                  <a:pt x="387102" y="449707"/>
                </a:lnTo>
                <a:lnTo>
                  <a:pt x="445978" y="458634"/>
                </a:lnTo>
                <a:lnTo>
                  <a:pt x="507568" y="465750"/>
                </a:lnTo>
                <a:lnTo>
                  <a:pt x="571578" y="470957"/>
                </a:lnTo>
                <a:lnTo>
                  <a:pt x="637711" y="474154"/>
                </a:lnTo>
                <a:lnTo>
                  <a:pt x="705672" y="475241"/>
                </a:lnTo>
                <a:lnTo>
                  <a:pt x="773633" y="474154"/>
                </a:lnTo>
                <a:lnTo>
                  <a:pt x="839766" y="470957"/>
                </a:lnTo>
                <a:lnTo>
                  <a:pt x="903776" y="465750"/>
                </a:lnTo>
                <a:lnTo>
                  <a:pt x="965367" y="458634"/>
                </a:lnTo>
                <a:lnTo>
                  <a:pt x="1024243" y="449707"/>
                </a:lnTo>
                <a:lnTo>
                  <a:pt x="1080108" y="439069"/>
                </a:lnTo>
                <a:lnTo>
                  <a:pt x="1132666" y="426820"/>
                </a:lnTo>
                <a:lnTo>
                  <a:pt x="1181623" y="413060"/>
                </a:lnTo>
                <a:lnTo>
                  <a:pt x="1226682" y="397887"/>
                </a:lnTo>
                <a:lnTo>
                  <a:pt x="1267547" y="381402"/>
                </a:lnTo>
                <a:lnTo>
                  <a:pt x="1303923" y="363704"/>
                </a:lnTo>
                <a:lnTo>
                  <a:pt x="1362025" y="325067"/>
                </a:lnTo>
                <a:lnTo>
                  <a:pt x="1398621" y="282774"/>
                </a:lnTo>
                <a:lnTo>
                  <a:pt x="1411345" y="237620"/>
                </a:lnTo>
                <a:lnTo>
                  <a:pt x="1408115" y="214736"/>
                </a:lnTo>
                <a:lnTo>
                  <a:pt x="1383159" y="170913"/>
                </a:lnTo>
                <a:lnTo>
                  <a:pt x="1335515" y="130348"/>
                </a:lnTo>
                <a:lnTo>
                  <a:pt x="1267547" y="93839"/>
                </a:lnTo>
                <a:lnTo>
                  <a:pt x="1226682" y="77354"/>
                </a:lnTo>
                <a:lnTo>
                  <a:pt x="1181623" y="62181"/>
                </a:lnTo>
                <a:lnTo>
                  <a:pt x="1132666" y="48420"/>
                </a:lnTo>
                <a:lnTo>
                  <a:pt x="1080108" y="36172"/>
                </a:lnTo>
                <a:lnTo>
                  <a:pt x="1024243" y="25534"/>
                </a:lnTo>
                <a:lnTo>
                  <a:pt x="965367" y="16607"/>
                </a:lnTo>
                <a:lnTo>
                  <a:pt x="903776" y="9491"/>
                </a:lnTo>
                <a:lnTo>
                  <a:pt x="839766" y="4284"/>
                </a:lnTo>
                <a:lnTo>
                  <a:pt x="773633" y="1087"/>
                </a:lnTo>
                <a:lnTo>
                  <a:pt x="705672" y="0"/>
                </a:lnTo>
                <a:lnTo>
                  <a:pt x="637711" y="1087"/>
                </a:lnTo>
                <a:lnTo>
                  <a:pt x="571578" y="4284"/>
                </a:lnTo>
                <a:lnTo>
                  <a:pt x="507568" y="9491"/>
                </a:lnTo>
                <a:lnTo>
                  <a:pt x="445978" y="16607"/>
                </a:lnTo>
                <a:lnTo>
                  <a:pt x="387102" y="25534"/>
                </a:lnTo>
                <a:lnTo>
                  <a:pt x="331237" y="36172"/>
                </a:lnTo>
                <a:lnTo>
                  <a:pt x="278678" y="48420"/>
                </a:lnTo>
                <a:lnTo>
                  <a:pt x="229721" y="62181"/>
                </a:lnTo>
                <a:lnTo>
                  <a:pt x="184663" y="77354"/>
                </a:lnTo>
                <a:lnTo>
                  <a:pt x="143797" y="93839"/>
                </a:lnTo>
                <a:lnTo>
                  <a:pt x="107421" y="111537"/>
                </a:lnTo>
                <a:lnTo>
                  <a:pt x="49320" y="150174"/>
                </a:lnTo>
                <a:lnTo>
                  <a:pt x="12724" y="192467"/>
                </a:lnTo>
                <a:lnTo>
                  <a:pt x="0" y="237620"/>
                </a:lnTo>
                <a:close/>
              </a:path>
            </a:pathLst>
          </a:custGeom>
          <a:ln w="6349">
            <a:solidFill>
              <a:srgbClr val="941100"/>
            </a:solidFill>
          </a:ln>
        </p:spPr>
        <p:txBody>
          <a:bodyPr wrap="square" lIns="0" tIns="0" rIns="0" bIns="0" rtlCol="0"/>
          <a:lstStyle/>
          <a:p>
            <a:endParaRPr/>
          </a:p>
        </p:txBody>
      </p:sp>
      <p:sp>
        <p:nvSpPr>
          <p:cNvPr id="45" name="object 45"/>
          <p:cNvSpPr/>
          <p:nvPr/>
        </p:nvSpPr>
        <p:spPr>
          <a:xfrm>
            <a:off x="4943871" y="4489662"/>
            <a:ext cx="1656714" cy="576580"/>
          </a:xfrm>
          <a:custGeom>
            <a:avLst/>
            <a:gdLst/>
            <a:ahLst/>
            <a:cxnLst/>
            <a:rect l="l" t="t" r="r" b="b"/>
            <a:pathLst>
              <a:path w="1656715" h="576579">
                <a:moveTo>
                  <a:pt x="828092" y="0"/>
                </a:moveTo>
                <a:lnTo>
                  <a:pt x="760175" y="954"/>
                </a:lnTo>
                <a:lnTo>
                  <a:pt x="693771" y="3769"/>
                </a:lnTo>
                <a:lnTo>
                  <a:pt x="629092" y="8370"/>
                </a:lnTo>
                <a:lnTo>
                  <a:pt x="566351" y="14684"/>
                </a:lnTo>
                <a:lnTo>
                  <a:pt x="505761" y="22634"/>
                </a:lnTo>
                <a:lnTo>
                  <a:pt x="447536" y="32149"/>
                </a:lnTo>
                <a:lnTo>
                  <a:pt x="391888" y="43153"/>
                </a:lnTo>
                <a:lnTo>
                  <a:pt x="339031" y="55573"/>
                </a:lnTo>
                <a:lnTo>
                  <a:pt x="289178" y="69334"/>
                </a:lnTo>
                <a:lnTo>
                  <a:pt x="242542" y="84362"/>
                </a:lnTo>
                <a:lnTo>
                  <a:pt x="199336" y="100583"/>
                </a:lnTo>
                <a:lnTo>
                  <a:pt x="159773" y="117923"/>
                </a:lnTo>
                <a:lnTo>
                  <a:pt x="124067" y="136308"/>
                </a:lnTo>
                <a:lnTo>
                  <a:pt x="65075" y="175916"/>
                </a:lnTo>
                <a:lnTo>
                  <a:pt x="24066" y="218814"/>
                </a:lnTo>
                <a:lnTo>
                  <a:pt x="2745" y="264408"/>
                </a:lnTo>
                <a:lnTo>
                  <a:pt x="0" y="288032"/>
                </a:lnTo>
                <a:lnTo>
                  <a:pt x="2745" y="311655"/>
                </a:lnTo>
                <a:lnTo>
                  <a:pt x="24066" y="357249"/>
                </a:lnTo>
                <a:lnTo>
                  <a:pt x="65075" y="400147"/>
                </a:lnTo>
                <a:lnTo>
                  <a:pt x="124067" y="439754"/>
                </a:lnTo>
                <a:lnTo>
                  <a:pt x="159773" y="458139"/>
                </a:lnTo>
                <a:lnTo>
                  <a:pt x="199336" y="475480"/>
                </a:lnTo>
                <a:lnTo>
                  <a:pt x="242542" y="491701"/>
                </a:lnTo>
                <a:lnTo>
                  <a:pt x="289178" y="506729"/>
                </a:lnTo>
                <a:lnTo>
                  <a:pt x="339031" y="520490"/>
                </a:lnTo>
                <a:lnTo>
                  <a:pt x="391888" y="532910"/>
                </a:lnTo>
                <a:lnTo>
                  <a:pt x="447536" y="543914"/>
                </a:lnTo>
                <a:lnTo>
                  <a:pt x="505761" y="553429"/>
                </a:lnTo>
                <a:lnTo>
                  <a:pt x="566351" y="561380"/>
                </a:lnTo>
                <a:lnTo>
                  <a:pt x="629092" y="567693"/>
                </a:lnTo>
                <a:lnTo>
                  <a:pt x="693771" y="572294"/>
                </a:lnTo>
                <a:lnTo>
                  <a:pt x="760175" y="575109"/>
                </a:lnTo>
                <a:lnTo>
                  <a:pt x="828092" y="576064"/>
                </a:lnTo>
                <a:lnTo>
                  <a:pt x="896008" y="575109"/>
                </a:lnTo>
                <a:lnTo>
                  <a:pt x="962412" y="572294"/>
                </a:lnTo>
                <a:lnTo>
                  <a:pt x="1027091" y="567693"/>
                </a:lnTo>
                <a:lnTo>
                  <a:pt x="1089832" y="561380"/>
                </a:lnTo>
                <a:lnTo>
                  <a:pt x="1150422" y="553429"/>
                </a:lnTo>
                <a:lnTo>
                  <a:pt x="1208647" y="543914"/>
                </a:lnTo>
                <a:lnTo>
                  <a:pt x="1264295" y="532910"/>
                </a:lnTo>
                <a:lnTo>
                  <a:pt x="1295181" y="525653"/>
                </a:lnTo>
                <a:lnTo>
                  <a:pt x="828092" y="525653"/>
                </a:lnTo>
                <a:lnTo>
                  <a:pt x="757307" y="524681"/>
                </a:lnTo>
                <a:lnTo>
                  <a:pt x="688302" y="521824"/>
                </a:lnTo>
                <a:lnTo>
                  <a:pt x="621353" y="517164"/>
                </a:lnTo>
                <a:lnTo>
                  <a:pt x="556733" y="510786"/>
                </a:lnTo>
                <a:lnTo>
                  <a:pt x="494718" y="502774"/>
                </a:lnTo>
                <a:lnTo>
                  <a:pt x="435581" y="493210"/>
                </a:lnTo>
                <a:lnTo>
                  <a:pt x="379597" y="482180"/>
                </a:lnTo>
                <a:lnTo>
                  <a:pt x="327041" y="469767"/>
                </a:lnTo>
                <a:lnTo>
                  <a:pt x="278188" y="456055"/>
                </a:lnTo>
                <a:lnTo>
                  <a:pt x="233311" y="441128"/>
                </a:lnTo>
                <a:lnTo>
                  <a:pt x="192686" y="425069"/>
                </a:lnTo>
                <a:lnTo>
                  <a:pt x="156586" y="407963"/>
                </a:lnTo>
                <a:lnTo>
                  <a:pt x="99063" y="370945"/>
                </a:lnTo>
                <a:lnTo>
                  <a:pt x="62939" y="330744"/>
                </a:lnTo>
                <a:lnTo>
                  <a:pt x="50410" y="288032"/>
                </a:lnTo>
                <a:lnTo>
                  <a:pt x="53588" y="266403"/>
                </a:lnTo>
                <a:lnTo>
                  <a:pt x="78189" y="224863"/>
                </a:lnTo>
                <a:lnTo>
                  <a:pt x="125287" y="186169"/>
                </a:lnTo>
                <a:lnTo>
                  <a:pt x="192686" y="150994"/>
                </a:lnTo>
                <a:lnTo>
                  <a:pt x="233311" y="134936"/>
                </a:lnTo>
                <a:lnTo>
                  <a:pt x="278188" y="120008"/>
                </a:lnTo>
                <a:lnTo>
                  <a:pt x="327041" y="106296"/>
                </a:lnTo>
                <a:lnTo>
                  <a:pt x="379597" y="93883"/>
                </a:lnTo>
                <a:lnTo>
                  <a:pt x="435581" y="82853"/>
                </a:lnTo>
                <a:lnTo>
                  <a:pt x="494718" y="73290"/>
                </a:lnTo>
                <a:lnTo>
                  <a:pt x="556733" y="65277"/>
                </a:lnTo>
                <a:lnTo>
                  <a:pt x="621353" y="58899"/>
                </a:lnTo>
                <a:lnTo>
                  <a:pt x="688302" y="54239"/>
                </a:lnTo>
                <a:lnTo>
                  <a:pt x="757307" y="51382"/>
                </a:lnTo>
                <a:lnTo>
                  <a:pt x="828092" y="50411"/>
                </a:lnTo>
                <a:lnTo>
                  <a:pt x="1295183" y="50411"/>
                </a:lnTo>
                <a:lnTo>
                  <a:pt x="1264295" y="43153"/>
                </a:lnTo>
                <a:lnTo>
                  <a:pt x="1208647" y="32149"/>
                </a:lnTo>
                <a:lnTo>
                  <a:pt x="1150422" y="22634"/>
                </a:lnTo>
                <a:lnTo>
                  <a:pt x="1089832" y="14684"/>
                </a:lnTo>
                <a:lnTo>
                  <a:pt x="1027091" y="8370"/>
                </a:lnTo>
                <a:lnTo>
                  <a:pt x="962412" y="3769"/>
                </a:lnTo>
                <a:lnTo>
                  <a:pt x="896008" y="954"/>
                </a:lnTo>
                <a:lnTo>
                  <a:pt x="828092" y="0"/>
                </a:lnTo>
                <a:close/>
              </a:path>
              <a:path w="1656715" h="576579">
                <a:moveTo>
                  <a:pt x="1295183" y="50411"/>
                </a:moveTo>
                <a:lnTo>
                  <a:pt x="828092" y="50411"/>
                </a:lnTo>
                <a:lnTo>
                  <a:pt x="898876" y="51382"/>
                </a:lnTo>
                <a:lnTo>
                  <a:pt x="967881" y="54239"/>
                </a:lnTo>
                <a:lnTo>
                  <a:pt x="1034830" y="58899"/>
                </a:lnTo>
                <a:lnTo>
                  <a:pt x="1099450" y="65277"/>
                </a:lnTo>
                <a:lnTo>
                  <a:pt x="1161465" y="73290"/>
                </a:lnTo>
                <a:lnTo>
                  <a:pt x="1220602" y="82853"/>
                </a:lnTo>
                <a:lnTo>
                  <a:pt x="1276586" y="93883"/>
                </a:lnTo>
                <a:lnTo>
                  <a:pt x="1329141" y="106296"/>
                </a:lnTo>
                <a:lnTo>
                  <a:pt x="1377995" y="120008"/>
                </a:lnTo>
                <a:lnTo>
                  <a:pt x="1422872" y="134936"/>
                </a:lnTo>
                <a:lnTo>
                  <a:pt x="1463497" y="150994"/>
                </a:lnTo>
                <a:lnTo>
                  <a:pt x="1499596" y="168100"/>
                </a:lnTo>
                <a:lnTo>
                  <a:pt x="1557119" y="205118"/>
                </a:lnTo>
                <a:lnTo>
                  <a:pt x="1593243" y="245319"/>
                </a:lnTo>
                <a:lnTo>
                  <a:pt x="1605772" y="288032"/>
                </a:lnTo>
                <a:lnTo>
                  <a:pt x="1602594" y="309660"/>
                </a:lnTo>
                <a:lnTo>
                  <a:pt x="1577993" y="351201"/>
                </a:lnTo>
                <a:lnTo>
                  <a:pt x="1530895" y="389894"/>
                </a:lnTo>
                <a:lnTo>
                  <a:pt x="1463497" y="425069"/>
                </a:lnTo>
                <a:lnTo>
                  <a:pt x="1422872" y="441128"/>
                </a:lnTo>
                <a:lnTo>
                  <a:pt x="1377995" y="456055"/>
                </a:lnTo>
                <a:lnTo>
                  <a:pt x="1329141" y="469767"/>
                </a:lnTo>
                <a:lnTo>
                  <a:pt x="1276586" y="482180"/>
                </a:lnTo>
                <a:lnTo>
                  <a:pt x="1220602" y="493210"/>
                </a:lnTo>
                <a:lnTo>
                  <a:pt x="1161465" y="502774"/>
                </a:lnTo>
                <a:lnTo>
                  <a:pt x="1099450" y="510786"/>
                </a:lnTo>
                <a:lnTo>
                  <a:pt x="1034830" y="517164"/>
                </a:lnTo>
                <a:lnTo>
                  <a:pt x="967881" y="521824"/>
                </a:lnTo>
                <a:lnTo>
                  <a:pt x="898876" y="524681"/>
                </a:lnTo>
                <a:lnTo>
                  <a:pt x="828092" y="525653"/>
                </a:lnTo>
                <a:lnTo>
                  <a:pt x="1295181" y="525653"/>
                </a:lnTo>
                <a:lnTo>
                  <a:pt x="1367004" y="506729"/>
                </a:lnTo>
                <a:lnTo>
                  <a:pt x="1413640" y="491701"/>
                </a:lnTo>
                <a:lnTo>
                  <a:pt x="1456846" y="475480"/>
                </a:lnTo>
                <a:lnTo>
                  <a:pt x="1496409" y="458139"/>
                </a:lnTo>
                <a:lnTo>
                  <a:pt x="1532115" y="439754"/>
                </a:lnTo>
                <a:lnTo>
                  <a:pt x="1591107" y="400147"/>
                </a:lnTo>
                <a:lnTo>
                  <a:pt x="1632116" y="357249"/>
                </a:lnTo>
                <a:lnTo>
                  <a:pt x="1653437" y="311655"/>
                </a:lnTo>
                <a:lnTo>
                  <a:pt x="1656182" y="288032"/>
                </a:lnTo>
                <a:lnTo>
                  <a:pt x="1653437" y="264408"/>
                </a:lnTo>
                <a:lnTo>
                  <a:pt x="1632116" y="218814"/>
                </a:lnTo>
                <a:lnTo>
                  <a:pt x="1591107" y="175916"/>
                </a:lnTo>
                <a:lnTo>
                  <a:pt x="1532115" y="136308"/>
                </a:lnTo>
                <a:lnTo>
                  <a:pt x="1496409" y="117923"/>
                </a:lnTo>
                <a:lnTo>
                  <a:pt x="1456846" y="100583"/>
                </a:lnTo>
                <a:lnTo>
                  <a:pt x="1413640" y="84362"/>
                </a:lnTo>
                <a:lnTo>
                  <a:pt x="1367004" y="69334"/>
                </a:lnTo>
                <a:lnTo>
                  <a:pt x="1317151" y="55573"/>
                </a:lnTo>
                <a:lnTo>
                  <a:pt x="1295183" y="50411"/>
                </a:lnTo>
                <a:close/>
              </a:path>
            </a:pathLst>
          </a:custGeom>
          <a:solidFill>
            <a:srgbClr val="941100"/>
          </a:solidFill>
        </p:spPr>
        <p:txBody>
          <a:bodyPr wrap="square" lIns="0" tIns="0" rIns="0" bIns="0" rtlCol="0"/>
          <a:lstStyle/>
          <a:p>
            <a:endParaRPr/>
          </a:p>
        </p:txBody>
      </p:sp>
      <p:sp>
        <p:nvSpPr>
          <p:cNvPr id="46" name="object 46"/>
          <p:cNvSpPr/>
          <p:nvPr/>
        </p:nvSpPr>
        <p:spPr>
          <a:xfrm>
            <a:off x="4943871" y="4489662"/>
            <a:ext cx="1656714" cy="576580"/>
          </a:xfrm>
          <a:custGeom>
            <a:avLst/>
            <a:gdLst/>
            <a:ahLst/>
            <a:cxnLst/>
            <a:rect l="l" t="t" r="r" b="b"/>
            <a:pathLst>
              <a:path w="1656715" h="576579">
                <a:moveTo>
                  <a:pt x="0" y="288032"/>
                </a:moveTo>
                <a:lnTo>
                  <a:pt x="10838" y="241311"/>
                </a:lnTo>
                <a:lnTo>
                  <a:pt x="42216" y="196991"/>
                </a:lnTo>
                <a:lnTo>
                  <a:pt x="92430" y="155664"/>
                </a:lnTo>
                <a:lnTo>
                  <a:pt x="159773" y="117924"/>
                </a:lnTo>
                <a:lnTo>
                  <a:pt x="199336" y="100583"/>
                </a:lnTo>
                <a:lnTo>
                  <a:pt x="242542" y="84362"/>
                </a:lnTo>
                <a:lnTo>
                  <a:pt x="289178" y="69334"/>
                </a:lnTo>
                <a:lnTo>
                  <a:pt x="339031" y="55573"/>
                </a:lnTo>
                <a:lnTo>
                  <a:pt x="391888" y="43153"/>
                </a:lnTo>
                <a:lnTo>
                  <a:pt x="447535" y="32149"/>
                </a:lnTo>
                <a:lnTo>
                  <a:pt x="505761" y="22634"/>
                </a:lnTo>
                <a:lnTo>
                  <a:pt x="566350" y="14684"/>
                </a:lnTo>
                <a:lnTo>
                  <a:pt x="629091" y="8370"/>
                </a:lnTo>
                <a:lnTo>
                  <a:pt x="693770" y="3769"/>
                </a:lnTo>
                <a:lnTo>
                  <a:pt x="760175" y="954"/>
                </a:lnTo>
                <a:lnTo>
                  <a:pt x="828091" y="0"/>
                </a:lnTo>
                <a:lnTo>
                  <a:pt x="896007" y="954"/>
                </a:lnTo>
                <a:lnTo>
                  <a:pt x="962412" y="3769"/>
                </a:lnTo>
                <a:lnTo>
                  <a:pt x="1027091" y="8370"/>
                </a:lnTo>
                <a:lnTo>
                  <a:pt x="1089832" y="14684"/>
                </a:lnTo>
                <a:lnTo>
                  <a:pt x="1150422" y="22634"/>
                </a:lnTo>
                <a:lnTo>
                  <a:pt x="1208647" y="32149"/>
                </a:lnTo>
                <a:lnTo>
                  <a:pt x="1264294" y="43153"/>
                </a:lnTo>
                <a:lnTo>
                  <a:pt x="1317151" y="55573"/>
                </a:lnTo>
                <a:lnTo>
                  <a:pt x="1367004" y="69334"/>
                </a:lnTo>
                <a:lnTo>
                  <a:pt x="1413640" y="84362"/>
                </a:lnTo>
                <a:lnTo>
                  <a:pt x="1456847" y="100583"/>
                </a:lnTo>
                <a:lnTo>
                  <a:pt x="1496409" y="117924"/>
                </a:lnTo>
                <a:lnTo>
                  <a:pt x="1532116" y="136309"/>
                </a:lnTo>
                <a:lnTo>
                  <a:pt x="1591108" y="175916"/>
                </a:lnTo>
                <a:lnTo>
                  <a:pt x="1632117" y="218814"/>
                </a:lnTo>
                <a:lnTo>
                  <a:pt x="1653438" y="264408"/>
                </a:lnTo>
                <a:lnTo>
                  <a:pt x="1656183" y="288032"/>
                </a:lnTo>
                <a:lnTo>
                  <a:pt x="1653438" y="311655"/>
                </a:lnTo>
                <a:lnTo>
                  <a:pt x="1632117" y="357249"/>
                </a:lnTo>
                <a:lnTo>
                  <a:pt x="1591108" y="400146"/>
                </a:lnTo>
                <a:lnTo>
                  <a:pt x="1532116" y="439754"/>
                </a:lnTo>
                <a:lnTo>
                  <a:pt x="1496409" y="458139"/>
                </a:lnTo>
                <a:lnTo>
                  <a:pt x="1456847" y="475480"/>
                </a:lnTo>
                <a:lnTo>
                  <a:pt x="1413640" y="491701"/>
                </a:lnTo>
                <a:lnTo>
                  <a:pt x="1367004" y="506729"/>
                </a:lnTo>
                <a:lnTo>
                  <a:pt x="1317151" y="520490"/>
                </a:lnTo>
                <a:lnTo>
                  <a:pt x="1264294" y="532909"/>
                </a:lnTo>
                <a:lnTo>
                  <a:pt x="1208647" y="543914"/>
                </a:lnTo>
                <a:lnTo>
                  <a:pt x="1150422" y="553428"/>
                </a:lnTo>
                <a:lnTo>
                  <a:pt x="1089832" y="561379"/>
                </a:lnTo>
                <a:lnTo>
                  <a:pt x="1027091" y="567692"/>
                </a:lnTo>
                <a:lnTo>
                  <a:pt x="962412" y="572293"/>
                </a:lnTo>
                <a:lnTo>
                  <a:pt x="896007" y="575108"/>
                </a:lnTo>
                <a:lnTo>
                  <a:pt x="828091" y="576063"/>
                </a:lnTo>
                <a:lnTo>
                  <a:pt x="760175" y="575108"/>
                </a:lnTo>
                <a:lnTo>
                  <a:pt x="693770" y="572293"/>
                </a:lnTo>
                <a:lnTo>
                  <a:pt x="629091" y="567692"/>
                </a:lnTo>
                <a:lnTo>
                  <a:pt x="566350" y="561379"/>
                </a:lnTo>
                <a:lnTo>
                  <a:pt x="505761" y="553428"/>
                </a:lnTo>
                <a:lnTo>
                  <a:pt x="447535" y="543914"/>
                </a:lnTo>
                <a:lnTo>
                  <a:pt x="391888" y="532909"/>
                </a:lnTo>
                <a:lnTo>
                  <a:pt x="339031" y="520490"/>
                </a:lnTo>
                <a:lnTo>
                  <a:pt x="289178" y="506729"/>
                </a:lnTo>
                <a:lnTo>
                  <a:pt x="242542" y="491701"/>
                </a:lnTo>
                <a:lnTo>
                  <a:pt x="199336" y="475480"/>
                </a:lnTo>
                <a:lnTo>
                  <a:pt x="159773" y="458139"/>
                </a:lnTo>
                <a:lnTo>
                  <a:pt x="124067" y="439754"/>
                </a:lnTo>
                <a:lnTo>
                  <a:pt x="65075" y="400146"/>
                </a:lnTo>
                <a:lnTo>
                  <a:pt x="24066" y="357249"/>
                </a:lnTo>
                <a:lnTo>
                  <a:pt x="2745" y="311655"/>
                </a:lnTo>
                <a:lnTo>
                  <a:pt x="0" y="288032"/>
                </a:lnTo>
                <a:close/>
              </a:path>
            </a:pathLst>
          </a:custGeom>
          <a:ln w="6349">
            <a:solidFill>
              <a:srgbClr val="941100"/>
            </a:solidFill>
          </a:ln>
        </p:spPr>
        <p:txBody>
          <a:bodyPr wrap="square" lIns="0" tIns="0" rIns="0" bIns="0" rtlCol="0"/>
          <a:lstStyle/>
          <a:p>
            <a:endParaRPr/>
          </a:p>
        </p:txBody>
      </p:sp>
      <p:sp>
        <p:nvSpPr>
          <p:cNvPr id="47" name="object 47"/>
          <p:cNvSpPr/>
          <p:nvPr/>
        </p:nvSpPr>
        <p:spPr>
          <a:xfrm>
            <a:off x="4994281" y="4540072"/>
            <a:ext cx="1555750" cy="475615"/>
          </a:xfrm>
          <a:custGeom>
            <a:avLst/>
            <a:gdLst/>
            <a:ahLst/>
            <a:cxnLst/>
            <a:rect l="l" t="t" r="r" b="b"/>
            <a:pathLst>
              <a:path w="1555750" h="475614">
                <a:moveTo>
                  <a:pt x="0" y="237620"/>
                </a:moveTo>
                <a:lnTo>
                  <a:pt x="12529" y="280333"/>
                </a:lnTo>
                <a:lnTo>
                  <a:pt x="48653" y="320534"/>
                </a:lnTo>
                <a:lnTo>
                  <a:pt x="106176" y="357552"/>
                </a:lnTo>
                <a:lnTo>
                  <a:pt x="142275" y="374658"/>
                </a:lnTo>
                <a:lnTo>
                  <a:pt x="182900" y="390717"/>
                </a:lnTo>
                <a:lnTo>
                  <a:pt x="227777" y="405644"/>
                </a:lnTo>
                <a:lnTo>
                  <a:pt x="276630" y="419356"/>
                </a:lnTo>
                <a:lnTo>
                  <a:pt x="329186" y="431769"/>
                </a:lnTo>
                <a:lnTo>
                  <a:pt x="385170" y="442799"/>
                </a:lnTo>
                <a:lnTo>
                  <a:pt x="444307" y="452363"/>
                </a:lnTo>
                <a:lnTo>
                  <a:pt x="506322" y="460375"/>
                </a:lnTo>
                <a:lnTo>
                  <a:pt x="570942" y="466753"/>
                </a:lnTo>
                <a:lnTo>
                  <a:pt x="637891" y="471413"/>
                </a:lnTo>
                <a:lnTo>
                  <a:pt x="706895" y="474270"/>
                </a:lnTo>
                <a:lnTo>
                  <a:pt x="777680" y="475241"/>
                </a:lnTo>
                <a:lnTo>
                  <a:pt x="848465" y="474270"/>
                </a:lnTo>
                <a:lnTo>
                  <a:pt x="917469" y="471413"/>
                </a:lnTo>
                <a:lnTo>
                  <a:pt x="984419" y="466753"/>
                </a:lnTo>
                <a:lnTo>
                  <a:pt x="1049038" y="460375"/>
                </a:lnTo>
                <a:lnTo>
                  <a:pt x="1111054" y="452363"/>
                </a:lnTo>
                <a:lnTo>
                  <a:pt x="1170191" y="442799"/>
                </a:lnTo>
                <a:lnTo>
                  <a:pt x="1226174" y="431769"/>
                </a:lnTo>
                <a:lnTo>
                  <a:pt x="1278730" y="419356"/>
                </a:lnTo>
                <a:lnTo>
                  <a:pt x="1327584" y="405644"/>
                </a:lnTo>
                <a:lnTo>
                  <a:pt x="1372460" y="390717"/>
                </a:lnTo>
                <a:lnTo>
                  <a:pt x="1413086" y="374658"/>
                </a:lnTo>
                <a:lnTo>
                  <a:pt x="1449185" y="357552"/>
                </a:lnTo>
                <a:lnTo>
                  <a:pt x="1506708" y="320534"/>
                </a:lnTo>
                <a:lnTo>
                  <a:pt x="1542832" y="280333"/>
                </a:lnTo>
                <a:lnTo>
                  <a:pt x="1555361" y="237620"/>
                </a:lnTo>
                <a:lnTo>
                  <a:pt x="1552183" y="215992"/>
                </a:lnTo>
                <a:lnTo>
                  <a:pt x="1527582" y="174451"/>
                </a:lnTo>
                <a:lnTo>
                  <a:pt x="1480484" y="135758"/>
                </a:lnTo>
                <a:lnTo>
                  <a:pt x="1413086" y="100583"/>
                </a:lnTo>
                <a:lnTo>
                  <a:pt x="1372460" y="84524"/>
                </a:lnTo>
                <a:lnTo>
                  <a:pt x="1327584" y="69597"/>
                </a:lnTo>
                <a:lnTo>
                  <a:pt x="1278730" y="55885"/>
                </a:lnTo>
                <a:lnTo>
                  <a:pt x="1226174" y="43472"/>
                </a:lnTo>
                <a:lnTo>
                  <a:pt x="1170191" y="32442"/>
                </a:lnTo>
                <a:lnTo>
                  <a:pt x="1111054" y="22878"/>
                </a:lnTo>
                <a:lnTo>
                  <a:pt x="1049038" y="14866"/>
                </a:lnTo>
                <a:lnTo>
                  <a:pt x="984419" y="8488"/>
                </a:lnTo>
                <a:lnTo>
                  <a:pt x="917469" y="3828"/>
                </a:lnTo>
                <a:lnTo>
                  <a:pt x="848465" y="971"/>
                </a:lnTo>
                <a:lnTo>
                  <a:pt x="777680" y="0"/>
                </a:lnTo>
                <a:lnTo>
                  <a:pt x="706895" y="971"/>
                </a:lnTo>
                <a:lnTo>
                  <a:pt x="637891" y="3828"/>
                </a:lnTo>
                <a:lnTo>
                  <a:pt x="570942" y="8488"/>
                </a:lnTo>
                <a:lnTo>
                  <a:pt x="506322" y="14866"/>
                </a:lnTo>
                <a:lnTo>
                  <a:pt x="444307" y="22878"/>
                </a:lnTo>
                <a:lnTo>
                  <a:pt x="385170" y="32442"/>
                </a:lnTo>
                <a:lnTo>
                  <a:pt x="329186" y="43472"/>
                </a:lnTo>
                <a:lnTo>
                  <a:pt x="276630" y="55885"/>
                </a:lnTo>
                <a:lnTo>
                  <a:pt x="227777" y="69597"/>
                </a:lnTo>
                <a:lnTo>
                  <a:pt x="182900" y="84524"/>
                </a:lnTo>
                <a:lnTo>
                  <a:pt x="142275" y="100583"/>
                </a:lnTo>
                <a:lnTo>
                  <a:pt x="106176" y="117689"/>
                </a:lnTo>
                <a:lnTo>
                  <a:pt x="48653" y="154707"/>
                </a:lnTo>
                <a:lnTo>
                  <a:pt x="12529" y="194908"/>
                </a:lnTo>
                <a:lnTo>
                  <a:pt x="0" y="237620"/>
                </a:lnTo>
                <a:close/>
              </a:path>
            </a:pathLst>
          </a:custGeom>
          <a:ln w="6349">
            <a:solidFill>
              <a:srgbClr val="941100"/>
            </a:solidFill>
          </a:ln>
        </p:spPr>
        <p:txBody>
          <a:bodyPr wrap="square" lIns="0" tIns="0" rIns="0" bIns="0" rtlCol="0"/>
          <a:lstStyle/>
          <a:p>
            <a:endParaRPr/>
          </a:p>
        </p:txBody>
      </p:sp>
      <p:sp>
        <p:nvSpPr>
          <p:cNvPr id="48" name="object 48"/>
          <p:cNvSpPr/>
          <p:nvPr/>
        </p:nvSpPr>
        <p:spPr>
          <a:xfrm>
            <a:off x="5324842" y="5849759"/>
            <a:ext cx="1368425" cy="432434"/>
          </a:xfrm>
          <a:custGeom>
            <a:avLst/>
            <a:gdLst/>
            <a:ahLst/>
            <a:cxnLst/>
            <a:rect l="l" t="t" r="r" b="b"/>
            <a:pathLst>
              <a:path w="1368425" h="432434">
                <a:moveTo>
                  <a:pt x="684076" y="0"/>
                </a:moveTo>
                <a:lnTo>
                  <a:pt x="614133" y="1115"/>
                </a:lnTo>
                <a:lnTo>
                  <a:pt x="546211" y="4388"/>
                </a:lnTo>
                <a:lnTo>
                  <a:pt x="480653" y="9712"/>
                </a:lnTo>
                <a:lnTo>
                  <a:pt x="417803" y="16976"/>
                </a:lnTo>
                <a:lnTo>
                  <a:pt x="358005" y="26072"/>
                </a:lnTo>
                <a:lnTo>
                  <a:pt x="301603" y="36893"/>
                </a:lnTo>
                <a:lnTo>
                  <a:pt x="248940" y="49329"/>
                </a:lnTo>
                <a:lnTo>
                  <a:pt x="200361" y="63271"/>
                </a:lnTo>
                <a:lnTo>
                  <a:pt x="156209" y="78612"/>
                </a:lnTo>
                <a:lnTo>
                  <a:pt x="116829" y="95242"/>
                </a:lnTo>
                <a:lnTo>
                  <a:pt x="82564" y="113054"/>
                </a:lnTo>
                <a:lnTo>
                  <a:pt x="30754" y="151785"/>
                </a:lnTo>
                <a:lnTo>
                  <a:pt x="3531" y="193936"/>
                </a:lnTo>
                <a:lnTo>
                  <a:pt x="0" y="216023"/>
                </a:lnTo>
                <a:lnTo>
                  <a:pt x="3531" y="238111"/>
                </a:lnTo>
                <a:lnTo>
                  <a:pt x="30754" y="280262"/>
                </a:lnTo>
                <a:lnTo>
                  <a:pt x="82564" y="318993"/>
                </a:lnTo>
                <a:lnTo>
                  <a:pt x="116829" y="336804"/>
                </a:lnTo>
                <a:lnTo>
                  <a:pt x="156209" y="353435"/>
                </a:lnTo>
                <a:lnTo>
                  <a:pt x="200361" y="368775"/>
                </a:lnTo>
                <a:lnTo>
                  <a:pt x="248940" y="382718"/>
                </a:lnTo>
                <a:lnTo>
                  <a:pt x="301603" y="395154"/>
                </a:lnTo>
                <a:lnTo>
                  <a:pt x="358005" y="405974"/>
                </a:lnTo>
                <a:lnTo>
                  <a:pt x="417803" y="415071"/>
                </a:lnTo>
                <a:lnTo>
                  <a:pt x="480653" y="422335"/>
                </a:lnTo>
                <a:lnTo>
                  <a:pt x="546211" y="427659"/>
                </a:lnTo>
                <a:lnTo>
                  <a:pt x="614133" y="430932"/>
                </a:lnTo>
                <a:lnTo>
                  <a:pt x="684076" y="432047"/>
                </a:lnTo>
                <a:lnTo>
                  <a:pt x="754019" y="430932"/>
                </a:lnTo>
                <a:lnTo>
                  <a:pt x="821941" y="427659"/>
                </a:lnTo>
                <a:lnTo>
                  <a:pt x="887499" y="422335"/>
                </a:lnTo>
                <a:lnTo>
                  <a:pt x="950349" y="415071"/>
                </a:lnTo>
                <a:lnTo>
                  <a:pt x="1010147" y="405974"/>
                </a:lnTo>
                <a:lnTo>
                  <a:pt x="1066549" y="395154"/>
                </a:lnTo>
                <a:lnTo>
                  <a:pt x="1070426" y="394238"/>
                </a:lnTo>
                <a:lnTo>
                  <a:pt x="684076" y="394238"/>
                </a:lnTo>
                <a:lnTo>
                  <a:pt x="613658" y="393193"/>
                </a:lnTo>
                <a:lnTo>
                  <a:pt x="545437" y="390128"/>
                </a:lnTo>
                <a:lnTo>
                  <a:pt x="479806" y="385153"/>
                </a:lnTo>
                <a:lnTo>
                  <a:pt x="417160" y="378376"/>
                </a:lnTo>
                <a:lnTo>
                  <a:pt x="357893" y="369907"/>
                </a:lnTo>
                <a:lnTo>
                  <a:pt x="302399" y="359853"/>
                </a:lnTo>
                <a:lnTo>
                  <a:pt x="251073" y="348324"/>
                </a:lnTo>
                <a:lnTo>
                  <a:pt x="204309" y="335429"/>
                </a:lnTo>
                <a:lnTo>
                  <a:pt x="162501" y="321275"/>
                </a:lnTo>
                <a:lnTo>
                  <a:pt x="126043" y="305972"/>
                </a:lnTo>
                <a:lnTo>
                  <a:pt x="70756" y="272353"/>
                </a:lnTo>
                <a:lnTo>
                  <a:pt x="41601" y="235442"/>
                </a:lnTo>
                <a:lnTo>
                  <a:pt x="37809" y="216023"/>
                </a:lnTo>
                <a:lnTo>
                  <a:pt x="41601" y="196605"/>
                </a:lnTo>
                <a:lnTo>
                  <a:pt x="70756" y="159694"/>
                </a:lnTo>
                <a:lnTo>
                  <a:pt x="126043" y="126075"/>
                </a:lnTo>
                <a:lnTo>
                  <a:pt x="162501" y="110772"/>
                </a:lnTo>
                <a:lnTo>
                  <a:pt x="204309" y="96618"/>
                </a:lnTo>
                <a:lnTo>
                  <a:pt x="251073" y="83723"/>
                </a:lnTo>
                <a:lnTo>
                  <a:pt x="302399" y="72194"/>
                </a:lnTo>
                <a:lnTo>
                  <a:pt x="357893" y="62140"/>
                </a:lnTo>
                <a:lnTo>
                  <a:pt x="417160" y="53671"/>
                </a:lnTo>
                <a:lnTo>
                  <a:pt x="479806" y="46894"/>
                </a:lnTo>
                <a:lnTo>
                  <a:pt x="545437" y="41919"/>
                </a:lnTo>
                <a:lnTo>
                  <a:pt x="613658" y="38854"/>
                </a:lnTo>
                <a:lnTo>
                  <a:pt x="684076" y="37808"/>
                </a:lnTo>
                <a:lnTo>
                  <a:pt x="1070426" y="37808"/>
                </a:lnTo>
                <a:lnTo>
                  <a:pt x="1066549" y="36893"/>
                </a:lnTo>
                <a:lnTo>
                  <a:pt x="1010147" y="26072"/>
                </a:lnTo>
                <a:lnTo>
                  <a:pt x="950349" y="16976"/>
                </a:lnTo>
                <a:lnTo>
                  <a:pt x="887499" y="9712"/>
                </a:lnTo>
                <a:lnTo>
                  <a:pt x="821941" y="4388"/>
                </a:lnTo>
                <a:lnTo>
                  <a:pt x="754019" y="1115"/>
                </a:lnTo>
                <a:lnTo>
                  <a:pt x="684076" y="0"/>
                </a:lnTo>
                <a:close/>
              </a:path>
              <a:path w="1368425" h="432434">
                <a:moveTo>
                  <a:pt x="1070426" y="37808"/>
                </a:moveTo>
                <a:lnTo>
                  <a:pt x="684076" y="37808"/>
                </a:lnTo>
                <a:lnTo>
                  <a:pt x="754494" y="38854"/>
                </a:lnTo>
                <a:lnTo>
                  <a:pt x="822715" y="41919"/>
                </a:lnTo>
                <a:lnTo>
                  <a:pt x="888346" y="46894"/>
                </a:lnTo>
                <a:lnTo>
                  <a:pt x="950992" y="53671"/>
                </a:lnTo>
                <a:lnTo>
                  <a:pt x="1010259" y="62140"/>
                </a:lnTo>
                <a:lnTo>
                  <a:pt x="1065753" y="72194"/>
                </a:lnTo>
                <a:lnTo>
                  <a:pt x="1117079" y="83723"/>
                </a:lnTo>
                <a:lnTo>
                  <a:pt x="1163843" y="96618"/>
                </a:lnTo>
                <a:lnTo>
                  <a:pt x="1205651" y="110772"/>
                </a:lnTo>
                <a:lnTo>
                  <a:pt x="1242108" y="126075"/>
                </a:lnTo>
                <a:lnTo>
                  <a:pt x="1297395" y="159694"/>
                </a:lnTo>
                <a:lnTo>
                  <a:pt x="1326550" y="196605"/>
                </a:lnTo>
                <a:lnTo>
                  <a:pt x="1330342" y="216023"/>
                </a:lnTo>
                <a:lnTo>
                  <a:pt x="1326550" y="235442"/>
                </a:lnTo>
                <a:lnTo>
                  <a:pt x="1297395" y="272353"/>
                </a:lnTo>
                <a:lnTo>
                  <a:pt x="1242108" y="305972"/>
                </a:lnTo>
                <a:lnTo>
                  <a:pt x="1205651" y="321275"/>
                </a:lnTo>
                <a:lnTo>
                  <a:pt x="1163843" y="335429"/>
                </a:lnTo>
                <a:lnTo>
                  <a:pt x="1117079" y="348324"/>
                </a:lnTo>
                <a:lnTo>
                  <a:pt x="1065753" y="359853"/>
                </a:lnTo>
                <a:lnTo>
                  <a:pt x="1010259" y="369907"/>
                </a:lnTo>
                <a:lnTo>
                  <a:pt x="950992" y="378376"/>
                </a:lnTo>
                <a:lnTo>
                  <a:pt x="888346" y="385153"/>
                </a:lnTo>
                <a:lnTo>
                  <a:pt x="822715" y="390128"/>
                </a:lnTo>
                <a:lnTo>
                  <a:pt x="754494" y="393193"/>
                </a:lnTo>
                <a:lnTo>
                  <a:pt x="684076" y="394238"/>
                </a:lnTo>
                <a:lnTo>
                  <a:pt x="1070426" y="394238"/>
                </a:lnTo>
                <a:lnTo>
                  <a:pt x="1119212" y="382718"/>
                </a:lnTo>
                <a:lnTo>
                  <a:pt x="1167791" y="368775"/>
                </a:lnTo>
                <a:lnTo>
                  <a:pt x="1211942" y="353435"/>
                </a:lnTo>
                <a:lnTo>
                  <a:pt x="1251322" y="336804"/>
                </a:lnTo>
                <a:lnTo>
                  <a:pt x="1285587" y="318993"/>
                </a:lnTo>
                <a:lnTo>
                  <a:pt x="1337397" y="280262"/>
                </a:lnTo>
                <a:lnTo>
                  <a:pt x="1364620" y="238111"/>
                </a:lnTo>
                <a:lnTo>
                  <a:pt x="1368151" y="216023"/>
                </a:lnTo>
                <a:lnTo>
                  <a:pt x="1364620" y="193936"/>
                </a:lnTo>
                <a:lnTo>
                  <a:pt x="1337397" y="151785"/>
                </a:lnTo>
                <a:lnTo>
                  <a:pt x="1285587" y="113054"/>
                </a:lnTo>
                <a:lnTo>
                  <a:pt x="1251322" y="95242"/>
                </a:lnTo>
                <a:lnTo>
                  <a:pt x="1211942" y="78612"/>
                </a:lnTo>
                <a:lnTo>
                  <a:pt x="1167791" y="63271"/>
                </a:lnTo>
                <a:lnTo>
                  <a:pt x="1119212" y="49329"/>
                </a:lnTo>
                <a:lnTo>
                  <a:pt x="1070426" y="37808"/>
                </a:lnTo>
                <a:close/>
              </a:path>
            </a:pathLst>
          </a:custGeom>
          <a:solidFill>
            <a:srgbClr val="941100"/>
          </a:solidFill>
        </p:spPr>
        <p:txBody>
          <a:bodyPr wrap="square" lIns="0" tIns="0" rIns="0" bIns="0" rtlCol="0"/>
          <a:lstStyle/>
          <a:p>
            <a:endParaRPr/>
          </a:p>
        </p:txBody>
      </p:sp>
      <p:sp>
        <p:nvSpPr>
          <p:cNvPr id="49" name="object 49"/>
          <p:cNvSpPr/>
          <p:nvPr/>
        </p:nvSpPr>
        <p:spPr>
          <a:xfrm>
            <a:off x="5324842" y="5849759"/>
            <a:ext cx="1368425" cy="432434"/>
          </a:xfrm>
          <a:custGeom>
            <a:avLst/>
            <a:gdLst/>
            <a:ahLst/>
            <a:cxnLst/>
            <a:rect l="l" t="t" r="r" b="b"/>
            <a:pathLst>
              <a:path w="1368425" h="432434">
                <a:moveTo>
                  <a:pt x="0" y="216023"/>
                </a:moveTo>
                <a:lnTo>
                  <a:pt x="13897" y="172487"/>
                </a:lnTo>
                <a:lnTo>
                  <a:pt x="53758" y="131937"/>
                </a:lnTo>
                <a:lnTo>
                  <a:pt x="116829" y="95242"/>
                </a:lnTo>
                <a:lnTo>
                  <a:pt x="156209" y="78612"/>
                </a:lnTo>
                <a:lnTo>
                  <a:pt x="200361" y="63271"/>
                </a:lnTo>
                <a:lnTo>
                  <a:pt x="248940" y="49329"/>
                </a:lnTo>
                <a:lnTo>
                  <a:pt x="301602" y="36893"/>
                </a:lnTo>
                <a:lnTo>
                  <a:pt x="358004" y="26072"/>
                </a:lnTo>
                <a:lnTo>
                  <a:pt x="417802" y="16976"/>
                </a:lnTo>
                <a:lnTo>
                  <a:pt x="480652" y="9712"/>
                </a:lnTo>
                <a:lnTo>
                  <a:pt x="546210" y="4388"/>
                </a:lnTo>
                <a:lnTo>
                  <a:pt x="614133" y="1115"/>
                </a:lnTo>
                <a:lnTo>
                  <a:pt x="684076" y="0"/>
                </a:lnTo>
                <a:lnTo>
                  <a:pt x="754018" y="1115"/>
                </a:lnTo>
                <a:lnTo>
                  <a:pt x="821941" y="4388"/>
                </a:lnTo>
                <a:lnTo>
                  <a:pt x="887499" y="9712"/>
                </a:lnTo>
                <a:lnTo>
                  <a:pt x="950349" y="16976"/>
                </a:lnTo>
                <a:lnTo>
                  <a:pt x="1010147" y="26072"/>
                </a:lnTo>
                <a:lnTo>
                  <a:pt x="1066549" y="36893"/>
                </a:lnTo>
                <a:lnTo>
                  <a:pt x="1119211" y="49329"/>
                </a:lnTo>
                <a:lnTo>
                  <a:pt x="1167790" y="63271"/>
                </a:lnTo>
                <a:lnTo>
                  <a:pt x="1211942" y="78612"/>
                </a:lnTo>
                <a:lnTo>
                  <a:pt x="1251322" y="95242"/>
                </a:lnTo>
                <a:lnTo>
                  <a:pt x="1285587" y="113054"/>
                </a:lnTo>
                <a:lnTo>
                  <a:pt x="1337396" y="151785"/>
                </a:lnTo>
                <a:lnTo>
                  <a:pt x="1364619" y="193936"/>
                </a:lnTo>
                <a:lnTo>
                  <a:pt x="1368151" y="216023"/>
                </a:lnTo>
                <a:lnTo>
                  <a:pt x="1364619" y="238111"/>
                </a:lnTo>
                <a:lnTo>
                  <a:pt x="1337396" y="280262"/>
                </a:lnTo>
                <a:lnTo>
                  <a:pt x="1285587" y="318993"/>
                </a:lnTo>
                <a:lnTo>
                  <a:pt x="1251322" y="336804"/>
                </a:lnTo>
                <a:lnTo>
                  <a:pt x="1211942" y="353435"/>
                </a:lnTo>
                <a:lnTo>
                  <a:pt x="1167790" y="368775"/>
                </a:lnTo>
                <a:lnTo>
                  <a:pt x="1119211" y="382718"/>
                </a:lnTo>
                <a:lnTo>
                  <a:pt x="1066549" y="395154"/>
                </a:lnTo>
                <a:lnTo>
                  <a:pt x="1010147" y="405974"/>
                </a:lnTo>
                <a:lnTo>
                  <a:pt x="950349" y="415071"/>
                </a:lnTo>
                <a:lnTo>
                  <a:pt x="887499" y="422335"/>
                </a:lnTo>
                <a:lnTo>
                  <a:pt x="821941" y="427659"/>
                </a:lnTo>
                <a:lnTo>
                  <a:pt x="754018" y="430932"/>
                </a:lnTo>
                <a:lnTo>
                  <a:pt x="684076" y="432047"/>
                </a:lnTo>
                <a:lnTo>
                  <a:pt x="614133" y="430932"/>
                </a:lnTo>
                <a:lnTo>
                  <a:pt x="546210" y="427659"/>
                </a:lnTo>
                <a:lnTo>
                  <a:pt x="480652" y="422335"/>
                </a:lnTo>
                <a:lnTo>
                  <a:pt x="417802" y="415071"/>
                </a:lnTo>
                <a:lnTo>
                  <a:pt x="358004" y="405974"/>
                </a:lnTo>
                <a:lnTo>
                  <a:pt x="301602" y="395154"/>
                </a:lnTo>
                <a:lnTo>
                  <a:pt x="248940" y="382718"/>
                </a:lnTo>
                <a:lnTo>
                  <a:pt x="200361" y="368775"/>
                </a:lnTo>
                <a:lnTo>
                  <a:pt x="156209" y="353435"/>
                </a:lnTo>
                <a:lnTo>
                  <a:pt x="116829" y="336804"/>
                </a:lnTo>
                <a:lnTo>
                  <a:pt x="82564" y="318993"/>
                </a:lnTo>
                <a:lnTo>
                  <a:pt x="30754" y="280262"/>
                </a:lnTo>
                <a:lnTo>
                  <a:pt x="3531" y="238111"/>
                </a:lnTo>
                <a:lnTo>
                  <a:pt x="0" y="216023"/>
                </a:lnTo>
                <a:close/>
              </a:path>
            </a:pathLst>
          </a:custGeom>
          <a:ln w="6349">
            <a:solidFill>
              <a:srgbClr val="941100"/>
            </a:solidFill>
          </a:ln>
        </p:spPr>
        <p:txBody>
          <a:bodyPr wrap="square" lIns="0" tIns="0" rIns="0" bIns="0" rtlCol="0"/>
          <a:lstStyle/>
          <a:p>
            <a:endParaRPr/>
          </a:p>
        </p:txBody>
      </p:sp>
      <p:sp>
        <p:nvSpPr>
          <p:cNvPr id="50" name="object 50"/>
          <p:cNvSpPr/>
          <p:nvPr/>
        </p:nvSpPr>
        <p:spPr>
          <a:xfrm>
            <a:off x="5362651" y="5887568"/>
            <a:ext cx="1292860" cy="356870"/>
          </a:xfrm>
          <a:custGeom>
            <a:avLst/>
            <a:gdLst/>
            <a:ahLst/>
            <a:cxnLst/>
            <a:rect l="l" t="t" r="r" b="b"/>
            <a:pathLst>
              <a:path w="1292859" h="356870">
                <a:moveTo>
                  <a:pt x="0" y="178214"/>
                </a:moveTo>
                <a:lnTo>
                  <a:pt x="14905" y="216446"/>
                </a:lnTo>
                <a:lnTo>
                  <a:pt x="57521" y="251819"/>
                </a:lnTo>
                <a:lnTo>
                  <a:pt x="124692" y="283466"/>
                </a:lnTo>
                <a:lnTo>
                  <a:pt x="166500" y="297620"/>
                </a:lnTo>
                <a:lnTo>
                  <a:pt x="213264" y="310515"/>
                </a:lnTo>
                <a:lnTo>
                  <a:pt x="264590" y="322044"/>
                </a:lnTo>
                <a:lnTo>
                  <a:pt x="320083" y="332098"/>
                </a:lnTo>
                <a:lnTo>
                  <a:pt x="379350" y="340567"/>
                </a:lnTo>
                <a:lnTo>
                  <a:pt x="441996" y="347344"/>
                </a:lnTo>
                <a:lnTo>
                  <a:pt x="507627" y="352319"/>
                </a:lnTo>
                <a:lnTo>
                  <a:pt x="575849" y="355384"/>
                </a:lnTo>
                <a:lnTo>
                  <a:pt x="646267" y="356429"/>
                </a:lnTo>
                <a:lnTo>
                  <a:pt x="716684" y="355384"/>
                </a:lnTo>
                <a:lnTo>
                  <a:pt x="784906" y="352319"/>
                </a:lnTo>
                <a:lnTo>
                  <a:pt x="850537" y="347344"/>
                </a:lnTo>
                <a:lnTo>
                  <a:pt x="913183" y="340567"/>
                </a:lnTo>
                <a:lnTo>
                  <a:pt x="972450" y="332098"/>
                </a:lnTo>
                <a:lnTo>
                  <a:pt x="1027943" y="322044"/>
                </a:lnTo>
                <a:lnTo>
                  <a:pt x="1079269" y="310515"/>
                </a:lnTo>
                <a:lnTo>
                  <a:pt x="1126033" y="297620"/>
                </a:lnTo>
                <a:lnTo>
                  <a:pt x="1167841" y="283466"/>
                </a:lnTo>
                <a:lnTo>
                  <a:pt x="1204299" y="268163"/>
                </a:lnTo>
                <a:lnTo>
                  <a:pt x="1259586" y="234544"/>
                </a:lnTo>
                <a:lnTo>
                  <a:pt x="1288741" y="197633"/>
                </a:lnTo>
                <a:lnTo>
                  <a:pt x="1292533" y="178214"/>
                </a:lnTo>
                <a:lnTo>
                  <a:pt x="1288741" y="158796"/>
                </a:lnTo>
                <a:lnTo>
                  <a:pt x="1259586" y="121885"/>
                </a:lnTo>
                <a:lnTo>
                  <a:pt x="1204299" y="88266"/>
                </a:lnTo>
                <a:lnTo>
                  <a:pt x="1167841" y="72963"/>
                </a:lnTo>
                <a:lnTo>
                  <a:pt x="1126033" y="58809"/>
                </a:lnTo>
                <a:lnTo>
                  <a:pt x="1079269" y="45914"/>
                </a:lnTo>
                <a:lnTo>
                  <a:pt x="1027943" y="34385"/>
                </a:lnTo>
                <a:lnTo>
                  <a:pt x="972450" y="24331"/>
                </a:lnTo>
                <a:lnTo>
                  <a:pt x="913183" y="15862"/>
                </a:lnTo>
                <a:lnTo>
                  <a:pt x="850537" y="9085"/>
                </a:lnTo>
                <a:lnTo>
                  <a:pt x="784906" y="4110"/>
                </a:lnTo>
                <a:lnTo>
                  <a:pt x="716684" y="1045"/>
                </a:lnTo>
                <a:lnTo>
                  <a:pt x="646267" y="0"/>
                </a:lnTo>
                <a:lnTo>
                  <a:pt x="575849" y="1045"/>
                </a:lnTo>
                <a:lnTo>
                  <a:pt x="507627" y="4110"/>
                </a:lnTo>
                <a:lnTo>
                  <a:pt x="441996" y="9085"/>
                </a:lnTo>
                <a:lnTo>
                  <a:pt x="379350" y="15862"/>
                </a:lnTo>
                <a:lnTo>
                  <a:pt x="320083" y="24331"/>
                </a:lnTo>
                <a:lnTo>
                  <a:pt x="264590" y="34385"/>
                </a:lnTo>
                <a:lnTo>
                  <a:pt x="213264" y="45914"/>
                </a:lnTo>
                <a:lnTo>
                  <a:pt x="166500" y="58809"/>
                </a:lnTo>
                <a:lnTo>
                  <a:pt x="124692" y="72963"/>
                </a:lnTo>
                <a:lnTo>
                  <a:pt x="88234" y="88266"/>
                </a:lnTo>
                <a:lnTo>
                  <a:pt x="32947" y="121885"/>
                </a:lnTo>
                <a:lnTo>
                  <a:pt x="3792" y="158796"/>
                </a:lnTo>
                <a:lnTo>
                  <a:pt x="0" y="178214"/>
                </a:lnTo>
                <a:close/>
              </a:path>
            </a:pathLst>
          </a:custGeom>
          <a:ln w="6349">
            <a:solidFill>
              <a:srgbClr val="941100"/>
            </a:solidFill>
          </a:ln>
        </p:spPr>
        <p:txBody>
          <a:bodyPr wrap="square" lIns="0" tIns="0" rIns="0" bIns="0" rtlCol="0"/>
          <a:lstStyle/>
          <a:p>
            <a:endParaRPr/>
          </a:p>
        </p:txBody>
      </p:sp>
      <p:sp>
        <p:nvSpPr>
          <p:cNvPr id="53" name="标题 52"/>
          <p:cNvSpPr>
            <a:spLocks noGrp="1"/>
          </p:cNvSpPr>
          <p:nvPr>
            <p:ph type="title"/>
          </p:nvPr>
        </p:nvSpPr>
        <p:spPr/>
        <p:txBody>
          <a:bodyPr/>
          <a:lstStyle/>
          <a:p>
            <a:r>
              <a:rPr lang="zh-CN" altLang="en-US" spc="-5" dirty="0"/>
              <a:t>状态图与其他</a:t>
            </a:r>
            <a:r>
              <a:rPr lang="en-US" altLang="zh-CN" spc="-5" dirty="0"/>
              <a:t>UM</a:t>
            </a:r>
            <a:r>
              <a:rPr lang="en-US" altLang="zh-CN" spc="-10" dirty="0"/>
              <a:t>L</a:t>
            </a:r>
            <a:r>
              <a:rPr lang="zh-CN" altLang="en-US" spc="-5" dirty="0"/>
              <a:t>图的关系</a:t>
            </a:r>
            <a:endParaRPr lang="zh-CN" altLang="en-US" dirty="0"/>
          </a:p>
        </p:txBody>
      </p:sp>
      <p:sp>
        <p:nvSpPr>
          <p:cNvPr id="54" name="灯片编号占位符 53"/>
          <p:cNvSpPr>
            <a:spLocks noGrp="1"/>
          </p:cNvSpPr>
          <p:nvPr>
            <p:ph type="sldNum" sz="quarter" idx="12"/>
          </p:nvPr>
        </p:nvSpPr>
        <p:spPr/>
        <p:txBody>
          <a:bodyPr/>
          <a:lstStyle/>
          <a:p>
            <a:fld id="{74D2AB8B-5816-41F2-8B4B-CA5C3E4E6A65}" type="slidenum">
              <a:rPr lang="zh-CN" altLang="en-US" smtClean="0"/>
              <a:t>59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1525"/>
    </mc:Choice>
    <mc:Fallback xmlns="">
      <p:transition spd="slow" advTm="111525"/>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22043" y="1690688"/>
            <a:ext cx="9556310" cy="2274982"/>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建模风格1：把初态放置在左上角；把终态放置在右下角</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建模风格2：用过去式命名转移事件</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建模风格3：警戒条件不要重叠</a:t>
            </a:r>
          </a:p>
          <a:p>
            <a:pPr marL="241300" indent="-228600">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建模风格4：不要把警戒条件置于初始转移上</a:t>
            </a:r>
            <a:r>
              <a:rPr lang="en-US" sz="2400" dirty="0">
                <a:latin typeface="微软雅黑" panose="020B0503020204020204" pitchFamily="34" charset="-122"/>
                <a:ea typeface="微软雅黑" panose="020B0503020204020204" pitchFamily="34" charset="-122"/>
                <a:cs typeface="华文新魏" panose="02010800040101010101" charset="-122"/>
              </a:rPr>
              <a:t>(</a:t>
            </a:r>
            <a:r>
              <a:rPr lang="zh-CN" altLang="en-US" sz="2400" dirty="0">
                <a:latin typeface="微软雅黑" panose="020B0503020204020204" pitchFamily="34" charset="-122"/>
                <a:ea typeface="微软雅黑" panose="020B0503020204020204" pitchFamily="34" charset="-122"/>
                <a:cs typeface="华文新魏" panose="02010800040101010101" charset="-122"/>
              </a:rPr>
              <a:t>无法开始对象的行为</a:t>
            </a:r>
            <a:r>
              <a:rPr lang="en-US" sz="2400"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7" name="标题 6"/>
          <p:cNvSpPr>
            <a:spLocks noGrp="1"/>
          </p:cNvSpPr>
          <p:nvPr>
            <p:ph type="title"/>
          </p:nvPr>
        </p:nvSpPr>
        <p:spPr/>
        <p:txBody>
          <a:bodyPr/>
          <a:lstStyle/>
          <a:p>
            <a:r>
              <a:rPr lang="zh-CN" altLang="en-US" spc="-5" dirty="0"/>
              <a:t>状态图建模风格</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60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6521"/>
    </mc:Choice>
    <mc:Fallback xmlns="">
      <p:transition spd="slow" advTm="136521"/>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307956"/>
            <a:ext cx="3707613" cy="566822"/>
          </a:xfrm>
          <a:prstGeom prst="rect">
            <a:avLst/>
          </a:prstGeom>
        </p:spPr>
        <p:txBody>
          <a:bodyPr vert="horz" wrap="square" lIns="0" tIns="12700" rIns="0" bIns="0" rtlCol="0">
            <a:spAutoFit/>
          </a:bodyPr>
          <a:lstStyle/>
          <a:p>
            <a:pPr marL="12700">
              <a:lnSpc>
                <a:spcPct val="100000"/>
              </a:lnSpc>
              <a:spcBef>
                <a:spcPts val="100"/>
              </a:spcBef>
            </a:pPr>
            <a:r>
              <a:rPr sz="3600" b="0" spc="-5" dirty="0">
                <a:latin typeface="微软雅黑" panose="020B0503020204020204" pitchFamily="34" charset="-122"/>
                <a:ea typeface="微软雅黑" panose="020B0503020204020204" pitchFamily="34" charset="-122"/>
              </a:rPr>
              <a:t>状态图的检查表</a:t>
            </a:r>
          </a:p>
        </p:txBody>
      </p:sp>
      <p:sp>
        <p:nvSpPr>
          <p:cNvPr id="3" name="object 3"/>
          <p:cNvSpPr/>
          <p:nvPr/>
        </p:nvSpPr>
        <p:spPr>
          <a:xfrm>
            <a:off x="407367" y="1124745"/>
            <a:ext cx="9023503" cy="5258233"/>
          </a:xfrm>
          <a:custGeom>
            <a:avLst/>
            <a:gdLst/>
            <a:ahLst/>
            <a:cxnLst/>
            <a:rect l="l" t="t" r="r" b="b"/>
            <a:pathLst>
              <a:path w="5761990" h="5017135">
                <a:moveTo>
                  <a:pt x="0" y="0"/>
                </a:moveTo>
                <a:lnTo>
                  <a:pt x="5761855" y="0"/>
                </a:lnTo>
                <a:lnTo>
                  <a:pt x="5761855" y="5016724"/>
                </a:lnTo>
                <a:lnTo>
                  <a:pt x="0" y="5016724"/>
                </a:lnTo>
                <a:lnTo>
                  <a:pt x="0"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 name="object 4"/>
          <p:cNvSpPr txBox="1"/>
          <p:nvPr/>
        </p:nvSpPr>
        <p:spPr>
          <a:xfrm>
            <a:off x="486106" y="1106964"/>
            <a:ext cx="9718291" cy="3257302"/>
          </a:xfrm>
          <a:prstGeom prst="rect">
            <a:avLst/>
          </a:prstGeom>
        </p:spPr>
        <p:txBody>
          <a:bodyPr vert="horz" wrap="square" lIns="0" tIns="38100" rIns="0" bIns="0" rtlCol="0">
            <a:spAutoFit/>
          </a:bodyPr>
          <a:lstStyle/>
          <a:p>
            <a:pPr lvl="2">
              <a:lnSpc>
                <a:spcPct val="100000"/>
              </a:lnSpc>
              <a:spcBef>
                <a:spcPts val="5"/>
              </a:spcBef>
            </a:pPr>
            <a:endParaRPr sz="29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800" dirty="0">
                <a:solidFill>
                  <a:srgbClr val="800000"/>
                </a:solidFill>
                <a:latin typeface="微软雅黑" panose="020B0503020204020204" pitchFamily="34" charset="-122"/>
                <a:ea typeface="微软雅黑" panose="020B0503020204020204" pitchFamily="34" charset="-122"/>
                <a:cs typeface="华文新魏" panose="02010800040101010101" charset="-122"/>
              </a:rPr>
              <a:t>绘图风格</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30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每个状态的命名应该是唯一的，意义明确的</a:t>
            </a:r>
          </a:p>
          <a:p>
            <a:pPr marL="698500" lvl="1" indent="-228600">
              <a:lnSpc>
                <a:spcPct val="100000"/>
              </a:lnSpc>
              <a:spcBef>
                <a:spcPts val="20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只对行为复杂的状态使用组合状态建模</a:t>
            </a:r>
          </a:p>
          <a:p>
            <a:pPr marL="698500" lvl="1" indent="-228600">
              <a:lnSpc>
                <a:spcPct val="100000"/>
              </a:lnSpc>
              <a:spcBef>
                <a:spcPts val="30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不要在一个图中包含太多细节</a:t>
            </a:r>
          </a:p>
          <a:p>
            <a:pPr marL="698500" lvl="1" indent="-228600">
              <a:lnSpc>
                <a:spcPct val="100000"/>
              </a:lnSpc>
              <a:spcBef>
                <a:spcPts val="300"/>
              </a:spcBef>
              <a:buFont typeface="Arial" panose="020B0604020202020204"/>
              <a:buChar char="•"/>
              <a:tabLst>
                <a:tab pos="697865" algn="l"/>
                <a:tab pos="698500" algn="l"/>
              </a:tabLst>
            </a:pPr>
            <a:r>
              <a:rPr sz="2800" dirty="0" err="1">
                <a:latin typeface="微软雅黑" panose="020B0503020204020204" pitchFamily="34" charset="-122"/>
                <a:ea typeface="微软雅黑" panose="020B0503020204020204" pitchFamily="34" charset="-122"/>
                <a:cs typeface="华文新魏" panose="02010800040101010101" charset="-122"/>
              </a:rPr>
              <a:t>使用警戒条件时要特殊注意不要引入二义性</a:t>
            </a:r>
            <a:endParaRPr lang="en-US" altLang="zh-CN"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300"/>
              </a:spcBef>
              <a:buFont typeface="Arial" panose="020B0604020202020204"/>
              <a:buChar char="•"/>
              <a:tabLst>
                <a:tab pos="697865" algn="l"/>
                <a:tab pos="698500" algn="l"/>
              </a:tabLst>
            </a:pPr>
            <a:r>
              <a:rPr sz="2800" dirty="0" err="1">
                <a:latin typeface="微软雅黑" panose="020B0503020204020204" pitchFamily="34" charset="-122"/>
                <a:ea typeface="微软雅黑" panose="020B0503020204020204" pitchFamily="34" charset="-122"/>
                <a:cs typeface="华文新魏" panose="02010800040101010101" charset="-122"/>
              </a:rPr>
              <a:t>状态图应该具有确定性（除非特殊原因</a:t>
            </a:r>
            <a:r>
              <a:rPr sz="2800" dirty="0">
                <a:latin typeface="微软雅黑" panose="020B0503020204020204" pitchFamily="34" charset="-122"/>
                <a:ea typeface="微软雅黑" panose="020B0503020204020204" pitchFamily="34" charset="-122"/>
                <a:cs typeface="华文新魏" panose="02010800040101010101" charset="-122"/>
              </a:rPr>
              <a:t>）</a:t>
            </a:r>
            <a:endParaRPr sz="2000" dirty="0">
              <a:latin typeface="微软雅黑" panose="020B0503020204020204" pitchFamily="34" charset="-122"/>
              <a:ea typeface="微软雅黑" panose="020B0503020204020204" pitchFamily="34" charset="-122"/>
              <a:cs typeface="华文新魏" panose="02010800040101010101" charset="-122"/>
            </a:endParaRPr>
          </a:p>
        </p:txBody>
      </p:sp>
      <p:sp>
        <p:nvSpPr>
          <p:cNvPr id="8" name="灯片编号占位符 7"/>
          <p:cNvSpPr>
            <a:spLocks noGrp="1"/>
          </p:cNvSpPr>
          <p:nvPr>
            <p:ph type="sldNum" sz="quarter" idx="7"/>
          </p:nvPr>
        </p:nvSpPr>
        <p:spPr/>
        <p:txBody>
          <a:bodyPr/>
          <a:lstStyle/>
          <a:p>
            <a:pPr marL="89535">
              <a:lnSpc>
                <a:spcPct val="100000"/>
              </a:lnSpc>
              <a:spcBef>
                <a:spcPts val="100"/>
              </a:spcBef>
            </a:pPr>
            <a:fld id="{81D60167-4931-47E6-BA6A-407CBD079E47}" type="slidenum">
              <a:rPr lang="en-US" altLang="zh-CN" smtClean="0">
                <a:latin typeface="Tahoma" panose="020B0604030504040204"/>
                <a:cs typeface="Tahoma" panose="020B0604030504040204"/>
              </a:rPr>
              <a:t>61</a:t>
            </a:fld>
            <a:endParaRPr lang="en-US" altLang="zh-CN" dirty="0">
              <a:latin typeface="Tahoma" panose="020B0604030504040204"/>
              <a:cs typeface="Tahoma" panose="020B0604030504040204"/>
            </a:endParaRPr>
          </a:p>
        </p:txBody>
      </p:sp>
    </p:spTree>
  </p:cSld>
  <p:clrMapOvr>
    <a:masterClrMapping/>
  </p:clrMapOvr>
  <mc:AlternateContent xmlns:mc="http://schemas.openxmlformats.org/markup-compatibility/2006" xmlns:p14="http://schemas.microsoft.com/office/powerpoint/2010/main">
    <mc:Choice Requires="p14">
      <p:transition spd="slow" p14:dur="2000" advTm="68721"/>
    </mc:Choice>
    <mc:Fallback xmlns="">
      <p:transition spd="slow" advTm="6872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下面关于对象状态建模的说法中，正确的是：</a:t>
            </a:r>
          </a:p>
        </p:txBody>
      </p:sp>
      <p:sp>
        <p:nvSpPr>
          <p:cNvPr id="7" name="文本框 6"/>
          <p:cNvSpPr txBox="1"/>
          <p:nvPr>
            <p:custDataLst>
              <p:tags r:id="rId3"/>
            </p:custDataLst>
          </p:nvPr>
        </p:nvSpPr>
        <p:spPr>
          <a:xfrm>
            <a:off x="2688772" y="22444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大部分对象的状态空间都是有限的</a:t>
            </a:r>
          </a:p>
        </p:txBody>
      </p:sp>
      <p:sp>
        <p:nvSpPr>
          <p:cNvPr id="8" name="文本框 7"/>
          <p:cNvSpPr txBox="1"/>
          <p:nvPr>
            <p:custDataLst>
              <p:tags r:id="rId4"/>
            </p:custDataLst>
          </p:nvPr>
        </p:nvSpPr>
        <p:spPr>
          <a:xfrm>
            <a:off x="2688771" y="3101737"/>
            <a:ext cx="8806543"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对象状态建模要穷举对象能够到达的所有状态，保证完整性</a:t>
            </a:r>
          </a:p>
        </p:txBody>
      </p:sp>
      <p:sp>
        <p:nvSpPr>
          <p:cNvPr id="9" name="文本框 8"/>
          <p:cNvSpPr txBox="1"/>
          <p:nvPr>
            <p:custDataLst>
              <p:tags r:id="rId5"/>
            </p:custDataLst>
          </p:nvPr>
        </p:nvSpPr>
        <p:spPr>
          <a:xfrm>
            <a:off x="2688772" y="39589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大部分对象的状态空间大小是由它的属性取值决定的</a:t>
            </a:r>
          </a:p>
        </p:txBody>
      </p:sp>
      <p:sp>
        <p:nvSpPr>
          <p:cNvPr id="10" name="文本框 9"/>
          <p:cNvSpPr txBox="1"/>
          <p:nvPr>
            <p:custDataLst>
              <p:tags r:id="rId6"/>
            </p:custDataLst>
          </p:nvPr>
        </p:nvSpPr>
        <p:spPr>
          <a:xfrm>
            <a:off x="2688772" y="48162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对象的状态数量是由它对外提供的操作的数量决定的</a:t>
            </a:r>
          </a:p>
        </p:txBody>
      </p:sp>
      <p:sp>
        <p:nvSpPr>
          <p:cNvPr id="15" name="矩形: 圆角 14"/>
          <p:cNvSpPr/>
          <p:nvPr>
            <p:custDataLst>
              <p:tags r:id="rId7"/>
            </p:custDataLst>
          </p:nvPr>
        </p:nvSpPr>
        <p:spPr>
          <a:xfrm>
            <a:off x="8479972" y="139882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20" name="组合 19"/>
          <p:cNvGrpSpPr/>
          <p:nvPr>
            <p:custDataLst>
              <p:tags r:id="rId8"/>
            </p:custDataLst>
          </p:nvPr>
        </p:nvGrpSpPr>
        <p:grpSpPr>
          <a:xfrm>
            <a:off x="0" y="0"/>
            <a:ext cx="12192000" cy="635000"/>
            <a:chOff x="0" y="0"/>
            <a:chExt cx="12192000" cy="635000"/>
          </a:xfrm>
        </p:grpSpPr>
        <p:sp>
          <p:nvSpPr>
            <p:cNvPr id="16"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9"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1" name="文本框 20">
            <a:extLst>
              <a:ext uri="{FF2B5EF4-FFF2-40B4-BE49-F238E27FC236}">
                <a16:creationId xmlns:a16="http://schemas.microsoft.com/office/drawing/2014/main" id="{A4198204-46F9-9746-97D6-DAEE24F3A88D}"/>
              </a:ext>
            </a:extLst>
          </p:cNvPr>
          <p:cNvSpPr txBox="1"/>
          <p:nvPr/>
        </p:nvSpPr>
        <p:spPr>
          <a:xfrm>
            <a:off x="1768541" y="2350632"/>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状态迁移的发生不会受到哪个因素的影响？</a:t>
            </a:r>
          </a:p>
        </p:txBody>
      </p:sp>
      <p:sp>
        <p:nvSpPr>
          <p:cNvPr id="5" name="文本框 4"/>
          <p:cNvSpPr txBox="1"/>
          <p:nvPr>
            <p:custDataLst>
              <p:tags r:id="rId3"/>
            </p:custDataLst>
          </p:nvPr>
        </p:nvSpPr>
        <p:spPr>
          <a:xfrm>
            <a:off x="3254828" y="22344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目标状态</a:t>
            </a:r>
          </a:p>
        </p:txBody>
      </p:sp>
      <p:sp>
        <p:nvSpPr>
          <p:cNvPr id="6" name="文本框 5"/>
          <p:cNvSpPr txBox="1"/>
          <p:nvPr>
            <p:custDataLst>
              <p:tags r:id="rId4"/>
            </p:custDataLst>
          </p:nvPr>
        </p:nvSpPr>
        <p:spPr>
          <a:xfrm>
            <a:off x="3254828" y="30916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外部事件</a:t>
            </a:r>
          </a:p>
        </p:txBody>
      </p:sp>
      <p:sp>
        <p:nvSpPr>
          <p:cNvPr id="7" name="文本框 6"/>
          <p:cNvSpPr txBox="1"/>
          <p:nvPr>
            <p:custDataLst>
              <p:tags r:id="rId5"/>
            </p:custDataLst>
          </p:nvPr>
        </p:nvSpPr>
        <p:spPr>
          <a:xfrm>
            <a:off x="3254828" y="39489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警戒条件</a:t>
            </a:r>
          </a:p>
        </p:txBody>
      </p:sp>
      <p:sp>
        <p:nvSpPr>
          <p:cNvPr id="8" name="文本框 7"/>
          <p:cNvSpPr txBox="1"/>
          <p:nvPr>
            <p:custDataLst>
              <p:tags r:id="rId6"/>
            </p:custDataLst>
          </p:nvPr>
        </p:nvSpPr>
        <p:spPr>
          <a:xfrm>
            <a:off x="3254828" y="48061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迁移动作</a:t>
            </a:r>
          </a:p>
        </p:txBody>
      </p:sp>
      <p:sp>
        <p:nvSpPr>
          <p:cNvPr id="13" name="矩形: 圆角 12"/>
          <p:cNvSpPr/>
          <p:nvPr>
            <p:custDataLst>
              <p:tags r:id="rId7"/>
            </p:custDataLst>
          </p:nvPr>
        </p:nvSpPr>
        <p:spPr>
          <a:xfrm>
            <a:off x="7685314"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31A5573B-0E65-CB46-8CC4-6893DB9D900E}"/>
              </a:ext>
            </a:extLst>
          </p:cNvPr>
          <p:cNvSpPr txBox="1"/>
          <p:nvPr/>
        </p:nvSpPr>
        <p:spPr>
          <a:xfrm>
            <a:off x="1868167" y="2348348"/>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关于状态图与其他</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UML</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图的关系，说法不正确的是</a:t>
            </a:r>
          </a:p>
        </p:txBody>
      </p:sp>
      <p:sp>
        <p:nvSpPr>
          <p:cNvPr id="5" name="文本框 4"/>
          <p:cNvSpPr txBox="1"/>
          <p:nvPr>
            <p:custDataLst>
              <p:tags r:id="rId3"/>
            </p:custDataLst>
          </p:nvPr>
        </p:nvSpPr>
        <p:spPr>
          <a:xfrm>
            <a:off x="2732314"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状态图中的事件为顺序图中该对象的输入消息</a:t>
            </a:r>
          </a:p>
        </p:txBody>
      </p:sp>
      <p:sp>
        <p:nvSpPr>
          <p:cNvPr id="6" name="文本框 5"/>
          <p:cNvSpPr txBox="1"/>
          <p:nvPr>
            <p:custDataLst>
              <p:tags r:id="rId4"/>
            </p:custDataLst>
          </p:nvPr>
        </p:nvSpPr>
        <p:spPr>
          <a:xfrm>
            <a:off x="2732314"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状态图中每个动作对应于其他类的一个操作</a:t>
            </a:r>
          </a:p>
        </p:txBody>
      </p:sp>
      <p:sp>
        <p:nvSpPr>
          <p:cNvPr id="7" name="文本框 6"/>
          <p:cNvSpPr txBox="1"/>
          <p:nvPr>
            <p:custDataLst>
              <p:tags r:id="rId5"/>
            </p:custDataLst>
          </p:nvPr>
        </p:nvSpPr>
        <p:spPr>
          <a:xfrm>
            <a:off x="2732314"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状态图中的动作定义等价于类图中的操作定义</a:t>
            </a:r>
          </a:p>
        </p:txBody>
      </p:sp>
      <p:sp>
        <p:nvSpPr>
          <p:cNvPr id="8" name="文本框 7"/>
          <p:cNvSpPr txBox="1"/>
          <p:nvPr>
            <p:custDataLst>
              <p:tags r:id="rId6"/>
            </p:custDataLst>
          </p:nvPr>
        </p:nvSpPr>
        <p:spPr>
          <a:xfrm>
            <a:off x="2732314"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状态图应针对类图中所有的类进行建模</a:t>
            </a:r>
          </a:p>
        </p:txBody>
      </p:sp>
      <p:sp>
        <p:nvSpPr>
          <p:cNvPr id="13" name="矩形: 圆角 12"/>
          <p:cNvSpPr/>
          <p:nvPr>
            <p:custDataLst>
              <p:tags r:id="rId7"/>
            </p:custDataLst>
          </p:nvPr>
        </p:nvSpPr>
        <p:spPr>
          <a:xfrm>
            <a:off x="9099550" y="147780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EADA0985-AD8E-E341-8B8C-AE8ACE02F3E2}"/>
              </a:ext>
            </a:extLst>
          </p:cNvPr>
          <p:cNvSpPr txBox="1"/>
          <p:nvPr/>
        </p:nvSpPr>
        <p:spPr>
          <a:xfrm>
            <a:off x="1812084" y="2308325"/>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以下状态迁移上的警戒条件定义中，哪一组是最合适的？</a:t>
            </a:r>
          </a:p>
        </p:txBody>
      </p:sp>
      <p:sp>
        <p:nvSpPr>
          <p:cNvPr id="5" name="文本框 4"/>
          <p:cNvSpPr txBox="1"/>
          <p:nvPr>
            <p:custDataLst>
              <p:tags r:id="rId3"/>
            </p:custDataLst>
          </p:nvPr>
        </p:nvSpPr>
        <p:spPr>
          <a:xfrm>
            <a:off x="2614613" y="23288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等于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小于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614613" y="31861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大于等于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小于等于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614613" y="40433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小于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614613" y="49006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等于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8A37C830-ABAA-AE4F-BE2E-E5B3ADBFBD33}"/>
              </a:ext>
            </a:extLst>
          </p:cNvPr>
          <p:cNvSpPr txBox="1"/>
          <p:nvPr/>
        </p:nvSpPr>
        <p:spPr>
          <a:xfrm>
            <a:off x="1713967" y="2435008"/>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请同学们用状态图来描述信号灯的变化。</a:t>
            </a:r>
          </a:p>
        </p:txBody>
      </p:sp>
      <p:sp>
        <p:nvSpPr>
          <p:cNvPr id="5" name="矩形: 圆角 4"/>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2506" y="862140"/>
            <a:ext cx="5336849" cy="480316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1"/>
            <a:ext cx="9753600" cy="1052286"/>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请描述这个状态图的业务逻辑：</a:t>
            </a:r>
          </a:p>
        </p:txBody>
      </p:sp>
      <p:sp>
        <p:nvSpPr>
          <p:cNvPr id="5" name="矩形: 圆角 4"/>
          <p:cNvSpPr/>
          <p:nvPr>
            <p:custDataLst>
              <p:tags r:id="rId3"/>
            </p:custDataLst>
          </p:nvPr>
        </p:nvSpPr>
        <p:spPr>
          <a:xfrm>
            <a:off x="7184571" y="77233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pic>
        <p:nvPicPr>
          <p:cNvPr id="13" name="图片 1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35628" y="1325311"/>
            <a:ext cx="8723947" cy="4402072"/>
          </a:xfrm>
          <a:prstGeom prst="rect">
            <a:avLst/>
          </a:prstGeom>
        </p:spPr>
      </p:pic>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M4NDZmNzMwY2RmMWEwMjljNTFjYjY5OGI3ZTk1MmU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TIMING" val="|7.4|28.4|7|13.3"/>
</p:tagLst>
</file>

<file path=ppt/tags/tag8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1182</TotalTime>
  <Words>11942</Words>
  <Application>Microsoft Macintosh PowerPoint</Application>
  <PresentationFormat>宽屏</PresentationFormat>
  <Paragraphs>960</Paragraphs>
  <Slides>68</Slides>
  <Notes>54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68</vt:i4>
      </vt:variant>
    </vt:vector>
  </HeadingPairs>
  <TitlesOfParts>
    <vt:vector size="77" baseType="lpstr">
      <vt:lpstr>等线</vt:lpstr>
      <vt:lpstr>华文新魏</vt:lpstr>
      <vt:lpstr>微软雅黑</vt:lpstr>
      <vt:lpstr>Arial</vt:lpstr>
      <vt:lpstr>Calibri</vt:lpstr>
      <vt:lpstr>Calibri Light</vt:lpstr>
      <vt:lpstr>Tahoma</vt:lpstr>
      <vt:lpstr>Times New Roman</vt:lpstr>
      <vt:lpstr>Office 主题</vt:lpstr>
      <vt:lpstr>顺序图 Sequence Diagram</vt:lpstr>
      <vt:lpstr>思考题：有缺陷的顺序图</vt:lpstr>
      <vt:lpstr>修改方案一</vt:lpstr>
      <vt:lpstr>集中、分布控制</vt:lpstr>
      <vt:lpstr>例1：集中控制的计价系统顺序图</vt:lpstr>
      <vt:lpstr>例2：分布控制的计价系统顺序图</vt:lpstr>
      <vt:lpstr>顺序图与用例的关系 I</vt:lpstr>
      <vt:lpstr>顺序图与用例对应</vt:lpstr>
      <vt:lpstr>顺序图与用例的关系 II</vt:lpstr>
      <vt:lpstr>从用例中抽取顺序图</vt:lpstr>
      <vt:lpstr>顺序图建模意义</vt:lpstr>
      <vt:lpstr>顺序图建模风格</vt:lpstr>
      <vt:lpstr>顺序图建模风格</vt:lpstr>
      <vt:lpstr>顺序图建模风格</vt:lpstr>
      <vt:lpstr>顺序图常见问题分析</vt:lpstr>
      <vt:lpstr>控制焦点(focus of control)的嵌套</vt:lpstr>
      <vt:lpstr>顺序图常见问题分析</vt:lpstr>
      <vt:lpstr>顺序图常见问题分析</vt:lpstr>
      <vt:lpstr>顺序图的作用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状态图 State Model</vt:lpstr>
      <vt:lpstr>状态建模</vt:lpstr>
      <vt:lpstr>对象及其状态</vt:lpstr>
      <vt:lpstr>有限状态机</vt:lpstr>
      <vt:lpstr>状态空间</vt:lpstr>
      <vt:lpstr>状态的抽象表示</vt:lpstr>
      <vt:lpstr>模型建立的过程——状态空间的分解</vt:lpstr>
      <vt:lpstr>建模什么？——现实世界还是机器世界</vt:lpstr>
      <vt:lpstr>状态图（State Chart/State Machine Diagram）</vt:lpstr>
      <vt:lpstr>状态图建模</vt:lpstr>
      <vt:lpstr>状态的定义</vt:lpstr>
      <vt:lpstr>事件的定义</vt:lpstr>
      <vt:lpstr>PowerPoint 演示文稿</vt:lpstr>
      <vt:lpstr>UML状态图中的状态(State)</vt:lpstr>
      <vt:lpstr>UML状态图中的迁移(Transitions)</vt:lpstr>
      <vt:lpstr>UML状态图中的事件(Event)</vt:lpstr>
      <vt:lpstr>UML状态图中的事件(Event)——变更(Change)事件</vt:lpstr>
      <vt:lpstr>UML状态图中的事件(Event)——调用(Call)事件</vt:lpstr>
      <vt:lpstr>UML状态图中的事件(Event)——时间(Time)事件</vt:lpstr>
      <vt:lpstr>UML状态图中的事件(Event)——信号(Signal)事件</vt:lpstr>
      <vt:lpstr>UML状态图中的动作(Action)</vt:lpstr>
      <vt:lpstr>例：订单处理</vt:lpstr>
      <vt:lpstr>UML状态图中的组合状态（Superstates）</vt:lpstr>
      <vt:lpstr>PowerPoint 演示文稿</vt:lpstr>
      <vt:lpstr>PowerPoint 演示文稿</vt:lpstr>
      <vt:lpstr>组合状态的状态迁移</vt:lpstr>
      <vt:lpstr>练习：组合状态</vt:lpstr>
      <vt:lpstr>参考答案</vt:lpstr>
      <vt:lpstr>UML状态图中的历史状态(History State)</vt:lpstr>
      <vt:lpstr>例：课程注册</vt:lpstr>
      <vt:lpstr>状态图的工具支持</vt:lpstr>
      <vt:lpstr>PowerPoint 演示文稿</vt:lpstr>
      <vt:lpstr>状态图与其他UML图的关系</vt:lpstr>
      <vt:lpstr>状态图建模风格</vt:lpstr>
      <vt:lpstr>状态图的检查表</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Microsoft Office User</cp:lastModifiedBy>
  <cp:revision>1562</cp:revision>
  <dcterms:created xsi:type="dcterms:W3CDTF">2020-02-05T07:10:00Z</dcterms:created>
  <dcterms:modified xsi:type="dcterms:W3CDTF">2026-04-27T01:27:22Z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1227D6447F5946A59643BD1BC05BC510</vt:lpwstr>
  </property>
  <property fmtid="{D5CDD505-2E9C-101B-9397-08002B2CF9AE}" pid="3" name="KSOProductBuildVer">
    <vt:lpwstr>2052-11.1.0.11636</vt:lpwstr>
  </property>
</Properties>
</file>