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notesSlides/notesSlide32.xml" ContentType="application/vnd.openxmlformats-officedocument.presentationml.notesSlide+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81"/>
  </p:notesMasterIdLst>
  <p:handoutMasterIdLst>
    <p:handoutMasterId r:id="rId82"/>
  </p:handoutMasterIdLst>
  <p:sldIdLst>
    <p:sldId id="363" r:id="rId2"/>
    <p:sldId id="364" r:id="rId3"/>
    <p:sldId id="365" r:id="rId4"/>
    <p:sldId id="366" r:id="rId5"/>
    <p:sldId id="367" r:id="rId6"/>
    <p:sldId id="368" r:id="rId7"/>
    <p:sldId id="369" r:id="rId8"/>
    <p:sldId id="371" r:id="rId9"/>
    <p:sldId id="370" r:id="rId10"/>
    <p:sldId id="787" r:id="rId11"/>
    <p:sldId id="788" r:id="rId12"/>
    <p:sldId id="659" r:id="rId13"/>
    <p:sldId id="661" r:id="rId14"/>
    <p:sldId id="410" r:id="rId15"/>
    <p:sldId id="384" r:id="rId16"/>
    <p:sldId id="385" r:id="rId17"/>
    <p:sldId id="386" r:id="rId18"/>
    <p:sldId id="387" r:id="rId19"/>
    <p:sldId id="389" r:id="rId20"/>
    <p:sldId id="388" r:id="rId21"/>
    <p:sldId id="390" r:id="rId22"/>
    <p:sldId id="391" r:id="rId23"/>
    <p:sldId id="380" r:id="rId24"/>
    <p:sldId id="394" r:id="rId25"/>
    <p:sldId id="395" r:id="rId26"/>
    <p:sldId id="396" r:id="rId27"/>
    <p:sldId id="397" r:id="rId28"/>
    <p:sldId id="398" r:id="rId29"/>
    <p:sldId id="399" r:id="rId30"/>
    <p:sldId id="400" r:id="rId31"/>
    <p:sldId id="401" r:id="rId32"/>
    <p:sldId id="402" r:id="rId33"/>
    <p:sldId id="403" r:id="rId34"/>
    <p:sldId id="673" r:id="rId35"/>
    <p:sldId id="655" r:id="rId36"/>
    <p:sldId id="271" r:id="rId37"/>
    <p:sldId id="432" r:id="rId38"/>
    <p:sldId id="406" r:id="rId39"/>
    <p:sldId id="258" r:id="rId40"/>
    <p:sldId id="259" r:id="rId41"/>
    <p:sldId id="427" r:id="rId42"/>
    <p:sldId id="261" r:id="rId43"/>
    <p:sldId id="262" r:id="rId44"/>
    <p:sldId id="677" r:id="rId45"/>
    <p:sldId id="264" r:id="rId46"/>
    <p:sldId id="256" r:id="rId47"/>
    <p:sldId id="257" r:id="rId48"/>
    <p:sldId id="407" r:id="rId49"/>
    <p:sldId id="408" r:id="rId50"/>
    <p:sldId id="409" r:id="rId51"/>
    <p:sldId id="678" r:id="rId52"/>
    <p:sldId id="433" r:id="rId53"/>
    <p:sldId id="411" r:id="rId54"/>
    <p:sldId id="412" r:id="rId55"/>
    <p:sldId id="413" r:id="rId56"/>
    <p:sldId id="265" r:id="rId57"/>
    <p:sldId id="266" r:id="rId58"/>
    <p:sldId id="267" r:id="rId59"/>
    <p:sldId id="268" r:id="rId60"/>
    <p:sldId id="414" r:id="rId61"/>
    <p:sldId id="415" r:id="rId62"/>
    <p:sldId id="416" r:id="rId63"/>
    <p:sldId id="417" r:id="rId64"/>
    <p:sldId id="418" r:id="rId65"/>
    <p:sldId id="419" r:id="rId66"/>
    <p:sldId id="420" r:id="rId67"/>
    <p:sldId id="421" r:id="rId68"/>
    <p:sldId id="422" r:id="rId69"/>
    <p:sldId id="423" r:id="rId70"/>
    <p:sldId id="428" r:id="rId71"/>
    <p:sldId id="429" r:id="rId72"/>
    <p:sldId id="426" r:id="rId73"/>
    <p:sldId id="669" r:id="rId74"/>
    <p:sldId id="670" r:id="rId75"/>
    <p:sldId id="671" r:id="rId76"/>
    <p:sldId id="672" r:id="rId77"/>
    <p:sldId id="679" r:id="rId78"/>
    <p:sldId id="680" r:id="rId79"/>
    <p:sldId id="681" r:id="rId80"/>
  </p:sldIdLst>
  <p:sldSz cx="12192000" cy="6858000"/>
  <p:notesSz cx="6858000" cy="9144000"/>
  <p:custDataLst>
    <p:tags r:id="rId8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6" autoAdjust="0"/>
    <p:restoredTop sz="70738" autoAdjust="0"/>
  </p:normalViewPr>
  <p:slideViewPr>
    <p:cSldViewPr snapToGrid="0">
      <p:cViewPr varScale="1">
        <p:scale>
          <a:sx n="50" d="100"/>
          <a:sy n="50" d="100"/>
        </p:scale>
        <p:origin x="1038" y="21"/>
      </p:cViewPr>
      <p:guideLst/>
    </p:cSldViewPr>
  </p:slideViewPr>
  <p:notesTextViewPr>
    <p:cViewPr>
      <p:scale>
        <a:sx n="1" d="1"/>
        <a:sy n="1" d="1"/>
      </p:scale>
      <p:origin x="0" y="0"/>
    </p:cViewPr>
  </p:notesTextViewPr>
  <p:notesViewPr>
    <p:cSldViewPr snapToGrid="0">
      <p:cViewPr varScale="1">
        <p:scale>
          <a:sx n="91" d="100"/>
          <a:sy n="91" d="100"/>
        </p:scale>
        <p:origin x="3564" y="66"/>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notesMaster" Target="notesMasters/notesMaster1.xml"/><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DF93876-BC66-44D0-A782-3029BC273055}" type="datetimeFigureOut">
              <a:rPr lang="zh-CN" altLang="en-US" smtClean="0"/>
              <a:t>2025/3/31</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266AF24-79C7-4806-8694-F79DC346854C}"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F512EB-98A4-4BE7-BD65-71E5CEC2079E}" type="datetimeFigureOut">
              <a:rPr lang="zh-CN" altLang="en-US" smtClean="0"/>
              <a:t>2025/3/31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308F8E-A66F-462A-B457-A69A741C0933}"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人们常常提到的四项面向对象设计的原则，包括开闭原则、里氏替换原则、依赖倒置原则和接口分离原则。其中开闭原则是最能反映面向对象设计的目的的。他主要的思想是软件实体要在扩展性方面保持开放，而在更改行方面应该是保持封闭的。也就是说应该尽量使得软件系统是可扩展的，而在扩展的过程中，不需要对源代码进行修改。为了实现开闭原则，我们就要尽可能多的使用接口进行封装，采用抽象机制，运用多态技术。比如在这两个类图里，设计</a:t>
            </a:r>
            <a:r>
              <a:rPr lang="en-US" altLang="zh-CN" dirty="0"/>
              <a:t>1</a:t>
            </a:r>
            <a:r>
              <a:rPr lang="zh-CN" altLang="en-US" dirty="0"/>
              <a:t>就是将输出操作直接定义为与具体的某种输出设备直接关联的形式，而设计</a:t>
            </a:r>
            <a:r>
              <a:rPr lang="en-US" altLang="zh-CN" dirty="0"/>
              <a:t>2</a:t>
            </a:r>
            <a:r>
              <a:rPr lang="zh-CN" altLang="en-US" dirty="0"/>
              <a:t>就在输出和具体的设备之间定义了一个抽象接口，叫</a:t>
            </a:r>
            <a:r>
              <a:rPr lang="en-US" altLang="zh-CN" dirty="0"/>
              <a:t>print</a:t>
            </a:r>
            <a:r>
              <a:rPr lang="zh-CN" altLang="en-US" dirty="0"/>
              <a:t>，通过在中间层次引入一个抽象接口，可以使得我们的软件实体中当出现新的设备类时，我们可以用新设备来实现这个接口，而不需要修改</a:t>
            </a:r>
            <a:r>
              <a:rPr lang="en-US" altLang="zh-CN" dirty="0"/>
              <a:t>Output</a:t>
            </a:r>
            <a:r>
              <a:rPr lang="zh-CN" altLang="en-US" dirty="0"/>
              <a:t>这个客户端的对象相关的源代码，从而实现在扩展性方面开放，而在更改性上封闭。因此设计</a:t>
            </a:r>
            <a:r>
              <a:rPr lang="en-US" altLang="zh-CN" dirty="0"/>
              <a:t>2</a:t>
            </a:r>
            <a:r>
              <a:rPr lang="zh-CN" altLang="en-US" dirty="0"/>
              <a:t>的接口更加符合我们倡导的满足开闭原则</a:t>
            </a:r>
            <a:r>
              <a:rPr lang="en-US" altLang="zh-CN" dirty="0"/>
              <a:t>.</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第二个原则就是里氏替换原则，即</a:t>
            </a:r>
            <a:r>
              <a:rPr lang="zh-CN" altLang="en-US" sz="1200" b="0" i="0" kern="1200" dirty="0">
                <a:solidFill>
                  <a:schemeClr val="tx1"/>
                </a:solidFill>
                <a:effectLst/>
                <a:latin typeface="+mn-lt"/>
                <a:ea typeface="+mn-ea"/>
                <a:cs typeface="+mn-cs"/>
              </a:rPr>
              <a:t>任何基类出现的地方都应该可以无差别的使用子类替换。通俗地讲，就是子类型能够完全替换父类型，而不会让调用父类型的客户程序从行为上有任何改变。在面向对象设计中，我们有了继承和泛化的概念，继承的优点是大大提升了代码的复用度，但是它的缺点也同样明显：增加了对象的耦合程度，破坏了程序的封装性，导致程序的可移植性变差。这里耦合可以简单理解为相互影响、相互作用。继承容易破环程序的封装性，而使用里氏替换原则可以大大减少我们代码的出错概率。这么说可能比较抽象。</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下面我们来看一个违反里氏替换原则的例子。如果我们将正方形作为长方形类的一个子类，那么我们应该如何定义正方形类中设置边长的方法呢？</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先我们看第一个解决方法，这里由于正方形继承了长方形类，我们将正方形中边长的设置定义为在设置长和设置宽的方法里，实际上都将正方形的长宽设置为跟参数一样。那么这个方法是否满足里氏替换原则呢？</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我们看这样一段测试代码。我们在主函数中分别创建了一个长方形对象</a:t>
            </a:r>
            <a:r>
              <a:rPr lang="en-US" altLang="zh-CN" dirty="0"/>
              <a:t>r</a:t>
            </a:r>
            <a:r>
              <a:rPr lang="zh-CN" altLang="en-US" dirty="0"/>
              <a:t>和一个正方形对象</a:t>
            </a:r>
            <a:r>
              <a:rPr lang="en-US" altLang="zh-CN" dirty="0"/>
              <a:t>s</a:t>
            </a:r>
            <a:r>
              <a:rPr lang="zh-CN" altLang="en-US" dirty="0"/>
              <a:t>，然后我们计算图形的面积。我们通过红色的代码将长方形的长和宽分别设置为</a:t>
            </a:r>
            <a:r>
              <a:rPr lang="en-US" altLang="zh-CN" dirty="0"/>
              <a:t>10</a:t>
            </a:r>
            <a:r>
              <a:rPr lang="zh-CN" altLang="en-US" dirty="0"/>
              <a:t>和</a:t>
            </a:r>
            <a:r>
              <a:rPr lang="en-US" altLang="zh-CN" dirty="0"/>
              <a:t>20</a:t>
            </a:r>
            <a:r>
              <a:rPr lang="zh-CN" altLang="en-US" dirty="0"/>
              <a:t>，那么此时可以确定长方形的面积是</a:t>
            </a:r>
            <a:r>
              <a:rPr lang="en-US" altLang="zh-CN" dirty="0"/>
              <a:t>200</a:t>
            </a:r>
            <a:r>
              <a:rPr lang="zh-CN" altLang="en-US" dirty="0"/>
              <a:t>。但是如果此时我们用绿色的代码来替代红色的代码，也就是用</a:t>
            </a:r>
            <a:r>
              <a:rPr lang="en-US" altLang="zh-CN" dirty="0"/>
              <a:t>s</a:t>
            </a:r>
            <a:r>
              <a:rPr lang="zh-CN" altLang="en-US" dirty="0"/>
              <a:t>这个正方形对象去替换它的父类对象时，还会得到一样的结果吗？很显然不是的，当传给方法</a:t>
            </a:r>
            <a:r>
              <a:rPr lang="en-US" altLang="zh-CN" dirty="0"/>
              <a:t>g</a:t>
            </a:r>
            <a:r>
              <a:rPr lang="zh-CN" altLang="en-US" dirty="0"/>
              <a:t>的参数时正方形类的对象时，此时正方形的长和宽最后都被设置成了</a:t>
            </a:r>
            <a:r>
              <a:rPr lang="en-US" altLang="zh-CN" dirty="0"/>
              <a:t>20</a:t>
            </a:r>
            <a:r>
              <a:rPr lang="zh-CN" altLang="en-US" dirty="0"/>
              <a:t>，面积就变成了</a:t>
            </a:r>
            <a:r>
              <a:rPr lang="en-US" altLang="zh-CN" dirty="0"/>
              <a:t>400</a:t>
            </a:r>
            <a:r>
              <a:rPr lang="zh-CN" altLang="en-US" dirty="0"/>
              <a:t>，这两者的结果是不一样的，在这种情况下，我们可以看出，将正方形建模为长方形的子类并不是一个好的设计，因为我们定义的继承关系是针对类的行为，而不是针对简单的属性和字面意思。</a:t>
            </a:r>
            <a:r>
              <a:rPr lang="zh-CN" altLang="en-US" sz="1200" b="0" i="0" kern="1200" dirty="0">
                <a:solidFill>
                  <a:schemeClr val="tx1"/>
                </a:solidFill>
                <a:effectLst/>
                <a:latin typeface="+mn-lt"/>
                <a:ea typeface="+mn-ea"/>
                <a:cs typeface="+mn-cs"/>
              </a:rPr>
              <a:t>现实世界中继承的例子，不能够完全直接套用在程序世界中</a:t>
            </a:r>
            <a:r>
              <a:rPr lang="zh-CN" altLang="en-US" dirty="0"/>
              <a:t>从测试类的角度来看，</a:t>
            </a:r>
            <a:r>
              <a:rPr lang="en-US" altLang="zh-CN" dirty="0"/>
              <a:t>g</a:t>
            </a:r>
            <a:r>
              <a:rPr lang="zh-CN" altLang="en-US" dirty="0"/>
              <a:t>方法对正方形和长方形的行为是不同的，因此，如果按照刚刚的继承生命，这样的建模是很容易出错的。</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那么我们如何知道子类的行为是符合父类的上下文场景要求的呢。其实契约式设计是一个比较好的设计方法。也就是说我们在设计时，要明确的了解外部环境对子类和父类的前置条件和后置条件的要求。满足里氏替换原则的设计要求是，子类方法的前置条件不能强于父类方法的前置条件，子类方法的后置。。。也就是说，里氏替换原则要求子类的行为宽入严出。通俗的说，</a:t>
            </a:r>
            <a:r>
              <a:rPr lang="zh-CN" altLang="en-US" sz="1200" b="0" i="0" kern="1200" dirty="0">
                <a:solidFill>
                  <a:schemeClr val="tx1"/>
                </a:solidFill>
                <a:effectLst/>
                <a:latin typeface="+mn-lt"/>
                <a:ea typeface="+mn-ea"/>
                <a:cs typeface="+mn-cs"/>
              </a:rPr>
              <a:t>从调用父类的客户程序的角度来说，它关心的仅仅是父类的行 为，只要可以在任何父类出现的地方用子类来替代，而不影响父类本来的行为，那么就不算是违背该原则。因此，我们在设计过程中子类可以扩展新功能，但是尽量不要</a:t>
            </a:r>
            <a:r>
              <a:rPr lang="zh-CN" altLang="en-US" sz="1200" b="1" i="0" kern="1200" dirty="0">
                <a:solidFill>
                  <a:schemeClr val="tx1"/>
                </a:solidFill>
                <a:effectLst/>
                <a:latin typeface="+mn-lt"/>
                <a:ea typeface="+mn-ea"/>
                <a:cs typeface="+mn-cs"/>
              </a:rPr>
              <a:t>重写</a:t>
            </a:r>
            <a:r>
              <a:rPr lang="en-US" altLang="zh-CN" sz="1200" b="1" i="0" kern="1200" dirty="0">
                <a:solidFill>
                  <a:schemeClr val="tx1"/>
                </a:solidFill>
                <a:effectLst/>
                <a:latin typeface="+mn-lt"/>
                <a:ea typeface="+mn-ea"/>
                <a:cs typeface="+mn-cs"/>
              </a:rPr>
              <a:t>/</a:t>
            </a:r>
            <a:r>
              <a:rPr lang="zh-CN" altLang="en-US" sz="1200" b="1" i="0" kern="1200" dirty="0">
                <a:solidFill>
                  <a:schemeClr val="tx1"/>
                </a:solidFill>
                <a:effectLst/>
                <a:latin typeface="+mn-lt"/>
                <a:ea typeface="+mn-ea"/>
                <a:cs typeface="+mn-cs"/>
              </a:rPr>
              <a:t>重载</a:t>
            </a:r>
            <a:r>
              <a:rPr lang="zh-CN" altLang="en-US" sz="1200" b="0" i="0" kern="1200" dirty="0">
                <a:solidFill>
                  <a:schemeClr val="tx1"/>
                </a:solidFill>
                <a:effectLst/>
                <a:latin typeface="+mn-lt"/>
                <a:ea typeface="+mn-ea"/>
                <a:cs typeface="+mn-cs"/>
              </a:rPr>
              <a:t>父类的接口，导致父类不可被子类替换。另一方面，当我们发现父类拥有子类不希望继承，或者勉强继承会对子类造成破坏时 ，正可以说明这个继承体系可能存在问题。简单来说，子类并不关心父类的行为，但却需要遵循父类制定的规范或契约，以满足客户调用父类的期望。如果前人制定的规范我们不遵循，反而要去打破，那就不是继承，而是要另起炉灶了。</a:t>
            </a:r>
            <a:r>
              <a:rPr lang="zh-CN" altLang="en-US" dirty="0"/>
              <a:t>显然，里氏</a:t>
            </a:r>
            <a:r>
              <a:rPr lang="zh-CN" altLang="en-US" sz="1200" b="0" i="0" kern="1200" dirty="0">
                <a:solidFill>
                  <a:schemeClr val="tx1"/>
                </a:solidFill>
                <a:effectLst/>
                <a:latin typeface="+mn-lt"/>
                <a:ea typeface="+mn-ea"/>
                <a:cs typeface="+mn-cs"/>
              </a:rPr>
              <a:t>替换原则对于约束继承的泛滥具有重要意义。</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三个原则是依赖倒置原则，它是指我们在建立依赖关系时，应该尽量以来抽象的接口或者抽象类，而不是。。我们之前学过结构化设计，从结构化设计中。。。可以看出主程序依赖几个大的模块，每个大模块又依赖几个更细的模块。这与依赖倒置原则中尽量。。而不是。。是背道而驰的。</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面向对象中的依赖关系强调在顶层具体的客户类之间和具体类之间建立抽象的接口和抽象类，这样我们就能够确保无论是程序应用场景发生变化，还是底层的具体实现发生变化，都能够保证中间程序结构的稳定性，确保软件正常演化。</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最后接口分离原则是说我们在设计时要建立比较小的接口，要采用多个和特定。。接口分离原则只是一个相对的建议，使用通用的接口，其好处是对客户端来说，只需要知道一个接口的信息就好，但是采用分离接口就意味着每个接口的修改，其影响范围比较小，不容易牵一发而动全身。这是一个权衡的过程。</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好的系统设计有一些公认的特征。首先，他应该是用户友好的，易于开发人员理解的、可靠性强，易于扩展，容易移植，伸缩性好，又可以重用。简单总结，好的系统，应该看起来简单、用起来简单、实现起来简单、理解和维护也都简单。那么，不好的系统，或者已经逐渐老化的软件系统，其特征也是很明显的。就是修改难。。难以移植。。代码很难重用，设计和环境的粘性也非常强，各方面的效率也都非常低。软件系统总是有一个老化的过程，这是由需求的变更、技术的更迭导致的。如果是一个好的系统，它应该是可以让老化的周期更长，能够维持稳定，运行时间相对久一些。</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要建立良好的软件设计，尤其是采用面向对象的设计方法时，我们应该注意一下问题：包括类中方法名字的命名应该遵守约定俗成的习惯，应该较少类之间消息交互的不同类型，也就是说，尽可能使消息有一致的，便于后续开发者的理解。要设计简单的类，类的职责。。用途和对外提供的服务。定义简单的方法和交互协议。继承的层次的深度不要过多，</a:t>
            </a:r>
            <a:r>
              <a:rPr lang="en-US" altLang="zh-CN" dirty="0"/>
              <a:t>3~4</a:t>
            </a:r>
            <a:r>
              <a:rPr lang="zh-CN" altLang="en-US" dirty="0"/>
              <a:t>层已经是最多。要把设计的变动所产生的波及范围和副作用减少至最小。</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下面我们介绍</a:t>
            </a:r>
            <a:r>
              <a:rPr lang="en-US" altLang="zh-CN" dirty="0"/>
              <a:t>UML</a:t>
            </a:r>
            <a:r>
              <a:rPr lang="zh-CN" altLang="en-US" dirty="0"/>
              <a:t>类图有关的内容。</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14</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类、对象和它们之间的关系使面向对象设计中最基本的元素。类图技术使面向对象方法的核心。类图标和他们之间的关系就组成了一个类图。那么，类究竟是什么呢。类是以下特征的对象的集合。换句话说，我们可以把类看作是一个大口袋，在每个类中，他的口袋里装的是从属于这个类的所有对象元素的集合。那么这些对象有什么相同点呢？首先他们具有相同的性质，也就是属性，其次他们有相同的行为，也就是操作，还有这些对象他们与外界的其他对象有着同样的关系。并且这些对象具有相同的建模语义，也就是说它在含义上也是相同的。类图描述的是类和类之间的静态关系。它和数据模型不同的是它不仅仅显示了信息的结构，还包含了系统的行为。例如，在这个图中建模的就是雇员类的对象的行为。每个雇员我们都关注它的姓名、员工号、所属部门，而关于雇员相关的服务包括它被雇佣、被解雇、以及项目任务的分配。所以通过这个模型我们知道，在当前的这个问题场景的上下文中，我们关注的是这个类对象的哪些方面的性质和行为，它将和其他的外部对象发生什么样的交互关系。</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15</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另外一个核心的概念就是对象，对象是类的实例，它的表示方法和类图标差不多，但是对象名的定义是要包括具体实例的名字，而它的属性的定义是需要包括属性具体的取值。两个不同的对象可以有相同的属性取值，正如我们在现实生活中会碰到具有相同名字的人，住在相同地址的人，这些都指的是他们的属性取值相同，但是其实他们的身份不同，不是同一个对象。一个对象和其他的对象在现实社会中有着各种各样的关联关系，比如说这个交</a:t>
            </a:r>
            <a:r>
              <a:rPr lang="en-US" altLang="zh-CN" dirty="0" err="1"/>
              <a:t>fred</a:t>
            </a:r>
            <a:r>
              <a:rPr lang="en-US" altLang="zh-CN" dirty="0"/>
              <a:t> </a:t>
            </a:r>
            <a:r>
              <a:rPr lang="en-US" altLang="zh-CN" dirty="0" err="1"/>
              <a:t>bloggs</a:t>
            </a:r>
            <a:r>
              <a:rPr lang="zh-CN" altLang="en-US" dirty="0"/>
              <a:t>的雇员他和</a:t>
            </a:r>
            <a:r>
              <a:rPr lang="en-US" altLang="zh-CN" dirty="0"/>
              <a:t>Killer Application</a:t>
            </a:r>
            <a:r>
              <a:rPr lang="zh-CN" altLang="en-US" dirty="0"/>
              <a:t>这个项目对象之间有着关联，也就是说他被分配到完成这个</a:t>
            </a:r>
            <a:r>
              <a:rPr lang="en-US" altLang="zh-CN" dirty="0"/>
              <a:t>killer application</a:t>
            </a:r>
            <a:r>
              <a:rPr lang="zh-CN" altLang="en-US" dirty="0"/>
              <a:t>项目，但是我们在定义对象之间的关系时，需要在类的层次上定义，也就是对象的关联关系要定义为类与类之间的关联关系，这是因为我们需要定义的是可以重用的对象之间的关联关系，而不仅仅是定义一个具体的对象关联关系，在对象的定义过程中，我们要注意的一点是，对象的属性要被划分到合适的类层次中，而且我们要注意，在属性的定义中，最重要的就是将属性封装为对象私有的信息，外部的对象要访问这个属性，是需要访问这个对象对外提供的服务，因此我们就不能把类似经理姓名和。。。的属性里，而应该把这两者定义到经理或者员工的对象类中，然后再</a:t>
            </a:r>
            <a:r>
              <a:rPr lang="en-US" altLang="zh-CN" dirty="0"/>
              <a:t>project</a:t>
            </a:r>
            <a:r>
              <a:rPr lang="zh-CN" altLang="en-US" dirty="0"/>
              <a:t>类中提供唯一的</a:t>
            </a:r>
            <a:r>
              <a:rPr lang="en-US" altLang="zh-CN" dirty="0"/>
              <a:t>ID</a:t>
            </a:r>
            <a:r>
              <a:rPr lang="zh-CN" altLang="en-US" dirty="0"/>
              <a:t>去访问引用经理。这样我们才能够保证数据的封装完整性。</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16</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属性的定义是类定义的主要方面之一。在为类选取属性时，我们要考虑的是，通过这些定义的属性，我们能够描述并区分该类对象吗，我们只把系统感兴趣的那些特征放在类的属性定义中，根据图的详细程度，每条属性可以包括可见性、名称、类型、多样性、初值和约束，其中属性的可见性主要分为四类：一是共有属性，就是所有元素都可以访问的属性，在建模过程中我们应该尽量避免使用共有属性，因为它破坏了数据的封装性，而应该尽量多用私有属性，私有属性是那些只能自己访问的信息，受保护的属性是指只有他的直接子类对象可以访问的属性，右边给出了一些属性声明的例子。在这个例子中，共有属性是用加号来标志的，私有属性使用减号来标志的，我们用井号来表示受保护的属性，前面有一个波浪线的属性表示这个属性能够被同一个</a:t>
            </a:r>
            <a:r>
              <a:rPr lang="en-US" altLang="zh-CN" dirty="0"/>
              <a:t>package</a:t>
            </a:r>
            <a:r>
              <a:rPr lang="zh-CN" altLang="en-US" dirty="0"/>
              <a:t>内的对象访问，而不能跨包访问。当我们在一个属性定义的最后加上</a:t>
            </a:r>
            <a:r>
              <a:rPr lang="en-US" altLang="zh-CN" dirty="0"/>
              <a:t>01</a:t>
            </a:r>
            <a:r>
              <a:rPr lang="zh-CN" altLang="en-US" dirty="0"/>
              <a:t>的标志，就表示这个属性可能取空值。</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17</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应用领域中的对象并不是独立的，在对象之间存在千丝万缕的联系。我们就用类关系来建模对象之间的关系。在</a:t>
            </a:r>
            <a:r>
              <a:rPr lang="en-US" altLang="zh-CN" dirty="0"/>
              <a:t>UML</a:t>
            </a:r>
            <a:r>
              <a:rPr lang="zh-CN" altLang="en-US" dirty="0"/>
              <a:t>中我们关注以下几种类型的关系：关联关系、聚合。。。泛化关系也就是继承关系、依赖关系和实现关系。这里聚合和组合关系是关联关系的一个特例，继承关系是类与类之间的一种层次关系。依赖关系是彼此使用对方服务的关系。实现关系，则是指具体类对抽象接口的实现关系。最后两种关系的建模比较直观，且应用场景较为特殊。我们最主要要考虑的就是关联关系和泛化关系，以及关联关系的特例，表达整体</a:t>
            </a:r>
            <a:r>
              <a:rPr lang="en-US" altLang="zh-CN" dirty="0"/>
              <a:t>-</a:t>
            </a:r>
            <a:r>
              <a:rPr lang="zh-CN" altLang="en-US" dirty="0"/>
              <a:t>部分结构的聚合和组合关系。在最下面我们给出了一个类图，以及描述类图中三个类彼此之间关联关系的实例。比如中间的类是市场活动，这个活动需要有广告和推广，因此与广告类有交互；同时左边的客户也需要参加这个活动，因此要调用活动类来访问活动相关的信息。</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18</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关联关系中，多样性，有时候也叫做维度，它实际上是在试图约束关联关系中对象的数量。比如在前面的类图中，关联关系是在试图回答以下的问题：在一个市场活动类对象存在的时候，是不是一定要有一个员工类对象同时存在呢。如果是这种情况，那么员工对象是必选的，它的多样性或者维度的定义就应该是</a:t>
            </a:r>
            <a:r>
              <a:rPr lang="en-US" altLang="zh-CN" dirty="0"/>
              <a:t>1</a:t>
            </a:r>
            <a:r>
              <a:rPr lang="zh-CN" altLang="en-US" dirty="0"/>
              <a:t>或者多个，如果市场活动对象能够在没有员工类对象存在的情况下独立存在，那么员工类对象的一端就是可选的，那么它的多样性或者维度的定义就是</a:t>
            </a:r>
            <a:r>
              <a:rPr lang="en-US" altLang="zh-CN" dirty="0"/>
              <a:t>0</a:t>
            </a:r>
            <a:r>
              <a:rPr lang="zh-CN" altLang="en-US" dirty="0"/>
              <a:t>或者</a:t>
            </a:r>
            <a:r>
              <a:rPr lang="en-US" altLang="zh-CN" dirty="0"/>
              <a:t>N</a:t>
            </a:r>
            <a:r>
              <a:rPr lang="zh-CN" altLang="en-US" dirty="0"/>
              <a:t>，如果二者之间的关系是，市场活动类对象必须有且只能有一个员工对象来管理，那么它的多样性护着维度的定义就是</a:t>
            </a:r>
            <a:r>
              <a:rPr lang="en-US" altLang="zh-CN" dirty="0"/>
              <a:t>1.</a:t>
            </a:r>
            <a:r>
              <a:rPr lang="zh-CN" altLang="en-US" dirty="0"/>
              <a:t>我们对关联关系的另一端也问同样的问题：是不是每个员工都必须要管理且只能管理一项市场活动呢，如果不是的话，市场活动一端的多样性或者维度定义就似乎</a:t>
            </a:r>
            <a:r>
              <a:rPr lang="en-US" altLang="zh-CN" dirty="0"/>
              <a:t>0</a:t>
            </a:r>
            <a:r>
              <a:rPr lang="zh-CN" altLang="en-US" dirty="0"/>
              <a:t>到</a:t>
            </a:r>
            <a:r>
              <a:rPr lang="en-US" altLang="zh-CN" dirty="0"/>
              <a:t>N</a:t>
            </a:r>
            <a:r>
              <a:rPr lang="zh-CN" altLang="en-US" dirty="0"/>
              <a:t>，由此可以看出，我们可以用多样性来约束应用领域中定义的这些对象，他们彼此之间的对应关系。这是一种定义业务逻辑的方法。多样性的定义，我们可以看更多的例子。当类对象的存在时可选的，我们可以定义为</a:t>
            </a:r>
            <a:r>
              <a:rPr lang="en-US" altLang="zh-CN" dirty="0"/>
              <a:t>0</a:t>
            </a:r>
            <a:r>
              <a:rPr lang="zh-CN" altLang="en-US" dirty="0"/>
              <a:t>或者</a:t>
            </a:r>
            <a:r>
              <a:rPr lang="en-US" altLang="zh-CN" dirty="0"/>
              <a:t>1</a:t>
            </a:r>
            <a:r>
              <a:rPr lang="zh-CN" altLang="en-US" dirty="0"/>
              <a:t>，有且只有一个是就是</a:t>
            </a:r>
            <a:r>
              <a:rPr lang="en-US" altLang="zh-CN" dirty="0"/>
              <a:t>1</a:t>
            </a:r>
            <a:r>
              <a:rPr lang="zh-CN" altLang="en-US" dirty="0"/>
              <a:t>，当可以是多个并且可以是没有的时候，就是</a:t>
            </a:r>
            <a:r>
              <a:rPr lang="en-US" altLang="zh-CN" dirty="0"/>
              <a:t>0</a:t>
            </a:r>
            <a:r>
              <a:rPr lang="zh-CN" altLang="en-US" dirty="0"/>
              <a:t>到</a:t>
            </a:r>
            <a:r>
              <a:rPr lang="en-US" altLang="zh-CN" dirty="0"/>
              <a:t>N</a:t>
            </a:r>
            <a:r>
              <a:rPr lang="zh-CN" altLang="en-US" dirty="0"/>
              <a:t>个，这也是最灵活的约束。当必须有，但是可以不止一个对象时，我们定义为</a:t>
            </a:r>
            <a:r>
              <a:rPr lang="en-US" altLang="zh-CN" dirty="0"/>
              <a:t>1</a:t>
            </a:r>
            <a:r>
              <a:rPr lang="zh-CN" altLang="en-US" dirty="0"/>
              <a:t>到</a:t>
            </a:r>
            <a:r>
              <a:rPr lang="en-US" altLang="zh-CN" dirty="0"/>
              <a:t>N</a:t>
            </a:r>
            <a:r>
              <a:rPr lang="zh-CN" altLang="en-US" dirty="0"/>
              <a:t>，当然我们还可以定义为一个不是从</a:t>
            </a:r>
            <a:r>
              <a:rPr lang="en-US" altLang="zh-CN" dirty="0"/>
              <a:t>0</a:t>
            </a:r>
            <a:r>
              <a:rPr lang="zh-CN" altLang="en-US" dirty="0"/>
              <a:t>，</a:t>
            </a:r>
            <a:r>
              <a:rPr lang="en-US" altLang="zh-CN" dirty="0"/>
              <a:t>1</a:t>
            </a:r>
            <a:r>
              <a:rPr lang="zh-CN" altLang="en-US" dirty="0"/>
              <a:t>开始的取值范围，比如</a:t>
            </a:r>
            <a:r>
              <a:rPr lang="en-US" altLang="zh-CN" dirty="0"/>
              <a:t>2</a:t>
            </a:r>
            <a:r>
              <a:rPr lang="zh-CN" altLang="en-US" dirty="0"/>
              <a:t>到</a:t>
            </a:r>
            <a:r>
              <a:rPr lang="en-US" altLang="zh-CN" dirty="0"/>
              <a:t>6</a:t>
            </a:r>
            <a:r>
              <a:rPr lang="zh-CN" altLang="en-US" dirty="0"/>
              <a:t>也可以。所以多样性实际上定义的是一个类对象在关系中发生的必要可选以及最多的数量。</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19</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按照。。。三类：分别是。。。曲中二元关联是最常见的类与类之间的关联关系，它是指在两个类之间的关联。自反关联，又称为。。其特殊性在于它是一个类与本身发生的关联关系，她虽然只有一个被关联的类，但却有两个关联端，每个关联端在关系中所扮演的角色不同。</a:t>
            </a:r>
            <a:r>
              <a:rPr lang="en-US" altLang="zh-CN" dirty="0"/>
              <a:t>N</a:t>
            </a:r>
            <a:r>
              <a:rPr lang="zh-CN" altLang="en-US" dirty="0"/>
              <a:t>元关联是指在</a:t>
            </a:r>
            <a:r>
              <a:rPr lang="en-US" altLang="zh-CN" dirty="0"/>
              <a:t>3</a:t>
            </a:r>
            <a:r>
              <a:rPr lang="zh-CN" altLang="en-US" dirty="0"/>
              <a:t>个。。的关联关系。在</a:t>
            </a:r>
            <a:r>
              <a:rPr lang="en-US" altLang="zh-CN" dirty="0"/>
              <a:t>N</a:t>
            </a:r>
            <a:r>
              <a:rPr lang="zh-CN" altLang="en-US" dirty="0"/>
              <a:t>元关联中，它有不同的多样性。</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20</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回到我们刚刚提到的</a:t>
            </a:r>
            <a:r>
              <a:rPr lang="en-US" altLang="zh-CN" dirty="0"/>
              <a:t>N</a:t>
            </a:r>
            <a:r>
              <a:rPr lang="zh-CN" altLang="en-US" dirty="0"/>
              <a:t>元关联，那么在。。中类的多样性定义是，在其它</a:t>
            </a:r>
            <a:r>
              <a:rPr lang="en-US" altLang="zh-CN" dirty="0"/>
              <a:t>N-1</a:t>
            </a:r>
            <a:r>
              <a:rPr lang="zh-CN" altLang="en-US" dirty="0"/>
              <a:t>个实例的值确定的情况下，关联实例允许的元素个数。关联是模型元素之间的一种语义关系，它是对具有共同的结构特征、行为特征、关系和语义的链的描述。在类图中，关联用一条把类连接在一起的实线来表示。关联至少有两个关联端，每个关联端连接到一个类，关联可以有方向，有方向的关联类成为单向关联，没方向的关联成为双向关联。通过给关联加上关联名，我们可以描述关联的作用是什么。关联的名字通常是用动词来表示的。关联的命名原则是要看这个命名是否有助于我们理解该模型。除了上述的这些基本元素，以及关联多样性的定义，以及类在这个关联关系中所处角色的定义，我们需要注意的一点是，在通过模型工具设计模型，并完成从模型到源代码的转换过程中，对源代码有影响的部分是角色的定义和关联的方向。也就是说，当是一个单向关联，并且有角色的定义时，我们会在生成的代码中声明相应的类的属性。</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21</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关联本身也有一些性质，我们通过关联类来进一步描述关联的属性、操作以及其他的信息。关联类通过一条虚线和关联的实线相联系。 保存关联本身的这些信息。比如在这个图中，</a:t>
            </a:r>
            <a:r>
              <a:rPr lang="en-US" altLang="zh-CN" dirty="0"/>
              <a:t>title</a:t>
            </a:r>
            <a:r>
              <a:rPr lang="zh-CN" altLang="en-US" dirty="0"/>
              <a:t>类对象，存储的就是在车主和车辆之间的所属关系，包括是哪一年购买的，购买时的里程数，当时所付的钱数以及新注册的号牌。</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22</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当我们采用工具，基于模型直接生成代码时，关联类也会生成对应的源代码。我们可以看到代码生成的过程中，我们把类的声明以及相应的属性声明和带有角色的关联端，都生成了相应的类和属性。</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23</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达整体与部分结构的是聚合和组合关系。他是关联关系的一个特例。聚合关系表达的是一个整体对象和它的成员对象之间的关系。聚合关系中代表部分事物的对象，是可以属于多个对象的，也就是说，一个部分对象是可以被多个整体对象所共享的。它还可以随时改变它所从属的整体对象。部分对象和整体对象的生存期是无关的。一旦删除了它的聚合对象，也就是整体对象，它的部分对象还是存在的。这就是聚合关系。而组合关系是聚合的一个特例，它所代表的是一个整体对象和部分组成之间的关系，二者之间的所属关系更强，当整体对象不存在时，部分类的对象也不再存在。反之亦然，整体类对象撤销之前，要将它所有的部分类对象撤销。也就是说代表整体事物的组合对象，要负责创建和删除代表部分对象的成员。代表部分对象的事物只能从属于一个整体对象，而不能从属于多个对象，一旦删除了整体，部分也随之消除。这就是组合关系。在确定了类的行为和属性之后，其实很容易对聚合和组合关系进行区分的。比如一个窗口和他附属的按钮，应该是组合关系，因为二者具有相同的生命周期，一个的破坏会导致另一个的消亡。反之，一个由同类元素组成的集合，比如一组照片，和他的个体元素，也就是每张照片，应该是一个聚合关系，因为照片集和照片的创建和消亡并不同步，一个照片也可以从属于多个照片集。在生成代码的时候，我们需要为组合关系类考虑同步问题，而聚合关系则不需要。聚合关系它的实例之间是由传递关系的，是一个偏序关系，那么聚合和关联关系的区别在于，聚合关系的实例是不能形成环的。运用聚合和组合简化了对象的定义，更好地支持软件重用。在后面的介绍中，我们会知道，其实这种组合关系要比继承关系应用起来更加灵活方便。在这张图中，我们可以看到我们将汽车和他的引擎定义为组合关系，因为汽车和引擎的生存周期由很强的绑定关系，而左边的汽车和驾驶员之间是聚合关系，他们的关系是临时性的，谁都可以临时开车，一辆车必须有且只有一个驾驶员，因此在驾驶员这一端的维度定义为</a:t>
            </a:r>
            <a:r>
              <a:rPr lang="en-US" altLang="zh-CN" dirty="0"/>
              <a:t>1</a:t>
            </a:r>
            <a:r>
              <a:rPr lang="zh-CN" altLang="en-US" dirty="0"/>
              <a:t>，而一个人并不一定要开一辆车，开也最多开一辆，因此在汽车的一端是可选关联，用</a:t>
            </a:r>
            <a:r>
              <a:rPr lang="en-US" altLang="zh-CN" dirty="0"/>
              <a:t>01</a:t>
            </a:r>
            <a:r>
              <a:rPr lang="zh-CN" altLang="en-US" dirty="0"/>
              <a:t>表示。再看右边的火车，一辆火车一定要有至少一个火车头，火车和火车头之间是组合关系，但是火车与乘客之间是聚合关系，乘客上下车，与火车之间的关系是动态变化的，生存周期也并不绑定。一辆火车可以有也可以没有乘客，因此在乘客的这一段多样性是</a:t>
            </a:r>
            <a:r>
              <a:rPr lang="en-US" altLang="zh-CN" dirty="0"/>
              <a:t>0·N</a:t>
            </a:r>
            <a:r>
              <a:rPr lang="zh-CN" altLang="en-US" dirty="0"/>
              <a:t>，但是一个乘客要么不上火车，上也只能同时上一辆火车，因此在火车的一端是多样性定义是</a:t>
            </a:r>
            <a:r>
              <a:rPr lang="en-US" altLang="zh-CN" dirty="0"/>
              <a:t>0-1</a:t>
            </a:r>
            <a:r>
              <a:rPr lang="zh-CN" altLang="en-US" dirty="0"/>
              <a:t>，也就是可选的关联关系。</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24</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面向对象的设计中，我们对继承关系寄予厚望。我们希望通过子类继承。。，来实现重用，支持抽象。而当子类在继承过程中，发现有特殊的情况要处理时，它也可以覆盖继承的属性和操作。比如在右图中，行政员工和专业设计人员，他们奖金的计算方式是不同的。我们在员工的类别中可以把奖金计算这部分功能定义为抽象的，甚至可以把整个类定义为抽象类，那么我们就不再直接使用这个类创建实例对象。此时，现有的子类将完全覆盖这个抽象父类的所有对象，形成一个全集。例如，在刚刚这个例子中，除了行政人员和专业设计人员之外，不存在其他类别的员工。</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25</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继承关系的定义，我们主要通过学习当前领域的分类知识和常识上事物的分类方法来获得。继承关系的意义在于，当系统的环境发生变化时，我们可以为它增加新的子类，来处理新发生的特殊情况，应对需求改变。继承和泛化的关系建模，一共有两种方式。第一种自顶向下的，将。。。的子类，类似左边这幅图，将公司人员分为股东和职员两种。第二种是底向上，为现有的。。。类似右边这幅图，找到股东和职员的共性，为他们定义一个父类。这两者在现实中都会发生，因此我们可以根据情况灵活掌握。最主要是要考察类的属性或者操作，是否存在特性或者共性，两个类的对象之间是否存在父子关系。</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26</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里我们给出了自顶向下定义继承关系的例子。这里我们要处理的是一个广告公司的系统，它的主营业务就是为媒体制作各种类型的广告。这些广告天然的就有一个分类体系，包括围墙广告、杂志广告、街头广告版以及广告短片等等。按照这个常识分类，我们就为广告类型建立一个继承框架，将其分为三种，其中媒体广告又分为报纸和杂志，这样我们就获得了一个自顶向下的继承关系。</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27</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再看一个自底向上建立继承关系的例子。比如通过对比图书馆中的书籍和唱片的属性和操作，我们发现他们都有一些共同的属性和操作，那么对他们进行抽象，就可以得到一个公共的父类，就是可以往外借出的事物。</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28</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具体来说，我们将书籍和唱片的名字、获取编号、多维编码这三个属性，以及外借和归还这两个操作进行抽象，定义他们的公共父类，再把二者不同的属性放在各自的子类定义中，完成继承关系的建立。</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29</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总结一下，在类图建模的过程中，我们要识别类、定义类的名字、定义属性的名字、定义这个类的操作，并建立类和类之间的继承关系、组合关系、聚合关系，并定义关联关系的多样性、方向和名字，这样我们就完成了一个基本的类图建模。</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30</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需要注意的一点是，在软件开发的不同阶段，我们都会使用到类图，但是类图它的抽象层次是不一样的，主要分为三个层次：早期的分析阶段中的概念类，设计阶段的说明类和最后实现阶段的实现类，这三种层次的类图，它内部包含信息的丰富程度以及变量定义的准确程度是不一样的。我们可以看到在早期的概念类，我们更多的是把类实体定义出来，在设计说明阶段，我们需要把类的属性、和相应的代表行为的操作定义出来，而在实现类中，类图是和我们的代码实现基本对应的，也就是这个时候类型已经定义出来了，参数的具体类型也要和程序设计中的类型对应。我们可以用不同的版型来说明此时的类是什么层次的。</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31</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建立类图的步骤，包括研究分析。。。的需求，发现。。。，发现，并进一步细化和设计类之间的关系，解决。。等问题，并最终用图形化的方式绘制出来。</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32</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在类图建模的过程中，我们给出以下对类图建模风格的建议。首先，尽量保持类属性的名字和类型的一致性。比如如果我们声明的名字是</a:t>
            </a:r>
            <a:r>
              <a:rPr lang="en-US" altLang="zh-CN" dirty="0" err="1"/>
              <a:t>getNumber</a:t>
            </a:r>
            <a:r>
              <a:rPr lang="zh-CN" altLang="en-US" dirty="0"/>
              <a:t>，那么它的值应该是数值型而不应该是字符串，否则会让人有误解。另外，我们不要对。。。因为关联类本身的名字就是形容关联关系的，就没必要额外增加修饰。其次，静态的操作。。。按照可见性降低的次序。。。，因为可见性高的属性和操作，外人通常更感兴趣。我们还要避免使用那些已经在命名规范中隐含了的版型，比如右上角中</a:t>
            </a:r>
            <a:r>
              <a:rPr lang="en-US" altLang="zh-CN" dirty="0"/>
              <a:t>constructer..</a:t>
            </a:r>
            <a:r>
              <a:rPr lang="en-US" altLang="zh-CN" dirty="0" err="1"/>
              <a:t>getter,setter</a:t>
            </a:r>
            <a:r>
              <a:rPr lang="zh-CN" altLang="en-US" dirty="0"/>
              <a:t>的声明就是多余的。另外在关联关系定义过程中，我们要指明多样性，对于聚合和组合关系，如果多样性是</a:t>
            </a:r>
            <a:r>
              <a:rPr lang="en-US" altLang="zh-CN" dirty="0"/>
              <a:t>1</a:t>
            </a:r>
            <a:r>
              <a:rPr lang="zh-CN" altLang="en-US" dirty="0"/>
              <a:t>，也可以标明出来，说明在建模过程中考虑到了关系的维度。我们不要对。。。，这样会让我们的类图非常复杂，子类要放在父类的下面。我们还要小心基于。。如果两个类存在关系的唯一原因是他们有公共的数据属性，那么我们一定是遗漏了某些公共的行为，要么我们就应该使用关联关系，而不是继承关系。建模过程中按照管理。。。例如，</a:t>
            </a:r>
            <a:r>
              <a:rPr lang="en-US" altLang="zh-CN" dirty="0"/>
              <a:t>Team</a:t>
            </a:r>
            <a:r>
              <a:rPr lang="zh-CN" altLang="en-US" dirty="0"/>
              <a:t>和</a:t>
            </a:r>
            <a:r>
              <a:rPr lang="en-US" altLang="zh-CN" dirty="0" err="1"/>
              <a:t>airplaine</a:t>
            </a:r>
            <a:r>
              <a:rPr lang="zh-CN" altLang="en-US" dirty="0"/>
              <a:t>分别是。。的整体类，我们按照这样的惯例阅读起来更方便。</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33</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5AB3B52-065C-4D22-8A03-901766E7E43B}" type="slidenum">
              <a:rPr lang="zh-CN" altLang="en-US" smtClean="0"/>
              <a:t>34</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a:t>
            </a:r>
            <a:r>
              <a:rPr lang="zh-CN" altLang="en-US" dirty="0"/>
              <a:t>，</a:t>
            </a:r>
            <a:r>
              <a:rPr lang="en-US" altLang="zh-CN" dirty="0"/>
              <a:t>4</a:t>
            </a:r>
            <a:r>
              <a:rPr lang="zh-CN" altLang="en-US" dirty="0"/>
              <a:t>，</a:t>
            </a:r>
            <a:r>
              <a:rPr lang="en-US" altLang="zh-CN" dirty="0"/>
              <a:t>6</a:t>
            </a:r>
            <a:r>
              <a:rPr lang="zh-CN" altLang="en-US" dirty="0"/>
              <a:t>，</a:t>
            </a:r>
            <a:r>
              <a:rPr lang="en-US" altLang="zh-CN" dirty="0"/>
              <a:t>9</a:t>
            </a:r>
            <a:endParaRPr lang="zh-CN" altLang="en-US" dirty="0"/>
          </a:p>
        </p:txBody>
      </p:sp>
      <p:sp>
        <p:nvSpPr>
          <p:cNvPr id="4" name="灯片编号占位符 3"/>
          <p:cNvSpPr>
            <a:spLocks noGrp="1"/>
          </p:cNvSpPr>
          <p:nvPr>
            <p:ph type="sldNum" sz="quarter" idx="5"/>
          </p:nvPr>
        </p:nvSpPr>
        <p:spPr/>
        <p:txBody>
          <a:bodyPr/>
          <a:lstStyle/>
          <a:p>
            <a:fld id="{95AB3B52-065C-4D22-8A03-901766E7E43B}" type="slidenum">
              <a:rPr lang="zh-CN" altLang="en-US" smtClean="0"/>
              <a:t>35</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接下来我们讲系统建模的第三节，交互行为建模。模型驱动的开发对提高软件生产过程的自动化程度有着重要的意义。接下来我们将学习用</a:t>
            </a:r>
            <a:r>
              <a:rPr lang="en-US" altLang="zh-CN" dirty="0"/>
              <a:t>UML</a:t>
            </a:r>
            <a:r>
              <a:rPr lang="zh-CN" altLang="en-US" dirty="0"/>
              <a:t>模型来描述软件系统的行为。</a:t>
            </a:r>
          </a:p>
        </p:txBody>
      </p:sp>
      <p:sp>
        <p:nvSpPr>
          <p:cNvPr id="4" name="灯片编号占位符 3"/>
          <p:cNvSpPr>
            <a:spLocks noGrp="1"/>
          </p:cNvSpPr>
          <p:nvPr>
            <p:ph type="sldNum" sz="quarter" idx="10"/>
          </p:nvPr>
        </p:nvSpPr>
        <p:spPr/>
        <p:txBody>
          <a:bodyPr/>
          <a:lstStyle/>
          <a:p>
            <a:fld id="{64308F8E-A66F-462A-B457-A69A741C0933}" type="slidenum">
              <a:rPr lang="zh-CN" altLang="en-US" smtClean="0"/>
              <a:t>36</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在前面的学习中，我们已经学习了用类图对软件结构进行建模。除了类图以外，在</a:t>
            </a:r>
            <a:r>
              <a:rPr lang="en-US" altLang="zh-CN" dirty="0"/>
              <a:t>UML</a:t>
            </a:r>
            <a:r>
              <a:rPr lang="zh-CN" altLang="en-US" dirty="0"/>
              <a:t>的体系中，组件图、对象图、组成结构图、部署图、包图以及新提出的轮廓图，都是对结构进行建模的图模型。我们这一小节即将学习的，是对软件系统的行为进行建模的图，主要包括描述交互行为的顺序图、通信图、以及描述对象状态变迁的状态机图和描述过程的活动图。这些图主要用于定义对象的操作、生命周期、彼此之间的消息交互以及对象在自身状态切换时发生的行为，以及切换前后的状态变化，也就是说描述对象在它生命周期中的动态行为。</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37</a:t>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交互是指对象为实现某个目标，而在彼此之间传递消息的行为，交互行为建模，目标就是为了描述对象之间如何进行协作。在</a:t>
            </a:r>
            <a:r>
              <a:rPr lang="en-US" altLang="zh-CN" dirty="0"/>
              <a:t>UML</a:t>
            </a:r>
            <a:r>
              <a:rPr lang="zh-CN" altLang="en-US" dirty="0"/>
              <a:t>中，定义了多种交互图，其中应用最广的就是顺序图。有时我们也将其称为时序图或者序列图。顺序图作为交互图的一种，是对系统执行过程中的交互活动场景进行建模的方法，是除了类图之外最常用的</a:t>
            </a:r>
            <a:r>
              <a:rPr lang="en-US" altLang="zh-CN" dirty="0"/>
              <a:t>UML</a:t>
            </a:r>
            <a:r>
              <a:rPr lang="zh-CN" altLang="en-US" dirty="0"/>
              <a:t>图形化方法之一。</a:t>
            </a:r>
          </a:p>
        </p:txBody>
      </p:sp>
      <p:sp>
        <p:nvSpPr>
          <p:cNvPr id="4" name="灯片编号占位符 3"/>
          <p:cNvSpPr>
            <a:spLocks noGrp="1"/>
          </p:cNvSpPr>
          <p:nvPr>
            <p:ph type="sldNum" sz="quarter" idx="10"/>
          </p:nvPr>
        </p:nvSpPr>
        <p:spPr/>
        <p:txBody>
          <a:bodyPr/>
          <a:lstStyle/>
          <a:p>
            <a:fld id="{64308F8E-A66F-462A-B457-A69A741C0933}" type="slidenum">
              <a:rPr lang="zh-CN" altLang="en-US" smtClean="0"/>
              <a:t>38</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顺序图按时间的顺序表示对象之间的消息，非常直观。它能够指出有哪些对象参与了交互，以及它们之间消息传递的序列。顺序图的建模元素主要包括对象、生命线、控制交点、消息。图中给出的是一个学生在线选课的过程。这个学生名字叫马小跳，他想要选择线性代数这门课。他首先要在选课登记表单中填写个人信息，然后提交。选科等级表对象作为一个界面类，会将这个申请转给选课管理员对象，要求他将马小跳加入到线性代数的选课名单中。选课管理人员又会将这个消息转发给线性代数这个实体对象，告诉他要在名单中添加马小跳。线性代数这个对象又会将这个请求转发给线性代数</a:t>
            </a:r>
            <a:r>
              <a:rPr lang="en-US" altLang="zh-CN" dirty="0"/>
              <a:t>A</a:t>
            </a:r>
            <a:r>
              <a:rPr lang="zh-CN" altLang="en-US" dirty="0"/>
              <a:t>段这个对象，问这个段里还有位置吗，如果有，就添加马小跳。此时如果有位置，就会将马小跳添加至线性代数</a:t>
            </a:r>
            <a:r>
              <a:rPr lang="en-US" altLang="zh-CN" dirty="0"/>
              <a:t>A</a:t>
            </a:r>
            <a:r>
              <a:rPr lang="zh-CN" altLang="en-US" dirty="0"/>
              <a:t>段的选课名单中。通过这个过程我们可以看到，我们可以用顺序图对之前学过的用例图中每个交互序列进行建模，而不用撰写文字形式的描述了。</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39</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通过前面的例子，我们注意到，顺序图建模元素中，最重要的就似乎对象和他的生命线。在顺序图中，我们刻画对象是以何种角色参与到交护场景中，无论是人、无还是其它。。对象的命名有三种方式，我们在途中可以看到，三种对象表示方法。第一种是完整表示方法，它包括对象名，冒号，和类名。第二种是是所谓的匿名对象的表示方法，此时我们在冒号后面写上类名即可，冒号前面不需要写对象名，表示任意一个该类的对象即可。第三种表示的是未知类的对象，此时我们只显示对象名，而不显示类名。这几种方式都是符合</a:t>
            </a:r>
            <a:r>
              <a:rPr lang="en-US" altLang="zh-CN" dirty="0"/>
              <a:t>UML</a:t>
            </a:r>
            <a:r>
              <a:rPr lang="zh-CN" altLang="en-US" dirty="0"/>
              <a:t>语法规定的对象的表示方法。对象的生命线则是在这些方框下面，用一个虚线来表示。在画出对象的生命线之后，如果我们需要区分对象的操作时间片段，我们也可以定义一个控制焦点，也就是激活期。它表明的是对象拥有控制线索，去在活动状态。</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40</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UML</a:t>
            </a:r>
            <a:r>
              <a:rPr lang="zh-CN" altLang="en-US" dirty="0"/>
              <a:t>顺序图中，另外一个核心建模元素就是消息表达。消息用于描述。。。的过程，消息的类型主要有同步消息，也叫做过程调用消息、异步消息、返回消息、。。。超时等待和阻塞等。其中最常用的就是同步和异步消息。消息通过指向对象的水平箭头表示。在消息上面有时候要写出消息的名称、参数。不同的箭头可以区分这些不同的消息类型。在消息的定义过程中，我们要注意，随着问题的深入了解，逐步增加消息的细节，而没必要在一开始就定义出所有的消息细节。同步消息有时候我们需要指出它的返回消息，返回消息用虚线箭头表明。</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41</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里我们给出了早期一些消息表示的例子。其中简单消息一般包括消息的名称、标号和它的参数，嵌套消息可以是带返回值的消息，条件消息则是在消息前面用方括号将该消息发出的必要条件标注出来。循环消息和同步消息等则使用表达式来表明这个消息执行的控制逻辑。</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42</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顺序图的基本逻辑结构在出现框之前，我们都是采用添加条件表达式的方式来表达的。包括循环、有条件的执行、返回消息以及创建对象。这幅图是一个顺序图中的基本建模结构。我们可以理解为，首先第一个类</a:t>
            </a:r>
            <a:r>
              <a:rPr lang="en-US" altLang="zh-CN" dirty="0" err="1"/>
              <a:t>Orderentrywindow</a:t>
            </a:r>
            <a:r>
              <a:rPr lang="zh-CN" altLang="en-US" dirty="0"/>
              <a:t>的一个对象向</a:t>
            </a:r>
            <a:r>
              <a:rPr lang="en-US" altLang="zh-CN" dirty="0"/>
              <a:t>Order</a:t>
            </a:r>
            <a:r>
              <a:rPr lang="zh-CN" altLang="en-US" dirty="0"/>
              <a:t>的一个对象发出</a:t>
            </a:r>
            <a:r>
              <a:rPr lang="en-US" altLang="zh-CN" dirty="0"/>
              <a:t>prepare</a:t>
            </a:r>
            <a:r>
              <a:rPr lang="zh-CN" altLang="en-US" dirty="0"/>
              <a:t>的消息，然后</a:t>
            </a:r>
            <a:r>
              <a:rPr lang="en-US" altLang="zh-CN" dirty="0"/>
              <a:t>Order</a:t>
            </a:r>
            <a:r>
              <a:rPr lang="zh-CN" altLang="en-US" dirty="0"/>
              <a:t>对象对其中所有的</a:t>
            </a:r>
            <a:r>
              <a:rPr lang="en-US" altLang="zh-CN" dirty="0"/>
              <a:t>order</a:t>
            </a:r>
            <a:r>
              <a:rPr lang="zh-CN" altLang="en-US" dirty="0"/>
              <a:t>都调用一个</a:t>
            </a:r>
            <a:r>
              <a:rPr lang="en-US" altLang="zh-CN" dirty="0" err="1"/>
              <a:t>orderline</a:t>
            </a:r>
            <a:r>
              <a:rPr lang="zh-CN" altLang="en-US" dirty="0"/>
              <a:t>类的对象，接着</a:t>
            </a:r>
            <a:r>
              <a:rPr lang="en-US" altLang="zh-CN" dirty="0" err="1"/>
              <a:t>Orderline</a:t>
            </a:r>
            <a:r>
              <a:rPr lang="zh-CN" altLang="en-US" dirty="0"/>
              <a:t>对象首先调用</a:t>
            </a:r>
            <a:r>
              <a:rPr lang="en-US" altLang="zh-CN" dirty="0" err="1"/>
              <a:t>STockItem</a:t>
            </a:r>
            <a:r>
              <a:rPr lang="zh-CN" altLang="en-US" dirty="0"/>
              <a:t>类的对象检查是否存在</a:t>
            </a:r>
            <a:r>
              <a:rPr lang="en-US" altLang="zh-CN" dirty="0"/>
              <a:t>stock</a:t>
            </a:r>
            <a:r>
              <a:rPr lang="zh-CN" altLang="en-US" dirty="0"/>
              <a:t>，如果存在，也就是方框里</a:t>
            </a:r>
            <a:r>
              <a:rPr lang="en-US" altLang="zh-CN" dirty="0" err="1"/>
              <a:t>hasStock</a:t>
            </a:r>
            <a:r>
              <a:rPr lang="zh-CN" altLang="en-US" dirty="0"/>
              <a:t>条件成立，则发出一个</a:t>
            </a:r>
            <a:r>
              <a:rPr lang="en-US" altLang="zh-CN" dirty="0"/>
              <a:t>remove</a:t>
            </a:r>
            <a:r>
              <a:rPr lang="zh-CN" altLang="en-US" dirty="0"/>
              <a:t>消息，再发出</a:t>
            </a:r>
            <a:r>
              <a:rPr lang="en-US" altLang="zh-CN" dirty="0" err="1"/>
              <a:t>reoder</a:t>
            </a:r>
            <a:r>
              <a:rPr lang="zh-CN" altLang="en-US" dirty="0"/>
              <a:t>消息重新进行排序</a:t>
            </a:r>
            <a:r>
              <a:rPr lang="en-US" altLang="zh-CN" dirty="0"/>
              <a:t>.</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t>43</a:t>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在顺序图建模中的常见问题，主要有消息的循环发送，此时我们需要在消息名称之前添加循环条件，或者是带有循环控制条件的循环框这是两种循环发送消息的表示方法。</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44</a:t>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顺序途中，也可以发送带条件的消息，它主要有以下几种表示方法：一是在消息名字前。。，或者我们可以附加文字说明，也可以添加条件控制框，我们还可以将一个顺序图分成多个顺序子图，并在他们之间建立带条件的关联关系。定义入口条件。</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45</a:t>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绘制顺序图的过程，就是首先在顺序图的顶端。。。，在每个。。。，在对象间。。。，生命线上可以添加竖直的举行，定义该对象的激活期，表明。。根据需要我们还可以添加。。。表示。。。</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46</a:t>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这里我们给出一个针对刚刚介绍顺序图过程的一个实例。首先，我们画出参与这次交互的所有参与者对象，包括来自外部的参与者，</a:t>
            </a:r>
            <a:r>
              <a:rPr lang="en-US" altLang="zh-CN" dirty="0" err="1"/>
              <a:t>Custmer</a:t>
            </a:r>
            <a:r>
              <a:rPr lang="zh-CN" altLang="en-US" dirty="0"/>
              <a:t>，和来自系统内部的订单</a:t>
            </a:r>
            <a:r>
              <a:rPr lang="en-US" altLang="zh-CN" dirty="0"/>
              <a:t>Order</a:t>
            </a:r>
            <a:r>
              <a:rPr lang="zh-CN" altLang="en-US" dirty="0"/>
              <a:t>和菜单管理员</a:t>
            </a:r>
            <a:r>
              <a:rPr lang="en-US" altLang="zh-CN" dirty="0"/>
              <a:t>Menu Manager</a:t>
            </a:r>
            <a:r>
              <a:rPr lang="zh-CN" altLang="en-US" dirty="0"/>
              <a:t>。用虚线画出这三个对象的生命线。然后我们用箭头标出这些对象之间的交互消息。顺序图的开始是一个没有发起对象的消息，</a:t>
            </a:r>
            <a:r>
              <a:rPr lang="en-US" altLang="zh-CN" dirty="0"/>
              <a:t>Hunger</a:t>
            </a:r>
            <a:r>
              <a:rPr lang="zh-CN" altLang="en-US" dirty="0"/>
              <a:t>，这里每个消息代表的操作，都是属于消息的接收方的。也就是说相当于消息发起方要调用消息接收方这个对象所具备的一个操作。第一行沿着横轴方向表示的是参与这次交互的所有对象。而纵轴方向则是一个时间轴，自上而下，表示顺序由早到晚。我们还可以看到这里我们添加了一个循环控制结构，循环的条件是直到用户点菜完毕。我们还有一些嵌套发生的，在订单上的交互消息，包括检查某个菜是否还有库存，以及一个自反消息，给自己添加一个新的菜单项。在最下面还添加了一个外部引用，表示完成订单并付款。很明显，这个框中内容的定义来自另一个顺序图。这是一个简单的顺序图过程实例。</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47</a:t>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UML2.0</a:t>
            </a:r>
            <a:r>
              <a:rPr lang="zh-CN" altLang="en-US" dirty="0"/>
              <a:t>中引入了组合框的概念，来表达更为复杂的控制结构。通过把顺序图中一部分交互内容放入框中，并在左上角注明该控制结构的类型，并在方括号中加上控制条件，我们就能够表达选择、循环、并发等更为复杂的控制逻辑。比如下面最左边的这张图，左上角有个</a:t>
            </a:r>
            <a:r>
              <a:rPr lang="en-US" altLang="zh-CN" dirty="0"/>
              <a:t>opt</a:t>
            </a:r>
            <a:r>
              <a:rPr lang="zh-CN" altLang="en-US" dirty="0"/>
              <a:t>标志，表明这是一个单一条件的选择结构。当条件满足时，执行框中的交互活动；否则不执行。中间这幅图，左上角有个</a:t>
            </a:r>
            <a:r>
              <a:rPr lang="en-US" altLang="zh-CN" dirty="0"/>
              <a:t>alt</a:t>
            </a:r>
            <a:r>
              <a:rPr lang="zh-CN" altLang="en-US" dirty="0"/>
              <a:t>标志，这个同样也表示一个选择结构，不过这个选择结构由两个分支语句，分别在框的上半部和下半部，用虚线隔开。这两部分都有用方括号括起来的各自的控制条件，只有当控制条件满足时，才能执行相应部分的内容。比如这个例子中，当</a:t>
            </a:r>
            <a:r>
              <a:rPr lang="en-US" altLang="zh-CN" dirty="0"/>
              <a:t>balance&lt;100</a:t>
            </a:r>
            <a:r>
              <a:rPr lang="zh-CN" altLang="en-US" dirty="0"/>
              <a:t>时，执行上半部分内容；当</a:t>
            </a:r>
            <a:r>
              <a:rPr lang="en-US" altLang="zh-CN" dirty="0"/>
              <a:t>balance&gt;=100</a:t>
            </a:r>
            <a:r>
              <a:rPr lang="zh-CN" altLang="en-US" dirty="0"/>
              <a:t>时，执行下半部分的内容。同样是中间这幅图，当我们把左上角的标志从</a:t>
            </a:r>
            <a:r>
              <a:rPr lang="en-US" altLang="zh-CN" dirty="0"/>
              <a:t>alt</a:t>
            </a:r>
            <a:r>
              <a:rPr lang="zh-CN" altLang="en-US" dirty="0"/>
              <a:t>改为</a:t>
            </a:r>
            <a:r>
              <a:rPr lang="en-US" altLang="zh-CN" dirty="0"/>
              <a:t>par</a:t>
            </a:r>
            <a:r>
              <a:rPr lang="zh-CN" altLang="en-US" dirty="0"/>
              <a:t>时，表示这幅图是一个并发执行的控制逻辑，也就是虚线上下的两部分将并发完成。右边的图中表示的是一个循环控制结构，左上角标志位</a:t>
            </a:r>
            <a:r>
              <a:rPr lang="en-US" altLang="zh-CN" dirty="0"/>
              <a:t>loop</a:t>
            </a:r>
            <a:r>
              <a:rPr lang="zh-CN" altLang="en-US" dirty="0"/>
              <a:t>，当方括号内的条件满足时，框中的交互将循环执行。从这里我们可以看出，组合框是一个表达能力很强的建模机制，通过引入框，我们能够更好地表达某一个控制单元的反复执行、选择执行和并发执行。</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48</a:t>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这里我们给出一个简化了的控制结构建模的例子。在这个例子中，我们主要涉及两个参与者，一个是</a:t>
            </a:r>
            <a:r>
              <a:rPr lang="en-US" altLang="zh-CN" dirty="0"/>
              <a:t>Person</a:t>
            </a:r>
            <a:r>
              <a:rPr lang="zh-CN" altLang="en-US" dirty="0"/>
              <a:t>，一个是银行</a:t>
            </a:r>
            <a:r>
              <a:rPr lang="en-US" altLang="zh-CN" dirty="0"/>
              <a:t>ATM</a:t>
            </a:r>
            <a:r>
              <a:rPr lang="zh-CN" altLang="en-US" dirty="0"/>
              <a:t>机器。我们将整个顺序图放入一个框中，用左上角</a:t>
            </a:r>
            <a:r>
              <a:rPr lang="en-US" altLang="zh-CN" dirty="0" err="1"/>
              <a:t>sd</a:t>
            </a:r>
            <a:r>
              <a:rPr lang="en-US" altLang="zh-CN" dirty="0"/>
              <a:t> withdrawal</a:t>
            </a:r>
            <a:r>
              <a:rPr lang="zh-CN" altLang="en-US" dirty="0"/>
              <a:t>表示这是一个名叫</a:t>
            </a:r>
            <a:r>
              <a:rPr lang="en-US" altLang="zh-CN" dirty="0"/>
              <a:t>withdrawal</a:t>
            </a:r>
            <a:r>
              <a:rPr lang="zh-CN" altLang="en-US" dirty="0"/>
              <a:t>的顺序图，其中</a:t>
            </a:r>
            <a:r>
              <a:rPr lang="en-US" altLang="zh-CN" dirty="0" err="1"/>
              <a:t>sq</a:t>
            </a:r>
            <a:r>
              <a:rPr lang="zh-CN" altLang="en-US" dirty="0"/>
              <a:t>是</a:t>
            </a:r>
            <a:r>
              <a:rPr lang="en-US" altLang="zh-CN" dirty="0"/>
              <a:t>sequence diagram</a:t>
            </a:r>
            <a:r>
              <a:rPr lang="zh-CN" altLang="en-US" dirty="0"/>
              <a:t>，也就是顺序图的缩写，</a:t>
            </a:r>
            <a:r>
              <a:rPr lang="en-US" altLang="zh-CN" dirty="0"/>
              <a:t>withdrawal</a:t>
            </a:r>
            <a:r>
              <a:rPr lang="zh-CN" altLang="en-US" dirty="0"/>
              <a:t>则表示这个顺序图表示的是一个取款过程。这个例子包括一些控制操作符。我们从上往下沿着生命线或者时间轴来看交互消息。首先，由用户启动整个交互序列，我们看到了第一个操作符</a:t>
            </a:r>
            <a:r>
              <a:rPr lang="en-US" altLang="zh-CN" dirty="0"/>
              <a:t>loop(1,3)</a:t>
            </a:r>
            <a:r>
              <a:rPr lang="zh-CN" altLang="en-US" dirty="0"/>
              <a:t>，这是一个循环操作符，</a:t>
            </a:r>
            <a:r>
              <a:rPr lang="en-US" altLang="zh-CN" dirty="0"/>
              <a:t>1</a:t>
            </a:r>
            <a:r>
              <a:rPr lang="zh-CN" altLang="en-US" dirty="0"/>
              <a:t>和</a:t>
            </a:r>
            <a:r>
              <a:rPr lang="en-US" altLang="zh-CN" dirty="0"/>
              <a:t>3</a:t>
            </a:r>
            <a:r>
              <a:rPr lang="zh-CN" altLang="en-US" dirty="0"/>
              <a:t>分别表示循环之心的最少次数和最多次数。因为是最少一次，所以在考虑方括号表示的控制条件之前，第一个组合框中的交互行为至少要执行一次。在这个循环内，用户要输入密码，然后系统验证密码是否正确。如果密码不正确，则继续重复这个交互行为，直到循环</a:t>
            </a:r>
            <a:r>
              <a:rPr lang="en-US" altLang="zh-CN" dirty="0"/>
              <a:t>3</a:t>
            </a:r>
            <a:r>
              <a:rPr lang="zh-CN" altLang="en-US" dirty="0"/>
              <a:t>次为止。第二个组合框是一个选择框，左上角有一个</a:t>
            </a:r>
            <a:r>
              <a:rPr lang="en-US" altLang="zh-CN" dirty="0"/>
              <a:t>opt</a:t>
            </a:r>
            <a:r>
              <a:rPr lang="zh-CN" altLang="en-US" dirty="0"/>
              <a:t>标志，表示如果此时密码正确，则执行这个组合框中的交互行为，否则将跳过这部分，直接执行后面的内容。在第二个选择组合框中，我们可以看到还嵌套了一个并行组合框，左上角有</a:t>
            </a:r>
            <a:r>
              <a:rPr lang="en-US" altLang="zh-CN" dirty="0"/>
              <a:t>par</a:t>
            </a:r>
            <a:r>
              <a:rPr lang="zh-CN" altLang="en-US" dirty="0"/>
              <a:t>的标志。在并行组合框中，有两个分区，上面一个是让用户输入账号，下面一个是让用户输入数额，由于这两个分区是并行关系，所以我们并没有规定要按照什么顺序来输入这两部分的内容。这里我们需要注意的是，并发其实并不意味着物理上一定要同时执行，它想表达的其实是虽然在顺序图中的时间轴上，他们一个在上面一个在下面，但其实这两个控制逻辑之间没有一个明显的次序关系，如果他们确实是两个独立的操作，那么我们就可以交叉执行。如果是顺序的动作，那我们也可以按照任意的次序执行。一旦并行操作的两个动作都执行完成，那么这个并行操作也就执行完毕，我们继续执行下一部分的内容，也就是最底下由</a:t>
            </a:r>
            <a:r>
              <a:rPr lang="en-US" altLang="zh-CN" dirty="0"/>
              <a:t>ATM</a:t>
            </a:r>
            <a:r>
              <a:rPr lang="zh-CN" altLang="en-US" dirty="0"/>
              <a:t>向用户传递现金这个交互行为。通过这样的控制结构，我们可以看到，原本只能表达单层的控制顺序，现在可以表达交叠的、多层次的控制顺序，这对我们未来建模更为复杂的控制逻辑有帮助。</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49</a:t>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为了帮助同学们理解，我们再来看一个新的例子。这个例子的主要目的是根据订单中每个订单项的额度来确定由谁来送货。我们可以看到这个顺序图中参与交互的对象一共有</a:t>
            </a:r>
            <a:r>
              <a:rPr lang="en-US" altLang="zh-CN" dirty="0"/>
              <a:t>4</a:t>
            </a:r>
            <a:r>
              <a:rPr lang="zh-CN" altLang="en-US" dirty="0"/>
              <a:t>个，分别是订单</a:t>
            </a:r>
            <a:r>
              <a:rPr lang="en-US" altLang="zh-CN" dirty="0"/>
              <a:t>order</a:t>
            </a:r>
            <a:r>
              <a:rPr lang="zh-CN" altLang="en-US" dirty="0"/>
              <a:t>，两个送货人员</a:t>
            </a:r>
            <a:r>
              <a:rPr lang="en-US" altLang="zh-CN" dirty="0"/>
              <a:t>careful </a:t>
            </a:r>
            <a:r>
              <a:rPr lang="zh-CN" altLang="en-US" dirty="0"/>
              <a:t>和</a:t>
            </a:r>
            <a:r>
              <a:rPr lang="en-US" altLang="zh-CN" dirty="0"/>
              <a:t>regular</a:t>
            </a:r>
            <a:r>
              <a:rPr lang="zh-CN" altLang="en-US" dirty="0"/>
              <a:t> </a:t>
            </a:r>
            <a:r>
              <a:rPr lang="en-US" altLang="zh-CN" dirty="0"/>
              <a:t>distributor,</a:t>
            </a:r>
            <a:r>
              <a:rPr lang="zh-CN" altLang="en-US" dirty="0"/>
              <a:t>还有一个通信对象。我们仍然从上往下沿着时间轴看这个交互过程。首先有一个起始的派送消息</a:t>
            </a:r>
            <a:r>
              <a:rPr lang="en-US" altLang="zh-CN" dirty="0"/>
              <a:t>dispatch</a:t>
            </a:r>
            <a:r>
              <a:rPr lang="zh-CN" altLang="en-US" dirty="0"/>
              <a:t>发送给一个</a:t>
            </a:r>
            <a:r>
              <a:rPr lang="en-US" altLang="zh-CN" dirty="0"/>
              <a:t>order</a:t>
            </a:r>
            <a:r>
              <a:rPr lang="zh-CN" altLang="en-US" dirty="0"/>
              <a:t>类的对象，这个启示消息是没有标明它的发送者的，因为我们知道其实顺序图里任意一个消息，其实都是相当于发送者调用接收者的一个操作，所以这里我们只需要确定</a:t>
            </a:r>
            <a:r>
              <a:rPr lang="en-US" altLang="zh-CN" dirty="0"/>
              <a:t>order</a:t>
            </a:r>
            <a:r>
              <a:rPr lang="zh-CN" altLang="en-US" dirty="0"/>
              <a:t>类由</a:t>
            </a:r>
            <a:r>
              <a:rPr lang="en-US" altLang="zh-CN" dirty="0"/>
              <a:t>dispatch</a:t>
            </a:r>
            <a:r>
              <a:rPr lang="zh-CN" altLang="en-US" dirty="0"/>
              <a:t>这个操作即可。然后出现一个循环组合框</a:t>
            </a:r>
            <a:r>
              <a:rPr lang="en-US" altLang="zh-CN" dirty="0"/>
              <a:t>loop</a:t>
            </a:r>
            <a:r>
              <a:rPr lang="zh-CN" altLang="en-US" dirty="0"/>
              <a:t>，循环条件是对于每个订单项，都进行一次框中的交互行为。接下来，我们发现这个循环组合框中又嵌套了一个选择组合框，选择组合框由上下两部分组成，每个部分是选择结构的一个分支。上半部分表示当订单的额度大于</a:t>
            </a:r>
            <a:r>
              <a:rPr lang="en-US" altLang="zh-CN" dirty="0"/>
              <a:t>10000</a:t>
            </a:r>
            <a:r>
              <a:rPr lang="zh-CN" altLang="en-US" dirty="0"/>
              <a:t>刀时，将消息发送给</a:t>
            </a:r>
            <a:r>
              <a:rPr lang="en-US" altLang="zh-CN" dirty="0"/>
              <a:t>careful Distributor</a:t>
            </a:r>
            <a:r>
              <a:rPr lang="zh-CN" altLang="en-US" dirty="0"/>
              <a:t>，让训练有素的送货员进行派送；下半部分表示对于其它普通货物，选择常规的</a:t>
            </a:r>
            <a:r>
              <a:rPr lang="en-US" altLang="zh-CN" dirty="0"/>
              <a:t>distributor</a:t>
            </a:r>
            <a:r>
              <a:rPr lang="zh-CN" altLang="en-US" dirty="0"/>
              <a:t>，这样我们就可以通过对额度的控制来选择送货人员。最后是一个单条件选择结构，当派送完成之后，如果需要发送确认消息，则由订单对象发送给通信对象一个确认消息即可。</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50</a:t>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一个顺序图的交互过程过于复杂、步骤繁多时，或者当我们需要引用其他的外部图标时，在定义组合框这种建模机制之前，人们大多采用不完整的箭头和加标注的方式来表达类似的场景。现在，我们可以使用一个外部引用的组合框，此时左上角用</a:t>
            </a:r>
            <a:r>
              <a:rPr lang="en-US" altLang="zh-CN" dirty="0"/>
              <a:t>ref</a:t>
            </a:r>
            <a:r>
              <a:rPr lang="zh-CN" altLang="en-US" dirty="0"/>
              <a:t>来标志组合框的类型。比如我们看右边这张顺序图，我们将为刚刚介绍的验证账户密码和取款流程分别单独绘制两个顺序图，然后在整个取款顺序图中，可以引用这两个顺序图，从而达到简化整个顺序图的目的。我们首先将整个顺序图用一个大的组合框框起来，在右上角标明这个顺序图的名字，叫</a:t>
            </a:r>
            <a:r>
              <a:rPr lang="en-US" altLang="zh-CN" dirty="0"/>
              <a:t>withdrawal</a:t>
            </a:r>
            <a:r>
              <a:rPr lang="zh-CN" altLang="en-US" dirty="0"/>
              <a:t>。然后在这个顺序图中，我们看最上面仍然是两个参与对象，分别是用户和银行</a:t>
            </a:r>
            <a:r>
              <a:rPr lang="en-US" altLang="zh-CN" dirty="0"/>
              <a:t>ATM</a:t>
            </a:r>
            <a:r>
              <a:rPr lang="zh-CN" altLang="en-US" dirty="0"/>
              <a:t>机。接下来从上至下，我们可以看到首先引用了一个叫做</a:t>
            </a:r>
            <a:r>
              <a:rPr lang="en-US" altLang="zh-CN" dirty="0"/>
              <a:t>get password</a:t>
            </a:r>
            <a:r>
              <a:rPr lang="zh-CN" altLang="en-US" dirty="0"/>
              <a:t>的外部顺序图，然后使用了一个单条件组合框，这个组合框的执行条件是此时密码验证通过，在这个组合框内，我们又引用了一个叫做</a:t>
            </a:r>
            <a:r>
              <a:rPr lang="en-US" altLang="zh-CN" dirty="0"/>
              <a:t>get cash</a:t>
            </a:r>
            <a:r>
              <a:rPr lang="zh-CN" altLang="en-US" dirty="0"/>
              <a:t>的外部顺序图，返回用户需要的现金，最后再由</a:t>
            </a:r>
            <a:r>
              <a:rPr lang="en-US" altLang="zh-CN" dirty="0"/>
              <a:t>ATM</a:t>
            </a:r>
            <a:r>
              <a:rPr lang="zh-CN" altLang="en-US" dirty="0"/>
              <a:t>机器向用户发传递现金即可。当然，在我们要引用其他的外部图表时，也可以采用这种机制。</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51</a:t>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这张图我们可以看到前后两张顺序图的对比，左边是咱们前面讲过的取款顺序图，而右边则是简化了的取款顺序图，其实就是将左边的两个子过程分别单独化成两个顺序图，然后在右边的顺序图中通过标志位</a:t>
            </a:r>
            <a:r>
              <a:rPr lang="en-US" altLang="zh-CN" dirty="0"/>
              <a:t>ref</a:t>
            </a:r>
            <a:r>
              <a:rPr lang="zh-CN" altLang="en-US" dirty="0"/>
              <a:t>的引用组合框来进行外部引用。</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52</a:t>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大多数情况下，对象的生命周期是贯穿一个场景执行的始终的，正如我们前面所展示的顺序图中，所有的对象都是一开始就存在，直至顺序图执行结束的。但是也有两种情况我们需要对对象的创建和撤销进行特殊的处理。比如在图中我们看到用</a:t>
            </a:r>
            <a:r>
              <a:rPr lang="en-US" altLang="zh-CN" dirty="0"/>
              <a:t>new</a:t>
            </a:r>
            <a:r>
              <a:rPr lang="zh-CN" altLang="en-US" dirty="0"/>
              <a:t>这个单词标明的一个消息，这个消息表示新建对象，此时在他的末端添加了一个新的表示对象的方框。此时表示这个对象是在场景中建立出来的，它出现的位置是要比其他的对象较低。而对象的撤销是指在对象的生命线底部，用一个差来表示，此时说明这个对象在场景还没有执行完时就要被撤销。这里我们需要注意的是，在</a:t>
            </a:r>
            <a:r>
              <a:rPr lang="en-US" altLang="zh-CN" dirty="0"/>
              <a:t>Java</a:t>
            </a:r>
            <a:r>
              <a:rPr lang="zh-CN" altLang="en-US" dirty="0"/>
              <a:t>中我们没有明确的撤销对象的操作，是要通过垃圾回收机制来处理的，因此在顺序图中所能表示的只是关于对象生命周期的逻辑。</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53</a:t>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下来我们看一个关于银行系统交易验证流程的顺序图。在这个图中，我们首先创建一个交易对象，交易对象创建之后，它由创建了一个交易协调器，然后交易协调器又创建了一个信用交易检查器，以及一个担保交易检查器，这两个新的对象。在完成本次交易的验证之后，这两个新创建的交易检查器对象将被撤销。并且在验证成功后，还有一个循环消息，查询是否本次交易的所有验证已经全部做完。在验证成功后，在对交易协调器进行循环处理，查询是否所有的交易都已经做完，当全部做完后，返回验证的结果，然后交易协调器也将被撤销，在返回之后，本次交易结束，交易对象也将被撤销。这是一个在交互过程中动态创建和撤销相应对象的过程。 </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54</a:t>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里我们给出了一个电话通信的交互过程顺序图。这个顺序图的参与对象一开始有两个，第一个是拨号器，第二个是蜂窝电话，首先用户用拨号器输入一个电话号码，然后由拨号器向蜂窝电话发送一个连接消息，然后蜂窝电话创建一个</a:t>
            </a:r>
            <a:r>
              <a:rPr lang="en-US" altLang="zh-CN" dirty="0"/>
              <a:t>connection</a:t>
            </a:r>
            <a:r>
              <a:rPr lang="zh-CN" altLang="en-US" dirty="0"/>
              <a:t>对象，并向这个对象发送一个</a:t>
            </a:r>
            <a:r>
              <a:rPr lang="en-US" altLang="zh-CN" dirty="0"/>
              <a:t>Connect</a:t>
            </a:r>
            <a:r>
              <a:rPr lang="zh-CN" altLang="en-US" dirty="0"/>
              <a:t>消息，提供所拨号作为参数。接下来由</a:t>
            </a:r>
            <a:r>
              <a:rPr lang="en-US" altLang="zh-CN" dirty="0"/>
              <a:t>Connection</a:t>
            </a:r>
            <a:r>
              <a:rPr lang="zh-CN" altLang="en-US" dirty="0"/>
              <a:t>对象发送给蜂窝电话一个连接建立成功的消息。当需要挂断电话时，再由拨号器向电话发送一个</a:t>
            </a:r>
            <a:r>
              <a:rPr lang="en-US" altLang="zh-CN" dirty="0"/>
              <a:t>End</a:t>
            </a:r>
            <a:r>
              <a:rPr lang="zh-CN" altLang="en-US" dirty="0"/>
              <a:t>消息，此时电话向</a:t>
            </a:r>
            <a:r>
              <a:rPr lang="en-US" altLang="zh-CN" dirty="0"/>
              <a:t>Connection</a:t>
            </a:r>
            <a:r>
              <a:rPr lang="zh-CN" altLang="en-US" dirty="0"/>
              <a:t>对象发送一个</a:t>
            </a:r>
            <a:r>
              <a:rPr lang="en-US" altLang="zh-CN" dirty="0"/>
              <a:t>disconnect</a:t>
            </a:r>
            <a:r>
              <a:rPr lang="zh-CN" altLang="en-US" dirty="0"/>
              <a:t>的消息，最后由</a:t>
            </a:r>
            <a:r>
              <a:rPr lang="en-US" altLang="zh-CN" dirty="0"/>
              <a:t>Connection</a:t>
            </a:r>
            <a:r>
              <a:rPr lang="zh-CN" altLang="en-US" dirty="0"/>
              <a:t>对象向蜂窝电话返回一个已经断开连接的消息，再撤销</a:t>
            </a:r>
            <a:r>
              <a:rPr lang="en-US" altLang="zh-CN" dirty="0"/>
              <a:t>Connection</a:t>
            </a:r>
            <a:r>
              <a:rPr lang="zh-CN" altLang="en-US" dirty="0"/>
              <a:t>对象，完成拨打电话的过程。大家可以看一下，这个顺序图的描述是否存在什么问题？主要从文法和场景的可行性方面来考虑。</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55</a:t>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同学们提出的意见都很好，这里我们给出的一个可能的修改方案。由于一个交换机上存在多个线程，也就是说，我们不光要考虑拨打电话的这一方，还要考虑接听电话的这一方，因此，我们在创建一次会话之后，其实是需要等待接听电话的，而不能在发出一个异步消息之后直接就转移了控制对象，这样我们很难找出交互是和哪个对象完成的。因此，我们在最右边加上了另一个拨号器对象</a:t>
            </a:r>
            <a:r>
              <a:rPr lang="en-US" altLang="zh-CN" dirty="0"/>
              <a:t>r,</a:t>
            </a:r>
            <a:r>
              <a:rPr lang="zh-CN" altLang="en-US" dirty="0"/>
              <a:t>也就是这是</a:t>
            </a:r>
            <a:r>
              <a:rPr lang="en-US" altLang="zh-CN" dirty="0"/>
              <a:t>s</a:t>
            </a:r>
            <a:r>
              <a:rPr lang="zh-CN" altLang="en-US" dirty="0"/>
              <a:t>拨打给</a:t>
            </a:r>
            <a:r>
              <a:rPr lang="en-US" altLang="zh-CN" dirty="0"/>
              <a:t>r</a:t>
            </a:r>
            <a:r>
              <a:rPr lang="zh-CN" altLang="en-US" dirty="0"/>
              <a:t>的一次电话。只有当</a:t>
            </a:r>
            <a:r>
              <a:rPr lang="en-US" altLang="zh-CN" dirty="0"/>
              <a:t>r</a:t>
            </a:r>
            <a:r>
              <a:rPr lang="zh-CN" altLang="en-US" dirty="0"/>
              <a:t>在听到不超过</a:t>
            </a:r>
            <a:r>
              <a:rPr lang="en-US" altLang="zh-CN" dirty="0"/>
              <a:t>30</a:t>
            </a:r>
            <a:r>
              <a:rPr lang="zh-CN" altLang="en-US" dirty="0"/>
              <a:t>秒的响铃声后，拿起话筒接听电话，才能真正连接</a:t>
            </a:r>
            <a:r>
              <a:rPr lang="en-US" altLang="zh-CN" dirty="0"/>
              <a:t>s</a:t>
            </a:r>
            <a:r>
              <a:rPr lang="zh-CN" altLang="en-US" dirty="0"/>
              <a:t>和</a:t>
            </a:r>
            <a:r>
              <a:rPr lang="en-US" altLang="zh-CN" dirty="0"/>
              <a:t>r</a:t>
            </a:r>
            <a:r>
              <a:rPr lang="zh-CN" altLang="en-US" dirty="0"/>
              <a:t>这两个对象，此时</a:t>
            </a:r>
            <a:r>
              <a:rPr lang="en-US" altLang="zh-CN" dirty="0"/>
              <a:t>connection</a:t>
            </a:r>
            <a:r>
              <a:rPr lang="zh-CN" altLang="en-US" dirty="0"/>
              <a:t>类的会话对象才能够分别向这两个电话发送接通的消息。当然，就算是我们做出这个修改之后，也还是存在很多问题，比如这里我们只定义了拨号时间少于</a:t>
            </a:r>
            <a:r>
              <a:rPr lang="en-US" altLang="zh-CN" dirty="0"/>
              <a:t>30</a:t>
            </a:r>
            <a:r>
              <a:rPr lang="zh-CN" altLang="en-US" dirty="0"/>
              <a:t>秒就得到应答的情况，而没有给出当时间超过</a:t>
            </a:r>
            <a:r>
              <a:rPr lang="en-US" altLang="zh-CN" dirty="0"/>
              <a:t>30</a:t>
            </a:r>
            <a:r>
              <a:rPr lang="zh-CN" altLang="en-US" dirty="0"/>
              <a:t>秒的情况。除此以外，</a:t>
            </a:r>
            <a:r>
              <a:rPr lang="en-US" altLang="zh-CN" dirty="0"/>
              <a:t>Connection</a:t>
            </a:r>
            <a:r>
              <a:rPr lang="zh-CN" altLang="en-US" dirty="0"/>
              <a:t>对象中也没有明确说明计费功能如何实现等问题。因此在现实世界中，对顺序图进行建模，是要考虑当时的上下文和相应控制流程，一步步进行细化的。</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56</a:t>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由于顺序图其实是在对系统的控制流程进行建模。因此，通过分析顺序图的控制流构成，我们就可以推断出这个系统采用的是集中控制还死活分布控制。比如作图，最左边的对象先后发出了很多命令给其它的对象。所有对象的返回结构，也交给最左边的对象进行处理。因此我们不难发现，这种顺序图是采用集中控制的方式。而右边的图，是由左边的对象下发给后面的对象来完成，对象之间层层嵌套，因此它的控制流是分布给后续的对象来完成的。这是一种典型的分布式控制流程的布局。</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57</a:t>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来看这个集中控制的计价系统的顺序图。从这幅图中我们可以看出，几乎所有的控制命令都是从订单这个对象发出的，它一直处于活动期，而且她要等待与所有对象所交互的命令返回结果后，再进行下一步的交互。每一个订单项</a:t>
            </a:r>
            <a:r>
              <a:rPr lang="en-US" altLang="zh-CN" dirty="0"/>
              <a:t>Order Line</a:t>
            </a:r>
            <a:r>
              <a:rPr lang="zh-CN" altLang="en-US" dirty="0"/>
              <a:t>，每一个要订购的产品</a:t>
            </a:r>
            <a:r>
              <a:rPr lang="en-US" altLang="zh-CN" dirty="0"/>
              <a:t>Product</a:t>
            </a:r>
            <a:r>
              <a:rPr lang="zh-CN" altLang="en-US" dirty="0"/>
              <a:t>，以及每一个顾客</a:t>
            </a:r>
            <a:r>
              <a:rPr lang="en-US" altLang="zh-CN" dirty="0"/>
              <a:t>Customer</a:t>
            </a:r>
            <a:r>
              <a:rPr lang="zh-CN" altLang="en-US" dirty="0"/>
              <a:t>都是直接和这个</a:t>
            </a:r>
            <a:r>
              <a:rPr lang="en-US" altLang="zh-CN" dirty="0"/>
              <a:t>Order</a:t>
            </a:r>
            <a:r>
              <a:rPr lang="zh-CN" altLang="en-US" dirty="0"/>
              <a:t>对象相交互的。</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58</a:t>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当然，同一个功能我们可以采用完全不同的控制策略来完成。比如在这里就是用一个分布控制的顺序图来表示。首先，由订单把计算价格的命令发送给一个订单条</a:t>
            </a:r>
            <a:r>
              <a:rPr lang="en-US" altLang="zh-CN" dirty="0"/>
              <a:t>Order Line</a:t>
            </a:r>
            <a:r>
              <a:rPr lang="zh-CN" altLang="en-US" dirty="0"/>
              <a:t>，然后由</a:t>
            </a:r>
            <a:r>
              <a:rPr lang="en-US" altLang="zh-CN" dirty="0"/>
              <a:t>Order Line</a:t>
            </a:r>
            <a:r>
              <a:rPr lang="zh-CN" altLang="en-US" dirty="0"/>
              <a:t>自行与每一个产品以及相应的客户发生交互，这样每一条目的价格都是分开计算的，最后只是汇总一下。此时</a:t>
            </a:r>
            <a:r>
              <a:rPr lang="en-US" altLang="zh-CN" dirty="0" err="1"/>
              <a:t>OrderLine</a:t>
            </a:r>
            <a:r>
              <a:rPr lang="zh-CN" altLang="en-US" dirty="0"/>
              <a:t>承担了一部分的控制功能，减轻了</a:t>
            </a:r>
            <a:r>
              <a:rPr lang="en-US" altLang="zh-CN" dirty="0"/>
              <a:t>Order</a:t>
            </a:r>
            <a:r>
              <a:rPr lang="zh-CN" altLang="en-US" dirty="0"/>
              <a:t>的控制职责，这是我们所建议的分布控制的顺序图布局。</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59</a:t>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在使用</a:t>
            </a:r>
            <a:r>
              <a:rPr lang="en-US" altLang="zh-CN" dirty="0"/>
              <a:t>UML</a:t>
            </a:r>
            <a:r>
              <a:rPr lang="zh-CN" altLang="en-US" dirty="0"/>
              <a:t>的过程中，顺序图往往和用例建模绑定使用的，我们可以用顺序图来表达。。也就是说，每个用例它的交互过程都对应一个顺序图，顺序图能够很清楚地表达。。。的交互功能。顺序图表示的是位完成用例而。。。，当然，顺序图也可以用于。。。因此它的常用做法是，首先在用例建模期间，可以用顺序图来表示参与者和系统在系统边界发生的交互活动。然后随着设计活动的深入，我们此时已经有了系统内部的类结构，并且大致涉及了对象之间的交互行为后，可以再用顺序图进一步丰富展开系统内部对象之间的交互活动。</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60</a:t>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里我们给出了一个用顺序图来建模用例交互过程的实例。左边是用文本模式来描述的交互活动，右边是用顺序图来描述的交互活动，对比两种表示方法，我们可以看到，自然语言是一个详细的交互过程的说明，而右边顺序图给出的可视化的交互过程，可以非常清晰一目了然的展示出用户和系统之间的交互消息，以及他们之间发生的次序和所牵涉到的是系统本身还是用户与系统双方。因此，我们可以发现，顺序图的使用，能够使得系统建模更加的清楚、简洁。</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61</a:t>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通过顺序图建模，我们可以逐步地，对之前的用例描述进行扩展、细化和查漏补缺。顺序图能够贯穿于软件开发周期的。。。这里我们需要注意的是，在分析阶段的顺序图，并不需要包括系统的设计对象，也不需要关注消息的参数和类型，我们更关注的时消息本身的目的和消息的内容，只有当我们有了进一步的类图结构之后，我们才需要丰富设计对象之间的交互，并提供交互时发送消息的参数。</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62</a:t>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在获取到初步的用例描述后，我们将很容易地从中提取顺序图的元素。比如，我们可以从用例描述中提取参与交互的对象，这个例子中包括参与者</a:t>
            </a:r>
            <a:r>
              <a:rPr lang="en-US" altLang="zh-CN" dirty="0" err="1"/>
              <a:t>Custmor</a:t>
            </a:r>
            <a:r>
              <a:rPr lang="zh-CN" altLang="en-US" dirty="0"/>
              <a:t>，和提供搜索界面的</a:t>
            </a:r>
            <a:r>
              <a:rPr lang="en-US" altLang="zh-CN" dirty="0"/>
              <a:t>Search Page</a:t>
            </a:r>
            <a:r>
              <a:rPr lang="zh-CN" altLang="en-US" dirty="0"/>
              <a:t>，和返回结果页面</a:t>
            </a:r>
            <a:r>
              <a:rPr lang="en-US" altLang="zh-CN" dirty="0"/>
              <a:t>Search Results Page, </a:t>
            </a:r>
            <a:r>
              <a:rPr lang="zh-CN" altLang="en-US" dirty="0"/>
              <a:t>以及在后台提供服务的目录系统和结构封装的实体类。在这个建模过程中，我们能够得到用例交互的流程，首先时系统外部的参与者</a:t>
            </a:r>
            <a:r>
              <a:rPr lang="en-US" altLang="zh-CN" dirty="0"/>
              <a:t>Customer</a:t>
            </a:r>
            <a:r>
              <a:rPr lang="zh-CN" altLang="en-US" dirty="0"/>
              <a:t>提交了一个搜索请求，然后搜索页面在对搜索请求进行简单的语法验证后，向后台的目录对象发出</a:t>
            </a:r>
            <a:r>
              <a:rPr lang="en-US" altLang="zh-CN" dirty="0" err="1"/>
              <a:t>SearchByAuthor</a:t>
            </a:r>
            <a:r>
              <a:rPr lang="zh-CN" altLang="en-US" dirty="0"/>
              <a:t>这个请求，按作者搜索后，目录对象建立一个搜索结果的类对象，并将其返回给结果显示页面，而当搜索出错时会在搜索页面显示一个出错信息。这样通过在顺序图中的横向和纵向建模，我们能够很清楚的看到每个类对象各自的职责，以及他们之间交互的次序。</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63</a:t>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顺序图的建模意义在于，我们可以通过顺序图来描述算法的逻辑，在抽象层次上，能够逐步逼近软件代码本身，让从分析到设计再到开发的过程更加平稳的过渡。也就是说高质量的顺序图是。。因为此时我们无需描述每一行代码的信息，就可以表示出代码的逻辑。不难发现，顺序图是与编程语言。。。可以通过不同的编程语言来实现对应的算法逻辑。我们可以通过绘制。。来描述高于编码抽象层次的业务逻辑，也就是说对于那些不需要编码的业务逻辑，我们也可以使用顺序图来表达。顺序图的绘制可以通过团队协作完成，由于顺序图能够在同一个页面上显示多个对象和类实例的行为，它加宽了我们建模的视野，可以同时描述多个对象行为。</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64</a:t>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顺序图的建模过程中，我们要把主要的注意力集中在关键的交互上，而要把无关的或者不重要的细节忽略掉。比如，如果我们绘制顺序图的主要目的是描述业务逻辑，那么我们就没必要包括对象和数据库之间频繁的详细的交互过程，可能指包括像保存、删除这样的消息就足够了，甚至我们可以持久化问题已经被妥善的处理，而不用考虑持久性相关的每一个细节。</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65</a:t>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在顺序图的建模过程中，我们要有限考虑使用。。。比如，我们将消息</a:t>
            </a:r>
            <a:r>
              <a:rPr lang="en-US" altLang="zh-CN" dirty="0" err="1"/>
              <a:t>addDeposit</a:t>
            </a:r>
            <a:r>
              <a:rPr lang="zh-CN" altLang="en-US" dirty="0"/>
              <a:t>的参数写作。。比。。要能够传递更丰富的信息，因为前者可以告诉我们，当我们需要存款时，我们要直到存款的数额和目标账户，而通过后者，我们只能够直到这个消息的参数类型是一个现金类和一个账户类，而并不能传递足够的关于领域业务的信息。关于参数的类型，我们最好是在</a:t>
            </a:r>
            <a:r>
              <a:rPr lang="en-US" altLang="zh-CN" dirty="0"/>
              <a:t>UML</a:t>
            </a:r>
            <a:r>
              <a:rPr lang="zh-CN" altLang="en-US" dirty="0"/>
              <a:t>的类图中定义。我们要注意，这里的建模风格实际上只是一个建议，而并不是严格的规定，也就是说，当我们需要表示这里要传递的是某种类型的对象时，指明参数类型作为占位符也是可以的。</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66</a:t>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除此以外，在顺序图建模时，我们不要对那些明显的返回值进行建模。添加返回消息。比如在这个顺序图中，创建安全登陆对象</a:t>
            </a:r>
            <a:r>
              <a:rPr lang="en-US" altLang="zh-CN" dirty="0"/>
              <a:t>Security Login,</a:t>
            </a:r>
            <a:r>
              <a:rPr lang="zh-CN" altLang="en-US" dirty="0"/>
              <a:t>这个行为会导致生成一个新的顾客对象，这个返回值是不明显的，而且我们需要返回新建顾客的</a:t>
            </a:r>
            <a:r>
              <a:rPr lang="en-US" altLang="zh-CN" dirty="0"/>
              <a:t>ID</a:t>
            </a:r>
            <a:r>
              <a:rPr lang="zh-CN" altLang="en-US" dirty="0"/>
              <a:t>，此时我们需要对它进行建模，给出一个返回消息，用来返回</a:t>
            </a:r>
            <a:r>
              <a:rPr lang="en-US" altLang="zh-CN" dirty="0"/>
              <a:t>Customer</a:t>
            </a:r>
            <a:r>
              <a:rPr lang="zh-CN" altLang="en-US" dirty="0"/>
              <a:t>的</a:t>
            </a:r>
            <a:r>
              <a:rPr lang="en-US" altLang="zh-CN" dirty="0"/>
              <a:t>ID</a:t>
            </a:r>
            <a:r>
              <a:rPr lang="zh-CN" altLang="en-US" dirty="0"/>
              <a:t>。而向订单对象发送请求，计算总数，那么它的返回值是显而易见的，需要返回一个总数，此时我们就不需要再对他进行建模了。我们需要注意的是，返回消息，它实际上是同步消息的一部分，比如这个例子里发送</a:t>
            </a:r>
            <a:r>
              <a:rPr lang="en-US" altLang="zh-CN" dirty="0" err="1"/>
              <a:t>getTotal</a:t>
            </a:r>
            <a:r>
              <a:rPr lang="en-US" altLang="zh-CN" dirty="0"/>
              <a:t>()</a:t>
            </a:r>
            <a:r>
              <a:rPr lang="zh-CN" altLang="en-US" dirty="0"/>
              <a:t>这个消息之后，其实就是调用了</a:t>
            </a:r>
            <a:r>
              <a:rPr lang="en-US" altLang="zh-CN" dirty="0"/>
              <a:t>Order</a:t>
            </a:r>
            <a:r>
              <a:rPr lang="zh-CN" altLang="en-US" dirty="0"/>
              <a:t>的</a:t>
            </a:r>
            <a:r>
              <a:rPr lang="en-US" altLang="zh-CN" dirty="0" err="1"/>
              <a:t>getTotal</a:t>
            </a:r>
            <a:r>
              <a:rPr lang="zh-CN" altLang="en-US" dirty="0"/>
              <a:t>的操作，调用后一定会有一个返回值，这就是同步消息的一部分。而对于异步消息，大家还记得前面拨打电话的例子，一个人打电话，需要等到另一个人接电话才能够确认会话连同，这就是一个异步消息，不难发现，异步消息的返回值其实是另一个消息了。</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67</a:t>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还需要注意一些其他问题。首先，由于顺序图表达的是动态的交互行为，因此它往往会涉及到时间约束的表示。那么这里我们就需要在消息之间使用一个约束表达式来表示这样的约束。比如在这个图中，我们想表示的是，消息</a:t>
            </a:r>
            <a:r>
              <a:rPr lang="en-US" altLang="zh-CN" dirty="0"/>
              <a:t>a</a:t>
            </a:r>
            <a:r>
              <a:rPr lang="zh-CN" altLang="en-US" dirty="0"/>
              <a:t>和消息</a:t>
            </a:r>
            <a:r>
              <a:rPr lang="en-US" altLang="zh-CN" dirty="0"/>
              <a:t>b</a:t>
            </a:r>
            <a:r>
              <a:rPr lang="zh-CN" altLang="en-US" dirty="0"/>
              <a:t>这两者之间发生的时间间隔不能超过两秒。大家可以思考一下，在这个图中，为什么我们没有在生命线上使用一个竖直方框来表示参与对象的激活期呢？因为激活期在这里并不能帮助我们表示消息</a:t>
            </a:r>
            <a:r>
              <a:rPr lang="en-US" altLang="zh-CN" dirty="0"/>
              <a:t>a</a:t>
            </a:r>
            <a:r>
              <a:rPr lang="zh-CN" altLang="en-US" dirty="0"/>
              <a:t>和消息</a:t>
            </a:r>
            <a:r>
              <a:rPr lang="en-US" altLang="zh-CN" dirty="0"/>
              <a:t>b</a:t>
            </a:r>
            <a:r>
              <a:rPr lang="zh-CN" altLang="en-US" dirty="0"/>
              <a:t>之间的约束条件，它表示的是对象它拥有控制线索的时间，但并不能用来区分两条消息之间的绝对时间约束。</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68</a:t>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控制焦点的建模是一个可选项，也就是说我们实际上可以不画出对象的控制焦点和激活器。但是，通过画出控制焦点，我们可以更明确的说明一个消息的开始和结束位置。比如在这个图中，对象</a:t>
            </a:r>
            <a:r>
              <a:rPr lang="en-US" altLang="zh-CN" dirty="0"/>
              <a:t>1</a:t>
            </a:r>
            <a:r>
              <a:rPr lang="zh-CN" altLang="en-US" dirty="0"/>
              <a:t>调用了对象</a:t>
            </a:r>
            <a:r>
              <a:rPr lang="en-US" altLang="zh-CN" dirty="0"/>
              <a:t>2</a:t>
            </a:r>
            <a:r>
              <a:rPr lang="zh-CN" altLang="en-US" dirty="0"/>
              <a:t>的操作</a:t>
            </a:r>
            <a:r>
              <a:rPr lang="en-US" altLang="zh-CN" dirty="0"/>
              <a:t>1</a:t>
            </a:r>
            <a:r>
              <a:rPr lang="zh-CN" altLang="en-US" dirty="0"/>
              <a:t>，然后对象</a:t>
            </a:r>
            <a:r>
              <a:rPr lang="en-US" altLang="zh-CN" dirty="0"/>
              <a:t>2</a:t>
            </a:r>
            <a:r>
              <a:rPr lang="zh-CN" altLang="en-US" dirty="0"/>
              <a:t>在执行操作</a:t>
            </a:r>
            <a:r>
              <a:rPr lang="en-US" altLang="zh-CN" dirty="0"/>
              <a:t>1</a:t>
            </a:r>
            <a:r>
              <a:rPr lang="zh-CN" altLang="en-US" dirty="0"/>
              <a:t>期间又反过来调用了对象</a:t>
            </a:r>
            <a:r>
              <a:rPr lang="en-US" altLang="zh-CN" dirty="0"/>
              <a:t>1</a:t>
            </a:r>
            <a:r>
              <a:rPr lang="zh-CN" altLang="en-US" dirty="0"/>
              <a:t>的操作</a:t>
            </a:r>
            <a:r>
              <a:rPr lang="en-US" altLang="zh-CN" dirty="0"/>
              <a:t>2</a:t>
            </a:r>
            <a:r>
              <a:rPr lang="zh-CN" altLang="en-US" dirty="0"/>
              <a:t>，通过增加控制焦点的嵌套机制，我们就可以更精确地说明消息的开始和结束位置，仿佛是一个消息调用的压栈机制。激活期表示的是对象在执行一个动作的期间，它和控制焦点实际上是同一个概念。总的来说，我们可以看着附图中竖直的虚线表示对象的生命线，除非像前面所说的生命线上出现一个差，此时表示该对象被撤销了，对象不再存在。否则对象在生命线期间一直存在。而在虚线上的竖直方框则表示对象的激活期，也就是执行动作的期间。最后，激活期上所出现的消息位置，也就是控制焦点，能够更精确地说明消息地开始和结束位置。比如我们从这幅图中可以看出，一开始对象</a:t>
            </a:r>
            <a:r>
              <a:rPr lang="en-US" altLang="zh-CN" dirty="0"/>
              <a:t>1</a:t>
            </a:r>
            <a:r>
              <a:rPr lang="zh-CN" altLang="en-US" dirty="0"/>
              <a:t>调用对象</a:t>
            </a:r>
            <a:r>
              <a:rPr lang="en-US" altLang="zh-CN" dirty="0"/>
              <a:t>2</a:t>
            </a:r>
            <a:r>
              <a:rPr lang="zh-CN" altLang="en-US" dirty="0"/>
              <a:t>地操作</a:t>
            </a:r>
            <a:r>
              <a:rPr lang="en-US" altLang="zh-CN" dirty="0"/>
              <a:t>1</a:t>
            </a:r>
            <a:r>
              <a:rPr lang="zh-CN" altLang="en-US" dirty="0"/>
              <a:t>，然后在对象</a:t>
            </a:r>
            <a:r>
              <a:rPr lang="en-US" altLang="zh-CN" dirty="0"/>
              <a:t>2</a:t>
            </a:r>
            <a:r>
              <a:rPr lang="zh-CN" altLang="en-US" dirty="0"/>
              <a:t>执行操作</a:t>
            </a:r>
            <a:r>
              <a:rPr lang="en-US" altLang="zh-CN" dirty="0"/>
              <a:t>1</a:t>
            </a:r>
            <a:r>
              <a:rPr lang="zh-CN" altLang="en-US" dirty="0"/>
              <a:t>期间，对象</a:t>
            </a:r>
            <a:r>
              <a:rPr lang="en-US" altLang="zh-CN" dirty="0"/>
              <a:t>2</a:t>
            </a:r>
            <a:r>
              <a:rPr lang="zh-CN" altLang="en-US" dirty="0"/>
              <a:t>又调用了对象</a:t>
            </a:r>
            <a:r>
              <a:rPr lang="en-US" altLang="zh-CN" dirty="0"/>
              <a:t>1 </a:t>
            </a:r>
            <a:r>
              <a:rPr lang="zh-CN" altLang="en-US" dirty="0"/>
              <a:t>的操作</a:t>
            </a:r>
            <a:r>
              <a:rPr lang="en-US" altLang="zh-CN" dirty="0"/>
              <a:t>2</a:t>
            </a:r>
            <a:r>
              <a:rPr lang="zh-CN" altLang="en-US" dirty="0"/>
              <a:t>，此时操作</a:t>
            </a:r>
            <a:r>
              <a:rPr lang="en-US" altLang="zh-CN" dirty="0"/>
              <a:t>2</a:t>
            </a:r>
            <a:r>
              <a:rPr lang="zh-CN" altLang="en-US" dirty="0"/>
              <a:t>所出现的控制焦点其实是在对象</a:t>
            </a:r>
            <a:r>
              <a:rPr lang="en-US" altLang="zh-CN" dirty="0"/>
              <a:t>1</a:t>
            </a:r>
            <a:r>
              <a:rPr lang="zh-CN" altLang="en-US" dirty="0"/>
              <a:t>的激活期中间的，这体现了对象</a:t>
            </a:r>
            <a:r>
              <a:rPr lang="en-US" altLang="zh-CN" dirty="0"/>
              <a:t>1</a:t>
            </a:r>
            <a:r>
              <a:rPr lang="zh-CN" altLang="en-US" dirty="0"/>
              <a:t>在调用操作</a:t>
            </a:r>
            <a:r>
              <a:rPr lang="en-US" altLang="zh-CN" dirty="0"/>
              <a:t>1</a:t>
            </a:r>
            <a:r>
              <a:rPr lang="zh-CN" altLang="en-US" dirty="0"/>
              <a:t>期间，执行了操作</a:t>
            </a:r>
            <a:r>
              <a:rPr lang="en-US" altLang="zh-CN" dirty="0"/>
              <a:t>2</a:t>
            </a:r>
            <a:r>
              <a:rPr lang="zh-CN" altLang="en-US" dirty="0"/>
              <a:t>。最后在对象</a:t>
            </a:r>
            <a:r>
              <a:rPr lang="en-US" altLang="zh-CN" dirty="0"/>
              <a:t>1</a:t>
            </a:r>
            <a:r>
              <a:rPr lang="zh-CN" altLang="en-US" dirty="0"/>
              <a:t>执行完操作</a:t>
            </a:r>
            <a:r>
              <a:rPr lang="en-US" altLang="zh-CN" dirty="0"/>
              <a:t>2</a:t>
            </a:r>
            <a:r>
              <a:rPr lang="zh-CN" altLang="en-US" dirty="0"/>
              <a:t>后又调用了对象</a:t>
            </a:r>
            <a:r>
              <a:rPr lang="en-US" altLang="zh-CN" dirty="0"/>
              <a:t>3</a:t>
            </a:r>
            <a:r>
              <a:rPr lang="zh-CN" altLang="en-US" dirty="0"/>
              <a:t>的操作</a:t>
            </a:r>
            <a:r>
              <a:rPr lang="en-US" altLang="zh-CN" dirty="0"/>
              <a:t>3.</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t>69</a:t>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我们也提到了在顺序图中递归的消息调用，可以采用嵌套的控制焦点来表示，右边这张图里就有一个单个对象对自身的递归调用，首先由对象</a:t>
            </a:r>
            <a:r>
              <a:rPr lang="en-US" altLang="zh-CN" dirty="0"/>
              <a:t>C1</a:t>
            </a:r>
            <a:r>
              <a:rPr lang="zh-CN" altLang="en-US" dirty="0"/>
              <a:t>调用</a:t>
            </a:r>
            <a:r>
              <a:rPr lang="en-US" altLang="zh-CN" dirty="0"/>
              <a:t>C2</a:t>
            </a:r>
            <a:r>
              <a:rPr lang="zh-CN" altLang="en-US" dirty="0"/>
              <a:t>的</a:t>
            </a:r>
            <a:r>
              <a:rPr lang="en-US" altLang="zh-CN" dirty="0" err="1"/>
              <a:t>oper</a:t>
            </a:r>
            <a:r>
              <a:rPr lang="zh-CN" altLang="en-US" dirty="0"/>
              <a:t>的操作，然后</a:t>
            </a:r>
            <a:r>
              <a:rPr lang="en-US" altLang="zh-CN" dirty="0"/>
              <a:t>C2</a:t>
            </a:r>
            <a:r>
              <a:rPr lang="zh-CN" altLang="en-US" dirty="0"/>
              <a:t>在执行这个操作的过程中，又调用了自身的</a:t>
            </a:r>
            <a:r>
              <a:rPr lang="en-US" altLang="zh-CN" dirty="0" err="1"/>
              <a:t>oper</a:t>
            </a:r>
            <a:r>
              <a:rPr lang="zh-CN" altLang="en-US" dirty="0"/>
              <a:t>方法。这样我们就可以采用嵌套的控制焦点来表达。</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70</a:t>
            </a:fld>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而对多个对象之间相互递归调用，也可以采用相似的方法。右边这张图中，我们可以看到</a:t>
            </a:r>
            <a:r>
              <a:rPr lang="en-US" altLang="zh-CN" dirty="0"/>
              <a:t>C1</a:t>
            </a:r>
            <a:r>
              <a:rPr lang="zh-CN" altLang="en-US" dirty="0"/>
              <a:t>调用了</a:t>
            </a:r>
            <a:r>
              <a:rPr lang="en-US" altLang="zh-CN" dirty="0"/>
              <a:t>C2</a:t>
            </a:r>
            <a:r>
              <a:rPr lang="zh-CN" altLang="en-US" dirty="0"/>
              <a:t>的</a:t>
            </a:r>
            <a:r>
              <a:rPr lang="en-US" altLang="zh-CN" dirty="0"/>
              <a:t>oper1</a:t>
            </a:r>
            <a:r>
              <a:rPr lang="zh-CN" altLang="en-US" dirty="0"/>
              <a:t>方法，</a:t>
            </a:r>
            <a:r>
              <a:rPr lang="en-US" altLang="zh-CN" dirty="0"/>
              <a:t>C2</a:t>
            </a:r>
            <a:r>
              <a:rPr lang="zh-CN" altLang="en-US" dirty="0"/>
              <a:t>又在执行</a:t>
            </a:r>
            <a:r>
              <a:rPr lang="en-US" altLang="zh-CN" dirty="0"/>
              <a:t>oper1</a:t>
            </a:r>
            <a:r>
              <a:rPr lang="zh-CN" altLang="en-US" dirty="0"/>
              <a:t>的过程中，调用了</a:t>
            </a:r>
            <a:r>
              <a:rPr lang="en-US" altLang="zh-CN" dirty="0"/>
              <a:t>C3</a:t>
            </a:r>
            <a:r>
              <a:rPr lang="zh-CN" altLang="en-US" dirty="0"/>
              <a:t>的</a:t>
            </a:r>
            <a:r>
              <a:rPr lang="en-US" altLang="zh-CN" dirty="0"/>
              <a:t>oper2</a:t>
            </a:r>
            <a:r>
              <a:rPr lang="zh-CN" altLang="en-US" dirty="0"/>
              <a:t>操作，而</a:t>
            </a:r>
            <a:r>
              <a:rPr lang="en-US" altLang="zh-CN" dirty="0"/>
              <a:t>C3</a:t>
            </a:r>
            <a:r>
              <a:rPr lang="zh-CN" altLang="en-US" dirty="0"/>
              <a:t>咋</a:t>
            </a:r>
            <a:r>
              <a:rPr lang="en-US" altLang="zh-CN" dirty="0" err="1"/>
              <a:t>i</a:t>
            </a:r>
            <a:r>
              <a:rPr lang="zh-CN" altLang="en-US" dirty="0"/>
              <a:t>执行</a:t>
            </a:r>
            <a:r>
              <a:rPr lang="en-US" altLang="zh-CN" dirty="0"/>
              <a:t>oper2</a:t>
            </a:r>
            <a:r>
              <a:rPr lang="zh-CN" altLang="en-US" dirty="0"/>
              <a:t>的过程中，又调用了</a:t>
            </a:r>
            <a:r>
              <a:rPr lang="en-US" altLang="zh-CN" dirty="0"/>
              <a:t>C2</a:t>
            </a:r>
            <a:r>
              <a:rPr lang="zh-CN" altLang="en-US" dirty="0"/>
              <a:t>的</a:t>
            </a:r>
            <a:r>
              <a:rPr lang="en-US" altLang="zh-CN" dirty="0"/>
              <a:t>oper1</a:t>
            </a:r>
            <a:r>
              <a:rPr lang="zh-CN" altLang="en-US" dirty="0"/>
              <a:t>方法，从这个过程中可以看出，对每个消息调用来说，它的拥有者都是消息的接收方，也就是说，</a:t>
            </a:r>
            <a:r>
              <a:rPr lang="en-US" altLang="zh-CN" dirty="0"/>
              <a:t>C2</a:t>
            </a:r>
            <a:r>
              <a:rPr lang="zh-CN" altLang="en-US" dirty="0"/>
              <a:t>要对外提供的这里只有</a:t>
            </a:r>
            <a:r>
              <a:rPr lang="en-US" altLang="zh-CN" dirty="0"/>
              <a:t>oper1</a:t>
            </a:r>
            <a:r>
              <a:rPr lang="zh-CN" altLang="en-US" dirty="0"/>
              <a:t>服务，而</a:t>
            </a:r>
            <a:r>
              <a:rPr lang="en-US" altLang="zh-CN" dirty="0"/>
              <a:t>C3</a:t>
            </a:r>
            <a:r>
              <a:rPr lang="zh-CN" altLang="en-US" dirty="0"/>
              <a:t>对外提供的只有</a:t>
            </a:r>
            <a:r>
              <a:rPr lang="en-US" altLang="zh-CN" dirty="0"/>
              <a:t>oper2</a:t>
            </a:r>
            <a:r>
              <a:rPr lang="zh-CN" altLang="en-US" dirty="0"/>
              <a:t>服务，</a:t>
            </a:r>
            <a:r>
              <a:rPr lang="en-US" altLang="zh-CN" dirty="0"/>
              <a:t>C2</a:t>
            </a:r>
            <a:r>
              <a:rPr lang="zh-CN" altLang="en-US" dirty="0"/>
              <a:t>在调用</a:t>
            </a:r>
            <a:r>
              <a:rPr lang="en-US" altLang="zh-CN" dirty="0"/>
              <a:t>C3</a:t>
            </a:r>
            <a:r>
              <a:rPr lang="zh-CN" altLang="en-US" dirty="0"/>
              <a:t>的过程中又被反过来引用了自身的服务。</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71</a:t>
            </a:fld>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通过顺序图建模，我们可以帮助分析人员对照。。。它能够提醒。。。帮助。。。哪些对象是被动对象，通过一个特定的。。我们能够更好的理解对象之间的交互互动。</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72</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a:xfrm>
            <a:off x="9677398" y="6538912"/>
            <a:ext cx="910773" cy="365125"/>
          </a:xfrm>
        </p:spPr>
        <p:txBody>
          <a:bodyPr/>
          <a:lstStyle>
            <a:lvl1pPr>
              <a:defRPr>
                <a:solidFill>
                  <a:schemeClr val="tx1"/>
                </a:solidFill>
              </a:defRPr>
            </a:lvl1pPr>
          </a:lstStyle>
          <a:p>
            <a:fld id="{EE1437CF-48CF-47D8-9F3E-7D33A0862511}" type="datetime1">
              <a:rPr lang="en-US" altLang="zh-CN" smtClean="0"/>
              <a:t>3/31/2025</a:t>
            </a:fld>
            <a:endParaRPr lang="zh-CN" altLang="en-US"/>
          </a:p>
        </p:txBody>
      </p:sp>
      <p:sp>
        <p:nvSpPr>
          <p:cNvPr id="6" name="灯片编号占位符 5"/>
          <p:cNvSpPr>
            <a:spLocks noGrp="1"/>
          </p:cNvSpPr>
          <p:nvPr>
            <p:ph type="sldNum" sz="quarter" idx="12"/>
          </p:nvPr>
        </p:nvSpPr>
        <p:spPr>
          <a:xfrm>
            <a:off x="10588171" y="6538912"/>
            <a:ext cx="809172" cy="365125"/>
          </a:xfrm>
        </p:spPr>
        <p:txBody>
          <a:bodyPr/>
          <a:lstStyle>
            <a:lvl1pPr>
              <a:defRPr>
                <a:solidFill>
                  <a:schemeClr val="tx1"/>
                </a:solidFill>
              </a:defRPr>
            </a:lvl1pPr>
          </a:lstStyle>
          <a:p>
            <a:fld id="{74D2AB8B-5816-41F2-8B4B-CA5C3E4E6A65}" type="slidenum">
              <a:rPr lang="zh-CN" altLang="en-US" smtClean="0"/>
              <a:t>‹#›</a:t>
            </a:fld>
            <a:endParaRPr lang="zh-CN" altLang="en-US"/>
          </a:p>
        </p:txBody>
      </p:sp>
      <p:sp>
        <p:nvSpPr>
          <p:cNvPr id="5" name="页脚占位符 4"/>
          <p:cNvSpPr>
            <a:spLocks noGrp="1"/>
          </p:cNvSpPr>
          <p:nvPr>
            <p:ph type="ftr" sz="quarter" idx="11"/>
          </p:nvPr>
        </p:nvSpPr>
        <p:spPr>
          <a:xfrm>
            <a:off x="4038600" y="6538911"/>
            <a:ext cx="4114800" cy="365125"/>
          </a:xfrm>
        </p:spPr>
        <p:txBody>
          <a:bodyPr/>
          <a:lstStyle>
            <a:lvl1pPr>
              <a:defRPr>
                <a:solidFill>
                  <a:schemeClr val="tx1"/>
                </a:solidFill>
              </a:defRPr>
            </a:lvl1pPr>
          </a:lstStyle>
          <a:p>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B204CD7-B98F-4DCA-8090-DC3F70878950}" type="datetime1">
              <a:rPr lang="en-US" altLang="zh-CN" smtClean="0"/>
              <a:t>3/31/2025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4D2AB8B-5816-41F2-8B4B-CA5C3E4E6A65}" type="slidenum">
              <a:rPr lang="zh-CN" altLang="en-US" smtClean="0"/>
              <a:t>‹#›</a:t>
            </a:fld>
            <a:endParaRPr lang="zh-CN" altLang="en-US"/>
          </a:p>
        </p:txBody>
      </p:sp>
      <p:cxnSp>
        <p:nvCxnSpPr>
          <p:cNvPr id="13" name="直接连接符 12"/>
          <p:cNvCxnSpPr/>
          <p:nvPr userDrawn="1"/>
        </p:nvCxnSpPr>
        <p:spPr>
          <a:xfrm>
            <a:off x="0" y="1379220"/>
            <a:ext cx="7719060" cy="0"/>
          </a:xfrm>
          <a:prstGeom prst="line">
            <a:avLst/>
          </a:prstGeom>
          <a:ln w="38100">
            <a:solidFill>
              <a:srgbClr val="C00000"/>
            </a:solidFill>
            <a:prstDash val="sysDot"/>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BCD3CE53-8A6B-4FF5-9204-248AD11D653A}" type="datetime1">
              <a:rPr lang="en-US" altLang="zh-CN" smtClean="0"/>
              <a:t>3/31/2025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4D2AB8B-5816-41F2-8B4B-CA5C3E4E6A65}"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2863A2D-6F54-47AD-94A2-F50DB1E035B6}" type="datetime1">
              <a:rPr lang="en-US" altLang="zh-CN" smtClean="0"/>
              <a:t>3/31/2025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4D2AB8B-5816-41F2-8B4B-CA5C3E4E6A65}"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8276ABC7-1CEA-4A45-B885-97C9EDD9D42B}" type="datetime1">
              <a:rPr lang="en-US" altLang="zh-CN" smtClean="0"/>
              <a:t>3/31/2025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4D2AB8B-5816-41F2-8B4B-CA5C3E4E6A65}"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BCB6521C-C767-4B16-B7CF-37770FC497D2}" type="datetime1">
              <a:rPr lang="en-US" altLang="zh-CN" smtClean="0"/>
              <a:t>3/31/2025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4D2AB8B-5816-41F2-8B4B-CA5C3E4E6A65}"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EEB60BB-FD8D-4BF8-93E0-BAE9C99FA1AC}" type="datetime1">
              <a:rPr lang="en-US" altLang="zh-CN" smtClean="0"/>
              <a:t>3/31/2025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4D2AB8B-5816-41F2-8B4B-CA5C3E4E6A65}"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9860331-A268-4BB6-B401-B737C3CE1B48}" type="datetime1">
              <a:rPr lang="en-US" altLang="zh-CN" smtClean="0"/>
              <a:t>3/31/2025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4D2AB8B-5816-41F2-8B4B-CA5C3E4E6A65}"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1DC1A728-08F2-4565-81E2-02348987336C}" type="datetime1">
              <a:rPr lang="en-US" altLang="zh-CN" smtClean="0"/>
              <a:t>3/31/2025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4D2AB8B-5816-41F2-8B4B-CA5C3E4E6A65}"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220FE71A-6105-4B27-BED7-24DBCE20606C}" type="datetime1">
              <a:rPr lang="en-US" altLang="zh-CN" smtClean="0"/>
              <a:t>3/31/2025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4D2AB8B-5816-41F2-8B4B-CA5C3E4E6A65}"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0F86F6C3-964F-49F1-A8A5-C549EB50E073}" type="datetime1">
              <a:rPr lang="en-US" altLang="zh-CN" smtClean="0"/>
              <a:t>3/31/2025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4D2AB8B-5816-41F2-8B4B-CA5C3E4E6A65}"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70D68DB1-EC54-42B5-9C3B-999703901CB6}" type="datetime1">
              <a:rPr lang="en-US" altLang="zh-CN" smtClean="0"/>
              <a:t>3/31/2025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chemeClr val="tx1"/>
                </a:solidFill>
                <a:latin typeface="华文新魏" panose="02010800040101010101" charset="-122"/>
                <a:cs typeface="华文新魏" panose="02010800040101010101" charset="-122"/>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C44C7A3F-F3A9-42D6-91F6-5EABC8C97274}" type="datetime1">
              <a:rPr lang="en-US" altLang="zh-CN" smtClean="0"/>
              <a:t>3/31/2025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813676" y="6248725"/>
            <a:ext cx="1060619" cy="365125"/>
          </a:xfrm>
          <a:prstGeom prst="rect">
            <a:avLst/>
          </a:prstGeom>
        </p:spPr>
        <p:txBody>
          <a:bodyPr vert="horz" lIns="91440" tIns="45720" rIns="91440" bIns="45720" rtlCol="0" anchor="ctr"/>
          <a:lstStyle>
            <a:lvl1pPr algn="l">
              <a:defRPr sz="1200">
                <a:solidFill>
                  <a:schemeClr val="tx1"/>
                </a:solidFill>
              </a:defRPr>
            </a:lvl1pPr>
          </a:lstStyle>
          <a:p>
            <a:fld id="{0767CBF5-85C4-4E6B-A6B8-2C7041B1F416}" type="datetime1">
              <a:rPr lang="en-US" altLang="zh-CN" smtClean="0"/>
              <a:t>3/31/2025</a:t>
            </a:fld>
            <a:endParaRPr lang="zh-CN" altLang="en-US"/>
          </a:p>
        </p:txBody>
      </p:sp>
      <p:sp>
        <p:nvSpPr>
          <p:cNvPr id="6" name="灯片编号占位符 5"/>
          <p:cNvSpPr>
            <a:spLocks noGrp="1"/>
          </p:cNvSpPr>
          <p:nvPr>
            <p:ph type="sldNum" sz="quarter" idx="4"/>
          </p:nvPr>
        </p:nvSpPr>
        <p:spPr>
          <a:xfrm>
            <a:off x="10406617" y="6382978"/>
            <a:ext cx="997857" cy="365125"/>
          </a:xfrm>
          <a:prstGeom prst="rect">
            <a:avLst/>
          </a:prstGeom>
        </p:spPr>
        <p:txBody>
          <a:bodyPr vert="horz" lIns="91440" tIns="45720" rIns="91440" bIns="45720" rtlCol="0" anchor="ctr"/>
          <a:lstStyle>
            <a:lvl1pPr algn="r">
              <a:defRPr sz="1200">
                <a:solidFill>
                  <a:schemeClr val="tx1"/>
                </a:solidFill>
              </a:defRPr>
            </a:lvl1pPr>
          </a:lstStyle>
          <a:p>
            <a:fld id="{74D2AB8B-5816-41F2-8B4B-CA5C3E4E6A65}" type="slidenum">
              <a:rPr lang="zh-CN" altLang="en-US" smtClean="0"/>
              <a:t>‹#›</a:t>
            </a:fld>
            <a:endParaRPr lang="zh-CN" altLang="en-US"/>
          </a:p>
        </p:txBody>
      </p:sp>
      <p:sp>
        <p:nvSpPr>
          <p:cNvPr id="5" name="页脚占位符 4"/>
          <p:cNvSpPr>
            <a:spLocks noGrp="1"/>
          </p:cNvSpPr>
          <p:nvPr>
            <p:ph type="ftr" sz="quarter" idx="3"/>
          </p:nvPr>
        </p:nvSpPr>
        <p:spPr>
          <a:xfrm>
            <a:off x="4038600" y="6248725"/>
            <a:ext cx="4114800" cy="365125"/>
          </a:xfrm>
          <a:prstGeom prst="rect">
            <a:avLst/>
          </a:prstGeom>
        </p:spPr>
        <p:txBody>
          <a:bodyPr vert="horz" lIns="91440" tIns="45720" rIns="91440" bIns="45720" rtlCol="0" anchor="ctr"/>
          <a:lstStyle>
            <a:lvl1pPr algn="ctr">
              <a:defRPr sz="1200">
                <a:solidFill>
                  <a:schemeClr val="tx1"/>
                </a:solidFill>
              </a:defRPr>
            </a:lvl1pPr>
          </a:lstStyle>
          <a:p>
            <a:endParaRPr lang="zh-CN" altLang="en-US" dirty="0"/>
          </a:p>
        </p:txBody>
      </p:sp>
      <p:cxnSp>
        <p:nvCxnSpPr>
          <p:cNvPr id="13" name="直接连接符 12"/>
          <p:cNvCxnSpPr/>
          <p:nvPr userDrawn="1"/>
        </p:nvCxnSpPr>
        <p:spPr>
          <a:xfrm>
            <a:off x="2" y="6649001"/>
            <a:ext cx="10925173" cy="0"/>
          </a:xfrm>
          <a:prstGeom prst="line">
            <a:avLst/>
          </a:prstGeom>
          <a:ln w="19050">
            <a:solidFill>
              <a:srgbClr val="7030A0"/>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4" name="矩形 13"/>
          <p:cNvSpPr/>
          <p:nvPr userDrawn="1"/>
        </p:nvSpPr>
        <p:spPr>
          <a:xfrm>
            <a:off x="1" y="6512379"/>
            <a:ext cx="10925174" cy="79698"/>
          </a:xfrm>
          <a:prstGeom prst="rect">
            <a:avLst/>
          </a:prstGeom>
          <a:gradFill flip="none" rotWithShape="1">
            <a:gsLst>
              <a:gs pos="0">
                <a:srgbClr val="7030A0">
                  <a:shade val="30000"/>
                  <a:satMod val="115000"/>
                </a:srgbClr>
              </a:gs>
              <a:gs pos="50000">
                <a:srgbClr val="7030A0">
                  <a:shade val="67500"/>
                  <a:satMod val="115000"/>
                </a:srgbClr>
              </a:gs>
              <a:gs pos="100000">
                <a:srgbClr val="7030A0">
                  <a:shade val="100000"/>
                  <a:satMod val="115000"/>
                </a:srgbClr>
              </a:gs>
            </a:gsLst>
            <a:lin ang="270000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968965" y="6321759"/>
            <a:ext cx="1600200" cy="487561"/>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18" Type="http://schemas.openxmlformats.org/officeDocument/2006/relationships/tags" Target="../tags/tag19.xml"/><Relationship Id="rId26" Type="http://schemas.openxmlformats.org/officeDocument/2006/relationships/tags" Target="../tags/tag27.xml"/><Relationship Id="rId3" Type="http://schemas.openxmlformats.org/officeDocument/2006/relationships/tags" Target="../tags/tag4.xml"/><Relationship Id="rId21" Type="http://schemas.openxmlformats.org/officeDocument/2006/relationships/tags" Target="../tags/tag22.xml"/><Relationship Id="rId7" Type="http://schemas.openxmlformats.org/officeDocument/2006/relationships/tags" Target="../tags/tag8.xml"/><Relationship Id="rId12" Type="http://schemas.openxmlformats.org/officeDocument/2006/relationships/tags" Target="../tags/tag13.xml"/><Relationship Id="rId17" Type="http://schemas.openxmlformats.org/officeDocument/2006/relationships/tags" Target="../tags/tag18.xml"/><Relationship Id="rId25" Type="http://schemas.openxmlformats.org/officeDocument/2006/relationships/tags" Target="../tags/tag26.xml"/><Relationship Id="rId2" Type="http://schemas.openxmlformats.org/officeDocument/2006/relationships/tags" Target="../tags/tag3.xml"/><Relationship Id="rId16" Type="http://schemas.openxmlformats.org/officeDocument/2006/relationships/tags" Target="../tags/tag17.xml"/><Relationship Id="rId20" Type="http://schemas.openxmlformats.org/officeDocument/2006/relationships/tags" Target="../tags/tag21.xml"/><Relationship Id="rId29" Type="http://schemas.openxmlformats.org/officeDocument/2006/relationships/slideLayout" Target="../slideLayouts/slideLayout7.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24" Type="http://schemas.openxmlformats.org/officeDocument/2006/relationships/tags" Target="../tags/tag25.xml"/><Relationship Id="rId5" Type="http://schemas.openxmlformats.org/officeDocument/2006/relationships/tags" Target="../tags/tag6.xml"/><Relationship Id="rId15" Type="http://schemas.openxmlformats.org/officeDocument/2006/relationships/tags" Target="../tags/tag16.xml"/><Relationship Id="rId23" Type="http://schemas.openxmlformats.org/officeDocument/2006/relationships/tags" Target="../tags/tag24.xml"/><Relationship Id="rId28" Type="http://schemas.openxmlformats.org/officeDocument/2006/relationships/tags" Target="../tags/tag29.xml"/><Relationship Id="rId10" Type="http://schemas.openxmlformats.org/officeDocument/2006/relationships/tags" Target="../tags/tag11.xml"/><Relationship Id="rId19" Type="http://schemas.openxmlformats.org/officeDocument/2006/relationships/tags" Target="../tags/tag20.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tags" Target="../tags/tag15.xml"/><Relationship Id="rId22" Type="http://schemas.openxmlformats.org/officeDocument/2006/relationships/tags" Target="../tags/tag23.xml"/><Relationship Id="rId27" Type="http://schemas.openxmlformats.org/officeDocument/2006/relationships/tags" Target="../tags/tag28.xml"/><Relationship Id="rId30" Type="http://schemas.openxmlformats.org/officeDocument/2006/relationships/image" Target="../media/image1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3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34.xml.rels><?xml version="1.0" encoding="UTF-8" standalone="yes"?>
<Relationships xmlns="http://schemas.openxmlformats.org/package/2006/relationships"><Relationship Id="rId8" Type="http://schemas.openxmlformats.org/officeDocument/2006/relationships/tags" Target="../tags/tag37.xml"/><Relationship Id="rId13" Type="http://schemas.openxmlformats.org/officeDocument/2006/relationships/tags" Target="../tags/tag42.xml"/><Relationship Id="rId18" Type="http://schemas.openxmlformats.org/officeDocument/2006/relationships/tags" Target="../tags/tag47.xml"/><Relationship Id="rId26" Type="http://schemas.openxmlformats.org/officeDocument/2006/relationships/tags" Target="../tags/tag55.xml"/><Relationship Id="rId3" Type="http://schemas.openxmlformats.org/officeDocument/2006/relationships/tags" Target="../tags/tag32.xml"/><Relationship Id="rId21" Type="http://schemas.openxmlformats.org/officeDocument/2006/relationships/tags" Target="../tags/tag50.xml"/><Relationship Id="rId7" Type="http://schemas.openxmlformats.org/officeDocument/2006/relationships/tags" Target="../tags/tag36.xml"/><Relationship Id="rId12" Type="http://schemas.openxmlformats.org/officeDocument/2006/relationships/tags" Target="../tags/tag41.xml"/><Relationship Id="rId17" Type="http://schemas.openxmlformats.org/officeDocument/2006/relationships/tags" Target="../tags/tag46.xml"/><Relationship Id="rId25" Type="http://schemas.openxmlformats.org/officeDocument/2006/relationships/tags" Target="../tags/tag54.xml"/><Relationship Id="rId2" Type="http://schemas.openxmlformats.org/officeDocument/2006/relationships/tags" Target="../tags/tag31.xml"/><Relationship Id="rId16" Type="http://schemas.openxmlformats.org/officeDocument/2006/relationships/tags" Target="../tags/tag45.xml"/><Relationship Id="rId20" Type="http://schemas.openxmlformats.org/officeDocument/2006/relationships/tags" Target="../tags/tag49.xml"/><Relationship Id="rId29" Type="http://schemas.openxmlformats.org/officeDocument/2006/relationships/slideLayout" Target="../slideLayouts/slideLayout7.xml"/><Relationship Id="rId1" Type="http://schemas.openxmlformats.org/officeDocument/2006/relationships/tags" Target="../tags/tag30.xml"/><Relationship Id="rId6" Type="http://schemas.openxmlformats.org/officeDocument/2006/relationships/tags" Target="../tags/tag35.xml"/><Relationship Id="rId11" Type="http://schemas.openxmlformats.org/officeDocument/2006/relationships/tags" Target="../tags/tag40.xml"/><Relationship Id="rId24" Type="http://schemas.openxmlformats.org/officeDocument/2006/relationships/tags" Target="../tags/tag53.xml"/><Relationship Id="rId5" Type="http://schemas.openxmlformats.org/officeDocument/2006/relationships/tags" Target="../tags/tag34.xml"/><Relationship Id="rId15" Type="http://schemas.openxmlformats.org/officeDocument/2006/relationships/tags" Target="../tags/tag44.xml"/><Relationship Id="rId23" Type="http://schemas.openxmlformats.org/officeDocument/2006/relationships/tags" Target="../tags/tag52.xml"/><Relationship Id="rId28" Type="http://schemas.openxmlformats.org/officeDocument/2006/relationships/tags" Target="../tags/tag57.xml"/><Relationship Id="rId10" Type="http://schemas.openxmlformats.org/officeDocument/2006/relationships/tags" Target="../tags/tag39.xml"/><Relationship Id="rId19" Type="http://schemas.openxmlformats.org/officeDocument/2006/relationships/tags" Target="../tags/tag48.xml"/><Relationship Id="rId31" Type="http://schemas.openxmlformats.org/officeDocument/2006/relationships/image" Target="../media/image12.png"/><Relationship Id="rId4" Type="http://schemas.openxmlformats.org/officeDocument/2006/relationships/tags" Target="../tags/tag33.xml"/><Relationship Id="rId9" Type="http://schemas.openxmlformats.org/officeDocument/2006/relationships/tags" Target="../tags/tag38.xml"/><Relationship Id="rId14" Type="http://schemas.openxmlformats.org/officeDocument/2006/relationships/tags" Target="../tags/tag43.xml"/><Relationship Id="rId22" Type="http://schemas.openxmlformats.org/officeDocument/2006/relationships/tags" Target="../tags/tag51.xml"/><Relationship Id="rId27" Type="http://schemas.openxmlformats.org/officeDocument/2006/relationships/tags" Target="../tags/tag56.xml"/><Relationship Id="rId30" Type="http://schemas.openxmlformats.org/officeDocument/2006/relationships/notesSlide" Target="../notesSlides/notesSlide32.xml"/></Relationships>
</file>

<file path=ppt/slides/_rels/slide35.xml.rels><?xml version="1.0" encoding="UTF-8" standalone="yes"?>
<Relationships xmlns="http://schemas.openxmlformats.org/package/2006/relationships"><Relationship Id="rId8" Type="http://schemas.openxmlformats.org/officeDocument/2006/relationships/tags" Target="../tags/tag65.xml"/><Relationship Id="rId13" Type="http://schemas.openxmlformats.org/officeDocument/2006/relationships/tags" Target="../tags/tag70.xml"/><Relationship Id="rId3" Type="http://schemas.openxmlformats.org/officeDocument/2006/relationships/tags" Target="../tags/tag60.xml"/><Relationship Id="rId7" Type="http://schemas.openxmlformats.org/officeDocument/2006/relationships/tags" Target="../tags/tag64.xml"/><Relationship Id="rId12" Type="http://schemas.openxmlformats.org/officeDocument/2006/relationships/tags" Target="../tags/tag69.xml"/><Relationship Id="rId2" Type="http://schemas.openxmlformats.org/officeDocument/2006/relationships/tags" Target="../tags/tag59.xml"/><Relationship Id="rId16" Type="http://schemas.openxmlformats.org/officeDocument/2006/relationships/image" Target="../media/image12.png"/><Relationship Id="rId1" Type="http://schemas.openxmlformats.org/officeDocument/2006/relationships/tags" Target="../tags/tag58.xml"/><Relationship Id="rId6" Type="http://schemas.openxmlformats.org/officeDocument/2006/relationships/tags" Target="../tags/tag63.xml"/><Relationship Id="rId11" Type="http://schemas.openxmlformats.org/officeDocument/2006/relationships/tags" Target="../tags/tag68.xml"/><Relationship Id="rId5" Type="http://schemas.openxmlformats.org/officeDocument/2006/relationships/tags" Target="../tags/tag62.xml"/><Relationship Id="rId15" Type="http://schemas.openxmlformats.org/officeDocument/2006/relationships/notesSlide" Target="../notesSlides/notesSlide33.xml"/><Relationship Id="rId10" Type="http://schemas.openxmlformats.org/officeDocument/2006/relationships/tags" Target="../tags/tag67.xml"/><Relationship Id="rId4" Type="http://schemas.openxmlformats.org/officeDocument/2006/relationships/tags" Target="../tags/tag61.xml"/><Relationship Id="rId9" Type="http://schemas.openxmlformats.org/officeDocument/2006/relationships/tags" Target="../tags/tag66.xml"/><Relationship Id="rId14"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44.jpeg"/></Relationships>
</file>

<file path=ppt/slides/_rels/slide4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9.xml"/><Relationship Id="rId1"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image" Target="../media/image46.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4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3.xml"/><Relationship Id="rId1" Type="http://schemas.openxmlformats.org/officeDocument/2006/relationships/slideLayout" Target="../slideLayouts/slideLayout2.xml"/><Relationship Id="rId5" Type="http://schemas.openxmlformats.org/officeDocument/2006/relationships/image" Target="../media/image53.png"/><Relationship Id="rId4" Type="http://schemas.openxmlformats.org/officeDocument/2006/relationships/image" Target="../media/image52.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55.png"/><Relationship Id="rId7" Type="http://schemas.openxmlformats.org/officeDocument/2006/relationships/image" Target="../media/image58.png"/><Relationship Id="rId2" Type="http://schemas.openxmlformats.org/officeDocument/2006/relationships/notesSlide" Target="../notesSlides/notesSlide46.xml"/><Relationship Id="rId1" Type="http://schemas.openxmlformats.org/officeDocument/2006/relationships/slideLayout" Target="../slideLayouts/slideLayout2.xml"/><Relationship Id="rId6" Type="http://schemas.openxmlformats.org/officeDocument/2006/relationships/image" Target="../media/image53.png"/><Relationship Id="rId5" Type="http://schemas.openxmlformats.org/officeDocument/2006/relationships/image" Target="../media/image57.png"/><Relationship Id="rId4" Type="http://schemas.openxmlformats.org/officeDocument/2006/relationships/image" Target="../media/image56.png"/></Relationships>
</file>

<file path=ppt/slides/_rels/slide4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7.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5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50.xml"/><Relationship Id="rId1" Type="http://schemas.openxmlformats.org/officeDocument/2006/relationships/slideLayout" Target="../slideLayouts/slideLayout2.xml"/><Relationship Id="rId5" Type="http://schemas.openxmlformats.org/officeDocument/2006/relationships/image" Target="../media/image61.png"/><Relationship Id="rId4" Type="http://schemas.openxmlformats.org/officeDocument/2006/relationships/image" Target="../media/image60.png"/></Relationships>
</file>

<file path=ppt/slides/_rels/slide5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55.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56.xml"/><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57.xml"/><Relationship Id="rId1" Type="http://schemas.openxmlformats.org/officeDocument/2006/relationships/slideLayout" Target="../slideLayouts/slideLayout13.xml"/><Relationship Id="rId4" Type="http://schemas.openxmlformats.org/officeDocument/2006/relationships/image" Target="../media/image70.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61.xml"/><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8" Type="http://schemas.openxmlformats.org/officeDocument/2006/relationships/tags" Target="../tags/tag78.xml"/><Relationship Id="rId13" Type="http://schemas.openxmlformats.org/officeDocument/2006/relationships/tags" Target="../tags/tag83.xml"/><Relationship Id="rId3" Type="http://schemas.openxmlformats.org/officeDocument/2006/relationships/tags" Target="../tags/tag73.xml"/><Relationship Id="rId7" Type="http://schemas.openxmlformats.org/officeDocument/2006/relationships/tags" Target="../tags/tag77.xml"/><Relationship Id="rId12" Type="http://schemas.openxmlformats.org/officeDocument/2006/relationships/tags" Target="../tags/tag82.xml"/><Relationship Id="rId2" Type="http://schemas.openxmlformats.org/officeDocument/2006/relationships/tags" Target="../tags/tag72.xml"/><Relationship Id="rId1" Type="http://schemas.openxmlformats.org/officeDocument/2006/relationships/tags" Target="../tags/tag71.xml"/><Relationship Id="rId6" Type="http://schemas.openxmlformats.org/officeDocument/2006/relationships/tags" Target="../tags/tag76.xml"/><Relationship Id="rId11" Type="http://schemas.openxmlformats.org/officeDocument/2006/relationships/tags" Target="../tags/tag81.xml"/><Relationship Id="rId5" Type="http://schemas.openxmlformats.org/officeDocument/2006/relationships/tags" Target="../tags/tag75.xml"/><Relationship Id="rId15" Type="http://schemas.openxmlformats.org/officeDocument/2006/relationships/image" Target="../media/image12.png"/><Relationship Id="rId10" Type="http://schemas.openxmlformats.org/officeDocument/2006/relationships/tags" Target="../tags/tag80.xml"/><Relationship Id="rId4" Type="http://schemas.openxmlformats.org/officeDocument/2006/relationships/tags" Target="../tags/tag74.xml"/><Relationship Id="rId9" Type="http://schemas.openxmlformats.org/officeDocument/2006/relationships/tags" Target="../tags/tag79.xml"/><Relationship Id="rId14"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8" Type="http://schemas.openxmlformats.org/officeDocument/2006/relationships/tags" Target="../tags/tag91.xml"/><Relationship Id="rId13" Type="http://schemas.openxmlformats.org/officeDocument/2006/relationships/tags" Target="../tags/tag96.xml"/><Relationship Id="rId3" Type="http://schemas.openxmlformats.org/officeDocument/2006/relationships/tags" Target="../tags/tag86.xml"/><Relationship Id="rId7" Type="http://schemas.openxmlformats.org/officeDocument/2006/relationships/tags" Target="../tags/tag90.xml"/><Relationship Id="rId12" Type="http://schemas.openxmlformats.org/officeDocument/2006/relationships/tags" Target="../tags/tag95.xml"/><Relationship Id="rId2" Type="http://schemas.openxmlformats.org/officeDocument/2006/relationships/tags" Target="../tags/tag85.xml"/><Relationship Id="rId1" Type="http://schemas.openxmlformats.org/officeDocument/2006/relationships/tags" Target="../tags/tag84.xml"/><Relationship Id="rId6" Type="http://schemas.openxmlformats.org/officeDocument/2006/relationships/tags" Target="../tags/tag89.xml"/><Relationship Id="rId11" Type="http://schemas.openxmlformats.org/officeDocument/2006/relationships/tags" Target="../tags/tag94.xml"/><Relationship Id="rId5" Type="http://schemas.openxmlformats.org/officeDocument/2006/relationships/tags" Target="../tags/tag88.xml"/><Relationship Id="rId15" Type="http://schemas.openxmlformats.org/officeDocument/2006/relationships/image" Target="../media/image12.png"/><Relationship Id="rId10" Type="http://schemas.openxmlformats.org/officeDocument/2006/relationships/tags" Target="../tags/tag93.xml"/><Relationship Id="rId4" Type="http://schemas.openxmlformats.org/officeDocument/2006/relationships/tags" Target="../tags/tag87.xml"/><Relationship Id="rId9" Type="http://schemas.openxmlformats.org/officeDocument/2006/relationships/tags" Target="../tags/tag92.xml"/><Relationship Id="rId14"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8" Type="http://schemas.openxmlformats.org/officeDocument/2006/relationships/tags" Target="../tags/tag104.xml"/><Relationship Id="rId13" Type="http://schemas.openxmlformats.org/officeDocument/2006/relationships/tags" Target="../tags/tag109.xml"/><Relationship Id="rId3" Type="http://schemas.openxmlformats.org/officeDocument/2006/relationships/tags" Target="../tags/tag99.xml"/><Relationship Id="rId7" Type="http://schemas.openxmlformats.org/officeDocument/2006/relationships/tags" Target="../tags/tag103.xml"/><Relationship Id="rId12" Type="http://schemas.openxmlformats.org/officeDocument/2006/relationships/tags" Target="../tags/tag108.xml"/><Relationship Id="rId2" Type="http://schemas.openxmlformats.org/officeDocument/2006/relationships/tags" Target="../tags/tag98.xml"/><Relationship Id="rId1" Type="http://schemas.openxmlformats.org/officeDocument/2006/relationships/tags" Target="../tags/tag97.xml"/><Relationship Id="rId6" Type="http://schemas.openxmlformats.org/officeDocument/2006/relationships/tags" Target="../tags/tag102.xml"/><Relationship Id="rId11" Type="http://schemas.openxmlformats.org/officeDocument/2006/relationships/tags" Target="../tags/tag107.xml"/><Relationship Id="rId5" Type="http://schemas.openxmlformats.org/officeDocument/2006/relationships/tags" Target="../tags/tag101.xml"/><Relationship Id="rId15" Type="http://schemas.openxmlformats.org/officeDocument/2006/relationships/image" Target="../media/image12.png"/><Relationship Id="rId10" Type="http://schemas.openxmlformats.org/officeDocument/2006/relationships/tags" Target="../tags/tag106.xml"/><Relationship Id="rId4" Type="http://schemas.openxmlformats.org/officeDocument/2006/relationships/tags" Target="../tags/tag100.xml"/><Relationship Id="rId9" Type="http://schemas.openxmlformats.org/officeDocument/2006/relationships/tags" Target="../tags/tag105.xml"/><Relationship Id="rId14"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8" Type="http://schemas.openxmlformats.org/officeDocument/2006/relationships/tags" Target="../tags/tag117.xml"/><Relationship Id="rId13" Type="http://schemas.openxmlformats.org/officeDocument/2006/relationships/tags" Target="../tags/tag122.xml"/><Relationship Id="rId3" Type="http://schemas.openxmlformats.org/officeDocument/2006/relationships/tags" Target="../tags/tag112.xml"/><Relationship Id="rId7" Type="http://schemas.openxmlformats.org/officeDocument/2006/relationships/tags" Target="../tags/tag116.xml"/><Relationship Id="rId12" Type="http://schemas.openxmlformats.org/officeDocument/2006/relationships/tags" Target="../tags/tag121.xml"/><Relationship Id="rId2" Type="http://schemas.openxmlformats.org/officeDocument/2006/relationships/tags" Target="../tags/tag111.xml"/><Relationship Id="rId1" Type="http://schemas.openxmlformats.org/officeDocument/2006/relationships/tags" Target="../tags/tag110.xml"/><Relationship Id="rId6" Type="http://schemas.openxmlformats.org/officeDocument/2006/relationships/tags" Target="../tags/tag115.xml"/><Relationship Id="rId11" Type="http://schemas.openxmlformats.org/officeDocument/2006/relationships/tags" Target="../tags/tag120.xml"/><Relationship Id="rId5" Type="http://schemas.openxmlformats.org/officeDocument/2006/relationships/tags" Target="../tags/tag114.xml"/><Relationship Id="rId15" Type="http://schemas.openxmlformats.org/officeDocument/2006/relationships/image" Target="../media/image12.png"/><Relationship Id="rId10" Type="http://schemas.openxmlformats.org/officeDocument/2006/relationships/tags" Target="../tags/tag119.xml"/><Relationship Id="rId4" Type="http://schemas.openxmlformats.org/officeDocument/2006/relationships/tags" Target="../tags/tag113.xml"/><Relationship Id="rId9" Type="http://schemas.openxmlformats.org/officeDocument/2006/relationships/tags" Target="../tags/tag118.xml"/><Relationship Id="rId14"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8" Type="http://schemas.openxmlformats.org/officeDocument/2006/relationships/tags" Target="../tags/tag130.xml"/><Relationship Id="rId13" Type="http://schemas.openxmlformats.org/officeDocument/2006/relationships/tags" Target="../tags/tag135.xml"/><Relationship Id="rId3" Type="http://schemas.openxmlformats.org/officeDocument/2006/relationships/tags" Target="../tags/tag125.xml"/><Relationship Id="rId7" Type="http://schemas.openxmlformats.org/officeDocument/2006/relationships/tags" Target="../tags/tag129.xml"/><Relationship Id="rId12" Type="http://schemas.openxmlformats.org/officeDocument/2006/relationships/tags" Target="../tags/tag134.xml"/><Relationship Id="rId2" Type="http://schemas.openxmlformats.org/officeDocument/2006/relationships/tags" Target="../tags/tag124.xml"/><Relationship Id="rId1" Type="http://schemas.openxmlformats.org/officeDocument/2006/relationships/tags" Target="../tags/tag123.xml"/><Relationship Id="rId6" Type="http://schemas.openxmlformats.org/officeDocument/2006/relationships/tags" Target="../tags/tag128.xml"/><Relationship Id="rId11" Type="http://schemas.openxmlformats.org/officeDocument/2006/relationships/tags" Target="../tags/tag133.xml"/><Relationship Id="rId5" Type="http://schemas.openxmlformats.org/officeDocument/2006/relationships/tags" Target="../tags/tag127.xml"/><Relationship Id="rId15" Type="http://schemas.openxmlformats.org/officeDocument/2006/relationships/image" Target="../media/image12.png"/><Relationship Id="rId10" Type="http://schemas.openxmlformats.org/officeDocument/2006/relationships/tags" Target="../tags/tag132.xml"/><Relationship Id="rId4" Type="http://schemas.openxmlformats.org/officeDocument/2006/relationships/tags" Target="../tags/tag126.xml"/><Relationship Id="rId9" Type="http://schemas.openxmlformats.org/officeDocument/2006/relationships/tags" Target="../tags/tag131.xml"/><Relationship Id="rId14"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8" Type="http://schemas.openxmlformats.org/officeDocument/2006/relationships/tags" Target="../tags/tag143.xml"/><Relationship Id="rId13" Type="http://schemas.openxmlformats.org/officeDocument/2006/relationships/tags" Target="../tags/tag148.xml"/><Relationship Id="rId3" Type="http://schemas.openxmlformats.org/officeDocument/2006/relationships/tags" Target="../tags/tag138.xml"/><Relationship Id="rId7" Type="http://schemas.openxmlformats.org/officeDocument/2006/relationships/tags" Target="../tags/tag142.xml"/><Relationship Id="rId12" Type="http://schemas.openxmlformats.org/officeDocument/2006/relationships/tags" Target="../tags/tag147.xml"/><Relationship Id="rId2" Type="http://schemas.openxmlformats.org/officeDocument/2006/relationships/tags" Target="../tags/tag137.xml"/><Relationship Id="rId1" Type="http://schemas.openxmlformats.org/officeDocument/2006/relationships/tags" Target="../tags/tag136.xml"/><Relationship Id="rId6" Type="http://schemas.openxmlformats.org/officeDocument/2006/relationships/tags" Target="../tags/tag141.xml"/><Relationship Id="rId11" Type="http://schemas.openxmlformats.org/officeDocument/2006/relationships/tags" Target="../tags/tag146.xml"/><Relationship Id="rId5" Type="http://schemas.openxmlformats.org/officeDocument/2006/relationships/tags" Target="../tags/tag140.xml"/><Relationship Id="rId15" Type="http://schemas.openxmlformats.org/officeDocument/2006/relationships/image" Target="../media/image12.png"/><Relationship Id="rId10" Type="http://schemas.openxmlformats.org/officeDocument/2006/relationships/tags" Target="../tags/tag145.xml"/><Relationship Id="rId4" Type="http://schemas.openxmlformats.org/officeDocument/2006/relationships/tags" Target="../tags/tag139.xml"/><Relationship Id="rId9" Type="http://schemas.openxmlformats.org/officeDocument/2006/relationships/tags" Target="../tags/tag144.xml"/><Relationship Id="rId14"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6600" baseline="-3000" dirty="0"/>
              <a:t>开闭原则</a:t>
            </a:r>
            <a:r>
              <a:rPr lang="en-US" altLang="zh-CN" spc="-5" dirty="0">
                <a:latin typeface="Arial" panose="020B0604020202020204"/>
                <a:cs typeface="Arial" panose="020B0604020202020204"/>
              </a:rPr>
              <a:t>(</a:t>
            </a:r>
            <a:r>
              <a:rPr lang="en-US" altLang="zh-CN" spc="-5" dirty="0">
                <a:latin typeface="Calibri" panose="020F0502020204030204"/>
                <a:cs typeface="Calibri" panose="020F0502020204030204"/>
              </a:rPr>
              <a:t>Open/Closed</a:t>
            </a:r>
            <a:r>
              <a:rPr lang="en-US" altLang="zh-CN" spc="-30" dirty="0">
                <a:latin typeface="Calibri" panose="020F0502020204030204"/>
                <a:cs typeface="Calibri" panose="020F0502020204030204"/>
              </a:rPr>
              <a:t> </a:t>
            </a:r>
            <a:r>
              <a:rPr lang="en-US" altLang="zh-CN" spc="-5" dirty="0">
                <a:latin typeface="Calibri" panose="020F0502020204030204"/>
                <a:cs typeface="Calibri" panose="020F0502020204030204"/>
              </a:rPr>
              <a:t>Principle,</a:t>
            </a:r>
            <a:r>
              <a:rPr lang="en-US" altLang="zh-CN" spc="-30" dirty="0">
                <a:latin typeface="Calibri" panose="020F0502020204030204"/>
                <a:cs typeface="Calibri" panose="020F0502020204030204"/>
              </a:rPr>
              <a:t> </a:t>
            </a:r>
            <a:r>
              <a:rPr lang="en-US" altLang="zh-CN" spc="5" dirty="0">
                <a:latin typeface="Calibri" panose="020F0502020204030204"/>
                <a:cs typeface="Calibri" panose="020F0502020204030204"/>
              </a:rPr>
              <a:t>OCP</a:t>
            </a:r>
            <a:r>
              <a:rPr lang="en-US" altLang="zh-CN" spc="5" dirty="0">
                <a:latin typeface="Comic Sans MS" panose="030F0702030302020204"/>
                <a:cs typeface="Comic Sans MS" panose="030F0702030302020204"/>
              </a:rPr>
              <a:t>)</a:t>
            </a:r>
            <a:endParaRPr lang="zh-CN" altLang="en-US" dirty="0"/>
          </a:p>
        </p:txBody>
      </p:sp>
      <p:sp>
        <p:nvSpPr>
          <p:cNvPr id="3" name="内容占位符 2"/>
          <p:cNvSpPr>
            <a:spLocks noGrp="1"/>
          </p:cNvSpPr>
          <p:nvPr>
            <p:ph idx="1"/>
          </p:nvPr>
        </p:nvSpPr>
        <p:spPr>
          <a:xfrm>
            <a:off x="838200" y="1604700"/>
            <a:ext cx="10515600" cy="4572263"/>
          </a:xfrm>
        </p:spPr>
        <p:txBody>
          <a:bodyPr/>
          <a:lstStyle/>
          <a:p>
            <a:r>
              <a:rPr lang="zh-CN" altLang="en-US" dirty="0"/>
              <a:t>最初由</a:t>
            </a:r>
            <a:r>
              <a:rPr lang="en-US" altLang="zh-CN" dirty="0"/>
              <a:t>Bertrand Meyer</a:t>
            </a:r>
            <a:r>
              <a:rPr lang="zh-CN" altLang="en-US" dirty="0"/>
              <a:t>提出</a:t>
            </a:r>
          </a:p>
          <a:p>
            <a:r>
              <a:rPr lang="zh-CN" altLang="en-US" dirty="0">
                <a:solidFill>
                  <a:srgbClr val="C00000"/>
                </a:solidFill>
              </a:rPr>
              <a:t>软件实体在扩展性方面应该是开放的，而在更改性方面应该是封闭的。</a:t>
            </a:r>
          </a:p>
          <a:p>
            <a:r>
              <a:rPr lang="zh-CN" altLang="en-US" dirty="0"/>
              <a:t>例：打印输出设计</a:t>
            </a:r>
          </a:p>
          <a:p>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t>1</a:t>
            </a:fld>
            <a:endParaRPr lang="zh-CN" altLang="en-US"/>
          </a:p>
        </p:txBody>
      </p:sp>
      <p:grpSp>
        <p:nvGrpSpPr>
          <p:cNvPr id="5" name="组合 4"/>
          <p:cNvGrpSpPr/>
          <p:nvPr/>
        </p:nvGrpSpPr>
        <p:grpSpPr>
          <a:xfrm>
            <a:off x="1749972" y="3668110"/>
            <a:ext cx="8692055" cy="2714868"/>
            <a:chOff x="1066753" y="2677338"/>
            <a:chExt cx="10097500" cy="3395772"/>
          </a:xfrm>
        </p:grpSpPr>
        <p:sp>
          <p:nvSpPr>
            <p:cNvPr id="6" name="object 3"/>
            <p:cNvSpPr/>
            <p:nvPr/>
          </p:nvSpPr>
          <p:spPr>
            <a:xfrm>
              <a:off x="1066753" y="2677338"/>
              <a:ext cx="3436188" cy="3395772"/>
            </a:xfrm>
            <a:prstGeom prst="rect">
              <a:avLst/>
            </a:prstGeom>
            <a:blipFill>
              <a:blip r:embed="rId3" cstate="print"/>
              <a:stretch>
                <a:fillRect/>
              </a:stretch>
            </a:blipFill>
          </p:spPr>
          <p:txBody>
            <a:bodyPr wrap="square" lIns="0" tIns="0" rIns="0" bIns="0" rtlCol="0"/>
            <a:lstStyle/>
            <a:p>
              <a:endParaRPr/>
            </a:p>
          </p:txBody>
        </p:sp>
        <p:sp>
          <p:nvSpPr>
            <p:cNvPr id="7" name="object 5"/>
            <p:cNvSpPr/>
            <p:nvPr/>
          </p:nvSpPr>
          <p:spPr>
            <a:xfrm>
              <a:off x="5913209" y="3173668"/>
              <a:ext cx="5251044" cy="2310862"/>
            </a:xfrm>
            <a:prstGeom prst="rect">
              <a:avLst/>
            </a:prstGeom>
            <a:blipFill>
              <a:blip r:embed="rId4" cstate="print"/>
              <a:stretch>
                <a:fillRect/>
              </a:stretch>
            </a:blipFill>
          </p:spPr>
          <p:txBody>
            <a:bodyPr wrap="square" lIns="0" tIns="0" rIns="0" bIns="0" rtlCol="0"/>
            <a:lstStyle/>
            <a:p>
              <a:endParaRPr/>
            </a:p>
          </p:txBody>
        </p:sp>
        <p:sp>
          <p:nvSpPr>
            <p:cNvPr id="8" name="object 6"/>
            <p:cNvSpPr txBox="1"/>
            <p:nvPr/>
          </p:nvSpPr>
          <p:spPr>
            <a:xfrm>
              <a:off x="1854258" y="4974189"/>
              <a:ext cx="1068382" cy="478003"/>
            </a:xfrm>
            <a:prstGeom prst="rect">
              <a:avLst/>
            </a:prstGeom>
          </p:spPr>
          <p:txBody>
            <a:bodyPr vert="horz" wrap="square" lIns="0" tIns="12700" rIns="0" bIns="0" rtlCol="0">
              <a:spAutoFit/>
            </a:bodyPr>
            <a:lstStyle/>
            <a:p>
              <a:pPr marL="12700">
                <a:lnSpc>
                  <a:spcPct val="100000"/>
                </a:lnSpc>
                <a:spcBef>
                  <a:spcPts val="100"/>
                </a:spcBef>
              </a:pPr>
              <a:r>
                <a:rPr sz="2400" dirty="0">
                  <a:latin typeface="黑体" panose="02010609060101010101" charset="-122"/>
                  <a:cs typeface="黑体" panose="02010609060101010101" charset="-122"/>
                </a:rPr>
                <a:t>设计1</a:t>
              </a:r>
            </a:p>
          </p:txBody>
        </p:sp>
        <p:sp>
          <p:nvSpPr>
            <p:cNvPr id="9" name="object 7"/>
            <p:cNvSpPr txBox="1"/>
            <p:nvPr/>
          </p:nvSpPr>
          <p:spPr>
            <a:xfrm>
              <a:off x="6102730" y="4182100"/>
              <a:ext cx="1056711" cy="478003"/>
            </a:xfrm>
            <a:prstGeom prst="rect">
              <a:avLst/>
            </a:prstGeom>
          </p:spPr>
          <p:txBody>
            <a:bodyPr vert="horz" wrap="square" lIns="0" tIns="12700" rIns="0" bIns="0" rtlCol="0">
              <a:spAutoFit/>
            </a:bodyPr>
            <a:lstStyle/>
            <a:p>
              <a:pPr marL="12700">
                <a:lnSpc>
                  <a:spcPct val="100000"/>
                </a:lnSpc>
                <a:spcBef>
                  <a:spcPts val="100"/>
                </a:spcBef>
              </a:pPr>
              <a:r>
                <a:rPr sz="2400" dirty="0">
                  <a:latin typeface="黑体" panose="02010609060101010101" charset="-122"/>
                  <a:cs typeface="黑体" panose="02010609060101010101" charset="-122"/>
                </a:rPr>
                <a:t>设计2</a:t>
              </a:r>
            </a:p>
          </p:txBody>
        </p:sp>
        <p:sp>
          <p:nvSpPr>
            <p:cNvPr id="10" name="object 8"/>
            <p:cNvSpPr/>
            <p:nvPr/>
          </p:nvSpPr>
          <p:spPr>
            <a:xfrm>
              <a:off x="5087886" y="4365104"/>
              <a:ext cx="504190" cy="288290"/>
            </a:xfrm>
            <a:custGeom>
              <a:avLst/>
              <a:gdLst/>
              <a:ahLst/>
              <a:cxnLst/>
              <a:rect l="l" t="t" r="r" b="b"/>
              <a:pathLst>
                <a:path w="504189" h="288289">
                  <a:moveTo>
                    <a:pt x="360039" y="0"/>
                  </a:moveTo>
                  <a:lnTo>
                    <a:pt x="360039" y="72007"/>
                  </a:lnTo>
                  <a:lnTo>
                    <a:pt x="0" y="72007"/>
                  </a:lnTo>
                  <a:lnTo>
                    <a:pt x="0" y="216024"/>
                  </a:lnTo>
                  <a:lnTo>
                    <a:pt x="360039" y="216024"/>
                  </a:lnTo>
                  <a:lnTo>
                    <a:pt x="360039" y="288032"/>
                  </a:lnTo>
                  <a:lnTo>
                    <a:pt x="504056" y="144016"/>
                  </a:lnTo>
                  <a:lnTo>
                    <a:pt x="360039" y="0"/>
                  </a:lnTo>
                  <a:close/>
                </a:path>
              </a:pathLst>
            </a:custGeom>
            <a:solidFill>
              <a:srgbClr val="941100"/>
            </a:solidFill>
          </p:spPr>
          <p:txBody>
            <a:bodyPr wrap="square" lIns="0" tIns="0" rIns="0" bIns="0" rtlCol="0"/>
            <a:lstStyle/>
            <a:p>
              <a:endParaRPr/>
            </a:p>
          </p:txBody>
        </p:sp>
        <p:sp>
          <p:nvSpPr>
            <p:cNvPr id="11" name="object 9"/>
            <p:cNvSpPr/>
            <p:nvPr/>
          </p:nvSpPr>
          <p:spPr>
            <a:xfrm>
              <a:off x="5087886" y="4365104"/>
              <a:ext cx="504190" cy="288290"/>
            </a:xfrm>
            <a:custGeom>
              <a:avLst/>
              <a:gdLst/>
              <a:ahLst/>
              <a:cxnLst/>
              <a:rect l="l" t="t" r="r" b="b"/>
              <a:pathLst>
                <a:path w="504189" h="288289">
                  <a:moveTo>
                    <a:pt x="0" y="72007"/>
                  </a:moveTo>
                  <a:lnTo>
                    <a:pt x="360040" y="72007"/>
                  </a:lnTo>
                  <a:lnTo>
                    <a:pt x="360040" y="0"/>
                  </a:lnTo>
                  <a:lnTo>
                    <a:pt x="504055" y="144015"/>
                  </a:lnTo>
                  <a:lnTo>
                    <a:pt x="360040" y="288032"/>
                  </a:lnTo>
                  <a:lnTo>
                    <a:pt x="360040" y="216024"/>
                  </a:lnTo>
                  <a:lnTo>
                    <a:pt x="0" y="216024"/>
                  </a:lnTo>
                  <a:lnTo>
                    <a:pt x="0" y="72007"/>
                  </a:lnTo>
                  <a:close/>
                </a:path>
              </a:pathLst>
            </a:custGeom>
            <a:ln w="6349">
              <a:solidFill>
                <a:srgbClr val="6CACDD"/>
              </a:solidFill>
            </a:ln>
          </p:spPr>
          <p:txBody>
            <a:bodyPr wrap="square" lIns="0" tIns="0" rIns="0" bIns="0" rtlCol="0"/>
            <a:lstStyle/>
            <a:p>
              <a:endParaRPr/>
            </a:p>
          </p:txBody>
        </p:sp>
      </p:grpSp>
    </p:spTree>
  </p:cSld>
  <p:clrMapOvr>
    <a:masterClrMapping/>
  </p:clrMapOvr>
  <mc:AlternateContent xmlns:mc="http://schemas.openxmlformats.org/markup-compatibility/2006" xmlns:p14="http://schemas.microsoft.com/office/powerpoint/2010/main">
    <mc:Choice Requires="p14">
      <p:transition spd="slow" p14:dur="2000" advTm="116418"/>
    </mc:Choice>
    <mc:Fallback xmlns="">
      <p:transition spd="slow" advTm="116418"/>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94047"/>
            <a:ext cx="10828283" cy="1325563"/>
          </a:xfrm>
        </p:spPr>
        <p:txBody>
          <a:bodyPr/>
          <a:lstStyle/>
          <a:p>
            <a:r>
              <a:rPr lang="en-US" altLang="zh-CN" spc="-175" dirty="0" err="1"/>
              <a:t>Liskov</a:t>
            </a:r>
            <a:r>
              <a:rPr lang="en-US" altLang="zh-CN" spc="-120" dirty="0"/>
              <a:t> </a:t>
            </a:r>
            <a:r>
              <a:rPr lang="en-US" altLang="zh-CN" spc="-175" dirty="0"/>
              <a:t>Substitution</a:t>
            </a:r>
            <a:r>
              <a:rPr lang="en-US" altLang="zh-CN" spc="-120" dirty="0"/>
              <a:t> </a:t>
            </a:r>
            <a:r>
              <a:rPr lang="en-US" altLang="zh-CN" spc="-90" dirty="0"/>
              <a:t>Principle (</a:t>
            </a:r>
            <a:r>
              <a:rPr lang="en-US" altLang="zh-CN" spc="-195" dirty="0"/>
              <a:t>LSP)</a:t>
            </a:r>
            <a:endParaRPr lang="zh-CN" altLang="en-US" dirty="0"/>
          </a:p>
        </p:txBody>
      </p:sp>
      <p:sp>
        <p:nvSpPr>
          <p:cNvPr id="3" name="内容占位符 2"/>
          <p:cNvSpPr>
            <a:spLocks noGrp="1"/>
          </p:cNvSpPr>
          <p:nvPr>
            <p:ph idx="1"/>
          </p:nvPr>
        </p:nvSpPr>
        <p:spPr/>
        <p:txBody>
          <a:bodyPr/>
          <a:lstStyle/>
          <a:p>
            <a:pPr marL="241300">
              <a:lnSpc>
                <a:spcPct val="100000"/>
              </a:lnSpc>
              <a:spcBef>
                <a:spcPts val="1620"/>
              </a:spcBef>
              <a:buFont typeface="Arial" panose="020B0604020202020204"/>
              <a:buChar char="•"/>
              <a:tabLst>
                <a:tab pos="241300" algn="l"/>
              </a:tabLst>
            </a:pPr>
            <a:r>
              <a:rPr lang="zh-CN" altLang="en-US" dirty="0">
                <a:latin typeface="黑体" panose="02010609060101010101" charset="-122"/>
                <a:cs typeface="黑体" panose="02010609060101010101" charset="-122"/>
              </a:rPr>
              <a:t>最早由</a:t>
            </a:r>
            <a:r>
              <a:rPr lang="en-US" altLang="zh-CN" b="1" dirty="0" err="1">
                <a:latin typeface="黑体" panose="02010609060101010101" charset="-122"/>
              </a:rPr>
              <a:t>Liskov</a:t>
            </a:r>
            <a:r>
              <a:rPr lang="zh-CN" altLang="en-US" dirty="0">
                <a:latin typeface="黑体" panose="02010609060101010101" charset="-122"/>
              </a:rPr>
              <a:t>于</a:t>
            </a:r>
            <a:r>
              <a:rPr lang="en-US" altLang="zh-CN" dirty="0">
                <a:latin typeface="黑体" panose="02010609060101010101" charset="-122"/>
              </a:rPr>
              <a:t>1987</a:t>
            </a:r>
            <a:r>
              <a:rPr lang="zh-CN" altLang="en-US" dirty="0">
                <a:latin typeface="黑体" panose="02010609060101010101" charset="-122"/>
              </a:rPr>
              <a:t>年在</a:t>
            </a:r>
            <a:r>
              <a:rPr lang="en-US" altLang="zh-CN" dirty="0">
                <a:latin typeface="黑体" panose="02010609060101010101" charset="-122"/>
              </a:rPr>
              <a:t>OOPSLA</a:t>
            </a:r>
            <a:r>
              <a:rPr lang="zh-CN" altLang="en-US" dirty="0">
                <a:latin typeface="黑体" panose="02010609060101010101" charset="-122"/>
              </a:rPr>
              <a:t>会议上提出</a:t>
            </a:r>
          </a:p>
          <a:p>
            <a:pPr marL="241300">
              <a:lnSpc>
                <a:spcPct val="100000"/>
              </a:lnSpc>
              <a:spcBef>
                <a:spcPts val="1520"/>
              </a:spcBef>
              <a:buFont typeface="Arial" panose="020B0604020202020204"/>
              <a:buChar char="•"/>
              <a:tabLst>
                <a:tab pos="241300" algn="l"/>
              </a:tabLst>
            </a:pPr>
            <a:r>
              <a:rPr lang="zh-CN" altLang="en-US" dirty="0">
                <a:solidFill>
                  <a:srgbClr val="800000"/>
                </a:solidFill>
                <a:latin typeface="黑体" panose="02010609060101010101" charset="-122"/>
                <a:cs typeface="黑体" panose="02010609060101010101" charset="-122"/>
              </a:rPr>
              <a:t>子类可以替换父类出现在父类能出现的任何地方</a:t>
            </a:r>
            <a:endParaRPr lang="zh-CN" altLang="en-US" dirty="0">
              <a:latin typeface="黑体" panose="02010609060101010101" charset="-122"/>
              <a:cs typeface="黑体" panose="02010609060101010101" charset="-122"/>
            </a:endParaRPr>
          </a:p>
          <a:p>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t>2</a:t>
            </a:fld>
            <a:endParaRPr lang="zh-CN" altLang="en-US"/>
          </a:p>
        </p:txBody>
      </p:sp>
      <p:sp>
        <p:nvSpPr>
          <p:cNvPr id="5" name="object 3"/>
          <p:cNvSpPr/>
          <p:nvPr/>
        </p:nvSpPr>
        <p:spPr>
          <a:xfrm>
            <a:off x="2704344" y="3243451"/>
            <a:ext cx="7095994" cy="2697337"/>
          </a:xfrm>
          <a:prstGeom prst="rect">
            <a:avLst/>
          </a:prstGeom>
          <a:blipFill>
            <a:blip r:embed="rId3" cstate="print"/>
            <a:stretch>
              <a:fillRect/>
            </a:stretch>
          </a:blipFill>
        </p:spPr>
        <p:txBody>
          <a:bodyPr wrap="square" lIns="0" tIns="0" rIns="0" bIns="0" rtlCol="0"/>
          <a:lstStyle/>
          <a:p>
            <a:endParaRPr/>
          </a:p>
        </p:txBody>
      </p:sp>
    </p:spTree>
  </p:cSld>
  <p:clrMapOvr>
    <a:masterClrMapping/>
  </p:clrMapOvr>
  <mc:AlternateContent xmlns:mc="http://schemas.openxmlformats.org/markup-compatibility/2006" xmlns:p14="http://schemas.microsoft.com/office/powerpoint/2010/main">
    <mc:Choice Requires="p14">
      <p:transition spd="slow" p14:dur="2000" advTm="71772"/>
    </mc:Choice>
    <mc:Fallback xmlns="">
      <p:transition spd="slow" advTm="71772"/>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pc="-15" dirty="0">
                <a:latin typeface="黑体" panose="02010609060101010101" charset="-122"/>
                <a:cs typeface="黑体" panose="02010609060101010101" charset="-122"/>
              </a:rPr>
              <a:t>违反</a:t>
            </a:r>
            <a:r>
              <a:rPr lang="en-US" altLang="zh-CN" spc="-15" dirty="0">
                <a:latin typeface="黑体" panose="02010609060101010101" charset="-122"/>
                <a:cs typeface="黑体" panose="02010609060101010101" charset="-122"/>
              </a:rPr>
              <a:t>LSP</a:t>
            </a:r>
            <a:r>
              <a:rPr lang="zh-CN" altLang="en-US" spc="-15" dirty="0">
                <a:latin typeface="黑体" panose="02010609060101010101" charset="-122"/>
                <a:cs typeface="黑体" panose="02010609060101010101" charset="-122"/>
              </a:rPr>
              <a:t>的例子</a:t>
            </a:r>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t>3</a:t>
            </a:fld>
            <a:endParaRPr lang="zh-CN" altLang="en-US"/>
          </a:p>
        </p:txBody>
      </p:sp>
      <p:grpSp>
        <p:nvGrpSpPr>
          <p:cNvPr id="5" name="组合 4"/>
          <p:cNvGrpSpPr/>
          <p:nvPr/>
        </p:nvGrpSpPr>
        <p:grpSpPr>
          <a:xfrm>
            <a:off x="980000" y="1589999"/>
            <a:ext cx="3676083" cy="5077123"/>
            <a:chOff x="916939" y="1085307"/>
            <a:chExt cx="3057525" cy="5077123"/>
          </a:xfrm>
        </p:grpSpPr>
        <p:sp>
          <p:nvSpPr>
            <p:cNvPr id="6" name="object 3"/>
            <p:cNvSpPr txBox="1"/>
            <p:nvPr/>
          </p:nvSpPr>
          <p:spPr>
            <a:xfrm>
              <a:off x="916939" y="1085307"/>
              <a:ext cx="2015489" cy="1320874"/>
            </a:xfrm>
            <a:prstGeom prst="rect">
              <a:avLst/>
            </a:prstGeom>
          </p:spPr>
          <p:txBody>
            <a:bodyPr vert="horz" wrap="square" lIns="0" tIns="25400" rIns="0" bIns="0" rtlCol="0">
              <a:spAutoFit/>
            </a:bodyPr>
            <a:lstStyle/>
            <a:p>
              <a:pPr marL="158750" marR="5080" indent="-146685">
                <a:lnSpc>
                  <a:spcPts val="2000"/>
                </a:lnSpc>
                <a:spcBef>
                  <a:spcPts val="200"/>
                </a:spcBef>
              </a:pPr>
              <a:r>
                <a:rPr b="0" spc="-5" dirty="0">
                  <a:latin typeface="Times New Roman" panose="02020603050405020304" pitchFamily="18" charset="0"/>
                  <a:cs typeface="Times New Roman" panose="02020603050405020304" pitchFamily="18" charset="0"/>
                </a:rPr>
                <a:t>public </a:t>
              </a:r>
              <a:r>
                <a:rPr b="0" dirty="0">
                  <a:latin typeface="Times New Roman" panose="02020603050405020304" pitchFamily="18" charset="0"/>
                  <a:cs typeface="Times New Roman" panose="02020603050405020304" pitchFamily="18" charset="0"/>
                </a:rPr>
                <a:t>class </a:t>
              </a:r>
              <a:r>
                <a:rPr b="0" spc="-10" dirty="0">
                  <a:solidFill>
                    <a:srgbClr val="FF0000"/>
                  </a:solidFill>
                  <a:latin typeface="Times New Roman" panose="02020603050405020304" pitchFamily="18" charset="0"/>
                  <a:cs typeface="Times New Roman" panose="02020603050405020304" pitchFamily="18" charset="0"/>
                </a:rPr>
                <a:t>Rectangle</a:t>
              </a:r>
              <a:r>
                <a:rPr b="0" spc="-80" dirty="0">
                  <a:latin typeface="Times New Roman" panose="02020603050405020304" pitchFamily="18" charset="0"/>
                  <a:cs typeface="Times New Roman" panose="02020603050405020304" pitchFamily="18" charset="0"/>
                </a:rPr>
                <a:t> </a:t>
              </a:r>
              <a:r>
                <a:rPr b="0" dirty="0">
                  <a:latin typeface="Times New Roman" panose="02020603050405020304" pitchFamily="18" charset="0"/>
                  <a:cs typeface="Times New Roman" panose="02020603050405020304" pitchFamily="18" charset="0"/>
                </a:rPr>
                <a:t>{  </a:t>
              </a:r>
              <a:r>
                <a:rPr b="0" spc="-10" dirty="0">
                  <a:latin typeface="Times New Roman" panose="02020603050405020304" pitchFamily="18" charset="0"/>
                  <a:cs typeface="Times New Roman" panose="02020603050405020304" pitchFamily="18" charset="0"/>
                </a:rPr>
                <a:t>private int </a:t>
              </a:r>
              <a:r>
                <a:rPr b="0" spc="15" dirty="0">
                  <a:latin typeface="Times New Roman" panose="02020603050405020304" pitchFamily="18" charset="0"/>
                  <a:cs typeface="Times New Roman" panose="02020603050405020304" pitchFamily="18" charset="0"/>
                </a:rPr>
                <a:t>topLe5X;  </a:t>
              </a:r>
              <a:r>
                <a:rPr b="0" spc="-10" dirty="0">
                  <a:latin typeface="Times New Roman" panose="02020603050405020304" pitchFamily="18" charset="0"/>
                  <a:cs typeface="Times New Roman" panose="02020603050405020304" pitchFamily="18" charset="0"/>
                </a:rPr>
                <a:t>private int </a:t>
              </a:r>
              <a:r>
                <a:rPr b="0" dirty="0">
                  <a:latin typeface="Times New Roman" panose="02020603050405020304" pitchFamily="18" charset="0"/>
                  <a:cs typeface="Times New Roman" panose="02020603050405020304" pitchFamily="18" charset="0"/>
                </a:rPr>
                <a:t>topLe5Y;  </a:t>
              </a:r>
              <a:endParaRPr lang="en-US" altLang="zh-CN" b="0" dirty="0">
                <a:latin typeface="Times New Roman" panose="02020603050405020304" pitchFamily="18" charset="0"/>
                <a:cs typeface="Times New Roman" panose="02020603050405020304" pitchFamily="18" charset="0"/>
              </a:endParaRPr>
            </a:p>
            <a:p>
              <a:pPr marL="158750" marR="5080" indent="-146685">
                <a:lnSpc>
                  <a:spcPts val="2000"/>
                </a:lnSpc>
                <a:spcBef>
                  <a:spcPts val="200"/>
                </a:spcBef>
              </a:pPr>
              <a:r>
                <a:rPr lang="en-US" altLang="zh-CN" spc="-10" dirty="0">
                  <a:latin typeface="Times New Roman" panose="02020603050405020304" pitchFamily="18" charset="0"/>
                  <a:cs typeface="Times New Roman" panose="02020603050405020304" pitchFamily="18" charset="0"/>
                </a:rPr>
                <a:t>   </a:t>
              </a:r>
              <a:r>
                <a:rPr b="0" spc="-10" dirty="0">
                  <a:latin typeface="Times New Roman" panose="02020603050405020304" pitchFamily="18" charset="0"/>
                  <a:cs typeface="Times New Roman" panose="02020603050405020304" pitchFamily="18" charset="0"/>
                </a:rPr>
                <a:t>int</a:t>
              </a:r>
              <a:r>
                <a:rPr b="0" spc="-5" dirty="0">
                  <a:latin typeface="Times New Roman" panose="02020603050405020304" pitchFamily="18" charset="0"/>
                  <a:cs typeface="Times New Roman" panose="02020603050405020304" pitchFamily="18" charset="0"/>
                </a:rPr>
                <a:t> width;</a:t>
              </a:r>
              <a:endParaRPr dirty="0">
                <a:latin typeface="Times New Roman" panose="02020603050405020304" pitchFamily="18" charset="0"/>
                <a:cs typeface="Times New Roman" panose="02020603050405020304" pitchFamily="18" charset="0"/>
              </a:endParaRPr>
            </a:p>
            <a:p>
              <a:pPr marL="158750">
                <a:lnSpc>
                  <a:spcPts val="1940"/>
                </a:lnSpc>
              </a:pPr>
              <a:r>
                <a:rPr b="0" spc="-10" dirty="0">
                  <a:latin typeface="Times New Roman" panose="02020603050405020304" pitchFamily="18" charset="0"/>
                  <a:cs typeface="Times New Roman" panose="02020603050405020304" pitchFamily="18" charset="0"/>
                </a:rPr>
                <a:t>int</a:t>
              </a:r>
              <a:r>
                <a:rPr b="0" spc="-5" dirty="0">
                  <a:latin typeface="Times New Roman" panose="02020603050405020304" pitchFamily="18" charset="0"/>
                  <a:cs typeface="Times New Roman" panose="02020603050405020304" pitchFamily="18" charset="0"/>
                </a:rPr>
                <a:t> </a:t>
              </a:r>
              <a:r>
                <a:rPr b="0" spc="-10" dirty="0">
                  <a:latin typeface="Times New Roman" panose="02020603050405020304" pitchFamily="18" charset="0"/>
                  <a:cs typeface="Times New Roman" panose="02020603050405020304" pitchFamily="18" charset="0"/>
                </a:rPr>
                <a:t>height;</a:t>
              </a:r>
              <a:endParaRPr dirty="0">
                <a:latin typeface="Times New Roman" panose="02020603050405020304" pitchFamily="18" charset="0"/>
                <a:cs typeface="Times New Roman" panose="02020603050405020304" pitchFamily="18" charset="0"/>
              </a:endParaRPr>
            </a:p>
          </p:txBody>
        </p:sp>
        <p:sp>
          <p:nvSpPr>
            <p:cNvPr id="7" name="object 4"/>
            <p:cNvSpPr txBox="1"/>
            <p:nvPr/>
          </p:nvSpPr>
          <p:spPr>
            <a:xfrm>
              <a:off x="916939" y="2520407"/>
              <a:ext cx="3057525" cy="3642023"/>
            </a:xfrm>
            <a:prstGeom prst="rect">
              <a:avLst/>
            </a:prstGeom>
          </p:spPr>
          <p:txBody>
            <a:bodyPr vert="horz" wrap="square" lIns="0" tIns="25400" rIns="0" bIns="0" rtlCol="0">
              <a:spAutoFit/>
            </a:bodyPr>
            <a:lstStyle/>
            <a:p>
              <a:pPr marL="305435" marR="96520" indent="-146685">
                <a:lnSpc>
                  <a:spcPts val="2000"/>
                </a:lnSpc>
                <a:spcBef>
                  <a:spcPts val="200"/>
                </a:spcBef>
              </a:pPr>
              <a:r>
                <a:rPr b="0" spc="-5" dirty="0">
                  <a:latin typeface="Times New Roman" panose="02020603050405020304" pitchFamily="18" charset="0"/>
                  <a:cs typeface="Times New Roman" panose="02020603050405020304" pitchFamily="18" charset="0"/>
                </a:rPr>
                <a:t>public </a:t>
              </a:r>
              <a:r>
                <a:rPr b="0" spc="-10" dirty="0">
                  <a:latin typeface="Times New Roman" panose="02020603050405020304" pitchFamily="18" charset="0"/>
                  <a:cs typeface="Times New Roman" panose="02020603050405020304" pitchFamily="18" charset="0"/>
                </a:rPr>
                <a:t>void </a:t>
              </a:r>
              <a:r>
                <a:rPr b="0" spc="-5" dirty="0">
                  <a:latin typeface="Times New Roman" panose="02020603050405020304" pitchFamily="18" charset="0"/>
                  <a:cs typeface="Times New Roman" panose="02020603050405020304" pitchFamily="18" charset="0"/>
                </a:rPr>
                <a:t>setWidth(int width) </a:t>
              </a:r>
              <a:r>
                <a:rPr b="0" dirty="0">
                  <a:latin typeface="Times New Roman" panose="02020603050405020304" pitchFamily="18" charset="0"/>
                  <a:cs typeface="Times New Roman" panose="02020603050405020304" pitchFamily="18" charset="0"/>
                </a:rPr>
                <a:t>{  </a:t>
              </a:r>
              <a:r>
                <a:rPr b="0" spc="-10" dirty="0">
                  <a:latin typeface="Times New Roman" panose="02020603050405020304" pitchFamily="18" charset="0"/>
                  <a:cs typeface="Times New Roman" panose="02020603050405020304" pitchFamily="18" charset="0"/>
                </a:rPr>
                <a:t>this.width </a:t>
              </a:r>
              <a:r>
                <a:rPr b="0" dirty="0">
                  <a:latin typeface="Times New Roman" panose="02020603050405020304" pitchFamily="18" charset="0"/>
                  <a:cs typeface="Times New Roman" panose="02020603050405020304" pitchFamily="18" charset="0"/>
                </a:rPr>
                <a:t>=</a:t>
              </a:r>
              <a:r>
                <a:rPr b="0" spc="-5" dirty="0">
                  <a:latin typeface="Times New Roman" panose="02020603050405020304" pitchFamily="18" charset="0"/>
                  <a:cs typeface="Times New Roman" panose="02020603050405020304" pitchFamily="18" charset="0"/>
                </a:rPr>
                <a:t> width;</a:t>
              </a:r>
              <a:endParaRPr dirty="0">
                <a:latin typeface="Times New Roman" panose="02020603050405020304" pitchFamily="18" charset="0"/>
                <a:cs typeface="Times New Roman" panose="02020603050405020304" pitchFamily="18" charset="0"/>
              </a:endParaRPr>
            </a:p>
            <a:p>
              <a:pPr marL="158750">
                <a:lnSpc>
                  <a:spcPts val="1920"/>
                </a:lnSpc>
              </a:pPr>
              <a:r>
                <a:rPr b="0" dirty="0">
                  <a:latin typeface="Times New Roman" panose="02020603050405020304" pitchFamily="18" charset="0"/>
                  <a:cs typeface="Times New Roman" panose="02020603050405020304" pitchFamily="18" charset="0"/>
                </a:rPr>
                <a:t>}</a:t>
              </a:r>
              <a:endParaRPr dirty="0">
                <a:latin typeface="Times New Roman" panose="02020603050405020304" pitchFamily="18" charset="0"/>
                <a:cs typeface="Times New Roman" panose="02020603050405020304" pitchFamily="18" charset="0"/>
              </a:endParaRPr>
            </a:p>
            <a:p>
              <a:pPr marL="305435" marR="5080" indent="-146685">
                <a:lnSpc>
                  <a:spcPts val="2000"/>
                </a:lnSpc>
                <a:spcBef>
                  <a:spcPts val="80"/>
                </a:spcBef>
              </a:pPr>
              <a:r>
                <a:rPr b="0" spc="-5" dirty="0">
                  <a:latin typeface="Times New Roman" panose="02020603050405020304" pitchFamily="18" charset="0"/>
                  <a:cs typeface="Times New Roman" panose="02020603050405020304" pitchFamily="18" charset="0"/>
                </a:rPr>
                <a:t>public </a:t>
              </a:r>
              <a:r>
                <a:rPr b="0" spc="-10" dirty="0">
                  <a:latin typeface="Times New Roman" panose="02020603050405020304" pitchFamily="18" charset="0"/>
                  <a:cs typeface="Times New Roman" panose="02020603050405020304" pitchFamily="18" charset="0"/>
                </a:rPr>
                <a:t>void </a:t>
              </a:r>
              <a:r>
                <a:rPr b="0" spc="-5" dirty="0">
                  <a:latin typeface="Times New Roman" panose="02020603050405020304" pitchFamily="18" charset="0"/>
                  <a:cs typeface="Times New Roman" panose="02020603050405020304" pitchFamily="18" charset="0"/>
                </a:rPr>
                <a:t>setHeight(int </a:t>
              </a:r>
              <a:r>
                <a:rPr b="0" spc="-10" dirty="0">
                  <a:latin typeface="Times New Roman" panose="02020603050405020304" pitchFamily="18" charset="0"/>
                  <a:cs typeface="Times New Roman" panose="02020603050405020304" pitchFamily="18" charset="0"/>
                </a:rPr>
                <a:t>height) </a:t>
              </a:r>
              <a:r>
                <a:rPr b="0" dirty="0">
                  <a:latin typeface="Times New Roman" panose="02020603050405020304" pitchFamily="18" charset="0"/>
                  <a:cs typeface="Times New Roman" panose="02020603050405020304" pitchFamily="18" charset="0"/>
                </a:rPr>
                <a:t>{  </a:t>
              </a:r>
              <a:r>
                <a:rPr b="0" spc="-5" dirty="0">
                  <a:latin typeface="Times New Roman" panose="02020603050405020304" pitchFamily="18" charset="0"/>
                  <a:cs typeface="Times New Roman" panose="02020603050405020304" pitchFamily="18" charset="0"/>
                </a:rPr>
                <a:t>this.height </a:t>
              </a:r>
              <a:r>
                <a:rPr b="0" dirty="0">
                  <a:latin typeface="Times New Roman" panose="02020603050405020304" pitchFamily="18" charset="0"/>
                  <a:cs typeface="Times New Roman" panose="02020603050405020304" pitchFamily="18" charset="0"/>
                </a:rPr>
                <a:t>=</a:t>
              </a:r>
              <a:r>
                <a:rPr b="0" spc="-15" dirty="0">
                  <a:latin typeface="Times New Roman" panose="02020603050405020304" pitchFamily="18" charset="0"/>
                  <a:cs typeface="Times New Roman" panose="02020603050405020304" pitchFamily="18" charset="0"/>
                </a:rPr>
                <a:t> </a:t>
              </a:r>
              <a:r>
                <a:rPr b="0" spc="-5" dirty="0">
                  <a:latin typeface="Times New Roman" panose="02020603050405020304" pitchFamily="18" charset="0"/>
                  <a:cs typeface="Times New Roman" panose="02020603050405020304" pitchFamily="18" charset="0"/>
                </a:rPr>
                <a:t>height;</a:t>
              </a:r>
              <a:endParaRPr dirty="0">
                <a:latin typeface="Times New Roman" panose="02020603050405020304" pitchFamily="18" charset="0"/>
                <a:cs typeface="Times New Roman" panose="02020603050405020304" pitchFamily="18" charset="0"/>
              </a:endParaRPr>
            </a:p>
            <a:p>
              <a:pPr marL="158750">
                <a:lnSpc>
                  <a:spcPts val="2020"/>
                </a:lnSpc>
              </a:pPr>
              <a:r>
                <a:rPr b="0" dirty="0">
                  <a:latin typeface="Times New Roman" panose="02020603050405020304" pitchFamily="18" charset="0"/>
                  <a:cs typeface="Times New Roman" panose="02020603050405020304" pitchFamily="18" charset="0"/>
                </a:rPr>
                <a:t>}</a:t>
              </a:r>
              <a:endParaRPr dirty="0">
                <a:latin typeface="Times New Roman" panose="02020603050405020304" pitchFamily="18" charset="0"/>
                <a:cs typeface="Times New Roman" panose="02020603050405020304" pitchFamily="18" charset="0"/>
              </a:endParaRPr>
            </a:p>
            <a:p>
              <a:pPr marL="305435" marR="988060" indent="-146685">
                <a:lnSpc>
                  <a:spcPts val="2000"/>
                </a:lnSpc>
                <a:spcBef>
                  <a:spcPts val="80"/>
                </a:spcBef>
              </a:pPr>
              <a:r>
                <a:rPr b="0" spc="-5" dirty="0">
                  <a:latin typeface="Times New Roman" panose="02020603050405020304" pitchFamily="18" charset="0"/>
                  <a:cs typeface="Times New Roman" panose="02020603050405020304" pitchFamily="18" charset="0"/>
                </a:rPr>
                <a:t>public </a:t>
              </a:r>
              <a:r>
                <a:rPr b="0" spc="-10" dirty="0">
                  <a:latin typeface="Times New Roman" panose="02020603050405020304" pitchFamily="18" charset="0"/>
                  <a:cs typeface="Times New Roman" panose="02020603050405020304" pitchFamily="18" charset="0"/>
                </a:rPr>
                <a:t>int </a:t>
              </a:r>
              <a:r>
                <a:rPr b="0" spc="-5" dirty="0">
                  <a:latin typeface="Times New Roman" panose="02020603050405020304" pitchFamily="18" charset="0"/>
                  <a:cs typeface="Times New Roman" panose="02020603050405020304" pitchFamily="18" charset="0"/>
                </a:rPr>
                <a:t>getWidth() </a:t>
              </a:r>
              <a:r>
                <a:rPr b="0" dirty="0">
                  <a:latin typeface="Times New Roman" panose="02020603050405020304" pitchFamily="18" charset="0"/>
                  <a:cs typeface="Times New Roman" panose="02020603050405020304" pitchFamily="18" charset="0"/>
                </a:rPr>
                <a:t>{  </a:t>
              </a:r>
              <a:r>
                <a:rPr b="0" spc="-10" dirty="0">
                  <a:latin typeface="Times New Roman" panose="02020603050405020304" pitchFamily="18" charset="0"/>
                  <a:cs typeface="Times New Roman" panose="02020603050405020304" pitchFamily="18" charset="0"/>
                </a:rPr>
                <a:t>return</a:t>
              </a:r>
              <a:r>
                <a:rPr b="0" spc="-15" dirty="0">
                  <a:latin typeface="Times New Roman" panose="02020603050405020304" pitchFamily="18" charset="0"/>
                  <a:cs typeface="Times New Roman" panose="02020603050405020304" pitchFamily="18" charset="0"/>
                </a:rPr>
                <a:t> </a:t>
              </a:r>
              <a:r>
                <a:rPr b="0" spc="-5" dirty="0">
                  <a:latin typeface="Times New Roman" panose="02020603050405020304" pitchFamily="18" charset="0"/>
                  <a:cs typeface="Times New Roman" panose="02020603050405020304" pitchFamily="18" charset="0"/>
                </a:rPr>
                <a:t>width;</a:t>
              </a:r>
              <a:endParaRPr dirty="0">
                <a:latin typeface="Times New Roman" panose="02020603050405020304" pitchFamily="18" charset="0"/>
                <a:cs typeface="Times New Roman" panose="02020603050405020304" pitchFamily="18" charset="0"/>
              </a:endParaRPr>
            </a:p>
            <a:p>
              <a:pPr marL="158750">
                <a:lnSpc>
                  <a:spcPts val="1920"/>
                </a:lnSpc>
              </a:pPr>
              <a:r>
                <a:rPr b="0" dirty="0">
                  <a:latin typeface="Times New Roman" panose="02020603050405020304" pitchFamily="18" charset="0"/>
                  <a:cs typeface="Times New Roman" panose="02020603050405020304" pitchFamily="18" charset="0"/>
                </a:rPr>
                <a:t>}</a:t>
              </a:r>
              <a:endParaRPr dirty="0">
                <a:latin typeface="Times New Roman" panose="02020603050405020304" pitchFamily="18" charset="0"/>
                <a:cs typeface="Times New Roman" panose="02020603050405020304" pitchFamily="18" charset="0"/>
              </a:endParaRPr>
            </a:p>
            <a:p>
              <a:pPr marL="305435" marR="951230" indent="-146685">
                <a:lnSpc>
                  <a:spcPts val="2100"/>
                </a:lnSpc>
              </a:pPr>
              <a:r>
                <a:rPr b="0" spc="-5" dirty="0">
                  <a:latin typeface="Times New Roman" panose="02020603050405020304" pitchFamily="18" charset="0"/>
                  <a:cs typeface="Times New Roman" panose="02020603050405020304" pitchFamily="18" charset="0"/>
                </a:rPr>
                <a:t>public </a:t>
              </a:r>
              <a:r>
                <a:rPr b="0" spc="-10" dirty="0">
                  <a:latin typeface="Times New Roman" panose="02020603050405020304" pitchFamily="18" charset="0"/>
                  <a:cs typeface="Times New Roman" panose="02020603050405020304" pitchFamily="18" charset="0"/>
                </a:rPr>
                <a:t>int getHeight() </a:t>
              </a:r>
              <a:r>
                <a:rPr b="0" dirty="0">
                  <a:latin typeface="Times New Roman" panose="02020603050405020304" pitchFamily="18" charset="0"/>
                  <a:cs typeface="Times New Roman" panose="02020603050405020304" pitchFamily="18" charset="0"/>
                </a:rPr>
                <a:t>{  </a:t>
              </a:r>
              <a:r>
                <a:rPr b="0" spc="-10" dirty="0">
                  <a:latin typeface="Times New Roman" panose="02020603050405020304" pitchFamily="18" charset="0"/>
                  <a:cs typeface="Times New Roman" panose="02020603050405020304" pitchFamily="18" charset="0"/>
                </a:rPr>
                <a:t>return height;</a:t>
              </a:r>
              <a:endParaRPr dirty="0">
                <a:latin typeface="Times New Roman" panose="02020603050405020304" pitchFamily="18" charset="0"/>
                <a:cs typeface="Times New Roman" panose="02020603050405020304" pitchFamily="18" charset="0"/>
              </a:endParaRPr>
            </a:p>
            <a:p>
              <a:pPr marL="158750">
                <a:lnSpc>
                  <a:spcPts val="1900"/>
                </a:lnSpc>
              </a:pPr>
              <a:r>
                <a:rPr b="0" dirty="0">
                  <a:latin typeface="Times New Roman" panose="02020603050405020304" pitchFamily="18" charset="0"/>
                  <a:cs typeface="Times New Roman" panose="02020603050405020304" pitchFamily="18" charset="0"/>
                </a:rPr>
                <a:t>}</a:t>
              </a:r>
              <a:endParaRPr dirty="0">
                <a:latin typeface="Times New Roman" panose="02020603050405020304" pitchFamily="18" charset="0"/>
                <a:cs typeface="Times New Roman" panose="02020603050405020304" pitchFamily="18" charset="0"/>
              </a:endParaRPr>
            </a:p>
            <a:p>
              <a:pPr marL="12700">
                <a:lnSpc>
                  <a:spcPts val="2020"/>
                </a:lnSpc>
              </a:pPr>
              <a:r>
                <a:rPr b="0" dirty="0">
                  <a:latin typeface="Times New Roman" panose="02020603050405020304" pitchFamily="18" charset="0"/>
                  <a:cs typeface="Times New Roman" panose="02020603050405020304" pitchFamily="18" charset="0"/>
                </a:rPr>
                <a:t>}</a:t>
              </a:r>
              <a:endParaRPr dirty="0">
                <a:latin typeface="Times New Roman" panose="02020603050405020304" pitchFamily="18" charset="0"/>
                <a:cs typeface="Times New Roman" panose="02020603050405020304" pitchFamily="18" charset="0"/>
              </a:endParaRPr>
            </a:p>
          </p:txBody>
        </p:sp>
      </p:grpSp>
      <p:sp>
        <p:nvSpPr>
          <p:cNvPr id="9" name="object 6"/>
          <p:cNvSpPr txBox="1"/>
          <p:nvPr/>
        </p:nvSpPr>
        <p:spPr>
          <a:xfrm>
            <a:off x="5670683" y="4846110"/>
            <a:ext cx="5683117" cy="1115060"/>
          </a:xfrm>
          <a:prstGeom prst="rect">
            <a:avLst/>
          </a:prstGeom>
        </p:spPr>
        <p:txBody>
          <a:bodyPr vert="horz" wrap="square" lIns="0" tIns="15875" rIns="0" bIns="0" rtlCol="0">
            <a:spAutoFit/>
          </a:bodyPr>
          <a:lstStyle/>
          <a:p>
            <a:pPr marL="12700" marR="5080" algn="just">
              <a:lnSpc>
                <a:spcPct val="99000"/>
              </a:lnSpc>
              <a:spcBef>
                <a:spcPts val="125"/>
              </a:spcBef>
            </a:pPr>
            <a:r>
              <a:rPr sz="2400" dirty="0">
                <a:latin typeface="微软雅黑" panose="020B0503020204020204" pitchFamily="34" charset="-122"/>
                <a:ea typeface="微软雅黑" panose="020B0503020204020204" pitchFamily="34" charset="-122"/>
                <a:cs typeface="黑体" panose="02010609060101010101" charset="-122"/>
              </a:rPr>
              <a:t>问题：如果将</a:t>
            </a:r>
            <a:r>
              <a:rPr sz="2400" spc="-5" dirty="0">
                <a:latin typeface="微软雅黑" panose="020B0503020204020204" pitchFamily="34" charset="-122"/>
                <a:ea typeface="微软雅黑" panose="020B0503020204020204" pitchFamily="34" charset="-122"/>
                <a:cs typeface="Calibri" panose="020F0502020204030204"/>
              </a:rPr>
              <a:t>Square</a:t>
            </a:r>
            <a:r>
              <a:rPr sz="2400" dirty="0">
                <a:latin typeface="微软雅黑" panose="020B0503020204020204" pitchFamily="34" charset="-122"/>
                <a:ea typeface="微软雅黑" panose="020B0503020204020204" pitchFamily="34" charset="-122"/>
                <a:cs typeface="黑体" panose="02010609060101010101" charset="-122"/>
              </a:rPr>
              <a:t>作为</a:t>
            </a:r>
            <a:r>
              <a:rPr sz="2400" spc="-5" dirty="0">
                <a:latin typeface="微软雅黑" panose="020B0503020204020204" pitchFamily="34" charset="-122"/>
                <a:ea typeface="微软雅黑" panose="020B0503020204020204" pitchFamily="34" charset="-122"/>
                <a:cs typeface="Calibri" panose="020F0502020204030204"/>
              </a:rPr>
              <a:t>Rectangle</a:t>
            </a:r>
            <a:r>
              <a:rPr sz="2400" dirty="0">
                <a:latin typeface="微软雅黑" panose="020B0503020204020204" pitchFamily="34" charset="-122"/>
                <a:ea typeface="微软雅黑" panose="020B0503020204020204" pitchFamily="34" charset="-122"/>
                <a:cs typeface="黑体" panose="02010609060101010101" charset="-122"/>
              </a:rPr>
              <a:t>的子 类，则如何定义Square类的setWidth和  setHeight方法？</a:t>
            </a:r>
          </a:p>
        </p:txBody>
      </p:sp>
      <p:grpSp>
        <p:nvGrpSpPr>
          <p:cNvPr id="11" name="组合 10"/>
          <p:cNvGrpSpPr/>
          <p:nvPr/>
        </p:nvGrpSpPr>
        <p:grpSpPr>
          <a:xfrm>
            <a:off x="7068108" y="1690688"/>
            <a:ext cx="2088230" cy="2718300"/>
            <a:chOff x="7068108" y="1589999"/>
            <a:chExt cx="2088230" cy="2718300"/>
          </a:xfrm>
        </p:grpSpPr>
        <p:sp>
          <p:nvSpPr>
            <p:cNvPr id="8" name="object 5"/>
            <p:cNvSpPr/>
            <p:nvPr/>
          </p:nvSpPr>
          <p:spPr>
            <a:xfrm>
              <a:off x="7068108" y="1589999"/>
              <a:ext cx="2088230" cy="2718300"/>
            </a:xfrm>
            <a:prstGeom prst="rect">
              <a:avLst/>
            </a:prstGeom>
            <a:blipFill>
              <a:blip r:embed="rId3" cstate="print"/>
              <a:stretch>
                <a:fillRect/>
              </a:stretch>
            </a:blipFill>
          </p:spPr>
          <p:txBody>
            <a:bodyPr wrap="square" lIns="0" tIns="0" rIns="0" bIns="0" rtlCol="0"/>
            <a:lstStyle/>
            <a:p>
              <a:endParaRPr/>
            </a:p>
          </p:txBody>
        </p:sp>
        <p:sp>
          <p:nvSpPr>
            <p:cNvPr id="10" name="object 7"/>
            <p:cNvSpPr txBox="1"/>
            <p:nvPr/>
          </p:nvSpPr>
          <p:spPr>
            <a:xfrm>
              <a:off x="8839034" y="2451112"/>
              <a:ext cx="279400" cy="635000"/>
            </a:xfrm>
            <a:prstGeom prst="rect">
              <a:avLst/>
            </a:prstGeom>
          </p:spPr>
          <p:txBody>
            <a:bodyPr vert="horz" wrap="square" lIns="0" tIns="12700" rIns="0" bIns="0" rtlCol="0">
              <a:spAutoFit/>
            </a:bodyPr>
            <a:lstStyle/>
            <a:p>
              <a:pPr marL="12700">
                <a:lnSpc>
                  <a:spcPct val="100000"/>
                </a:lnSpc>
                <a:spcBef>
                  <a:spcPts val="100"/>
                </a:spcBef>
              </a:pPr>
              <a:r>
                <a:rPr sz="4000" dirty="0">
                  <a:solidFill>
                    <a:srgbClr val="3333CC"/>
                  </a:solidFill>
                  <a:latin typeface="宋体" panose="02010600030101010101" pitchFamily="2" charset="-122"/>
                  <a:cs typeface="宋体" panose="02010600030101010101" pitchFamily="2" charset="-122"/>
                </a:rPr>
                <a:t>?</a:t>
              </a:r>
              <a:endParaRPr sz="4000">
                <a:latin typeface="宋体" panose="02010600030101010101" pitchFamily="2" charset="-122"/>
                <a:cs typeface="宋体" panose="02010600030101010101" pitchFamily="2" charset="-122"/>
              </a:endParaRPr>
            </a:p>
          </p:txBody>
        </p:sp>
      </p:grpSp>
    </p:spTree>
  </p:cSld>
  <p:clrMapOvr>
    <a:masterClrMapping/>
  </p:clrMapOvr>
  <mc:AlternateContent xmlns:mc="http://schemas.openxmlformats.org/markup-compatibility/2006" xmlns:p14="http://schemas.microsoft.com/office/powerpoint/2010/main">
    <mc:Choice Requires="p14">
      <p:transition spd="slow" p14:dur="2000" advTm="23146"/>
    </mc:Choice>
    <mc:Fallback xmlns="">
      <p:transition spd="slow" advTm="23146"/>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pc="-15" dirty="0">
                <a:latin typeface="黑体" panose="02010609060101010101" charset="-122"/>
                <a:cs typeface="黑体" panose="02010609060101010101" charset="-122"/>
              </a:rPr>
              <a:t>解决方法</a:t>
            </a:r>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t>4</a:t>
            </a:fld>
            <a:endParaRPr lang="zh-CN" altLang="en-US"/>
          </a:p>
        </p:txBody>
      </p:sp>
      <p:grpSp>
        <p:nvGrpSpPr>
          <p:cNvPr id="5" name="组合 4"/>
          <p:cNvGrpSpPr/>
          <p:nvPr/>
        </p:nvGrpSpPr>
        <p:grpSpPr>
          <a:xfrm>
            <a:off x="1100958" y="1689100"/>
            <a:ext cx="4532586" cy="3500681"/>
            <a:chOff x="916939" y="1078957"/>
            <a:chExt cx="3591560" cy="3500681"/>
          </a:xfrm>
        </p:grpSpPr>
        <p:sp>
          <p:nvSpPr>
            <p:cNvPr id="6" name="object 3"/>
            <p:cNvSpPr txBox="1"/>
            <p:nvPr/>
          </p:nvSpPr>
          <p:spPr>
            <a:xfrm>
              <a:off x="916939" y="1078957"/>
              <a:ext cx="3591560" cy="1515608"/>
            </a:xfrm>
            <a:prstGeom prst="rect">
              <a:avLst/>
            </a:prstGeom>
          </p:spPr>
          <p:txBody>
            <a:bodyPr vert="horz" wrap="square" lIns="0" tIns="12700" rIns="0" bIns="0" rtlCol="0">
              <a:spAutoFit/>
            </a:bodyPr>
            <a:lstStyle/>
            <a:p>
              <a:pPr marL="167640" marR="5080" indent="-155575">
                <a:lnSpc>
                  <a:spcPct val="125000"/>
                </a:lnSpc>
                <a:spcBef>
                  <a:spcPts val="100"/>
                </a:spcBef>
              </a:pPr>
              <a:r>
                <a:rPr sz="2000" b="0" spc="-5" dirty="0">
                  <a:latin typeface="Times New Roman" panose="02020603050405020304" pitchFamily="18" charset="0"/>
                  <a:cs typeface="Times New Roman" panose="02020603050405020304" pitchFamily="18" charset="0"/>
                </a:rPr>
                <a:t>public </a:t>
              </a:r>
              <a:r>
                <a:rPr sz="2000" b="0" dirty="0">
                  <a:latin typeface="Times New Roman" panose="02020603050405020304" pitchFamily="18" charset="0"/>
                  <a:cs typeface="Times New Roman" panose="02020603050405020304" pitchFamily="18" charset="0"/>
                </a:rPr>
                <a:t>class </a:t>
              </a:r>
              <a:r>
                <a:rPr sz="2000" b="0" spc="-10" dirty="0">
                  <a:solidFill>
                    <a:srgbClr val="FF0000"/>
                  </a:solidFill>
                  <a:latin typeface="Times New Roman" panose="02020603050405020304" pitchFamily="18" charset="0"/>
                  <a:cs typeface="Times New Roman" panose="02020603050405020304" pitchFamily="18" charset="0"/>
                </a:rPr>
                <a:t>Square</a:t>
              </a:r>
              <a:r>
                <a:rPr sz="2000" b="0" spc="-10" dirty="0">
                  <a:latin typeface="Times New Roman" panose="02020603050405020304" pitchFamily="18" charset="0"/>
                  <a:cs typeface="Times New Roman" panose="02020603050405020304" pitchFamily="18" charset="0"/>
                </a:rPr>
                <a:t> </a:t>
              </a:r>
              <a:r>
                <a:rPr sz="2000" b="1" spc="-10" dirty="0">
                  <a:solidFill>
                    <a:srgbClr val="FF0000"/>
                  </a:solidFill>
                  <a:latin typeface="Times New Roman" panose="02020603050405020304" pitchFamily="18" charset="0"/>
                  <a:cs typeface="Times New Roman" panose="02020603050405020304" pitchFamily="18" charset="0"/>
                </a:rPr>
                <a:t>extends</a:t>
              </a:r>
              <a:r>
                <a:rPr sz="2000" b="0" spc="-10" dirty="0">
                  <a:latin typeface="Times New Roman" panose="02020603050405020304" pitchFamily="18" charset="0"/>
                  <a:cs typeface="Times New Roman" panose="02020603050405020304" pitchFamily="18" charset="0"/>
                </a:rPr>
                <a:t> </a:t>
              </a:r>
              <a:r>
                <a:rPr sz="2000" b="0" spc="-10" dirty="0">
                  <a:solidFill>
                    <a:srgbClr val="FF0000"/>
                  </a:solidFill>
                  <a:latin typeface="Times New Roman" panose="02020603050405020304" pitchFamily="18" charset="0"/>
                  <a:cs typeface="Times New Roman" panose="02020603050405020304" pitchFamily="18" charset="0"/>
                </a:rPr>
                <a:t>Rectangle</a:t>
              </a:r>
              <a:r>
                <a:rPr sz="2000" b="0" spc="-10" dirty="0">
                  <a:latin typeface="Times New Roman" panose="02020603050405020304" pitchFamily="18" charset="0"/>
                  <a:cs typeface="Times New Roman" panose="02020603050405020304" pitchFamily="18" charset="0"/>
                </a:rPr>
                <a:t> </a:t>
              </a:r>
              <a:r>
                <a:rPr sz="2000" b="0" dirty="0">
                  <a:latin typeface="Times New Roman" panose="02020603050405020304" pitchFamily="18" charset="0"/>
                  <a:cs typeface="Times New Roman" panose="02020603050405020304" pitchFamily="18" charset="0"/>
                </a:rPr>
                <a:t>{  </a:t>
              </a:r>
              <a:r>
                <a:rPr sz="2000" b="0" spc="-5" dirty="0">
                  <a:latin typeface="Times New Roman" panose="02020603050405020304" pitchFamily="18" charset="0"/>
                  <a:cs typeface="Times New Roman" panose="02020603050405020304" pitchFamily="18" charset="0"/>
                </a:rPr>
                <a:t>public </a:t>
              </a:r>
              <a:r>
                <a:rPr sz="2000" b="0" spc="-10" dirty="0">
                  <a:latin typeface="Times New Roman" panose="02020603050405020304" pitchFamily="18" charset="0"/>
                  <a:cs typeface="Times New Roman" panose="02020603050405020304" pitchFamily="18" charset="0"/>
                </a:rPr>
                <a:t>void </a:t>
              </a:r>
              <a:r>
                <a:rPr sz="2000" b="0" spc="-5" dirty="0">
                  <a:latin typeface="Times New Roman" panose="02020603050405020304" pitchFamily="18" charset="0"/>
                  <a:cs typeface="Times New Roman" panose="02020603050405020304" pitchFamily="18" charset="0"/>
                </a:rPr>
                <a:t>setWidth(int width)</a:t>
              </a:r>
              <a:r>
                <a:rPr sz="2000" b="0" dirty="0">
                  <a:latin typeface="Times New Roman" panose="02020603050405020304" pitchFamily="18" charset="0"/>
                  <a:cs typeface="Times New Roman" panose="02020603050405020304" pitchFamily="18" charset="0"/>
                </a:rPr>
                <a:t> {</a:t>
              </a:r>
              <a:endParaRPr sz="2000" dirty="0">
                <a:latin typeface="Times New Roman" panose="02020603050405020304" pitchFamily="18" charset="0"/>
                <a:cs typeface="Times New Roman" panose="02020603050405020304" pitchFamily="18" charset="0"/>
              </a:endParaRPr>
            </a:p>
            <a:p>
              <a:pPr marL="322580" marR="1113155">
                <a:lnSpc>
                  <a:spcPct val="125000"/>
                </a:lnSpc>
              </a:pPr>
              <a:r>
                <a:rPr sz="2000" b="0" spc="-10" dirty="0">
                  <a:latin typeface="Times New Roman" panose="02020603050405020304" pitchFamily="18" charset="0"/>
                  <a:cs typeface="Times New Roman" panose="02020603050405020304" pitchFamily="18" charset="0"/>
                </a:rPr>
                <a:t>super.setWidth(width);  </a:t>
              </a:r>
              <a:r>
                <a:rPr sz="2000" b="0" dirty="0">
                  <a:latin typeface="Times New Roman" panose="02020603050405020304" pitchFamily="18" charset="0"/>
                  <a:cs typeface="Times New Roman" panose="02020603050405020304" pitchFamily="18" charset="0"/>
                </a:rPr>
                <a:t>supe</a:t>
              </a:r>
              <a:r>
                <a:rPr sz="2000" b="0" spc="-195" dirty="0">
                  <a:latin typeface="Times New Roman" panose="02020603050405020304" pitchFamily="18" charset="0"/>
                  <a:cs typeface="Times New Roman" panose="02020603050405020304" pitchFamily="18" charset="0"/>
                </a:rPr>
                <a:t>r</a:t>
              </a:r>
              <a:r>
                <a:rPr sz="2000" b="0" dirty="0">
                  <a:latin typeface="Times New Roman" panose="02020603050405020304" pitchFamily="18" charset="0"/>
                  <a:cs typeface="Times New Roman" panose="02020603050405020304" pitchFamily="18" charset="0"/>
                </a:rPr>
                <a:t>.s</a:t>
              </a:r>
              <a:r>
                <a:rPr sz="2000" b="0" spc="-10" dirty="0">
                  <a:latin typeface="Times New Roman" panose="02020603050405020304" pitchFamily="18" charset="0"/>
                  <a:cs typeface="Times New Roman" panose="02020603050405020304" pitchFamily="18" charset="0"/>
                </a:rPr>
                <a:t>e</a:t>
              </a:r>
              <a:r>
                <a:rPr sz="2000" b="0" dirty="0">
                  <a:latin typeface="Times New Roman" panose="02020603050405020304" pitchFamily="18" charset="0"/>
                  <a:cs typeface="Times New Roman" panose="02020603050405020304" pitchFamily="18" charset="0"/>
                </a:rPr>
                <a:t>tHeig</a:t>
              </a:r>
              <a:r>
                <a:rPr sz="2000" b="0" spc="-20" dirty="0">
                  <a:latin typeface="Times New Roman" panose="02020603050405020304" pitchFamily="18" charset="0"/>
                  <a:cs typeface="Times New Roman" panose="02020603050405020304" pitchFamily="18" charset="0"/>
                </a:rPr>
                <a:t>h</a:t>
              </a:r>
              <a:r>
                <a:rPr sz="2000" b="0" spc="-5" dirty="0">
                  <a:latin typeface="Times New Roman" panose="02020603050405020304" pitchFamily="18" charset="0"/>
                  <a:cs typeface="Times New Roman" panose="02020603050405020304" pitchFamily="18" charset="0"/>
                </a:rPr>
                <a:t>t</a:t>
              </a:r>
              <a:r>
                <a:rPr sz="2000" b="0" dirty="0">
                  <a:latin typeface="Times New Roman" panose="02020603050405020304" pitchFamily="18" charset="0"/>
                  <a:cs typeface="Times New Roman" panose="02020603050405020304" pitchFamily="18" charset="0"/>
                </a:rPr>
                <a:t>(width);</a:t>
              </a:r>
              <a:endParaRPr sz="2000" dirty="0">
                <a:latin typeface="Times New Roman" panose="02020603050405020304" pitchFamily="18" charset="0"/>
                <a:cs typeface="Times New Roman" panose="02020603050405020304" pitchFamily="18" charset="0"/>
              </a:endParaRPr>
            </a:p>
          </p:txBody>
        </p:sp>
        <p:sp>
          <p:nvSpPr>
            <p:cNvPr id="7" name="object 4"/>
            <p:cNvSpPr txBox="1"/>
            <p:nvPr/>
          </p:nvSpPr>
          <p:spPr>
            <a:xfrm>
              <a:off x="916939" y="2463257"/>
              <a:ext cx="3235445" cy="1928733"/>
            </a:xfrm>
            <a:prstGeom prst="rect">
              <a:avLst/>
            </a:prstGeom>
          </p:spPr>
          <p:txBody>
            <a:bodyPr vert="horz" wrap="square" lIns="0" tIns="81280" rIns="0" bIns="0" rtlCol="0">
              <a:spAutoFit/>
            </a:bodyPr>
            <a:lstStyle/>
            <a:p>
              <a:pPr marL="12700">
                <a:lnSpc>
                  <a:spcPct val="100000"/>
                </a:lnSpc>
                <a:spcBef>
                  <a:spcPts val="640"/>
                </a:spcBef>
              </a:pPr>
              <a:r>
                <a:rPr sz="2000" b="0" dirty="0">
                  <a:latin typeface="Times New Roman" panose="02020603050405020304" pitchFamily="18" charset="0"/>
                  <a:cs typeface="Times New Roman" panose="02020603050405020304" pitchFamily="18" charset="0"/>
                </a:rPr>
                <a:t>}</a:t>
              </a:r>
              <a:endParaRPr sz="2000" dirty="0">
                <a:latin typeface="Times New Roman" panose="02020603050405020304" pitchFamily="18" charset="0"/>
                <a:cs typeface="Times New Roman" panose="02020603050405020304" pitchFamily="18" charset="0"/>
              </a:endParaRPr>
            </a:p>
            <a:p>
              <a:pPr marL="167640" marR="5080" indent="-155575">
                <a:lnSpc>
                  <a:spcPct val="125000"/>
                </a:lnSpc>
              </a:pPr>
              <a:r>
                <a:rPr sz="2000" b="0" spc="-5" dirty="0">
                  <a:latin typeface="Times New Roman" panose="02020603050405020304" pitchFamily="18" charset="0"/>
                  <a:cs typeface="Times New Roman" panose="02020603050405020304" pitchFamily="18" charset="0"/>
                </a:rPr>
                <a:t>public </a:t>
              </a:r>
              <a:r>
                <a:rPr sz="2000" b="0" spc="-10" dirty="0">
                  <a:latin typeface="Times New Roman" panose="02020603050405020304" pitchFamily="18" charset="0"/>
                  <a:cs typeface="Times New Roman" panose="02020603050405020304" pitchFamily="18" charset="0"/>
                </a:rPr>
                <a:t>void </a:t>
              </a:r>
              <a:r>
                <a:rPr sz="2000" b="0" spc="-5" dirty="0">
                  <a:latin typeface="Times New Roman" panose="02020603050405020304" pitchFamily="18" charset="0"/>
                  <a:cs typeface="Times New Roman" panose="02020603050405020304" pitchFamily="18" charset="0"/>
                </a:rPr>
                <a:t>setHeight(int </a:t>
              </a:r>
              <a:r>
                <a:rPr sz="2000" b="0" spc="-10" dirty="0">
                  <a:latin typeface="Times New Roman" panose="02020603050405020304" pitchFamily="18" charset="0"/>
                  <a:cs typeface="Times New Roman" panose="02020603050405020304" pitchFamily="18" charset="0"/>
                </a:rPr>
                <a:t>height) </a:t>
              </a:r>
              <a:r>
                <a:rPr sz="2000" b="0" dirty="0">
                  <a:latin typeface="Times New Roman" panose="02020603050405020304" pitchFamily="18" charset="0"/>
                  <a:cs typeface="Times New Roman" panose="02020603050405020304" pitchFamily="18" charset="0"/>
                </a:rPr>
                <a:t>{  </a:t>
              </a:r>
              <a:r>
                <a:rPr sz="2000" b="0" spc="-15" dirty="0">
                  <a:latin typeface="Times New Roman" panose="02020603050405020304" pitchFamily="18" charset="0"/>
                  <a:cs typeface="Times New Roman" panose="02020603050405020304" pitchFamily="18" charset="0"/>
                </a:rPr>
                <a:t>super.setHeight(height);  super.setWidth(height);</a:t>
              </a:r>
              <a:endParaRPr sz="2000" dirty="0">
                <a:latin typeface="Times New Roman" panose="02020603050405020304" pitchFamily="18" charset="0"/>
                <a:cs typeface="Times New Roman" panose="02020603050405020304" pitchFamily="18" charset="0"/>
              </a:endParaRPr>
            </a:p>
            <a:p>
              <a:pPr marL="12700">
                <a:lnSpc>
                  <a:spcPct val="100000"/>
                </a:lnSpc>
                <a:spcBef>
                  <a:spcPts val="640"/>
                </a:spcBef>
              </a:pPr>
              <a:r>
                <a:rPr lang="en-US" altLang="zh-CN" sz="2000" b="0" dirty="0">
                  <a:latin typeface="Times New Roman" panose="02020603050405020304" pitchFamily="18" charset="0"/>
                  <a:cs typeface="Times New Roman" panose="02020603050405020304" pitchFamily="18" charset="0"/>
                </a:rPr>
                <a:t> </a:t>
              </a:r>
              <a:r>
                <a:rPr sz="2000" b="0" dirty="0">
                  <a:latin typeface="Times New Roman" panose="02020603050405020304" pitchFamily="18" charset="0"/>
                  <a:cs typeface="Times New Roman" panose="02020603050405020304" pitchFamily="18" charset="0"/>
                </a:rPr>
                <a:t>}</a:t>
              </a:r>
              <a:endParaRPr sz="2000" dirty="0">
                <a:latin typeface="Times New Roman" panose="02020603050405020304" pitchFamily="18" charset="0"/>
                <a:cs typeface="Times New Roman" panose="02020603050405020304" pitchFamily="18" charset="0"/>
              </a:endParaRPr>
            </a:p>
          </p:txBody>
        </p:sp>
        <p:sp>
          <p:nvSpPr>
            <p:cNvPr id="8" name="object 5"/>
            <p:cNvSpPr txBox="1"/>
            <p:nvPr/>
          </p:nvSpPr>
          <p:spPr>
            <a:xfrm>
              <a:off x="916939" y="4259037"/>
              <a:ext cx="93980" cy="320601"/>
            </a:xfrm>
            <a:prstGeom prst="rect">
              <a:avLst/>
            </a:prstGeom>
          </p:spPr>
          <p:txBody>
            <a:bodyPr vert="horz" wrap="square" lIns="0" tIns="12700" rIns="0" bIns="0" rtlCol="0">
              <a:spAutoFit/>
            </a:bodyPr>
            <a:lstStyle/>
            <a:p>
              <a:pPr marL="12700">
                <a:lnSpc>
                  <a:spcPct val="100000"/>
                </a:lnSpc>
                <a:spcBef>
                  <a:spcPts val="100"/>
                </a:spcBef>
              </a:pPr>
              <a:r>
                <a:rPr sz="2000" b="0" dirty="0">
                  <a:latin typeface="Times New Roman" panose="02020603050405020304" pitchFamily="18" charset="0"/>
                  <a:cs typeface="Times New Roman" panose="02020603050405020304" pitchFamily="18" charset="0"/>
                </a:rPr>
                <a:t>}</a:t>
              </a:r>
              <a:endParaRPr sz="2000">
                <a:latin typeface="Times New Roman" panose="02020603050405020304" pitchFamily="18" charset="0"/>
                <a:cs typeface="Times New Roman" panose="02020603050405020304" pitchFamily="18" charset="0"/>
              </a:endParaRPr>
            </a:p>
          </p:txBody>
        </p:sp>
      </p:grpSp>
      <p:sp>
        <p:nvSpPr>
          <p:cNvPr id="9" name="object 6"/>
          <p:cNvSpPr txBox="1"/>
          <p:nvPr/>
        </p:nvSpPr>
        <p:spPr>
          <a:xfrm>
            <a:off x="1100958" y="5399295"/>
            <a:ext cx="3937000" cy="452120"/>
          </a:xfrm>
          <a:prstGeom prst="rect">
            <a:avLst/>
          </a:prstGeom>
        </p:spPr>
        <p:txBody>
          <a:bodyPr vert="horz" wrap="square" lIns="0" tIns="12700" rIns="0" bIns="0" rtlCol="0">
            <a:spAutoFit/>
          </a:bodyPr>
          <a:lstStyle/>
          <a:p>
            <a:pPr marL="12700">
              <a:lnSpc>
                <a:spcPct val="100000"/>
              </a:lnSpc>
              <a:spcBef>
                <a:spcPts val="100"/>
              </a:spcBef>
            </a:pPr>
            <a:r>
              <a:rPr sz="2800" dirty="0">
                <a:solidFill>
                  <a:srgbClr val="800000"/>
                </a:solidFill>
                <a:latin typeface="微软雅黑" panose="020B0503020204020204" pitchFamily="34" charset="-122"/>
                <a:ea typeface="微软雅黑" panose="020B0503020204020204" pitchFamily="34" charset="-122"/>
                <a:cs typeface="黑体" panose="02010609060101010101" charset="-122"/>
              </a:rPr>
              <a:t>这种解决方法是否可行</a:t>
            </a:r>
            <a:r>
              <a:rPr sz="2800" dirty="0">
                <a:solidFill>
                  <a:srgbClr val="941100"/>
                </a:solidFill>
                <a:latin typeface="微软雅黑" panose="020B0503020204020204" pitchFamily="34" charset="-122"/>
                <a:ea typeface="微软雅黑" panose="020B0503020204020204" pitchFamily="34" charset="-122"/>
                <a:cs typeface="黑体" panose="02010609060101010101" charset="-122"/>
              </a:rPr>
              <a:t>？</a:t>
            </a:r>
            <a:endParaRPr sz="2800" dirty="0">
              <a:latin typeface="微软雅黑" panose="020B0503020204020204" pitchFamily="34" charset="-122"/>
              <a:ea typeface="微软雅黑" panose="020B0503020204020204" pitchFamily="34" charset="-122"/>
              <a:cs typeface="黑体" panose="02010609060101010101" charset="-122"/>
            </a:endParaRPr>
          </a:p>
        </p:txBody>
      </p:sp>
      <p:grpSp>
        <p:nvGrpSpPr>
          <p:cNvPr id="12" name="组合 11"/>
          <p:cNvGrpSpPr/>
          <p:nvPr/>
        </p:nvGrpSpPr>
        <p:grpSpPr>
          <a:xfrm>
            <a:off x="7541327" y="2053720"/>
            <a:ext cx="2327887" cy="3136061"/>
            <a:chOff x="7783065" y="1733119"/>
            <a:chExt cx="1791193" cy="2439501"/>
          </a:xfrm>
        </p:grpSpPr>
        <p:sp>
          <p:nvSpPr>
            <p:cNvPr id="10" name="object 7"/>
            <p:cNvSpPr/>
            <p:nvPr/>
          </p:nvSpPr>
          <p:spPr>
            <a:xfrm>
              <a:off x="7783065" y="1733119"/>
              <a:ext cx="1791193" cy="2439501"/>
            </a:xfrm>
            <a:prstGeom prst="rect">
              <a:avLst/>
            </a:prstGeom>
            <a:blipFill>
              <a:blip r:embed="rId3" cstate="print"/>
              <a:stretch>
                <a:fillRect/>
              </a:stretch>
            </a:blipFill>
          </p:spPr>
          <p:txBody>
            <a:bodyPr wrap="square" lIns="0" tIns="0" rIns="0" bIns="0" rtlCol="0"/>
            <a:lstStyle/>
            <a:p>
              <a:endParaRPr/>
            </a:p>
          </p:txBody>
        </p:sp>
        <p:sp>
          <p:nvSpPr>
            <p:cNvPr id="11" name="object 8"/>
            <p:cNvSpPr txBox="1"/>
            <p:nvPr/>
          </p:nvSpPr>
          <p:spPr>
            <a:xfrm>
              <a:off x="8911042" y="2669932"/>
              <a:ext cx="279400" cy="635000"/>
            </a:xfrm>
            <a:prstGeom prst="rect">
              <a:avLst/>
            </a:prstGeom>
          </p:spPr>
          <p:txBody>
            <a:bodyPr vert="horz" wrap="square" lIns="0" tIns="12700" rIns="0" bIns="0" rtlCol="0">
              <a:spAutoFit/>
            </a:bodyPr>
            <a:lstStyle/>
            <a:p>
              <a:pPr marL="12700">
                <a:lnSpc>
                  <a:spcPct val="100000"/>
                </a:lnSpc>
                <a:spcBef>
                  <a:spcPts val="100"/>
                </a:spcBef>
              </a:pPr>
              <a:r>
                <a:rPr sz="4000" dirty="0">
                  <a:solidFill>
                    <a:srgbClr val="3333CC"/>
                  </a:solidFill>
                  <a:latin typeface="宋体" panose="02010600030101010101" pitchFamily="2" charset="-122"/>
                  <a:cs typeface="宋体" panose="02010600030101010101" pitchFamily="2" charset="-122"/>
                </a:rPr>
                <a:t>?</a:t>
              </a:r>
              <a:endParaRPr sz="4000">
                <a:latin typeface="宋体" panose="02010600030101010101" pitchFamily="2" charset="-122"/>
                <a:cs typeface="宋体" panose="02010600030101010101" pitchFamily="2" charset="-122"/>
              </a:endParaRPr>
            </a:p>
          </p:txBody>
        </p:sp>
      </p:grpSp>
    </p:spTree>
  </p:cSld>
  <p:clrMapOvr>
    <a:masterClrMapping/>
  </p:clrMapOvr>
  <mc:AlternateContent xmlns:mc="http://schemas.openxmlformats.org/markup-compatibility/2006" xmlns:p14="http://schemas.microsoft.com/office/powerpoint/2010/main">
    <mc:Choice Requires="p14">
      <p:transition spd="slow" p14:dur="2000" advTm="46451"/>
    </mc:Choice>
    <mc:Fallback xmlns="">
      <p:transition spd="slow" advTm="46451"/>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考虑下面的代码：</a:t>
            </a:r>
          </a:p>
        </p:txBody>
      </p:sp>
      <p:sp>
        <p:nvSpPr>
          <p:cNvPr id="4" name="灯片编号占位符 3"/>
          <p:cNvSpPr>
            <a:spLocks noGrp="1"/>
          </p:cNvSpPr>
          <p:nvPr>
            <p:ph type="sldNum" sz="quarter" idx="12"/>
          </p:nvPr>
        </p:nvSpPr>
        <p:spPr/>
        <p:txBody>
          <a:bodyPr/>
          <a:lstStyle/>
          <a:p>
            <a:fld id="{74D2AB8B-5816-41F2-8B4B-CA5C3E4E6A65}" type="slidenum">
              <a:rPr lang="zh-CN" altLang="en-US" smtClean="0"/>
              <a:t>5</a:t>
            </a:fld>
            <a:endParaRPr lang="zh-CN" altLang="en-US"/>
          </a:p>
        </p:txBody>
      </p:sp>
      <p:grpSp>
        <p:nvGrpSpPr>
          <p:cNvPr id="5" name="组合 4"/>
          <p:cNvGrpSpPr/>
          <p:nvPr/>
        </p:nvGrpSpPr>
        <p:grpSpPr>
          <a:xfrm>
            <a:off x="457074" y="1358540"/>
            <a:ext cx="10947400" cy="4466377"/>
            <a:chOff x="459488" y="1078957"/>
            <a:chExt cx="10947400" cy="4466377"/>
          </a:xfrm>
        </p:grpSpPr>
        <p:sp>
          <p:nvSpPr>
            <p:cNvPr id="6" name="object 3"/>
            <p:cNvSpPr txBox="1"/>
            <p:nvPr/>
          </p:nvSpPr>
          <p:spPr>
            <a:xfrm>
              <a:off x="916939" y="1078957"/>
              <a:ext cx="3930744" cy="2781300"/>
            </a:xfrm>
            <a:prstGeom prst="rect">
              <a:avLst/>
            </a:prstGeom>
          </p:spPr>
          <p:txBody>
            <a:bodyPr vert="horz" wrap="square" lIns="0" tIns="81280" rIns="0" bIns="0" rtlCol="0">
              <a:spAutoFit/>
            </a:bodyPr>
            <a:lstStyle/>
            <a:p>
              <a:pPr marL="12700">
                <a:lnSpc>
                  <a:spcPct val="100000"/>
                </a:lnSpc>
                <a:spcBef>
                  <a:spcPts val="640"/>
                </a:spcBef>
              </a:pPr>
              <a:r>
                <a:rPr sz="1800" b="0" spc="-5" dirty="0">
                  <a:latin typeface="Times New Roman" panose="02020603050405020304" pitchFamily="18" charset="0"/>
                  <a:cs typeface="Times New Roman" panose="02020603050405020304" pitchFamily="18" charset="0"/>
                </a:rPr>
                <a:t>public </a:t>
              </a:r>
              <a:r>
                <a:rPr sz="1800" b="0" dirty="0">
                  <a:latin typeface="Times New Roman" panose="02020603050405020304" pitchFamily="18" charset="0"/>
                  <a:cs typeface="Times New Roman" panose="02020603050405020304" pitchFamily="18" charset="0"/>
                </a:rPr>
                <a:t>class </a:t>
              </a:r>
              <a:r>
                <a:rPr sz="1800" b="0" spc="-50" dirty="0">
                  <a:latin typeface="Times New Roman" panose="02020603050405020304" pitchFamily="18" charset="0"/>
                  <a:cs typeface="Times New Roman" panose="02020603050405020304" pitchFamily="18" charset="0"/>
                </a:rPr>
                <a:t>Test</a:t>
              </a:r>
              <a:r>
                <a:rPr sz="1800" b="0" spc="-5" dirty="0">
                  <a:latin typeface="Times New Roman" panose="02020603050405020304" pitchFamily="18" charset="0"/>
                  <a:cs typeface="Times New Roman" panose="02020603050405020304" pitchFamily="18" charset="0"/>
                </a:rPr>
                <a:t> </a:t>
              </a:r>
              <a:r>
                <a:rPr sz="1800" b="0" dirty="0">
                  <a:latin typeface="Times New Roman" panose="02020603050405020304" pitchFamily="18" charset="0"/>
                  <a:cs typeface="Times New Roman" panose="02020603050405020304" pitchFamily="18" charset="0"/>
                </a:rPr>
                <a:t>{</a:t>
              </a:r>
              <a:endParaRPr sz="1800" dirty="0">
                <a:latin typeface="Times New Roman" panose="02020603050405020304" pitchFamily="18" charset="0"/>
                <a:cs typeface="Times New Roman" panose="02020603050405020304" pitchFamily="18" charset="0"/>
              </a:endParaRPr>
            </a:p>
            <a:p>
              <a:pPr marL="322580" marR="5080" indent="-155575">
                <a:lnSpc>
                  <a:spcPct val="125000"/>
                </a:lnSpc>
              </a:pPr>
              <a:r>
                <a:rPr sz="1800" b="0" spc="-5" dirty="0">
                  <a:latin typeface="Times New Roman" panose="02020603050405020304" pitchFamily="18" charset="0"/>
                  <a:cs typeface="Times New Roman" panose="02020603050405020304" pitchFamily="18" charset="0"/>
                </a:rPr>
                <a:t>public </a:t>
              </a:r>
              <a:r>
                <a:rPr sz="1800" b="0" spc="-15" dirty="0">
                  <a:latin typeface="Times New Roman" panose="02020603050405020304" pitchFamily="18" charset="0"/>
                  <a:cs typeface="Times New Roman" panose="02020603050405020304" pitchFamily="18" charset="0"/>
                </a:rPr>
                <a:t>static </a:t>
              </a:r>
              <a:r>
                <a:rPr sz="1800" b="0" spc="-5" dirty="0">
                  <a:latin typeface="Times New Roman" panose="02020603050405020304" pitchFamily="18" charset="0"/>
                  <a:cs typeface="Times New Roman" panose="02020603050405020304" pitchFamily="18" charset="0"/>
                </a:rPr>
                <a:t>void main(String[] </a:t>
              </a:r>
              <a:r>
                <a:rPr sz="1800" b="0" spc="-10" dirty="0">
                  <a:latin typeface="Times New Roman" panose="02020603050405020304" pitchFamily="18" charset="0"/>
                  <a:cs typeface="Times New Roman" panose="02020603050405020304" pitchFamily="18" charset="0"/>
                </a:rPr>
                <a:t>args) </a:t>
              </a:r>
              <a:r>
                <a:rPr sz="1800" b="0" dirty="0">
                  <a:latin typeface="Times New Roman" panose="02020603050405020304" pitchFamily="18" charset="0"/>
                  <a:cs typeface="Times New Roman" panose="02020603050405020304" pitchFamily="18" charset="0"/>
                </a:rPr>
                <a:t>{  </a:t>
              </a:r>
              <a:r>
                <a:rPr sz="1800" b="0" spc="-50" dirty="0">
                  <a:latin typeface="Times New Roman" panose="02020603050405020304" pitchFamily="18" charset="0"/>
                  <a:cs typeface="Times New Roman" panose="02020603050405020304" pitchFamily="18" charset="0"/>
                </a:rPr>
                <a:t>Test </a:t>
              </a:r>
              <a:r>
                <a:rPr sz="1800" b="0" dirty="0">
                  <a:latin typeface="Times New Roman" panose="02020603050405020304" pitchFamily="18" charset="0"/>
                  <a:cs typeface="Times New Roman" panose="02020603050405020304" pitchFamily="18" charset="0"/>
                </a:rPr>
                <a:t>t = </a:t>
              </a:r>
              <a:r>
                <a:rPr sz="1800" b="0" spc="-5" dirty="0">
                  <a:latin typeface="Times New Roman" panose="02020603050405020304" pitchFamily="18" charset="0"/>
                  <a:cs typeface="Times New Roman" panose="02020603050405020304" pitchFamily="18" charset="0"/>
                </a:rPr>
                <a:t>new</a:t>
              </a:r>
              <a:r>
                <a:rPr sz="1800" b="0" spc="30" dirty="0">
                  <a:latin typeface="Times New Roman" panose="02020603050405020304" pitchFamily="18" charset="0"/>
                  <a:cs typeface="Times New Roman" panose="02020603050405020304" pitchFamily="18" charset="0"/>
                </a:rPr>
                <a:t> </a:t>
              </a:r>
              <a:r>
                <a:rPr sz="1800" b="0" spc="-30" dirty="0">
                  <a:latin typeface="Times New Roman" panose="02020603050405020304" pitchFamily="18" charset="0"/>
                  <a:cs typeface="Times New Roman" panose="02020603050405020304" pitchFamily="18" charset="0"/>
                </a:rPr>
                <a:t>Test();</a:t>
              </a:r>
              <a:endParaRPr sz="1800" dirty="0">
                <a:latin typeface="Times New Roman" panose="02020603050405020304" pitchFamily="18" charset="0"/>
                <a:cs typeface="Times New Roman" panose="02020603050405020304" pitchFamily="18" charset="0"/>
              </a:endParaRPr>
            </a:p>
            <a:p>
              <a:pPr marL="322580">
                <a:lnSpc>
                  <a:spcPct val="100000"/>
                </a:lnSpc>
                <a:spcBef>
                  <a:spcPts val="540"/>
                </a:spcBef>
              </a:pPr>
              <a:r>
                <a:rPr sz="1800" b="0" spc="-10" dirty="0">
                  <a:latin typeface="Times New Roman" panose="02020603050405020304" pitchFamily="18" charset="0"/>
                  <a:cs typeface="Times New Roman" panose="02020603050405020304" pitchFamily="18" charset="0"/>
                </a:rPr>
                <a:t>Rectangle </a:t>
              </a:r>
              <a:r>
                <a:rPr sz="1800" b="0" dirty="0">
                  <a:latin typeface="Times New Roman" panose="02020603050405020304" pitchFamily="18" charset="0"/>
                  <a:cs typeface="Times New Roman" panose="02020603050405020304" pitchFamily="18" charset="0"/>
                </a:rPr>
                <a:t>r = </a:t>
              </a:r>
              <a:r>
                <a:rPr sz="1800" b="0" spc="-5" dirty="0">
                  <a:latin typeface="Times New Roman" panose="02020603050405020304" pitchFamily="18" charset="0"/>
                  <a:cs typeface="Times New Roman" panose="02020603050405020304" pitchFamily="18" charset="0"/>
                </a:rPr>
                <a:t>new</a:t>
              </a:r>
              <a:r>
                <a:rPr sz="1800" b="0" spc="-15" dirty="0">
                  <a:latin typeface="Times New Roman" panose="02020603050405020304" pitchFamily="18" charset="0"/>
                  <a:cs typeface="Times New Roman" panose="02020603050405020304" pitchFamily="18" charset="0"/>
                </a:rPr>
                <a:t> </a:t>
              </a:r>
              <a:r>
                <a:rPr sz="1800" b="0" spc="-10" dirty="0">
                  <a:latin typeface="Times New Roman" panose="02020603050405020304" pitchFamily="18" charset="0"/>
                  <a:cs typeface="Times New Roman" panose="02020603050405020304" pitchFamily="18" charset="0"/>
                </a:rPr>
                <a:t>Rectangle();</a:t>
              </a:r>
              <a:endParaRPr sz="1800" dirty="0">
                <a:latin typeface="Times New Roman" panose="02020603050405020304" pitchFamily="18" charset="0"/>
                <a:cs typeface="Times New Roman" panose="02020603050405020304" pitchFamily="18" charset="0"/>
              </a:endParaRPr>
            </a:p>
            <a:p>
              <a:pPr marL="322580" marR="976630">
                <a:lnSpc>
                  <a:spcPct val="125000"/>
                </a:lnSpc>
                <a:spcBef>
                  <a:spcPts val="100"/>
                </a:spcBef>
              </a:pPr>
              <a:r>
                <a:rPr sz="1800" b="0" spc="-10" dirty="0">
                  <a:latin typeface="Times New Roman" panose="02020603050405020304" pitchFamily="18" charset="0"/>
                  <a:cs typeface="Times New Roman" panose="02020603050405020304" pitchFamily="18" charset="0"/>
                </a:rPr>
                <a:t>Square </a:t>
              </a:r>
              <a:r>
                <a:rPr sz="1800" b="0" dirty="0">
                  <a:latin typeface="Times New Roman" panose="02020603050405020304" pitchFamily="18" charset="0"/>
                  <a:cs typeface="Times New Roman" panose="02020603050405020304" pitchFamily="18" charset="0"/>
                </a:rPr>
                <a:t>s = </a:t>
              </a:r>
              <a:r>
                <a:rPr sz="1800" b="0" spc="-5" dirty="0">
                  <a:latin typeface="Times New Roman" panose="02020603050405020304" pitchFamily="18" charset="0"/>
                  <a:cs typeface="Times New Roman" panose="02020603050405020304" pitchFamily="18" charset="0"/>
                </a:rPr>
                <a:t>new </a:t>
              </a:r>
              <a:r>
                <a:rPr sz="1800" b="0" spc="-10" dirty="0">
                  <a:latin typeface="Times New Roman" panose="02020603050405020304" pitchFamily="18" charset="0"/>
                  <a:cs typeface="Times New Roman" panose="02020603050405020304" pitchFamily="18" charset="0"/>
                </a:rPr>
                <a:t>Square();  </a:t>
              </a:r>
              <a:r>
                <a:rPr sz="1800" b="0" dirty="0">
                  <a:solidFill>
                    <a:srgbClr val="FF0000"/>
                  </a:solidFill>
                  <a:latin typeface="Times New Roman" panose="02020603050405020304" pitchFamily="18" charset="0"/>
                  <a:cs typeface="Times New Roman" panose="02020603050405020304" pitchFamily="18" charset="0"/>
                </a:rPr>
                <a:t>t.g(r);</a:t>
              </a:r>
              <a:endParaRPr sz="1800" dirty="0">
                <a:solidFill>
                  <a:srgbClr val="FF0000"/>
                </a:solidFill>
                <a:latin typeface="Times New Roman" panose="02020603050405020304" pitchFamily="18" charset="0"/>
                <a:cs typeface="Times New Roman" panose="02020603050405020304" pitchFamily="18" charset="0"/>
              </a:endParaRPr>
            </a:p>
            <a:p>
              <a:pPr marL="12700">
                <a:lnSpc>
                  <a:spcPct val="100000"/>
                </a:lnSpc>
                <a:spcBef>
                  <a:spcPts val="540"/>
                </a:spcBef>
                <a:tabLst>
                  <a:tab pos="384810" algn="l"/>
                </a:tabLst>
              </a:pPr>
              <a:r>
                <a:rPr sz="1800" b="0" spc="-5" dirty="0">
                  <a:solidFill>
                    <a:srgbClr val="00B050"/>
                  </a:solidFill>
                  <a:latin typeface="Times New Roman" panose="02020603050405020304" pitchFamily="18" charset="0"/>
                  <a:cs typeface="Times New Roman" panose="02020603050405020304" pitchFamily="18" charset="0"/>
                </a:rPr>
                <a:t>//</a:t>
              </a:r>
              <a:r>
                <a:rPr lang="en-US" altLang="zh-CN" sz="1800" b="0" spc="-5" dirty="0">
                  <a:solidFill>
                    <a:srgbClr val="00B050"/>
                  </a:solidFill>
                  <a:latin typeface="Times New Roman" panose="02020603050405020304" pitchFamily="18" charset="0"/>
                  <a:cs typeface="Times New Roman" panose="02020603050405020304" pitchFamily="18" charset="0"/>
                </a:rPr>
                <a:t>   </a:t>
              </a:r>
              <a:r>
                <a:rPr sz="1800" b="0" dirty="0" err="1">
                  <a:solidFill>
                    <a:srgbClr val="00B050"/>
                  </a:solidFill>
                  <a:latin typeface="Times New Roman" panose="02020603050405020304" pitchFamily="18" charset="0"/>
                  <a:cs typeface="Times New Roman" panose="02020603050405020304" pitchFamily="18" charset="0"/>
                </a:rPr>
                <a:t>t.g</a:t>
              </a:r>
              <a:r>
                <a:rPr sz="1800" b="0" dirty="0">
                  <a:solidFill>
                    <a:srgbClr val="00B050"/>
                  </a:solidFill>
                  <a:latin typeface="Times New Roman" panose="02020603050405020304" pitchFamily="18" charset="0"/>
                  <a:cs typeface="Times New Roman" panose="02020603050405020304" pitchFamily="18" charset="0"/>
                </a:rPr>
                <a:t>(s);</a:t>
              </a:r>
              <a:endParaRPr sz="1800" dirty="0">
                <a:solidFill>
                  <a:srgbClr val="00B050"/>
                </a:solidFill>
                <a:latin typeface="Times New Roman" panose="02020603050405020304" pitchFamily="18" charset="0"/>
                <a:cs typeface="Times New Roman" panose="02020603050405020304" pitchFamily="18" charset="0"/>
              </a:endParaRPr>
            </a:p>
            <a:p>
              <a:pPr marL="167640">
                <a:lnSpc>
                  <a:spcPct val="100000"/>
                </a:lnSpc>
                <a:spcBef>
                  <a:spcPts val="540"/>
                </a:spcBef>
              </a:pPr>
              <a:r>
                <a:rPr sz="1800" b="0" dirty="0">
                  <a:latin typeface="Times New Roman" panose="02020603050405020304" pitchFamily="18" charset="0"/>
                  <a:cs typeface="Times New Roman" panose="02020603050405020304" pitchFamily="18" charset="0"/>
                </a:rPr>
                <a:t>}</a:t>
              </a:r>
              <a:endParaRPr sz="1800" dirty="0">
                <a:latin typeface="Times New Roman" panose="02020603050405020304" pitchFamily="18" charset="0"/>
                <a:cs typeface="Times New Roman" panose="02020603050405020304" pitchFamily="18" charset="0"/>
              </a:endParaRPr>
            </a:p>
          </p:txBody>
        </p:sp>
        <p:sp>
          <p:nvSpPr>
            <p:cNvPr id="7" name="object 6"/>
            <p:cNvSpPr txBox="1"/>
            <p:nvPr/>
          </p:nvSpPr>
          <p:spPr>
            <a:xfrm>
              <a:off x="459488" y="3860257"/>
              <a:ext cx="10947400" cy="1685077"/>
            </a:xfrm>
            <a:prstGeom prst="rect">
              <a:avLst/>
            </a:prstGeom>
          </p:spPr>
          <p:txBody>
            <a:bodyPr vert="horz" wrap="square" lIns="0" tIns="81280" rIns="0" bIns="0" rtlCol="0">
              <a:spAutoFit/>
            </a:bodyPr>
            <a:lstStyle/>
            <a:p>
              <a:pPr marL="294640">
                <a:lnSpc>
                  <a:spcPct val="100000"/>
                </a:lnSpc>
                <a:spcBef>
                  <a:spcPts val="640"/>
                </a:spcBef>
              </a:pPr>
              <a:r>
                <a:rPr sz="1800" b="0" spc="-15" dirty="0">
                  <a:latin typeface="Times New Roman" panose="02020603050405020304" pitchFamily="18" charset="0"/>
                  <a:cs typeface="Times New Roman" panose="02020603050405020304" pitchFamily="18" charset="0"/>
                </a:rPr>
                <a:t>private </a:t>
              </a:r>
              <a:r>
                <a:rPr sz="1800" b="0" spc="-10" dirty="0">
                  <a:latin typeface="Times New Roman" panose="02020603050405020304" pitchFamily="18" charset="0"/>
                  <a:cs typeface="Times New Roman" panose="02020603050405020304" pitchFamily="18" charset="0"/>
                </a:rPr>
                <a:t>void g(Rectangle </a:t>
              </a:r>
              <a:r>
                <a:rPr sz="1800" b="0" dirty="0">
                  <a:latin typeface="Times New Roman" panose="02020603050405020304" pitchFamily="18" charset="0"/>
                  <a:cs typeface="Times New Roman" panose="02020603050405020304" pitchFamily="18" charset="0"/>
                </a:rPr>
                <a:t>r)</a:t>
              </a:r>
              <a:r>
                <a:rPr sz="1800" b="0" spc="20" dirty="0">
                  <a:latin typeface="Times New Roman" panose="02020603050405020304" pitchFamily="18" charset="0"/>
                  <a:cs typeface="Times New Roman" panose="02020603050405020304" pitchFamily="18" charset="0"/>
                </a:rPr>
                <a:t> </a:t>
              </a:r>
              <a:r>
                <a:rPr sz="1800" b="0" dirty="0">
                  <a:latin typeface="Times New Roman" panose="02020603050405020304" pitchFamily="18" charset="0"/>
                  <a:cs typeface="Times New Roman" panose="02020603050405020304" pitchFamily="18" charset="0"/>
                </a:rPr>
                <a:t>{</a:t>
              </a:r>
              <a:endParaRPr sz="1800" dirty="0">
                <a:latin typeface="Times New Roman" panose="02020603050405020304" pitchFamily="18" charset="0"/>
                <a:cs typeface="Times New Roman" panose="02020603050405020304" pitchFamily="18" charset="0"/>
              </a:endParaRPr>
            </a:p>
            <a:p>
              <a:pPr marL="449580">
                <a:lnSpc>
                  <a:spcPct val="100000"/>
                </a:lnSpc>
                <a:spcBef>
                  <a:spcPts val="540"/>
                </a:spcBef>
              </a:pPr>
              <a:r>
                <a:rPr sz="1800" b="0" spc="-20" dirty="0">
                  <a:solidFill>
                    <a:srgbClr val="FF0000"/>
                  </a:solidFill>
                  <a:latin typeface="Times New Roman" panose="02020603050405020304" pitchFamily="18" charset="0"/>
                  <a:cs typeface="Times New Roman" panose="02020603050405020304" pitchFamily="18" charset="0"/>
                </a:rPr>
                <a:t>r.setWidth(10);</a:t>
              </a:r>
              <a:endParaRPr sz="1800" dirty="0">
                <a:solidFill>
                  <a:srgbClr val="FF0000"/>
                </a:solidFill>
                <a:latin typeface="Times New Roman" panose="02020603050405020304" pitchFamily="18" charset="0"/>
                <a:cs typeface="Times New Roman" panose="02020603050405020304" pitchFamily="18" charset="0"/>
              </a:endParaRPr>
            </a:p>
            <a:p>
              <a:pPr marL="449580">
                <a:lnSpc>
                  <a:spcPct val="100000"/>
                </a:lnSpc>
                <a:spcBef>
                  <a:spcPts val="640"/>
                </a:spcBef>
              </a:pPr>
              <a:r>
                <a:rPr sz="1800" b="0" spc="-20" dirty="0">
                  <a:solidFill>
                    <a:srgbClr val="FF0000"/>
                  </a:solidFill>
                  <a:latin typeface="Times New Roman" panose="02020603050405020304" pitchFamily="18" charset="0"/>
                  <a:cs typeface="Times New Roman" panose="02020603050405020304" pitchFamily="18" charset="0"/>
                </a:rPr>
                <a:t>r.setHeight(20);</a:t>
              </a:r>
              <a:endParaRPr sz="1800" dirty="0">
                <a:solidFill>
                  <a:srgbClr val="FF0000"/>
                </a:solidFill>
                <a:latin typeface="Times New Roman" panose="02020603050405020304" pitchFamily="18" charset="0"/>
                <a:cs typeface="Times New Roman" panose="02020603050405020304" pitchFamily="18" charset="0"/>
              </a:endParaRPr>
            </a:p>
            <a:p>
              <a:pPr marL="449580">
                <a:lnSpc>
                  <a:spcPct val="100000"/>
                </a:lnSpc>
                <a:spcBef>
                  <a:spcPts val="540"/>
                </a:spcBef>
              </a:pPr>
              <a:r>
                <a:rPr sz="1800" b="0" dirty="0">
                  <a:latin typeface="Times New Roman" panose="02020603050405020304" pitchFamily="18" charset="0"/>
                  <a:cs typeface="Times New Roman" panose="02020603050405020304" pitchFamily="18" charset="0"/>
                </a:rPr>
                <a:t>assert </a:t>
              </a:r>
              <a:r>
                <a:rPr sz="1800" b="0" spc="-20" dirty="0">
                  <a:latin typeface="Times New Roman" panose="02020603050405020304" pitchFamily="18" charset="0"/>
                  <a:cs typeface="Times New Roman" panose="02020603050405020304" pitchFamily="18" charset="0"/>
                </a:rPr>
                <a:t>(r.getWidth()*r.getHeight() </a:t>
              </a:r>
              <a:r>
                <a:rPr sz="1800" b="0" spc="-5" dirty="0">
                  <a:latin typeface="Times New Roman" panose="02020603050405020304" pitchFamily="18" charset="0"/>
                  <a:cs typeface="Times New Roman" panose="02020603050405020304" pitchFamily="18" charset="0"/>
                </a:rPr>
                <a:t>==</a:t>
              </a:r>
              <a:r>
                <a:rPr sz="1800" b="0" spc="5" dirty="0">
                  <a:latin typeface="Times New Roman" panose="02020603050405020304" pitchFamily="18" charset="0"/>
                  <a:cs typeface="Times New Roman" panose="02020603050405020304" pitchFamily="18" charset="0"/>
                </a:rPr>
                <a:t> </a:t>
              </a:r>
              <a:r>
                <a:rPr sz="1800" b="0" spc="-5" dirty="0">
                  <a:latin typeface="Times New Roman" panose="02020603050405020304" pitchFamily="18" charset="0"/>
                  <a:cs typeface="Times New Roman" panose="02020603050405020304" pitchFamily="18" charset="0"/>
                </a:rPr>
                <a:t>200);</a:t>
              </a:r>
              <a:endParaRPr sz="1800" dirty="0">
                <a:latin typeface="Times New Roman" panose="02020603050405020304" pitchFamily="18" charset="0"/>
                <a:cs typeface="Times New Roman" panose="02020603050405020304" pitchFamily="18" charset="0"/>
              </a:endParaRPr>
            </a:p>
            <a:p>
              <a:pPr marL="139065">
                <a:lnSpc>
                  <a:spcPct val="100000"/>
                </a:lnSpc>
                <a:spcBef>
                  <a:spcPts val="75"/>
                </a:spcBef>
              </a:pPr>
              <a:r>
                <a:rPr sz="1800" b="0" dirty="0">
                  <a:latin typeface="Times New Roman" panose="02020603050405020304" pitchFamily="18" charset="0"/>
                  <a:cs typeface="Times New Roman" panose="02020603050405020304" pitchFamily="18" charset="0"/>
                </a:rPr>
                <a:t>}</a:t>
              </a:r>
              <a:endParaRPr sz="1800" dirty="0">
                <a:latin typeface="Times New Roman" panose="02020603050405020304" pitchFamily="18" charset="0"/>
                <a:cs typeface="Times New Roman" panose="02020603050405020304" pitchFamily="18" charset="0"/>
              </a:endParaRPr>
            </a:p>
          </p:txBody>
        </p:sp>
      </p:grpSp>
      <p:grpSp>
        <p:nvGrpSpPr>
          <p:cNvPr id="8" name="组合 7"/>
          <p:cNvGrpSpPr/>
          <p:nvPr/>
        </p:nvGrpSpPr>
        <p:grpSpPr>
          <a:xfrm>
            <a:off x="7783065" y="1734042"/>
            <a:ext cx="2401459" cy="3300413"/>
            <a:chOff x="7783065" y="1734042"/>
            <a:chExt cx="1791193" cy="2509201"/>
          </a:xfrm>
        </p:grpSpPr>
        <p:sp>
          <p:nvSpPr>
            <p:cNvPr id="9" name="object 7"/>
            <p:cNvSpPr/>
            <p:nvPr/>
          </p:nvSpPr>
          <p:spPr>
            <a:xfrm>
              <a:off x="7783065" y="1734042"/>
              <a:ext cx="1791193" cy="2509201"/>
            </a:xfrm>
            <a:prstGeom prst="rect">
              <a:avLst/>
            </a:prstGeom>
            <a:blipFill>
              <a:blip r:embed="rId3" cstate="print"/>
              <a:stretch>
                <a:fillRect/>
              </a:stretch>
            </a:blipFill>
          </p:spPr>
          <p:txBody>
            <a:bodyPr wrap="square" lIns="0" tIns="0" rIns="0" bIns="0" rtlCol="0"/>
            <a:lstStyle/>
            <a:p>
              <a:endParaRPr/>
            </a:p>
          </p:txBody>
        </p:sp>
        <p:sp>
          <p:nvSpPr>
            <p:cNvPr id="10" name="object 8"/>
            <p:cNvSpPr txBox="1"/>
            <p:nvPr/>
          </p:nvSpPr>
          <p:spPr>
            <a:xfrm>
              <a:off x="8839034" y="2453907"/>
              <a:ext cx="279400" cy="635000"/>
            </a:xfrm>
            <a:prstGeom prst="rect">
              <a:avLst/>
            </a:prstGeom>
          </p:spPr>
          <p:txBody>
            <a:bodyPr vert="horz" wrap="square" lIns="0" tIns="12700" rIns="0" bIns="0" rtlCol="0">
              <a:spAutoFit/>
            </a:bodyPr>
            <a:lstStyle/>
            <a:p>
              <a:pPr marL="12700">
                <a:lnSpc>
                  <a:spcPct val="100000"/>
                </a:lnSpc>
                <a:spcBef>
                  <a:spcPts val="100"/>
                </a:spcBef>
              </a:pPr>
              <a:r>
                <a:rPr sz="4000" dirty="0">
                  <a:solidFill>
                    <a:srgbClr val="3333CC"/>
                  </a:solidFill>
                  <a:latin typeface="宋体" panose="02010600030101010101" pitchFamily="2" charset="-122"/>
                  <a:cs typeface="宋体" panose="02010600030101010101" pitchFamily="2" charset="-122"/>
                </a:rPr>
                <a:t>?</a:t>
              </a:r>
              <a:endParaRPr sz="4000">
                <a:latin typeface="宋体" panose="02010600030101010101" pitchFamily="2" charset="-122"/>
                <a:cs typeface="宋体" panose="02010600030101010101" pitchFamily="2" charset="-122"/>
              </a:endParaRPr>
            </a:p>
          </p:txBody>
        </p:sp>
        <p:sp>
          <p:nvSpPr>
            <p:cNvPr id="11" name="object 9"/>
            <p:cNvSpPr/>
            <p:nvPr/>
          </p:nvSpPr>
          <p:spPr>
            <a:xfrm>
              <a:off x="8472262" y="2780928"/>
              <a:ext cx="480695" cy="504825"/>
            </a:xfrm>
            <a:custGeom>
              <a:avLst/>
              <a:gdLst/>
              <a:ahLst/>
              <a:cxnLst/>
              <a:rect l="l" t="t" r="r" b="b"/>
              <a:pathLst>
                <a:path w="480695" h="504825">
                  <a:moveTo>
                    <a:pt x="480483" y="0"/>
                  </a:moveTo>
                  <a:lnTo>
                    <a:pt x="0" y="504824"/>
                  </a:lnTo>
                </a:path>
              </a:pathLst>
            </a:custGeom>
            <a:ln w="28574">
              <a:solidFill>
                <a:srgbClr val="434DD6"/>
              </a:solidFill>
            </a:ln>
          </p:spPr>
          <p:txBody>
            <a:bodyPr wrap="square" lIns="0" tIns="0" rIns="0" bIns="0" rtlCol="0"/>
            <a:lstStyle/>
            <a:p>
              <a:endParaRPr/>
            </a:p>
          </p:txBody>
        </p:sp>
      </p:grpSp>
      <p:sp>
        <p:nvSpPr>
          <p:cNvPr id="12" name="矩形 11"/>
          <p:cNvSpPr/>
          <p:nvPr/>
        </p:nvSpPr>
        <p:spPr>
          <a:xfrm>
            <a:off x="2872548" y="5658166"/>
            <a:ext cx="6134818" cy="646331"/>
          </a:xfrm>
          <a:prstGeom prst="rect">
            <a:avLst/>
          </a:prstGeom>
        </p:spPr>
        <p:txBody>
          <a:bodyPr wrap="square">
            <a:spAutoFit/>
          </a:bodyPr>
          <a:lstStyle/>
          <a:p>
            <a:pPr marL="12700">
              <a:lnSpc>
                <a:spcPct val="100000"/>
              </a:lnSpc>
              <a:spcBef>
                <a:spcPts val="765"/>
              </a:spcBef>
            </a:pPr>
            <a:r>
              <a:rPr lang="zh-CN" altLang="en-US" dirty="0">
                <a:solidFill>
                  <a:srgbClr val="800000"/>
                </a:solidFill>
                <a:latin typeface="微软雅黑" panose="020B0503020204020204" pitchFamily="34" charset="-122"/>
                <a:ea typeface="微软雅黑" panose="020B0503020204020204" pitchFamily="34" charset="-122"/>
                <a:cs typeface="Times New Roman" panose="02020603050405020304" pitchFamily="18" charset="0"/>
              </a:rPr>
              <a:t>如果传给方法</a:t>
            </a:r>
            <a:r>
              <a:rPr lang="en-US" altLang="zh-CN" dirty="0">
                <a:solidFill>
                  <a:srgbClr val="941100"/>
                </a:solidFill>
                <a:latin typeface="微软雅黑" panose="020B0503020204020204" pitchFamily="34" charset="-122"/>
                <a:ea typeface="微软雅黑" panose="020B0503020204020204" pitchFamily="34" charset="-122"/>
                <a:cs typeface="Times New Roman" panose="02020603050405020304" pitchFamily="18" charset="0"/>
              </a:rPr>
              <a:t>g</a:t>
            </a:r>
            <a:r>
              <a:rPr lang="zh-CN" altLang="en-US" dirty="0">
                <a:solidFill>
                  <a:srgbClr val="800000"/>
                </a:solidFill>
                <a:latin typeface="微软雅黑" panose="020B0503020204020204" pitchFamily="34" charset="-122"/>
                <a:ea typeface="微软雅黑" panose="020B0503020204020204" pitchFamily="34" charset="-122"/>
                <a:cs typeface="Times New Roman" panose="02020603050405020304" pitchFamily="18" charset="0"/>
              </a:rPr>
              <a:t>的参数是</a:t>
            </a:r>
            <a:r>
              <a:rPr lang="en-US" altLang="zh-CN" dirty="0">
                <a:solidFill>
                  <a:srgbClr val="941100"/>
                </a:solidFill>
                <a:latin typeface="微软雅黑" panose="020B0503020204020204" pitchFamily="34" charset="-122"/>
                <a:ea typeface="微软雅黑" panose="020B0503020204020204" pitchFamily="34" charset="-122"/>
                <a:cs typeface="Times New Roman" panose="02020603050405020304" pitchFamily="18" charset="0"/>
              </a:rPr>
              <a:t>Rectangle</a:t>
            </a:r>
            <a:r>
              <a:rPr lang="zh-CN" altLang="en-US" dirty="0">
                <a:solidFill>
                  <a:srgbClr val="800000"/>
                </a:solidFill>
                <a:latin typeface="微软雅黑" panose="020B0503020204020204" pitchFamily="34" charset="-122"/>
                <a:ea typeface="微软雅黑" panose="020B0503020204020204" pitchFamily="34" charset="-122"/>
                <a:cs typeface="Times New Roman" panose="02020603050405020304" pitchFamily="18" charset="0"/>
              </a:rPr>
              <a:t>类型的对象</a:t>
            </a:r>
            <a:r>
              <a:rPr lang="zh-CN" altLang="en-US" dirty="0">
                <a:solidFill>
                  <a:srgbClr val="9411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dirty="0">
                <a:solidFill>
                  <a:srgbClr val="800000"/>
                </a:solidFill>
                <a:latin typeface="微软雅黑" panose="020B0503020204020204" pitchFamily="34" charset="-122"/>
                <a:ea typeface="微软雅黑" panose="020B0503020204020204" pitchFamily="34" charset="-122"/>
                <a:cs typeface="Times New Roman" panose="02020603050405020304" pitchFamily="18" charset="0"/>
              </a:rPr>
              <a:t>则没有问题</a:t>
            </a:r>
            <a:r>
              <a:rPr lang="zh-CN" altLang="en-US" dirty="0">
                <a:solidFill>
                  <a:srgbClr val="9411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dirty="0">
                <a:solidFill>
                  <a:srgbClr val="800000"/>
                </a:solidFill>
                <a:latin typeface="微软雅黑" panose="020B0503020204020204" pitchFamily="34" charset="-122"/>
                <a:ea typeface="微软雅黑" panose="020B0503020204020204" pitchFamily="34" charset="-122"/>
                <a:cs typeface="Times New Roman" panose="02020603050405020304" pitchFamily="18" charset="0"/>
              </a:rPr>
              <a:t>如果是</a:t>
            </a:r>
            <a:r>
              <a:rPr lang="en-US" altLang="zh-CN" dirty="0">
                <a:solidFill>
                  <a:srgbClr val="941100"/>
                </a:solidFill>
                <a:latin typeface="微软雅黑" panose="020B0503020204020204" pitchFamily="34" charset="-122"/>
                <a:ea typeface="微软雅黑" panose="020B0503020204020204" pitchFamily="34" charset="-122"/>
                <a:cs typeface="Times New Roman" panose="02020603050405020304" pitchFamily="18" charset="0"/>
              </a:rPr>
              <a:t>Square</a:t>
            </a:r>
            <a:r>
              <a:rPr lang="zh-CN" altLang="en-US" dirty="0">
                <a:solidFill>
                  <a:srgbClr val="800000"/>
                </a:solidFill>
                <a:latin typeface="微软雅黑" panose="020B0503020204020204" pitchFamily="34" charset="-122"/>
                <a:ea typeface="微软雅黑" panose="020B0503020204020204" pitchFamily="34" charset="-122"/>
                <a:cs typeface="Times New Roman" panose="02020603050405020304" pitchFamily="18" charset="0"/>
              </a:rPr>
              <a:t>类型的对象</a:t>
            </a:r>
            <a:r>
              <a:rPr lang="zh-CN" altLang="en-US" dirty="0">
                <a:solidFill>
                  <a:srgbClr val="9411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dirty="0">
                <a:solidFill>
                  <a:srgbClr val="800000"/>
                </a:solidFill>
                <a:latin typeface="微软雅黑" panose="020B0503020204020204" pitchFamily="34" charset="-122"/>
                <a:ea typeface="微软雅黑" panose="020B0503020204020204" pitchFamily="34" charset="-122"/>
                <a:cs typeface="Times New Roman" panose="02020603050405020304" pitchFamily="18" charset="0"/>
              </a:rPr>
              <a:t>则出错</a:t>
            </a:r>
            <a:r>
              <a:rPr lang="zh-CN" altLang="en-US" dirty="0">
                <a:solidFill>
                  <a:srgbClr val="941100"/>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2000" advTm="104401"/>
    </mc:Choice>
    <mc:Fallback xmlns="">
      <p:transition spd="slow" advTm="104401"/>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000" dirty="0"/>
              <a:t>思考题：如何知道子类的行为符合父类的要求？</a:t>
            </a:r>
          </a:p>
        </p:txBody>
      </p:sp>
      <p:sp>
        <p:nvSpPr>
          <p:cNvPr id="3" name="内容占位符 2"/>
          <p:cNvSpPr>
            <a:spLocks noGrp="1"/>
          </p:cNvSpPr>
          <p:nvPr>
            <p:ph idx="1"/>
          </p:nvPr>
        </p:nvSpPr>
        <p:spPr>
          <a:xfrm>
            <a:off x="530661" y="1825625"/>
            <a:ext cx="10515600" cy="4351338"/>
          </a:xfrm>
        </p:spPr>
        <p:txBody>
          <a:bodyPr/>
          <a:lstStyle/>
          <a:p>
            <a:r>
              <a:rPr lang="zh-CN" altLang="en-US" sz="2400" dirty="0"/>
              <a:t>契约式设计 </a:t>
            </a:r>
            <a:r>
              <a:rPr lang="en-US" altLang="zh-CN" sz="2400" dirty="0"/>
              <a:t>(Design by Contract)</a:t>
            </a:r>
          </a:p>
          <a:p>
            <a:endParaRPr lang="en-US" altLang="zh-CN" sz="2400" dirty="0"/>
          </a:p>
          <a:p>
            <a:r>
              <a:rPr lang="zh-CN" altLang="en-US" sz="2400" dirty="0"/>
              <a:t>为了满足</a:t>
            </a:r>
            <a:r>
              <a:rPr lang="en-US" altLang="zh-CN" sz="2400" dirty="0" err="1"/>
              <a:t>Liskov</a:t>
            </a:r>
            <a:r>
              <a:rPr lang="zh-CN" altLang="en-US" sz="2400" dirty="0"/>
              <a:t>替换原则，设计时要求：</a:t>
            </a:r>
          </a:p>
          <a:p>
            <a:r>
              <a:rPr lang="zh-CN" altLang="en-US" sz="2400" dirty="0"/>
              <a:t>子类中方法的前置条件不能强于父类中相应方法的前置条件。</a:t>
            </a:r>
          </a:p>
          <a:p>
            <a:r>
              <a:rPr lang="zh-CN" altLang="en-US" sz="2400" dirty="0"/>
              <a:t>子类中方法的后置条件不能弱于父类中相应方法的后置条件。</a:t>
            </a:r>
          </a:p>
          <a:p>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t>6</a:t>
            </a:fld>
            <a:endParaRPr lang="zh-CN" altLang="en-US"/>
          </a:p>
        </p:txBody>
      </p:sp>
      <p:sp>
        <p:nvSpPr>
          <p:cNvPr id="5" name="矩形 4"/>
          <p:cNvSpPr/>
          <p:nvPr/>
        </p:nvSpPr>
        <p:spPr>
          <a:xfrm>
            <a:off x="2407083" y="4753300"/>
            <a:ext cx="6023124" cy="523220"/>
          </a:xfrm>
          <a:prstGeom prst="rect">
            <a:avLst/>
          </a:prstGeom>
        </p:spPr>
        <p:txBody>
          <a:bodyPr wrap="none">
            <a:spAutoFit/>
          </a:bodyPr>
          <a:lstStyle/>
          <a:p>
            <a:pPr marL="12700">
              <a:lnSpc>
                <a:spcPct val="100000"/>
              </a:lnSpc>
              <a:spcBef>
                <a:spcPts val="100"/>
              </a:spcBef>
            </a:pPr>
            <a:r>
              <a:rPr lang="en-US" altLang="zh-CN" sz="2800" dirty="0" err="1">
                <a:solidFill>
                  <a:srgbClr val="800000"/>
                </a:solidFill>
                <a:latin typeface="微软雅黑" panose="020B0503020204020204" pitchFamily="34" charset="-122"/>
                <a:ea typeface="微软雅黑" panose="020B0503020204020204" pitchFamily="34" charset="-122"/>
                <a:cs typeface="华文细黑" panose="02010600040101010101" charset="-122"/>
              </a:rPr>
              <a:t>Liskov</a:t>
            </a:r>
            <a:r>
              <a:rPr lang="zh-CN" altLang="en-US" sz="2800" dirty="0">
                <a:solidFill>
                  <a:srgbClr val="800000"/>
                </a:solidFill>
                <a:latin typeface="微软雅黑" panose="020B0503020204020204" pitchFamily="34" charset="-122"/>
                <a:ea typeface="微软雅黑" panose="020B0503020204020204" pitchFamily="34" charset="-122"/>
                <a:cs typeface="华文细黑" panose="02010600040101010101" charset="-122"/>
              </a:rPr>
              <a:t> </a:t>
            </a:r>
            <a:r>
              <a:rPr lang="zh-CN" altLang="en-US" sz="2800" dirty="0">
                <a:solidFill>
                  <a:srgbClr val="941100"/>
                </a:solidFill>
                <a:latin typeface="微软雅黑" panose="020B0503020204020204" pitchFamily="34" charset="-122"/>
                <a:ea typeface="微软雅黑" panose="020B0503020204020204" pitchFamily="34" charset="-122"/>
                <a:cs typeface="华文细黑" panose="02010600040101010101" charset="-122"/>
              </a:rPr>
              <a:t>替换原则要求子类宽入严出！</a:t>
            </a:r>
            <a:endParaRPr lang="zh-CN" altLang="en-US" sz="2800" dirty="0">
              <a:latin typeface="微软雅黑" panose="020B0503020204020204" pitchFamily="34" charset="-122"/>
              <a:ea typeface="微软雅黑" panose="020B0503020204020204" pitchFamily="34" charset="-122"/>
              <a:cs typeface="华文细黑" panose="02010600040101010101" charset="-122"/>
            </a:endParaRPr>
          </a:p>
        </p:txBody>
      </p:sp>
      <p:grpSp>
        <p:nvGrpSpPr>
          <p:cNvPr id="6" name="组合 5"/>
          <p:cNvGrpSpPr/>
          <p:nvPr/>
        </p:nvGrpSpPr>
        <p:grpSpPr>
          <a:xfrm>
            <a:off x="9144003" y="2104700"/>
            <a:ext cx="2209797" cy="2648600"/>
            <a:chOff x="8366348" y="1807897"/>
            <a:chExt cx="2209797" cy="2648600"/>
          </a:xfrm>
        </p:grpSpPr>
        <p:sp>
          <p:nvSpPr>
            <p:cNvPr id="7" name="object 4"/>
            <p:cNvSpPr/>
            <p:nvPr/>
          </p:nvSpPr>
          <p:spPr>
            <a:xfrm>
              <a:off x="8366348" y="1807897"/>
              <a:ext cx="2209797" cy="2648600"/>
            </a:xfrm>
            <a:prstGeom prst="rect">
              <a:avLst/>
            </a:prstGeom>
            <a:blipFill>
              <a:blip r:embed="rId3" cstate="print"/>
              <a:stretch>
                <a:fillRect/>
              </a:stretch>
            </a:blipFill>
          </p:spPr>
          <p:txBody>
            <a:bodyPr wrap="square" lIns="0" tIns="0" rIns="0" bIns="0" rtlCol="0"/>
            <a:lstStyle/>
            <a:p>
              <a:endParaRPr/>
            </a:p>
          </p:txBody>
        </p:sp>
        <p:sp>
          <p:nvSpPr>
            <p:cNvPr id="8" name="object 5"/>
            <p:cNvSpPr/>
            <p:nvPr/>
          </p:nvSpPr>
          <p:spPr>
            <a:xfrm>
              <a:off x="9264350" y="2924944"/>
              <a:ext cx="480695" cy="504825"/>
            </a:xfrm>
            <a:custGeom>
              <a:avLst/>
              <a:gdLst/>
              <a:ahLst/>
              <a:cxnLst/>
              <a:rect l="l" t="t" r="r" b="b"/>
              <a:pathLst>
                <a:path w="480695" h="504825">
                  <a:moveTo>
                    <a:pt x="480483" y="0"/>
                  </a:moveTo>
                  <a:lnTo>
                    <a:pt x="0" y="504824"/>
                  </a:lnTo>
                </a:path>
              </a:pathLst>
            </a:custGeom>
            <a:ln w="28574">
              <a:solidFill>
                <a:srgbClr val="434DD6"/>
              </a:solidFill>
            </a:ln>
          </p:spPr>
          <p:txBody>
            <a:bodyPr wrap="square" lIns="0" tIns="0" rIns="0" bIns="0" rtlCol="0"/>
            <a:lstStyle/>
            <a:p>
              <a:endParaRPr/>
            </a:p>
          </p:txBody>
        </p:sp>
      </p:grpSp>
    </p:spTree>
  </p:cSld>
  <p:clrMapOvr>
    <a:masterClrMapping/>
  </p:clrMapOvr>
  <mc:AlternateContent xmlns:mc="http://schemas.openxmlformats.org/markup-compatibility/2006" xmlns:p14="http://schemas.microsoft.com/office/powerpoint/2010/main">
    <mc:Choice Requires="p14">
      <p:transition spd="slow" p14:dur="2000" advTm="154644"/>
    </mc:Choice>
    <mc:Fallback xmlns="">
      <p:transition spd="slow" advTm="154644"/>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baseline="-3000" dirty="0">
                <a:solidFill>
                  <a:srgbClr val="800000"/>
                </a:solidFill>
              </a:rPr>
              <a:t>依赖倒置原则</a:t>
            </a:r>
            <a:r>
              <a:rPr lang="zh-CN" altLang="en-US" sz="3600" spc="-97" baseline="-3000" dirty="0">
                <a:solidFill>
                  <a:srgbClr val="800000"/>
                </a:solidFill>
              </a:rPr>
              <a:t> </a:t>
            </a:r>
            <a:r>
              <a:rPr lang="en-US" altLang="zh-CN" sz="3600" spc="-5" dirty="0">
                <a:solidFill>
                  <a:srgbClr val="800000"/>
                </a:solidFill>
                <a:latin typeface="Arial" panose="020B0604020202020204"/>
                <a:cs typeface="Arial" panose="020B0604020202020204"/>
              </a:rPr>
              <a:t>(</a:t>
            </a:r>
            <a:r>
              <a:rPr lang="en-US" altLang="zh-CN" sz="3600" spc="-5" dirty="0">
                <a:solidFill>
                  <a:srgbClr val="941100"/>
                </a:solidFill>
                <a:latin typeface="Comic Sans MS" panose="030F0702030302020204"/>
                <a:cs typeface="Comic Sans MS" panose="030F0702030302020204"/>
              </a:rPr>
              <a:t>Dependency Inversion </a:t>
            </a:r>
            <a:r>
              <a:rPr lang="en-US" altLang="zh-CN" sz="3600" dirty="0">
                <a:solidFill>
                  <a:srgbClr val="941100"/>
                </a:solidFill>
                <a:latin typeface="Comic Sans MS" panose="030F0702030302020204"/>
                <a:cs typeface="Comic Sans MS" panose="030F0702030302020204"/>
              </a:rPr>
              <a:t>Principle,</a:t>
            </a:r>
            <a:r>
              <a:rPr lang="en-US" altLang="zh-CN" sz="3600" spc="-5" dirty="0">
                <a:solidFill>
                  <a:srgbClr val="941100"/>
                </a:solidFill>
                <a:latin typeface="Comic Sans MS" panose="030F0702030302020204"/>
                <a:cs typeface="Comic Sans MS" panose="030F0702030302020204"/>
              </a:rPr>
              <a:t> </a:t>
            </a:r>
            <a:r>
              <a:rPr lang="en-US" altLang="zh-CN" sz="3600" dirty="0">
                <a:solidFill>
                  <a:srgbClr val="941100"/>
                </a:solidFill>
                <a:latin typeface="Comic Sans MS" panose="030F0702030302020204"/>
                <a:cs typeface="Comic Sans MS" panose="030F0702030302020204"/>
              </a:rPr>
              <a:t>DIP)</a:t>
            </a:r>
            <a:endParaRPr lang="zh-CN" altLang="en-US" sz="3600" dirty="0"/>
          </a:p>
        </p:txBody>
      </p:sp>
      <p:sp>
        <p:nvSpPr>
          <p:cNvPr id="3" name="内容占位符 2"/>
          <p:cNvSpPr>
            <a:spLocks noGrp="1"/>
          </p:cNvSpPr>
          <p:nvPr>
            <p:ph idx="1"/>
          </p:nvPr>
        </p:nvSpPr>
        <p:spPr/>
        <p:txBody>
          <a:bodyPr/>
          <a:lstStyle/>
          <a:p>
            <a:r>
              <a:rPr lang="zh-CN" altLang="en-US" dirty="0">
                <a:latin typeface="黑体" panose="02010609060101010101" charset="-122"/>
                <a:cs typeface="黑体" panose="02010609060101010101" charset="-122"/>
              </a:rPr>
              <a:t>依赖倒置原则指的是依赖关系应该是尽量依赖接口</a:t>
            </a:r>
            <a:r>
              <a:rPr lang="en-US" altLang="zh-CN" dirty="0">
                <a:latin typeface="黑体" panose="02010609060101010101" charset="-122"/>
                <a:cs typeface="黑体" panose="02010609060101010101" charset="-122"/>
              </a:rPr>
              <a:t>(</a:t>
            </a:r>
            <a:r>
              <a:rPr lang="zh-CN" altLang="en-US" dirty="0">
                <a:latin typeface="黑体" panose="02010609060101010101" charset="-122"/>
                <a:cs typeface="黑体" panose="02010609060101010101" charset="-122"/>
              </a:rPr>
              <a:t>或抽象类</a:t>
            </a:r>
            <a:r>
              <a:rPr lang="en-US" altLang="zh-CN" dirty="0">
                <a:latin typeface="黑体" panose="02010609060101010101" charset="-122"/>
                <a:cs typeface="黑体" panose="02010609060101010101" charset="-122"/>
              </a:rPr>
              <a:t>)</a:t>
            </a:r>
            <a:r>
              <a:rPr lang="zh-CN" altLang="en-US" dirty="0">
                <a:latin typeface="黑体" panose="02010609060101010101" charset="-122"/>
                <a:cs typeface="黑体" panose="02010609060101010101" charset="-122"/>
              </a:rPr>
              <a:t>，而不是依赖于具体类。</a:t>
            </a:r>
          </a:p>
          <a:p>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t>7</a:t>
            </a:fld>
            <a:endParaRPr lang="zh-CN" altLang="en-US"/>
          </a:p>
        </p:txBody>
      </p:sp>
      <p:sp>
        <p:nvSpPr>
          <p:cNvPr id="5" name="object 4"/>
          <p:cNvSpPr/>
          <p:nvPr/>
        </p:nvSpPr>
        <p:spPr>
          <a:xfrm>
            <a:off x="1346073" y="2759409"/>
            <a:ext cx="9499854" cy="2554848"/>
          </a:xfrm>
          <a:prstGeom prst="rect">
            <a:avLst/>
          </a:prstGeom>
          <a:blipFill>
            <a:blip r:embed="rId3" cstate="print"/>
            <a:stretch>
              <a:fillRect/>
            </a:stretch>
          </a:blipFill>
        </p:spPr>
        <p:txBody>
          <a:bodyPr wrap="square" lIns="0" tIns="0" rIns="0" bIns="0" rtlCol="0"/>
          <a:lstStyle/>
          <a:p>
            <a:endParaRPr/>
          </a:p>
        </p:txBody>
      </p:sp>
      <p:sp>
        <p:nvSpPr>
          <p:cNvPr id="6" name="object 6"/>
          <p:cNvSpPr txBox="1"/>
          <p:nvPr/>
        </p:nvSpPr>
        <p:spPr>
          <a:xfrm>
            <a:off x="3835427" y="5706737"/>
            <a:ext cx="4521146" cy="382156"/>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C00000"/>
                </a:solidFill>
                <a:latin typeface="微软雅黑" panose="020B0503020204020204" pitchFamily="34" charset="-122"/>
                <a:ea typeface="微软雅黑" panose="020B0503020204020204" pitchFamily="34" charset="-122"/>
                <a:cs typeface="华文细黑" panose="02010600040101010101" charset="-122"/>
              </a:rPr>
              <a:t>结构化设计中模块间的依赖关系</a:t>
            </a:r>
          </a:p>
        </p:txBody>
      </p:sp>
      <p:sp>
        <p:nvSpPr>
          <p:cNvPr id="7" name="object 5"/>
          <p:cNvSpPr txBox="1"/>
          <p:nvPr/>
        </p:nvSpPr>
        <p:spPr>
          <a:xfrm>
            <a:off x="9343091" y="3173987"/>
            <a:ext cx="417195" cy="848360"/>
          </a:xfrm>
          <a:prstGeom prst="rect">
            <a:avLst/>
          </a:prstGeom>
        </p:spPr>
        <p:txBody>
          <a:bodyPr vert="horz" wrap="square" lIns="0" tIns="12700" rIns="0" bIns="0" rtlCol="0">
            <a:spAutoFit/>
          </a:bodyPr>
          <a:lstStyle/>
          <a:p>
            <a:pPr marL="12700">
              <a:lnSpc>
                <a:spcPct val="100000"/>
              </a:lnSpc>
              <a:spcBef>
                <a:spcPts val="100"/>
              </a:spcBef>
            </a:pPr>
            <a:r>
              <a:rPr sz="5400" dirty="0">
                <a:solidFill>
                  <a:srgbClr val="800000"/>
                </a:solidFill>
                <a:latin typeface="Arial Unicode MS"/>
                <a:cs typeface="Arial Unicode MS"/>
              </a:rPr>
              <a:t>✗</a:t>
            </a:r>
            <a:endParaRPr sz="5400" dirty="0">
              <a:latin typeface="Arial Unicode MS"/>
              <a:cs typeface="Arial Unicode MS"/>
            </a:endParaRPr>
          </a:p>
        </p:txBody>
      </p:sp>
    </p:spTree>
  </p:cSld>
  <p:clrMapOvr>
    <a:masterClrMapping/>
  </p:clrMapOvr>
  <mc:AlternateContent xmlns:mc="http://schemas.openxmlformats.org/markup-compatibility/2006" xmlns:p14="http://schemas.microsoft.com/office/powerpoint/2010/main">
    <mc:Choice Requires="p14">
      <p:transition spd="slow" p14:dur="2000" advTm="45866"/>
    </mc:Choice>
    <mc:Fallback xmlns="">
      <p:transition spd="slow" advTm="45866"/>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面向对象设计中的依赖关系</a:t>
            </a:r>
          </a:p>
        </p:txBody>
      </p:sp>
      <p:sp>
        <p:nvSpPr>
          <p:cNvPr id="4" name="灯片编号占位符 3"/>
          <p:cNvSpPr>
            <a:spLocks noGrp="1"/>
          </p:cNvSpPr>
          <p:nvPr>
            <p:ph type="sldNum" sz="quarter" idx="12"/>
          </p:nvPr>
        </p:nvSpPr>
        <p:spPr/>
        <p:txBody>
          <a:bodyPr/>
          <a:lstStyle/>
          <a:p>
            <a:fld id="{74D2AB8B-5816-41F2-8B4B-CA5C3E4E6A65}" type="slidenum">
              <a:rPr lang="zh-CN" altLang="en-US" smtClean="0"/>
              <a:t>8</a:t>
            </a:fld>
            <a:endParaRPr lang="zh-CN" altLang="en-US"/>
          </a:p>
        </p:txBody>
      </p:sp>
      <p:sp>
        <p:nvSpPr>
          <p:cNvPr id="5" name="object 3"/>
          <p:cNvSpPr/>
          <p:nvPr/>
        </p:nvSpPr>
        <p:spPr>
          <a:xfrm>
            <a:off x="2470601" y="1415638"/>
            <a:ext cx="8301831" cy="4935810"/>
          </a:xfrm>
          <a:prstGeom prst="rect">
            <a:avLst/>
          </a:prstGeom>
          <a:blipFill>
            <a:blip r:embed="rId3" cstate="print"/>
            <a:stretch>
              <a:fillRect/>
            </a:stretch>
          </a:blipFill>
        </p:spPr>
        <p:txBody>
          <a:bodyPr wrap="square" lIns="0" tIns="0" rIns="0" bIns="0" rtlCol="0"/>
          <a:lstStyle/>
          <a:p>
            <a:endParaRPr/>
          </a:p>
        </p:txBody>
      </p:sp>
      <p:sp>
        <p:nvSpPr>
          <p:cNvPr id="6" name="object 4"/>
          <p:cNvSpPr txBox="1"/>
          <p:nvPr/>
        </p:nvSpPr>
        <p:spPr>
          <a:xfrm>
            <a:off x="1443672" y="2552385"/>
            <a:ext cx="3128327" cy="443711"/>
          </a:xfrm>
          <a:prstGeom prst="rect">
            <a:avLst/>
          </a:prstGeom>
        </p:spPr>
        <p:txBody>
          <a:bodyPr vert="horz" wrap="square" lIns="0" tIns="12700" rIns="0" bIns="0" rtlCol="0">
            <a:spAutoFit/>
          </a:bodyPr>
          <a:lstStyle/>
          <a:p>
            <a:pPr marL="12700">
              <a:lnSpc>
                <a:spcPct val="100000"/>
              </a:lnSpc>
              <a:spcBef>
                <a:spcPts val="100"/>
              </a:spcBef>
            </a:pPr>
            <a:r>
              <a:rPr sz="2800" spc="-5" dirty="0">
                <a:latin typeface="微软雅黑" panose="020B0503020204020204" pitchFamily="34" charset="-122"/>
                <a:ea typeface="微软雅黑" panose="020B0503020204020204" pitchFamily="34" charset="-122"/>
                <a:cs typeface="Arial" panose="020B0604020202020204"/>
              </a:rPr>
              <a:t>OO</a:t>
            </a:r>
            <a:r>
              <a:rPr sz="2800" dirty="0">
                <a:latin typeface="微软雅黑" panose="020B0503020204020204" pitchFamily="34" charset="-122"/>
                <a:ea typeface="微软雅黑" panose="020B0503020204020204" pitchFamily="34" charset="-122"/>
                <a:cs typeface="Arial" panose="020B0604020202020204"/>
              </a:rPr>
              <a:t>D</a:t>
            </a:r>
            <a:r>
              <a:rPr sz="2800" dirty="0">
                <a:latin typeface="微软雅黑" panose="020B0503020204020204" pitchFamily="34" charset="-122"/>
                <a:ea typeface="微软雅黑" panose="020B0503020204020204" pitchFamily="34" charset="-122"/>
                <a:cs typeface="黑体" panose="02010609060101010101" charset="-122"/>
              </a:rPr>
              <a:t>中的依赖关系</a:t>
            </a:r>
          </a:p>
        </p:txBody>
      </p:sp>
    </p:spTree>
  </p:cSld>
  <p:clrMapOvr>
    <a:masterClrMapping/>
  </p:clrMapOvr>
  <mc:AlternateContent xmlns:mc="http://schemas.openxmlformats.org/markup-compatibility/2006" xmlns:p14="http://schemas.microsoft.com/office/powerpoint/2010/main">
    <mc:Choice Requires="p14">
      <p:transition spd="slow" p14:dur="2000" advTm="31982"/>
    </mc:Choice>
    <mc:Fallback xmlns="">
      <p:transition spd="slow" advTm="31982"/>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spc="-15" dirty="0">
                <a:solidFill>
                  <a:srgbClr val="800000"/>
                </a:solidFill>
                <a:latin typeface="黑体" panose="02010609060101010101" charset="-122"/>
                <a:cs typeface="黑体" panose="02010609060101010101" charset="-122"/>
              </a:rPr>
              <a:t>接口分离原则</a:t>
            </a:r>
            <a:r>
              <a:rPr lang="en-US" altLang="zh-CN" sz="3600" spc="-5" dirty="0">
                <a:solidFill>
                  <a:srgbClr val="800000"/>
                </a:solidFill>
                <a:latin typeface="黑体" panose="02010609060101010101" charset="-122"/>
                <a:cs typeface="黑体" panose="02010609060101010101" charset="-122"/>
              </a:rPr>
              <a:t>(</a:t>
            </a:r>
            <a:r>
              <a:rPr lang="en-US" altLang="zh-CN" sz="3600" spc="-5" dirty="0">
                <a:solidFill>
                  <a:srgbClr val="941100"/>
                </a:solidFill>
                <a:latin typeface="Calibri" panose="020F0502020204030204"/>
                <a:cs typeface="Calibri" panose="020F0502020204030204"/>
              </a:rPr>
              <a:t>Interface Segregation</a:t>
            </a:r>
            <a:r>
              <a:rPr lang="en-US" altLang="zh-CN" sz="3600" dirty="0">
                <a:solidFill>
                  <a:srgbClr val="941100"/>
                </a:solidFill>
                <a:latin typeface="Calibri" panose="020F0502020204030204"/>
                <a:cs typeface="Calibri" panose="020F0502020204030204"/>
              </a:rPr>
              <a:t> Principle, </a:t>
            </a:r>
            <a:r>
              <a:rPr lang="en-US" altLang="zh-CN" sz="3600" spc="-15" dirty="0">
                <a:solidFill>
                  <a:srgbClr val="941100"/>
                </a:solidFill>
                <a:latin typeface="Calibri" panose="020F0502020204030204"/>
                <a:cs typeface="Calibri" panose="020F0502020204030204"/>
              </a:rPr>
              <a:t>ISP</a:t>
            </a:r>
            <a:r>
              <a:rPr lang="en-US" altLang="zh-CN" sz="3600" spc="-15" dirty="0">
                <a:solidFill>
                  <a:srgbClr val="941100"/>
                </a:solidFill>
                <a:latin typeface="黑体" panose="02010609060101010101" charset="-122"/>
                <a:cs typeface="黑体" panose="02010609060101010101" charset="-122"/>
              </a:rPr>
              <a:t>)</a:t>
            </a:r>
            <a:endParaRPr lang="zh-CN" altLang="en-US" sz="3600" dirty="0"/>
          </a:p>
        </p:txBody>
      </p:sp>
      <p:sp>
        <p:nvSpPr>
          <p:cNvPr id="3" name="内容占位符 2"/>
          <p:cNvSpPr>
            <a:spLocks noGrp="1"/>
          </p:cNvSpPr>
          <p:nvPr>
            <p:ph idx="1"/>
          </p:nvPr>
        </p:nvSpPr>
        <p:spPr>
          <a:xfrm>
            <a:off x="838200" y="1690688"/>
            <a:ext cx="10515600" cy="4486275"/>
          </a:xfrm>
        </p:spPr>
        <p:txBody>
          <a:bodyPr/>
          <a:lstStyle/>
          <a:p>
            <a:r>
              <a:rPr lang="zh-CN" altLang="en-US" dirty="0">
                <a:latin typeface="黑体" panose="02010609060101010101" charset="-122"/>
                <a:cs typeface="黑体" panose="02010609060101010101" charset="-122"/>
              </a:rPr>
              <a:t>在设计时采用多个和特定客户类</a:t>
            </a:r>
            <a:r>
              <a:rPr lang="en-US" altLang="zh-CN" dirty="0">
                <a:latin typeface="黑体" panose="02010609060101010101" charset="-122"/>
                <a:cs typeface="黑体" panose="02010609060101010101" charset="-122"/>
              </a:rPr>
              <a:t>(</a:t>
            </a:r>
            <a:r>
              <a:rPr lang="en-US" altLang="zh-CN" dirty="0">
                <a:latin typeface="Calibri" panose="020F0502020204030204"/>
                <a:cs typeface="Calibri" panose="020F0502020204030204"/>
              </a:rPr>
              <a:t>clien</a:t>
            </a:r>
            <a:r>
              <a:rPr lang="en-US" altLang="zh-CN" spc="-10" dirty="0">
                <a:latin typeface="Calibri" panose="020F0502020204030204"/>
                <a:cs typeface="Calibri" panose="020F0502020204030204"/>
              </a:rPr>
              <a:t>t</a:t>
            </a:r>
            <a:r>
              <a:rPr lang="en-US" altLang="zh-CN" dirty="0">
                <a:latin typeface="黑体" panose="02010609060101010101" charset="-122"/>
                <a:cs typeface="黑体" panose="02010609060101010101" charset="-122"/>
              </a:rPr>
              <a:t>)</a:t>
            </a:r>
            <a:r>
              <a:rPr lang="zh-CN" altLang="en-US" dirty="0">
                <a:latin typeface="黑体" panose="02010609060101010101" charset="-122"/>
                <a:cs typeface="黑体" panose="02010609060101010101" charset="-122"/>
              </a:rPr>
              <a:t>有关的接口要比采用一个通用的接口要好。</a:t>
            </a:r>
          </a:p>
          <a:p>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t>9</a:t>
            </a:fld>
            <a:endParaRPr lang="zh-CN" altLang="en-US"/>
          </a:p>
        </p:txBody>
      </p:sp>
      <p:sp>
        <p:nvSpPr>
          <p:cNvPr id="5" name="object 4"/>
          <p:cNvSpPr/>
          <p:nvPr/>
        </p:nvSpPr>
        <p:spPr>
          <a:xfrm>
            <a:off x="6797634" y="2679996"/>
            <a:ext cx="4780473" cy="2257425"/>
          </a:xfrm>
          <a:prstGeom prst="rect">
            <a:avLst/>
          </a:prstGeom>
          <a:blipFill>
            <a:blip r:embed="rId3" cstate="print"/>
            <a:stretch>
              <a:fillRect/>
            </a:stretch>
          </a:blipFill>
        </p:spPr>
        <p:txBody>
          <a:bodyPr wrap="square" lIns="0" tIns="0" rIns="0" bIns="0" rtlCol="0"/>
          <a:lstStyle/>
          <a:p>
            <a:endParaRPr/>
          </a:p>
        </p:txBody>
      </p:sp>
      <p:sp>
        <p:nvSpPr>
          <p:cNvPr id="6" name="object 5"/>
          <p:cNvSpPr/>
          <p:nvPr/>
        </p:nvSpPr>
        <p:spPr>
          <a:xfrm>
            <a:off x="676339" y="2825680"/>
            <a:ext cx="4925718" cy="1782727"/>
          </a:xfrm>
          <a:prstGeom prst="rect">
            <a:avLst/>
          </a:prstGeom>
          <a:blipFill>
            <a:blip r:embed="rId4" cstate="print"/>
            <a:stretch>
              <a:fillRect/>
            </a:stretch>
          </a:blipFill>
        </p:spPr>
        <p:txBody>
          <a:bodyPr wrap="square" lIns="0" tIns="0" rIns="0" bIns="0" rtlCol="0"/>
          <a:lstStyle/>
          <a:p>
            <a:endParaRPr/>
          </a:p>
        </p:txBody>
      </p:sp>
      <p:sp>
        <p:nvSpPr>
          <p:cNvPr id="7" name="object 6"/>
          <p:cNvSpPr txBox="1"/>
          <p:nvPr/>
        </p:nvSpPr>
        <p:spPr>
          <a:xfrm>
            <a:off x="1209736" y="5278539"/>
            <a:ext cx="276860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微软雅黑" panose="020B0503020204020204" pitchFamily="34" charset="-122"/>
                <a:ea typeface="微软雅黑" panose="020B0503020204020204" pitchFamily="34" charset="-122"/>
                <a:cs typeface="黑体" panose="02010609060101010101" charset="-122"/>
              </a:rPr>
              <a:t>使用通用接口的设计</a:t>
            </a:r>
          </a:p>
        </p:txBody>
      </p:sp>
      <p:sp>
        <p:nvSpPr>
          <p:cNvPr id="8" name="object 7"/>
          <p:cNvSpPr txBox="1"/>
          <p:nvPr/>
        </p:nvSpPr>
        <p:spPr>
          <a:xfrm>
            <a:off x="7118472" y="5278539"/>
            <a:ext cx="2768600" cy="391160"/>
          </a:xfrm>
          <a:prstGeom prst="rect">
            <a:avLst/>
          </a:prstGeom>
        </p:spPr>
        <p:txBody>
          <a:bodyPr vert="horz" wrap="square" lIns="0" tIns="12700" rIns="0" bIns="0" rtlCol="0">
            <a:spAutoFit/>
          </a:bodyPr>
          <a:lstStyle>
            <a:defPPr>
              <a:defRPr lang="zh-CN"/>
            </a:defPPr>
            <a:lvl1pPr marL="12700">
              <a:lnSpc>
                <a:spcPct val="100000"/>
              </a:lnSpc>
              <a:spcBef>
                <a:spcPts val="100"/>
              </a:spcBef>
              <a:defRPr sz="2400">
                <a:latin typeface="微软雅黑" panose="020B0503020204020204" pitchFamily="34" charset="-122"/>
                <a:ea typeface="微软雅黑" panose="020B0503020204020204" pitchFamily="34" charset="-122"/>
                <a:cs typeface="黑体" panose="02010609060101010101" charset="-122"/>
              </a:defRPr>
            </a:lvl1pPr>
          </a:lstStyle>
          <a:p>
            <a:r>
              <a:rPr dirty="0"/>
              <a:t>使用分离接口的设计</a:t>
            </a:r>
          </a:p>
        </p:txBody>
      </p:sp>
      <p:sp>
        <p:nvSpPr>
          <p:cNvPr id="9" name="object 8"/>
          <p:cNvSpPr/>
          <p:nvPr/>
        </p:nvSpPr>
        <p:spPr>
          <a:xfrm>
            <a:off x="5983514" y="3516212"/>
            <a:ext cx="432434" cy="360045"/>
          </a:xfrm>
          <a:custGeom>
            <a:avLst/>
            <a:gdLst/>
            <a:ahLst/>
            <a:cxnLst/>
            <a:rect l="l" t="t" r="r" b="b"/>
            <a:pathLst>
              <a:path w="432435" h="360045">
                <a:moveTo>
                  <a:pt x="252027" y="0"/>
                </a:moveTo>
                <a:lnTo>
                  <a:pt x="252027" y="90009"/>
                </a:lnTo>
                <a:lnTo>
                  <a:pt x="0" y="90009"/>
                </a:lnTo>
                <a:lnTo>
                  <a:pt x="0" y="270029"/>
                </a:lnTo>
                <a:lnTo>
                  <a:pt x="252027" y="270029"/>
                </a:lnTo>
                <a:lnTo>
                  <a:pt x="252027" y="360039"/>
                </a:lnTo>
                <a:lnTo>
                  <a:pt x="432047" y="180019"/>
                </a:lnTo>
                <a:lnTo>
                  <a:pt x="252027" y="0"/>
                </a:lnTo>
                <a:close/>
              </a:path>
            </a:pathLst>
          </a:custGeom>
          <a:solidFill>
            <a:srgbClr val="941100"/>
          </a:solidFill>
        </p:spPr>
        <p:txBody>
          <a:bodyPr wrap="square" lIns="0" tIns="0" rIns="0" bIns="0" rtlCol="0"/>
          <a:lstStyle/>
          <a:p>
            <a:endParaRPr/>
          </a:p>
        </p:txBody>
      </p:sp>
      <p:sp>
        <p:nvSpPr>
          <p:cNvPr id="10" name="object 9"/>
          <p:cNvSpPr/>
          <p:nvPr/>
        </p:nvSpPr>
        <p:spPr>
          <a:xfrm>
            <a:off x="5983513" y="3516212"/>
            <a:ext cx="432434" cy="360045"/>
          </a:xfrm>
          <a:custGeom>
            <a:avLst/>
            <a:gdLst/>
            <a:ahLst/>
            <a:cxnLst/>
            <a:rect l="l" t="t" r="r" b="b"/>
            <a:pathLst>
              <a:path w="432435" h="360045">
                <a:moveTo>
                  <a:pt x="0" y="90009"/>
                </a:moveTo>
                <a:lnTo>
                  <a:pt x="252027" y="90009"/>
                </a:lnTo>
                <a:lnTo>
                  <a:pt x="252027" y="0"/>
                </a:lnTo>
                <a:lnTo>
                  <a:pt x="432047" y="180019"/>
                </a:lnTo>
                <a:lnTo>
                  <a:pt x="252027" y="360039"/>
                </a:lnTo>
                <a:lnTo>
                  <a:pt x="252027" y="270030"/>
                </a:lnTo>
                <a:lnTo>
                  <a:pt x="0" y="270030"/>
                </a:lnTo>
                <a:lnTo>
                  <a:pt x="0" y="90009"/>
                </a:lnTo>
                <a:close/>
              </a:path>
            </a:pathLst>
          </a:custGeom>
          <a:ln w="6349">
            <a:solidFill>
              <a:srgbClr val="941100"/>
            </a:solidFill>
          </a:ln>
        </p:spPr>
        <p:txBody>
          <a:bodyPr wrap="square" lIns="0" tIns="0" rIns="0" bIns="0" rtlCol="0"/>
          <a:lstStyle/>
          <a:p>
            <a:endParaRPr/>
          </a:p>
        </p:txBody>
      </p:sp>
    </p:spTree>
  </p:cSld>
  <p:clrMapOvr>
    <a:masterClrMapping/>
  </p:clrMapOvr>
  <mc:AlternateContent xmlns:mc="http://schemas.openxmlformats.org/markup-compatibility/2006" xmlns:p14="http://schemas.microsoft.com/office/powerpoint/2010/main">
    <mc:Choice Requires="p14">
      <p:transition spd="slow" p14:dur="999" advTm="47514"/>
    </mc:Choice>
    <mc:Fallback xmlns="">
      <p:transition spd="slow" advTm="47514"/>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charset="-122"/>
                <a:cs typeface="黑体" panose="02010609060101010101" charset="-122"/>
              </a:rPr>
              <a:t>好的系统设计的特征</a:t>
            </a:r>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t>10</a:t>
            </a:fld>
            <a:endParaRPr lang="zh-CN" altLang="en-US"/>
          </a:p>
        </p:txBody>
      </p:sp>
      <p:sp>
        <p:nvSpPr>
          <p:cNvPr id="5" name="object 3"/>
          <p:cNvSpPr txBox="1"/>
          <p:nvPr/>
        </p:nvSpPr>
        <p:spPr>
          <a:xfrm>
            <a:off x="974418" y="1473469"/>
            <a:ext cx="1710646" cy="4455066"/>
          </a:xfrm>
          <a:prstGeom prst="rect">
            <a:avLst/>
          </a:prstGeom>
        </p:spPr>
        <p:txBody>
          <a:bodyPr vert="horz" wrap="square" lIns="0" tIns="190500" rIns="0" bIns="0" rtlCol="0">
            <a:spAutoFit/>
          </a:bodyPr>
          <a:lstStyle/>
          <a:p>
            <a:pPr marL="241300" indent="-228600">
              <a:lnSpc>
                <a:spcPct val="100000"/>
              </a:lnSpc>
              <a:spcBef>
                <a:spcPts val="1500"/>
              </a:spcBef>
              <a:buFont typeface="Arial" panose="020B0604020202020204"/>
              <a:buChar char="•"/>
              <a:tabLst>
                <a:tab pos="240665" algn="l"/>
                <a:tab pos="241300" algn="l"/>
              </a:tabLst>
            </a:pPr>
            <a:r>
              <a:rPr sz="2400" dirty="0" err="1">
                <a:latin typeface="微软雅黑" panose="020B0503020204020204" pitchFamily="34" charset="-122"/>
                <a:ea typeface="微软雅黑" panose="020B0503020204020204" pitchFamily="34" charset="-122"/>
                <a:cs typeface="华文细黑" panose="02010600040101010101" charset="-122"/>
              </a:rPr>
              <a:t>用户友好</a:t>
            </a:r>
            <a:endParaRPr sz="2400" dirty="0">
              <a:latin typeface="微软雅黑" panose="020B0503020204020204" pitchFamily="34" charset="-122"/>
              <a:ea typeface="微软雅黑" panose="020B0503020204020204" pitchFamily="34" charset="-122"/>
              <a:cs typeface="华文细黑" panose="02010600040101010101" charset="-122"/>
            </a:endParaRPr>
          </a:p>
          <a:p>
            <a:pPr marL="241300" indent="-228600">
              <a:lnSpc>
                <a:spcPct val="100000"/>
              </a:lnSpc>
              <a:spcBef>
                <a:spcPts val="1400"/>
              </a:spcBef>
              <a:buFont typeface="Arial" panose="020B0604020202020204"/>
              <a:buChar char="•"/>
              <a:tabLst>
                <a:tab pos="240665" algn="l"/>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易理解</a:t>
            </a:r>
          </a:p>
          <a:p>
            <a:pPr marL="241300" indent="-228600">
              <a:lnSpc>
                <a:spcPct val="100000"/>
              </a:lnSpc>
              <a:spcBef>
                <a:spcPts val="1500"/>
              </a:spcBef>
              <a:buFont typeface="Arial" panose="020B0604020202020204"/>
              <a:buChar char="•"/>
              <a:tabLst>
                <a:tab pos="240665" algn="l"/>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可靠</a:t>
            </a:r>
          </a:p>
          <a:p>
            <a:pPr marL="241300" indent="-228600">
              <a:lnSpc>
                <a:spcPct val="100000"/>
              </a:lnSpc>
              <a:spcBef>
                <a:spcPts val="1500"/>
              </a:spcBef>
              <a:buFont typeface="Arial" panose="020B0604020202020204"/>
              <a:buChar char="•"/>
              <a:tabLst>
                <a:tab pos="240665" algn="l"/>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可扩展</a:t>
            </a:r>
          </a:p>
          <a:p>
            <a:pPr marL="241300" indent="-228600">
              <a:lnSpc>
                <a:spcPct val="100000"/>
              </a:lnSpc>
              <a:spcBef>
                <a:spcPts val="1500"/>
              </a:spcBef>
              <a:buFont typeface="Arial" panose="020B0604020202020204"/>
              <a:buChar char="•"/>
              <a:tabLst>
                <a:tab pos="240665" algn="l"/>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可移植</a:t>
            </a:r>
          </a:p>
          <a:p>
            <a:pPr marL="241300" indent="-228600">
              <a:lnSpc>
                <a:spcPct val="100000"/>
              </a:lnSpc>
              <a:spcBef>
                <a:spcPts val="1500"/>
              </a:spcBef>
              <a:buFont typeface="Arial" panose="020B0604020202020204"/>
              <a:buChar char="•"/>
              <a:tabLst>
                <a:tab pos="240665" algn="l"/>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可伸缩</a:t>
            </a:r>
          </a:p>
          <a:p>
            <a:pPr marL="241300" indent="-228600">
              <a:lnSpc>
                <a:spcPct val="100000"/>
              </a:lnSpc>
              <a:spcBef>
                <a:spcPts val="1400"/>
              </a:spcBef>
              <a:buFont typeface="Arial" panose="020B0604020202020204"/>
              <a:buChar char="•"/>
              <a:tabLst>
                <a:tab pos="240665" algn="l"/>
                <a:tab pos="241300" algn="l"/>
              </a:tabLst>
            </a:pPr>
            <a:r>
              <a:rPr sz="2400" dirty="0" err="1">
                <a:latin typeface="微软雅黑" panose="020B0503020204020204" pitchFamily="34" charset="-122"/>
                <a:ea typeface="微软雅黑" panose="020B0503020204020204" pitchFamily="34" charset="-122"/>
                <a:cs typeface="华文细黑" panose="02010600040101010101" charset="-122"/>
              </a:rPr>
              <a:t>可重用</a:t>
            </a:r>
            <a:endParaRPr sz="2400" dirty="0">
              <a:latin typeface="微软雅黑" panose="020B0503020204020204" pitchFamily="34" charset="-122"/>
              <a:ea typeface="微软雅黑" panose="020B0503020204020204" pitchFamily="34" charset="-122"/>
              <a:cs typeface="华文细黑" panose="02010600040101010101" charset="-122"/>
            </a:endParaRPr>
          </a:p>
          <a:p>
            <a:pPr marL="468630" indent="-456565">
              <a:lnSpc>
                <a:spcPct val="100000"/>
              </a:lnSpc>
              <a:spcBef>
                <a:spcPts val="1380"/>
              </a:spcBef>
              <a:buClr>
                <a:srgbClr val="800000"/>
              </a:buClr>
              <a:buFont typeface="Arial" panose="020B0604020202020204"/>
              <a:buChar char="•"/>
              <a:tabLst>
                <a:tab pos="468630" algn="l"/>
                <a:tab pos="469265" algn="l"/>
              </a:tabLst>
            </a:pPr>
            <a:r>
              <a:rPr sz="2400" dirty="0">
                <a:latin typeface="微软雅黑" panose="020B0503020204020204" pitchFamily="34" charset="-122"/>
                <a:ea typeface="微软雅黑" panose="020B0503020204020204" pitchFamily="34" charset="-122"/>
                <a:cs typeface="Comic Sans MS" panose="030F0702030302020204"/>
              </a:rPr>
              <a:t>…</a:t>
            </a:r>
          </a:p>
        </p:txBody>
      </p:sp>
      <p:grpSp>
        <p:nvGrpSpPr>
          <p:cNvPr id="16" name="组合 15"/>
          <p:cNvGrpSpPr/>
          <p:nvPr/>
        </p:nvGrpSpPr>
        <p:grpSpPr>
          <a:xfrm>
            <a:off x="2879834" y="1511185"/>
            <a:ext cx="8860631" cy="3686291"/>
            <a:chOff x="3082985" y="1605828"/>
            <a:chExt cx="8860631" cy="3686291"/>
          </a:xfrm>
        </p:grpSpPr>
        <p:sp>
          <p:nvSpPr>
            <p:cNvPr id="6" name="object 5"/>
            <p:cNvSpPr/>
            <p:nvPr/>
          </p:nvSpPr>
          <p:spPr>
            <a:xfrm>
              <a:off x="3121085" y="5254019"/>
              <a:ext cx="8797290" cy="0"/>
            </a:xfrm>
            <a:custGeom>
              <a:avLst/>
              <a:gdLst/>
              <a:ahLst/>
              <a:cxnLst/>
              <a:rect l="l" t="t" r="r" b="b"/>
              <a:pathLst>
                <a:path w="8797290">
                  <a:moveTo>
                    <a:pt x="0" y="0"/>
                  </a:moveTo>
                  <a:lnTo>
                    <a:pt x="8797130" y="0"/>
                  </a:lnTo>
                </a:path>
              </a:pathLst>
            </a:custGeom>
            <a:ln w="9524">
              <a:solidFill>
                <a:srgbClr val="000000"/>
              </a:solidFill>
            </a:ln>
          </p:spPr>
          <p:txBody>
            <a:bodyPr wrap="square" lIns="0" tIns="0" rIns="0" bIns="0" rtlCol="0"/>
            <a:lstStyle/>
            <a:p>
              <a:endParaRPr/>
            </a:p>
          </p:txBody>
        </p:sp>
        <p:sp>
          <p:nvSpPr>
            <p:cNvPr id="7" name="object 6"/>
            <p:cNvSpPr/>
            <p:nvPr/>
          </p:nvSpPr>
          <p:spPr>
            <a:xfrm>
              <a:off x="11867416" y="5215919"/>
              <a:ext cx="76200" cy="76200"/>
            </a:xfrm>
            <a:custGeom>
              <a:avLst/>
              <a:gdLst/>
              <a:ahLst/>
              <a:cxnLst/>
              <a:rect l="l" t="t" r="r" b="b"/>
              <a:pathLst>
                <a:path w="76200" h="76200">
                  <a:moveTo>
                    <a:pt x="0" y="0"/>
                  </a:moveTo>
                  <a:lnTo>
                    <a:pt x="0" y="76200"/>
                  </a:lnTo>
                  <a:lnTo>
                    <a:pt x="76200" y="38100"/>
                  </a:lnTo>
                  <a:lnTo>
                    <a:pt x="0" y="0"/>
                  </a:lnTo>
                  <a:close/>
                </a:path>
              </a:pathLst>
            </a:custGeom>
            <a:solidFill>
              <a:srgbClr val="000000"/>
            </a:solidFill>
          </p:spPr>
          <p:txBody>
            <a:bodyPr wrap="square" lIns="0" tIns="0" rIns="0" bIns="0" rtlCol="0"/>
            <a:lstStyle/>
            <a:p>
              <a:endParaRPr/>
            </a:p>
          </p:txBody>
        </p:sp>
        <p:sp>
          <p:nvSpPr>
            <p:cNvPr id="8" name="object 7"/>
            <p:cNvSpPr/>
            <p:nvPr/>
          </p:nvSpPr>
          <p:spPr>
            <a:xfrm>
              <a:off x="3121084" y="1810731"/>
              <a:ext cx="0" cy="3443604"/>
            </a:xfrm>
            <a:custGeom>
              <a:avLst/>
              <a:gdLst/>
              <a:ahLst/>
              <a:cxnLst/>
              <a:rect l="l" t="t" r="r" b="b"/>
              <a:pathLst>
                <a:path h="3443604">
                  <a:moveTo>
                    <a:pt x="0" y="0"/>
                  </a:moveTo>
                  <a:lnTo>
                    <a:pt x="0" y="3443286"/>
                  </a:lnTo>
                </a:path>
              </a:pathLst>
            </a:custGeom>
            <a:ln w="9524">
              <a:solidFill>
                <a:srgbClr val="000000"/>
              </a:solidFill>
            </a:ln>
          </p:spPr>
          <p:txBody>
            <a:bodyPr wrap="square" lIns="0" tIns="0" rIns="0" bIns="0" rtlCol="0"/>
            <a:lstStyle/>
            <a:p>
              <a:endParaRPr/>
            </a:p>
          </p:txBody>
        </p:sp>
        <p:sp>
          <p:nvSpPr>
            <p:cNvPr id="9" name="object 8"/>
            <p:cNvSpPr/>
            <p:nvPr/>
          </p:nvSpPr>
          <p:spPr>
            <a:xfrm>
              <a:off x="3082985" y="1785331"/>
              <a:ext cx="76200" cy="76200"/>
            </a:xfrm>
            <a:custGeom>
              <a:avLst/>
              <a:gdLst/>
              <a:ahLst/>
              <a:cxnLst/>
              <a:rect l="l" t="t" r="r" b="b"/>
              <a:pathLst>
                <a:path w="76200" h="76200">
                  <a:moveTo>
                    <a:pt x="38100" y="0"/>
                  </a:moveTo>
                  <a:lnTo>
                    <a:pt x="0" y="76200"/>
                  </a:lnTo>
                  <a:lnTo>
                    <a:pt x="76200" y="76200"/>
                  </a:lnTo>
                  <a:lnTo>
                    <a:pt x="38100" y="0"/>
                  </a:lnTo>
                  <a:close/>
                </a:path>
              </a:pathLst>
            </a:custGeom>
            <a:solidFill>
              <a:srgbClr val="000000"/>
            </a:solidFill>
          </p:spPr>
          <p:txBody>
            <a:bodyPr wrap="square" lIns="0" tIns="0" rIns="0" bIns="0" rtlCol="0"/>
            <a:lstStyle/>
            <a:p>
              <a:endParaRPr/>
            </a:p>
          </p:txBody>
        </p:sp>
        <p:sp>
          <p:nvSpPr>
            <p:cNvPr id="10" name="object 9"/>
            <p:cNvSpPr/>
            <p:nvPr/>
          </p:nvSpPr>
          <p:spPr>
            <a:xfrm>
              <a:off x="3289510" y="1871830"/>
              <a:ext cx="8471535" cy="3326129"/>
            </a:xfrm>
            <a:custGeom>
              <a:avLst/>
              <a:gdLst/>
              <a:ahLst/>
              <a:cxnLst/>
              <a:rect l="l" t="t" r="r" b="b"/>
              <a:pathLst>
                <a:path w="8471535" h="3326129">
                  <a:moveTo>
                    <a:pt x="0" y="0"/>
                  </a:moveTo>
                  <a:lnTo>
                    <a:pt x="17676" y="39362"/>
                  </a:lnTo>
                  <a:lnTo>
                    <a:pt x="36026" y="83539"/>
                  </a:lnTo>
                  <a:lnTo>
                    <a:pt x="57168" y="127715"/>
                  </a:lnTo>
                  <a:lnTo>
                    <a:pt x="83218" y="167078"/>
                  </a:lnTo>
                  <a:lnTo>
                    <a:pt x="116293" y="196813"/>
                  </a:lnTo>
                  <a:lnTo>
                    <a:pt x="131983" y="241990"/>
                  </a:lnTo>
                  <a:lnTo>
                    <a:pt x="146059" y="287913"/>
                  </a:lnTo>
                  <a:lnTo>
                    <a:pt x="160591" y="333945"/>
                  </a:lnTo>
                  <a:lnTo>
                    <a:pt x="177649" y="379450"/>
                  </a:lnTo>
                  <a:lnTo>
                    <a:pt x="199301" y="423794"/>
                  </a:lnTo>
                  <a:lnTo>
                    <a:pt x="227618" y="466339"/>
                  </a:lnTo>
                  <a:lnTo>
                    <a:pt x="264667" y="506450"/>
                  </a:lnTo>
                  <a:lnTo>
                    <a:pt x="268584" y="514148"/>
                  </a:lnTo>
                  <a:lnTo>
                    <a:pt x="297500" y="547192"/>
                  </a:lnTo>
                  <a:lnTo>
                    <a:pt x="306366" y="552050"/>
                  </a:lnTo>
                  <a:lnTo>
                    <a:pt x="312789" y="557848"/>
                  </a:lnTo>
                  <a:lnTo>
                    <a:pt x="331868" y="590617"/>
                  </a:lnTo>
                  <a:lnTo>
                    <a:pt x="345120" y="622564"/>
                  </a:lnTo>
                  <a:lnTo>
                    <a:pt x="363260" y="652866"/>
                  </a:lnTo>
                  <a:lnTo>
                    <a:pt x="397002" y="680699"/>
                  </a:lnTo>
                  <a:lnTo>
                    <a:pt x="416613" y="713312"/>
                  </a:lnTo>
                  <a:lnTo>
                    <a:pt x="438105" y="743222"/>
                  </a:lnTo>
                  <a:lnTo>
                    <a:pt x="459597" y="772897"/>
                  </a:lnTo>
                  <a:lnTo>
                    <a:pt x="479209" y="804805"/>
                  </a:lnTo>
                  <a:lnTo>
                    <a:pt x="495437" y="838495"/>
                  </a:lnTo>
                  <a:lnTo>
                    <a:pt x="509786" y="867485"/>
                  </a:lnTo>
                  <a:lnTo>
                    <a:pt x="529398" y="893653"/>
                  </a:lnTo>
                  <a:lnTo>
                    <a:pt x="561416" y="918882"/>
                  </a:lnTo>
                  <a:lnTo>
                    <a:pt x="585759" y="955177"/>
                  </a:lnTo>
                  <a:lnTo>
                    <a:pt x="617809" y="989240"/>
                  </a:lnTo>
                  <a:lnTo>
                    <a:pt x="654746" y="1021657"/>
                  </a:lnTo>
                  <a:lnTo>
                    <a:pt x="693750" y="1053016"/>
                  </a:lnTo>
                  <a:lnTo>
                    <a:pt x="730468" y="1084199"/>
                  </a:lnTo>
                  <a:lnTo>
                    <a:pt x="764930" y="1116323"/>
                  </a:lnTo>
                  <a:lnTo>
                    <a:pt x="800896" y="1147506"/>
                  </a:lnTo>
                  <a:lnTo>
                    <a:pt x="842125" y="1175868"/>
                  </a:lnTo>
                  <a:lnTo>
                    <a:pt x="865026" y="1204995"/>
                  </a:lnTo>
                  <a:lnTo>
                    <a:pt x="900522" y="1232123"/>
                  </a:lnTo>
                  <a:lnTo>
                    <a:pt x="943913" y="1254316"/>
                  </a:lnTo>
                  <a:lnTo>
                    <a:pt x="990499" y="1268634"/>
                  </a:lnTo>
                  <a:lnTo>
                    <a:pt x="1025838" y="1282326"/>
                  </a:lnTo>
                  <a:lnTo>
                    <a:pt x="1059674" y="1293549"/>
                  </a:lnTo>
                  <a:lnTo>
                    <a:pt x="1092005" y="1305478"/>
                  </a:lnTo>
                  <a:lnTo>
                    <a:pt x="1122833" y="1321284"/>
                  </a:lnTo>
                  <a:lnTo>
                    <a:pt x="1179793" y="1314003"/>
                  </a:lnTo>
                  <a:lnTo>
                    <a:pt x="1232037" y="1304557"/>
                  </a:lnTo>
                  <a:lnTo>
                    <a:pt x="1282067" y="1293485"/>
                  </a:lnTo>
                  <a:lnTo>
                    <a:pt x="1332386" y="1281331"/>
                  </a:lnTo>
                  <a:lnTo>
                    <a:pt x="1385496" y="1268634"/>
                  </a:lnTo>
                  <a:lnTo>
                    <a:pt x="1425879" y="1247088"/>
                  </a:lnTo>
                  <a:lnTo>
                    <a:pt x="1467954" y="1226952"/>
                  </a:lnTo>
                  <a:lnTo>
                    <a:pt x="1510405" y="1207286"/>
                  </a:lnTo>
                  <a:lnTo>
                    <a:pt x="1551916" y="1187150"/>
                  </a:lnTo>
                  <a:lnTo>
                    <a:pt x="1574630" y="1173811"/>
                  </a:lnTo>
                  <a:lnTo>
                    <a:pt x="1586253" y="1163175"/>
                  </a:lnTo>
                  <a:lnTo>
                    <a:pt x="1596748" y="1151364"/>
                  </a:lnTo>
                  <a:lnTo>
                    <a:pt x="1616078" y="1134499"/>
                  </a:lnTo>
                  <a:lnTo>
                    <a:pt x="1642708" y="1117674"/>
                  </a:lnTo>
                  <a:lnTo>
                    <a:pt x="1672721" y="1103316"/>
                  </a:lnTo>
                  <a:lnTo>
                    <a:pt x="1703486" y="1089194"/>
                  </a:lnTo>
                  <a:lnTo>
                    <a:pt x="1732371" y="1073073"/>
                  </a:lnTo>
                  <a:lnTo>
                    <a:pt x="1734878" y="1063946"/>
                  </a:lnTo>
                  <a:lnTo>
                    <a:pt x="1735880" y="1053643"/>
                  </a:lnTo>
                  <a:lnTo>
                    <a:pt x="1739138" y="1045220"/>
                  </a:lnTo>
                  <a:lnTo>
                    <a:pt x="1748411" y="1041733"/>
                  </a:lnTo>
                  <a:lnTo>
                    <a:pt x="1758249" y="1045044"/>
                  </a:lnTo>
                  <a:lnTo>
                    <a:pt x="1762447" y="1053173"/>
                  </a:lnTo>
                  <a:lnTo>
                    <a:pt x="1763638" y="1063417"/>
                  </a:lnTo>
                  <a:lnTo>
                    <a:pt x="1764452" y="1073073"/>
                  </a:lnTo>
                  <a:lnTo>
                    <a:pt x="1769810" y="1124784"/>
                  </a:lnTo>
                  <a:lnTo>
                    <a:pt x="1772723" y="1176495"/>
                  </a:lnTo>
                  <a:lnTo>
                    <a:pt x="1776013" y="1228205"/>
                  </a:lnTo>
                  <a:lnTo>
                    <a:pt x="1782498" y="1279916"/>
                  </a:lnTo>
                  <a:lnTo>
                    <a:pt x="1797276" y="1322306"/>
                  </a:lnTo>
                  <a:lnTo>
                    <a:pt x="1823861" y="1359960"/>
                  </a:lnTo>
                  <a:lnTo>
                    <a:pt x="1859692" y="1393993"/>
                  </a:lnTo>
                  <a:lnTo>
                    <a:pt x="1902207" y="1425519"/>
                  </a:lnTo>
                  <a:lnTo>
                    <a:pt x="1948843" y="1455651"/>
                  </a:lnTo>
                  <a:lnTo>
                    <a:pt x="1997039" y="1485505"/>
                  </a:lnTo>
                  <a:lnTo>
                    <a:pt x="2037924" y="1512516"/>
                  </a:lnTo>
                  <a:lnTo>
                    <a:pt x="2078996" y="1538939"/>
                  </a:lnTo>
                  <a:lnTo>
                    <a:pt x="2124204" y="1561837"/>
                  </a:lnTo>
                  <a:lnTo>
                    <a:pt x="2177495" y="1578271"/>
                  </a:lnTo>
                  <a:lnTo>
                    <a:pt x="2207769" y="1595503"/>
                  </a:lnTo>
                  <a:lnTo>
                    <a:pt x="2249548" y="1616814"/>
                  </a:lnTo>
                  <a:lnTo>
                    <a:pt x="2298868" y="1640143"/>
                  </a:lnTo>
                  <a:lnTo>
                    <a:pt x="2351765" y="1663427"/>
                  </a:lnTo>
                  <a:lnTo>
                    <a:pt x="2404277" y="1684607"/>
                  </a:lnTo>
                  <a:lnTo>
                    <a:pt x="2452439" y="1701620"/>
                  </a:lnTo>
                  <a:lnTo>
                    <a:pt x="2492289" y="1712405"/>
                  </a:lnTo>
                  <a:lnTo>
                    <a:pt x="2521676" y="1729955"/>
                  </a:lnTo>
                  <a:lnTo>
                    <a:pt x="2551439" y="1743745"/>
                  </a:lnTo>
                  <a:lnTo>
                    <a:pt x="2584209" y="1754714"/>
                  </a:lnTo>
                  <a:lnTo>
                    <a:pt x="2622618" y="1763802"/>
                  </a:lnTo>
                  <a:lnTo>
                    <a:pt x="2662552" y="1787226"/>
                  </a:lnTo>
                  <a:lnTo>
                    <a:pt x="2704157" y="1808699"/>
                  </a:lnTo>
                  <a:lnTo>
                    <a:pt x="2747433" y="1828362"/>
                  </a:lnTo>
                  <a:lnTo>
                    <a:pt x="2792380" y="1846353"/>
                  </a:lnTo>
                  <a:lnTo>
                    <a:pt x="2838997" y="1862813"/>
                  </a:lnTo>
                  <a:lnTo>
                    <a:pt x="2887286" y="1877879"/>
                  </a:lnTo>
                  <a:lnTo>
                    <a:pt x="2925739" y="1889490"/>
                  </a:lnTo>
                  <a:lnTo>
                    <a:pt x="2948793" y="1896700"/>
                  </a:lnTo>
                  <a:lnTo>
                    <a:pt x="2959343" y="1900385"/>
                  </a:lnTo>
                  <a:lnTo>
                    <a:pt x="2960285" y="1901419"/>
                  </a:lnTo>
                  <a:lnTo>
                    <a:pt x="2954516" y="1900676"/>
                  </a:lnTo>
                  <a:lnTo>
                    <a:pt x="2944931" y="1899033"/>
                  </a:lnTo>
                  <a:lnTo>
                    <a:pt x="2934428" y="1897364"/>
                  </a:lnTo>
                  <a:lnTo>
                    <a:pt x="2925902" y="1896544"/>
                  </a:lnTo>
                  <a:lnTo>
                    <a:pt x="2922249" y="1897447"/>
                  </a:lnTo>
                  <a:lnTo>
                    <a:pt x="2926366" y="1900949"/>
                  </a:lnTo>
                  <a:lnTo>
                    <a:pt x="2969494" y="1919247"/>
                  </a:lnTo>
                  <a:lnTo>
                    <a:pt x="3011375" y="1930600"/>
                  </a:lnTo>
                  <a:lnTo>
                    <a:pt x="3056722" y="1936055"/>
                  </a:lnTo>
                  <a:lnTo>
                    <a:pt x="3104185" y="1937841"/>
                  </a:lnTo>
                  <a:lnTo>
                    <a:pt x="3152419" y="1938182"/>
                  </a:lnTo>
                  <a:lnTo>
                    <a:pt x="3200076" y="1939305"/>
                  </a:lnTo>
                  <a:lnTo>
                    <a:pt x="3253085" y="1950411"/>
                  </a:lnTo>
                  <a:lnTo>
                    <a:pt x="3294815" y="1955758"/>
                  </a:lnTo>
                  <a:lnTo>
                    <a:pt x="3338801" y="1955700"/>
                  </a:lnTo>
                  <a:lnTo>
                    <a:pt x="3398577" y="1950587"/>
                  </a:lnTo>
                  <a:lnTo>
                    <a:pt x="3454467" y="1913920"/>
                  </a:lnTo>
                  <a:lnTo>
                    <a:pt x="3496825" y="1867850"/>
                  </a:lnTo>
                  <a:lnTo>
                    <a:pt x="3527652" y="1801567"/>
                  </a:lnTo>
                  <a:lnTo>
                    <a:pt x="3547859" y="1771069"/>
                  </a:lnTo>
                  <a:lnTo>
                    <a:pt x="3581037" y="1743745"/>
                  </a:lnTo>
                  <a:lnTo>
                    <a:pt x="3583543" y="1734617"/>
                  </a:lnTo>
                  <a:lnTo>
                    <a:pt x="3584545" y="1724314"/>
                  </a:lnTo>
                  <a:lnTo>
                    <a:pt x="3587803" y="1715892"/>
                  </a:lnTo>
                  <a:lnTo>
                    <a:pt x="3597077" y="1712405"/>
                  </a:lnTo>
                  <a:lnTo>
                    <a:pt x="3606632" y="1715892"/>
                  </a:lnTo>
                  <a:lnTo>
                    <a:pt x="3610361" y="1724314"/>
                  </a:lnTo>
                  <a:lnTo>
                    <a:pt x="3611457" y="1734617"/>
                  </a:lnTo>
                  <a:lnTo>
                    <a:pt x="3613118" y="1743745"/>
                  </a:lnTo>
                  <a:lnTo>
                    <a:pt x="3623488" y="1771148"/>
                  </a:lnTo>
                  <a:lnTo>
                    <a:pt x="3626903" y="1782450"/>
                  </a:lnTo>
                  <a:lnTo>
                    <a:pt x="3635957" y="1789756"/>
                  </a:lnTo>
                  <a:lnTo>
                    <a:pt x="3663245" y="1805171"/>
                  </a:lnTo>
                  <a:lnTo>
                    <a:pt x="3674993" y="1838646"/>
                  </a:lnTo>
                  <a:lnTo>
                    <a:pt x="3688057" y="1873648"/>
                  </a:lnTo>
                  <a:lnTo>
                    <a:pt x="3705256" y="1907946"/>
                  </a:lnTo>
                  <a:lnTo>
                    <a:pt x="3729411" y="1939305"/>
                  </a:lnTo>
                  <a:lnTo>
                    <a:pt x="3761742" y="1965474"/>
                  </a:lnTo>
                  <a:lnTo>
                    <a:pt x="3779318" y="1977912"/>
                  </a:lnTo>
                  <a:lnTo>
                    <a:pt x="3795578" y="1990702"/>
                  </a:lnTo>
                  <a:lnTo>
                    <a:pt x="3809833" y="2014912"/>
                  </a:lnTo>
                  <a:lnTo>
                    <a:pt x="3826908" y="2035832"/>
                  </a:lnTo>
                  <a:lnTo>
                    <a:pt x="3848869" y="2054871"/>
                  </a:lnTo>
                  <a:lnTo>
                    <a:pt x="3877786" y="2073439"/>
                  </a:lnTo>
                  <a:lnTo>
                    <a:pt x="3896771" y="2100998"/>
                  </a:lnTo>
                  <a:lnTo>
                    <a:pt x="3921395" y="2121859"/>
                  </a:lnTo>
                  <a:lnTo>
                    <a:pt x="3952787" y="2139194"/>
                  </a:lnTo>
                  <a:lnTo>
                    <a:pt x="3992074" y="2156177"/>
                  </a:lnTo>
                  <a:lnTo>
                    <a:pt x="4018077" y="2185479"/>
                  </a:lnTo>
                  <a:lnTo>
                    <a:pt x="4054231" y="2208200"/>
                  </a:lnTo>
                  <a:lnTo>
                    <a:pt x="4096400" y="2228101"/>
                  </a:lnTo>
                  <a:lnTo>
                    <a:pt x="4140448" y="2248942"/>
                  </a:lnTo>
                  <a:lnTo>
                    <a:pt x="4179620" y="2269398"/>
                  </a:lnTo>
                  <a:lnTo>
                    <a:pt x="4219844" y="2291323"/>
                  </a:lnTo>
                  <a:lnTo>
                    <a:pt x="4261190" y="2313577"/>
                  </a:lnTo>
                  <a:lnTo>
                    <a:pt x="4303729" y="2335020"/>
                  </a:lnTo>
                  <a:lnTo>
                    <a:pt x="4347531" y="2354510"/>
                  </a:lnTo>
                  <a:lnTo>
                    <a:pt x="4392665" y="2370909"/>
                  </a:lnTo>
                  <a:lnTo>
                    <a:pt x="4439202" y="2383076"/>
                  </a:lnTo>
                  <a:lnTo>
                    <a:pt x="4475607" y="2405367"/>
                  </a:lnTo>
                  <a:lnTo>
                    <a:pt x="4515394" y="2426012"/>
                  </a:lnTo>
                  <a:lnTo>
                    <a:pt x="4558190" y="2443367"/>
                  </a:lnTo>
                  <a:lnTo>
                    <a:pt x="4603616" y="2455785"/>
                  </a:lnTo>
                  <a:lnTo>
                    <a:pt x="4631907" y="2477743"/>
                  </a:lnTo>
                  <a:lnTo>
                    <a:pt x="4660009" y="2490416"/>
                  </a:lnTo>
                  <a:lnTo>
                    <a:pt x="4692999" y="2498623"/>
                  </a:lnTo>
                  <a:lnTo>
                    <a:pt x="4735951" y="2507182"/>
                  </a:lnTo>
                  <a:lnTo>
                    <a:pt x="4775523" y="2531070"/>
                  </a:lnTo>
                  <a:lnTo>
                    <a:pt x="4820581" y="2555380"/>
                  </a:lnTo>
                  <a:lnTo>
                    <a:pt x="4868911" y="2579028"/>
                  </a:lnTo>
                  <a:lnTo>
                    <a:pt x="4918300" y="2600931"/>
                  </a:lnTo>
                  <a:lnTo>
                    <a:pt x="4966533" y="2620005"/>
                  </a:lnTo>
                  <a:lnTo>
                    <a:pt x="5014245" y="2634551"/>
                  </a:lnTo>
                  <a:lnTo>
                    <a:pt x="5016987" y="2632603"/>
                  </a:lnTo>
                  <a:lnTo>
                    <a:pt x="5015800" y="2629537"/>
                  </a:lnTo>
                  <a:lnTo>
                    <a:pt x="5018296" y="2629124"/>
                  </a:lnTo>
                  <a:lnTo>
                    <a:pt x="5032086" y="2635136"/>
                  </a:lnTo>
                  <a:lnTo>
                    <a:pt x="5064780" y="2651345"/>
                  </a:lnTo>
                  <a:lnTo>
                    <a:pt x="5103454" y="2671583"/>
                  </a:lnTo>
                  <a:lnTo>
                    <a:pt x="5144631" y="2693205"/>
                  </a:lnTo>
                  <a:lnTo>
                    <a:pt x="5187924" y="2713984"/>
                  </a:lnTo>
                  <a:lnTo>
                    <a:pt x="5232949" y="2731695"/>
                  </a:lnTo>
                  <a:lnTo>
                    <a:pt x="5279322" y="2744111"/>
                  </a:lnTo>
                  <a:lnTo>
                    <a:pt x="5313189" y="2761837"/>
                  </a:lnTo>
                  <a:lnTo>
                    <a:pt x="5356267" y="2779681"/>
                  </a:lnTo>
                  <a:lnTo>
                    <a:pt x="5401976" y="2795410"/>
                  </a:lnTo>
                  <a:lnTo>
                    <a:pt x="5443738" y="2806791"/>
                  </a:lnTo>
                  <a:lnTo>
                    <a:pt x="5452165" y="2812040"/>
                  </a:lnTo>
                  <a:lnTo>
                    <a:pt x="5505864" y="2833684"/>
                  </a:lnTo>
                  <a:lnTo>
                    <a:pt x="5564949" y="2845005"/>
                  </a:lnTo>
                  <a:lnTo>
                    <a:pt x="5576071" y="2846905"/>
                  </a:lnTo>
                  <a:lnTo>
                    <a:pt x="5588133" y="2852703"/>
                  </a:lnTo>
                  <a:lnTo>
                    <a:pt x="5626198" y="2868216"/>
                  </a:lnTo>
                  <a:lnTo>
                    <a:pt x="5687352" y="2881535"/>
                  </a:lnTo>
                  <a:lnTo>
                    <a:pt x="5724446" y="2888274"/>
                  </a:lnTo>
                  <a:lnTo>
                    <a:pt x="5738168" y="2880752"/>
                  </a:lnTo>
                  <a:lnTo>
                    <a:pt x="5779147" y="2855837"/>
                  </a:lnTo>
                  <a:lnTo>
                    <a:pt x="5809503" y="2824468"/>
                  </a:lnTo>
                  <a:lnTo>
                    <a:pt x="5812074" y="2816587"/>
                  </a:lnTo>
                  <a:lnTo>
                    <a:pt x="5807405" y="2816505"/>
                  </a:lnTo>
                  <a:lnTo>
                    <a:pt x="5804574" y="2817469"/>
                  </a:lnTo>
                  <a:lnTo>
                    <a:pt x="5812660" y="2812721"/>
                  </a:lnTo>
                  <a:lnTo>
                    <a:pt x="5840740" y="2795508"/>
                  </a:lnTo>
                  <a:lnTo>
                    <a:pt x="5857814" y="2762386"/>
                  </a:lnTo>
                  <a:lnTo>
                    <a:pt x="5875076" y="2731731"/>
                  </a:lnTo>
                  <a:lnTo>
                    <a:pt x="5895722" y="2702252"/>
                  </a:lnTo>
                  <a:lnTo>
                    <a:pt x="5922947" y="2672656"/>
                  </a:lnTo>
                  <a:lnTo>
                    <a:pt x="5935854" y="2674752"/>
                  </a:lnTo>
                  <a:lnTo>
                    <a:pt x="5949514" y="2676260"/>
                  </a:lnTo>
                  <a:lnTo>
                    <a:pt x="5995254" y="2699687"/>
                  </a:lnTo>
                  <a:lnTo>
                    <a:pt x="6032849" y="2736981"/>
                  </a:lnTo>
                  <a:lnTo>
                    <a:pt x="6058405" y="2776844"/>
                  </a:lnTo>
                  <a:lnTo>
                    <a:pt x="6083915" y="2811119"/>
                  </a:lnTo>
                  <a:lnTo>
                    <a:pt x="6115158" y="2845541"/>
                  </a:lnTo>
                  <a:lnTo>
                    <a:pt x="6151523" y="2878715"/>
                  </a:lnTo>
                  <a:lnTo>
                    <a:pt x="6192400" y="2909244"/>
                  </a:lnTo>
                  <a:lnTo>
                    <a:pt x="6237177" y="2935734"/>
                  </a:lnTo>
                  <a:lnTo>
                    <a:pt x="6285244" y="2956788"/>
                  </a:lnTo>
                  <a:lnTo>
                    <a:pt x="6335990" y="2971011"/>
                  </a:lnTo>
                  <a:lnTo>
                    <a:pt x="6362306" y="2988561"/>
                  </a:lnTo>
                  <a:lnTo>
                    <a:pt x="6387118" y="3002350"/>
                  </a:lnTo>
                  <a:lnTo>
                    <a:pt x="6414938" y="3013319"/>
                  </a:lnTo>
                  <a:lnTo>
                    <a:pt x="6450278" y="3022408"/>
                  </a:lnTo>
                  <a:lnTo>
                    <a:pt x="6498724" y="3040945"/>
                  </a:lnTo>
                  <a:lnTo>
                    <a:pt x="6547783" y="3057044"/>
                  </a:lnTo>
                  <a:lnTo>
                    <a:pt x="6597399" y="3071612"/>
                  </a:lnTo>
                  <a:lnTo>
                    <a:pt x="6647516" y="3085552"/>
                  </a:lnTo>
                  <a:lnTo>
                    <a:pt x="6698079" y="3099771"/>
                  </a:lnTo>
                  <a:lnTo>
                    <a:pt x="6749032" y="3115174"/>
                  </a:lnTo>
                  <a:lnTo>
                    <a:pt x="6784621" y="3125007"/>
                  </a:lnTo>
                  <a:lnTo>
                    <a:pt x="6821715" y="3132724"/>
                  </a:lnTo>
                  <a:lnTo>
                    <a:pt x="6859560" y="3139501"/>
                  </a:lnTo>
                  <a:lnTo>
                    <a:pt x="6897406" y="3146513"/>
                  </a:lnTo>
                  <a:lnTo>
                    <a:pt x="6911692" y="3149666"/>
                  </a:lnTo>
                  <a:lnTo>
                    <a:pt x="6927482" y="3152938"/>
                  </a:lnTo>
                  <a:lnTo>
                    <a:pt x="6940264" y="3155504"/>
                  </a:lnTo>
                  <a:lnTo>
                    <a:pt x="6945528" y="3156542"/>
                  </a:lnTo>
                  <a:lnTo>
                    <a:pt x="6991730" y="3173793"/>
                  </a:lnTo>
                  <a:lnTo>
                    <a:pt x="7041081" y="3188313"/>
                  </a:lnTo>
                  <a:lnTo>
                    <a:pt x="7092782" y="3200658"/>
                  </a:lnTo>
                  <a:lnTo>
                    <a:pt x="7146033" y="3211387"/>
                  </a:lnTo>
                  <a:lnTo>
                    <a:pt x="7200036" y="3221058"/>
                  </a:lnTo>
                  <a:lnTo>
                    <a:pt x="7253993" y="3230230"/>
                  </a:lnTo>
                  <a:lnTo>
                    <a:pt x="7307104" y="3239460"/>
                  </a:lnTo>
                  <a:lnTo>
                    <a:pt x="7358570" y="3249308"/>
                  </a:lnTo>
                  <a:lnTo>
                    <a:pt x="7425747" y="3245848"/>
                  </a:lnTo>
                  <a:lnTo>
                    <a:pt x="7479740" y="3242689"/>
                  </a:lnTo>
                  <a:lnTo>
                    <a:pt x="7526610" y="3237123"/>
                  </a:lnTo>
                  <a:lnTo>
                    <a:pt x="7572422" y="3226442"/>
                  </a:lnTo>
                  <a:lnTo>
                    <a:pt x="7623238" y="3207939"/>
                  </a:lnTo>
                  <a:lnTo>
                    <a:pt x="7636271" y="3190076"/>
                  </a:lnTo>
                  <a:lnTo>
                    <a:pt x="7644103" y="3182202"/>
                  </a:lnTo>
                  <a:lnTo>
                    <a:pt x="7655319" y="3177853"/>
                  </a:lnTo>
                  <a:lnTo>
                    <a:pt x="7675839" y="3183240"/>
                  </a:lnTo>
                  <a:lnTo>
                    <a:pt x="7690156" y="3200261"/>
                  </a:lnTo>
                  <a:lnTo>
                    <a:pt x="7699587" y="3218928"/>
                  </a:lnTo>
                  <a:lnTo>
                    <a:pt x="7705446" y="3229251"/>
                  </a:lnTo>
                  <a:lnTo>
                    <a:pt x="7732044" y="3245567"/>
                  </a:lnTo>
                  <a:lnTo>
                    <a:pt x="7766349" y="3260120"/>
                  </a:lnTo>
                  <a:lnTo>
                    <a:pt x="7803286" y="3272088"/>
                  </a:lnTo>
                  <a:lnTo>
                    <a:pt x="7837779" y="3280648"/>
                  </a:lnTo>
                  <a:lnTo>
                    <a:pt x="7883878" y="3297544"/>
                  </a:lnTo>
                  <a:lnTo>
                    <a:pt x="7927171" y="3309133"/>
                  </a:lnTo>
                  <a:lnTo>
                    <a:pt x="7969517" y="3316403"/>
                  </a:lnTo>
                  <a:lnTo>
                    <a:pt x="8012775" y="3320339"/>
                  </a:lnTo>
                  <a:lnTo>
                    <a:pt x="8058803" y="3321929"/>
                  </a:lnTo>
                  <a:lnTo>
                    <a:pt x="8109462" y="3322159"/>
                  </a:lnTo>
                  <a:lnTo>
                    <a:pt x="8166609" y="3322017"/>
                  </a:lnTo>
                  <a:lnTo>
                    <a:pt x="8290922" y="3268112"/>
                  </a:lnTo>
                  <a:lnTo>
                    <a:pt x="8471378" y="3325777"/>
                  </a:lnTo>
                </a:path>
              </a:pathLst>
            </a:custGeom>
            <a:ln w="9524">
              <a:solidFill>
                <a:srgbClr val="000000"/>
              </a:solidFill>
            </a:ln>
          </p:spPr>
          <p:txBody>
            <a:bodyPr wrap="square" lIns="0" tIns="0" rIns="0" bIns="0" rtlCol="0"/>
            <a:lstStyle/>
            <a:p>
              <a:endParaRPr/>
            </a:p>
          </p:txBody>
        </p:sp>
        <p:sp>
          <p:nvSpPr>
            <p:cNvPr id="11" name="object 10"/>
            <p:cNvSpPr txBox="1"/>
            <p:nvPr/>
          </p:nvSpPr>
          <p:spPr>
            <a:xfrm>
              <a:off x="8498174" y="1605828"/>
              <a:ext cx="3227202" cy="2775247"/>
            </a:xfrm>
            <a:prstGeom prst="rect">
              <a:avLst/>
            </a:prstGeom>
            <a:solidFill>
              <a:srgbClr val="ECEBEB"/>
            </a:solidFill>
          </p:spPr>
          <p:txBody>
            <a:bodyPr vert="horz" wrap="square" lIns="0" tIns="59055" rIns="0" bIns="0" rtlCol="0">
              <a:spAutoFit/>
            </a:bodyPr>
            <a:lstStyle/>
            <a:p>
              <a:pPr marL="91440">
                <a:lnSpc>
                  <a:spcPct val="150000"/>
                </a:lnSpc>
                <a:spcBef>
                  <a:spcPts val="465"/>
                </a:spcBef>
              </a:pPr>
              <a:r>
                <a:rPr sz="2000" u="sng" dirty="0" err="1">
                  <a:solidFill>
                    <a:srgbClr val="800000"/>
                  </a:solidFill>
                  <a:uFill>
                    <a:solidFill>
                      <a:srgbClr val="941100"/>
                    </a:solidFill>
                  </a:uFill>
                  <a:latin typeface="微软雅黑" panose="020B0503020204020204" pitchFamily="34" charset="-122"/>
                  <a:ea typeface="微软雅黑" panose="020B0503020204020204" pitchFamily="34" charset="-122"/>
                  <a:cs typeface="华文细黑" panose="02010600040101010101" charset="-122"/>
                </a:rPr>
                <a:t>软件老化的特征</a:t>
              </a:r>
              <a:endParaRPr sz="2000" dirty="0">
                <a:latin typeface="微软雅黑" panose="020B0503020204020204" pitchFamily="34" charset="-122"/>
                <a:ea typeface="微软雅黑" panose="020B0503020204020204" pitchFamily="34" charset="-122"/>
                <a:cs typeface="华文细黑" panose="02010600040101010101" charset="-122"/>
              </a:endParaRPr>
            </a:p>
            <a:p>
              <a:pPr marL="377190" indent="-285750">
                <a:lnSpc>
                  <a:spcPct val="150000"/>
                </a:lnSpc>
                <a:buFont typeface="Arial" panose="020B0604020202020204"/>
                <a:buChar char="•"/>
                <a:tabLst>
                  <a:tab pos="376555" algn="l"/>
                  <a:tab pos="377190" algn="l"/>
                </a:tabLst>
              </a:pPr>
              <a:r>
                <a:rPr sz="2000" dirty="0">
                  <a:solidFill>
                    <a:srgbClr val="800000"/>
                  </a:solidFill>
                  <a:latin typeface="微软雅黑" panose="020B0503020204020204" pitchFamily="34" charset="-122"/>
                  <a:ea typeface="微软雅黑" panose="020B0503020204020204" pitchFamily="34" charset="-122"/>
                  <a:cs typeface="华文细黑" panose="02010600040101010101" charset="-122"/>
                </a:rPr>
                <a:t>修改难</a:t>
              </a:r>
              <a:endParaRPr sz="2000" dirty="0">
                <a:latin typeface="微软雅黑" panose="020B0503020204020204" pitchFamily="34" charset="-122"/>
                <a:ea typeface="微软雅黑" panose="020B0503020204020204" pitchFamily="34" charset="-122"/>
                <a:cs typeface="华文细黑" panose="02010600040101010101" charset="-122"/>
              </a:endParaRPr>
            </a:p>
            <a:p>
              <a:pPr marL="377190" indent="-285750">
                <a:lnSpc>
                  <a:spcPct val="150000"/>
                </a:lnSpc>
                <a:spcBef>
                  <a:spcPts val="40"/>
                </a:spcBef>
                <a:buFont typeface="Arial" panose="020B0604020202020204"/>
                <a:buChar char="•"/>
                <a:tabLst>
                  <a:tab pos="376555" algn="l"/>
                  <a:tab pos="377190" algn="l"/>
                </a:tabLst>
              </a:pPr>
              <a:r>
                <a:rPr sz="2000" dirty="0">
                  <a:solidFill>
                    <a:srgbClr val="800000"/>
                  </a:solidFill>
                  <a:latin typeface="微软雅黑" panose="020B0503020204020204" pitchFamily="34" charset="-122"/>
                  <a:ea typeface="微软雅黑" panose="020B0503020204020204" pitchFamily="34" charset="-122"/>
                  <a:cs typeface="华文细黑" panose="02010600040101010101" charset="-122"/>
                </a:rPr>
                <a:t>很脆弱</a:t>
              </a:r>
              <a:endParaRPr sz="2000" dirty="0">
                <a:latin typeface="微软雅黑" panose="020B0503020204020204" pitchFamily="34" charset="-122"/>
                <a:ea typeface="微软雅黑" panose="020B0503020204020204" pitchFamily="34" charset="-122"/>
                <a:cs typeface="华文细黑" panose="02010600040101010101" charset="-122"/>
              </a:endParaRPr>
            </a:p>
            <a:p>
              <a:pPr marL="377190" indent="-285750">
                <a:lnSpc>
                  <a:spcPct val="150000"/>
                </a:lnSpc>
                <a:buFont typeface="Arial" panose="020B0604020202020204"/>
                <a:buChar char="•"/>
                <a:tabLst>
                  <a:tab pos="376555" algn="l"/>
                  <a:tab pos="377190" algn="l"/>
                </a:tabLst>
              </a:pPr>
              <a:r>
                <a:rPr sz="2000" dirty="0">
                  <a:solidFill>
                    <a:srgbClr val="800000"/>
                  </a:solidFill>
                  <a:latin typeface="微软雅黑" panose="020B0503020204020204" pitchFamily="34" charset="-122"/>
                  <a:ea typeface="微软雅黑" panose="020B0503020204020204" pitchFamily="34" charset="-122"/>
                  <a:cs typeface="华文细黑" panose="02010600040101010101" charset="-122"/>
                </a:rPr>
                <a:t>移植难</a:t>
              </a:r>
              <a:endParaRPr sz="2000" dirty="0">
                <a:latin typeface="微软雅黑" panose="020B0503020204020204" pitchFamily="34" charset="-122"/>
                <a:ea typeface="微软雅黑" panose="020B0503020204020204" pitchFamily="34" charset="-122"/>
                <a:cs typeface="华文细黑" panose="02010600040101010101" charset="-122"/>
              </a:endParaRPr>
            </a:p>
            <a:p>
              <a:pPr marL="377190" indent="-285750">
                <a:lnSpc>
                  <a:spcPct val="150000"/>
                </a:lnSpc>
                <a:spcBef>
                  <a:spcPts val="40"/>
                </a:spcBef>
                <a:buFont typeface="Arial" panose="020B0604020202020204"/>
                <a:buChar char="•"/>
                <a:tabLst>
                  <a:tab pos="376555" algn="l"/>
                  <a:tab pos="377190" algn="l"/>
                </a:tabLst>
              </a:pPr>
              <a:r>
                <a:rPr sz="2000" dirty="0" err="1">
                  <a:solidFill>
                    <a:srgbClr val="800000"/>
                  </a:solidFill>
                  <a:latin typeface="微软雅黑" panose="020B0503020204020204" pitchFamily="34" charset="-122"/>
                  <a:ea typeface="微软雅黑" panose="020B0503020204020204" pitchFamily="34" charset="-122"/>
                  <a:cs typeface="华文细黑" panose="02010600040101010101" charset="-122"/>
                </a:rPr>
                <a:t>重用难</a:t>
              </a:r>
              <a:endParaRPr sz="2000" dirty="0">
                <a:latin typeface="微软雅黑" panose="020B0503020204020204" pitchFamily="34" charset="-122"/>
                <a:ea typeface="微软雅黑" panose="020B0503020204020204" pitchFamily="34" charset="-122"/>
                <a:cs typeface="华文细黑" panose="02010600040101010101" charset="-122"/>
              </a:endParaRPr>
            </a:p>
            <a:p>
              <a:pPr marL="377190" indent="-285750">
                <a:lnSpc>
                  <a:spcPct val="150000"/>
                </a:lnSpc>
                <a:buFont typeface="Arial" panose="020B0604020202020204"/>
                <a:buChar char="•"/>
                <a:tabLst>
                  <a:tab pos="376555" algn="l"/>
                  <a:tab pos="377190" algn="l"/>
                </a:tabLst>
              </a:pPr>
              <a:r>
                <a:rPr sz="2000" dirty="0" err="1">
                  <a:solidFill>
                    <a:srgbClr val="800000"/>
                  </a:solidFill>
                  <a:latin typeface="微软雅黑" panose="020B0503020204020204" pitchFamily="34" charset="-122"/>
                  <a:ea typeface="微软雅黑" panose="020B0503020204020204" pitchFamily="34" charset="-122"/>
                  <a:cs typeface="华文细黑" panose="02010600040101010101" charset="-122"/>
                </a:rPr>
                <a:t>粘性强（设计</a:t>
              </a:r>
              <a:r>
                <a:rPr lang="en-US" altLang="zh-CN" sz="2000" dirty="0">
                  <a:solidFill>
                    <a:srgbClr val="800000"/>
                  </a:solidFill>
                  <a:latin typeface="微软雅黑" panose="020B0503020204020204" pitchFamily="34" charset="-122"/>
                  <a:ea typeface="微软雅黑" panose="020B0503020204020204" pitchFamily="34" charset="-122"/>
                  <a:cs typeface="华文细黑" panose="02010600040101010101" charset="-122"/>
                </a:rPr>
                <a:t> </a:t>
              </a:r>
              <a:r>
                <a:rPr sz="2000" baseline="3000" dirty="0">
                  <a:solidFill>
                    <a:srgbClr val="941100"/>
                  </a:solidFill>
                  <a:latin typeface="微软雅黑" panose="020B0503020204020204" pitchFamily="34" charset="-122"/>
                  <a:ea typeface="微软雅黑" panose="020B0503020204020204" pitchFamily="34" charset="-122"/>
                  <a:cs typeface="Comic Sans MS" panose="030F0702030302020204"/>
                </a:rPr>
                <a:t>+</a:t>
              </a:r>
              <a:r>
                <a:rPr lang="en-US" altLang="zh-CN" sz="2000" baseline="3000" dirty="0">
                  <a:solidFill>
                    <a:srgbClr val="941100"/>
                  </a:solidFill>
                  <a:latin typeface="微软雅黑" panose="020B0503020204020204" pitchFamily="34" charset="-122"/>
                  <a:ea typeface="微软雅黑" panose="020B0503020204020204" pitchFamily="34" charset="-122"/>
                  <a:cs typeface="Comic Sans MS" panose="030F0702030302020204"/>
                </a:rPr>
                <a:t> </a:t>
              </a:r>
              <a:r>
                <a:rPr sz="2000" dirty="0" err="1">
                  <a:solidFill>
                    <a:srgbClr val="800000"/>
                  </a:solidFill>
                  <a:latin typeface="微软雅黑" panose="020B0503020204020204" pitchFamily="34" charset="-122"/>
                  <a:ea typeface="微软雅黑" panose="020B0503020204020204" pitchFamily="34" charset="-122"/>
                  <a:cs typeface="华文细黑" panose="02010600040101010101" charset="-122"/>
                </a:rPr>
                <a:t>环境</a:t>
              </a:r>
              <a:r>
                <a:rPr lang="zh-CN" altLang="en-US" sz="2000" dirty="0">
                  <a:solidFill>
                    <a:srgbClr val="800000"/>
                  </a:solidFill>
                  <a:latin typeface="微软雅黑" panose="020B0503020204020204" pitchFamily="34" charset="-122"/>
                  <a:ea typeface="微软雅黑" panose="020B0503020204020204" pitchFamily="34" charset="-122"/>
                  <a:cs typeface="华文细黑" panose="02010600040101010101" charset="-122"/>
                </a:rPr>
                <a:t>）</a:t>
              </a:r>
              <a:endParaRPr sz="2000" dirty="0">
                <a:latin typeface="微软雅黑" panose="020B0503020204020204" pitchFamily="34" charset="-122"/>
                <a:ea typeface="微软雅黑" panose="020B0503020204020204" pitchFamily="34" charset="-122"/>
                <a:cs typeface="华文细黑" panose="02010600040101010101" charset="-122"/>
              </a:endParaRPr>
            </a:p>
          </p:txBody>
        </p:sp>
        <p:sp>
          <p:nvSpPr>
            <p:cNvPr id="13" name="object 12"/>
            <p:cNvSpPr txBox="1"/>
            <p:nvPr/>
          </p:nvSpPr>
          <p:spPr>
            <a:xfrm>
              <a:off x="4639985" y="4424354"/>
              <a:ext cx="93980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800000"/>
                  </a:solidFill>
                  <a:latin typeface="华文细黑" panose="02010600040101010101" charset="-122"/>
                  <a:cs typeface="华文细黑" panose="02010600040101010101" charset="-122"/>
                </a:rPr>
                <a:t>需求变更</a:t>
              </a:r>
              <a:endParaRPr sz="1800">
                <a:latin typeface="华文细黑" panose="02010600040101010101" charset="-122"/>
                <a:cs typeface="华文细黑" panose="02010600040101010101" charset="-122"/>
              </a:endParaRPr>
            </a:p>
          </p:txBody>
        </p:sp>
        <p:sp>
          <p:nvSpPr>
            <p:cNvPr id="14" name="object 13"/>
            <p:cNvSpPr/>
            <p:nvPr/>
          </p:nvSpPr>
          <p:spPr>
            <a:xfrm>
              <a:off x="5713373" y="3964345"/>
              <a:ext cx="487680" cy="557530"/>
            </a:xfrm>
            <a:custGeom>
              <a:avLst/>
              <a:gdLst/>
              <a:ahLst/>
              <a:cxnLst/>
              <a:rect l="l" t="t" r="r" b="b"/>
              <a:pathLst>
                <a:path w="487679" h="557529">
                  <a:moveTo>
                    <a:pt x="0" y="557290"/>
                  </a:moveTo>
                  <a:lnTo>
                    <a:pt x="487437" y="0"/>
                  </a:lnTo>
                </a:path>
              </a:pathLst>
            </a:custGeom>
            <a:ln w="12699">
              <a:solidFill>
                <a:srgbClr val="941100"/>
              </a:solidFill>
            </a:ln>
          </p:spPr>
          <p:txBody>
            <a:bodyPr wrap="square" lIns="0" tIns="0" rIns="0" bIns="0" rtlCol="0"/>
            <a:lstStyle/>
            <a:p>
              <a:endParaRPr/>
            </a:p>
          </p:txBody>
        </p:sp>
        <p:sp>
          <p:nvSpPr>
            <p:cNvPr id="15" name="object 14"/>
            <p:cNvSpPr/>
            <p:nvPr/>
          </p:nvSpPr>
          <p:spPr>
            <a:xfrm>
              <a:off x="6102913" y="3945373"/>
              <a:ext cx="114491" cy="119390"/>
            </a:xfrm>
            <a:prstGeom prst="rect">
              <a:avLst/>
            </a:prstGeom>
            <a:blipFill>
              <a:blip r:embed="rId3" cstate="print"/>
              <a:stretch>
                <a:fillRect/>
              </a:stretch>
            </a:blipFill>
          </p:spPr>
          <p:txBody>
            <a:bodyPr wrap="square" lIns="0" tIns="0" rIns="0" bIns="0" rtlCol="0"/>
            <a:lstStyle/>
            <a:p>
              <a:endParaRPr/>
            </a:p>
          </p:txBody>
        </p:sp>
      </p:grpSp>
      <p:sp>
        <p:nvSpPr>
          <p:cNvPr id="17" name="object 4"/>
          <p:cNvSpPr txBox="1"/>
          <p:nvPr/>
        </p:nvSpPr>
        <p:spPr>
          <a:xfrm>
            <a:off x="2088342" y="5635115"/>
            <a:ext cx="8015316" cy="382156"/>
          </a:xfrm>
          <a:prstGeom prst="rect">
            <a:avLst/>
          </a:prstGeom>
        </p:spPr>
        <p:txBody>
          <a:bodyPr vert="horz" wrap="square" lIns="0" tIns="12700" rIns="0" bIns="0" rtlCol="0">
            <a:spAutoFit/>
          </a:bodyPr>
          <a:lstStyle/>
          <a:p>
            <a:pPr marL="12700" algn="ctr">
              <a:lnSpc>
                <a:spcPct val="100000"/>
              </a:lnSpc>
              <a:spcBef>
                <a:spcPts val="100"/>
              </a:spcBef>
              <a:tabLst>
                <a:tab pos="240665" algn="l"/>
                <a:tab pos="241300" algn="l"/>
              </a:tabLst>
            </a:pPr>
            <a:r>
              <a:rPr sz="2400" b="1" dirty="0" err="1">
                <a:solidFill>
                  <a:srgbClr val="800000"/>
                </a:solidFill>
                <a:latin typeface="微软雅黑" panose="020B0503020204020204" pitchFamily="34" charset="-122"/>
                <a:ea typeface="微软雅黑" panose="020B0503020204020204" pitchFamily="34" charset="-122"/>
                <a:cs typeface="华文细黑" panose="02010600040101010101" charset="-122"/>
              </a:rPr>
              <a:t>简单性</a:t>
            </a:r>
            <a:r>
              <a:rPr sz="2400" b="1" dirty="0" err="1">
                <a:solidFill>
                  <a:srgbClr val="941100"/>
                </a:solidFill>
                <a:latin typeface="微软雅黑" panose="020B0503020204020204" pitchFamily="34" charset="-122"/>
                <a:ea typeface="微软雅黑" panose="020B0503020204020204" pitchFamily="34" charset="-122"/>
                <a:cs typeface="华文细黑" panose="02010600040101010101" charset="-122"/>
              </a:rPr>
              <a:t>：</a:t>
            </a:r>
            <a:r>
              <a:rPr sz="2400" b="1" dirty="0" err="1">
                <a:solidFill>
                  <a:srgbClr val="800000"/>
                </a:solidFill>
                <a:latin typeface="微软雅黑" panose="020B0503020204020204" pitchFamily="34" charset="-122"/>
                <a:ea typeface="微软雅黑" panose="020B0503020204020204" pitchFamily="34" charset="-122"/>
                <a:cs typeface="华文细黑" panose="02010600040101010101" charset="-122"/>
              </a:rPr>
              <a:t>实现简单</a:t>
            </a:r>
            <a:r>
              <a:rPr sz="2400" b="1" dirty="0" err="1">
                <a:solidFill>
                  <a:srgbClr val="941100"/>
                </a:solidFill>
                <a:latin typeface="微软雅黑" panose="020B0503020204020204" pitchFamily="34" charset="-122"/>
                <a:ea typeface="微软雅黑" panose="020B0503020204020204" pitchFamily="34" charset="-122"/>
                <a:cs typeface="华文细黑" panose="02010600040101010101" charset="-122"/>
              </a:rPr>
              <a:t>，</a:t>
            </a:r>
            <a:r>
              <a:rPr sz="2400" b="1" dirty="0" err="1">
                <a:solidFill>
                  <a:srgbClr val="800000"/>
                </a:solidFill>
                <a:latin typeface="微软雅黑" panose="020B0503020204020204" pitchFamily="34" charset="-122"/>
                <a:ea typeface="微软雅黑" panose="020B0503020204020204" pitchFamily="34" charset="-122"/>
                <a:cs typeface="华文细黑" panose="02010600040101010101" charset="-122"/>
              </a:rPr>
              <a:t>使用简单</a:t>
            </a:r>
            <a:r>
              <a:rPr sz="2400" b="1" dirty="0" err="1">
                <a:solidFill>
                  <a:srgbClr val="941100"/>
                </a:solidFill>
                <a:latin typeface="微软雅黑" panose="020B0503020204020204" pitchFamily="34" charset="-122"/>
                <a:ea typeface="微软雅黑" panose="020B0503020204020204" pitchFamily="34" charset="-122"/>
                <a:cs typeface="华文细黑" panose="02010600040101010101" charset="-122"/>
              </a:rPr>
              <a:t>，</a:t>
            </a:r>
            <a:r>
              <a:rPr sz="2400" b="1" dirty="0" err="1">
                <a:solidFill>
                  <a:srgbClr val="800000"/>
                </a:solidFill>
                <a:latin typeface="微软雅黑" panose="020B0503020204020204" pitchFamily="34" charset="-122"/>
                <a:ea typeface="微软雅黑" panose="020B0503020204020204" pitchFamily="34" charset="-122"/>
                <a:cs typeface="华文细黑" panose="02010600040101010101" charset="-122"/>
              </a:rPr>
              <a:t>理解简单</a:t>
            </a:r>
            <a:r>
              <a:rPr sz="2400" b="1" dirty="0" err="1">
                <a:solidFill>
                  <a:srgbClr val="941100"/>
                </a:solidFill>
                <a:latin typeface="微软雅黑" panose="020B0503020204020204" pitchFamily="34" charset="-122"/>
                <a:ea typeface="微软雅黑" panose="020B0503020204020204" pitchFamily="34" charset="-122"/>
                <a:cs typeface="华文细黑" panose="02010600040101010101" charset="-122"/>
              </a:rPr>
              <a:t>，</a:t>
            </a:r>
            <a:r>
              <a:rPr sz="2400" b="1" dirty="0" err="1">
                <a:solidFill>
                  <a:srgbClr val="800000"/>
                </a:solidFill>
                <a:latin typeface="微软雅黑" panose="020B0503020204020204" pitchFamily="34" charset="-122"/>
                <a:ea typeface="微软雅黑" panose="020B0503020204020204" pitchFamily="34" charset="-122"/>
                <a:cs typeface="华文细黑" panose="02010600040101010101" charset="-122"/>
              </a:rPr>
              <a:t>维护简单</a:t>
            </a:r>
            <a:endParaRPr sz="2400" b="1" dirty="0">
              <a:latin typeface="微软雅黑" panose="020B0503020204020204" pitchFamily="34" charset="-122"/>
              <a:ea typeface="微软雅黑" panose="020B0503020204020204" pitchFamily="34" charset="-122"/>
              <a:cs typeface="华文细黑" panose="02010600040101010101"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76959"/>
    </mc:Choice>
    <mc:Fallback xmlns="">
      <p:transition spd="slow" advTm="76959"/>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838200" y="1526049"/>
            <a:ext cx="11130454" cy="4467890"/>
          </a:xfrm>
          <a:prstGeom prst="rect">
            <a:avLst/>
          </a:prstGeom>
        </p:spPr>
        <p:txBody>
          <a:bodyPr vert="horz" wrap="square" lIns="0" tIns="190500" rIns="0" bIns="0" rtlCol="0">
            <a:spAutoFit/>
          </a:bodyPr>
          <a:lstStyle/>
          <a:p>
            <a:pPr marL="355600" indent="-342900">
              <a:lnSpc>
                <a:spcPct val="100000"/>
              </a:lnSpc>
              <a:spcBef>
                <a:spcPts val="1500"/>
              </a:spcBef>
              <a:buAutoNum type="arabicPeriod"/>
              <a:tabLst>
                <a:tab pos="355600" algn="l"/>
              </a:tabLst>
            </a:pPr>
            <a:r>
              <a:rPr sz="2400" dirty="0">
                <a:solidFill>
                  <a:srgbClr val="800000"/>
                </a:solidFill>
                <a:latin typeface="微软雅黑" panose="020B0503020204020204" pitchFamily="34" charset="-122"/>
                <a:ea typeface="微软雅黑" panose="020B0503020204020204" pitchFamily="34" charset="-122"/>
                <a:cs typeface="黑体" panose="02010609060101010101" charset="-122"/>
              </a:rPr>
              <a:t>不同类中相似方法的名字应该相同</a:t>
            </a:r>
            <a:endParaRPr sz="2400" dirty="0">
              <a:latin typeface="微软雅黑" panose="020B0503020204020204" pitchFamily="34" charset="-122"/>
              <a:ea typeface="微软雅黑" panose="020B0503020204020204" pitchFamily="34" charset="-122"/>
              <a:cs typeface="黑体" panose="02010609060101010101" charset="-122"/>
            </a:endParaRPr>
          </a:p>
          <a:p>
            <a:pPr marL="393700" indent="-381000">
              <a:lnSpc>
                <a:spcPct val="100000"/>
              </a:lnSpc>
              <a:spcBef>
                <a:spcPts val="1400"/>
              </a:spcBef>
              <a:buAutoNum type="arabicPeriod"/>
              <a:tabLst>
                <a:tab pos="393700" algn="l"/>
              </a:tabLst>
            </a:pPr>
            <a:r>
              <a:rPr sz="2400" dirty="0">
                <a:solidFill>
                  <a:srgbClr val="800000"/>
                </a:solidFill>
                <a:latin typeface="微软雅黑" panose="020B0503020204020204" pitchFamily="34" charset="-122"/>
                <a:ea typeface="微软雅黑" panose="020B0503020204020204" pitchFamily="34" charset="-122"/>
                <a:cs typeface="黑体" panose="02010609060101010101" charset="-122"/>
              </a:rPr>
              <a:t>遵守已有的约定俗成的习惯</a:t>
            </a:r>
            <a:endParaRPr sz="2400" dirty="0">
              <a:latin typeface="微软雅黑" panose="020B0503020204020204" pitchFamily="34" charset="-122"/>
              <a:ea typeface="微软雅黑" panose="020B0503020204020204" pitchFamily="34" charset="-122"/>
              <a:cs typeface="黑体" panose="02010609060101010101" charset="-122"/>
            </a:endParaRPr>
          </a:p>
          <a:p>
            <a:pPr marL="393700" indent="-381000">
              <a:lnSpc>
                <a:spcPct val="100000"/>
              </a:lnSpc>
              <a:spcBef>
                <a:spcPts val="1500"/>
              </a:spcBef>
              <a:buAutoNum type="arabicPeriod"/>
              <a:tabLst>
                <a:tab pos="393700" algn="l"/>
              </a:tabLst>
            </a:pPr>
            <a:r>
              <a:rPr sz="2400" dirty="0">
                <a:solidFill>
                  <a:srgbClr val="800000"/>
                </a:solidFill>
                <a:latin typeface="微软雅黑" panose="020B0503020204020204" pitchFamily="34" charset="-122"/>
                <a:ea typeface="微软雅黑" panose="020B0503020204020204" pitchFamily="34" charset="-122"/>
                <a:cs typeface="黑体" panose="02010609060101010101" charset="-122"/>
              </a:rPr>
              <a:t>尽量减少消息模式的数目</a:t>
            </a:r>
            <a:r>
              <a:rPr sz="2400" dirty="0">
                <a:solidFill>
                  <a:srgbClr val="941100"/>
                </a:solidFill>
                <a:latin typeface="微软雅黑" panose="020B0503020204020204" pitchFamily="34" charset="-122"/>
                <a:ea typeface="微软雅黑" panose="020B0503020204020204" pitchFamily="34" charset="-122"/>
                <a:cs typeface="黑体" panose="02010609060101010101" charset="-122"/>
              </a:rPr>
              <a:t>。</a:t>
            </a:r>
            <a:r>
              <a:rPr sz="2400" dirty="0">
                <a:solidFill>
                  <a:srgbClr val="800000"/>
                </a:solidFill>
                <a:latin typeface="微软雅黑" panose="020B0503020204020204" pitchFamily="34" charset="-122"/>
                <a:ea typeface="微软雅黑" panose="020B0503020204020204" pitchFamily="34" charset="-122"/>
                <a:cs typeface="黑体" panose="02010609060101010101" charset="-122"/>
              </a:rPr>
              <a:t>只要可能</a:t>
            </a:r>
            <a:r>
              <a:rPr sz="2400" dirty="0">
                <a:solidFill>
                  <a:srgbClr val="941100"/>
                </a:solidFill>
                <a:latin typeface="微软雅黑" panose="020B0503020204020204" pitchFamily="34" charset="-122"/>
                <a:ea typeface="微软雅黑" panose="020B0503020204020204" pitchFamily="34" charset="-122"/>
                <a:cs typeface="黑体" panose="02010609060101010101" charset="-122"/>
              </a:rPr>
              <a:t>，</a:t>
            </a:r>
            <a:r>
              <a:rPr sz="2400" dirty="0">
                <a:solidFill>
                  <a:srgbClr val="800000"/>
                </a:solidFill>
                <a:latin typeface="微软雅黑" panose="020B0503020204020204" pitchFamily="34" charset="-122"/>
                <a:ea typeface="微软雅黑" panose="020B0503020204020204" pitchFamily="34" charset="-122"/>
                <a:cs typeface="黑体" panose="02010609060101010101" charset="-122"/>
              </a:rPr>
              <a:t>就使消息具有一致的模式</a:t>
            </a:r>
            <a:r>
              <a:rPr sz="2400" dirty="0">
                <a:solidFill>
                  <a:srgbClr val="941100"/>
                </a:solidFill>
                <a:latin typeface="微软雅黑" panose="020B0503020204020204" pitchFamily="34" charset="-122"/>
                <a:ea typeface="微软雅黑" panose="020B0503020204020204" pitchFamily="34" charset="-122"/>
                <a:cs typeface="黑体" panose="02010609060101010101" charset="-122"/>
              </a:rPr>
              <a:t>，</a:t>
            </a:r>
            <a:r>
              <a:rPr sz="2400" dirty="0">
                <a:solidFill>
                  <a:srgbClr val="800000"/>
                </a:solidFill>
                <a:latin typeface="微软雅黑" panose="020B0503020204020204" pitchFamily="34" charset="-122"/>
                <a:ea typeface="微软雅黑" panose="020B0503020204020204" pitchFamily="34" charset="-122"/>
                <a:cs typeface="黑体" panose="02010609060101010101" charset="-122"/>
              </a:rPr>
              <a:t>以利于理解</a:t>
            </a:r>
            <a:r>
              <a:rPr sz="2400" dirty="0">
                <a:solidFill>
                  <a:srgbClr val="941100"/>
                </a:solidFill>
                <a:latin typeface="微软雅黑" panose="020B0503020204020204" pitchFamily="34" charset="-122"/>
                <a:ea typeface="微软雅黑" panose="020B0503020204020204" pitchFamily="34" charset="-122"/>
                <a:cs typeface="黑体" panose="02010609060101010101" charset="-122"/>
              </a:rPr>
              <a:t>。</a:t>
            </a:r>
            <a:endParaRPr sz="2400" dirty="0">
              <a:latin typeface="微软雅黑" panose="020B0503020204020204" pitchFamily="34" charset="-122"/>
              <a:ea typeface="微软雅黑" panose="020B0503020204020204" pitchFamily="34" charset="-122"/>
              <a:cs typeface="黑体" panose="02010609060101010101" charset="-122"/>
            </a:endParaRPr>
          </a:p>
          <a:p>
            <a:pPr marL="393700" indent="-381000">
              <a:lnSpc>
                <a:spcPct val="100000"/>
              </a:lnSpc>
              <a:spcBef>
                <a:spcPts val="1500"/>
              </a:spcBef>
              <a:buAutoNum type="arabicPeriod"/>
              <a:tabLst>
                <a:tab pos="393700" algn="l"/>
              </a:tabLst>
            </a:pPr>
            <a:r>
              <a:rPr sz="2400" dirty="0">
                <a:solidFill>
                  <a:srgbClr val="800000"/>
                </a:solidFill>
                <a:latin typeface="微软雅黑" panose="020B0503020204020204" pitchFamily="34" charset="-122"/>
                <a:ea typeface="微软雅黑" panose="020B0503020204020204" pitchFamily="34" charset="-122"/>
                <a:cs typeface="黑体" panose="02010609060101010101" charset="-122"/>
              </a:rPr>
              <a:t>设计简单的类</a:t>
            </a:r>
            <a:r>
              <a:rPr sz="2400" dirty="0">
                <a:solidFill>
                  <a:srgbClr val="941100"/>
                </a:solidFill>
                <a:latin typeface="微软雅黑" panose="020B0503020204020204" pitchFamily="34" charset="-122"/>
                <a:ea typeface="微软雅黑" panose="020B0503020204020204" pitchFamily="34" charset="-122"/>
                <a:cs typeface="黑体" panose="02010609060101010101" charset="-122"/>
              </a:rPr>
              <a:t>。</a:t>
            </a:r>
            <a:r>
              <a:rPr sz="2400" dirty="0">
                <a:solidFill>
                  <a:srgbClr val="800000"/>
                </a:solidFill>
                <a:latin typeface="微软雅黑" panose="020B0503020204020204" pitchFamily="34" charset="-122"/>
                <a:ea typeface="微软雅黑" panose="020B0503020204020204" pitchFamily="34" charset="-122"/>
                <a:cs typeface="黑体" panose="02010609060101010101" charset="-122"/>
              </a:rPr>
              <a:t>类的职责要明确</a:t>
            </a:r>
            <a:r>
              <a:rPr sz="2400" dirty="0">
                <a:solidFill>
                  <a:srgbClr val="941100"/>
                </a:solidFill>
                <a:latin typeface="微软雅黑" panose="020B0503020204020204" pitchFamily="34" charset="-122"/>
                <a:ea typeface="微软雅黑" panose="020B0503020204020204" pitchFamily="34" charset="-122"/>
                <a:cs typeface="黑体" panose="02010609060101010101" charset="-122"/>
              </a:rPr>
              <a:t>，</a:t>
            </a:r>
            <a:r>
              <a:rPr sz="2400" dirty="0">
                <a:solidFill>
                  <a:srgbClr val="800000"/>
                </a:solidFill>
                <a:latin typeface="微软雅黑" panose="020B0503020204020204" pitchFamily="34" charset="-122"/>
                <a:ea typeface="微软雅黑" panose="020B0503020204020204" pitchFamily="34" charset="-122"/>
                <a:cs typeface="黑体" panose="02010609060101010101" charset="-122"/>
              </a:rPr>
              <a:t>应该从类名就可以较容易地推断出类的用途</a:t>
            </a:r>
            <a:r>
              <a:rPr sz="2400" dirty="0">
                <a:solidFill>
                  <a:srgbClr val="941100"/>
                </a:solidFill>
                <a:latin typeface="微软雅黑" panose="020B0503020204020204" pitchFamily="34" charset="-122"/>
                <a:ea typeface="微软雅黑" panose="020B0503020204020204" pitchFamily="34" charset="-122"/>
                <a:cs typeface="黑体" panose="02010609060101010101" charset="-122"/>
              </a:rPr>
              <a:t>。</a:t>
            </a:r>
            <a:endParaRPr sz="2400" dirty="0">
              <a:latin typeface="微软雅黑" panose="020B0503020204020204" pitchFamily="34" charset="-122"/>
              <a:ea typeface="微软雅黑" panose="020B0503020204020204" pitchFamily="34" charset="-122"/>
              <a:cs typeface="黑体" panose="02010609060101010101" charset="-122"/>
            </a:endParaRPr>
          </a:p>
          <a:p>
            <a:pPr marL="393700" indent="-381000">
              <a:lnSpc>
                <a:spcPct val="100000"/>
              </a:lnSpc>
              <a:spcBef>
                <a:spcPts val="1500"/>
              </a:spcBef>
              <a:buAutoNum type="arabicPeriod"/>
              <a:tabLst>
                <a:tab pos="393700" algn="l"/>
              </a:tabLst>
            </a:pPr>
            <a:r>
              <a:rPr sz="2400" dirty="0">
                <a:solidFill>
                  <a:srgbClr val="800000"/>
                </a:solidFill>
                <a:latin typeface="微软雅黑" panose="020B0503020204020204" pitchFamily="34" charset="-122"/>
                <a:ea typeface="微软雅黑" panose="020B0503020204020204" pitchFamily="34" charset="-122"/>
                <a:cs typeface="黑体" panose="02010609060101010101" charset="-122"/>
              </a:rPr>
              <a:t>定义简单的操作</a:t>
            </a:r>
            <a:r>
              <a:rPr sz="2400" dirty="0">
                <a:solidFill>
                  <a:srgbClr val="941100"/>
                </a:solidFill>
                <a:latin typeface="微软雅黑" panose="020B0503020204020204" pitchFamily="34" charset="-122"/>
                <a:ea typeface="微软雅黑" panose="020B0503020204020204" pitchFamily="34" charset="-122"/>
                <a:cs typeface="黑体" panose="02010609060101010101" charset="-122"/>
              </a:rPr>
              <a:t>、</a:t>
            </a:r>
            <a:r>
              <a:rPr sz="2400" dirty="0">
                <a:solidFill>
                  <a:srgbClr val="800000"/>
                </a:solidFill>
                <a:latin typeface="微软雅黑" panose="020B0503020204020204" pitchFamily="34" charset="-122"/>
                <a:ea typeface="微软雅黑" panose="020B0503020204020204" pitchFamily="34" charset="-122"/>
                <a:cs typeface="黑体" panose="02010609060101010101" charset="-122"/>
              </a:rPr>
              <a:t>方法</a:t>
            </a:r>
            <a:endParaRPr sz="2400" dirty="0">
              <a:latin typeface="微软雅黑" panose="020B0503020204020204" pitchFamily="34" charset="-122"/>
              <a:ea typeface="微软雅黑" panose="020B0503020204020204" pitchFamily="34" charset="-122"/>
              <a:cs typeface="黑体" panose="02010609060101010101" charset="-122"/>
            </a:endParaRPr>
          </a:p>
          <a:p>
            <a:pPr marL="393700" indent="-381000">
              <a:lnSpc>
                <a:spcPct val="100000"/>
              </a:lnSpc>
              <a:spcBef>
                <a:spcPts val="1500"/>
              </a:spcBef>
              <a:buAutoNum type="arabicPeriod"/>
              <a:tabLst>
                <a:tab pos="393700" algn="l"/>
              </a:tabLst>
            </a:pPr>
            <a:r>
              <a:rPr sz="2400" dirty="0">
                <a:solidFill>
                  <a:srgbClr val="800000"/>
                </a:solidFill>
                <a:latin typeface="微软雅黑" panose="020B0503020204020204" pitchFamily="34" charset="-122"/>
                <a:ea typeface="微软雅黑" panose="020B0503020204020204" pitchFamily="34" charset="-122"/>
                <a:cs typeface="黑体" panose="02010609060101010101" charset="-122"/>
              </a:rPr>
              <a:t>定义简单的交互协议</a:t>
            </a:r>
            <a:endParaRPr sz="2400" dirty="0">
              <a:latin typeface="微软雅黑" panose="020B0503020204020204" pitchFamily="34" charset="-122"/>
              <a:ea typeface="微软雅黑" panose="020B0503020204020204" pitchFamily="34" charset="-122"/>
              <a:cs typeface="黑体" panose="02010609060101010101" charset="-122"/>
            </a:endParaRPr>
          </a:p>
          <a:p>
            <a:pPr marL="393700" indent="-381000">
              <a:lnSpc>
                <a:spcPct val="100000"/>
              </a:lnSpc>
              <a:spcBef>
                <a:spcPts val="1400"/>
              </a:spcBef>
              <a:buAutoNum type="arabicPeriod"/>
              <a:tabLst>
                <a:tab pos="393700" algn="l"/>
              </a:tabLst>
            </a:pPr>
            <a:r>
              <a:rPr sz="2400" dirty="0">
                <a:solidFill>
                  <a:srgbClr val="800000"/>
                </a:solidFill>
                <a:latin typeface="微软雅黑" panose="020B0503020204020204" pitchFamily="34" charset="-122"/>
                <a:ea typeface="微软雅黑" panose="020B0503020204020204" pitchFamily="34" charset="-122"/>
                <a:cs typeface="黑体" panose="02010609060101010101" charset="-122"/>
              </a:rPr>
              <a:t>泛化结构的深度要适当</a:t>
            </a:r>
            <a:endParaRPr sz="2400" dirty="0">
              <a:latin typeface="微软雅黑" panose="020B0503020204020204" pitchFamily="34" charset="-122"/>
              <a:ea typeface="微软雅黑" panose="020B0503020204020204" pitchFamily="34" charset="-122"/>
              <a:cs typeface="黑体" panose="02010609060101010101" charset="-122"/>
            </a:endParaRPr>
          </a:p>
          <a:p>
            <a:pPr marL="393700" indent="-381000">
              <a:lnSpc>
                <a:spcPct val="100000"/>
              </a:lnSpc>
              <a:spcBef>
                <a:spcPts val="1500"/>
              </a:spcBef>
              <a:buAutoNum type="arabicPeriod"/>
              <a:tabLst>
                <a:tab pos="393700" algn="l"/>
              </a:tabLst>
            </a:pPr>
            <a:r>
              <a:rPr sz="2400" dirty="0">
                <a:solidFill>
                  <a:srgbClr val="800000"/>
                </a:solidFill>
                <a:latin typeface="微软雅黑" panose="020B0503020204020204" pitchFamily="34" charset="-122"/>
                <a:ea typeface="微软雅黑" panose="020B0503020204020204" pitchFamily="34" charset="-122"/>
                <a:cs typeface="黑体" panose="02010609060101010101" charset="-122"/>
              </a:rPr>
              <a:t>把设计变动的副作用减至最少</a:t>
            </a:r>
            <a:endParaRPr sz="2400" dirty="0">
              <a:latin typeface="微软雅黑" panose="020B0503020204020204" pitchFamily="34" charset="-122"/>
              <a:ea typeface="微软雅黑" panose="020B0503020204020204" pitchFamily="34" charset="-122"/>
              <a:cs typeface="黑体" panose="02010609060101010101" charset="-122"/>
            </a:endParaRPr>
          </a:p>
        </p:txBody>
      </p:sp>
      <p:sp>
        <p:nvSpPr>
          <p:cNvPr id="6" name="标题 5"/>
          <p:cNvSpPr>
            <a:spLocks noGrp="1"/>
          </p:cNvSpPr>
          <p:nvPr>
            <p:ph type="title"/>
          </p:nvPr>
        </p:nvSpPr>
        <p:spPr/>
        <p:txBody>
          <a:bodyPr/>
          <a:lstStyle/>
          <a:p>
            <a:r>
              <a:rPr lang="en-US" altLang="zh-CN" dirty="0">
                <a:latin typeface="华文细黑" panose="02010600040101010101" charset="-122"/>
                <a:cs typeface="华文细黑" panose="02010600040101010101" charset="-122"/>
              </a:rPr>
              <a:t>O</a:t>
            </a:r>
            <a:r>
              <a:rPr lang="en-US" altLang="zh-CN" spc="-5" dirty="0">
                <a:latin typeface="华文细黑" panose="02010600040101010101" charset="-122"/>
                <a:cs typeface="华文细黑" panose="02010600040101010101" charset="-122"/>
              </a:rPr>
              <a:t>O</a:t>
            </a:r>
            <a:r>
              <a:rPr lang="zh-CN" altLang="en-US" spc="-235" dirty="0">
                <a:latin typeface="华文细黑" panose="02010600040101010101" charset="-122"/>
                <a:cs typeface="华文细黑" panose="02010600040101010101" charset="-122"/>
              </a:rPr>
              <a:t>设计时要注意的一些问题</a:t>
            </a:r>
            <a:endParaRPr lang="zh-CN" altLang="en-US" dirty="0"/>
          </a:p>
        </p:txBody>
      </p:sp>
      <p:sp>
        <p:nvSpPr>
          <p:cNvPr id="7" name="灯片编号占位符 6"/>
          <p:cNvSpPr>
            <a:spLocks noGrp="1"/>
          </p:cNvSpPr>
          <p:nvPr>
            <p:ph type="sldNum" sz="quarter" idx="12"/>
          </p:nvPr>
        </p:nvSpPr>
        <p:spPr/>
        <p:txBody>
          <a:bodyPr/>
          <a:lstStyle/>
          <a:p>
            <a:fld id="{74D2AB8B-5816-41F2-8B4B-CA5C3E4E6A65}" type="slidenum">
              <a:rPr lang="zh-CN" altLang="en-US" smtClean="0"/>
              <a:t>11</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61808"/>
    </mc:Choice>
    <mc:Fallback xmlns="">
      <p:transition spd="slow" advTm="61808"/>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74035" y="536713"/>
            <a:ext cx="10247243" cy="5016758"/>
          </a:xfrm>
          <a:prstGeom prst="rect">
            <a:avLst/>
          </a:prstGeom>
          <a:noFill/>
        </p:spPr>
        <p:txBody>
          <a:bodyPr wrap="square" rtlCol="0">
            <a:spAutoFit/>
          </a:bodyPr>
          <a:lstStyle/>
          <a:p>
            <a:r>
              <a:rPr lang="en-US" altLang="zh-CN"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a:t>
            </a:r>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狼人杀</a:t>
            </a:r>
            <a:r>
              <a:rPr lang="en-US" altLang="zh-CN"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a:t>
            </a:r>
            <a:r>
              <a:rPr lang="zh-CN" altLang="en-US" sz="20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rPr>
              <a:t>游戏</a:t>
            </a:r>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规则：</a:t>
            </a:r>
            <a:r>
              <a:rPr lang="zh-CN" altLang="en-US" sz="20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rPr>
              <a:t>狼人杀</a:t>
            </a:r>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游戏通过抽取</a:t>
            </a:r>
            <a:r>
              <a:rPr lang="zh-CN" altLang="en-US" sz="20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rPr>
              <a:t>卡牌</a:t>
            </a:r>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将</a:t>
            </a:r>
            <a:r>
              <a:rPr lang="zh-CN" altLang="en-US" sz="20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rPr>
              <a:t>参与游戏的人</a:t>
            </a:r>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分为两个对立的阵营：</a:t>
            </a:r>
            <a:r>
              <a:rPr lang="zh-CN" altLang="en-US" sz="20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rPr>
              <a:t>狼人</a:t>
            </a:r>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阵营和</a:t>
            </a:r>
            <a:r>
              <a:rPr lang="zh-CN" altLang="en-US" sz="20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rPr>
              <a:t>好人</a:t>
            </a:r>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阵营。好人阵营由</a:t>
            </a:r>
            <a:r>
              <a:rPr lang="zh-CN" altLang="en-US" sz="20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rPr>
              <a:t>平民</a:t>
            </a:r>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和</a:t>
            </a:r>
            <a:r>
              <a:rPr lang="zh-CN" altLang="en-US" sz="20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rPr>
              <a:t>神职人员</a:t>
            </a:r>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组成。</a:t>
            </a:r>
          </a:p>
          <a:p>
            <a:endPar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a:p>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游戏规则：游戏以投票和技能来消灭所有隐藏身份的狼人；狼人则以猎杀和诱导错误投票来消灭所有平民或者神职人员，获得胜利。</a:t>
            </a:r>
            <a:endParaRPr lang="en-US" altLang="zh-CN"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a:p>
            <a:endParaRPr lang="en-US" altLang="zh-CN"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a:p>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每一局狼人杀游戏都将从</a:t>
            </a:r>
            <a:r>
              <a:rPr lang="zh-CN" altLang="en-US" sz="20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rPr>
              <a:t>夜晚</a:t>
            </a:r>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开始，每一个夜晚狼人可以睁眼并共同猎杀场上的一位玩家。夜晚之后将会进入</a:t>
            </a:r>
            <a:r>
              <a:rPr lang="zh-CN" altLang="en-US" sz="20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rPr>
              <a:t>白天</a:t>
            </a:r>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，白天是所有玩家发言和投票的环节。</a:t>
            </a:r>
          </a:p>
          <a:p>
            <a:endPar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a:p>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每个白天场上存活的玩家将按顺序依次进行发言，在所有玩家发言结束后，</a:t>
            </a:r>
            <a:r>
              <a:rPr lang="zh-CN" altLang="en-US" sz="20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rPr>
              <a:t>法官</a:t>
            </a:r>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将会组织一次放逐公道投，在放逐公投中每一位玩家都拥有一</a:t>
            </a:r>
            <a:r>
              <a:rPr lang="zh-CN" altLang="en-US" sz="20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rPr>
              <a:t>票</a:t>
            </a:r>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的投票权，玩家可以选择把票投给自己心目中所认为的狼人。</a:t>
            </a:r>
          </a:p>
          <a:p>
            <a:endPar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a:p>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最终，得票数最多的玩家将会被放逐出局并留下“</a:t>
            </a:r>
            <a:r>
              <a:rPr lang="zh-CN" altLang="en-US" sz="20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rPr>
              <a:t>遗言</a:t>
            </a:r>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”。“遗言”之后游戏将会进入回下一个夜晚，狼人又可以再一次睁眼选择一位玩家进行猎杀，如此“黑夜</a:t>
            </a:r>
            <a:r>
              <a:rPr lang="en-US" altLang="zh-CN"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a:t>
            </a:r>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白天</a:t>
            </a:r>
            <a:r>
              <a:rPr lang="en-US" altLang="zh-CN"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a:t>
            </a:r>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黑夜”循环，直到某一方阵营达成了胜利条件，则游戏结束。</a:t>
            </a:r>
          </a:p>
        </p:txBody>
      </p:sp>
    </p:spTree>
    <p:extLst>
      <p:ext uri="{BB962C8B-B14F-4D97-AF65-F5344CB8AC3E}">
        <p14:creationId xmlns:p14="http://schemas.microsoft.com/office/powerpoint/2010/main" val="469926920"/>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以下哪个候选类应该被筛除？</a:t>
            </a:r>
          </a:p>
        </p:txBody>
      </p:sp>
      <p:sp>
        <p:nvSpPr>
          <p:cNvPr id="5" name="文本框 4"/>
          <p:cNvSpPr txBox="1"/>
          <p:nvPr>
            <p:custDataLst>
              <p:tags r:id="rId3"/>
            </p:custDataLst>
          </p:nvPr>
        </p:nvSpPr>
        <p:spPr>
          <a:xfrm>
            <a:off x="3025775" y="2187272"/>
            <a:ext cx="8534400" cy="657846"/>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平民</a:t>
            </a:r>
          </a:p>
        </p:txBody>
      </p:sp>
      <p:sp>
        <p:nvSpPr>
          <p:cNvPr id="6" name="文本框 5"/>
          <p:cNvSpPr txBox="1"/>
          <p:nvPr>
            <p:custDataLst>
              <p:tags r:id="rId4"/>
            </p:custDataLst>
          </p:nvPr>
        </p:nvSpPr>
        <p:spPr>
          <a:xfrm>
            <a:off x="3025775" y="3044522"/>
            <a:ext cx="8534400" cy="657846"/>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夜晚</a:t>
            </a:r>
          </a:p>
        </p:txBody>
      </p:sp>
      <p:sp>
        <p:nvSpPr>
          <p:cNvPr id="7" name="文本框 6"/>
          <p:cNvSpPr txBox="1"/>
          <p:nvPr>
            <p:custDataLst>
              <p:tags r:id="rId5"/>
            </p:custDataLst>
          </p:nvPr>
        </p:nvSpPr>
        <p:spPr>
          <a:xfrm>
            <a:off x="3025775" y="3901772"/>
            <a:ext cx="8534400" cy="657846"/>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狼人杀</a:t>
            </a:r>
          </a:p>
        </p:txBody>
      </p:sp>
      <p:sp>
        <p:nvSpPr>
          <p:cNvPr id="8" name="文本框 7"/>
          <p:cNvSpPr txBox="1"/>
          <p:nvPr>
            <p:custDataLst>
              <p:tags r:id="rId6"/>
            </p:custDataLst>
          </p:nvPr>
        </p:nvSpPr>
        <p:spPr>
          <a:xfrm>
            <a:off x="3025775" y="4759022"/>
            <a:ext cx="8534400" cy="657846"/>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遗言</a:t>
            </a:r>
          </a:p>
        </p:txBody>
      </p:sp>
      <p:sp>
        <p:nvSpPr>
          <p:cNvPr id="13" name="矩形: 圆角 12"/>
          <p:cNvSpPr/>
          <p:nvPr>
            <p:custDataLst>
              <p:tags r:id="rId7"/>
            </p:custDataLst>
          </p:nvPr>
        </p:nvSpPr>
        <p:spPr>
          <a:xfrm>
            <a:off x="6607629" y="1528055"/>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sp>
        <p:nvSpPr>
          <p:cNvPr id="20" name="矩形 19"/>
          <p:cNvSpPr/>
          <p:nvPr>
            <p:custDataLst>
              <p:tags r:id="rId8"/>
            </p:custDataLst>
          </p:nvPr>
        </p:nvSpPr>
        <p:spPr>
          <a:xfrm>
            <a:off x="12573000" y="0"/>
            <a:ext cx="3840480" cy="6858000"/>
          </a:xfrm>
          <a:prstGeom prst="rect">
            <a:avLst/>
          </a:prstGeom>
          <a:solidFill>
            <a:srgbClr val="FFFFFF"/>
          </a:solidFill>
          <a:ln w="12700" cmpd="sng">
            <a:solidFill>
              <a:srgbClr val="9B9B9B"/>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rgbClr val="FFFFFF"/>
              </a:solidFill>
            </a:endParaRPr>
          </a:p>
        </p:txBody>
      </p:sp>
      <p:sp>
        <p:nvSpPr>
          <p:cNvPr id="25" name="文本框 24"/>
          <p:cNvSpPr txBox="1"/>
          <p:nvPr>
            <p:custDataLst>
              <p:tags r:id="rId9"/>
            </p:custDataLst>
          </p:nvPr>
        </p:nvSpPr>
        <p:spPr>
          <a:xfrm>
            <a:off x="12661900" y="6326832"/>
            <a:ext cx="3662680" cy="461665"/>
          </a:xfrm>
          <a:prstGeom prst="rect">
            <a:avLst/>
          </a:prstGeom>
          <a:solidFill>
            <a:srgbClr val="FBFAEF"/>
          </a:solidFill>
          <a:ln w="12700">
            <a:noFill/>
          </a:ln>
          <a:extLst>
            <a:ext uri="{91240B29-F687-4F45-9708-019B960494DF}">
              <a14:hiddenLine xmlns:a14="http://schemas.microsoft.com/office/drawing/2010/main" w="12700">
                <a:solidFill>
                  <a:srgbClr val="FFFFFF"/>
                </a:solidFill>
              </a14:hiddenLine>
            </a:ext>
          </a:extLst>
        </p:spPr>
        <p:txBody>
          <a:bodyPr vert="horz" rtlCol="0" anchor="ctr">
            <a:spAutoFit/>
          </a:bodyPr>
          <a:lstStyle/>
          <a:p>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可为此题添加文本、图片、公式等解析，且需将内容全部放在本区域内。正常使用需</a:t>
            </a:r>
            <a:r>
              <a:rPr lang="en-US" altLang="zh-CN"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3.0</a:t>
            </a:r>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a:t>
            </a:r>
          </a:p>
        </p:txBody>
      </p:sp>
      <p:sp>
        <p:nvSpPr>
          <p:cNvPr id="26" name="文本框 25"/>
          <p:cNvSpPr txBox="1"/>
          <p:nvPr>
            <p:custDataLst>
              <p:tags r:id="rId10"/>
            </p:custDataLst>
          </p:nvPr>
        </p:nvSpPr>
        <p:spPr>
          <a:xfrm>
            <a:off x="12827000" y="1270000"/>
            <a:ext cx="3332480" cy="707886"/>
          </a:xfrm>
          <a:prstGeom prst="rect">
            <a:avLst/>
          </a:prstGeom>
          <a:noFill/>
        </p:spPr>
        <p:txBody>
          <a:bodyPr vert="horz" rtlCol="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B</a:t>
            </a:r>
            <a:r>
              <a:rPr kumimoji="0" lang="zh-CN" altLang="en-US" sz="20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和</a:t>
            </a:r>
            <a:r>
              <a:rPr kumimoji="0" lang="en-US" altLang="zh-CN" sz="20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D</a:t>
            </a:r>
            <a:r>
              <a:rPr kumimoji="0" lang="zh-CN" altLang="en-US" sz="20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过于具体，是某个属性，</a:t>
            </a:r>
            <a:r>
              <a:rPr kumimoji="0" lang="en-US" altLang="zh-CN" sz="20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C</a:t>
            </a:r>
            <a:r>
              <a:rPr kumimoji="0" lang="zh-CN" altLang="en-US" sz="20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过于笼统和模糊</a:t>
            </a:r>
            <a:endPar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nvGrpSpPr>
          <p:cNvPr id="24" name="组合 23"/>
          <p:cNvGrpSpPr/>
          <p:nvPr>
            <p:custDataLst>
              <p:tags r:id="rId11"/>
            </p:custDataLst>
          </p:nvPr>
        </p:nvGrpSpPr>
        <p:grpSpPr>
          <a:xfrm>
            <a:off x="12585700" y="0"/>
            <a:ext cx="3815080" cy="647700"/>
            <a:chOff x="12585700" y="0"/>
            <a:chExt cx="3815080" cy="647700"/>
          </a:xfrm>
        </p:grpSpPr>
        <p:sp>
          <p:nvSpPr>
            <p:cNvPr id="21" name="RemarkBack"/>
            <p:cNvSpPr/>
            <p:nvPr>
              <p:custDataLst>
                <p:tags r:id="rId26"/>
              </p:custDataLst>
            </p:nvPr>
          </p:nvSpPr>
          <p:spPr>
            <a:xfrm>
              <a:off x="12585700" y="12700"/>
              <a:ext cx="381508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RemarkBlock"/>
            <p:cNvSpPr/>
            <p:nvPr>
              <p:custDataLst>
                <p:tags r:id="rId27"/>
              </p:custDataLst>
            </p:nvPr>
          </p:nvSpPr>
          <p:spPr>
            <a:xfrm>
              <a:off x="12585700" y="1270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RemarkTitleText"/>
            <p:cNvSpPr txBox="1"/>
            <p:nvPr>
              <p:custDataLst>
                <p:tags r:id="rId28"/>
              </p:custDataLst>
            </p:nvPr>
          </p:nvSpPr>
          <p:spPr>
            <a:xfrm>
              <a:off x="12827000" y="0"/>
              <a:ext cx="1905000" cy="635000"/>
            </a:xfrm>
            <a:prstGeom prst="rect">
              <a:avLst/>
            </a:prstGeom>
            <a:noFill/>
          </p:spPr>
          <p:txBody>
            <a:bodyPr vert="horz" wrap="none" rtlCol="0" anchor="ctr" anchorCtr="0">
              <a:noAutofit/>
            </a:bodyPr>
            <a:lstStyle/>
            <a:p>
              <a:r>
                <a:rPr lang="zh-CN" altLang="en-US">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答案解析</a:t>
              </a:r>
            </a:p>
          </p:txBody>
        </p:sp>
      </p:grpSp>
      <p:grpSp>
        <p:nvGrpSpPr>
          <p:cNvPr id="2" name="组合 1"/>
          <p:cNvGrpSpPr/>
          <p:nvPr>
            <p:custDataLst>
              <p:tags r:id="rId12"/>
            </p:custDataLst>
          </p:nvPr>
        </p:nvGrpSpPr>
        <p:grpSpPr>
          <a:xfrm>
            <a:off x="12585700" y="0"/>
            <a:ext cx="3815080" cy="647700"/>
            <a:chOff x="19820" y="0"/>
            <a:chExt cx="6008" cy="1020"/>
          </a:xfrm>
        </p:grpSpPr>
        <p:sp>
          <p:nvSpPr>
            <p:cNvPr id="27" name="RemarkBack"/>
            <p:cNvSpPr/>
            <p:nvPr>
              <p:custDataLst>
                <p:tags r:id="rId23"/>
              </p:custDataLst>
            </p:nvPr>
          </p:nvSpPr>
          <p:spPr>
            <a:xfrm>
              <a:off x="19820" y="20"/>
              <a:ext cx="6008" cy="1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RemarkBlock"/>
            <p:cNvSpPr/>
            <p:nvPr>
              <p:custDataLst>
                <p:tags r:id="rId24"/>
              </p:custDataLst>
            </p:nvPr>
          </p:nvSpPr>
          <p:spPr>
            <a:xfrm>
              <a:off x="19820" y="20"/>
              <a:ext cx="300" cy="1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RemarkTitleText"/>
            <p:cNvSpPr txBox="1"/>
            <p:nvPr>
              <p:custDataLst>
                <p:tags r:id="rId25"/>
              </p:custDataLst>
            </p:nvPr>
          </p:nvSpPr>
          <p:spPr>
            <a:xfrm>
              <a:off x="20200" y="0"/>
              <a:ext cx="3000" cy="1000"/>
            </a:xfrm>
            <a:prstGeom prst="rect">
              <a:avLst/>
            </a:prstGeom>
            <a:noFill/>
          </p:spPr>
          <p:txBody>
            <a:bodyPr vert="horz" wrap="none" rtlCol="0" anchor="ctr" anchorCtr="0">
              <a:noAutofit/>
            </a:bodyPr>
            <a:lstStyle/>
            <a:p>
              <a:r>
                <a:rPr lang="zh-CN" altLang="en-US">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答案解析</a:t>
              </a:r>
            </a:p>
          </p:txBody>
        </p:sp>
      </p:grpSp>
      <p:grpSp>
        <p:nvGrpSpPr>
          <p:cNvPr id="32" name="组合 31"/>
          <p:cNvGrpSpPr/>
          <p:nvPr>
            <p:custDataLst>
              <p:tags r:id="rId13"/>
            </p:custDataLst>
          </p:nvPr>
        </p:nvGrpSpPr>
        <p:grpSpPr>
          <a:xfrm>
            <a:off x="12585700" y="0"/>
            <a:ext cx="3815080" cy="647700"/>
            <a:chOff x="19820" y="0"/>
            <a:chExt cx="6008" cy="1020"/>
          </a:xfrm>
        </p:grpSpPr>
        <p:sp>
          <p:nvSpPr>
            <p:cNvPr id="19" name="RemarkBack"/>
            <p:cNvSpPr/>
            <p:nvPr>
              <p:custDataLst>
                <p:tags r:id="rId20"/>
              </p:custDataLst>
            </p:nvPr>
          </p:nvSpPr>
          <p:spPr>
            <a:xfrm>
              <a:off x="19820" y="20"/>
              <a:ext cx="6008" cy="1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RemarkBlock"/>
            <p:cNvSpPr/>
            <p:nvPr>
              <p:custDataLst>
                <p:tags r:id="rId21"/>
              </p:custDataLst>
            </p:nvPr>
          </p:nvSpPr>
          <p:spPr>
            <a:xfrm>
              <a:off x="19820" y="20"/>
              <a:ext cx="300" cy="1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RemarkTitleText"/>
            <p:cNvSpPr txBox="1"/>
            <p:nvPr>
              <p:custDataLst>
                <p:tags r:id="rId22"/>
              </p:custDataLst>
            </p:nvPr>
          </p:nvSpPr>
          <p:spPr>
            <a:xfrm>
              <a:off x="20200" y="0"/>
              <a:ext cx="3000" cy="1000"/>
            </a:xfrm>
            <a:prstGeom prst="rect">
              <a:avLst/>
            </a:prstGeom>
            <a:noFill/>
          </p:spPr>
          <p:txBody>
            <a:bodyPr vert="horz" wrap="none" rtlCol="0" anchor="ctr" anchorCtr="0">
              <a:noAutofit/>
            </a:bodyPr>
            <a:lstStyle/>
            <a:p>
              <a:r>
                <a:rPr lang="zh-CN" altLang="en-US">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答案解析</a:t>
              </a:r>
            </a:p>
          </p:txBody>
        </p:sp>
      </p:grpSp>
      <p:grpSp>
        <p:nvGrpSpPr>
          <p:cNvPr id="18" name="组合 17"/>
          <p:cNvGrpSpPr/>
          <p:nvPr>
            <p:custDataLst>
              <p:tags r:id="rId14"/>
            </p:custDataLst>
          </p:nvPr>
        </p:nvGrpSpPr>
        <p:grpSpPr>
          <a:xfrm>
            <a:off x="0" y="0"/>
            <a:ext cx="12192000" cy="635000"/>
            <a:chOff x="0" y="0"/>
            <a:chExt cx="12192000" cy="635000"/>
          </a:xfrm>
        </p:grpSpPr>
        <p:sp>
          <p:nvSpPr>
            <p:cNvPr id="14" name="TitleBackground"/>
            <p:cNvSpPr/>
            <p:nvPr>
              <p:custDataLst>
                <p:tags r:id="rId16"/>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7"/>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8"/>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多选题</a:t>
              </a:r>
            </a:p>
          </p:txBody>
        </p:sp>
        <p:sp>
          <p:nvSpPr>
            <p:cNvPr id="17" name="TipText"/>
            <p:cNvSpPr txBox="1"/>
            <p:nvPr>
              <p:custDataLst>
                <p:tags r:id="rId19"/>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15"/>
            </p:custDataLst>
          </p:nvPr>
        </p:nvPicPr>
        <p:blipFill>
          <a:blip r:embed="rId30">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33" name="文本框 32">
            <a:extLst>
              <a:ext uri="{FF2B5EF4-FFF2-40B4-BE49-F238E27FC236}">
                <a16:creationId xmlns:a16="http://schemas.microsoft.com/office/drawing/2014/main" id="{EAE0D4AB-E5FE-D491-F463-44EFF8306974}"/>
              </a:ext>
            </a:extLst>
          </p:cNvPr>
          <p:cNvSpPr txBox="1"/>
          <p:nvPr/>
        </p:nvSpPr>
        <p:spPr>
          <a:xfrm>
            <a:off x="1902605" y="2308325"/>
            <a:ext cx="405880" cy="3108543"/>
          </a:xfrm>
          <a:prstGeom prst="rect">
            <a:avLst/>
          </a:prstGeom>
          <a:noFill/>
        </p:spPr>
        <p:txBody>
          <a:bodyPr wrap="none" rtlCol="0">
            <a:spAutoFit/>
          </a:bodyPr>
          <a:lstStyle/>
          <a:p>
            <a:r>
              <a:rPr lang="en-US" altLang="zh-CN" sz="2800" dirty="0"/>
              <a:t>A</a:t>
            </a:r>
          </a:p>
          <a:p>
            <a:endParaRPr lang="en-US" altLang="zh-CN" sz="2800" dirty="0"/>
          </a:p>
          <a:p>
            <a:r>
              <a:rPr lang="en-US" altLang="zh-CN" sz="2800" dirty="0"/>
              <a:t>B</a:t>
            </a:r>
          </a:p>
          <a:p>
            <a:endParaRPr lang="en-US" altLang="zh-CN" sz="2800" dirty="0"/>
          </a:p>
          <a:p>
            <a:r>
              <a:rPr lang="en-US" altLang="zh-CN" sz="2800" dirty="0"/>
              <a:t>C</a:t>
            </a:r>
          </a:p>
          <a:p>
            <a:endParaRPr lang="en-US" altLang="zh-CN" sz="2800" dirty="0"/>
          </a:p>
          <a:p>
            <a:r>
              <a:rPr lang="en-US" altLang="zh-CN" sz="2800" dirty="0"/>
              <a:t>D</a:t>
            </a:r>
            <a:endParaRPr lang="zh-CN" altLang="en-US" sz="2800" dirty="0"/>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842168"/>
            <a:ext cx="10515600" cy="2852737"/>
          </a:xfrm>
        </p:spPr>
        <p:txBody>
          <a:bodyPr anchor="ctr"/>
          <a:lstStyle/>
          <a:p>
            <a:pPr algn="ctr"/>
            <a:r>
              <a:rPr lang="en-US" altLang="zh-CN" dirty="0">
                <a:latin typeface="微软雅黑" panose="020B0503020204020204" pitchFamily="34" charset="-122"/>
                <a:ea typeface="微软雅黑" panose="020B0503020204020204" pitchFamily="34" charset="-122"/>
              </a:rPr>
              <a:t>UML</a:t>
            </a:r>
            <a:r>
              <a:rPr lang="zh-CN" altLang="en-US" dirty="0">
                <a:latin typeface="微软雅黑" panose="020B0503020204020204" pitchFamily="34" charset="-122"/>
                <a:ea typeface="微软雅黑" panose="020B0503020204020204" pitchFamily="34" charset="-122"/>
              </a:rPr>
              <a:t>类图</a:t>
            </a:r>
          </a:p>
        </p:txBody>
      </p:sp>
      <p:sp>
        <p:nvSpPr>
          <p:cNvPr id="3" name="文本占位符 2"/>
          <p:cNvSpPr>
            <a:spLocks noGrp="1"/>
          </p:cNvSpPr>
          <p:nvPr>
            <p:ph type="body" idx="1"/>
          </p:nvPr>
        </p:nvSpPr>
        <p:spPr>
          <a:xfrm>
            <a:off x="838200" y="3128525"/>
            <a:ext cx="10515600" cy="1500187"/>
          </a:xfrm>
        </p:spPr>
        <p:txBody>
          <a:bodyPr/>
          <a:lstStyle/>
          <a:p>
            <a:pPr algn="ctr"/>
            <a:r>
              <a:rPr lang="en-US" altLang="zh-CN" dirty="0">
                <a:solidFill>
                  <a:schemeClr val="tx1"/>
                </a:solidFill>
                <a:latin typeface="微软雅黑" panose="020B0503020204020204" pitchFamily="34" charset="-122"/>
                <a:ea typeface="微软雅黑" panose="020B0503020204020204" pitchFamily="34" charset="-122"/>
              </a:rPr>
              <a:t>UML Class Diagram</a:t>
            </a: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p>
            <a:fld id="{74D2AB8B-5816-41F2-8B4B-CA5C3E4E6A65}" type="slidenum">
              <a:rPr lang="zh-CN" altLang="en-US" smtClean="0"/>
              <a:t>14</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6636"/>
    </mc:Choice>
    <mc:Fallback xmlns="">
      <p:transition spd="slow" advTm="6636"/>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什么是类</a:t>
            </a:r>
            <a:r>
              <a:rPr lang="en-US" altLang="zh-CN" dirty="0"/>
              <a:t>?</a:t>
            </a:r>
            <a:endParaRPr lang="zh-CN" altLang="en-US" dirty="0"/>
          </a:p>
        </p:txBody>
      </p:sp>
      <p:sp>
        <p:nvSpPr>
          <p:cNvPr id="3" name="内容占位符 2"/>
          <p:cNvSpPr>
            <a:spLocks noGrp="1"/>
          </p:cNvSpPr>
          <p:nvPr>
            <p:ph idx="1"/>
          </p:nvPr>
        </p:nvSpPr>
        <p:spPr>
          <a:xfrm>
            <a:off x="838200" y="1566041"/>
            <a:ext cx="10515600" cy="4610922"/>
          </a:xfrm>
        </p:spPr>
        <p:txBody>
          <a:bodyPr/>
          <a:lstStyle/>
          <a:p>
            <a:pPr marL="241300">
              <a:lnSpc>
                <a:spcPct val="100000"/>
              </a:lnSpc>
              <a:spcBef>
                <a:spcPts val="340"/>
              </a:spcBef>
              <a:buFont typeface="Arial" panose="020B0604020202020204"/>
              <a:buChar char="•"/>
              <a:tabLst>
                <a:tab pos="240665" algn="l"/>
                <a:tab pos="241300" algn="l"/>
              </a:tabLst>
            </a:pPr>
            <a:r>
              <a:rPr lang="zh-CN" altLang="en-US" sz="1800" dirty="0">
                <a:cs typeface="黑体" panose="02010609060101010101" charset="-122"/>
              </a:rPr>
              <a:t>类是具有以下特征的对象集合</a:t>
            </a:r>
          </a:p>
          <a:p>
            <a:pPr marL="698500" lvl="1">
              <a:lnSpc>
                <a:spcPct val="100000"/>
              </a:lnSpc>
              <a:spcBef>
                <a:spcPts val="240"/>
              </a:spcBef>
              <a:buFont typeface="Arial" panose="020B0604020202020204"/>
              <a:buChar char="•"/>
              <a:tabLst>
                <a:tab pos="697865" algn="l"/>
                <a:tab pos="698500" algn="l"/>
              </a:tabLst>
            </a:pPr>
            <a:r>
              <a:rPr lang="zh-CN" altLang="en-US" sz="1800" dirty="0">
                <a:cs typeface="黑体" panose="02010609060101010101" charset="-122"/>
              </a:rPr>
              <a:t>相同性质</a:t>
            </a:r>
            <a:r>
              <a:rPr lang="en-US" altLang="zh-CN" sz="1800" dirty="0">
                <a:cs typeface="黑体" panose="02010609060101010101" charset="-122"/>
              </a:rPr>
              <a:t>(attributes)</a:t>
            </a:r>
          </a:p>
          <a:p>
            <a:pPr marL="698500" lvl="1">
              <a:lnSpc>
                <a:spcPct val="100000"/>
              </a:lnSpc>
              <a:spcBef>
                <a:spcPts val="240"/>
              </a:spcBef>
              <a:buFont typeface="Arial" panose="020B0604020202020204"/>
              <a:buChar char="•"/>
              <a:tabLst>
                <a:tab pos="697865" algn="l"/>
                <a:tab pos="698500" algn="l"/>
              </a:tabLst>
            </a:pPr>
            <a:r>
              <a:rPr lang="zh-CN" altLang="en-US" sz="1800" dirty="0">
                <a:cs typeface="黑体" panose="02010609060101010101" charset="-122"/>
              </a:rPr>
              <a:t>相同行为</a:t>
            </a:r>
            <a:r>
              <a:rPr lang="en-US" altLang="zh-CN" sz="1800" dirty="0">
                <a:cs typeface="黑体" panose="02010609060101010101" charset="-122"/>
              </a:rPr>
              <a:t>(operations)</a:t>
            </a:r>
          </a:p>
          <a:p>
            <a:pPr marL="698500" lvl="1">
              <a:lnSpc>
                <a:spcPct val="100000"/>
              </a:lnSpc>
              <a:spcBef>
                <a:spcPts val="340"/>
              </a:spcBef>
              <a:buFont typeface="Arial" panose="020B0604020202020204"/>
              <a:buChar char="•"/>
              <a:tabLst>
                <a:tab pos="697865" algn="l"/>
                <a:tab pos="698500" algn="l"/>
              </a:tabLst>
            </a:pPr>
            <a:r>
              <a:rPr lang="zh-CN" altLang="en-US" sz="1800" dirty="0">
                <a:cs typeface="黑体" panose="02010609060101010101" charset="-122"/>
              </a:rPr>
              <a:t>相同的对象关系</a:t>
            </a:r>
          </a:p>
          <a:p>
            <a:pPr marL="698500" lvl="1">
              <a:lnSpc>
                <a:spcPct val="100000"/>
              </a:lnSpc>
              <a:spcBef>
                <a:spcPts val="240"/>
              </a:spcBef>
              <a:buFont typeface="Arial" panose="020B0604020202020204"/>
              <a:buChar char="•"/>
              <a:tabLst>
                <a:tab pos="697865" algn="l"/>
                <a:tab pos="698500" algn="l"/>
              </a:tabLst>
            </a:pPr>
            <a:r>
              <a:rPr lang="zh-CN" altLang="en-US" sz="1800" dirty="0">
                <a:cs typeface="黑体" panose="02010609060101010101" charset="-122"/>
              </a:rPr>
              <a:t>相同语义</a:t>
            </a:r>
            <a:r>
              <a:rPr lang="en-US" altLang="zh-CN" sz="1800" dirty="0">
                <a:cs typeface="黑体" panose="02010609060101010101" charset="-122"/>
              </a:rPr>
              <a:t>(“semantics”)</a:t>
            </a:r>
          </a:p>
          <a:p>
            <a:pPr marL="241300">
              <a:lnSpc>
                <a:spcPct val="100000"/>
              </a:lnSpc>
              <a:spcBef>
                <a:spcPts val="840"/>
              </a:spcBef>
              <a:buFont typeface="Arial" panose="020B0604020202020204"/>
              <a:buChar char="•"/>
              <a:tabLst>
                <a:tab pos="240665" algn="l"/>
                <a:tab pos="241300" algn="l"/>
              </a:tabLst>
            </a:pPr>
            <a:r>
              <a:rPr lang="zh-CN" altLang="en-US" sz="1800" dirty="0">
                <a:cs typeface="黑体" panose="02010609060101010101" charset="-122"/>
              </a:rPr>
              <a:t>举例</a:t>
            </a:r>
          </a:p>
          <a:p>
            <a:pPr marL="698500" marR="5080" lvl="1">
              <a:lnSpc>
                <a:spcPts val="1500"/>
              </a:lnSpc>
              <a:spcBef>
                <a:spcPts val="480"/>
              </a:spcBef>
              <a:buClr>
                <a:srgbClr val="000080"/>
              </a:buClr>
              <a:buFont typeface="Arial" panose="020B0604020202020204"/>
              <a:buChar char="•"/>
              <a:tabLst>
                <a:tab pos="697865" algn="l"/>
                <a:tab pos="698500" algn="l"/>
              </a:tabLst>
            </a:pPr>
            <a:r>
              <a:rPr lang="en-US" altLang="zh-CN" sz="2000" spc="-5" dirty="0">
                <a:solidFill>
                  <a:srgbClr val="011893"/>
                </a:solidFill>
                <a:latin typeface="Times New Roman" panose="02020603050405020304" pitchFamily="18" charset="0"/>
                <a:cs typeface="Times New Roman" panose="02020603050405020304" pitchFamily="18" charset="0"/>
              </a:rPr>
              <a:t>employee</a:t>
            </a:r>
            <a:r>
              <a:rPr lang="en-US" altLang="zh-CN" sz="2000" spc="-5" dirty="0">
                <a:latin typeface="Times New Roman" panose="02020603050405020304" pitchFamily="18" charset="0"/>
                <a:cs typeface="Times New Roman" panose="02020603050405020304" pitchFamily="18" charset="0"/>
              </a:rPr>
              <a:t>: has </a:t>
            </a:r>
            <a:r>
              <a:rPr lang="en-US" altLang="zh-CN" sz="2000" dirty="0">
                <a:latin typeface="Times New Roman" panose="02020603050405020304" pitchFamily="18" charset="0"/>
                <a:cs typeface="Times New Roman" panose="02020603050405020304" pitchFamily="18" charset="0"/>
              </a:rPr>
              <a:t>a </a:t>
            </a:r>
            <a:r>
              <a:rPr lang="en-US" altLang="zh-CN" sz="2000" spc="-5" dirty="0">
                <a:latin typeface="Times New Roman" panose="02020603050405020304" pitchFamily="18" charset="0"/>
                <a:cs typeface="Times New Roman" panose="02020603050405020304" pitchFamily="18" charset="0"/>
              </a:rPr>
              <a:t>name, </a:t>
            </a:r>
            <a:r>
              <a:rPr lang="en-US" altLang="zh-CN" sz="2000" dirty="0">
                <a:latin typeface="Times New Roman" panose="02020603050405020304" pitchFamily="18" charset="0"/>
                <a:cs typeface="Times New Roman" panose="02020603050405020304" pitchFamily="18" charset="0"/>
              </a:rPr>
              <a:t>employee# </a:t>
            </a:r>
            <a:r>
              <a:rPr lang="en-US" altLang="zh-CN" sz="2000" spc="-5" dirty="0">
                <a:latin typeface="Times New Roman" panose="02020603050405020304" pitchFamily="18" charset="0"/>
                <a:cs typeface="Times New Roman" panose="02020603050405020304" pitchFamily="18" charset="0"/>
              </a:rPr>
              <a:t>and department; </a:t>
            </a:r>
            <a:r>
              <a:rPr lang="en-US" altLang="zh-CN" sz="2000" dirty="0">
                <a:latin typeface="Times New Roman" panose="02020603050405020304" pitchFamily="18" charset="0"/>
                <a:cs typeface="Times New Roman" panose="02020603050405020304" pitchFamily="18" charset="0"/>
              </a:rPr>
              <a:t>an employee is </a:t>
            </a:r>
            <a:r>
              <a:rPr lang="en-US" altLang="zh-CN" sz="2000" spc="-5" dirty="0">
                <a:latin typeface="Times New Roman" panose="02020603050405020304" pitchFamily="18" charset="0"/>
                <a:cs typeface="Times New Roman" panose="02020603050405020304" pitchFamily="18" charset="0"/>
              </a:rPr>
              <a:t>hired, and </a:t>
            </a:r>
            <a:r>
              <a:rPr lang="en-US" altLang="zh-CN" sz="2000" dirty="0">
                <a:latin typeface="Times New Roman" panose="02020603050405020304" pitchFamily="18" charset="0"/>
                <a:cs typeface="Times New Roman" panose="02020603050405020304" pitchFamily="18" charset="0"/>
              </a:rPr>
              <a:t>fired; an employee </a:t>
            </a:r>
            <a:r>
              <a:rPr lang="en-US" altLang="zh-CN" sz="2000" spc="-5" dirty="0">
                <a:latin typeface="Times New Roman" panose="02020603050405020304" pitchFamily="18" charset="0"/>
                <a:cs typeface="Times New Roman" panose="02020603050405020304" pitchFamily="18" charset="0"/>
              </a:rPr>
              <a:t>works </a:t>
            </a:r>
            <a:r>
              <a:rPr lang="en-US" altLang="zh-CN" sz="2000" dirty="0">
                <a:latin typeface="Times New Roman" panose="02020603050405020304" pitchFamily="18" charset="0"/>
                <a:cs typeface="Times New Roman" panose="02020603050405020304" pitchFamily="18" charset="0"/>
              </a:rPr>
              <a:t>in </a:t>
            </a:r>
            <a:r>
              <a:rPr lang="en-US" altLang="zh-CN" sz="2000" spc="-5" dirty="0">
                <a:latin typeface="Times New Roman" panose="02020603050405020304" pitchFamily="18" charset="0"/>
                <a:cs typeface="Times New Roman" panose="02020603050405020304" pitchFamily="18" charset="0"/>
              </a:rPr>
              <a:t>one </a:t>
            </a:r>
            <a:r>
              <a:rPr lang="en-US" altLang="zh-CN" sz="2000" dirty="0">
                <a:latin typeface="Times New Roman" panose="02020603050405020304" pitchFamily="18" charset="0"/>
                <a:cs typeface="Times New Roman" panose="02020603050405020304" pitchFamily="18" charset="0"/>
              </a:rPr>
              <a:t>or  more</a:t>
            </a:r>
            <a:r>
              <a:rPr lang="en-US" altLang="zh-CN" sz="2000" spc="-5"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projects</a:t>
            </a:r>
          </a:p>
          <a:p>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t>15</a:t>
            </a:fld>
            <a:endParaRPr lang="zh-CN" altLang="en-US"/>
          </a:p>
        </p:txBody>
      </p:sp>
      <p:grpSp>
        <p:nvGrpSpPr>
          <p:cNvPr id="22" name="组合 21"/>
          <p:cNvGrpSpPr/>
          <p:nvPr/>
        </p:nvGrpSpPr>
        <p:grpSpPr>
          <a:xfrm>
            <a:off x="1390650" y="3973195"/>
            <a:ext cx="9410699" cy="2519680"/>
            <a:chOff x="1254474" y="3863298"/>
            <a:chExt cx="9410699" cy="2519680"/>
          </a:xfrm>
        </p:grpSpPr>
        <p:sp>
          <p:nvSpPr>
            <p:cNvPr id="5" name="object 8"/>
            <p:cNvSpPr/>
            <p:nvPr/>
          </p:nvSpPr>
          <p:spPr>
            <a:xfrm>
              <a:off x="4277708" y="3863298"/>
              <a:ext cx="3333750" cy="2519680"/>
            </a:xfrm>
            <a:custGeom>
              <a:avLst/>
              <a:gdLst/>
              <a:ahLst/>
              <a:cxnLst/>
              <a:rect l="l" t="t" r="r" b="b"/>
              <a:pathLst>
                <a:path w="3333750" h="2519679">
                  <a:moveTo>
                    <a:pt x="0" y="0"/>
                  </a:moveTo>
                  <a:lnTo>
                    <a:pt x="3333750" y="0"/>
                  </a:lnTo>
                  <a:lnTo>
                    <a:pt x="3333750" y="2519361"/>
                  </a:lnTo>
                  <a:lnTo>
                    <a:pt x="0" y="2519361"/>
                  </a:lnTo>
                  <a:lnTo>
                    <a:pt x="0" y="0"/>
                  </a:lnTo>
                  <a:close/>
                </a:path>
              </a:pathLst>
            </a:custGeom>
            <a:solidFill>
              <a:srgbClr val="FFFED5"/>
            </a:solidFill>
          </p:spPr>
          <p:txBody>
            <a:bodyPr wrap="square" lIns="0" tIns="0" rIns="0" bIns="0" rtlCol="0"/>
            <a:lstStyle/>
            <a:p>
              <a:endParaRPr/>
            </a:p>
          </p:txBody>
        </p:sp>
        <p:sp>
          <p:nvSpPr>
            <p:cNvPr id="6" name="object 9"/>
            <p:cNvSpPr/>
            <p:nvPr/>
          </p:nvSpPr>
          <p:spPr>
            <a:xfrm>
              <a:off x="4277708" y="3863298"/>
              <a:ext cx="3333750" cy="2519680"/>
            </a:xfrm>
            <a:custGeom>
              <a:avLst/>
              <a:gdLst/>
              <a:ahLst/>
              <a:cxnLst/>
              <a:rect l="l" t="t" r="r" b="b"/>
              <a:pathLst>
                <a:path w="3333750" h="2519679">
                  <a:moveTo>
                    <a:pt x="0" y="0"/>
                  </a:moveTo>
                  <a:lnTo>
                    <a:pt x="3333749" y="0"/>
                  </a:lnTo>
                  <a:lnTo>
                    <a:pt x="3333749" y="2519361"/>
                  </a:lnTo>
                  <a:lnTo>
                    <a:pt x="0" y="2519361"/>
                  </a:lnTo>
                  <a:lnTo>
                    <a:pt x="0" y="0"/>
                  </a:lnTo>
                  <a:close/>
                </a:path>
              </a:pathLst>
            </a:custGeom>
            <a:ln w="28574">
              <a:solidFill>
                <a:srgbClr val="000000"/>
              </a:solidFill>
            </a:ln>
          </p:spPr>
          <p:txBody>
            <a:bodyPr wrap="square" lIns="0" tIns="0" rIns="0" bIns="0" rtlCol="0"/>
            <a:lstStyle/>
            <a:p>
              <a:endParaRPr/>
            </a:p>
          </p:txBody>
        </p:sp>
        <p:sp>
          <p:nvSpPr>
            <p:cNvPr id="7" name="object 10"/>
            <p:cNvSpPr txBox="1"/>
            <p:nvPr/>
          </p:nvSpPr>
          <p:spPr>
            <a:xfrm>
              <a:off x="4277708" y="3863298"/>
              <a:ext cx="3333750" cy="381000"/>
            </a:xfrm>
            <a:prstGeom prst="rect">
              <a:avLst/>
            </a:prstGeom>
            <a:ln w="28574">
              <a:solidFill>
                <a:srgbClr val="000000"/>
              </a:solidFill>
            </a:ln>
          </p:spPr>
          <p:txBody>
            <a:bodyPr vert="horz" wrap="square" lIns="0" tIns="0" rIns="0" bIns="0" rtlCol="0">
              <a:spAutoFit/>
            </a:bodyPr>
            <a:lstStyle/>
            <a:p>
              <a:pPr marL="711200">
                <a:lnSpc>
                  <a:spcPct val="100000"/>
                </a:lnSpc>
              </a:pPr>
              <a:r>
                <a:rPr sz="2000" b="1" dirty="0">
                  <a:solidFill>
                    <a:srgbClr val="0000FF"/>
                  </a:solidFill>
                  <a:latin typeface="Courier New" panose="02070309020205020404"/>
                  <a:cs typeface="Courier New" panose="02070309020205020404"/>
                </a:rPr>
                <a:t>:employee</a:t>
              </a:r>
              <a:endParaRPr sz="2000">
                <a:latin typeface="Courier New" panose="02070309020205020404"/>
                <a:cs typeface="Courier New" panose="02070309020205020404"/>
              </a:endParaRPr>
            </a:p>
          </p:txBody>
        </p:sp>
        <p:sp>
          <p:nvSpPr>
            <p:cNvPr id="8" name="object 11"/>
            <p:cNvSpPr/>
            <p:nvPr/>
          </p:nvSpPr>
          <p:spPr>
            <a:xfrm>
              <a:off x="4277708" y="4244297"/>
              <a:ext cx="3333750" cy="2138680"/>
            </a:xfrm>
            <a:custGeom>
              <a:avLst/>
              <a:gdLst/>
              <a:ahLst/>
              <a:cxnLst/>
              <a:rect l="l" t="t" r="r" b="b"/>
              <a:pathLst>
                <a:path w="3333750" h="2138679">
                  <a:moveTo>
                    <a:pt x="0" y="0"/>
                  </a:moveTo>
                  <a:lnTo>
                    <a:pt x="3333749" y="0"/>
                  </a:lnTo>
                  <a:lnTo>
                    <a:pt x="3333749" y="2138361"/>
                  </a:lnTo>
                  <a:lnTo>
                    <a:pt x="0" y="2138361"/>
                  </a:lnTo>
                  <a:lnTo>
                    <a:pt x="0" y="0"/>
                  </a:lnTo>
                  <a:close/>
                </a:path>
              </a:pathLst>
            </a:custGeom>
            <a:ln w="28574">
              <a:solidFill>
                <a:srgbClr val="000000"/>
              </a:solidFill>
            </a:ln>
          </p:spPr>
          <p:txBody>
            <a:bodyPr wrap="square" lIns="0" tIns="0" rIns="0" bIns="0" rtlCol="0"/>
            <a:lstStyle/>
            <a:p>
              <a:endParaRPr/>
            </a:p>
          </p:txBody>
        </p:sp>
        <p:sp>
          <p:nvSpPr>
            <p:cNvPr id="9" name="object 12"/>
            <p:cNvSpPr txBox="1"/>
            <p:nvPr/>
          </p:nvSpPr>
          <p:spPr>
            <a:xfrm>
              <a:off x="4366608" y="4206197"/>
              <a:ext cx="1397635" cy="596900"/>
            </a:xfrm>
            <a:prstGeom prst="rect">
              <a:avLst/>
            </a:prstGeom>
          </p:spPr>
          <p:txBody>
            <a:bodyPr vert="horz" wrap="square" lIns="0" tIns="53340" rIns="0" bIns="0" rtlCol="0">
              <a:spAutoFit/>
            </a:bodyPr>
            <a:lstStyle/>
            <a:p>
              <a:pPr marL="12700" marR="5080">
                <a:lnSpc>
                  <a:spcPts val="2100"/>
                </a:lnSpc>
                <a:spcBef>
                  <a:spcPts val="420"/>
                </a:spcBef>
              </a:pPr>
              <a:r>
                <a:rPr sz="2000" dirty="0">
                  <a:solidFill>
                    <a:srgbClr val="0000FF"/>
                  </a:solidFill>
                  <a:latin typeface="Courier New" panose="02070309020205020404"/>
                  <a:cs typeface="Courier New" panose="02070309020205020404"/>
                </a:rPr>
                <a:t>name  employee#</a:t>
              </a:r>
              <a:endParaRPr sz="2000">
                <a:latin typeface="Courier New" panose="02070309020205020404"/>
                <a:cs typeface="Courier New" panose="02070309020205020404"/>
              </a:endParaRPr>
            </a:p>
          </p:txBody>
        </p:sp>
        <p:sp>
          <p:nvSpPr>
            <p:cNvPr id="10" name="object 13"/>
            <p:cNvSpPr txBox="1"/>
            <p:nvPr/>
          </p:nvSpPr>
          <p:spPr>
            <a:xfrm>
              <a:off x="4366608" y="4752299"/>
              <a:ext cx="1550035"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0000FF"/>
                  </a:solidFill>
                  <a:latin typeface="Courier New" panose="02070309020205020404"/>
                  <a:cs typeface="Courier New" panose="02070309020205020404"/>
                </a:rPr>
                <a:t>department</a:t>
              </a:r>
              <a:endParaRPr sz="2000">
                <a:latin typeface="Courier New" panose="02070309020205020404"/>
                <a:cs typeface="Courier New" panose="02070309020205020404"/>
              </a:endParaRPr>
            </a:p>
          </p:txBody>
        </p:sp>
        <p:sp>
          <p:nvSpPr>
            <p:cNvPr id="11" name="object 14"/>
            <p:cNvSpPr txBox="1"/>
            <p:nvPr/>
          </p:nvSpPr>
          <p:spPr>
            <a:xfrm>
              <a:off x="4277708" y="5082498"/>
              <a:ext cx="3333750" cy="1300480"/>
            </a:xfrm>
            <a:prstGeom prst="rect">
              <a:avLst/>
            </a:prstGeom>
            <a:ln w="28574">
              <a:solidFill>
                <a:srgbClr val="000000"/>
              </a:solidFill>
            </a:ln>
          </p:spPr>
          <p:txBody>
            <a:bodyPr vert="horz" wrap="square" lIns="0" tIns="50800" rIns="0" bIns="0" rtlCol="0">
              <a:spAutoFit/>
            </a:bodyPr>
            <a:lstStyle/>
            <a:p>
              <a:pPr marL="101600">
                <a:lnSpc>
                  <a:spcPts val="2250"/>
                </a:lnSpc>
                <a:spcBef>
                  <a:spcPts val="400"/>
                </a:spcBef>
              </a:pPr>
              <a:r>
                <a:rPr sz="2000" dirty="0">
                  <a:solidFill>
                    <a:srgbClr val="0000FF"/>
                  </a:solidFill>
                  <a:latin typeface="Courier New" panose="02070309020205020404"/>
                  <a:cs typeface="Courier New" panose="02070309020205020404"/>
                </a:rPr>
                <a:t>hire()</a:t>
              </a:r>
              <a:endParaRPr sz="2000">
                <a:latin typeface="Courier New" panose="02070309020205020404"/>
                <a:cs typeface="Courier New" panose="02070309020205020404"/>
              </a:endParaRPr>
            </a:p>
            <a:p>
              <a:pPr marL="101600" marR="937895">
                <a:lnSpc>
                  <a:spcPts val="2200"/>
                </a:lnSpc>
                <a:spcBef>
                  <a:spcPts val="90"/>
                </a:spcBef>
              </a:pPr>
              <a:r>
                <a:rPr sz="2000" dirty="0">
                  <a:solidFill>
                    <a:srgbClr val="0000FF"/>
                  </a:solidFill>
                  <a:latin typeface="Courier New" panose="02070309020205020404"/>
                  <a:cs typeface="Courier New" panose="02070309020205020404"/>
                </a:rPr>
                <a:t>fire()  assignproject()</a:t>
              </a:r>
              <a:endParaRPr sz="2000">
                <a:latin typeface="Courier New" panose="02070309020205020404"/>
                <a:cs typeface="Courier New" panose="02070309020205020404"/>
              </a:endParaRPr>
            </a:p>
          </p:txBody>
        </p:sp>
        <p:sp>
          <p:nvSpPr>
            <p:cNvPr id="12" name="object 15"/>
            <p:cNvSpPr txBox="1"/>
            <p:nvPr/>
          </p:nvSpPr>
          <p:spPr>
            <a:xfrm>
              <a:off x="8522048" y="4124918"/>
              <a:ext cx="2143125"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0563C1"/>
                  </a:solidFill>
                  <a:latin typeface="Arial" panose="020B0604020202020204"/>
                  <a:cs typeface="Arial" panose="020B0604020202020204"/>
                </a:rPr>
                <a:t>Name</a:t>
              </a:r>
              <a:r>
                <a:rPr sz="2000" spc="-45" dirty="0">
                  <a:solidFill>
                    <a:srgbClr val="0563C1"/>
                  </a:solidFill>
                  <a:latin typeface="Arial" panose="020B0604020202020204"/>
                  <a:cs typeface="Arial" panose="020B0604020202020204"/>
                </a:rPr>
                <a:t> </a:t>
              </a:r>
              <a:r>
                <a:rPr sz="2000" spc="-5" dirty="0">
                  <a:solidFill>
                    <a:srgbClr val="0563C1"/>
                  </a:solidFill>
                  <a:latin typeface="Arial" panose="020B0604020202020204"/>
                  <a:cs typeface="Arial" panose="020B0604020202020204"/>
                </a:rPr>
                <a:t>(mandatory)</a:t>
              </a:r>
              <a:endParaRPr sz="2000">
                <a:latin typeface="Arial" panose="020B0604020202020204"/>
                <a:cs typeface="Arial" panose="020B0604020202020204"/>
              </a:endParaRPr>
            </a:p>
          </p:txBody>
        </p:sp>
        <p:sp>
          <p:nvSpPr>
            <p:cNvPr id="13" name="object 16"/>
            <p:cNvSpPr txBox="1"/>
            <p:nvPr/>
          </p:nvSpPr>
          <p:spPr>
            <a:xfrm>
              <a:off x="1254474" y="4277318"/>
              <a:ext cx="1116965" cy="635000"/>
            </a:xfrm>
            <a:prstGeom prst="rect">
              <a:avLst/>
            </a:prstGeom>
          </p:spPr>
          <p:txBody>
            <a:bodyPr vert="horz" wrap="square" lIns="0" tIns="12700" rIns="0" bIns="0" rtlCol="0">
              <a:spAutoFit/>
            </a:bodyPr>
            <a:lstStyle/>
            <a:p>
              <a:pPr marL="45085" marR="5080" indent="-33020">
                <a:lnSpc>
                  <a:spcPct val="100000"/>
                </a:lnSpc>
                <a:spcBef>
                  <a:spcPts val="100"/>
                </a:spcBef>
              </a:pPr>
              <a:r>
                <a:rPr sz="2000" spc="-5" dirty="0">
                  <a:solidFill>
                    <a:srgbClr val="0563C1"/>
                  </a:solidFill>
                  <a:latin typeface="Arial" panose="020B0604020202020204"/>
                  <a:cs typeface="Arial" panose="020B0604020202020204"/>
                </a:rPr>
                <a:t>Attributes  </a:t>
              </a:r>
              <a:r>
                <a:rPr sz="2000" dirty="0">
                  <a:solidFill>
                    <a:srgbClr val="0563C1"/>
                  </a:solidFill>
                  <a:latin typeface="Arial" panose="020B0604020202020204"/>
                  <a:cs typeface="Arial" panose="020B0604020202020204"/>
                </a:rPr>
                <a:t>(op</a:t>
              </a:r>
              <a:r>
                <a:rPr sz="2000" spc="-5" dirty="0">
                  <a:solidFill>
                    <a:srgbClr val="0563C1"/>
                  </a:solidFill>
                  <a:latin typeface="Arial" panose="020B0604020202020204"/>
                  <a:cs typeface="Arial" panose="020B0604020202020204"/>
                </a:rPr>
                <a:t>t</a:t>
              </a:r>
              <a:r>
                <a:rPr sz="2000" dirty="0">
                  <a:solidFill>
                    <a:srgbClr val="0563C1"/>
                  </a:solidFill>
                  <a:latin typeface="Arial" panose="020B0604020202020204"/>
                  <a:cs typeface="Arial" panose="020B0604020202020204"/>
                </a:rPr>
                <a:t>ional)</a:t>
              </a:r>
              <a:endParaRPr sz="2000" dirty="0">
                <a:latin typeface="Arial" panose="020B0604020202020204"/>
                <a:cs typeface="Arial" panose="020B0604020202020204"/>
              </a:endParaRPr>
            </a:p>
          </p:txBody>
        </p:sp>
        <p:sp>
          <p:nvSpPr>
            <p:cNvPr id="14" name="object 17"/>
            <p:cNvSpPr/>
            <p:nvPr/>
          </p:nvSpPr>
          <p:spPr>
            <a:xfrm>
              <a:off x="6919308" y="4015697"/>
              <a:ext cx="1625600" cy="304800"/>
            </a:xfrm>
            <a:custGeom>
              <a:avLst/>
              <a:gdLst/>
              <a:ahLst/>
              <a:cxnLst/>
              <a:rect l="l" t="t" r="r" b="b"/>
              <a:pathLst>
                <a:path w="1625600" h="304800">
                  <a:moveTo>
                    <a:pt x="0" y="0"/>
                  </a:moveTo>
                  <a:lnTo>
                    <a:pt x="1625599" y="304800"/>
                  </a:lnTo>
                </a:path>
              </a:pathLst>
            </a:custGeom>
            <a:ln w="28574">
              <a:solidFill>
                <a:srgbClr val="0079CD"/>
              </a:solidFill>
            </a:ln>
          </p:spPr>
          <p:txBody>
            <a:bodyPr wrap="square" lIns="0" tIns="0" rIns="0" bIns="0" rtlCol="0"/>
            <a:lstStyle/>
            <a:p>
              <a:endParaRPr/>
            </a:p>
          </p:txBody>
        </p:sp>
        <p:sp>
          <p:nvSpPr>
            <p:cNvPr id="15" name="object 18"/>
            <p:cNvSpPr/>
            <p:nvPr/>
          </p:nvSpPr>
          <p:spPr>
            <a:xfrm>
              <a:off x="2652110" y="4396698"/>
              <a:ext cx="1727200" cy="228600"/>
            </a:xfrm>
            <a:custGeom>
              <a:avLst/>
              <a:gdLst/>
              <a:ahLst/>
              <a:cxnLst/>
              <a:rect l="l" t="t" r="r" b="b"/>
              <a:pathLst>
                <a:path w="1727200" h="228600">
                  <a:moveTo>
                    <a:pt x="0" y="228600"/>
                  </a:moveTo>
                  <a:lnTo>
                    <a:pt x="1727199" y="0"/>
                  </a:lnTo>
                </a:path>
              </a:pathLst>
            </a:custGeom>
            <a:ln w="28574">
              <a:solidFill>
                <a:srgbClr val="0079CD"/>
              </a:solidFill>
            </a:ln>
          </p:spPr>
          <p:txBody>
            <a:bodyPr wrap="square" lIns="0" tIns="0" rIns="0" bIns="0" rtlCol="0"/>
            <a:lstStyle/>
            <a:p>
              <a:endParaRPr/>
            </a:p>
          </p:txBody>
        </p:sp>
        <p:sp>
          <p:nvSpPr>
            <p:cNvPr id="16" name="object 19"/>
            <p:cNvSpPr txBox="1"/>
            <p:nvPr/>
          </p:nvSpPr>
          <p:spPr>
            <a:xfrm>
              <a:off x="8725250" y="5302842"/>
              <a:ext cx="1268095" cy="635000"/>
            </a:xfrm>
            <a:prstGeom prst="rect">
              <a:avLst/>
            </a:prstGeom>
          </p:spPr>
          <p:txBody>
            <a:bodyPr vert="horz" wrap="square" lIns="0" tIns="12700" rIns="0" bIns="0" rtlCol="0">
              <a:spAutoFit/>
            </a:bodyPr>
            <a:lstStyle/>
            <a:p>
              <a:pPr marL="83185" marR="5080" indent="-71120">
                <a:lnSpc>
                  <a:spcPct val="100000"/>
                </a:lnSpc>
                <a:spcBef>
                  <a:spcPts val="100"/>
                </a:spcBef>
              </a:pPr>
              <a:r>
                <a:rPr sz="2000" spc="-5" dirty="0">
                  <a:solidFill>
                    <a:srgbClr val="0563C1"/>
                  </a:solidFill>
                  <a:latin typeface="Arial" panose="020B0604020202020204"/>
                  <a:cs typeface="Arial" panose="020B0604020202020204"/>
                </a:rPr>
                <a:t>O</a:t>
              </a:r>
              <a:r>
                <a:rPr sz="2000" dirty="0">
                  <a:solidFill>
                    <a:srgbClr val="0563C1"/>
                  </a:solidFill>
                  <a:latin typeface="Arial" panose="020B0604020202020204"/>
                  <a:cs typeface="Arial" panose="020B0604020202020204"/>
                </a:rPr>
                <a:t>pera</a:t>
              </a:r>
              <a:r>
                <a:rPr sz="2000" spc="-5" dirty="0">
                  <a:solidFill>
                    <a:srgbClr val="0563C1"/>
                  </a:solidFill>
                  <a:latin typeface="Arial" panose="020B0604020202020204"/>
                  <a:cs typeface="Arial" panose="020B0604020202020204"/>
                </a:rPr>
                <a:t>t</a:t>
              </a:r>
              <a:r>
                <a:rPr sz="2000" dirty="0">
                  <a:solidFill>
                    <a:srgbClr val="0563C1"/>
                  </a:solidFill>
                  <a:latin typeface="Arial" panose="020B0604020202020204"/>
                  <a:cs typeface="Arial" panose="020B0604020202020204"/>
                </a:rPr>
                <a:t>ions  </a:t>
              </a:r>
              <a:r>
                <a:rPr sz="2000" spc="-5" dirty="0">
                  <a:solidFill>
                    <a:srgbClr val="0563C1"/>
                  </a:solidFill>
                  <a:latin typeface="Arial" panose="020B0604020202020204"/>
                  <a:cs typeface="Arial" panose="020B0604020202020204"/>
                </a:rPr>
                <a:t>(optional)</a:t>
              </a:r>
              <a:endParaRPr sz="2000">
                <a:latin typeface="Arial" panose="020B0604020202020204"/>
                <a:cs typeface="Arial" panose="020B0604020202020204"/>
              </a:endParaRPr>
            </a:p>
          </p:txBody>
        </p:sp>
        <p:sp>
          <p:nvSpPr>
            <p:cNvPr id="17" name="object 20"/>
            <p:cNvSpPr/>
            <p:nvPr/>
          </p:nvSpPr>
          <p:spPr>
            <a:xfrm>
              <a:off x="5700108" y="5311098"/>
              <a:ext cx="3048000" cy="139700"/>
            </a:xfrm>
            <a:custGeom>
              <a:avLst/>
              <a:gdLst/>
              <a:ahLst/>
              <a:cxnLst/>
              <a:rect l="l" t="t" r="r" b="b"/>
              <a:pathLst>
                <a:path w="3048000" h="139700">
                  <a:moveTo>
                    <a:pt x="0" y="0"/>
                  </a:moveTo>
                  <a:lnTo>
                    <a:pt x="3047999" y="139699"/>
                  </a:lnTo>
                </a:path>
              </a:pathLst>
            </a:custGeom>
            <a:ln w="28574">
              <a:solidFill>
                <a:srgbClr val="0079CD"/>
              </a:solidFill>
            </a:ln>
          </p:spPr>
          <p:txBody>
            <a:bodyPr wrap="square" lIns="0" tIns="0" rIns="0" bIns="0" rtlCol="0"/>
            <a:lstStyle/>
            <a:p>
              <a:endParaRPr/>
            </a:p>
          </p:txBody>
        </p:sp>
        <p:sp>
          <p:nvSpPr>
            <p:cNvPr id="18" name="object 21"/>
            <p:cNvSpPr/>
            <p:nvPr/>
          </p:nvSpPr>
          <p:spPr>
            <a:xfrm>
              <a:off x="5700108" y="5450797"/>
              <a:ext cx="3048000" cy="165100"/>
            </a:xfrm>
            <a:custGeom>
              <a:avLst/>
              <a:gdLst/>
              <a:ahLst/>
              <a:cxnLst/>
              <a:rect l="l" t="t" r="r" b="b"/>
              <a:pathLst>
                <a:path w="3048000" h="165100">
                  <a:moveTo>
                    <a:pt x="0" y="165099"/>
                  </a:moveTo>
                  <a:lnTo>
                    <a:pt x="3047999" y="0"/>
                  </a:lnTo>
                </a:path>
              </a:pathLst>
            </a:custGeom>
            <a:ln w="28574">
              <a:solidFill>
                <a:srgbClr val="0079CD"/>
              </a:solidFill>
            </a:ln>
          </p:spPr>
          <p:txBody>
            <a:bodyPr wrap="square" lIns="0" tIns="0" rIns="0" bIns="0" rtlCol="0"/>
            <a:lstStyle/>
            <a:p>
              <a:endParaRPr/>
            </a:p>
          </p:txBody>
        </p:sp>
        <p:sp>
          <p:nvSpPr>
            <p:cNvPr id="19" name="object 22"/>
            <p:cNvSpPr/>
            <p:nvPr/>
          </p:nvSpPr>
          <p:spPr>
            <a:xfrm>
              <a:off x="2652110" y="4625297"/>
              <a:ext cx="1727200" cy="0"/>
            </a:xfrm>
            <a:custGeom>
              <a:avLst/>
              <a:gdLst/>
              <a:ahLst/>
              <a:cxnLst/>
              <a:rect l="l" t="t" r="r" b="b"/>
              <a:pathLst>
                <a:path w="1727200">
                  <a:moveTo>
                    <a:pt x="0" y="0"/>
                  </a:moveTo>
                  <a:lnTo>
                    <a:pt x="1727199" y="0"/>
                  </a:lnTo>
                </a:path>
              </a:pathLst>
            </a:custGeom>
            <a:ln w="28574">
              <a:solidFill>
                <a:srgbClr val="0079CD"/>
              </a:solidFill>
            </a:ln>
          </p:spPr>
          <p:txBody>
            <a:bodyPr wrap="square" lIns="0" tIns="0" rIns="0" bIns="0" rtlCol="0"/>
            <a:lstStyle/>
            <a:p>
              <a:endParaRPr/>
            </a:p>
          </p:txBody>
        </p:sp>
        <p:sp>
          <p:nvSpPr>
            <p:cNvPr id="20" name="object 23"/>
            <p:cNvSpPr/>
            <p:nvPr/>
          </p:nvSpPr>
          <p:spPr>
            <a:xfrm>
              <a:off x="2652110" y="4625298"/>
              <a:ext cx="1727200" cy="304800"/>
            </a:xfrm>
            <a:custGeom>
              <a:avLst/>
              <a:gdLst/>
              <a:ahLst/>
              <a:cxnLst/>
              <a:rect l="l" t="t" r="r" b="b"/>
              <a:pathLst>
                <a:path w="1727200" h="304800">
                  <a:moveTo>
                    <a:pt x="0" y="0"/>
                  </a:moveTo>
                  <a:lnTo>
                    <a:pt x="1727199" y="304799"/>
                  </a:lnTo>
                </a:path>
              </a:pathLst>
            </a:custGeom>
            <a:ln w="28574">
              <a:solidFill>
                <a:srgbClr val="0079CD"/>
              </a:solidFill>
            </a:ln>
          </p:spPr>
          <p:txBody>
            <a:bodyPr wrap="square" lIns="0" tIns="0" rIns="0" bIns="0" rtlCol="0"/>
            <a:lstStyle/>
            <a:p>
              <a:endParaRPr/>
            </a:p>
          </p:txBody>
        </p:sp>
        <p:sp>
          <p:nvSpPr>
            <p:cNvPr id="21" name="object 24"/>
            <p:cNvSpPr/>
            <p:nvPr/>
          </p:nvSpPr>
          <p:spPr>
            <a:xfrm>
              <a:off x="7427308" y="5463497"/>
              <a:ext cx="1320800" cy="381000"/>
            </a:xfrm>
            <a:custGeom>
              <a:avLst/>
              <a:gdLst/>
              <a:ahLst/>
              <a:cxnLst/>
              <a:rect l="l" t="t" r="r" b="b"/>
              <a:pathLst>
                <a:path w="1320800" h="381000">
                  <a:moveTo>
                    <a:pt x="0" y="380999"/>
                  </a:moveTo>
                  <a:lnTo>
                    <a:pt x="1320799" y="0"/>
                  </a:lnTo>
                </a:path>
              </a:pathLst>
            </a:custGeom>
            <a:ln w="28574">
              <a:solidFill>
                <a:srgbClr val="0079CD"/>
              </a:solidFill>
            </a:ln>
          </p:spPr>
          <p:txBody>
            <a:bodyPr wrap="square" lIns="0" tIns="0" rIns="0" bIns="0" rtlCol="0"/>
            <a:lstStyle/>
            <a:p>
              <a:endParaRPr/>
            </a:p>
          </p:txBody>
        </p:sp>
      </p:grpSp>
    </p:spTree>
  </p:cSld>
  <p:clrMapOvr>
    <a:masterClrMapping/>
  </p:clrMapOvr>
  <mc:AlternateContent xmlns:mc="http://schemas.openxmlformats.org/markup-compatibility/2006" xmlns:p14="http://schemas.microsoft.com/office/powerpoint/2010/main">
    <mc:Choice Requires="p14">
      <p:transition spd="slow" p14:dur="2000" advTm="129455"/>
    </mc:Choice>
    <mc:Fallback xmlns="">
      <p:transition spd="slow" advTm="129455"/>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对象</a:t>
            </a:r>
          </a:p>
        </p:txBody>
      </p:sp>
      <p:sp>
        <p:nvSpPr>
          <p:cNvPr id="3" name="内容占位符 2"/>
          <p:cNvSpPr>
            <a:spLocks noGrp="1"/>
          </p:cNvSpPr>
          <p:nvPr>
            <p:ph idx="1"/>
          </p:nvPr>
        </p:nvSpPr>
        <p:spPr>
          <a:xfrm>
            <a:off x="651641" y="1545021"/>
            <a:ext cx="10415753" cy="5055476"/>
          </a:xfrm>
        </p:spPr>
        <p:txBody>
          <a:bodyPr>
            <a:normAutofit fontScale="85000" lnSpcReduction="10000"/>
          </a:bodyPr>
          <a:lstStyle/>
          <a:p>
            <a:r>
              <a:rPr lang="zh-CN" altLang="en-US" dirty="0">
                <a:solidFill>
                  <a:srgbClr val="800000"/>
                </a:solidFill>
                <a:cs typeface="黑体" panose="02010609060101010101" charset="-122"/>
              </a:rPr>
              <a:t>对象是类的实例</a:t>
            </a:r>
            <a:r>
              <a:rPr lang="zh-CN" altLang="en-US" dirty="0">
                <a:solidFill>
                  <a:srgbClr val="941100"/>
                </a:solidFill>
                <a:cs typeface="黑体" panose="02010609060101010101" charset="-122"/>
              </a:rPr>
              <a:t>，</a:t>
            </a:r>
            <a:r>
              <a:rPr lang="zh-CN" altLang="en-US" dirty="0">
                <a:solidFill>
                  <a:srgbClr val="800000"/>
                </a:solidFill>
                <a:cs typeface="黑体" panose="02010609060101010101" charset="-122"/>
              </a:rPr>
              <a:t>表示为</a:t>
            </a:r>
            <a:r>
              <a:rPr lang="zh-CN" altLang="en-US" dirty="0">
                <a:solidFill>
                  <a:srgbClr val="941100"/>
                </a:solidFill>
                <a:cs typeface="黑体" panose="02010609060101010101" charset="-122"/>
              </a:rPr>
              <a:t>：</a:t>
            </a:r>
            <a:endParaRPr lang="en-US" altLang="zh-CN" dirty="0">
              <a:solidFill>
                <a:srgbClr val="941100"/>
              </a:solidFill>
              <a:cs typeface="黑体" panose="02010609060101010101" charset="-122"/>
            </a:endParaRPr>
          </a:p>
          <a:p>
            <a:endParaRPr lang="en-US" altLang="zh-CN" dirty="0">
              <a:solidFill>
                <a:srgbClr val="941100"/>
              </a:solidFill>
              <a:cs typeface="黑体" panose="02010609060101010101" charset="-122"/>
            </a:endParaRPr>
          </a:p>
          <a:p>
            <a:endParaRPr lang="en-US" altLang="zh-CN" dirty="0">
              <a:solidFill>
                <a:srgbClr val="941100"/>
              </a:solidFill>
              <a:cs typeface="黑体" panose="02010609060101010101" charset="-122"/>
            </a:endParaRPr>
          </a:p>
          <a:p>
            <a:pPr marL="0" indent="0">
              <a:buNone/>
            </a:pPr>
            <a:endParaRPr lang="en-US" altLang="zh-CN" dirty="0">
              <a:solidFill>
                <a:srgbClr val="941100"/>
              </a:solidFill>
              <a:cs typeface="黑体" panose="02010609060101010101" charset="-122"/>
            </a:endParaRPr>
          </a:p>
          <a:p>
            <a:pPr marL="1206500" lvl="1" indent="-342900">
              <a:lnSpc>
                <a:spcPct val="100000"/>
              </a:lnSpc>
              <a:spcBef>
                <a:spcPts val="100"/>
              </a:spcBef>
              <a:buFont typeface="Wingdings" panose="05000000000000000000" pitchFamily="2" charset="2"/>
              <a:buChar char="Ø"/>
              <a:tabLst>
                <a:tab pos="634365" algn="l"/>
                <a:tab pos="635000" algn="l"/>
              </a:tabLst>
            </a:pPr>
            <a:r>
              <a:rPr lang="zh-CN" altLang="en-US" dirty="0">
                <a:cs typeface="黑体" panose="02010609060101010101" charset="-122"/>
              </a:rPr>
              <a:t>两个不同的对象可以有相同的属性取值</a:t>
            </a:r>
            <a:r>
              <a:rPr lang="en-US" altLang="zh-CN" dirty="0">
                <a:cs typeface="黑体" panose="02010609060101010101" charset="-122"/>
              </a:rPr>
              <a:t>(</a:t>
            </a:r>
            <a:r>
              <a:rPr lang="zh-CN" altLang="en-US" dirty="0">
                <a:cs typeface="黑体" panose="02010609060101010101" charset="-122"/>
              </a:rPr>
              <a:t>正如两个同名的人，或者住在同一栋楼的人</a:t>
            </a:r>
            <a:r>
              <a:rPr lang="en-US" altLang="zh-CN" dirty="0">
                <a:cs typeface="黑体" panose="02010609060101010101" charset="-122"/>
              </a:rPr>
              <a:t>)</a:t>
            </a:r>
          </a:p>
          <a:p>
            <a:pPr marL="241300">
              <a:lnSpc>
                <a:spcPct val="100000"/>
              </a:lnSpc>
              <a:spcBef>
                <a:spcPts val="1440"/>
              </a:spcBef>
              <a:buFont typeface="Arial" panose="020B0604020202020204"/>
              <a:buChar char="•"/>
              <a:tabLst>
                <a:tab pos="240665" algn="l"/>
                <a:tab pos="241300" algn="l"/>
              </a:tabLst>
            </a:pPr>
            <a:r>
              <a:rPr lang="zh-CN" altLang="en-US" dirty="0">
                <a:solidFill>
                  <a:srgbClr val="800000"/>
                </a:solidFill>
                <a:cs typeface="黑体" panose="02010609060101010101" charset="-122"/>
              </a:rPr>
              <a:t>对象与其他对象之间发生关联关系</a:t>
            </a:r>
            <a:endParaRPr lang="zh-CN" altLang="en-US" dirty="0">
              <a:cs typeface="黑体" panose="02010609060101010101" charset="-122"/>
            </a:endParaRPr>
          </a:p>
          <a:p>
            <a:pPr marL="977900" marR="2065020" lvl="1" indent="-342900">
              <a:lnSpc>
                <a:spcPct val="144000"/>
              </a:lnSpc>
              <a:buFont typeface="Wingdings" panose="05000000000000000000" pitchFamily="2" charset="2"/>
              <a:buChar char="Ø"/>
            </a:pPr>
            <a:r>
              <a:rPr lang="zh-CN" altLang="en-US" dirty="0">
                <a:cs typeface="黑体" panose="02010609060101010101" charset="-122"/>
              </a:rPr>
              <a:t>例如</a:t>
            </a:r>
            <a:r>
              <a:rPr lang="zh-CN" altLang="en-US" spc="-5" dirty="0">
                <a:cs typeface="黑体" panose="02010609060101010101" charset="-122"/>
              </a:rPr>
              <a:t>：</a:t>
            </a:r>
            <a:r>
              <a:rPr lang="en-US" altLang="zh-CN" b="1" spc="-5" dirty="0" err="1">
                <a:cs typeface="Calibri" panose="020F0502020204030204"/>
              </a:rPr>
              <a:t>Fred_Bloggs:employee</a:t>
            </a:r>
            <a:r>
              <a:rPr lang="zh-CN" altLang="en-US" b="1" spc="110" dirty="0">
                <a:cs typeface="Calibri" panose="020F0502020204030204"/>
              </a:rPr>
              <a:t> </a:t>
            </a:r>
            <a:r>
              <a:rPr lang="zh-CN" altLang="en-US" dirty="0">
                <a:cs typeface="黑体" panose="02010609060101010101" charset="-122"/>
              </a:rPr>
              <a:t>对象与</a:t>
            </a:r>
            <a:r>
              <a:rPr lang="zh-CN" altLang="en-US" spc="25" dirty="0">
                <a:cs typeface="黑体" panose="02010609060101010101" charset="-122"/>
              </a:rPr>
              <a:t> </a:t>
            </a:r>
            <a:r>
              <a:rPr lang="en-US" altLang="zh-CN" b="1" spc="-5" dirty="0" err="1">
                <a:cs typeface="Calibri" panose="020F0502020204030204"/>
              </a:rPr>
              <a:t>KillerApp:project</a:t>
            </a:r>
            <a:r>
              <a:rPr lang="zh-CN" altLang="en-US" b="1" spc="110" dirty="0">
                <a:cs typeface="Calibri" panose="020F0502020204030204"/>
              </a:rPr>
              <a:t> </a:t>
            </a:r>
            <a:r>
              <a:rPr lang="zh-CN" altLang="en-US" spc="110" dirty="0">
                <a:cs typeface="Calibri" panose="020F0502020204030204"/>
              </a:rPr>
              <a:t>对</a:t>
            </a:r>
            <a:r>
              <a:rPr lang="zh-CN" altLang="en-US" dirty="0">
                <a:cs typeface="黑体" panose="02010609060101010101" charset="-122"/>
              </a:rPr>
              <a:t>象相关联 但这个关联关系要定义为类之间的关系</a:t>
            </a:r>
            <a:r>
              <a:rPr lang="zh-CN" altLang="en-US" spc="-10" dirty="0">
                <a:cs typeface="黑体" panose="02010609060101010101" charset="-122"/>
              </a:rPr>
              <a:t> </a:t>
            </a:r>
            <a:r>
              <a:rPr lang="en-US" altLang="zh-CN" dirty="0">
                <a:cs typeface="黑体" panose="02010609060101010101" charset="-122"/>
              </a:rPr>
              <a:t>(</a:t>
            </a:r>
            <a:r>
              <a:rPr lang="zh-CN" altLang="en-US" dirty="0">
                <a:cs typeface="黑体" panose="02010609060101010101" charset="-122"/>
              </a:rPr>
              <a:t>为什么？</a:t>
            </a:r>
            <a:r>
              <a:rPr lang="en-US" altLang="zh-CN" dirty="0">
                <a:cs typeface="黑体" panose="02010609060101010101" charset="-122"/>
              </a:rPr>
              <a:t>)</a:t>
            </a:r>
          </a:p>
          <a:p>
            <a:pPr marL="241300">
              <a:lnSpc>
                <a:spcPct val="100000"/>
              </a:lnSpc>
              <a:spcBef>
                <a:spcPts val="1440"/>
              </a:spcBef>
              <a:buFont typeface="Arial" panose="020B0604020202020204"/>
              <a:buChar char="•"/>
              <a:tabLst>
                <a:tab pos="240665" algn="l"/>
                <a:tab pos="241300" algn="l"/>
              </a:tabLst>
            </a:pPr>
            <a:r>
              <a:rPr lang="zh-CN" altLang="en-US" dirty="0">
                <a:solidFill>
                  <a:srgbClr val="800000"/>
                </a:solidFill>
                <a:cs typeface="黑体" panose="02010609060101010101" charset="-122"/>
              </a:rPr>
              <a:t>注意将属性划归正确的类</a:t>
            </a:r>
            <a:endParaRPr lang="zh-CN" altLang="en-US" dirty="0">
              <a:cs typeface="黑体" panose="02010609060101010101" charset="-122"/>
            </a:endParaRPr>
          </a:p>
          <a:p>
            <a:pPr marL="1092200" lvl="1" indent="-457200">
              <a:lnSpc>
                <a:spcPct val="100000"/>
              </a:lnSpc>
              <a:spcBef>
                <a:spcPts val="940"/>
              </a:spcBef>
              <a:buFont typeface="Wingdings" panose="05000000000000000000" pitchFamily="2" charset="2"/>
              <a:buChar char="Ø"/>
            </a:pPr>
            <a:r>
              <a:rPr lang="zh-CN" altLang="en-US" dirty="0">
                <a:cs typeface="黑体" panose="02010609060101010101" charset="-122"/>
              </a:rPr>
              <a:t>例如：不要将经理姓名和员工编号同时定义为</a:t>
            </a:r>
            <a:r>
              <a:rPr lang="en-US" altLang="zh-CN" dirty="0">
                <a:cs typeface="黑体" panose="02010609060101010101" charset="-122"/>
              </a:rPr>
              <a:t>project</a:t>
            </a:r>
            <a:r>
              <a:rPr lang="zh-CN" altLang="en-US" dirty="0">
                <a:cs typeface="黑体" panose="02010609060101010101" charset="-122"/>
              </a:rPr>
              <a:t>类的属性</a:t>
            </a:r>
            <a:r>
              <a:rPr lang="zh-CN" altLang="en-US" spc="-15" dirty="0">
                <a:cs typeface="黑体" panose="02010609060101010101" charset="-122"/>
              </a:rPr>
              <a:t> </a:t>
            </a:r>
            <a:r>
              <a:rPr lang="en-US" altLang="zh-CN" dirty="0">
                <a:cs typeface="黑体" panose="02010609060101010101" charset="-122"/>
              </a:rPr>
              <a:t>(…</a:t>
            </a:r>
            <a:r>
              <a:rPr lang="zh-CN" altLang="en-US" dirty="0">
                <a:cs typeface="黑体" panose="02010609060101010101" charset="-122"/>
              </a:rPr>
              <a:t>为什么？</a:t>
            </a:r>
            <a:r>
              <a:rPr lang="en-US" altLang="zh-CN" dirty="0">
                <a:cs typeface="黑体" panose="02010609060101010101" charset="-122"/>
              </a:rPr>
              <a:t>)</a:t>
            </a:r>
            <a:endParaRPr lang="zh-CN" altLang="en-US" dirty="0">
              <a:cs typeface="黑体" panose="02010609060101010101" charset="-122"/>
            </a:endParaRPr>
          </a:p>
        </p:txBody>
      </p:sp>
      <p:sp>
        <p:nvSpPr>
          <p:cNvPr id="4" name="灯片编号占位符 3"/>
          <p:cNvSpPr>
            <a:spLocks noGrp="1"/>
          </p:cNvSpPr>
          <p:nvPr>
            <p:ph type="sldNum" sz="quarter" idx="12"/>
          </p:nvPr>
        </p:nvSpPr>
        <p:spPr/>
        <p:txBody>
          <a:bodyPr/>
          <a:lstStyle/>
          <a:p>
            <a:fld id="{74D2AB8B-5816-41F2-8B4B-CA5C3E4E6A65}" type="slidenum">
              <a:rPr lang="zh-CN" altLang="en-US" smtClean="0">
                <a:latin typeface="微软雅黑" panose="020B0503020204020204" pitchFamily="34" charset="-122"/>
                <a:ea typeface="微软雅黑" panose="020B0503020204020204" pitchFamily="34" charset="-122"/>
              </a:rPr>
              <a:t>16</a:t>
            </a:fld>
            <a:endParaRPr lang="zh-CN" altLang="en-US">
              <a:latin typeface="微软雅黑" panose="020B0503020204020204" pitchFamily="34" charset="-122"/>
              <a:ea typeface="微软雅黑" panose="020B0503020204020204" pitchFamily="34" charset="-122"/>
            </a:endParaRPr>
          </a:p>
        </p:txBody>
      </p:sp>
      <p:graphicFrame>
        <p:nvGraphicFramePr>
          <p:cNvPr id="5" name="object 2"/>
          <p:cNvGraphicFramePr>
            <a:graphicFrameLocks noGrp="1"/>
          </p:cNvGraphicFramePr>
          <p:nvPr/>
        </p:nvGraphicFramePr>
        <p:xfrm>
          <a:off x="4998327" y="1449965"/>
          <a:ext cx="4845269" cy="1530795"/>
        </p:xfrm>
        <a:graphic>
          <a:graphicData uri="http://schemas.openxmlformats.org/drawingml/2006/table">
            <a:tbl>
              <a:tblPr firstRow="1" bandRow="1">
                <a:tableStyleId>{2D5ABB26-0587-4C30-8999-92F81FD0307C}</a:tableStyleId>
              </a:tblPr>
              <a:tblGrid>
                <a:gridCol w="4845269">
                  <a:extLst>
                    <a:ext uri="{9D8B030D-6E8A-4147-A177-3AD203B41FA5}">
                      <a16:colId xmlns:a16="http://schemas.microsoft.com/office/drawing/2014/main" val="20000"/>
                    </a:ext>
                  </a:extLst>
                </a:gridCol>
              </a:tblGrid>
              <a:tr h="340555">
                <a:tc>
                  <a:txBody>
                    <a:bodyPr/>
                    <a:lstStyle/>
                    <a:p>
                      <a:pPr marL="507365">
                        <a:lnSpc>
                          <a:spcPct val="100000"/>
                        </a:lnSpc>
                        <a:spcBef>
                          <a:spcPts val="600"/>
                        </a:spcBef>
                      </a:pPr>
                      <a:r>
                        <a:rPr sz="1800" dirty="0" err="1">
                          <a:solidFill>
                            <a:srgbClr val="FF0000"/>
                          </a:solidFill>
                          <a:latin typeface="Courier New" panose="02070309020205020404"/>
                          <a:cs typeface="Courier New" panose="02070309020205020404"/>
                        </a:rPr>
                        <a:t>Fred_Bloggs</a:t>
                      </a:r>
                      <a:r>
                        <a:rPr sz="1800" dirty="0" err="1">
                          <a:latin typeface="Courier New" panose="02070309020205020404"/>
                          <a:cs typeface="Courier New" panose="02070309020205020404"/>
                        </a:rPr>
                        <a:t>:</a:t>
                      </a:r>
                      <a:r>
                        <a:rPr lang="en-US" sz="1800" dirty="0" err="1">
                          <a:latin typeface="Courier New" panose="02070309020205020404"/>
                          <a:cs typeface="Courier New" panose="02070309020205020404"/>
                        </a:rPr>
                        <a:t>e</a:t>
                      </a:r>
                      <a:r>
                        <a:rPr sz="1800" dirty="0" err="1">
                          <a:latin typeface="Courier New" panose="02070309020205020404"/>
                          <a:cs typeface="Courier New" panose="02070309020205020404"/>
                        </a:rPr>
                        <a:t>mployee</a:t>
                      </a:r>
                      <a:endParaRPr sz="1800" dirty="0">
                        <a:latin typeface="Courier New" panose="02070309020205020404"/>
                        <a:cs typeface="Courier New" panose="02070309020205020404"/>
                      </a:endParaRPr>
                    </a:p>
                  </a:txBody>
                  <a:tcPr marL="0" marR="0" marT="7620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FFFED5"/>
                    </a:solidFill>
                  </a:tcPr>
                </a:tc>
                <a:extLst>
                  <a:ext uri="{0D108BD9-81ED-4DB2-BD59-A6C34878D82A}">
                    <a16:rowId xmlns:a16="http://schemas.microsoft.com/office/drawing/2014/main" val="10000"/>
                  </a:ext>
                </a:extLst>
              </a:tr>
              <a:tr h="794629">
                <a:tc>
                  <a:txBody>
                    <a:bodyPr/>
                    <a:lstStyle/>
                    <a:p>
                      <a:pPr marL="203200" marR="1605915">
                        <a:lnSpc>
                          <a:spcPct val="111000"/>
                        </a:lnSpc>
                        <a:spcBef>
                          <a:spcPts val="360"/>
                        </a:spcBef>
                      </a:pPr>
                      <a:r>
                        <a:rPr sz="1800" spc="-5" dirty="0">
                          <a:latin typeface="Courier New" panose="02070309020205020404"/>
                          <a:cs typeface="Courier New" panose="02070309020205020404"/>
                        </a:rPr>
                        <a:t>name: </a:t>
                      </a:r>
                      <a:r>
                        <a:rPr sz="1800" spc="-5" dirty="0">
                          <a:solidFill>
                            <a:srgbClr val="FF0000"/>
                          </a:solidFill>
                          <a:latin typeface="Courier New" panose="02070309020205020404"/>
                          <a:cs typeface="Courier New" panose="02070309020205020404"/>
                        </a:rPr>
                        <a:t>Fred </a:t>
                      </a:r>
                      <a:r>
                        <a:rPr sz="1800" dirty="0">
                          <a:solidFill>
                            <a:srgbClr val="FF0000"/>
                          </a:solidFill>
                          <a:latin typeface="Courier New" panose="02070309020205020404"/>
                          <a:cs typeface="Courier New" panose="02070309020205020404"/>
                        </a:rPr>
                        <a:t>Bloggs  </a:t>
                      </a:r>
                      <a:r>
                        <a:rPr sz="1800" spc="-5" dirty="0">
                          <a:latin typeface="Courier New" panose="02070309020205020404"/>
                          <a:cs typeface="Courier New" panose="02070309020205020404"/>
                        </a:rPr>
                        <a:t>Employee #:</a:t>
                      </a:r>
                      <a:r>
                        <a:rPr sz="1800" spc="-95" dirty="0">
                          <a:latin typeface="Courier New" panose="02070309020205020404"/>
                          <a:cs typeface="Courier New" panose="02070309020205020404"/>
                        </a:rPr>
                        <a:t> </a:t>
                      </a:r>
                      <a:r>
                        <a:rPr sz="1800" dirty="0">
                          <a:solidFill>
                            <a:srgbClr val="FF0000"/>
                          </a:solidFill>
                          <a:latin typeface="Courier New" panose="02070309020205020404"/>
                          <a:cs typeface="Courier New" panose="02070309020205020404"/>
                        </a:rPr>
                        <a:t>234609234</a:t>
                      </a:r>
                      <a:r>
                        <a:rPr sz="1800" dirty="0">
                          <a:latin typeface="Courier New" panose="02070309020205020404"/>
                          <a:cs typeface="Courier New" panose="02070309020205020404"/>
                        </a:rPr>
                        <a:t>  </a:t>
                      </a:r>
                      <a:r>
                        <a:rPr sz="1800" spc="-5" dirty="0">
                          <a:latin typeface="Courier New" panose="02070309020205020404"/>
                          <a:cs typeface="Courier New" panose="02070309020205020404"/>
                        </a:rPr>
                        <a:t>Department:</a:t>
                      </a:r>
                      <a:r>
                        <a:rPr sz="1800" spc="-95" dirty="0">
                          <a:latin typeface="Courier New" panose="02070309020205020404"/>
                          <a:cs typeface="Courier New" panose="02070309020205020404"/>
                        </a:rPr>
                        <a:t> </a:t>
                      </a:r>
                      <a:r>
                        <a:rPr sz="1800" dirty="0">
                          <a:solidFill>
                            <a:srgbClr val="FF0000"/>
                          </a:solidFill>
                          <a:latin typeface="Courier New" panose="02070309020205020404"/>
                          <a:cs typeface="Courier New" panose="02070309020205020404"/>
                        </a:rPr>
                        <a:t>Marketing</a:t>
                      </a:r>
                    </a:p>
                  </a:txBody>
                  <a:tcPr marL="0" marR="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FFFED5"/>
                    </a:solidFill>
                  </a:tcPr>
                </a:tc>
                <a:extLst>
                  <a:ext uri="{0D108BD9-81ED-4DB2-BD59-A6C34878D82A}">
                    <a16:rowId xmlns:a16="http://schemas.microsoft.com/office/drawing/2014/main" val="10001"/>
                  </a:ext>
                </a:extLst>
              </a:tr>
              <a:tr h="190379">
                <a:tc>
                  <a:txBody>
                    <a:bodyPr/>
                    <a:lstStyle/>
                    <a:p>
                      <a:pPr>
                        <a:lnSpc>
                          <a:spcPct val="100000"/>
                        </a:lnSpc>
                      </a:pPr>
                      <a:endParaRPr sz="1500" dirty="0">
                        <a:latin typeface="Times New Roman" panose="02020603050405020304"/>
                        <a:cs typeface="Times New Roman" panose="02020603050405020304"/>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FFFED5"/>
                    </a:solidFill>
                  </a:tcPr>
                </a:tc>
                <a:extLst>
                  <a:ext uri="{0D108BD9-81ED-4DB2-BD59-A6C34878D82A}">
                    <a16:rowId xmlns:a16="http://schemas.microsoft.com/office/drawing/2014/main" val="10002"/>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advTm="163352"/>
    </mc:Choice>
    <mc:Fallback xmlns="">
      <p:transition spd="slow" advTm="163352"/>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类属性定义</a:t>
            </a:r>
          </a:p>
        </p:txBody>
      </p:sp>
      <p:sp>
        <p:nvSpPr>
          <p:cNvPr id="3" name="内容占位符 2"/>
          <p:cNvSpPr>
            <a:spLocks noGrp="1"/>
          </p:cNvSpPr>
          <p:nvPr>
            <p:ph idx="1"/>
          </p:nvPr>
        </p:nvSpPr>
        <p:spPr>
          <a:xfrm>
            <a:off x="838200" y="1429406"/>
            <a:ext cx="10515600" cy="4747557"/>
          </a:xfrm>
        </p:spPr>
        <p:txBody>
          <a:bodyPr>
            <a:normAutofit/>
          </a:bodyPr>
          <a:lstStyle/>
          <a:p>
            <a:pPr marL="355600" indent="-342900">
              <a:lnSpc>
                <a:spcPct val="150000"/>
              </a:lnSpc>
              <a:spcBef>
                <a:spcPts val="500"/>
              </a:spcBef>
              <a:buFont typeface="Arial" panose="020B0604020202020204"/>
              <a:buChar char="•"/>
              <a:tabLst>
                <a:tab pos="354965" algn="l"/>
                <a:tab pos="355600" algn="l"/>
              </a:tabLst>
            </a:pPr>
            <a:r>
              <a:rPr lang="zh-CN" altLang="en-US" sz="2000" dirty="0">
                <a:cs typeface="华文细黑" panose="02010600040101010101" charset="-122"/>
              </a:rPr>
              <a:t>属性在类图标的属性分隔框中</a:t>
            </a:r>
          </a:p>
          <a:p>
            <a:pPr marL="355600" marR="118745">
              <a:lnSpc>
                <a:spcPct val="150000"/>
              </a:lnSpc>
              <a:spcBef>
                <a:spcPts val="80"/>
              </a:spcBef>
            </a:pPr>
            <a:r>
              <a:rPr lang="zh-CN" altLang="en-US" sz="2000" dirty="0">
                <a:cs typeface="华文细黑" panose="02010600040101010101" charset="-122"/>
              </a:rPr>
              <a:t>用文字串说明，</a:t>
            </a:r>
            <a:r>
              <a:rPr lang="en-US" altLang="zh-CN" sz="2000" dirty="0">
                <a:cs typeface="华文细黑" panose="02010600040101010101" charset="-122"/>
              </a:rPr>
              <a:t>UML</a:t>
            </a:r>
            <a:r>
              <a:rPr lang="zh-CN" altLang="en-US" sz="2000" dirty="0">
                <a:cs typeface="华文细黑" panose="02010600040101010101" charset="-122"/>
              </a:rPr>
              <a:t>规定属性 的语法为：</a:t>
            </a:r>
          </a:p>
          <a:p>
            <a:pPr marL="355600">
              <a:lnSpc>
                <a:spcPct val="150000"/>
              </a:lnSpc>
              <a:spcBef>
                <a:spcPts val="1265"/>
              </a:spcBef>
            </a:pPr>
            <a:r>
              <a:rPr lang="en-US" altLang="zh-CN" sz="2000" dirty="0">
                <a:solidFill>
                  <a:srgbClr val="800000"/>
                </a:solidFill>
                <a:cs typeface="华文细黑" panose="02010600040101010101" charset="-122"/>
              </a:rPr>
              <a:t>[</a:t>
            </a:r>
            <a:r>
              <a:rPr lang="zh-CN" altLang="en-US" sz="2000" dirty="0">
                <a:solidFill>
                  <a:srgbClr val="800000"/>
                </a:solidFill>
                <a:cs typeface="华文细黑" panose="02010600040101010101" charset="-122"/>
              </a:rPr>
              <a:t>可见性</a:t>
            </a:r>
            <a:r>
              <a:rPr lang="en-US" altLang="zh-CN" sz="2000" dirty="0">
                <a:solidFill>
                  <a:srgbClr val="800000"/>
                </a:solidFill>
                <a:cs typeface="华文细黑" panose="02010600040101010101" charset="-122"/>
              </a:rPr>
              <a:t>] </a:t>
            </a:r>
            <a:r>
              <a:rPr lang="zh-CN" altLang="en-US" sz="2000" dirty="0">
                <a:solidFill>
                  <a:srgbClr val="800000"/>
                </a:solidFill>
                <a:cs typeface="华文细黑" panose="02010600040101010101" charset="-122"/>
              </a:rPr>
              <a:t>属性名 </a:t>
            </a:r>
            <a:r>
              <a:rPr lang="en-US" altLang="zh-CN" sz="2000" dirty="0">
                <a:solidFill>
                  <a:srgbClr val="800000"/>
                </a:solidFill>
                <a:cs typeface="华文细黑" panose="02010600040101010101" charset="-122"/>
              </a:rPr>
              <a:t>[:</a:t>
            </a:r>
            <a:r>
              <a:rPr lang="zh-CN" altLang="en-US" sz="2000" dirty="0">
                <a:solidFill>
                  <a:srgbClr val="800000"/>
                </a:solidFill>
                <a:cs typeface="华文细黑" panose="02010600040101010101" charset="-122"/>
              </a:rPr>
              <a:t>类型</a:t>
            </a:r>
            <a:r>
              <a:rPr lang="en-US" altLang="zh-CN" sz="2000" dirty="0">
                <a:solidFill>
                  <a:srgbClr val="800000"/>
                </a:solidFill>
                <a:cs typeface="华文细黑" panose="02010600040101010101" charset="-122"/>
              </a:rPr>
              <a:t>] [ [</a:t>
            </a:r>
            <a:r>
              <a:rPr lang="zh-CN" altLang="en-US" sz="2000" dirty="0">
                <a:solidFill>
                  <a:srgbClr val="800000"/>
                </a:solidFill>
                <a:cs typeface="华文细黑" panose="02010600040101010101" charset="-122"/>
              </a:rPr>
              <a:t>多样性 </a:t>
            </a:r>
            <a:r>
              <a:rPr lang="en-US" altLang="zh-CN" sz="2000" dirty="0">
                <a:solidFill>
                  <a:srgbClr val="800000"/>
                </a:solidFill>
                <a:cs typeface="华文细黑" panose="02010600040101010101" charset="-122"/>
              </a:rPr>
              <a:t>[</a:t>
            </a:r>
            <a:r>
              <a:rPr lang="zh-CN" altLang="en-US" sz="2000" dirty="0">
                <a:solidFill>
                  <a:srgbClr val="800000"/>
                </a:solidFill>
                <a:cs typeface="华文细黑" panose="02010600040101010101" charset="-122"/>
              </a:rPr>
              <a:t>次序</a:t>
            </a:r>
            <a:r>
              <a:rPr lang="en-US" altLang="zh-CN" sz="2000" dirty="0">
                <a:solidFill>
                  <a:srgbClr val="800000"/>
                </a:solidFill>
                <a:cs typeface="华文细黑" panose="02010600040101010101" charset="-122"/>
              </a:rPr>
              <a:t>]] ] </a:t>
            </a:r>
          </a:p>
          <a:p>
            <a:pPr marL="355600">
              <a:lnSpc>
                <a:spcPct val="150000"/>
              </a:lnSpc>
              <a:spcBef>
                <a:spcPts val="1265"/>
              </a:spcBef>
            </a:pPr>
            <a:r>
              <a:rPr lang="en-US" altLang="zh-CN" sz="2000" dirty="0">
                <a:solidFill>
                  <a:srgbClr val="800000"/>
                </a:solidFill>
                <a:cs typeface="华文细黑" panose="02010600040101010101" charset="-122"/>
              </a:rPr>
              <a:t>[= </a:t>
            </a:r>
            <a:r>
              <a:rPr lang="zh-CN" altLang="en-US" sz="2000" dirty="0">
                <a:solidFill>
                  <a:srgbClr val="800000"/>
                </a:solidFill>
                <a:cs typeface="华文细黑" panose="02010600040101010101" charset="-122"/>
              </a:rPr>
              <a:t>初始值</a:t>
            </a:r>
            <a:r>
              <a:rPr lang="en-US" altLang="zh-CN" sz="2000" dirty="0">
                <a:solidFill>
                  <a:srgbClr val="800000"/>
                </a:solidFill>
                <a:cs typeface="华文细黑" panose="02010600040101010101" charset="-122"/>
              </a:rPr>
              <a:t>] [{</a:t>
            </a:r>
            <a:r>
              <a:rPr lang="zh-CN" altLang="en-US" sz="2000" dirty="0">
                <a:solidFill>
                  <a:srgbClr val="800000"/>
                </a:solidFill>
                <a:cs typeface="华文细黑" panose="02010600040101010101" charset="-122"/>
              </a:rPr>
              <a:t>约束</a:t>
            </a:r>
            <a:r>
              <a:rPr lang="en-US" altLang="zh-CN" sz="2000" dirty="0">
                <a:solidFill>
                  <a:srgbClr val="800000"/>
                </a:solidFill>
                <a:cs typeface="华文细黑" panose="02010600040101010101" charset="-122"/>
              </a:rPr>
              <a:t>}]</a:t>
            </a:r>
            <a:endParaRPr lang="zh-CN" altLang="en-US" sz="2000"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t>17</a:t>
            </a:fld>
            <a:endParaRPr lang="zh-CN" altLang="en-US"/>
          </a:p>
        </p:txBody>
      </p:sp>
      <p:grpSp>
        <p:nvGrpSpPr>
          <p:cNvPr id="5" name="组合 4"/>
          <p:cNvGrpSpPr/>
          <p:nvPr/>
        </p:nvGrpSpPr>
        <p:grpSpPr>
          <a:xfrm>
            <a:off x="1211385" y="3657949"/>
            <a:ext cx="4379895" cy="2725029"/>
            <a:chOff x="780461" y="3284984"/>
            <a:chExt cx="4379895" cy="2725029"/>
          </a:xfrm>
        </p:grpSpPr>
        <p:sp>
          <p:nvSpPr>
            <p:cNvPr id="6" name="object 5"/>
            <p:cNvSpPr/>
            <p:nvPr/>
          </p:nvSpPr>
          <p:spPr>
            <a:xfrm>
              <a:off x="2283171" y="3284984"/>
              <a:ext cx="2877185" cy="2724785"/>
            </a:xfrm>
            <a:custGeom>
              <a:avLst/>
              <a:gdLst/>
              <a:ahLst/>
              <a:cxnLst/>
              <a:rect l="l" t="t" r="r" b="b"/>
              <a:pathLst>
                <a:path w="2877185" h="2724785">
                  <a:moveTo>
                    <a:pt x="0" y="0"/>
                  </a:moveTo>
                  <a:lnTo>
                    <a:pt x="2876723" y="0"/>
                  </a:lnTo>
                  <a:lnTo>
                    <a:pt x="2876723" y="2724422"/>
                  </a:lnTo>
                  <a:lnTo>
                    <a:pt x="0" y="2724422"/>
                  </a:lnTo>
                  <a:lnTo>
                    <a:pt x="0" y="0"/>
                  </a:lnTo>
                  <a:close/>
                </a:path>
              </a:pathLst>
            </a:custGeom>
            <a:solidFill>
              <a:srgbClr val="FFFED5"/>
            </a:solidFill>
          </p:spPr>
          <p:txBody>
            <a:bodyPr wrap="square" lIns="0" tIns="0" rIns="0" bIns="0" rtlCol="0"/>
            <a:lstStyle/>
            <a:p>
              <a:endParaRPr/>
            </a:p>
          </p:txBody>
        </p:sp>
        <p:sp>
          <p:nvSpPr>
            <p:cNvPr id="7" name="object 6"/>
            <p:cNvSpPr/>
            <p:nvPr/>
          </p:nvSpPr>
          <p:spPr>
            <a:xfrm>
              <a:off x="2283171" y="3284984"/>
              <a:ext cx="2877185" cy="2724785"/>
            </a:xfrm>
            <a:custGeom>
              <a:avLst/>
              <a:gdLst/>
              <a:ahLst/>
              <a:cxnLst/>
              <a:rect l="l" t="t" r="r" b="b"/>
              <a:pathLst>
                <a:path w="2877185" h="2724785">
                  <a:moveTo>
                    <a:pt x="0" y="0"/>
                  </a:moveTo>
                  <a:lnTo>
                    <a:pt x="2876723" y="0"/>
                  </a:lnTo>
                  <a:lnTo>
                    <a:pt x="2876723" y="2724422"/>
                  </a:lnTo>
                  <a:lnTo>
                    <a:pt x="0" y="2724422"/>
                  </a:lnTo>
                  <a:lnTo>
                    <a:pt x="0" y="0"/>
                  </a:lnTo>
                  <a:close/>
                </a:path>
              </a:pathLst>
            </a:custGeom>
            <a:ln w="4156">
              <a:solidFill>
                <a:srgbClr val="AB1942"/>
              </a:solidFill>
            </a:ln>
          </p:spPr>
          <p:txBody>
            <a:bodyPr wrap="square" lIns="0" tIns="0" rIns="0" bIns="0" rtlCol="0"/>
            <a:lstStyle/>
            <a:p>
              <a:endParaRPr/>
            </a:p>
          </p:txBody>
        </p:sp>
        <p:sp>
          <p:nvSpPr>
            <p:cNvPr id="8" name="object 7"/>
            <p:cNvSpPr txBox="1"/>
            <p:nvPr/>
          </p:nvSpPr>
          <p:spPr>
            <a:xfrm>
              <a:off x="2283171" y="3284984"/>
              <a:ext cx="2877185" cy="414655"/>
            </a:xfrm>
            <a:prstGeom prst="rect">
              <a:avLst/>
            </a:prstGeom>
            <a:ln w="4156">
              <a:solidFill>
                <a:srgbClr val="AB1942"/>
              </a:solidFill>
            </a:ln>
          </p:spPr>
          <p:txBody>
            <a:bodyPr vert="horz" wrap="square" lIns="0" tIns="1905" rIns="0" bIns="0" rtlCol="0">
              <a:spAutoFit/>
            </a:bodyPr>
            <a:lstStyle/>
            <a:p>
              <a:pPr marL="882650">
                <a:lnSpc>
                  <a:spcPct val="100000"/>
                </a:lnSpc>
                <a:spcBef>
                  <a:spcPts val="15"/>
                </a:spcBef>
              </a:pPr>
              <a:r>
                <a:rPr sz="1600" spc="-10" dirty="0">
                  <a:latin typeface="Arial" panose="020B0604020202020204"/>
                  <a:cs typeface="Arial" panose="020B0604020202020204"/>
                </a:rPr>
                <a:t>Staff</a:t>
              </a:r>
              <a:endParaRPr sz="1600">
                <a:latin typeface="Arial" panose="020B0604020202020204"/>
                <a:cs typeface="Arial" panose="020B0604020202020204"/>
              </a:endParaRPr>
            </a:p>
          </p:txBody>
        </p:sp>
        <p:sp>
          <p:nvSpPr>
            <p:cNvPr id="9" name="object 8"/>
            <p:cNvSpPr/>
            <p:nvPr/>
          </p:nvSpPr>
          <p:spPr>
            <a:xfrm>
              <a:off x="2283171" y="3699248"/>
              <a:ext cx="2877185" cy="2310765"/>
            </a:xfrm>
            <a:custGeom>
              <a:avLst/>
              <a:gdLst/>
              <a:ahLst/>
              <a:cxnLst/>
              <a:rect l="l" t="t" r="r" b="b"/>
              <a:pathLst>
                <a:path w="2877185" h="2310765">
                  <a:moveTo>
                    <a:pt x="0" y="0"/>
                  </a:moveTo>
                  <a:lnTo>
                    <a:pt x="2876723" y="0"/>
                  </a:lnTo>
                  <a:lnTo>
                    <a:pt x="2876723" y="2310158"/>
                  </a:lnTo>
                  <a:lnTo>
                    <a:pt x="0" y="2310158"/>
                  </a:lnTo>
                  <a:lnTo>
                    <a:pt x="0" y="0"/>
                  </a:lnTo>
                  <a:close/>
                </a:path>
              </a:pathLst>
            </a:custGeom>
            <a:ln w="4156">
              <a:solidFill>
                <a:srgbClr val="AB1942"/>
              </a:solidFill>
            </a:ln>
          </p:spPr>
          <p:txBody>
            <a:bodyPr wrap="square" lIns="0" tIns="0" rIns="0" bIns="0" rtlCol="0"/>
            <a:lstStyle/>
            <a:p>
              <a:endParaRPr/>
            </a:p>
          </p:txBody>
        </p:sp>
        <p:sp>
          <p:nvSpPr>
            <p:cNvPr id="10" name="object 9"/>
            <p:cNvSpPr/>
            <p:nvPr/>
          </p:nvSpPr>
          <p:spPr>
            <a:xfrm>
              <a:off x="2358101" y="3681283"/>
              <a:ext cx="404033" cy="276880"/>
            </a:xfrm>
            <a:prstGeom prst="rect">
              <a:avLst/>
            </a:prstGeom>
            <a:blipFill>
              <a:blip r:embed="rId3" cstate="print"/>
              <a:stretch>
                <a:fillRect/>
              </a:stretch>
            </a:blipFill>
          </p:spPr>
          <p:txBody>
            <a:bodyPr wrap="square" lIns="0" tIns="0" rIns="0" bIns="0" rtlCol="0"/>
            <a:lstStyle/>
            <a:p>
              <a:endParaRPr/>
            </a:p>
          </p:txBody>
        </p:sp>
        <p:sp>
          <p:nvSpPr>
            <p:cNvPr id="11" name="object 10"/>
            <p:cNvSpPr/>
            <p:nvPr/>
          </p:nvSpPr>
          <p:spPr>
            <a:xfrm>
              <a:off x="2358101" y="3978242"/>
              <a:ext cx="404033" cy="275823"/>
            </a:xfrm>
            <a:prstGeom prst="rect">
              <a:avLst/>
            </a:prstGeom>
            <a:blipFill>
              <a:blip r:embed="rId4" cstate="print"/>
              <a:stretch>
                <a:fillRect/>
              </a:stretch>
            </a:blipFill>
          </p:spPr>
          <p:txBody>
            <a:bodyPr wrap="square" lIns="0" tIns="0" rIns="0" bIns="0" rtlCol="0"/>
            <a:lstStyle/>
            <a:p>
              <a:endParaRPr/>
            </a:p>
          </p:txBody>
        </p:sp>
        <p:sp>
          <p:nvSpPr>
            <p:cNvPr id="12" name="object 11"/>
            <p:cNvSpPr/>
            <p:nvPr/>
          </p:nvSpPr>
          <p:spPr>
            <a:xfrm>
              <a:off x="2358101" y="4254067"/>
              <a:ext cx="404033" cy="295903"/>
            </a:xfrm>
            <a:prstGeom prst="rect">
              <a:avLst/>
            </a:prstGeom>
            <a:blipFill>
              <a:blip r:embed="rId5" cstate="print"/>
              <a:stretch>
                <a:fillRect/>
              </a:stretch>
            </a:blipFill>
          </p:spPr>
          <p:txBody>
            <a:bodyPr wrap="square" lIns="0" tIns="0" rIns="0" bIns="0" rtlCol="0"/>
            <a:lstStyle/>
            <a:p>
              <a:endParaRPr/>
            </a:p>
          </p:txBody>
        </p:sp>
        <p:sp>
          <p:nvSpPr>
            <p:cNvPr id="13" name="object 12"/>
            <p:cNvSpPr txBox="1"/>
            <p:nvPr/>
          </p:nvSpPr>
          <p:spPr>
            <a:xfrm>
              <a:off x="2749435" y="3615464"/>
              <a:ext cx="1414780" cy="895350"/>
            </a:xfrm>
            <a:prstGeom prst="rect">
              <a:avLst/>
            </a:prstGeom>
          </p:spPr>
          <p:txBody>
            <a:bodyPr vert="horz" wrap="square" lIns="0" tIns="22860" rIns="0" bIns="0" rtlCol="0">
              <a:spAutoFit/>
            </a:bodyPr>
            <a:lstStyle/>
            <a:p>
              <a:pPr marL="12700" marR="5080">
                <a:lnSpc>
                  <a:spcPct val="118000"/>
                </a:lnSpc>
                <a:spcBef>
                  <a:spcPts val="180"/>
                </a:spcBef>
              </a:pPr>
              <a:r>
                <a:rPr sz="1600" dirty="0">
                  <a:latin typeface="Arial" panose="020B0604020202020204"/>
                  <a:cs typeface="Arial" panose="020B0604020202020204"/>
                </a:rPr>
                <a:t>name : </a:t>
              </a:r>
              <a:r>
                <a:rPr sz="1600" spc="-5" dirty="0">
                  <a:latin typeface="Arial" panose="020B0604020202020204"/>
                  <a:cs typeface="Arial" panose="020B0604020202020204"/>
                </a:rPr>
                <a:t>String  </a:t>
              </a:r>
              <a:r>
                <a:rPr sz="1600" dirty="0">
                  <a:latin typeface="Arial" panose="020B0604020202020204"/>
                  <a:cs typeface="Arial" panose="020B0604020202020204"/>
                </a:rPr>
                <a:t>passwd :</a:t>
              </a:r>
              <a:r>
                <a:rPr sz="1600" spc="-80" dirty="0">
                  <a:latin typeface="Arial" panose="020B0604020202020204"/>
                  <a:cs typeface="Arial" panose="020B0604020202020204"/>
                </a:rPr>
                <a:t> </a:t>
              </a:r>
              <a:r>
                <a:rPr sz="1600" spc="-5" dirty="0">
                  <a:latin typeface="Arial" panose="020B0604020202020204"/>
                  <a:cs typeface="Arial" panose="020B0604020202020204"/>
                </a:rPr>
                <a:t>String  DateofB </a:t>
              </a:r>
              <a:r>
                <a:rPr sz="1600" dirty="0">
                  <a:latin typeface="Arial" panose="020B0604020202020204"/>
                  <a:cs typeface="Arial" panose="020B0604020202020204"/>
                </a:rPr>
                <a:t>:</a:t>
              </a:r>
              <a:r>
                <a:rPr sz="1600" spc="-40" dirty="0">
                  <a:latin typeface="Arial" panose="020B0604020202020204"/>
                  <a:cs typeface="Arial" panose="020B0604020202020204"/>
                </a:rPr>
                <a:t> </a:t>
              </a:r>
              <a:r>
                <a:rPr sz="1600" spc="-5" dirty="0">
                  <a:latin typeface="Arial" panose="020B0604020202020204"/>
                  <a:cs typeface="Arial" panose="020B0604020202020204"/>
                </a:rPr>
                <a:t>Date</a:t>
              </a:r>
              <a:endParaRPr sz="1600">
                <a:latin typeface="Arial" panose="020B0604020202020204"/>
                <a:cs typeface="Arial" panose="020B0604020202020204"/>
              </a:endParaRPr>
            </a:p>
          </p:txBody>
        </p:sp>
        <p:sp>
          <p:nvSpPr>
            <p:cNvPr id="14" name="object 13"/>
            <p:cNvSpPr/>
            <p:nvPr/>
          </p:nvSpPr>
          <p:spPr>
            <a:xfrm>
              <a:off x="2358101" y="4845874"/>
              <a:ext cx="404033" cy="296959"/>
            </a:xfrm>
            <a:prstGeom prst="rect">
              <a:avLst/>
            </a:prstGeom>
            <a:blipFill>
              <a:blip r:embed="rId6" cstate="print"/>
              <a:stretch>
                <a:fillRect/>
              </a:stretch>
            </a:blipFill>
          </p:spPr>
          <p:txBody>
            <a:bodyPr wrap="square" lIns="0" tIns="0" rIns="0" bIns="0" rtlCol="0"/>
            <a:lstStyle/>
            <a:p>
              <a:endParaRPr/>
            </a:p>
          </p:txBody>
        </p:sp>
        <p:sp>
          <p:nvSpPr>
            <p:cNvPr id="15" name="object 14"/>
            <p:cNvSpPr/>
            <p:nvPr/>
          </p:nvSpPr>
          <p:spPr>
            <a:xfrm>
              <a:off x="2358101" y="5142833"/>
              <a:ext cx="404033" cy="295902"/>
            </a:xfrm>
            <a:prstGeom prst="rect">
              <a:avLst/>
            </a:prstGeom>
            <a:blipFill>
              <a:blip r:embed="rId7" cstate="print"/>
              <a:stretch>
                <a:fillRect/>
              </a:stretch>
            </a:blipFill>
          </p:spPr>
          <p:txBody>
            <a:bodyPr wrap="square" lIns="0" tIns="0" rIns="0" bIns="0" rtlCol="0"/>
            <a:lstStyle/>
            <a:p>
              <a:endParaRPr/>
            </a:p>
          </p:txBody>
        </p:sp>
        <p:sp>
          <p:nvSpPr>
            <p:cNvPr id="16" name="object 15"/>
            <p:cNvSpPr/>
            <p:nvPr/>
          </p:nvSpPr>
          <p:spPr>
            <a:xfrm>
              <a:off x="2358101" y="5438735"/>
              <a:ext cx="404033" cy="295902"/>
            </a:xfrm>
            <a:prstGeom prst="rect">
              <a:avLst/>
            </a:prstGeom>
            <a:blipFill>
              <a:blip r:embed="rId8" cstate="print"/>
              <a:stretch>
                <a:fillRect/>
              </a:stretch>
            </a:blipFill>
          </p:spPr>
          <p:txBody>
            <a:bodyPr wrap="square" lIns="0" tIns="0" rIns="0" bIns="0" rtlCol="0"/>
            <a:lstStyle/>
            <a:p>
              <a:endParaRPr/>
            </a:p>
          </p:txBody>
        </p:sp>
        <p:sp>
          <p:nvSpPr>
            <p:cNvPr id="17" name="object 16"/>
            <p:cNvSpPr txBox="1"/>
            <p:nvPr/>
          </p:nvSpPr>
          <p:spPr>
            <a:xfrm>
              <a:off x="2283171" y="4725398"/>
              <a:ext cx="2877185" cy="1284605"/>
            </a:xfrm>
            <a:prstGeom prst="rect">
              <a:avLst/>
            </a:prstGeom>
            <a:ln w="4156">
              <a:solidFill>
                <a:srgbClr val="AB1942"/>
              </a:solidFill>
            </a:ln>
          </p:spPr>
          <p:txBody>
            <a:bodyPr vert="horz" wrap="square" lIns="0" tIns="67310" rIns="0" bIns="0" rtlCol="0">
              <a:spAutoFit/>
            </a:bodyPr>
            <a:lstStyle/>
            <a:p>
              <a:pPr marL="478790" marR="1610360">
                <a:lnSpc>
                  <a:spcPct val="122000"/>
                </a:lnSpc>
                <a:spcBef>
                  <a:spcPts val="530"/>
                </a:spcBef>
              </a:pPr>
              <a:r>
                <a:rPr sz="1600" dirty="0">
                  <a:latin typeface="Arial" panose="020B0604020202020204"/>
                  <a:cs typeface="Arial" panose="020B0604020202020204"/>
                </a:rPr>
                <a:t>include()  query()  </a:t>
              </a:r>
              <a:r>
                <a:rPr sz="1600" spc="-5" dirty="0">
                  <a:latin typeface="Arial" panose="020B0604020202020204"/>
                  <a:cs typeface="Arial" panose="020B0604020202020204"/>
                </a:rPr>
                <a:t>updaty()</a:t>
              </a:r>
              <a:endParaRPr sz="1600">
                <a:latin typeface="Arial" panose="020B0604020202020204"/>
                <a:cs typeface="Arial" panose="020B0604020202020204"/>
              </a:endParaRPr>
            </a:p>
          </p:txBody>
        </p:sp>
        <p:sp>
          <p:nvSpPr>
            <p:cNvPr id="18" name="object 17"/>
            <p:cNvSpPr txBox="1"/>
            <p:nvPr/>
          </p:nvSpPr>
          <p:spPr>
            <a:xfrm>
              <a:off x="881091" y="3501837"/>
              <a:ext cx="715950" cy="259045"/>
            </a:xfrm>
            <a:prstGeom prst="rect">
              <a:avLst/>
            </a:prstGeom>
          </p:spPr>
          <p:txBody>
            <a:bodyPr vert="horz" wrap="square" lIns="0" tIns="12700" rIns="0" bIns="0" rtlCol="0">
              <a:spAutoFit/>
            </a:bodyPr>
            <a:lstStyle/>
            <a:p>
              <a:pPr marL="12700">
                <a:lnSpc>
                  <a:spcPct val="100000"/>
                </a:lnSpc>
                <a:spcBef>
                  <a:spcPts val="100"/>
                </a:spcBef>
              </a:pPr>
              <a:r>
                <a:rPr lang="en-US" sz="1600" dirty="0">
                  <a:latin typeface="Arial" panose="020B0604020202020204"/>
                  <a:cs typeface="Arial" panose="020B0604020202020204"/>
                </a:rPr>
                <a:t>+</a:t>
              </a:r>
              <a:r>
                <a:rPr sz="1600" dirty="0">
                  <a:latin typeface="Arial" panose="020B0604020202020204"/>
                  <a:cs typeface="Arial" panose="020B0604020202020204"/>
                </a:rPr>
                <a:t>public</a:t>
              </a:r>
            </a:p>
          </p:txBody>
        </p:sp>
        <p:sp>
          <p:nvSpPr>
            <p:cNvPr id="19" name="object 18"/>
            <p:cNvSpPr txBox="1"/>
            <p:nvPr/>
          </p:nvSpPr>
          <p:spPr>
            <a:xfrm>
              <a:off x="875863" y="4029129"/>
              <a:ext cx="749935" cy="259045"/>
            </a:xfrm>
            <a:prstGeom prst="rect">
              <a:avLst/>
            </a:prstGeom>
          </p:spPr>
          <p:txBody>
            <a:bodyPr vert="horz" wrap="square" lIns="0" tIns="12700" rIns="0" bIns="0" rtlCol="0">
              <a:spAutoFit/>
            </a:bodyPr>
            <a:lstStyle/>
            <a:p>
              <a:pPr marL="12700">
                <a:lnSpc>
                  <a:spcPct val="100000"/>
                </a:lnSpc>
                <a:spcBef>
                  <a:spcPts val="100"/>
                </a:spcBef>
              </a:pPr>
              <a:r>
                <a:rPr lang="en-US" sz="1600" spc="-5" dirty="0">
                  <a:latin typeface="Arial" panose="020B0604020202020204"/>
                  <a:cs typeface="Arial" panose="020B0604020202020204"/>
                </a:rPr>
                <a:t>-</a:t>
              </a:r>
              <a:r>
                <a:rPr sz="1600" spc="-5" dirty="0">
                  <a:latin typeface="Arial" panose="020B0604020202020204"/>
                  <a:cs typeface="Arial" panose="020B0604020202020204"/>
                </a:rPr>
                <a:t>private</a:t>
              </a:r>
              <a:endParaRPr sz="1600" dirty="0">
                <a:latin typeface="Arial" panose="020B0604020202020204"/>
                <a:cs typeface="Arial" panose="020B0604020202020204"/>
              </a:endParaRPr>
            </a:p>
          </p:txBody>
        </p:sp>
        <p:sp>
          <p:nvSpPr>
            <p:cNvPr id="20" name="object 19"/>
            <p:cNvSpPr txBox="1"/>
            <p:nvPr/>
          </p:nvSpPr>
          <p:spPr>
            <a:xfrm>
              <a:off x="780461" y="4604356"/>
              <a:ext cx="1132809" cy="259045"/>
            </a:xfrm>
            <a:prstGeom prst="rect">
              <a:avLst/>
            </a:prstGeom>
          </p:spPr>
          <p:txBody>
            <a:bodyPr vert="horz" wrap="square" lIns="0" tIns="12700" rIns="0" bIns="0" rtlCol="0">
              <a:spAutoFit/>
            </a:bodyPr>
            <a:lstStyle/>
            <a:p>
              <a:pPr marL="12700">
                <a:lnSpc>
                  <a:spcPct val="100000"/>
                </a:lnSpc>
                <a:spcBef>
                  <a:spcPts val="100"/>
                </a:spcBef>
              </a:pPr>
              <a:r>
                <a:rPr lang="en-US" sz="1600" spc="-5" dirty="0">
                  <a:latin typeface="Arial" panose="020B0604020202020204"/>
                  <a:cs typeface="Arial" panose="020B0604020202020204"/>
                </a:rPr>
                <a:t>#</a:t>
              </a:r>
              <a:r>
                <a:rPr sz="1600" spc="-5" dirty="0">
                  <a:latin typeface="Arial" panose="020B0604020202020204"/>
                  <a:cs typeface="Arial" panose="020B0604020202020204"/>
                </a:rPr>
                <a:t>protected</a:t>
              </a:r>
              <a:endParaRPr sz="1600" dirty="0">
                <a:latin typeface="Arial" panose="020B0604020202020204"/>
                <a:cs typeface="Arial" panose="020B0604020202020204"/>
              </a:endParaRPr>
            </a:p>
          </p:txBody>
        </p:sp>
        <p:sp>
          <p:nvSpPr>
            <p:cNvPr id="21" name="object 20"/>
            <p:cNvSpPr/>
            <p:nvPr/>
          </p:nvSpPr>
          <p:spPr>
            <a:xfrm>
              <a:off x="1611171" y="3660560"/>
              <a:ext cx="749935" cy="191770"/>
            </a:xfrm>
            <a:custGeom>
              <a:avLst/>
              <a:gdLst/>
              <a:ahLst/>
              <a:cxnLst/>
              <a:rect l="l" t="t" r="r" b="b"/>
              <a:pathLst>
                <a:path w="749935" h="191770">
                  <a:moveTo>
                    <a:pt x="0" y="0"/>
                  </a:moveTo>
                  <a:lnTo>
                    <a:pt x="749729" y="191742"/>
                  </a:lnTo>
                </a:path>
              </a:pathLst>
            </a:custGeom>
            <a:ln w="9524">
              <a:solidFill>
                <a:srgbClr val="000000"/>
              </a:solidFill>
            </a:ln>
          </p:spPr>
          <p:txBody>
            <a:bodyPr wrap="square" lIns="0" tIns="0" rIns="0" bIns="0" rtlCol="0"/>
            <a:lstStyle/>
            <a:p>
              <a:endParaRPr/>
            </a:p>
          </p:txBody>
        </p:sp>
        <p:sp>
          <p:nvSpPr>
            <p:cNvPr id="22" name="object 21"/>
            <p:cNvSpPr/>
            <p:nvPr/>
          </p:nvSpPr>
          <p:spPr>
            <a:xfrm>
              <a:off x="1711135" y="4139917"/>
              <a:ext cx="650240" cy="0"/>
            </a:xfrm>
            <a:custGeom>
              <a:avLst/>
              <a:gdLst/>
              <a:ahLst/>
              <a:cxnLst/>
              <a:rect l="l" t="t" r="r" b="b"/>
              <a:pathLst>
                <a:path w="650239">
                  <a:moveTo>
                    <a:pt x="0" y="0"/>
                  </a:moveTo>
                  <a:lnTo>
                    <a:pt x="649765" y="0"/>
                  </a:lnTo>
                </a:path>
              </a:pathLst>
            </a:custGeom>
            <a:ln w="9524">
              <a:solidFill>
                <a:srgbClr val="000000"/>
              </a:solidFill>
            </a:ln>
          </p:spPr>
          <p:txBody>
            <a:bodyPr wrap="square" lIns="0" tIns="0" rIns="0" bIns="0" rtlCol="0"/>
            <a:lstStyle/>
            <a:p>
              <a:endParaRPr/>
            </a:p>
          </p:txBody>
        </p:sp>
        <p:sp>
          <p:nvSpPr>
            <p:cNvPr id="23" name="object 22"/>
            <p:cNvSpPr/>
            <p:nvPr/>
          </p:nvSpPr>
          <p:spPr>
            <a:xfrm>
              <a:off x="1961046" y="4475466"/>
              <a:ext cx="400050" cy="240029"/>
            </a:xfrm>
            <a:custGeom>
              <a:avLst/>
              <a:gdLst/>
              <a:ahLst/>
              <a:cxnLst/>
              <a:rect l="l" t="t" r="r" b="b"/>
              <a:pathLst>
                <a:path w="400050" h="240029">
                  <a:moveTo>
                    <a:pt x="0" y="239677"/>
                  </a:moveTo>
                  <a:lnTo>
                    <a:pt x="399855" y="0"/>
                  </a:lnTo>
                </a:path>
              </a:pathLst>
            </a:custGeom>
            <a:ln w="9524">
              <a:solidFill>
                <a:srgbClr val="000000"/>
              </a:solidFill>
            </a:ln>
          </p:spPr>
          <p:txBody>
            <a:bodyPr wrap="square" lIns="0" tIns="0" rIns="0" bIns="0" rtlCol="0"/>
            <a:lstStyle/>
            <a:p>
              <a:endParaRPr/>
            </a:p>
          </p:txBody>
        </p:sp>
      </p:grpSp>
      <p:sp>
        <p:nvSpPr>
          <p:cNvPr id="24" name="object 4"/>
          <p:cNvSpPr txBox="1"/>
          <p:nvPr/>
        </p:nvSpPr>
        <p:spPr>
          <a:xfrm>
            <a:off x="6408321" y="1806801"/>
            <a:ext cx="5020409" cy="3702296"/>
          </a:xfrm>
          <a:prstGeom prst="rect">
            <a:avLst/>
          </a:prstGeom>
          <a:solidFill>
            <a:srgbClr val="ECEBEB"/>
          </a:solidFill>
        </p:spPr>
        <p:txBody>
          <a:bodyPr vert="horz" wrap="square" lIns="0" tIns="96520" rIns="0" bIns="0" rtlCol="0">
            <a:spAutoFit/>
          </a:bodyPr>
          <a:lstStyle/>
          <a:p>
            <a:pPr marL="548005">
              <a:lnSpc>
                <a:spcPct val="100000"/>
              </a:lnSpc>
              <a:spcBef>
                <a:spcPts val="760"/>
              </a:spcBef>
            </a:pPr>
            <a:r>
              <a:rPr sz="2000" dirty="0">
                <a:latin typeface="黑体" panose="02010609060101010101" charset="-122"/>
                <a:cs typeface="黑体" panose="02010609060101010101" charset="-122"/>
              </a:rPr>
              <a:t>例：一些属性声明的例子。</a:t>
            </a:r>
          </a:p>
          <a:p>
            <a:pPr marL="1007745" marR="1028065" indent="48260">
              <a:lnSpc>
                <a:spcPts val="3400"/>
              </a:lnSpc>
              <a:spcBef>
                <a:spcPts val="160"/>
              </a:spcBef>
            </a:pPr>
            <a:r>
              <a:rPr sz="2000" spc="-5" dirty="0">
                <a:latin typeface="黑体" panose="02010609060101010101" charset="-122"/>
                <a:cs typeface="黑体" panose="02010609060101010101" charset="-122"/>
              </a:rPr>
              <a:t>+</a:t>
            </a:r>
            <a:r>
              <a:rPr sz="2000" spc="-5" dirty="0">
                <a:latin typeface="Calibri" panose="020F0502020204030204"/>
                <a:cs typeface="Calibri" panose="020F0502020204030204"/>
              </a:rPr>
              <a:t>size: Area </a:t>
            </a:r>
            <a:r>
              <a:rPr sz="2000" dirty="0">
                <a:latin typeface="Calibri" panose="020F0502020204030204"/>
                <a:cs typeface="Calibri" panose="020F0502020204030204"/>
              </a:rPr>
              <a:t>= </a:t>
            </a:r>
            <a:r>
              <a:rPr sz="2000" spc="-5" dirty="0">
                <a:latin typeface="Calibri" panose="020F0502020204030204"/>
                <a:cs typeface="Calibri" panose="020F0502020204030204"/>
              </a:rPr>
              <a:t>(100,100)  #visibility: Boolean </a:t>
            </a:r>
            <a:r>
              <a:rPr sz="2000" dirty="0">
                <a:latin typeface="Calibri" panose="020F0502020204030204"/>
                <a:cs typeface="Calibri" panose="020F0502020204030204"/>
              </a:rPr>
              <a:t>=</a:t>
            </a:r>
            <a:r>
              <a:rPr sz="2000" spc="-30" dirty="0">
                <a:latin typeface="Calibri" panose="020F0502020204030204"/>
                <a:cs typeface="Calibri" panose="020F0502020204030204"/>
              </a:rPr>
              <a:t> </a:t>
            </a:r>
            <a:r>
              <a:rPr sz="2000" dirty="0">
                <a:latin typeface="Calibri" panose="020F0502020204030204"/>
                <a:cs typeface="Calibri" panose="020F0502020204030204"/>
              </a:rPr>
              <a:t>false</a:t>
            </a:r>
          </a:p>
          <a:p>
            <a:pPr marL="1007745" marR="927100">
              <a:lnSpc>
                <a:spcPts val="3300"/>
              </a:lnSpc>
              <a:spcBef>
                <a:spcPts val="80"/>
              </a:spcBef>
            </a:pPr>
            <a:r>
              <a:rPr sz="2000" spc="-80" dirty="0">
                <a:latin typeface="Calibri" panose="020F0502020204030204"/>
                <a:cs typeface="Calibri" panose="020F0502020204030204"/>
              </a:rPr>
              <a:t>+default-­‐size: </a:t>
            </a:r>
            <a:r>
              <a:rPr sz="2000" spc="-5" dirty="0">
                <a:latin typeface="Calibri" panose="020F0502020204030204"/>
                <a:cs typeface="Calibri" panose="020F0502020204030204"/>
              </a:rPr>
              <a:t>Rectangle  </a:t>
            </a:r>
            <a:r>
              <a:rPr sz="2000" spc="-80" dirty="0">
                <a:latin typeface="Calibri" panose="020F0502020204030204"/>
                <a:cs typeface="Calibri" panose="020F0502020204030204"/>
              </a:rPr>
              <a:t>#maximum-­‐size:</a:t>
            </a:r>
            <a:r>
              <a:rPr sz="2000" spc="-30" dirty="0">
                <a:latin typeface="Calibri" panose="020F0502020204030204"/>
                <a:cs typeface="Calibri" panose="020F0502020204030204"/>
              </a:rPr>
              <a:t> </a:t>
            </a:r>
            <a:r>
              <a:rPr sz="2000" spc="-5" dirty="0">
                <a:latin typeface="Calibri" panose="020F0502020204030204"/>
                <a:cs typeface="Calibri" panose="020F0502020204030204"/>
              </a:rPr>
              <a:t>Rectangle</a:t>
            </a:r>
            <a:endParaRPr sz="2000" dirty="0">
              <a:latin typeface="Calibri" panose="020F0502020204030204"/>
              <a:cs typeface="Calibri" panose="020F0502020204030204"/>
            </a:endParaRPr>
          </a:p>
          <a:p>
            <a:pPr marL="1007745">
              <a:lnSpc>
                <a:spcPct val="100000"/>
              </a:lnSpc>
              <a:spcBef>
                <a:spcPts val="740"/>
              </a:spcBef>
            </a:pPr>
            <a:r>
              <a:rPr sz="2000" spc="-155" dirty="0">
                <a:latin typeface="Calibri" panose="020F0502020204030204"/>
                <a:cs typeface="Calibri" panose="020F0502020204030204"/>
              </a:rPr>
              <a:t>-­‐xptr:</a:t>
            </a:r>
            <a:r>
              <a:rPr sz="2000" spc="-5" dirty="0">
                <a:latin typeface="Calibri" panose="020F0502020204030204"/>
                <a:cs typeface="Calibri" panose="020F0502020204030204"/>
              </a:rPr>
              <a:t> XwindowPtr</a:t>
            </a:r>
            <a:endParaRPr sz="2000" dirty="0">
              <a:latin typeface="Calibri" panose="020F0502020204030204"/>
              <a:cs typeface="Calibri" panose="020F0502020204030204"/>
            </a:endParaRPr>
          </a:p>
          <a:p>
            <a:pPr marL="1007745">
              <a:lnSpc>
                <a:spcPct val="100000"/>
              </a:lnSpc>
              <a:spcBef>
                <a:spcPts val="900"/>
              </a:spcBef>
            </a:pPr>
            <a:r>
              <a:rPr sz="2000" spc="-5" dirty="0">
                <a:latin typeface="Calibri" panose="020F0502020204030204"/>
                <a:cs typeface="Calibri" panose="020F0502020204030204"/>
              </a:rPr>
              <a:t>~colors </a:t>
            </a:r>
            <a:r>
              <a:rPr sz="2000" dirty="0">
                <a:latin typeface="Calibri" panose="020F0502020204030204"/>
                <a:cs typeface="Calibri" panose="020F0502020204030204"/>
              </a:rPr>
              <a:t>: </a:t>
            </a:r>
            <a:r>
              <a:rPr sz="2000" spc="-5" dirty="0">
                <a:latin typeface="Calibri" panose="020F0502020204030204"/>
                <a:cs typeface="Calibri" panose="020F0502020204030204"/>
              </a:rPr>
              <a:t>Color [3]</a:t>
            </a:r>
            <a:endParaRPr sz="2000" dirty="0">
              <a:latin typeface="Calibri" panose="020F0502020204030204"/>
              <a:cs typeface="Calibri" panose="020F0502020204030204"/>
            </a:endParaRPr>
          </a:p>
          <a:p>
            <a:pPr marL="1064895" marR="619125" indent="-57785">
              <a:lnSpc>
                <a:spcPct val="121000"/>
              </a:lnSpc>
              <a:spcBef>
                <a:spcPts val="20"/>
              </a:spcBef>
            </a:pPr>
            <a:r>
              <a:rPr sz="2000" spc="-5" dirty="0">
                <a:latin typeface="Calibri" panose="020F0502020204030204"/>
                <a:cs typeface="Calibri" panose="020F0502020204030204"/>
              </a:rPr>
              <a:t>points </a:t>
            </a:r>
            <a:r>
              <a:rPr sz="2000" dirty="0">
                <a:latin typeface="Calibri" panose="020F0502020204030204"/>
                <a:cs typeface="Calibri" panose="020F0502020204030204"/>
              </a:rPr>
              <a:t>: </a:t>
            </a:r>
            <a:r>
              <a:rPr sz="2000" spc="-5" dirty="0">
                <a:latin typeface="Calibri" panose="020F0502020204030204"/>
                <a:cs typeface="Calibri" panose="020F0502020204030204"/>
              </a:rPr>
              <a:t>Point [2..* </a:t>
            </a:r>
            <a:r>
              <a:rPr sz="2000" dirty="0">
                <a:latin typeface="Calibri" panose="020F0502020204030204"/>
                <a:cs typeface="Calibri" panose="020F0502020204030204"/>
              </a:rPr>
              <a:t>] </a:t>
            </a:r>
            <a:r>
              <a:rPr sz="2000" spc="-5" dirty="0">
                <a:latin typeface="Calibri" panose="020F0502020204030204"/>
                <a:cs typeface="Calibri" panose="020F0502020204030204"/>
              </a:rPr>
              <a:t>{ordered}  name </a:t>
            </a:r>
            <a:r>
              <a:rPr sz="2000" dirty="0">
                <a:latin typeface="Calibri" panose="020F0502020204030204"/>
                <a:cs typeface="Calibri" panose="020F0502020204030204"/>
              </a:rPr>
              <a:t>: </a:t>
            </a:r>
            <a:r>
              <a:rPr sz="2000" spc="-5" dirty="0">
                <a:latin typeface="Calibri" panose="020F0502020204030204"/>
                <a:cs typeface="Calibri" panose="020F0502020204030204"/>
              </a:rPr>
              <a:t>String [0..1]</a:t>
            </a:r>
            <a:endParaRPr sz="2000" dirty="0">
              <a:latin typeface="Calibri" panose="020F0502020204030204"/>
              <a:cs typeface="Calibri" panose="020F0502020204030204"/>
            </a:endParaRPr>
          </a:p>
        </p:txBody>
      </p:sp>
      <p:sp>
        <p:nvSpPr>
          <p:cNvPr id="25" name="object 19">
            <a:extLst>
              <a:ext uri="{FF2B5EF4-FFF2-40B4-BE49-F238E27FC236}">
                <a16:creationId xmlns:a16="http://schemas.microsoft.com/office/drawing/2014/main" id="{004FEC41-B55A-692D-9565-9BC5917A724C}"/>
              </a:ext>
            </a:extLst>
          </p:cNvPr>
          <p:cNvSpPr txBox="1"/>
          <p:nvPr/>
        </p:nvSpPr>
        <p:spPr>
          <a:xfrm>
            <a:off x="969180" y="5955323"/>
            <a:ext cx="1148789" cy="259045"/>
          </a:xfrm>
          <a:prstGeom prst="rect">
            <a:avLst/>
          </a:prstGeom>
        </p:spPr>
        <p:txBody>
          <a:bodyPr vert="horz" wrap="square" lIns="0" tIns="12700" rIns="0" bIns="0" rtlCol="0">
            <a:spAutoFit/>
          </a:bodyPr>
          <a:lstStyle/>
          <a:p>
            <a:pPr marL="12700">
              <a:lnSpc>
                <a:spcPct val="100000"/>
              </a:lnSpc>
              <a:spcBef>
                <a:spcPts val="100"/>
              </a:spcBef>
            </a:pPr>
            <a:r>
              <a:rPr lang="en-US" sz="1600" b="1" spc="-5" dirty="0">
                <a:latin typeface="Arial" panose="020B0604020202020204"/>
                <a:cs typeface="Arial" panose="020B0604020202020204"/>
              </a:rPr>
              <a:t>~</a:t>
            </a:r>
            <a:r>
              <a:rPr lang="zh-CN" altLang="en-US" sz="1600" b="1" spc="-5" dirty="0">
                <a:latin typeface="Arial" panose="020B0604020202020204"/>
                <a:cs typeface="Arial" panose="020B0604020202020204"/>
              </a:rPr>
              <a:t>包内访问</a:t>
            </a:r>
            <a:endParaRPr sz="1600" b="1" dirty="0">
              <a:latin typeface="Arial" panose="020B0604020202020204"/>
              <a:cs typeface="Arial" panose="020B0604020202020204"/>
            </a:endParaRPr>
          </a:p>
        </p:txBody>
      </p:sp>
    </p:spTree>
  </p:cSld>
  <p:clrMapOvr>
    <a:masterClrMapping/>
  </p:clrMapOvr>
  <mc:AlternateContent xmlns:mc="http://schemas.openxmlformats.org/markup-compatibility/2006" xmlns:p14="http://schemas.microsoft.com/office/powerpoint/2010/main">
    <mc:Choice Requires="p14">
      <p:transition spd="slow" p14:dur="2000" advTm="113445"/>
    </mc:Choice>
    <mc:Fallback xmlns="">
      <p:transition spd="slow" advTm="113445"/>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824270" y="4519448"/>
            <a:ext cx="8543459" cy="1792452"/>
            <a:chOff x="1178933" y="3738257"/>
            <a:chExt cx="10181298" cy="2239285"/>
          </a:xfrm>
        </p:grpSpPr>
        <p:sp>
          <p:nvSpPr>
            <p:cNvPr id="6" name="object 2"/>
            <p:cNvSpPr/>
            <p:nvPr/>
          </p:nvSpPr>
          <p:spPr>
            <a:xfrm>
              <a:off x="1178933" y="3738257"/>
              <a:ext cx="10181298" cy="2239285"/>
            </a:xfrm>
            <a:prstGeom prst="rect">
              <a:avLst/>
            </a:prstGeom>
            <a:blipFill>
              <a:blip r:embed="rId3" cstate="print"/>
              <a:stretch>
                <a:fillRect/>
              </a:stretch>
            </a:blipFill>
          </p:spPr>
          <p:txBody>
            <a:bodyPr wrap="square" lIns="0" tIns="0" rIns="0" bIns="0" rtlCol="0"/>
            <a:lstStyle/>
            <a:p>
              <a:endParaRPr/>
            </a:p>
          </p:txBody>
        </p:sp>
        <p:sp>
          <p:nvSpPr>
            <p:cNvPr id="7" name="object 4"/>
            <p:cNvSpPr/>
            <p:nvPr/>
          </p:nvSpPr>
          <p:spPr>
            <a:xfrm>
              <a:off x="3215679" y="4509119"/>
              <a:ext cx="2232660" cy="1080135"/>
            </a:xfrm>
            <a:custGeom>
              <a:avLst/>
              <a:gdLst/>
              <a:ahLst/>
              <a:cxnLst/>
              <a:rect l="l" t="t" r="r" b="b"/>
              <a:pathLst>
                <a:path w="2232660" h="1080135">
                  <a:moveTo>
                    <a:pt x="1116124" y="0"/>
                  </a:moveTo>
                  <a:lnTo>
                    <a:pt x="1052788" y="854"/>
                  </a:lnTo>
                  <a:lnTo>
                    <a:pt x="990380" y="3389"/>
                  </a:lnTo>
                  <a:lnTo>
                    <a:pt x="928992" y="7557"/>
                  </a:lnTo>
                  <a:lnTo>
                    <a:pt x="868720" y="13313"/>
                  </a:lnTo>
                  <a:lnTo>
                    <a:pt x="809658" y="20613"/>
                  </a:lnTo>
                  <a:lnTo>
                    <a:pt x="751899" y="29409"/>
                  </a:lnTo>
                  <a:lnTo>
                    <a:pt x="695538" y="39657"/>
                  </a:lnTo>
                  <a:lnTo>
                    <a:pt x="640670" y="51310"/>
                  </a:lnTo>
                  <a:lnTo>
                    <a:pt x="587388" y="64324"/>
                  </a:lnTo>
                  <a:lnTo>
                    <a:pt x="535786" y="78653"/>
                  </a:lnTo>
                  <a:lnTo>
                    <a:pt x="485960" y="94251"/>
                  </a:lnTo>
                  <a:lnTo>
                    <a:pt x="438003" y="111072"/>
                  </a:lnTo>
                  <a:lnTo>
                    <a:pt x="392008" y="129071"/>
                  </a:lnTo>
                  <a:lnTo>
                    <a:pt x="348072" y="148203"/>
                  </a:lnTo>
                  <a:lnTo>
                    <a:pt x="306287" y="168421"/>
                  </a:lnTo>
                  <a:lnTo>
                    <a:pt x="266748" y="189681"/>
                  </a:lnTo>
                  <a:lnTo>
                    <a:pt x="229550" y="211936"/>
                  </a:lnTo>
                  <a:lnTo>
                    <a:pt x="194786" y="235141"/>
                  </a:lnTo>
                  <a:lnTo>
                    <a:pt x="162550" y="259251"/>
                  </a:lnTo>
                  <a:lnTo>
                    <a:pt x="132937" y="284219"/>
                  </a:lnTo>
                  <a:lnTo>
                    <a:pt x="81958" y="336550"/>
                  </a:lnTo>
                  <a:lnTo>
                    <a:pt x="42600" y="391769"/>
                  </a:lnTo>
                  <a:lnTo>
                    <a:pt x="15618" y="449512"/>
                  </a:lnTo>
                  <a:lnTo>
                    <a:pt x="1766" y="509413"/>
                  </a:lnTo>
                  <a:lnTo>
                    <a:pt x="0" y="540059"/>
                  </a:lnTo>
                  <a:lnTo>
                    <a:pt x="1766" y="570706"/>
                  </a:lnTo>
                  <a:lnTo>
                    <a:pt x="15618" y="630607"/>
                  </a:lnTo>
                  <a:lnTo>
                    <a:pt x="42600" y="688349"/>
                  </a:lnTo>
                  <a:lnTo>
                    <a:pt x="81958" y="743568"/>
                  </a:lnTo>
                  <a:lnTo>
                    <a:pt x="133005" y="795956"/>
                  </a:lnTo>
                  <a:lnTo>
                    <a:pt x="162550" y="820868"/>
                  </a:lnTo>
                  <a:lnTo>
                    <a:pt x="194786" y="844977"/>
                  </a:lnTo>
                  <a:lnTo>
                    <a:pt x="229550" y="868183"/>
                  </a:lnTo>
                  <a:lnTo>
                    <a:pt x="266748" y="890438"/>
                  </a:lnTo>
                  <a:lnTo>
                    <a:pt x="306287" y="911697"/>
                  </a:lnTo>
                  <a:lnTo>
                    <a:pt x="348072" y="931916"/>
                  </a:lnTo>
                  <a:lnTo>
                    <a:pt x="392008" y="951048"/>
                  </a:lnTo>
                  <a:lnTo>
                    <a:pt x="438003" y="969047"/>
                  </a:lnTo>
                  <a:lnTo>
                    <a:pt x="485960" y="985868"/>
                  </a:lnTo>
                  <a:lnTo>
                    <a:pt x="535786" y="1001466"/>
                  </a:lnTo>
                  <a:lnTo>
                    <a:pt x="587388" y="1015795"/>
                  </a:lnTo>
                  <a:lnTo>
                    <a:pt x="640670" y="1028809"/>
                  </a:lnTo>
                  <a:lnTo>
                    <a:pt x="695538" y="1040462"/>
                  </a:lnTo>
                  <a:lnTo>
                    <a:pt x="751899" y="1050710"/>
                  </a:lnTo>
                  <a:lnTo>
                    <a:pt x="809658" y="1059506"/>
                  </a:lnTo>
                  <a:lnTo>
                    <a:pt x="868720" y="1066806"/>
                  </a:lnTo>
                  <a:lnTo>
                    <a:pt x="928992" y="1072562"/>
                  </a:lnTo>
                  <a:lnTo>
                    <a:pt x="990380" y="1076730"/>
                  </a:lnTo>
                  <a:lnTo>
                    <a:pt x="1052788" y="1079265"/>
                  </a:lnTo>
                  <a:lnTo>
                    <a:pt x="1116124" y="1080120"/>
                  </a:lnTo>
                  <a:lnTo>
                    <a:pt x="1179459" y="1079265"/>
                  </a:lnTo>
                  <a:lnTo>
                    <a:pt x="1241867" y="1076730"/>
                  </a:lnTo>
                  <a:lnTo>
                    <a:pt x="1303255" y="1072562"/>
                  </a:lnTo>
                  <a:lnTo>
                    <a:pt x="1363527" y="1066806"/>
                  </a:lnTo>
                  <a:lnTo>
                    <a:pt x="1422589" y="1059506"/>
                  </a:lnTo>
                  <a:lnTo>
                    <a:pt x="1480348" y="1050710"/>
                  </a:lnTo>
                  <a:lnTo>
                    <a:pt x="1536708" y="1040462"/>
                  </a:lnTo>
                  <a:lnTo>
                    <a:pt x="1591577" y="1028809"/>
                  </a:lnTo>
                  <a:lnTo>
                    <a:pt x="1644859" y="1015795"/>
                  </a:lnTo>
                  <a:lnTo>
                    <a:pt x="1696460" y="1001466"/>
                  </a:lnTo>
                  <a:lnTo>
                    <a:pt x="1739595" y="987963"/>
                  </a:lnTo>
                  <a:lnTo>
                    <a:pt x="1116124" y="987963"/>
                  </a:lnTo>
                  <a:lnTo>
                    <a:pt x="1051366" y="987082"/>
                  </a:lnTo>
                  <a:lnTo>
                    <a:pt x="987679" y="984473"/>
                  </a:lnTo>
                  <a:lnTo>
                    <a:pt x="925183" y="980190"/>
                  </a:lnTo>
                  <a:lnTo>
                    <a:pt x="863996" y="974284"/>
                  </a:lnTo>
                  <a:lnTo>
                    <a:pt x="804240" y="966808"/>
                  </a:lnTo>
                  <a:lnTo>
                    <a:pt x="746033" y="957814"/>
                  </a:lnTo>
                  <a:lnTo>
                    <a:pt x="689497" y="947355"/>
                  </a:lnTo>
                  <a:lnTo>
                    <a:pt x="634751" y="935484"/>
                  </a:lnTo>
                  <a:lnTo>
                    <a:pt x="581915" y="922253"/>
                  </a:lnTo>
                  <a:lnTo>
                    <a:pt x="531109" y="907714"/>
                  </a:lnTo>
                  <a:lnTo>
                    <a:pt x="482452" y="891919"/>
                  </a:lnTo>
                  <a:lnTo>
                    <a:pt x="436066" y="874922"/>
                  </a:lnTo>
                  <a:lnTo>
                    <a:pt x="392069" y="856775"/>
                  </a:lnTo>
                  <a:lnTo>
                    <a:pt x="350582" y="837530"/>
                  </a:lnTo>
                  <a:lnTo>
                    <a:pt x="311724" y="817240"/>
                  </a:lnTo>
                  <a:lnTo>
                    <a:pt x="275531" y="795899"/>
                  </a:lnTo>
                  <a:lnTo>
                    <a:pt x="242378" y="773733"/>
                  </a:lnTo>
                  <a:lnTo>
                    <a:pt x="184990" y="726674"/>
                  </a:lnTo>
                  <a:lnTo>
                    <a:pt x="140520" y="676484"/>
                  </a:lnTo>
                  <a:lnTo>
                    <a:pt x="109927" y="623581"/>
                  </a:lnTo>
                  <a:lnTo>
                    <a:pt x="94170" y="568386"/>
                  </a:lnTo>
                  <a:lnTo>
                    <a:pt x="92156" y="540059"/>
                  </a:lnTo>
                  <a:lnTo>
                    <a:pt x="94170" y="511733"/>
                  </a:lnTo>
                  <a:lnTo>
                    <a:pt x="109927" y="456538"/>
                  </a:lnTo>
                  <a:lnTo>
                    <a:pt x="140520" y="403635"/>
                  </a:lnTo>
                  <a:lnTo>
                    <a:pt x="184990" y="353445"/>
                  </a:lnTo>
                  <a:lnTo>
                    <a:pt x="242378" y="306386"/>
                  </a:lnTo>
                  <a:lnTo>
                    <a:pt x="275617" y="284162"/>
                  </a:lnTo>
                  <a:lnTo>
                    <a:pt x="311724" y="262879"/>
                  </a:lnTo>
                  <a:lnTo>
                    <a:pt x="350582" y="242589"/>
                  </a:lnTo>
                  <a:lnTo>
                    <a:pt x="392069" y="223344"/>
                  </a:lnTo>
                  <a:lnTo>
                    <a:pt x="436066" y="205196"/>
                  </a:lnTo>
                  <a:lnTo>
                    <a:pt x="482452" y="188199"/>
                  </a:lnTo>
                  <a:lnTo>
                    <a:pt x="531109" y="172405"/>
                  </a:lnTo>
                  <a:lnTo>
                    <a:pt x="581915" y="157866"/>
                  </a:lnTo>
                  <a:lnTo>
                    <a:pt x="634751" y="144635"/>
                  </a:lnTo>
                  <a:lnTo>
                    <a:pt x="689497" y="132763"/>
                  </a:lnTo>
                  <a:lnTo>
                    <a:pt x="746033" y="122305"/>
                  </a:lnTo>
                  <a:lnTo>
                    <a:pt x="804240" y="113311"/>
                  </a:lnTo>
                  <a:lnTo>
                    <a:pt x="863996" y="105835"/>
                  </a:lnTo>
                  <a:lnTo>
                    <a:pt x="925183" y="99929"/>
                  </a:lnTo>
                  <a:lnTo>
                    <a:pt x="987679" y="95646"/>
                  </a:lnTo>
                  <a:lnTo>
                    <a:pt x="1051366" y="93037"/>
                  </a:lnTo>
                  <a:lnTo>
                    <a:pt x="1116124" y="92156"/>
                  </a:lnTo>
                  <a:lnTo>
                    <a:pt x="1739594" y="92156"/>
                  </a:lnTo>
                  <a:lnTo>
                    <a:pt x="1696460" y="78653"/>
                  </a:lnTo>
                  <a:lnTo>
                    <a:pt x="1644859" y="64324"/>
                  </a:lnTo>
                  <a:lnTo>
                    <a:pt x="1591577" y="51310"/>
                  </a:lnTo>
                  <a:lnTo>
                    <a:pt x="1536708" y="39657"/>
                  </a:lnTo>
                  <a:lnTo>
                    <a:pt x="1480348" y="29409"/>
                  </a:lnTo>
                  <a:lnTo>
                    <a:pt x="1422589" y="20613"/>
                  </a:lnTo>
                  <a:lnTo>
                    <a:pt x="1363527" y="13313"/>
                  </a:lnTo>
                  <a:lnTo>
                    <a:pt x="1303255" y="7557"/>
                  </a:lnTo>
                  <a:lnTo>
                    <a:pt x="1241867" y="3389"/>
                  </a:lnTo>
                  <a:lnTo>
                    <a:pt x="1179459" y="854"/>
                  </a:lnTo>
                  <a:lnTo>
                    <a:pt x="1116124" y="0"/>
                  </a:lnTo>
                  <a:close/>
                </a:path>
                <a:path w="2232660" h="1080135">
                  <a:moveTo>
                    <a:pt x="1739594" y="92156"/>
                  </a:moveTo>
                  <a:lnTo>
                    <a:pt x="1116124" y="92156"/>
                  </a:lnTo>
                  <a:lnTo>
                    <a:pt x="1180881" y="93037"/>
                  </a:lnTo>
                  <a:lnTo>
                    <a:pt x="1244568" y="95646"/>
                  </a:lnTo>
                  <a:lnTo>
                    <a:pt x="1307065" y="99929"/>
                  </a:lnTo>
                  <a:lnTo>
                    <a:pt x="1368251" y="105835"/>
                  </a:lnTo>
                  <a:lnTo>
                    <a:pt x="1428007" y="113311"/>
                  </a:lnTo>
                  <a:lnTo>
                    <a:pt x="1486214" y="122305"/>
                  </a:lnTo>
                  <a:lnTo>
                    <a:pt x="1542750" y="132763"/>
                  </a:lnTo>
                  <a:lnTo>
                    <a:pt x="1597496" y="144635"/>
                  </a:lnTo>
                  <a:lnTo>
                    <a:pt x="1650332" y="157866"/>
                  </a:lnTo>
                  <a:lnTo>
                    <a:pt x="1701138" y="172405"/>
                  </a:lnTo>
                  <a:lnTo>
                    <a:pt x="1749795" y="188199"/>
                  </a:lnTo>
                  <a:lnTo>
                    <a:pt x="1796181" y="205196"/>
                  </a:lnTo>
                  <a:lnTo>
                    <a:pt x="1840178" y="223344"/>
                  </a:lnTo>
                  <a:lnTo>
                    <a:pt x="1881665" y="242589"/>
                  </a:lnTo>
                  <a:lnTo>
                    <a:pt x="1920523" y="262879"/>
                  </a:lnTo>
                  <a:lnTo>
                    <a:pt x="1956716" y="284219"/>
                  </a:lnTo>
                  <a:lnTo>
                    <a:pt x="1989869" y="306386"/>
                  </a:lnTo>
                  <a:lnTo>
                    <a:pt x="2047257" y="353445"/>
                  </a:lnTo>
                  <a:lnTo>
                    <a:pt x="2091727" y="403635"/>
                  </a:lnTo>
                  <a:lnTo>
                    <a:pt x="2122321" y="456538"/>
                  </a:lnTo>
                  <a:lnTo>
                    <a:pt x="2138077" y="511733"/>
                  </a:lnTo>
                  <a:lnTo>
                    <a:pt x="2140092" y="540059"/>
                  </a:lnTo>
                  <a:lnTo>
                    <a:pt x="2138077" y="568386"/>
                  </a:lnTo>
                  <a:lnTo>
                    <a:pt x="2122321" y="623581"/>
                  </a:lnTo>
                  <a:lnTo>
                    <a:pt x="2091727" y="676484"/>
                  </a:lnTo>
                  <a:lnTo>
                    <a:pt x="2047257" y="726674"/>
                  </a:lnTo>
                  <a:lnTo>
                    <a:pt x="1989869" y="773733"/>
                  </a:lnTo>
                  <a:lnTo>
                    <a:pt x="1956631" y="795956"/>
                  </a:lnTo>
                  <a:lnTo>
                    <a:pt x="1920523" y="817240"/>
                  </a:lnTo>
                  <a:lnTo>
                    <a:pt x="1881665" y="837530"/>
                  </a:lnTo>
                  <a:lnTo>
                    <a:pt x="1840178" y="856775"/>
                  </a:lnTo>
                  <a:lnTo>
                    <a:pt x="1796181" y="874922"/>
                  </a:lnTo>
                  <a:lnTo>
                    <a:pt x="1749795" y="891919"/>
                  </a:lnTo>
                  <a:lnTo>
                    <a:pt x="1701138" y="907714"/>
                  </a:lnTo>
                  <a:lnTo>
                    <a:pt x="1650332" y="922253"/>
                  </a:lnTo>
                  <a:lnTo>
                    <a:pt x="1597496" y="935484"/>
                  </a:lnTo>
                  <a:lnTo>
                    <a:pt x="1542750" y="947355"/>
                  </a:lnTo>
                  <a:lnTo>
                    <a:pt x="1486214" y="957814"/>
                  </a:lnTo>
                  <a:lnTo>
                    <a:pt x="1428007" y="966808"/>
                  </a:lnTo>
                  <a:lnTo>
                    <a:pt x="1368251" y="974284"/>
                  </a:lnTo>
                  <a:lnTo>
                    <a:pt x="1307065" y="980190"/>
                  </a:lnTo>
                  <a:lnTo>
                    <a:pt x="1244568" y="984473"/>
                  </a:lnTo>
                  <a:lnTo>
                    <a:pt x="1180881" y="987082"/>
                  </a:lnTo>
                  <a:lnTo>
                    <a:pt x="1116124" y="987963"/>
                  </a:lnTo>
                  <a:lnTo>
                    <a:pt x="1739595" y="987963"/>
                  </a:lnTo>
                  <a:lnTo>
                    <a:pt x="1794244" y="969047"/>
                  </a:lnTo>
                  <a:lnTo>
                    <a:pt x="1840238" y="951048"/>
                  </a:lnTo>
                  <a:lnTo>
                    <a:pt x="1884175" y="931916"/>
                  </a:lnTo>
                  <a:lnTo>
                    <a:pt x="1925959" y="911697"/>
                  </a:lnTo>
                  <a:lnTo>
                    <a:pt x="1965498" y="890438"/>
                  </a:lnTo>
                  <a:lnTo>
                    <a:pt x="2002697" y="868183"/>
                  </a:lnTo>
                  <a:lnTo>
                    <a:pt x="2037461" y="844977"/>
                  </a:lnTo>
                  <a:lnTo>
                    <a:pt x="2069696" y="820868"/>
                  </a:lnTo>
                  <a:lnTo>
                    <a:pt x="2099309" y="795899"/>
                  </a:lnTo>
                  <a:lnTo>
                    <a:pt x="2150289" y="743568"/>
                  </a:lnTo>
                  <a:lnTo>
                    <a:pt x="2189646" y="688349"/>
                  </a:lnTo>
                  <a:lnTo>
                    <a:pt x="2216628" y="630607"/>
                  </a:lnTo>
                  <a:lnTo>
                    <a:pt x="2230480" y="570706"/>
                  </a:lnTo>
                  <a:lnTo>
                    <a:pt x="2232247" y="540059"/>
                  </a:lnTo>
                  <a:lnTo>
                    <a:pt x="2230480" y="509413"/>
                  </a:lnTo>
                  <a:lnTo>
                    <a:pt x="2216628" y="449512"/>
                  </a:lnTo>
                  <a:lnTo>
                    <a:pt x="2189646" y="391769"/>
                  </a:lnTo>
                  <a:lnTo>
                    <a:pt x="2150289" y="336550"/>
                  </a:lnTo>
                  <a:lnTo>
                    <a:pt x="2099241" y="284162"/>
                  </a:lnTo>
                  <a:lnTo>
                    <a:pt x="2069696" y="259251"/>
                  </a:lnTo>
                  <a:lnTo>
                    <a:pt x="2037461" y="235141"/>
                  </a:lnTo>
                  <a:lnTo>
                    <a:pt x="2002697" y="211936"/>
                  </a:lnTo>
                  <a:lnTo>
                    <a:pt x="1965498" y="189681"/>
                  </a:lnTo>
                  <a:lnTo>
                    <a:pt x="1925959" y="168421"/>
                  </a:lnTo>
                  <a:lnTo>
                    <a:pt x="1884175" y="148203"/>
                  </a:lnTo>
                  <a:lnTo>
                    <a:pt x="1840238" y="129071"/>
                  </a:lnTo>
                  <a:lnTo>
                    <a:pt x="1794244" y="111072"/>
                  </a:lnTo>
                  <a:lnTo>
                    <a:pt x="1746287" y="94251"/>
                  </a:lnTo>
                  <a:lnTo>
                    <a:pt x="1739594" y="92156"/>
                  </a:lnTo>
                  <a:close/>
                </a:path>
              </a:pathLst>
            </a:custGeom>
            <a:solidFill>
              <a:srgbClr val="941100"/>
            </a:solidFill>
          </p:spPr>
          <p:txBody>
            <a:bodyPr wrap="square" lIns="0" tIns="0" rIns="0" bIns="0" rtlCol="0"/>
            <a:lstStyle/>
            <a:p>
              <a:endParaRPr/>
            </a:p>
          </p:txBody>
        </p:sp>
        <p:sp>
          <p:nvSpPr>
            <p:cNvPr id="8" name="object 5"/>
            <p:cNvSpPr/>
            <p:nvPr/>
          </p:nvSpPr>
          <p:spPr>
            <a:xfrm>
              <a:off x="3215679" y="4509119"/>
              <a:ext cx="2232660" cy="1080135"/>
            </a:xfrm>
            <a:custGeom>
              <a:avLst/>
              <a:gdLst/>
              <a:ahLst/>
              <a:cxnLst/>
              <a:rect l="l" t="t" r="r" b="b"/>
              <a:pathLst>
                <a:path w="2232660" h="1080135">
                  <a:moveTo>
                    <a:pt x="0" y="540059"/>
                  </a:moveTo>
                  <a:lnTo>
                    <a:pt x="7004" y="479216"/>
                  </a:lnTo>
                  <a:lnTo>
                    <a:pt x="27515" y="420348"/>
                  </a:lnTo>
                  <a:lnTo>
                    <a:pt x="60779" y="363822"/>
                  </a:lnTo>
                  <a:lnTo>
                    <a:pt x="106042" y="310001"/>
                  </a:lnTo>
                  <a:lnTo>
                    <a:pt x="162550" y="259251"/>
                  </a:lnTo>
                  <a:lnTo>
                    <a:pt x="194786" y="235142"/>
                  </a:lnTo>
                  <a:lnTo>
                    <a:pt x="229550" y="211936"/>
                  </a:lnTo>
                  <a:lnTo>
                    <a:pt x="266748" y="189681"/>
                  </a:lnTo>
                  <a:lnTo>
                    <a:pt x="306287" y="168422"/>
                  </a:lnTo>
                  <a:lnTo>
                    <a:pt x="348072" y="148203"/>
                  </a:lnTo>
                  <a:lnTo>
                    <a:pt x="392008" y="129071"/>
                  </a:lnTo>
                  <a:lnTo>
                    <a:pt x="438002" y="111072"/>
                  </a:lnTo>
                  <a:lnTo>
                    <a:pt x="485960" y="94251"/>
                  </a:lnTo>
                  <a:lnTo>
                    <a:pt x="535786" y="78653"/>
                  </a:lnTo>
                  <a:lnTo>
                    <a:pt x="587388" y="64324"/>
                  </a:lnTo>
                  <a:lnTo>
                    <a:pt x="640670" y="51310"/>
                  </a:lnTo>
                  <a:lnTo>
                    <a:pt x="695538" y="39657"/>
                  </a:lnTo>
                  <a:lnTo>
                    <a:pt x="751899" y="29409"/>
                  </a:lnTo>
                  <a:lnTo>
                    <a:pt x="809658" y="20613"/>
                  </a:lnTo>
                  <a:lnTo>
                    <a:pt x="868720" y="13314"/>
                  </a:lnTo>
                  <a:lnTo>
                    <a:pt x="928992" y="7557"/>
                  </a:lnTo>
                  <a:lnTo>
                    <a:pt x="990379" y="3389"/>
                  </a:lnTo>
                  <a:lnTo>
                    <a:pt x="1052788" y="854"/>
                  </a:lnTo>
                  <a:lnTo>
                    <a:pt x="1116123" y="0"/>
                  </a:lnTo>
                  <a:lnTo>
                    <a:pt x="1179459" y="854"/>
                  </a:lnTo>
                  <a:lnTo>
                    <a:pt x="1241867" y="3389"/>
                  </a:lnTo>
                  <a:lnTo>
                    <a:pt x="1303254" y="7557"/>
                  </a:lnTo>
                  <a:lnTo>
                    <a:pt x="1363526" y="13314"/>
                  </a:lnTo>
                  <a:lnTo>
                    <a:pt x="1422589" y="20613"/>
                  </a:lnTo>
                  <a:lnTo>
                    <a:pt x="1480347" y="29409"/>
                  </a:lnTo>
                  <a:lnTo>
                    <a:pt x="1536708" y="39657"/>
                  </a:lnTo>
                  <a:lnTo>
                    <a:pt x="1591577" y="51310"/>
                  </a:lnTo>
                  <a:lnTo>
                    <a:pt x="1644859" y="64324"/>
                  </a:lnTo>
                  <a:lnTo>
                    <a:pt x="1696460" y="78653"/>
                  </a:lnTo>
                  <a:lnTo>
                    <a:pt x="1746287" y="94251"/>
                  </a:lnTo>
                  <a:lnTo>
                    <a:pt x="1794244" y="111072"/>
                  </a:lnTo>
                  <a:lnTo>
                    <a:pt x="1840238" y="129071"/>
                  </a:lnTo>
                  <a:lnTo>
                    <a:pt x="1884175" y="148203"/>
                  </a:lnTo>
                  <a:lnTo>
                    <a:pt x="1925959" y="168422"/>
                  </a:lnTo>
                  <a:lnTo>
                    <a:pt x="1965498" y="189681"/>
                  </a:lnTo>
                  <a:lnTo>
                    <a:pt x="2002697" y="211936"/>
                  </a:lnTo>
                  <a:lnTo>
                    <a:pt x="2037461" y="235142"/>
                  </a:lnTo>
                  <a:lnTo>
                    <a:pt x="2069696" y="259251"/>
                  </a:lnTo>
                  <a:lnTo>
                    <a:pt x="2099309" y="284220"/>
                  </a:lnTo>
                  <a:lnTo>
                    <a:pt x="2150289" y="336550"/>
                  </a:lnTo>
                  <a:lnTo>
                    <a:pt x="2189646" y="391769"/>
                  </a:lnTo>
                  <a:lnTo>
                    <a:pt x="2216628" y="449512"/>
                  </a:lnTo>
                  <a:lnTo>
                    <a:pt x="2230480" y="509413"/>
                  </a:lnTo>
                  <a:lnTo>
                    <a:pt x="2232247" y="540059"/>
                  </a:lnTo>
                  <a:lnTo>
                    <a:pt x="2230480" y="570705"/>
                  </a:lnTo>
                  <a:lnTo>
                    <a:pt x="2216628" y="630607"/>
                  </a:lnTo>
                  <a:lnTo>
                    <a:pt x="2189646" y="688349"/>
                  </a:lnTo>
                  <a:lnTo>
                    <a:pt x="2150289" y="743568"/>
                  </a:lnTo>
                  <a:lnTo>
                    <a:pt x="2099309" y="795899"/>
                  </a:lnTo>
                  <a:lnTo>
                    <a:pt x="2069696" y="820867"/>
                  </a:lnTo>
                  <a:lnTo>
                    <a:pt x="2037461" y="844977"/>
                  </a:lnTo>
                  <a:lnTo>
                    <a:pt x="2002697" y="868182"/>
                  </a:lnTo>
                  <a:lnTo>
                    <a:pt x="1965498" y="890437"/>
                  </a:lnTo>
                  <a:lnTo>
                    <a:pt x="1925959" y="911697"/>
                  </a:lnTo>
                  <a:lnTo>
                    <a:pt x="1884175" y="931916"/>
                  </a:lnTo>
                  <a:lnTo>
                    <a:pt x="1840238" y="951047"/>
                  </a:lnTo>
                  <a:lnTo>
                    <a:pt x="1794244" y="969046"/>
                  </a:lnTo>
                  <a:lnTo>
                    <a:pt x="1746287" y="985868"/>
                  </a:lnTo>
                  <a:lnTo>
                    <a:pt x="1696460" y="1001466"/>
                  </a:lnTo>
                  <a:lnTo>
                    <a:pt x="1644859" y="1015794"/>
                  </a:lnTo>
                  <a:lnTo>
                    <a:pt x="1591577" y="1028808"/>
                  </a:lnTo>
                  <a:lnTo>
                    <a:pt x="1536708" y="1040462"/>
                  </a:lnTo>
                  <a:lnTo>
                    <a:pt x="1480347" y="1050710"/>
                  </a:lnTo>
                  <a:lnTo>
                    <a:pt x="1422589" y="1059506"/>
                  </a:lnTo>
                  <a:lnTo>
                    <a:pt x="1363526" y="1066805"/>
                  </a:lnTo>
                  <a:lnTo>
                    <a:pt x="1303254" y="1072562"/>
                  </a:lnTo>
                  <a:lnTo>
                    <a:pt x="1241867" y="1076730"/>
                  </a:lnTo>
                  <a:lnTo>
                    <a:pt x="1179459" y="1079264"/>
                  </a:lnTo>
                  <a:lnTo>
                    <a:pt x="1116123" y="1080119"/>
                  </a:lnTo>
                  <a:lnTo>
                    <a:pt x="1052788" y="1079264"/>
                  </a:lnTo>
                  <a:lnTo>
                    <a:pt x="990379" y="1076730"/>
                  </a:lnTo>
                  <a:lnTo>
                    <a:pt x="928992" y="1072562"/>
                  </a:lnTo>
                  <a:lnTo>
                    <a:pt x="868720" y="1066805"/>
                  </a:lnTo>
                  <a:lnTo>
                    <a:pt x="809658" y="1059506"/>
                  </a:lnTo>
                  <a:lnTo>
                    <a:pt x="751899" y="1050710"/>
                  </a:lnTo>
                  <a:lnTo>
                    <a:pt x="695538" y="1040462"/>
                  </a:lnTo>
                  <a:lnTo>
                    <a:pt x="640670" y="1028808"/>
                  </a:lnTo>
                  <a:lnTo>
                    <a:pt x="587388" y="1015794"/>
                  </a:lnTo>
                  <a:lnTo>
                    <a:pt x="535786" y="1001466"/>
                  </a:lnTo>
                  <a:lnTo>
                    <a:pt x="485960" y="985868"/>
                  </a:lnTo>
                  <a:lnTo>
                    <a:pt x="438002" y="969046"/>
                  </a:lnTo>
                  <a:lnTo>
                    <a:pt x="392008" y="951047"/>
                  </a:lnTo>
                  <a:lnTo>
                    <a:pt x="348072" y="931916"/>
                  </a:lnTo>
                  <a:lnTo>
                    <a:pt x="306287" y="911697"/>
                  </a:lnTo>
                  <a:lnTo>
                    <a:pt x="266748" y="890437"/>
                  </a:lnTo>
                  <a:lnTo>
                    <a:pt x="229550" y="868182"/>
                  </a:lnTo>
                  <a:lnTo>
                    <a:pt x="194786" y="844977"/>
                  </a:lnTo>
                  <a:lnTo>
                    <a:pt x="162550" y="820867"/>
                  </a:lnTo>
                  <a:lnTo>
                    <a:pt x="132937" y="795899"/>
                  </a:lnTo>
                  <a:lnTo>
                    <a:pt x="81958" y="743568"/>
                  </a:lnTo>
                  <a:lnTo>
                    <a:pt x="42600" y="688349"/>
                  </a:lnTo>
                  <a:lnTo>
                    <a:pt x="15618" y="630607"/>
                  </a:lnTo>
                  <a:lnTo>
                    <a:pt x="1766" y="570705"/>
                  </a:lnTo>
                  <a:lnTo>
                    <a:pt x="0" y="540059"/>
                  </a:lnTo>
                  <a:close/>
                </a:path>
              </a:pathLst>
            </a:custGeom>
            <a:ln w="6349">
              <a:solidFill>
                <a:srgbClr val="6CACDD"/>
              </a:solidFill>
            </a:ln>
          </p:spPr>
          <p:txBody>
            <a:bodyPr wrap="square" lIns="0" tIns="0" rIns="0" bIns="0" rtlCol="0"/>
            <a:lstStyle/>
            <a:p>
              <a:endParaRPr/>
            </a:p>
          </p:txBody>
        </p:sp>
        <p:sp>
          <p:nvSpPr>
            <p:cNvPr id="9" name="object 6"/>
            <p:cNvSpPr/>
            <p:nvPr/>
          </p:nvSpPr>
          <p:spPr>
            <a:xfrm>
              <a:off x="3307835" y="4601275"/>
              <a:ext cx="2048510" cy="895985"/>
            </a:xfrm>
            <a:custGeom>
              <a:avLst/>
              <a:gdLst/>
              <a:ahLst/>
              <a:cxnLst/>
              <a:rect l="l" t="t" r="r" b="b"/>
              <a:pathLst>
                <a:path w="2048510" h="895985">
                  <a:moveTo>
                    <a:pt x="0" y="447903"/>
                  </a:moveTo>
                  <a:lnTo>
                    <a:pt x="7978" y="504087"/>
                  </a:lnTo>
                  <a:lnTo>
                    <a:pt x="31272" y="558189"/>
                  </a:lnTo>
                  <a:lnTo>
                    <a:pt x="68924" y="609788"/>
                  </a:lnTo>
                  <a:lnTo>
                    <a:pt x="119973" y="658465"/>
                  </a:lnTo>
                  <a:lnTo>
                    <a:pt x="183460" y="703800"/>
                  </a:lnTo>
                  <a:lnTo>
                    <a:pt x="219568" y="725084"/>
                  </a:lnTo>
                  <a:lnTo>
                    <a:pt x="258426" y="745374"/>
                  </a:lnTo>
                  <a:lnTo>
                    <a:pt x="299913" y="764619"/>
                  </a:lnTo>
                  <a:lnTo>
                    <a:pt x="343910" y="782767"/>
                  </a:lnTo>
                  <a:lnTo>
                    <a:pt x="390296" y="799764"/>
                  </a:lnTo>
                  <a:lnTo>
                    <a:pt x="438952" y="815558"/>
                  </a:lnTo>
                  <a:lnTo>
                    <a:pt x="489759" y="830097"/>
                  </a:lnTo>
                  <a:lnTo>
                    <a:pt x="542595" y="843328"/>
                  </a:lnTo>
                  <a:lnTo>
                    <a:pt x="597341" y="855200"/>
                  </a:lnTo>
                  <a:lnTo>
                    <a:pt x="653877" y="865658"/>
                  </a:lnTo>
                  <a:lnTo>
                    <a:pt x="712083" y="874652"/>
                  </a:lnTo>
                  <a:lnTo>
                    <a:pt x="771840" y="882128"/>
                  </a:lnTo>
                  <a:lnTo>
                    <a:pt x="833026" y="888034"/>
                  </a:lnTo>
                  <a:lnTo>
                    <a:pt x="895523" y="892317"/>
                  </a:lnTo>
                  <a:lnTo>
                    <a:pt x="959210" y="894926"/>
                  </a:lnTo>
                  <a:lnTo>
                    <a:pt x="1023967" y="895807"/>
                  </a:lnTo>
                  <a:lnTo>
                    <a:pt x="1088725" y="894926"/>
                  </a:lnTo>
                  <a:lnTo>
                    <a:pt x="1152412" y="892317"/>
                  </a:lnTo>
                  <a:lnTo>
                    <a:pt x="1214909" y="888034"/>
                  </a:lnTo>
                  <a:lnTo>
                    <a:pt x="1276095" y="882128"/>
                  </a:lnTo>
                  <a:lnTo>
                    <a:pt x="1335851" y="874652"/>
                  </a:lnTo>
                  <a:lnTo>
                    <a:pt x="1394058" y="865658"/>
                  </a:lnTo>
                  <a:lnTo>
                    <a:pt x="1450594" y="855200"/>
                  </a:lnTo>
                  <a:lnTo>
                    <a:pt x="1505340" y="843328"/>
                  </a:lnTo>
                  <a:lnTo>
                    <a:pt x="1558176" y="830097"/>
                  </a:lnTo>
                  <a:lnTo>
                    <a:pt x="1608982" y="815558"/>
                  </a:lnTo>
                  <a:lnTo>
                    <a:pt x="1657639" y="799764"/>
                  </a:lnTo>
                  <a:lnTo>
                    <a:pt x="1704025" y="782767"/>
                  </a:lnTo>
                  <a:lnTo>
                    <a:pt x="1748022" y="764619"/>
                  </a:lnTo>
                  <a:lnTo>
                    <a:pt x="1789509" y="745374"/>
                  </a:lnTo>
                  <a:lnTo>
                    <a:pt x="1828366" y="725084"/>
                  </a:lnTo>
                  <a:lnTo>
                    <a:pt x="1864474" y="703800"/>
                  </a:lnTo>
                  <a:lnTo>
                    <a:pt x="1897713" y="681577"/>
                  </a:lnTo>
                  <a:lnTo>
                    <a:pt x="1955101" y="634518"/>
                  </a:lnTo>
                  <a:lnTo>
                    <a:pt x="1999571" y="584328"/>
                  </a:lnTo>
                  <a:lnTo>
                    <a:pt x="2030164" y="531425"/>
                  </a:lnTo>
                  <a:lnTo>
                    <a:pt x="2045921" y="476229"/>
                  </a:lnTo>
                  <a:lnTo>
                    <a:pt x="2047935" y="447903"/>
                  </a:lnTo>
                  <a:lnTo>
                    <a:pt x="2045921" y="419577"/>
                  </a:lnTo>
                  <a:lnTo>
                    <a:pt x="2030164" y="364382"/>
                  </a:lnTo>
                  <a:lnTo>
                    <a:pt x="1999571" y="311479"/>
                  </a:lnTo>
                  <a:lnTo>
                    <a:pt x="1955101" y="261288"/>
                  </a:lnTo>
                  <a:lnTo>
                    <a:pt x="1897713" y="214230"/>
                  </a:lnTo>
                  <a:lnTo>
                    <a:pt x="1864474" y="192006"/>
                  </a:lnTo>
                  <a:lnTo>
                    <a:pt x="1828366" y="170723"/>
                  </a:lnTo>
                  <a:lnTo>
                    <a:pt x="1789509" y="150433"/>
                  </a:lnTo>
                  <a:lnTo>
                    <a:pt x="1748022" y="131187"/>
                  </a:lnTo>
                  <a:lnTo>
                    <a:pt x="1704025" y="113040"/>
                  </a:lnTo>
                  <a:lnTo>
                    <a:pt x="1657639" y="96043"/>
                  </a:lnTo>
                  <a:lnTo>
                    <a:pt x="1608982" y="80249"/>
                  </a:lnTo>
                  <a:lnTo>
                    <a:pt x="1558176" y="65710"/>
                  </a:lnTo>
                  <a:lnTo>
                    <a:pt x="1505340" y="52478"/>
                  </a:lnTo>
                  <a:lnTo>
                    <a:pt x="1450594" y="40607"/>
                  </a:lnTo>
                  <a:lnTo>
                    <a:pt x="1394058" y="30149"/>
                  </a:lnTo>
                  <a:lnTo>
                    <a:pt x="1335851" y="21155"/>
                  </a:lnTo>
                  <a:lnTo>
                    <a:pt x="1276095" y="13679"/>
                  </a:lnTo>
                  <a:lnTo>
                    <a:pt x="1214909" y="7773"/>
                  </a:lnTo>
                  <a:lnTo>
                    <a:pt x="1152412" y="3489"/>
                  </a:lnTo>
                  <a:lnTo>
                    <a:pt x="1088725" y="881"/>
                  </a:lnTo>
                  <a:lnTo>
                    <a:pt x="1023967" y="0"/>
                  </a:lnTo>
                  <a:lnTo>
                    <a:pt x="959210" y="881"/>
                  </a:lnTo>
                  <a:lnTo>
                    <a:pt x="895523" y="3489"/>
                  </a:lnTo>
                  <a:lnTo>
                    <a:pt x="833026" y="7773"/>
                  </a:lnTo>
                  <a:lnTo>
                    <a:pt x="771840" y="13679"/>
                  </a:lnTo>
                  <a:lnTo>
                    <a:pt x="712083" y="21155"/>
                  </a:lnTo>
                  <a:lnTo>
                    <a:pt x="653877" y="30149"/>
                  </a:lnTo>
                  <a:lnTo>
                    <a:pt x="597341" y="40607"/>
                  </a:lnTo>
                  <a:lnTo>
                    <a:pt x="542595" y="52478"/>
                  </a:lnTo>
                  <a:lnTo>
                    <a:pt x="489759" y="65710"/>
                  </a:lnTo>
                  <a:lnTo>
                    <a:pt x="438952" y="80249"/>
                  </a:lnTo>
                  <a:lnTo>
                    <a:pt x="390296" y="96043"/>
                  </a:lnTo>
                  <a:lnTo>
                    <a:pt x="343910" y="113040"/>
                  </a:lnTo>
                  <a:lnTo>
                    <a:pt x="299913" y="131187"/>
                  </a:lnTo>
                  <a:lnTo>
                    <a:pt x="258426" y="150433"/>
                  </a:lnTo>
                  <a:lnTo>
                    <a:pt x="219568" y="170723"/>
                  </a:lnTo>
                  <a:lnTo>
                    <a:pt x="183460" y="192006"/>
                  </a:lnTo>
                  <a:lnTo>
                    <a:pt x="150222" y="214230"/>
                  </a:lnTo>
                  <a:lnTo>
                    <a:pt x="92834" y="261288"/>
                  </a:lnTo>
                  <a:lnTo>
                    <a:pt x="48364" y="311479"/>
                  </a:lnTo>
                  <a:lnTo>
                    <a:pt x="17770" y="364382"/>
                  </a:lnTo>
                  <a:lnTo>
                    <a:pt x="2014" y="419577"/>
                  </a:lnTo>
                  <a:lnTo>
                    <a:pt x="0" y="447903"/>
                  </a:lnTo>
                  <a:close/>
                </a:path>
              </a:pathLst>
            </a:custGeom>
            <a:ln w="6349">
              <a:solidFill>
                <a:srgbClr val="6CACDD"/>
              </a:solidFill>
            </a:ln>
          </p:spPr>
          <p:txBody>
            <a:bodyPr wrap="square" lIns="0" tIns="0" rIns="0" bIns="0" rtlCol="0"/>
            <a:lstStyle/>
            <a:p>
              <a:endParaRPr/>
            </a:p>
          </p:txBody>
        </p:sp>
        <p:sp>
          <p:nvSpPr>
            <p:cNvPr id="10" name="object 7"/>
            <p:cNvSpPr/>
            <p:nvPr/>
          </p:nvSpPr>
          <p:spPr>
            <a:xfrm>
              <a:off x="7248126" y="4437112"/>
              <a:ext cx="2232660" cy="1080135"/>
            </a:xfrm>
            <a:custGeom>
              <a:avLst/>
              <a:gdLst/>
              <a:ahLst/>
              <a:cxnLst/>
              <a:rect l="l" t="t" r="r" b="b"/>
              <a:pathLst>
                <a:path w="2232659" h="1080135">
                  <a:moveTo>
                    <a:pt x="1116124" y="0"/>
                  </a:moveTo>
                  <a:lnTo>
                    <a:pt x="1052788" y="854"/>
                  </a:lnTo>
                  <a:lnTo>
                    <a:pt x="990380" y="3389"/>
                  </a:lnTo>
                  <a:lnTo>
                    <a:pt x="928993" y="7557"/>
                  </a:lnTo>
                  <a:lnTo>
                    <a:pt x="868721" y="13313"/>
                  </a:lnTo>
                  <a:lnTo>
                    <a:pt x="809658" y="20613"/>
                  </a:lnTo>
                  <a:lnTo>
                    <a:pt x="751900" y="29409"/>
                  </a:lnTo>
                  <a:lnTo>
                    <a:pt x="695539" y="39657"/>
                  </a:lnTo>
                  <a:lnTo>
                    <a:pt x="640670" y="51310"/>
                  </a:lnTo>
                  <a:lnTo>
                    <a:pt x="587388" y="64324"/>
                  </a:lnTo>
                  <a:lnTo>
                    <a:pt x="535787" y="78653"/>
                  </a:lnTo>
                  <a:lnTo>
                    <a:pt x="485961" y="94251"/>
                  </a:lnTo>
                  <a:lnTo>
                    <a:pt x="438003" y="111072"/>
                  </a:lnTo>
                  <a:lnTo>
                    <a:pt x="392009" y="129071"/>
                  </a:lnTo>
                  <a:lnTo>
                    <a:pt x="348072" y="148203"/>
                  </a:lnTo>
                  <a:lnTo>
                    <a:pt x="306288" y="168421"/>
                  </a:lnTo>
                  <a:lnTo>
                    <a:pt x="266749" y="189681"/>
                  </a:lnTo>
                  <a:lnTo>
                    <a:pt x="229550" y="211936"/>
                  </a:lnTo>
                  <a:lnTo>
                    <a:pt x="194786" y="235141"/>
                  </a:lnTo>
                  <a:lnTo>
                    <a:pt x="162550" y="259251"/>
                  </a:lnTo>
                  <a:lnTo>
                    <a:pt x="132938" y="284219"/>
                  </a:lnTo>
                  <a:lnTo>
                    <a:pt x="81958" y="336550"/>
                  </a:lnTo>
                  <a:lnTo>
                    <a:pt x="42600" y="391769"/>
                  </a:lnTo>
                  <a:lnTo>
                    <a:pt x="15618" y="449512"/>
                  </a:lnTo>
                  <a:lnTo>
                    <a:pt x="1766" y="509413"/>
                  </a:lnTo>
                  <a:lnTo>
                    <a:pt x="0" y="540059"/>
                  </a:lnTo>
                  <a:lnTo>
                    <a:pt x="1766" y="570706"/>
                  </a:lnTo>
                  <a:lnTo>
                    <a:pt x="15618" y="630607"/>
                  </a:lnTo>
                  <a:lnTo>
                    <a:pt x="42600" y="688349"/>
                  </a:lnTo>
                  <a:lnTo>
                    <a:pt x="81958" y="743568"/>
                  </a:lnTo>
                  <a:lnTo>
                    <a:pt x="133006" y="795956"/>
                  </a:lnTo>
                  <a:lnTo>
                    <a:pt x="162550" y="820868"/>
                  </a:lnTo>
                  <a:lnTo>
                    <a:pt x="194786" y="844977"/>
                  </a:lnTo>
                  <a:lnTo>
                    <a:pt x="229550" y="868182"/>
                  </a:lnTo>
                  <a:lnTo>
                    <a:pt x="266749" y="890438"/>
                  </a:lnTo>
                  <a:lnTo>
                    <a:pt x="306288" y="911697"/>
                  </a:lnTo>
                  <a:lnTo>
                    <a:pt x="348072" y="931916"/>
                  </a:lnTo>
                  <a:lnTo>
                    <a:pt x="392009" y="951047"/>
                  </a:lnTo>
                  <a:lnTo>
                    <a:pt x="438003" y="969047"/>
                  </a:lnTo>
                  <a:lnTo>
                    <a:pt x="485961" y="985868"/>
                  </a:lnTo>
                  <a:lnTo>
                    <a:pt x="535787" y="1001466"/>
                  </a:lnTo>
                  <a:lnTo>
                    <a:pt x="587388" y="1015795"/>
                  </a:lnTo>
                  <a:lnTo>
                    <a:pt x="640670" y="1028808"/>
                  </a:lnTo>
                  <a:lnTo>
                    <a:pt x="695539" y="1040462"/>
                  </a:lnTo>
                  <a:lnTo>
                    <a:pt x="751900" y="1050710"/>
                  </a:lnTo>
                  <a:lnTo>
                    <a:pt x="809658" y="1059506"/>
                  </a:lnTo>
                  <a:lnTo>
                    <a:pt x="868721" y="1066805"/>
                  </a:lnTo>
                  <a:lnTo>
                    <a:pt x="928993" y="1072562"/>
                  </a:lnTo>
                  <a:lnTo>
                    <a:pt x="990380" y="1076730"/>
                  </a:lnTo>
                  <a:lnTo>
                    <a:pt x="1052788" y="1079264"/>
                  </a:lnTo>
                  <a:lnTo>
                    <a:pt x="1116124" y="1080119"/>
                  </a:lnTo>
                  <a:lnTo>
                    <a:pt x="1179459" y="1079264"/>
                  </a:lnTo>
                  <a:lnTo>
                    <a:pt x="1241868" y="1076730"/>
                  </a:lnTo>
                  <a:lnTo>
                    <a:pt x="1303255" y="1072562"/>
                  </a:lnTo>
                  <a:lnTo>
                    <a:pt x="1363527" y="1066805"/>
                  </a:lnTo>
                  <a:lnTo>
                    <a:pt x="1422590" y="1059506"/>
                  </a:lnTo>
                  <a:lnTo>
                    <a:pt x="1480348" y="1050710"/>
                  </a:lnTo>
                  <a:lnTo>
                    <a:pt x="1536709" y="1040462"/>
                  </a:lnTo>
                  <a:lnTo>
                    <a:pt x="1591577" y="1028808"/>
                  </a:lnTo>
                  <a:lnTo>
                    <a:pt x="1644859" y="1015795"/>
                  </a:lnTo>
                  <a:lnTo>
                    <a:pt x="1696461" y="1001466"/>
                  </a:lnTo>
                  <a:lnTo>
                    <a:pt x="1739595" y="987963"/>
                  </a:lnTo>
                  <a:lnTo>
                    <a:pt x="1116124" y="987963"/>
                  </a:lnTo>
                  <a:lnTo>
                    <a:pt x="1051366" y="987082"/>
                  </a:lnTo>
                  <a:lnTo>
                    <a:pt x="987679" y="984473"/>
                  </a:lnTo>
                  <a:lnTo>
                    <a:pt x="925183" y="980190"/>
                  </a:lnTo>
                  <a:lnTo>
                    <a:pt x="863996" y="974284"/>
                  </a:lnTo>
                  <a:lnTo>
                    <a:pt x="804240" y="966808"/>
                  </a:lnTo>
                  <a:lnTo>
                    <a:pt x="746033" y="957814"/>
                  </a:lnTo>
                  <a:lnTo>
                    <a:pt x="689497" y="947355"/>
                  </a:lnTo>
                  <a:lnTo>
                    <a:pt x="634751" y="935484"/>
                  </a:lnTo>
                  <a:lnTo>
                    <a:pt x="581915" y="922253"/>
                  </a:lnTo>
                  <a:lnTo>
                    <a:pt x="531109" y="907714"/>
                  </a:lnTo>
                  <a:lnTo>
                    <a:pt x="482452" y="891919"/>
                  </a:lnTo>
                  <a:lnTo>
                    <a:pt x="436066" y="874922"/>
                  </a:lnTo>
                  <a:lnTo>
                    <a:pt x="392069" y="856775"/>
                  </a:lnTo>
                  <a:lnTo>
                    <a:pt x="350582" y="837530"/>
                  </a:lnTo>
                  <a:lnTo>
                    <a:pt x="311724" y="817240"/>
                  </a:lnTo>
                  <a:lnTo>
                    <a:pt x="275531" y="795899"/>
                  </a:lnTo>
                  <a:lnTo>
                    <a:pt x="242378" y="773733"/>
                  </a:lnTo>
                  <a:lnTo>
                    <a:pt x="184990" y="726674"/>
                  </a:lnTo>
                  <a:lnTo>
                    <a:pt x="140520" y="676484"/>
                  </a:lnTo>
                  <a:lnTo>
                    <a:pt x="109927" y="623581"/>
                  </a:lnTo>
                  <a:lnTo>
                    <a:pt x="94170" y="568386"/>
                  </a:lnTo>
                  <a:lnTo>
                    <a:pt x="92156" y="540059"/>
                  </a:lnTo>
                  <a:lnTo>
                    <a:pt x="94170" y="511733"/>
                  </a:lnTo>
                  <a:lnTo>
                    <a:pt x="109927" y="456538"/>
                  </a:lnTo>
                  <a:lnTo>
                    <a:pt x="140520" y="403635"/>
                  </a:lnTo>
                  <a:lnTo>
                    <a:pt x="184990" y="353445"/>
                  </a:lnTo>
                  <a:lnTo>
                    <a:pt x="242378" y="306386"/>
                  </a:lnTo>
                  <a:lnTo>
                    <a:pt x="275617" y="284162"/>
                  </a:lnTo>
                  <a:lnTo>
                    <a:pt x="311724" y="262879"/>
                  </a:lnTo>
                  <a:lnTo>
                    <a:pt x="350582" y="242589"/>
                  </a:lnTo>
                  <a:lnTo>
                    <a:pt x="392069" y="223344"/>
                  </a:lnTo>
                  <a:lnTo>
                    <a:pt x="436066" y="205196"/>
                  </a:lnTo>
                  <a:lnTo>
                    <a:pt x="482452" y="188199"/>
                  </a:lnTo>
                  <a:lnTo>
                    <a:pt x="531109" y="172405"/>
                  </a:lnTo>
                  <a:lnTo>
                    <a:pt x="581915" y="157866"/>
                  </a:lnTo>
                  <a:lnTo>
                    <a:pt x="634751" y="144635"/>
                  </a:lnTo>
                  <a:lnTo>
                    <a:pt x="689497" y="132763"/>
                  </a:lnTo>
                  <a:lnTo>
                    <a:pt x="746033" y="122305"/>
                  </a:lnTo>
                  <a:lnTo>
                    <a:pt x="804240" y="113311"/>
                  </a:lnTo>
                  <a:lnTo>
                    <a:pt x="863996" y="105835"/>
                  </a:lnTo>
                  <a:lnTo>
                    <a:pt x="925183" y="99929"/>
                  </a:lnTo>
                  <a:lnTo>
                    <a:pt x="987679" y="95646"/>
                  </a:lnTo>
                  <a:lnTo>
                    <a:pt x="1051366" y="93037"/>
                  </a:lnTo>
                  <a:lnTo>
                    <a:pt x="1116124" y="92156"/>
                  </a:lnTo>
                  <a:lnTo>
                    <a:pt x="1739595" y="92156"/>
                  </a:lnTo>
                  <a:lnTo>
                    <a:pt x="1696461" y="78653"/>
                  </a:lnTo>
                  <a:lnTo>
                    <a:pt x="1644859" y="64324"/>
                  </a:lnTo>
                  <a:lnTo>
                    <a:pt x="1591577" y="51310"/>
                  </a:lnTo>
                  <a:lnTo>
                    <a:pt x="1536709" y="39657"/>
                  </a:lnTo>
                  <a:lnTo>
                    <a:pt x="1480348" y="29409"/>
                  </a:lnTo>
                  <a:lnTo>
                    <a:pt x="1422590" y="20613"/>
                  </a:lnTo>
                  <a:lnTo>
                    <a:pt x="1363527" y="13313"/>
                  </a:lnTo>
                  <a:lnTo>
                    <a:pt x="1303255" y="7557"/>
                  </a:lnTo>
                  <a:lnTo>
                    <a:pt x="1241868" y="3389"/>
                  </a:lnTo>
                  <a:lnTo>
                    <a:pt x="1179459" y="854"/>
                  </a:lnTo>
                  <a:lnTo>
                    <a:pt x="1116124" y="0"/>
                  </a:lnTo>
                  <a:close/>
                </a:path>
                <a:path w="2232659" h="1080135">
                  <a:moveTo>
                    <a:pt x="1739595" y="92156"/>
                  </a:moveTo>
                  <a:lnTo>
                    <a:pt x="1116124" y="92156"/>
                  </a:lnTo>
                  <a:lnTo>
                    <a:pt x="1180881" y="93037"/>
                  </a:lnTo>
                  <a:lnTo>
                    <a:pt x="1244568" y="95646"/>
                  </a:lnTo>
                  <a:lnTo>
                    <a:pt x="1307065" y="99929"/>
                  </a:lnTo>
                  <a:lnTo>
                    <a:pt x="1368251" y="105835"/>
                  </a:lnTo>
                  <a:lnTo>
                    <a:pt x="1428008" y="113311"/>
                  </a:lnTo>
                  <a:lnTo>
                    <a:pt x="1486214" y="122305"/>
                  </a:lnTo>
                  <a:lnTo>
                    <a:pt x="1542750" y="132763"/>
                  </a:lnTo>
                  <a:lnTo>
                    <a:pt x="1597496" y="144635"/>
                  </a:lnTo>
                  <a:lnTo>
                    <a:pt x="1650333" y="157866"/>
                  </a:lnTo>
                  <a:lnTo>
                    <a:pt x="1701139" y="172405"/>
                  </a:lnTo>
                  <a:lnTo>
                    <a:pt x="1749795" y="188199"/>
                  </a:lnTo>
                  <a:lnTo>
                    <a:pt x="1796182" y="205196"/>
                  </a:lnTo>
                  <a:lnTo>
                    <a:pt x="1840179" y="223344"/>
                  </a:lnTo>
                  <a:lnTo>
                    <a:pt x="1881666" y="242589"/>
                  </a:lnTo>
                  <a:lnTo>
                    <a:pt x="1920523" y="262879"/>
                  </a:lnTo>
                  <a:lnTo>
                    <a:pt x="1956716" y="284219"/>
                  </a:lnTo>
                  <a:lnTo>
                    <a:pt x="1989869" y="306386"/>
                  </a:lnTo>
                  <a:lnTo>
                    <a:pt x="2047257" y="353445"/>
                  </a:lnTo>
                  <a:lnTo>
                    <a:pt x="2091728" y="403635"/>
                  </a:lnTo>
                  <a:lnTo>
                    <a:pt x="2122321" y="456538"/>
                  </a:lnTo>
                  <a:lnTo>
                    <a:pt x="2138077" y="511733"/>
                  </a:lnTo>
                  <a:lnTo>
                    <a:pt x="2140092" y="540059"/>
                  </a:lnTo>
                  <a:lnTo>
                    <a:pt x="2138077" y="568386"/>
                  </a:lnTo>
                  <a:lnTo>
                    <a:pt x="2122321" y="623581"/>
                  </a:lnTo>
                  <a:lnTo>
                    <a:pt x="2091728" y="676484"/>
                  </a:lnTo>
                  <a:lnTo>
                    <a:pt x="2047257" y="726674"/>
                  </a:lnTo>
                  <a:lnTo>
                    <a:pt x="1989869" y="773733"/>
                  </a:lnTo>
                  <a:lnTo>
                    <a:pt x="1956631" y="795956"/>
                  </a:lnTo>
                  <a:lnTo>
                    <a:pt x="1920523" y="817240"/>
                  </a:lnTo>
                  <a:lnTo>
                    <a:pt x="1881666" y="837530"/>
                  </a:lnTo>
                  <a:lnTo>
                    <a:pt x="1840179" y="856775"/>
                  </a:lnTo>
                  <a:lnTo>
                    <a:pt x="1796182" y="874922"/>
                  </a:lnTo>
                  <a:lnTo>
                    <a:pt x="1749795" y="891919"/>
                  </a:lnTo>
                  <a:lnTo>
                    <a:pt x="1701139" y="907714"/>
                  </a:lnTo>
                  <a:lnTo>
                    <a:pt x="1650333" y="922253"/>
                  </a:lnTo>
                  <a:lnTo>
                    <a:pt x="1597496" y="935484"/>
                  </a:lnTo>
                  <a:lnTo>
                    <a:pt x="1542750" y="947355"/>
                  </a:lnTo>
                  <a:lnTo>
                    <a:pt x="1486214" y="957814"/>
                  </a:lnTo>
                  <a:lnTo>
                    <a:pt x="1428008" y="966808"/>
                  </a:lnTo>
                  <a:lnTo>
                    <a:pt x="1368251" y="974284"/>
                  </a:lnTo>
                  <a:lnTo>
                    <a:pt x="1307065" y="980190"/>
                  </a:lnTo>
                  <a:lnTo>
                    <a:pt x="1244568" y="984473"/>
                  </a:lnTo>
                  <a:lnTo>
                    <a:pt x="1180881" y="987082"/>
                  </a:lnTo>
                  <a:lnTo>
                    <a:pt x="1116124" y="987963"/>
                  </a:lnTo>
                  <a:lnTo>
                    <a:pt x="1739595" y="987963"/>
                  </a:lnTo>
                  <a:lnTo>
                    <a:pt x="1794245" y="969047"/>
                  </a:lnTo>
                  <a:lnTo>
                    <a:pt x="1840239" y="951047"/>
                  </a:lnTo>
                  <a:lnTo>
                    <a:pt x="1884175" y="931916"/>
                  </a:lnTo>
                  <a:lnTo>
                    <a:pt x="1925960" y="911697"/>
                  </a:lnTo>
                  <a:lnTo>
                    <a:pt x="1965498" y="890438"/>
                  </a:lnTo>
                  <a:lnTo>
                    <a:pt x="2002697" y="868182"/>
                  </a:lnTo>
                  <a:lnTo>
                    <a:pt x="2037461" y="844977"/>
                  </a:lnTo>
                  <a:lnTo>
                    <a:pt x="2069697" y="820868"/>
                  </a:lnTo>
                  <a:lnTo>
                    <a:pt x="2099309" y="795899"/>
                  </a:lnTo>
                  <a:lnTo>
                    <a:pt x="2150289" y="743568"/>
                  </a:lnTo>
                  <a:lnTo>
                    <a:pt x="2189646" y="688349"/>
                  </a:lnTo>
                  <a:lnTo>
                    <a:pt x="2216628" y="630607"/>
                  </a:lnTo>
                  <a:lnTo>
                    <a:pt x="2230480" y="570706"/>
                  </a:lnTo>
                  <a:lnTo>
                    <a:pt x="2232247" y="540059"/>
                  </a:lnTo>
                  <a:lnTo>
                    <a:pt x="2230480" y="509413"/>
                  </a:lnTo>
                  <a:lnTo>
                    <a:pt x="2216628" y="449512"/>
                  </a:lnTo>
                  <a:lnTo>
                    <a:pt x="2189646" y="391769"/>
                  </a:lnTo>
                  <a:lnTo>
                    <a:pt x="2150289" y="336550"/>
                  </a:lnTo>
                  <a:lnTo>
                    <a:pt x="2099241" y="284162"/>
                  </a:lnTo>
                  <a:lnTo>
                    <a:pt x="2069697" y="259251"/>
                  </a:lnTo>
                  <a:lnTo>
                    <a:pt x="2037461" y="235141"/>
                  </a:lnTo>
                  <a:lnTo>
                    <a:pt x="2002697" y="211936"/>
                  </a:lnTo>
                  <a:lnTo>
                    <a:pt x="1965498" y="189681"/>
                  </a:lnTo>
                  <a:lnTo>
                    <a:pt x="1925960" y="168421"/>
                  </a:lnTo>
                  <a:lnTo>
                    <a:pt x="1884175" y="148203"/>
                  </a:lnTo>
                  <a:lnTo>
                    <a:pt x="1840239" y="129071"/>
                  </a:lnTo>
                  <a:lnTo>
                    <a:pt x="1794245" y="111072"/>
                  </a:lnTo>
                  <a:lnTo>
                    <a:pt x="1746287" y="94251"/>
                  </a:lnTo>
                  <a:lnTo>
                    <a:pt x="1739595" y="92156"/>
                  </a:lnTo>
                  <a:close/>
                </a:path>
              </a:pathLst>
            </a:custGeom>
            <a:solidFill>
              <a:srgbClr val="941100"/>
            </a:solidFill>
          </p:spPr>
          <p:txBody>
            <a:bodyPr wrap="square" lIns="0" tIns="0" rIns="0" bIns="0" rtlCol="0"/>
            <a:lstStyle/>
            <a:p>
              <a:endParaRPr/>
            </a:p>
          </p:txBody>
        </p:sp>
        <p:sp>
          <p:nvSpPr>
            <p:cNvPr id="11" name="object 8"/>
            <p:cNvSpPr/>
            <p:nvPr/>
          </p:nvSpPr>
          <p:spPr>
            <a:xfrm>
              <a:off x="7248125" y="4437112"/>
              <a:ext cx="2232660" cy="1080135"/>
            </a:xfrm>
            <a:custGeom>
              <a:avLst/>
              <a:gdLst/>
              <a:ahLst/>
              <a:cxnLst/>
              <a:rect l="l" t="t" r="r" b="b"/>
              <a:pathLst>
                <a:path w="2232659" h="1080135">
                  <a:moveTo>
                    <a:pt x="0" y="540059"/>
                  </a:moveTo>
                  <a:lnTo>
                    <a:pt x="7004" y="479215"/>
                  </a:lnTo>
                  <a:lnTo>
                    <a:pt x="27515" y="420348"/>
                  </a:lnTo>
                  <a:lnTo>
                    <a:pt x="60779" y="363822"/>
                  </a:lnTo>
                  <a:lnTo>
                    <a:pt x="106042" y="310001"/>
                  </a:lnTo>
                  <a:lnTo>
                    <a:pt x="162550" y="259251"/>
                  </a:lnTo>
                  <a:lnTo>
                    <a:pt x="194786" y="235142"/>
                  </a:lnTo>
                  <a:lnTo>
                    <a:pt x="229550" y="211936"/>
                  </a:lnTo>
                  <a:lnTo>
                    <a:pt x="266748" y="189681"/>
                  </a:lnTo>
                  <a:lnTo>
                    <a:pt x="306287" y="168422"/>
                  </a:lnTo>
                  <a:lnTo>
                    <a:pt x="348072" y="148203"/>
                  </a:lnTo>
                  <a:lnTo>
                    <a:pt x="392008" y="129071"/>
                  </a:lnTo>
                  <a:lnTo>
                    <a:pt x="438003" y="111072"/>
                  </a:lnTo>
                  <a:lnTo>
                    <a:pt x="485960" y="94251"/>
                  </a:lnTo>
                  <a:lnTo>
                    <a:pt x="535787" y="78653"/>
                  </a:lnTo>
                  <a:lnTo>
                    <a:pt x="587388" y="64324"/>
                  </a:lnTo>
                  <a:lnTo>
                    <a:pt x="640670" y="51310"/>
                  </a:lnTo>
                  <a:lnTo>
                    <a:pt x="695538" y="39657"/>
                  </a:lnTo>
                  <a:lnTo>
                    <a:pt x="751899" y="29409"/>
                  </a:lnTo>
                  <a:lnTo>
                    <a:pt x="809658" y="20613"/>
                  </a:lnTo>
                  <a:lnTo>
                    <a:pt x="868720" y="13314"/>
                  </a:lnTo>
                  <a:lnTo>
                    <a:pt x="928992" y="7557"/>
                  </a:lnTo>
                  <a:lnTo>
                    <a:pt x="990380" y="3389"/>
                  </a:lnTo>
                  <a:lnTo>
                    <a:pt x="1052788" y="854"/>
                  </a:lnTo>
                  <a:lnTo>
                    <a:pt x="1116124" y="0"/>
                  </a:lnTo>
                  <a:lnTo>
                    <a:pt x="1179459" y="854"/>
                  </a:lnTo>
                  <a:lnTo>
                    <a:pt x="1241867" y="3389"/>
                  </a:lnTo>
                  <a:lnTo>
                    <a:pt x="1303255" y="7557"/>
                  </a:lnTo>
                  <a:lnTo>
                    <a:pt x="1363527" y="13314"/>
                  </a:lnTo>
                  <a:lnTo>
                    <a:pt x="1422589" y="20613"/>
                  </a:lnTo>
                  <a:lnTo>
                    <a:pt x="1480348" y="29409"/>
                  </a:lnTo>
                  <a:lnTo>
                    <a:pt x="1536708" y="39657"/>
                  </a:lnTo>
                  <a:lnTo>
                    <a:pt x="1591577" y="51310"/>
                  </a:lnTo>
                  <a:lnTo>
                    <a:pt x="1644859" y="64324"/>
                  </a:lnTo>
                  <a:lnTo>
                    <a:pt x="1696460" y="78653"/>
                  </a:lnTo>
                  <a:lnTo>
                    <a:pt x="1746287" y="94251"/>
                  </a:lnTo>
                  <a:lnTo>
                    <a:pt x="1794244" y="111072"/>
                  </a:lnTo>
                  <a:lnTo>
                    <a:pt x="1840238" y="129071"/>
                  </a:lnTo>
                  <a:lnTo>
                    <a:pt x="1884175" y="148203"/>
                  </a:lnTo>
                  <a:lnTo>
                    <a:pt x="1925960" y="168422"/>
                  </a:lnTo>
                  <a:lnTo>
                    <a:pt x="1965498" y="189681"/>
                  </a:lnTo>
                  <a:lnTo>
                    <a:pt x="2002697" y="211936"/>
                  </a:lnTo>
                  <a:lnTo>
                    <a:pt x="2037461" y="235142"/>
                  </a:lnTo>
                  <a:lnTo>
                    <a:pt x="2069697" y="259251"/>
                  </a:lnTo>
                  <a:lnTo>
                    <a:pt x="2099309" y="284220"/>
                  </a:lnTo>
                  <a:lnTo>
                    <a:pt x="2150289" y="336550"/>
                  </a:lnTo>
                  <a:lnTo>
                    <a:pt x="2189647" y="391769"/>
                  </a:lnTo>
                  <a:lnTo>
                    <a:pt x="2216628" y="449512"/>
                  </a:lnTo>
                  <a:lnTo>
                    <a:pt x="2230480" y="509413"/>
                  </a:lnTo>
                  <a:lnTo>
                    <a:pt x="2232247" y="540059"/>
                  </a:lnTo>
                  <a:lnTo>
                    <a:pt x="2230480" y="570705"/>
                  </a:lnTo>
                  <a:lnTo>
                    <a:pt x="2216628" y="630607"/>
                  </a:lnTo>
                  <a:lnTo>
                    <a:pt x="2189647" y="688349"/>
                  </a:lnTo>
                  <a:lnTo>
                    <a:pt x="2150289" y="743568"/>
                  </a:lnTo>
                  <a:lnTo>
                    <a:pt x="2099309" y="795899"/>
                  </a:lnTo>
                  <a:lnTo>
                    <a:pt x="2069697" y="820868"/>
                  </a:lnTo>
                  <a:lnTo>
                    <a:pt x="2037461" y="844977"/>
                  </a:lnTo>
                  <a:lnTo>
                    <a:pt x="2002697" y="868182"/>
                  </a:lnTo>
                  <a:lnTo>
                    <a:pt x="1965498" y="890438"/>
                  </a:lnTo>
                  <a:lnTo>
                    <a:pt x="1925960" y="911697"/>
                  </a:lnTo>
                  <a:lnTo>
                    <a:pt x="1884175" y="931916"/>
                  </a:lnTo>
                  <a:lnTo>
                    <a:pt x="1840238" y="951047"/>
                  </a:lnTo>
                  <a:lnTo>
                    <a:pt x="1794244" y="969047"/>
                  </a:lnTo>
                  <a:lnTo>
                    <a:pt x="1746287" y="985868"/>
                  </a:lnTo>
                  <a:lnTo>
                    <a:pt x="1696460" y="1001466"/>
                  </a:lnTo>
                  <a:lnTo>
                    <a:pt x="1644859" y="1015794"/>
                  </a:lnTo>
                  <a:lnTo>
                    <a:pt x="1591577" y="1028808"/>
                  </a:lnTo>
                  <a:lnTo>
                    <a:pt x="1536708" y="1040462"/>
                  </a:lnTo>
                  <a:lnTo>
                    <a:pt x="1480348" y="1050710"/>
                  </a:lnTo>
                  <a:lnTo>
                    <a:pt x="1422589" y="1059506"/>
                  </a:lnTo>
                  <a:lnTo>
                    <a:pt x="1363527" y="1066805"/>
                  </a:lnTo>
                  <a:lnTo>
                    <a:pt x="1303255" y="1072562"/>
                  </a:lnTo>
                  <a:lnTo>
                    <a:pt x="1241867" y="1076730"/>
                  </a:lnTo>
                  <a:lnTo>
                    <a:pt x="1179459" y="1079264"/>
                  </a:lnTo>
                  <a:lnTo>
                    <a:pt x="1116124" y="1080119"/>
                  </a:lnTo>
                  <a:lnTo>
                    <a:pt x="1052788" y="1079264"/>
                  </a:lnTo>
                  <a:lnTo>
                    <a:pt x="990380" y="1076730"/>
                  </a:lnTo>
                  <a:lnTo>
                    <a:pt x="928992" y="1072562"/>
                  </a:lnTo>
                  <a:lnTo>
                    <a:pt x="868720" y="1066805"/>
                  </a:lnTo>
                  <a:lnTo>
                    <a:pt x="809658" y="1059506"/>
                  </a:lnTo>
                  <a:lnTo>
                    <a:pt x="751899" y="1050710"/>
                  </a:lnTo>
                  <a:lnTo>
                    <a:pt x="695538" y="1040462"/>
                  </a:lnTo>
                  <a:lnTo>
                    <a:pt x="640670" y="1028808"/>
                  </a:lnTo>
                  <a:lnTo>
                    <a:pt x="587388" y="1015794"/>
                  </a:lnTo>
                  <a:lnTo>
                    <a:pt x="535787" y="1001466"/>
                  </a:lnTo>
                  <a:lnTo>
                    <a:pt x="485960" y="985868"/>
                  </a:lnTo>
                  <a:lnTo>
                    <a:pt x="438003" y="969047"/>
                  </a:lnTo>
                  <a:lnTo>
                    <a:pt x="392008" y="951047"/>
                  </a:lnTo>
                  <a:lnTo>
                    <a:pt x="348072" y="931916"/>
                  </a:lnTo>
                  <a:lnTo>
                    <a:pt x="306287" y="911697"/>
                  </a:lnTo>
                  <a:lnTo>
                    <a:pt x="266748" y="890438"/>
                  </a:lnTo>
                  <a:lnTo>
                    <a:pt x="229550" y="868182"/>
                  </a:lnTo>
                  <a:lnTo>
                    <a:pt x="194786" y="844977"/>
                  </a:lnTo>
                  <a:lnTo>
                    <a:pt x="162550" y="820868"/>
                  </a:lnTo>
                  <a:lnTo>
                    <a:pt x="132938" y="795899"/>
                  </a:lnTo>
                  <a:lnTo>
                    <a:pt x="81958" y="743568"/>
                  </a:lnTo>
                  <a:lnTo>
                    <a:pt x="42600" y="688349"/>
                  </a:lnTo>
                  <a:lnTo>
                    <a:pt x="15618" y="630607"/>
                  </a:lnTo>
                  <a:lnTo>
                    <a:pt x="1766" y="570705"/>
                  </a:lnTo>
                  <a:lnTo>
                    <a:pt x="0" y="540059"/>
                  </a:lnTo>
                  <a:close/>
                </a:path>
              </a:pathLst>
            </a:custGeom>
            <a:ln w="6349">
              <a:solidFill>
                <a:srgbClr val="6CACDD"/>
              </a:solidFill>
            </a:ln>
          </p:spPr>
          <p:txBody>
            <a:bodyPr wrap="square" lIns="0" tIns="0" rIns="0" bIns="0" rtlCol="0"/>
            <a:lstStyle/>
            <a:p>
              <a:endParaRPr/>
            </a:p>
          </p:txBody>
        </p:sp>
        <p:sp>
          <p:nvSpPr>
            <p:cNvPr id="12" name="object 9"/>
            <p:cNvSpPr/>
            <p:nvPr/>
          </p:nvSpPr>
          <p:spPr>
            <a:xfrm>
              <a:off x="7340281" y="4529268"/>
              <a:ext cx="2048510" cy="895985"/>
            </a:xfrm>
            <a:custGeom>
              <a:avLst/>
              <a:gdLst/>
              <a:ahLst/>
              <a:cxnLst/>
              <a:rect l="l" t="t" r="r" b="b"/>
              <a:pathLst>
                <a:path w="2048509" h="895985">
                  <a:moveTo>
                    <a:pt x="0" y="447903"/>
                  </a:moveTo>
                  <a:lnTo>
                    <a:pt x="7978" y="504087"/>
                  </a:lnTo>
                  <a:lnTo>
                    <a:pt x="31272" y="558189"/>
                  </a:lnTo>
                  <a:lnTo>
                    <a:pt x="68924" y="609788"/>
                  </a:lnTo>
                  <a:lnTo>
                    <a:pt x="119973" y="658465"/>
                  </a:lnTo>
                  <a:lnTo>
                    <a:pt x="183461" y="703800"/>
                  </a:lnTo>
                  <a:lnTo>
                    <a:pt x="219568" y="725084"/>
                  </a:lnTo>
                  <a:lnTo>
                    <a:pt x="258426" y="745374"/>
                  </a:lnTo>
                  <a:lnTo>
                    <a:pt x="299913" y="764619"/>
                  </a:lnTo>
                  <a:lnTo>
                    <a:pt x="343910" y="782766"/>
                  </a:lnTo>
                  <a:lnTo>
                    <a:pt x="390296" y="799763"/>
                  </a:lnTo>
                  <a:lnTo>
                    <a:pt x="438953" y="815558"/>
                  </a:lnTo>
                  <a:lnTo>
                    <a:pt x="489759" y="830097"/>
                  </a:lnTo>
                  <a:lnTo>
                    <a:pt x="542595" y="843328"/>
                  </a:lnTo>
                  <a:lnTo>
                    <a:pt x="597341" y="855199"/>
                  </a:lnTo>
                  <a:lnTo>
                    <a:pt x="653878" y="865658"/>
                  </a:lnTo>
                  <a:lnTo>
                    <a:pt x="712084" y="874652"/>
                  </a:lnTo>
                  <a:lnTo>
                    <a:pt x="771840" y="882128"/>
                  </a:lnTo>
                  <a:lnTo>
                    <a:pt x="833027" y="888034"/>
                  </a:lnTo>
                  <a:lnTo>
                    <a:pt x="895524" y="892317"/>
                  </a:lnTo>
                  <a:lnTo>
                    <a:pt x="959211" y="894926"/>
                  </a:lnTo>
                  <a:lnTo>
                    <a:pt x="1023968" y="895807"/>
                  </a:lnTo>
                  <a:lnTo>
                    <a:pt x="1088725" y="894926"/>
                  </a:lnTo>
                  <a:lnTo>
                    <a:pt x="1152412" y="892317"/>
                  </a:lnTo>
                  <a:lnTo>
                    <a:pt x="1214909" y="888034"/>
                  </a:lnTo>
                  <a:lnTo>
                    <a:pt x="1276095" y="882128"/>
                  </a:lnTo>
                  <a:lnTo>
                    <a:pt x="1335851" y="874652"/>
                  </a:lnTo>
                  <a:lnTo>
                    <a:pt x="1394058" y="865658"/>
                  </a:lnTo>
                  <a:lnTo>
                    <a:pt x="1450594" y="855199"/>
                  </a:lnTo>
                  <a:lnTo>
                    <a:pt x="1505340" y="843328"/>
                  </a:lnTo>
                  <a:lnTo>
                    <a:pt x="1558176" y="830097"/>
                  </a:lnTo>
                  <a:lnTo>
                    <a:pt x="1608982" y="815558"/>
                  </a:lnTo>
                  <a:lnTo>
                    <a:pt x="1657639" y="799763"/>
                  </a:lnTo>
                  <a:lnTo>
                    <a:pt x="1704025" y="782766"/>
                  </a:lnTo>
                  <a:lnTo>
                    <a:pt x="1748022" y="764619"/>
                  </a:lnTo>
                  <a:lnTo>
                    <a:pt x="1789509" y="745374"/>
                  </a:lnTo>
                  <a:lnTo>
                    <a:pt x="1828367" y="725084"/>
                  </a:lnTo>
                  <a:lnTo>
                    <a:pt x="1864475" y="703800"/>
                  </a:lnTo>
                  <a:lnTo>
                    <a:pt x="1897713" y="681577"/>
                  </a:lnTo>
                  <a:lnTo>
                    <a:pt x="1955101" y="634518"/>
                  </a:lnTo>
                  <a:lnTo>
                    <a:pt x="1999571" y="584328"/>
                  </a:lnTo>
                  <a:lnTo>
                    <a:pt x="2030165" y="531425"/>
                  </a:lnTo>
                  <a:lnTo>
                    <a:pt x="2045921" y="476229"/>
                  </a:lnTo>
                  <a:lnTo>
                    <a:pt x="2047936" y="447903"/>
                  </a:lnTo>
                  <a:lnTo>
                    <a:pt x="2045921" y="419577"/>
                  </a:lnTo>
                  <a:lnTo>
                    <a:pt x="2030165" y="364382"/>
                  </a:lnTo>
                  <a:lnTo>
                    <a:pt x="1999571" y="311479"/>
                  </a:lnTo>
                  <a:lnTo>
                    <a:pt x="1955101" y="261288"/>
                  </a:lnTo>
                  <a:lnTo>
                    <a:pt x="1897713" y="214230"/>
                  </a:lnTo>
                  <a:lnTo>
                    <a:pt x="1864475" y="192006"/>
                  </a:lnTo>
                  <a:lnTo>
                    <a:pt x="1828367" y="170723"/>
                  </a:lnTo>
                  <a:lnTo>
                    <a:pt x="1789509" y="150433"/>
                  </a:lnTo>
                  <a:lnTo>
                    <a:pt x="1748022" y="131187"/>
                  </a:lnTo>
                  <a:lnTo>
                    <a:pt x="1704025" y="113040"/>
                  </a:lnTo>
                  <a:lnTo>
                    <a:pt x="1657639" y="96043"/>
                  </a:lnTo>
                  <a:lnTo>
                    <a:pt x="1608982" y="80249"/>
                  </a:lnTo>
                  <a:lnTo>
                    <a:pt x="1558176" y="65710"/>
                  </a:lnTo>
                  <a:lnTo>
                    <a:pt x="1505340" y="52478"/>
                  </a:lnTo>
                  <a:lnTo>
                    <a:pt x="1450594" y="40607"/>
                  </a:lnTo>
                  <a:lnTo>
                    <a:pt x="1394058" y="30149"/>
                  </a:lnTo>
                  <a:lnTo>
                    <a:pt x="1335851" y="21155"/>
                  </a:lnTo>
                  <a:lnTo>
                    <a:pt x="1276095" y="13679"/>
                  </a:lnTo>
                  <a:lnTo>
                    <a:pt x="1214909" y="7773"/>
                  </a:lnTo>
                  <a:lnTo>
                    <a:pt x="1152412" y="3489"/>
                  </a:lnTo>
                  <a:lnTo>
                    <a:pt x="1088725" y="881"/>
                  </a:lnTo>
                  <a:lnTo>
                    <a:pt x="1023968" y="0"/>
                  </a:lnTo>
                  <a:lnTo>
                    <a:pt x="959211" y="881"/>
                  </a:lnTo>
                  <a:lnTo>
                    <a:pt x="895524" y="3489"/>
                  </a:lnTo>
                  <a:lnTo>
                    <a:pt x="833027" y="7773"/>
                  </a:lnTo>
                  <a:lnTo>
                    <a:pt x="771840" y="13679"/>
                  </a:lnTo>
                  <a:lnTo>
                    <a:pt x="712084" y="21155"/>
                  </a:lnTo>
                  <a:lnTo>
                    <a:pt x="653878" y="30149"/>
                  </a:lnTo>
                  <a:lnTo>
                    <a:pt x="597341" y="40607"/>
                  </a:lnTo>
                  <a:lnTo>
                    <a:pt x="542595" y="52478"/>
                  </a:lnTo>
                  <a:lnTo>
                    <a:pt x="489759" y="65710"/>
                  </a:lnTo>
                  <a:lnTo>
                    <a:pt x="438953" y="80249"/>
                  </a:lnTo>
                  <a:lnTo>
                    <a:pt x="390296" y="96043"/>
                  </a:lnTo>
                  <a:lnTo>
                    <a:pt x="343910" y="113040"/>
                  </a:lnTo>
                  <a:lnTo>
                    <a:pt x="299913" y="131187"/>
                  </a:lnTo>
                  <a:lnTo>
                    <a:pt x="258426" y="150433"/>
                  </a:lnTo>
                  <a:lnTo>
                    <a:pt x="219568" y="170723"/>
                  </a:lnTo>
                  <a:lnTo>
                    <a:pt x="183461" y="192006"/>
                  </a:lnTo>
                  <a:lnTo>
                    <a:pt x="150222" y="214230"/>
                  </a:lnTo>
                  <a:lnTo>
                    <a:pt x="92834" y="261288"/>
                  </a:lnTo>
                  <a:lnTo>
                    <a:pt x="48364" y="311479"/>
                  </a:lnTo>
                  <a:lnTo>
                    <a:pt x="17770" y="364382"/>
                  </a:lnTo>
                  <a:lnTo>
                    <a:pt x="2014" y="419577"/>
                  </a:lnTo>
                  <a:lnTo>
                    <a:pt x="0" y="447903"/>
                  </a:lnTo>
                  <a:close/>
                </a:path>
              </a:pathLst>
            </a:custGeom>
            <a:ln w="6349">
              <a:solidFill>
                <a:srgbClr val="6CACDD"/>
              </a:solidFill>
            </a:ln>
          </p:spPr>
          <p:txBody>
            <a:bodyPr wrap="square" lIns="0" tIns="0" rIns="0" bIns="0" rtlCol="0"/>
            <a:lstStyle/>
            <a:p>
              <a:endParaRPr/>
            </a:p>
          </p:txBody>
        </p:sp>
      </p:grpSp>
      <p:sp>
        <p:nvSpPr>
          <p:cNvPr id="2" name="标题 1"/>
          <p:cNvSpPr>
            <a:spLocks noGrp="1"/>
          </p:cNvSpPr>
          <p:nvPr>
            <p:ph type="title"/>
          </p:nvPr>
        </p:nvSpPr>
        <p:spPr/>
        <p:txBody>
          <a:bodyPr/>
          <a:lstStyle/>
          <a:p>
            <a:r>
              <a:rPr lang="zh-CN" altLang="en-US" dirty="0"/>
              <a:t>类关系</a:t>
            </a:r>
          </a:p>
        </p:txBody>
      </p:sp>
      <p:sp>
        <p:nvSpPr>
          <p:cNvPr id="3" name="内容占位符 2"/>
          <p:cNvSpPr>
            <a:spLocks noGrp="1"/>
          </p:cNvSpPr>
          <p:nvPr>
            <p:ph idx="1"/>
          </p:nvPr>
        </p:nvSpPr>
        <p:spPr/>
        <p:txBody>
          <a:bodyPr/>
          <a:lstStyle/>
          <a:p>
            <a:pPr marL="241300">
              <a:lnSpc>
                <a:spcPct val="100000"/>
              </a:lnSpc>
              <a:spcBef>
                <a:spcPts val="970"/>
              </a:spcBef>
              <a:buFont typeface="Arial" panose="020B0604020202020204"/>
              <a:buChar char="•"/>
              <a:tabLst>
                <a:tab pos="240665" algn="l"/>
                <a:tab pos="241300" algn="l"/>
              </a:tabLst>
            </a:pPr>
            <a:r>
              <a:rPr lang="zh-CN" altLang="en-US" sz="2000" dirty="0">
                <a:latin typeface="黑体" panose="02010609060101010101" charset="-122"/>
                <a:cs typeface="黑体" panose="02010609060101010101" charset="-122"/>
              </a:rPr>
              <a:t>对象并非遗世独立，对象间存在千丝万缕的联系</a:t>
            </a:r>
          </a:p>
          <a:p>
            <a:pPr marL="698500" lvl="1">
              <a:lnSpc>
                <a:spcPct val="100000"/>
              </a:lnSpc>
              <a:spcBef>
                <a:spcPts val="200"/>
              </a:spcBef>
              <a:buFont typeface="Arial" panose="020B0604020202020204"/>
              <a:buChar char="•"/>
              <a:tabLst>
                <a:tab pos="697865" algn="l"/>
                <a:tab pos="698500" algn="l"/>
              </a:tabLst>
            </a:pPr>
            <a:r>
              <a:rPr lang="en-US" altLang="zh-CN" sz="2000" dirty="0">
                <a:latin typeface="黑体" panose="02010609060101010101" charset="-122"/>
                <a:cs typeface="黑体" panose="02010609060101010101" charset="-122"/>
              </a:rPr>
              <a:t>UML</a:t>
            </a:r>
            <a:r>
              <a:rPr lang="zh-CN" altLang="en-US" sz="2000" dirty="0">
                <a:latin typeface="黑体" panose="02010609060101010101" charset="-122"/>
                <a:cs typeface="黑体" panose="02010609060101010101" charset="-122"/>
              </a:rPr>
              <a:t>中，关注以下几种类型的关系</a:t>
            </a:r>
            <a:r>
              <a:rPr lang="en-US" altLang="zh-CN" sz="2000" dirty="0">
                <a:latin typeface="黑体" panose="02010609060101010101" charset="-122"/>
                <a:cs typeface="黑体" panose="02010609060101010101" charset="-122"/>
              </a:rPr>
              <a:t>:</a:t>
            </a:r>
          </a:p>
          <a:p>
            <a:pPr marL="1155700" lvl="2">
              <a:lnSpc>
                <a:spcPct val="100000"/>
              </a:lnSpc>
              <a:spcBef>
                <a:spcPts val="300"/>
              </a:spcBef>
              <a:buFont typeface="Arial" panose="020B0604020202020204"/>
              <a:buChar char="•"/>
              <a:tabLst>
                <a:tab pos="1155065" algn="l"/>
                <a:tab pos="1155700" algn="l"/>
              </a:tabLst>
            </a:pPr>
            <a:r>
              <a:rPr lang="zh-CN" altLang="en-US" dirty="0">
                <a:solidFill>
                  <a:srgbClr val="800000"/>
                </a:solidFill>
                <a:latin typeface="黑体" panose="02010609060101010101" charset="-122"/>
                <a:cs typeface="黑体" panose="02010609060101010101" charset="-122"/>
              </a:rPr>
              <a:t>关联关系</a:t>
            </a:r>
            <a:r>
              <a:rPr lang="zh-CN" altLang="en-US" spc="-5" dirty="0">
                <a:latin typeface="黑体" panose="02010609060101010101" charset="-122"/>
                <a:cs typeface="黑体" panose="02010609060101010101" charset="-122"/>
              </a:rPr>
              <a:t>（</a:t>
            </a:r>
            <a:r>
              <a:rPr lang="en-US" altLang="zh-CN" spc="-5" dirty="0">
                <a:latin typeface="Calibri" panose="020F0502020204030204"/>
                <a:cs typeface="Calibri" panose="020F0502020204030204"/>
              </a:rPr>
              <a:t>Association</a:t>
            </a:r>
            <a:r>
              <a:rPr lang="zh-CN" altLang="en-US" spc="-5" dirty="0">
                <a:latin typeface="黑体" panose="02010609060101010101" charset="-122"/>
                <a:cs typeface="黑体" panose="02010609060101010101" charset="-122"/>
              </a:rPr>
              <a:t>）</a:t>
            </a:r>
            <a:endParaRPr lang="en-US" altLang="zh-CN" dirty="0">
              <a:latin typeface="黑体" panose="02010609060101010101" charset="-122"/>
              <a:cs typeface="黑体" panose="02010609060101010101" charset="-122"/>
            </a:endParaRPr>
          </a:p>
          <a:p>
            <a:pPr marL="1612900" lvl="3">
              <a:lnSpc>
                <a:spcPct val="100000"/>
              </a:lnSpc>
              <a:spcBef>
                <a:spcPts val="200"/>
              </a:spcBef>
              <a:buFont typeface="Arial" panose="020B0604020202020204"/>
              <a:buChar char="•"/>
              <a:tabLst>
                <a:tab pos="1612265" algn="l"/>
                <a:tab pos="1612900" algn="l"/>
              </a:tabLst>
            </a:pPr>
            <a:r>
              <a:rPr lang="zh-CN" altLang="en-US" sz="2000" dirty="0">
                <a:solidFill>
                  <a:srgbClr val="800000"/>
                </a:solidFill>
                <a:latin typeface="黑体" panose="02010609060101010101" charset="-122"/>
                <a:cs typeface="黑体" panose="02010609060101010101" charset="-122"/>
              </a:rPr>
              <a:t>聚合与组合关系</a:t>
            </a:r>
            <a:r>
              <a:rPr lang="zh-CN" altLang="en-US" sz="2000" spc="-5" dirty="0">
                <a:latin typeface="黑体" panose="02010609060101010101" charset="-122"/>
                <a:cs typeface="黑体" panose="02010609060101010101" charset="-122"/>
              </a:rPr>
              <a:t>（</a:t>
            </a:r>
            <a:r>
              <a:rPr lang="en-US" altLang="zh-CN" sz="2000" spc="-5" dirty="0">
                <a:latin typeface="Calibri" panose="020F0502020204030204"/>
                <a:cs typeface="Calibri" panose="020F0502020204030204"/>
              </a:rPr>
              <a:t>Aggregation</a:t>
            </a:r>
            <a:r>
              <a:rPr lang="en-US" altLang="zh-CN" sz="2000" spc="-25" dirty="0">
                <a:latin typeface="Calibri" panose="020F0502020204030204"/>
                <a:cs typeface="Calibri" panose="020F0502020204030204"/>
              </a:rPr>
              <a:t> </a:t>
            </a:r>
            <a:r>
              <a:rPr lang="en-US" altLang="zh-CN" sz="2000" dirty="0">
                <a:latin typeface="Calibri" panose="020F0502020204030204"/>
                <a:cs typeface="Calibri" panose="020F0502020204030204"/>
              </a:rPr>
              <a:t>and</a:t>
            </a:r>
            <a:r>
              <a:rPr lang="en-US" altLang="zh-CN" sz="2000" spc="-20" dirty="0">
                <a:latin typeface="Calibri" panose="020F0502020204030204"/>
                <a:cs typeface="Calibri" panose="020F0502020204030204"/>
              </a:rPr>
              <a:t> </a:t>
            </a:r>
            <a:r>
              <a:rPr lang="en-US" altLang="zh-CN" sz="2000" spc="-5" dirty="0">
                <a:latin typeface="Calibri" panose="020F0502020204030204"/>
                <a:cs typeface="Calibri" panose="020F0502020204030204"/>
              </a:rPr>
              <a:t>Composition</a:t>
            </a:r>
            <a:r>
              <a:rPr lang="zh-CN" altLang="en-US" sz="2000" spc="-5" dirty="0">
                <a:latin typeface="黑体" panose="02010609060101010101" charset="-122"/>
                <a:cs typeface="黑体" panose="02010609060101010101" charset="-122"/>
              </a:rPr>
              <a:t>）</a:t>
            </a:r>
            <a:endParaRPr lang="en-US" altLang="zh-CN" sz="2000" dirty="0">
              <a:latin typeface="黑体" panose="02010609060101010101" charset="-122"/>
              <a:cs typeface="黑体" panose="02010609060101010101" charset="-122"/>
            </a:endParaRPr>
          </a:p>
          <a:p>
            <a:pPr marL="1155700" lvl="2">
              <a:lnSpc>
                <a:spcPct val="100000"/>
              </a:lnSpc>
              <a:spcBef>
                <a:spcPts val="300"/>
              </a:spcBef>
              <a:buFont typeface="Arial" panose="020B0604020202020204"/>
              <a:buChar char="•"/>
              <a:tabLst>
                <a:tab pos="1155065" algn="l"/>
                <a:tab pos="1155700" algn="l"/>
              </a:tabLst>
            </a:pPr>
            <a:r>
              <a:rPr lang="zh-CN" altLang="en-US" dirty="0">
                <a:solidFill>
                  <a:srgbClr val="800000"/>
                </a:solidFill>
                <a:latin typeface="黑体" panose="02010609060101010101" charset="-122"/>
                <a:cs typeface="黑体" panose="02010609060101010101" charset="-122"/>
              </a:rPr>
              <a:t>泛化关系</a:t>
            </a:r>
            <a:r>
              <a:rPr lang="zh-CN" altLang="en-US" spc="-5" dirty="0">
                <a:latin typeface="黑体" panose="02010609060101010101" charset="-122"/>
                <a:cs typeface="黑体" panose="02010609060101010101" charset="-122"/>
              </a:rPr>
              <a:t>（</a:t>
            </a:r>
            <a:r>
              <a:rPr lang="en-US" altLang="zh-CN" spc="-5" dirty="0">
                <a:latin typeface="Calibri" panose="020F0502020204030204"/>
                <a:cs typeface="Calibri" panose="020F0502020204030204"/>
              </a:rPr>
              <a:t>Generalization</a:t>
            </a:r>
            <a:r>
              <a:rPr lang="zh-CN" altLang="en-US" spc="-5" dirty="0">
                <a:latin typeface="黑体" panose="02010609060101010101" charset="-122"/>
                <a:cs typeface="黑体" panose="02010609060101010101" charset="-122"/>
              </a:rPr>
              <a:t>）</a:t>
            </a:r>
            <a:endParaRPr lang="en-US" altLang="zh-CN" dirty="0">
              <a:latin typeface="黑体" panose="02010609060101010101" charset="-122"/>
              <a:cs typeface="黑体" panose="02010609060101010101" charset="-122"/>
            </a:endParaRPr>
          </a:p>
          <a:p>
            <a:pPr marL="1155700" lvl="2">
              <a:lnSpc>
                <a:spcPct val="100000"/>
              </a:lnSpc>
              <a:spcBef>
                <a:spcPts val="300"/>
              </a:spcBef>
              <a:buFont typeface="Arial" panose="020B0604020202020204"/>
              <a:buChar char="•"/>
              <a:tabLst>
                <a:tab pos="1155065" algn="l"/>
                <a:tab pos="1155700" algn="l"/>
              </a:tabLst>
            </a:pPr>
            <a:r>
              <a:rPr lang="zh-CN" altLang="en-US" dirty="0">
                <a:latin typeface="黑体" panose="02010609060101010101" charset="-122"/>
                <a:cs typeface="黑体" panose="02010609060101010101" charset="-122"/>
              </a:rPr>
              <a:t>依赖关系</a:t>
            </a:r>
            <a:r>
              <a:rPr lang="zh-CN" altLang="en-US" spc="-5" dirty="0">
                <a:latin typeface="黑体" panose="02010609060101010101" charset="-122"/>
                <a:cs typeface="黑体" panose="02010609060101010101" charset="-122"/>
              </a:rPr>
              <a:t>（</a:t>
            </a:r>
            <a:r>
              <a:rPr lang="en-US" altLang="zh-CN" spc="-5" dirty="0">
                <a:latin typeface="Calibri" panose="020F0502020204030204"/>
                <a:cs typeface="Calibri" panose="020F0502020204030204"/>
              </a:rPr>
              <a:t>Dependency</a:t>
            </a:r>
            <a:r>
              <a:rPr lang="zh-CN" altLang="en-US" spc="-5" dirty="0">
                <a:latin typeface="黑体" panose="02010609060101010101" charset="-122"/>
                <a:cs typeface="黑体" panose="02010609060101010101" charset="-122"/>
              </a:rPr>
              <a:t>）</a:t>
            </a:r>
            <a:endParaRPr lang="en-US" altLang="zh-CN" dirty="0">
              <a:latin typeface="黑体" panose="02010609060101010101" charset="-122"/>
              <a:cs typeface="黑体" panose="02010609060101010101" charset="-122"/>
            </a:endParaRPr>
          </a:p>
          <a:p>
            <a:pPr marL="1155700" lvl="2">
              <a:lnSpc>
                <a:spcPct val="100000"/>
              </a:lnSpc>
              <a:spcBef>
                <a:spcPts val="200"/>
              </a:spcBef>
              <a:buFont typeface="Arial" panose="020B0604020202020204"/>
              <a:buChar char="•"/>
              <a:tabLst>
                <a:tab pos="1155065" algn="l"/>
                <a:tab pos="1155700" algn="l"/>
              </a:tabLst>
            </a:pPr>
            <a:r>
              <a:rPr lang="zh-CN" altLang="en-US" dirty="0">
                <a:latin typeface="黑体" panose="02010609060101010101" charset="-122"/>
                <a:cs typeface="黑体" panose="02010609060101010101" charset="-122"/>
              </a:rPr>
              <a:t>实现关系</a:t>
            </a:r>
            <a:r>
              <a:rPr lang="zh-CN" altLang="en-US" spc="-5" dirty="0">
                <a:latin typeface="黑体" panose="02010609060101010101" charset="-122"/>
                <a:cs typeface="黑体" panose="02010609060101010101" charset="-122"/>
              </a:rPr>
              <a:t>（</a:t>
            </a:r>
            <a:r>
              <a:rPr lang="en-US" altLang="zh-CN" spc="-5" dirty="0">
                <a:latin typeface="Calibri" panose="020F0502020204030204"/>
                <a:cs typeface="Calibri" panose="020F0502020204030204"/>
              </a:rPr>
              <a:t>Realization</a:t>
            </a:r>
            <a:r>
              <a:rPr lang="zh-CN" altLang="en-US" spc="-5" dirty="0">
                <a:latin typeface="黑体" panose="02010609060101010101" charset="-122"/>
                <a:cs typeface="黑体" panose="02010609060101010101" charset="-122"/>
              </a:rPr>
              <a:t>）</a:t>
            </a:r>
            <a:endParaRPr lang="en-US" altLang="zh-CN" dirty="0">
              <a:latin typeface="黑体" panose="02010609060101010101" charset="-122"/>
              <a:cs typeface="黑体" panose="02010609060101010101" charset="-122"/>
            </a:endParaRPr>
          </a:p>
          <a:p>
            <a:pPr marL="241300">
              <a:lnSpc>
                <a:spcPct val="100000"/>
              </a:lnSpc>
              <a:spcBef>
                <a:spcPts val="800"/>
              </a:spcBef>
              <a:buFont typeface="Arial" panose="020B0604020202020204"/>
              <a:buChar char="•"/>
              <a:tabLst>
                <a:tab pos="240665" algn="l"/>
                <a:tab pos="241300" algn="l"/>
              </a:tabLst>
            </a:pPr>
            <a:r>
              <a:rPr lang="zh-CN" altLang="en-US" sz="2000" dirty="0">
                <a:latin typeface="黑体" panose="02010609060101010101" charset="-122"/>
                <a:cs typeface="黑体" panose="02010609060101010101" charset="-122"/>
              </a:rPr>
              <a:t>类图描述类和他们之间的关系</a:t>
            </a:r>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t>18</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04160"/>
    </mc:Choice>
    <mc:Fallback xmlns="">
      <p:transition spd="slow" advTm="10416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199" y="365125"/>
            <a:ext cx="11154103" cy="1325563"/>
          </a:xfrm>
        </p:spPr>
        <p:txBody>
          <a:bodyPr/>
          <a:lstStyle/>
          <a:p>
            <a:r>
              <a:rPr lang="zh-CN" altLang="en-US" dirty="0"/>
              <a:t>关联关系的“多样性</a:t>
            </a:r>
            <a:r>
              <a:rPr lang="en-US" altLang="zh-CN" dirty="0"/>
              <a:t>/</a:t>
            </a:r>
            <a:r>
              <a:rPr lang="zh-CN" altLang="en-US" dirty="0"/>
              <a:t>维度”（ </a:t>
            </a:r>
            <a:r>
              <a:rPr lang="en-US" altLang="zh-CN" dirty="0"/>
              <a:t>Multiplicity</a:t>
            </a:r>
            <a:r>
              <a:rPr lang="zh-CN" altLang="en-US" dirty="0"/>
              <a:t>）</a:t>
            </a:r>
          </a:p>
        </p:txBody>
      </p:sp>
      <p:sp>
        <p:nvSpPr>
          <p:cNvPr id="3" name="内容占位符 2"/>
          <p:cNvSpPr>
            <a:spLocks noGrp="1"/>
          </p:cNvSpPr>
          <p:nvPr>
            <p:ph idx="1"/>
          </p:nvPr>
        </p:nvSpPr>
        <p:spPr>
          <a:xfrm>
            <a:off x="838200" y="1545021"/>
            <a:ext cx="10515600" cy="4631942"/>
          </a:xfrm>
        </p:spPr>
        <p:txBody>
          <a:bodyPr/>
          <a:lstStyle/>
          <a:p>
            <a:pPr marL="241300">
              <a:lnSpc>
                <a:spcPct val="100000"/>
              </a:lnSpc>
              <a:spcBef>
                <a:spcPts val="300"/>
              </a:spcBef>
              <a:buFont typeface="Arial" panose="020B0604020202020204"/>
              <a:buChar char="•"/>
              <a:tabLst>
                <a:tab pos="240665" algn="l"/>
                <a:tab pos="241300" algn="l"/>
              </a:tabLst>
            </a:pPr>
            <a:r>
              <a:rPr lang="zh-CN" altLang="en-US" sz="2000" dirty="0">
                <a:latin typeface="黑体" panose="02010609060101010101" charset="-122"/>
                <a:cs typeface="黑体" panose="02010609060101010101" charset="-122"/>
              </a:rPr>
              <a:t>定义关联关系时尝试回答以下问题</a:t>
            </a:r>
            <a:r>
              <a:rPr lang="en-US" altLang="zh-CN" sz="2000" dirty="0">
                <a:latin typeface="黑体" panose="02010609060101010101" charset="-122"/>
                <a:cs typeface="黑体" panose="02010609060101010101" charset="-122"/>
              </a:rPr>
              <a:t>:</a:t>
            </a:r>
          </a:p>
          <a:p>
            <a:pPr marL="698500" marR="5080" lvl="1">
              <a:lnSpc>
                <a:spcPts val="2200"/>
              </a:lnSpc>
              <a:spcBef>
                <a:spcPts val="440"/>
              </a:spcBef>
              <a:buFont typeface="Arial" panose="020B0604020202020204"/>
              <a:buChar char="•"/>
              <a:tabLst>
                <a:tab pos="697865" algn="l"/>
                <a:tab pos="698500" algn="l"/>
              </a:tabLst>
            </a:pPr>
            <a:r>
              <a:rPr lang="zh-CN" altLang="en-US" sz="2000" b="1" spc="-10" dirty="0">
                <a:solidFill>
                  <a:srgbClr val="800000"/>
                </a:solidFill>
                <a:latin typeface="黑体" panose="02010609060101010101" charset="-122"/>
                <a:cs typeface="黑体" panose="02010609060101010101" charset="-122"/>
              </a:rPr>
              <a:t>市场活动</a:t>
            </a:r>
            <a:r>
              <a:rPr lang="zh-CN" altLang="en-US" sz="2000" b="1" spc="-5" dirty="0">
                <a:solidFill>
                  <a:srgbClr val="800000"/>
                </a:solidFill>
                <a:latin typeface="黑体" panose="02010609060101010101" charset="-122"/>
                <a:cs typeface="黑体" panose="02010609060101010101" charset="-122"/>
              </a:rPr>
              <a:t>（</a:t>
            </a:r>
            <a:r>
              <a:rPr lang="en-US" altLang="zh-CN" sz="2000" b="1" spc="-5" dirty="0">
                <a:solidFill>
                  <a:srgbClr val="941100"/>
                </a:solidFill>
                <a:latin typeface="Calibri" panose="020F0502020204030204"/>
                <a:cs typeface="Calibri" panose="020F0502020204030204"/>
              </a:rPr>
              <a:t>Campaign</a:t>
            </a:r>
            <a:r>
              <a:rPr lang="zh-CN" altLang="en-US" sz="2000" b="1" spc="-5" dirty="0">
                <a:solidFill>
                  <a:srgbClr val="800000"/>
                </a:solidFill>
                <a:latin typeface="黑体" panose="02010609060101010101" charset="-122"/>
                <a:cs typeface="黑体" panose="02010609060101010101" charset="-122"/>
              </a:rPr>
              <a:t>）</a:t>
            </a:r>
            <a:r>
              <a:rPr lang="zh-CN" altLang="en-US" sz="2000" b="1" spc="-10" dirty="0">
                <a:solidFill>
                  <a:srgbClr val="800000"/>
                </a:solidFill>
                <a:latin typeface="黑体" panose="02010609060101010101" charset="-122"/>
                <a:cs typeface="黑体" panose="02010609060101010101" charset="-122"/>
              </a:rPr>
              <a:t>类对象能否在没有员工</a:t>
            </a:r>
            <a:r>
              <a:rPr lang="zh-CN" altLang="en-US" sz="2000" b="1" spc="-5" dirty="0">
                <a:solidFill>
                  <a:srgbClr val="800000"/>
                </a:solidFill>
                <a:latin typeface="黑体" panose="02010609060101010101" charset="-122"/>
                <a:cs typeface="黑体" panose="02010609060101010101" charset="-122"/>
              </a:rPr>
              <a:t>（</a:t>
            </a:r>
            <a:r>
              <a:rPr lang="en-US" altLang="zh-CN" sz="2000" b="1" spc="-5" dirty="0" err="1">
                <a:solidFill>
                  <a:srgbClr val="941100"/>
                </a:solidFill>
                <a:latin typeface="Calibri" panose="020F0502020204030204"/>
                <a:cs typeface="Calibri" panose="020F0502020204030204"/>
              </a:rPr>
              <a:t>StaﬀMember</a:t>
            </a:r>
            <a:r>
              <a:rPr lang="zh-CN" altLang="en-US" sz="2000" b="1" spc="-5" dirty="0">
                <a:solidFill>
                  <a:srgbClr val="800000"/>
                </a:solidFill>
                <a:latin typeface="黑体" panose="02010609060101010101" charset="-122"/>
                <a:cs typeface="黑体" panose="02010609060101010101" charset="-122"/>
              </a:rPr>
              <a:t>）</a:t>
            </a:r>
            <a:r>
              <a:rPr lang="zh-CN" altLang="en-US" sz="2000" b="1" spc="-10" dirty="0">
                <a:solidFill>
                  <a:srgbClr val="800000"/>
                </a:solidFill>
                <a:latin typeface="黑体" panose="02010609060101010101" charset="-122"/>
                <a:cs typeface="黑体" panose="02010609060101010101" charset="-122"/>
              </a:rPr>
              <a:t>类对象管理的时候独立 存在？</a:t>
            </a:r>
            <a:endParaRPr lang="zh-CN" altLang="en-US" sz="2000" dirty="0">
              <a:latin typeface="黑体" panose="02010609060101010101" charset="-122"/>
              <a:cs typeface="黑体" panose="02010609060101010101" charset="-122"/>
            </a:endParaRPr>
          </a:p>
          <a:p>
            <a:pPr marL="1155700" lvl="2">
              <a:lnSpc>
                <a:spcPct val="100000"/>
              </a:lnSpc>
              <a:spcBef>
                <a:spcPts val="160"/>
              </a:spcBef>
              <a:buFont typeface="Arial" panose="020B0604020202020204"/>
              <a:buChar char="•"/>
              <a:tabLst>
                <a:tab pos="1155065" algn="l"/>
                <a:tab pos="1155700" algn="l"/>
              </a:tabLst>
            </a:pPr>
            <a:r>
              <a:rPr lang="zh-CN" altLang="en-US" dirty="0">
                <a:latin typeface="黑体" panose="02010609060101010101" charset="-122"/>
                <a:cs typeface="黑体" panose="02010609060101010101" charset="-122"/>
              </a:rPr>
              <a:t>如果可以，则员工</a:t>
            </a:r>
            <a:r>
              <a:rPr lang="zh-CN" altLang="en-US" spc="-5" dirty="0">
                <a:latin typeface="黑体" panose="02010609060101010101" charset="-122"/>
                <a:cs typeface="黑体" panose="02010609060101010101" charset="-122"/>
              </a:rPr>
              <a:t>（</a:t>
            </a:r>
            <a:r>
              <a:rPr lang="en-US" altLang="zh-CN" spc="-5" dirty="0" err="1">
                <a:latin typeface="Calibri" panose="020F0502020204030204"/>
                <a:cs typeface="Calibri" panose="020F0502020204030204"/>
              </a:rPr>
              <a:t>StaﬀMember</a:t>
            </a:r>
            <a:r>
              <a:rPr lang="zh-CN" altLang="en-US" spc="-5" dirty="0">
                <a:latin typeface="黑体" panose="02010609060101010101" charset="-122"/>
                <a:cs typeface="黑体" panose="02010609060101010101" charset="-122"/>
              </a:rPr>
              <a:t>）</a:t>
            </a:r>
            <a:r>
              <a:rPr lang="zh-CN" altLang="en-US" dirty="0">
                <a:latin typeface="黑体" panose="02010609060101010101" charset="-122"/>
                <a:cs typeface="黑体" panose="02010609060101010101" charset="-122"/>
              </a:rPr>
              <a:t>类的一端是可选的，多样性</a:t>
            </a:r>
            <a:r>
              <a:rPr lang="en-US" altLang="zh-CN" dirty="0">
                <a:latin typeface="黑体" panose="02010609060101010101" charset="-122"/>
                <a:cs typeface="黑体" panose="02010609060101010101" charset="-122"/>
              </a:rPr>
              <a:t>/</a:t>
            </a:r>
            <a:r>
              <a:rPr lang="zh-CN" altLang="en-US" dirty="0">
                <a:latin typeface="黑体" panose="02010609060101010101" charset="-122"/>
                <a:cs typeface="黑体" panose="02010609060101010101" charset="-122"/>
              </a:rPr>
              <a:t>维度定义为</a:t>
            </a:r>
            <a:r>
              <a:rPr lang="zh-CN" altLang="en-US" spc="-30" dirty="0">
                <a:latin typeface="黑体" panose="02010609060101010101" charset="-122"/>
                <a:cs typeface="黑体" panose="02010609060101010101" charset="-122"/>
              </a:rPr>
              <a:t> </a:t>
            </a:r>
            <a:r>
              <a:rPr lang="en-US" altLang="zh-CN" dirty="0">
                <a:latin typeface="黑体" panose="02010609060101010101" charset="-122"/>
                <a:cs typeface="黑体" panose="02010609060101010101" charset="-122"/>
              </a:rPr>
              <a:t>0..*</a:t>
            </a:r>
          </a:p>
          <a:p>
            <a:pPr marL="1155700" lvl="2">
              <a:lnSpc>
                <a:spcPct val="100000"/>
              </a:lnSpc>
              <a:spcBef>
                <a:spcPts val="300"/>
              </a:spcBef>
              <a:buFont typeface="Arial" panose="020B0604020202020204"/>
              <a:buChar char="•"/>
              <a:tabLst>
                <a:tab pos="1155065" algn="l"/>
                <a:tab pos="1155700" algn="l"/>
              </a:tabLst>
            </a:pPr>
            <a:r>
              <a:rPr lang="zh-CN" altLang="en-US" dirty="0">
                <a:latin typeface="黑体" panose="02010609060101010101" charset="-122"/>
                <a:cs typeface="黑体" panose="02010609060101010101" charset="-122"/>
              </a:rPr>
              <a:t>如果不行，则员工</a:t>
            </a:r>
            <a:r>
              <a:rPr lang="zh-CN" altLang="en-US" spc="-5" dirty="0">
                <a:latin typeface="黑体" panose="02010609060101010101" charset="-122"/>
                <a:cs typeface="黑体" panose="02010609060101010101" charset="-122"/>
              </a:rPr>
              <a:t>（</a:t>
            </a:r>
            <a:r>
              <a:rPr lang="en-US" altLang="zh-CN" spc="-5" dirty="0" err="1">
                <a:latin typeface="Calibri" panose="020F0502020204030204"/>
                <a:cs typeface="Calibri" panose="020F0502020204030204"/>
              </a:rPr>
              <a:t>StaﬀMember</a:t>
            </a:r>
            <a:r>
              <a:rPr lang="zh-CN" altLang="en-US" spc="-5" dirty="0">
                <a:latin typeface="黑体" panose="02010609060101010101" charset="-122"/>
                <a:cs typeface="黑体" panose="02010609060101010101" charset="-122"/>
              </a:rPr>
              <a:t>）</a:t>
            </a:r>
            <a:r>
              <a:rPr lang="zh-CN" altLang="en-US" dirty="0">
                <a:latin typeface="黑体" panose="02010609060101010101" charset="-122"/>
                <a:cs typeface="黑体" panose="02010609060101010101" charset="-122"/>
              </a:rPr>
              <a:t>类是必选的，多样性</a:t>
            </a:r>
            <a:r>
              <a:rPr lang="en-US" altLang="zh-CN" dirty="0">
                <a:latin typeface="黑体" panose="02010609060101010101" charset="-122"/>
                <a:cs typeface="黑体" panose="02010609060101010101" charset="-122"/>
              </a:rPr>
              <a:t>/</a:t>
            </a:r>
            <a:r>
              <a:rPr lang="zh-CN" altLang="en-US" dirty="0">
                <a:latin typeface="黑体" panose="02010609060101010101" charset="-122"/>
                <a:cs typeface="黑体" panose="02010609060101010101" charset="-122"/>
              </a:rPr>
              <a:t>维度定义为</a:t>
            </a:r>
            <a:r>
              <a:rPr lang="zh-CN" altLang="en-US" spc="-10" dirty="0">
                <a:latin typeface="黑体" panose="02010609060101010101" charset="-122"/>
                <a:cs typeface="黑体" panose="02010609060101010101" charset="-122"/>
              </a:rPr>
              <a:t> </a:t>
            </a:r>
            <a:r>
              <a:rPr lang="en-US" altLang="zh-CN" dirty="0">
                <a:latin typeface="黑体" panose="02010609060101010101" charset="-122"/>
                <a:cs typeface="黑体" panose="02010609060101010101" charset="-122"/>
              </a:rPr>
              <a:t>1..*</a:t>
            </a:r>
          </a:p>
          <a:p>
            <a:pPr marL="1155700" lvl="2">
              <a:lnSpc>
                <a:spcPct val="100000"/>
              </a:lnSpc>
              <a:spcBef>
                <a:spcPts val="300"/>
              </a:spcBef>
              <a:buFont typeface="Arial" panose="020B0604020202020204"/>
              <a:buChar char="•"/>
              <a:tabLst>
                <a:tab pos="1155065" algn="l"/>
                <a:tab pos="1155700" algn="l"/>
              </a:tabLst>
            </a:pPr>
            <a:r>
              <a:rPr lang="zh-CN" altLang="en-US" dirty="0">
                <a:latin typeface="黑体" panose="02010609060101010101" charset="-122"/>
                <a:cs typeface="黑体" panose="02010609060101010101" charset="-122"/>
              </a:rPr>
              <a:t>如果必须有，且只能由一个</a:t>
            </a:r>
            <a:r>
              <a:rPr lang="en-US" altLang="zh-CN" spc="-5" dirty="0">
                <a:latin typeface="Calibri" panose="020F0502020204030204"/>
                <a:cs typeface="Calibri" panose="020F0502020204030204"/>
              </a:rPr>
              <a:t>Staﬀ</a:t>
            </a:r>
            <a:r>
              <a:rPr lang="zh-CN" altLang="en-US" dirty="0">
                <a:latin typeface="黑体" panose="02010609060101010101" charset="-122"/>
                <a:cs typeface="黑体" panose="02010609060101010101" charset="-122"/>
              </a:rPr>
              <a:t>来管理，多样性</a:t>
            </a:r>
            <a:r>
              <a:rPr lang="en-US" altLang="zh-CN" dirty="0">
                <a:latin typeface="黑体" panose="02010609060101010101" charset="-122"/>
                <a:cs typeface="黑体" panose="02010609060101010101" charset="-122"/>
              </a:rPr>
              <a:t>/</a:t>
            </a:r>
            <a:r>
              <a:rPr lang="zh-CN" altLang="en-US" dirty="0">
                <a:latin typeface="黑体" panose="02010609060101010101" charset="-122"/>
                <a:cs typeface="黑体" panose="02010609060101010101" charset="-122"/>
              </a:rPr>
              <a:t>维度定义为</a:t>
            </a:r>
            <a:r>
              <a:rPr lang="zh-CN" altLang="en-US" spc="-5" dirty="0">
                <a:latin typeface="黑体" panose="02010609060101010101" charset="-122"/>
                <a:cs typeface="黑体" panose="02010609060101010101" charset="-122"/>
              </a:rPr>
              <a:t> </a:t>
            </a:r>
            <a:r>
              <a:rPr lang="en-US" altLang="zh-CN" dirty="0">
                <a:latin typeface="黑体" panose="02010609060101010101" charset="-122"/>
                <a:cs typeface="黑体" panose="02010609060101010101" charset="-122"/>
              </a:rPr>
              <a:t>1</a:t>
            </a:r>
          </a:p>
          <a:p>
            <a:pPr marL="698500" lvl="1">
              <a:lnSpc>
                <a:spcPct val="100000"/>
              </a:lnSpc>
              <a:spcBef>
                <a:spcPts val="200"/>
              </a:spcBef>
              <a:buFont typeface="Arial" panose="020B0604020202020204"/>
              <a:buChar char="•"/>
              <a:tabLst>
                <a:tab pos="697865" algn="l"/>
                <a:tab pos="698500" algn="l"/>
              </a:tabLst>
            </a:pPr>
            <a:r>
              <a:rPr lang="zh-CN" altLang="en-US" sz="2000" b="1" spc="-10" dirty="0">
                <a:solidFill>
                  <a:srgbClr val="800000"/>
                </a:solidFill>
                <a:latin typeface="黑体" panose="02010609060101010101" charset="-122"/>
                <a:cs typeface="黑体" panose="02010609060101010101" charset="-122"/>
              </a:rPr>
              <a:t>然后再就另一端问同样的问题</a:t>
            </a:r>
            <a:endParaRPr lang="zh-CN" altLang="en-US" sz="2000" dirty="0">
              <a:latin typeface="黑体" panose="02010609060101010101" charset="-122"/>
              <a:cs typeface="黑体" panose="02010609060101010101" charset="-122"/>
            </a:endParaRPr>
          </a:p>
          <a:p>
            <a:pPr marL="1155700" lvl="2">
              <a:lnSpc>
                <a:spcPct val="100000"/>
              </a:lnSpc>
              <a:spcBef>
                <a:spcPts val="300"/>
              </a:spcBef>
              <a:buFont typeface="Arial" panose="020B0604020202020204"/>
              <a:buChar char="•"/>
              <a:tabLst>
                <a:tab pos="1155065" algn="l"/>
                <a:tab pos="1155700" algn="l"/>
              </a:tabLst>
            </a:pPr>
            <a:r>
              <a:rPr lang="zh-CN" altLang="en-US" dirty="0">
                <a:latin typeface="黑体" panose="02010609060101010101" charset="-122"/>
                <a:cs typeface="黑体" panose="02010609060101010101" charset="-122"/>
              </a:rPr>
              <a:t>每位员工都必须管理，且只能管理一项市场活动吗？</a:t>
            </a:r>
          </a:p>
          <a:p>
            <a:pPr marL="1155700" lvl="2">
              <a:lnSpc>
                <a:spcPct val="100000"/>
              </a:lnSpc>
              <a:spcBef>
                <a:spcPts val="200"/>
              </a:spcBef>
              <a:buFont typeface="Arial" panose="020B0604020202020204"/>
              <a:buChar char="•"/>
              <a:tabLst>
                <a:tab pos="1155065" algn="l"/>
                <a:tab pos="1155700" algn="l"/>
              </a:tabLst>
            </a:pPr>
            <a:r>
              <a:rPr lang="zh-CN" altLang="en-US" dirty="0">
                <a:latin typeface="黑体" panose="02010609060101010101" charset="-122"/>
                <a:cs typeface="黑体" panose="02010609060101010101" charset="-122"/>
              </a:rPr>
              <a:t>如果不是，则市场活动一端的多样性</a:t>
            </a:r>
            <a:r>
              <a:rPr lang="en-US" altLang="zh-CN" dirty="0">
                <a:latin typeface="黑体" panose="02010609060101010101" charset="-122"/>
                <a:cs typeface="黑体" panose="02010609060101010101" charset="-122"/>
              </a:rPr>
              <a:t>/</a:t>
            </a:r>
            <a:r>
              <a:rPr lang="zh-CN" altLang="en-US" dirty="0">
                <a:latin typeface="黑体" panose="02010609060101010101" charset="-122"/>
                <a:cs typeface="黑体" panose="02010609060101010101" charset="-122"/>
              </a:rPr>
              <a:t>维度定义为</a:t>
            </a:r>
            <a:r>
              <a:rPr lang="en-US" altLang="zh-CN" dirty="0">
                <a:latin typeface="黑体" panose="02010609060101010101" charset="-122"/>
                <a:cs typeface="黑体" panose="02010609060101010101" charset="-122"/>
              </a:rPr>
              <a:t>0..*</a:t>
            </a:r>
          </a:p>
          <a:p>
            <a:pPr marL="241300">
              <a:lnSpc>
                <a:spcPct val="100000"/>
              </a:lnSpc>
              <a:spcBef>
                <a:spcPts val="800"/>
              </a:spcBef>
              <a:buFont typeface="Arial" panose="020B0604020202020204"/>
              <a:buChar char="•"/>
              <a:tabLst>
                <a:tab pos="240665" algn="l"/>
                <a:tab pos="241300" algn="l"/>
              </a:tabLst>
            </a:pPr>
            <a:r>
              <a:rPr lang="zh-CN" altLang="en-US" sz="2000" dirty="0">
                <a:latin typeface="黑体" panose="02010609060101010101" charset="-122"/>
                <a:cs typeface="黑体" panose="02010609060101010101" charset="-122"/>
              </a:rPr>
              <a:t>其他的多样性定义举例</a:t>
            </a:r>
            <a:r>
              <a:rPr lang="en-US" altLang="zh-CN" sz="2000" dirty="0">
                <a:latin typeface="黑体" panose="02010609060101010101" charset="-122"/>
                <a:cs typeface="黑体" panose="02010609060101010101" charset="-122"/>
              </a:rPr>
              <a:t>:</a:t>
            </a:r>
          </a:p>
          <a:p>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t>19</a:t>
            </a:fld>
            <a:endParaRPr lang="zh-CN" altLang="en-US"/>
          </a:p>
        </p:txBody>
      </p:sp>
      <p:sp>
        <p:nvSpPr>
          <p:cNvPr id="5" name="object 8"/>
          <p:cNvSpPr txBox="1"/>
          <p:nvPr/>
        </p:nvSpPr>
        <p:spPr>
          <a:xfrm>
            <a:off x="1805064" y="4897078"/>
            <a:ext cx="3841750" cy="1485900"/>
          </a:xfrm>
          <a:prstGeom prst="rect">
            <a:avLst/>
          </a:prstGeom>
        </p:spPr>
        <p:txBody>
          <a:bodyPr vert="horz" wrap="square" lIns="0" tIns="12700" rIns="0" bIns="0" rtlCol="0">
            <a:spAutoFit/>
          </a:bodyPr>
          <a:lstStyle/>
          <a:p>
            <a:pPr marL="241300" indent="-228600">
              <a:lnSpc>
                <a:spcPts val="2300"/>
              </a:lnSpc>
              <a:spcBef>
                <a:spcPts val="100"/>
              </a:spcBef>
              <a:buFont typeface="Arial" panose="020B0604020202020204"/>
              <a:buChar char="•"/>
              <a:tabLst>
                <a:tab pos="240665" algn="l"/>
                <a:tab pos="241300" algn="l"/>
              </a:tabLst>
            </a:pPr>
            <a:r>
              <a:rPr sz="2000" dirty="0">
                <a:latin typeface="黑体" panose="02010609060101010101" charset="-122"/>
                <a:cs typeface="黑体" panose="02010609060101010101" charset="-122"/>
              </a:rPr>
              <a:t>可选的</a:t>
            </a:r>
            <a:r>
              <a:rPr sz="2000" spc="-5" dirty="0">
                <a:latin typeface="黑体" panose="02010609060101010101" charset="-122"/>
                <a:cs typeface="黑体" panose="02010609060101010101" charset="-122"/>
              </a:rPr>
              <a:t>（</a:t>
            </a:r>
            <a:r>
              <a:rPr sz="2000" spc="-5" dirty="0">
                <a:latin typeface="Calibri" panose="020F0502020204030204"/>
                <a:cs typeface="Calibri" panose="020F0502020204030204"/>
              </a:rPr>
              <a:t>Optional</a:t>
            </a:r>
            <a:r>
              <a:rPr sz="2000" spc="-5" dirty="0">
                <a:latin typeface="黑体" panose="02010609060101010101" charset="-122"/>
                <a:cs typeface="黑体" panose="02010609060101010101" charset="-122"/>
              </a:rPr>
              <a:t>，</a:t>
            </a:r>
            <a:r>
              <a:rPr sz="2000" spc="-5" dirty="0">
                <a:latin typeface="Calibri" panose="020F0502020204030204"/>
                <a:cs typeface="Calibri" panose="020F0502020204030204"/>
              </a:rPr>
              <a:t>0</a:t>
            </a:r>
            <a:r>
              <a:rPr sz="2000" spc="-15" dirty="0">
                <a:latin typeface="Calibri" panose="020F0502020204030204"/>
                <a:cs typeface="Calibri" panose="020F0502020204030204"/>
              </a:rPr>
              <a:t> </a:t>
            </a:r>
            <a:r>
              <a:rPr sz="2000" dirty="0">
                <a:latin typeface="Calibri" panose="020F0502020204030204"/>
                <a:cs typeface="Calibri" panose="020F0502020204030204"/>
              </a:rPr>
              <a:t>or</a:t>
            </a:r>
            <a:r>
              <a:rPr sz="2000" spc="-5" dirty="0">
                <a:latin typeface="Calibri" panose="020F0502020204030204"/>
                <a:cs typeface="Calibri" panose="020F0502020204030204"/>
              </a:rPr>
              <a:t> 1</a:t>
            </a:r>
            <a:r>
              <a:rPr sz="2000" spc="-5" dirty="0">
                <a:latin typeface="黑体" panose="02010609060101010101" charset="-122"/>
                <a:cs typeface="黑体" panose="02010609060101010101" charset="-122"/>
              </a:rPr>
              <a:t>）</a:t>
            </a:r>
            <a:endParaRPr sz="2000" dirty="0">
              <a:latin typeface="黑体" panose="02010609060101010101" charset="-122"/>
              <a:cs typeface="黑体" panose="02010609060101010101" charset="-122"/>
            </a:endParaRPr>
          </a:p>
          <a:p>
            <a:pPr marL="241300" indent="-228600">
              <a:lnSpc>
                <a:spcPts val="2250"/>
              </a:lnSpc>
              <a:buFont typeface="Arial" panose="020B0604020202020204"/>
              <a:buChar char="•"/>
              <a:tabLst>
                <a:tab pos="240665" algn="l"/>
                <a:tab pos="241300" algn="l"/>
              </a:tabLst>
            </a:pPr>
            <a:r>
              <a:rPr sz="2000" dirty="0">
                <a:latin typeface="黑体" panose="02010609060101010101" charset="-122"/>
                <a:cs typeface="黑体" panose="02010609060101010101" charset="-122"/>
              </a:rPr>
              <a:t>有且仅有一个</a:t>
            </a:r>
            <a:r>
              <a:rPr sz="2000" spc="-5" dirty="0">
                <a:latin typeface="黑体" panose="02010609060101010101" charset="-122"/>
                <a:cs typeface="黑体" panose="02010609060101010101" charset="-122"/>
              </a:rPr>
              <a:t>（</a:t>
            </a:r>
            <a:r>
              <a:rPr sz="2000" spc="-5" dirty="0">
                <a:latin typeface="Calibri" panose="020F0502020204030204"/>
                <a:cs typeface="Calibri" panose="020F0502020204030204"/>
              </a:rPr>
              <a:t>Exactly</a:t>
            </a:r>
            <a:r>
              <a:rPr sz="2000" spc="-40" dirty="0">
                <a:latin typeface="Calibri" panose="020F0502020204030204"/>
                <a:cs typeface="Calibri" panose="020F0502020204030204"/>
              </a:rPr>
              <a:t> </a:t>
            </a:r>
            <a:r>
              <a:rPr sz="2000" spc="-5" dirty="0">
                <a:latin typeface="Calibri" panose="020F0502020204030204"/>
                <a:cs typeface="Calibri" panose="020F0502020204030204"/>
              </a:rPr>
              <a:t>one</a:t>
            </a:r>
            <a:r>
              <a:rPr sz="2000" spc="-5" dirty="0">
                <a:latin typeface="黑体" panose="02010609060101010101" charset="-122"/>
                <a:cs typeface="黑体" panose="02010609060101010101" charset="-122"/>
              </a:rPr>
              <a:t>，</a:t>
            </a:r>
            <a:r>
              <a:rPr sz="2000" spc="-5" dirty="0">
                <a:latin typeface="Calibri" panose="020F0502020204030204"/>
                <a:cs typeface="Calibri" panose="020F0502020204030204"/>
              </a:rPr>
              <a:t>1</a:t>
            </a:r>
            <a:r>
              <a:rPr sz="2000" spc="-5" dirty="0">
                <a:latin typeface="黑体" panose="02010609060101010101" charset="-122"/>
                <a:cs typeface="黑体" panose="02010609060101010101" charset="-122"/>
              </a:rPr>
              <a:t>）</a:t>
            </a:r>
            <a:endParaRPr sz="2000" dirty="0">
              <a:latin typeface="黑体" panose="02010609060101010101" charset="-122"/>
              <a:cs typeface="黑体" panose="02010609060101010101" charset="-122"/>
            </a:endParaRPr>
          </a:p>
          <a:p>
            <a:pPr marL="241300" indent="-228600">
              <a:lnSpc>
                <a:spcPts val="2300"/>
              </a:lnSpc>
              <a:buFont typeface="Arial" panose="020B0604020202020204"/>
              <a:buChar char="•"/>
              <a:tabLst>
                <a:tab pos="240665" algn="l"/>
                <a:tab pos="241300" algn="l"/>
              </a:tabLst>
            </a:pPr>
            <a:r>
              <a:rPr sz="2000" dirty="0">
                <a:latin typeface="黑体" panose="02010609060101010101" charset="-122"/>
                <a:cs typeface="黑体" panose="02010609060101010101" charset="-122"/>
              </a:rPr>
              <a:t>零或多个</a:t>
            </a:r>
            <a:r>
              <a:rPr sz="2000" spc="-5" dirty="0">
                <a:latin typeface="黑体" panose="02010609060101010101" charset="-122"/>
                <a:cs typeface="黑体" panose="02010609060101010101" charset="-122"/>
              </a:rPr>
              <a:t>（</a:t>
            </a:r>
            <a:r>
              <a:rPr sz="2000" spc="-5" dirty="0">
                <a:latin typeface="Calibri" panose="020F0502020204030204"/>
                <a:cs typeface="Calibri" panose="020F0502020204030204"/>
              </a:rPr>
              <a:t>Zero</a:t>
            </a:r>
            <a:r>
              <a:rPr sz="2000" spc="-10" dirty="0">
                <a:latin typeface="Calibri" panose="020F0502020204030204"/>
                <a:cs typeface="Calibri" panose="020F0502020204030204"/>
              </a:rPr>
              <a:t> </a:t>
            </a:r>
            <a:r>
              <a:rPr sz="2000" spc="-5" dirty="0">
                <a:latin typeface="Calibri" panose="020F0502020204030204"/>
                <a:cs typeface="Calibri" panose="020F0502020204030204"/>
              </a:rPr>
              <a:t>or</a:t>
            </a:r>
            <a:r>
              <a:rPr sz="2000" spc="-10" dirty="0">
                <a:latin typeface="Calibri" panose="020F0502020204030204"/>
                <a:cs typeface="Calibri" panose="020F0502020204030204"/>
              </a:rPr>
              <a:t> </a:t>
            </a:r>
            <a:r>
              <a:rPr sz="2000" spc="-5" dirty="0">
                <a:latin typeface="Calibri" panose="020F0502020204030204"/>
                <a:cs typeface="Calibri" panose="020F0502020204030204"/>
              </a:rPr>
              <a:t>more</a:t>
            </a:r>
            <a:r>
              <a:rPr sz="2000" spc="-5" dirty="0">
                <a:latin typeface="黑体" panose="02010609060101010101" charset="-122"/>
                <a:cs typeface="黑体" panose="02010609060101010101" charset="-122"/>
              </a:rPr>
              <a:t>）</a:t>
            </a:r>
            <a:endParaRPr sz="2000" dirty="0">
              <a:latin typeface="黑体" panose="02010609060101010101" charset="-122"/>
              <a:cs typeface="黑体" panose="02010609060101010101" charset="-122"/>
            </a:endParaRPr>
          </a:p>
          <a:p>
            <a:pPr marL="241300" indent="-228600">
              <a:lnSpc>
                <a:spcPts val="2300"/>
              </a:lnSpc>
              <a:buFont typeface="Arial" panose="020B0604020202020204"/>
              <a:buChar char="•"/>
              <a:tabLst>
                <a:tab pos="240665" algn="l"/>
                <a:tab pos="241300" algn="l"/>
              </a:tabLst>
            </a:pPr>
            <a:r>
              <a:rPr sz="2000" dirty="0">
                <a:latin typeface="黑体" panose="02010609060101010101" charset="-122"/>
                <a:cs typeface="黑体" panose="02010609060101010101" charset="-122"/>
              </a:rPr>
              <a:t>一或多个（</a:t>
            </a:r>
            <a:r>
              <a:rPr sz="2000" dirty="0">
                <a:latin typeface="Calibri" panose="020F0502020204030204"/>
                <a:cs typeface="Calibri" panose="020F0502020204030204"/>
              </a:rPr>
              <a:t>One</a:t>
            </a:r>
            <a:r>
              <a:rPr sz="2000" spc="-15" dirty="0">
                <a:latin typeface="Calibri" panose="020F0502020204030204"/>
                <a:cs typeface="Calibri" panose="020F0502020204030204"/>
              </a:rPr>
              <a:t> </a:t>
            </a:r>
            <a:r>
              <a:rPr sz="2000" spc="-5" dirty="0">
                <a:latin typeface="Calibri" panose="020F0502020204030204"/>
                <a:cs typeface="Calibri" panose="020F0502020204030204"/>
              </a:rPr>
              <a:t>or</a:t>
            </a:r>
            <a:r>
              <a:rPr sz="2000" spc="-10" dirty="0">
                <a:latin typeface="Calibri" panose="020F0502020204030204"/>
                <a:cs typeface="Calibri" panose="020F0502020204030204"/>
              </a:rPr>
              <a:t> </a:t>
            </a:r>
            <a:r>
              <a:rPr sz="2000" dirty="0">
                <a:latin typeface="Calibri" panose="020F0502020204030204"/>
                <a:cs typeface="Calibri" panose="020F0502020204030204"/>
              </a:rPr>
              <a:t>more</a:t>
            </a:r>
            <a:r>
              <a:rPr sz="2000" dirty="0">
                <a:latin typeface="黑体" panose="02010609060101010101" charset="-122"/>
                <a:cs typeface="黑体" panose="02010609060101010101" charset="-122"/>
              </a:rPr>
              <a:t>）</a:t>
            </a:r>
          </a:p>
          <a:p>
            <a:pPr marL="241300" indent="-228600">
              <a:lnSpc>
                <a:spcPts val="2350"/>
              </a:lnSpc>
              <a:buFont typeface="Arial" panose="020B0604020202020204"/>
              <a:buChar char="•"/>
              <a:tabLst>
                <a:tab pos="240665" algn="l"/>
                <a:tab pos="241300" algn="l"/>
              </a:tabLst>
            </a:pPr>
            <a:r>
              <a:rPr sz="2000" dirty="0">
                <a:latin typeface="黑体" panose="02010609060101010101" charset="-122"/>
                <a:cs typeface="黑体" panose="02010609060101010101" charset="-122"/>
              </a:rPr>
              <a:t>取值范围（</a:t>
            </a:r>
            <a:r>
              <a:rPr sz="2000" dirty="0">
                <a:latin typeface="Calibri" panose="020F0502020204030204"/>
                <a:cs typeface="Calibri" panose="020F0502020204030204"/>
              </a:rPr>
              <a:t>A</a:t>
            </a:r>
            <a:r>
              <a:rPr sz="2000" spc="-10" dirty="0">
                <a:latin typeface="Calibri" panose="020F0502020204030204"/>
                <a:cs typeface="Calibri" panose="020F0502020204030204"/>
              </a:rPr>
              <a:t> </a:t>
            </a:r>
            <a:r>
              <a:rPr sz="2000" spc="-5" dirty="0">
                <a:latin typeface="Calibri" panose="020F0502020204030204"/>
                <a:cs typeface="Calibri" panose="020F0502020204030204"/>
              </a:rPr>
              <a:t>range of values</a:t>
            </a:r>
            <a:r>
              <a:rPr sz="2000" spc="-5" dirty="0">
                <a:latin typeface="黑体" panose="02010609060101010101" charset="-122"/>
                <a:cs typeface="黑体" panose="02010609060101010101" charset="-122"/>
              </a:rPr>
              <a:t>）</a:t>
            </a:r>
            <a:endParaRPr sz="2000" dirty="0">
              <a:latin typeface="黑体" panose="02010609060101010101" charset="-122"/>
              <a:cs typeface="黑体" panose="02010609060101010101" charset="-122"/>
            </a:endParaRPr>
          </a:p>
        </p:txBody>
      </p:sp>
      <p:sp>
        <p:nvSpPr>
          <p:cNvPr id="6" name="object 9"/>
          <p:cNvSpPr txBox="1"/>
          <p:nvPr/>
        </p:nvSpPr>
        <p:spPr>
          <a:xfrm>
            <a:off x="6613678" y="4897078"/>
            <a:ext cx="1168400" cy="1485900"/>
          </a:xfrm>
          <a:prstGeom prst="rect">
            <a:avLst/>
          </a:prstGeom>
        </p:spPr>
        <p:txBody>
          <a:bodyPr vert="horz" wrap="square" lIns="0" tIns="12700" rIns="0" bIns="0" rtlCol="0">
            <a:spAutoFit/>
          </a:bodyPr>
          <a:lstStyle/>
          <a:p>
            <a:pPr marL="12700">
              <a:lnSpc>
                <a:spcPts val="2300"/>
              </a:lnSpc>
              <a:spcBef>
                <a:spcPts val="100"/>
              </a:spcBef>
            </a:pPr>
            <a:r>
              <a:rPr sz="2000" dirty="0">
                <a:latin typeface="黑体" panose="02010609060101010101" charset="-122"/>
                <a:cs typeface="黑体" panose="02010609060101010101" charset="-122"/>
              </a:rPr>
              <a:t>0..1</a:t>
            </a:r>
          </a:p>
          <a:p>
            <a:pPr marL="12700">
              <a:lnSpc>
                <a:spcPts val="2250"/>
              </a:lnSpc>
            </a:pPr>
            <a:r>
              <a:rPr sz="2000" dirty="0">
                <a:latin typeface="黑体" panose="02010609060101010101" charset="-122"/>
                <a:cs typeface="黑体" panose="02010609060101010101" charset="-122"/>
              </a:rPr>
              <a:t>1..1</a:t>
            </a:r>
          </a:p>
          <a:p>
            <a:pPr marL="12700">
              <a:lnSpc>
                <a:spcPts val="2300"/>
              </a:lnSpc>
            </a:pPr>
            <a:r>
              <a:rPr sz="2000" dirty="0">
                <a:latin typeface="黑体" panose="02010609060101010101" charset="-122"/>
                <a:cs typeface="黑体" panose="02010609060101010101" charset="-122"/>
              </a:rPr>
              <a:t>0..*，*，</a:t>
            </a:r>
          </a:p>
          <a:p>
            <a:pPr marL="12700">
              <a:lnSpc>
                <a:spcPts val="2300"/>
              </a:lnSpc>
            </a:pPr>
            <a:r>
              <a:rPr sz="2000" dirty="0">
                <a:latin typeface="黑体" panose="02010609060101010101" charset="-122"/>
                <a:cs typeface="黑体" panose="02010609060101010101" charset="-122"/>
              </a:rPr>
              <a:t>1..*</a:t>
            </a:r>
          </a:p>
          <a:p>
            <a:pPr marL="12700">
              <a:lnSpc>
                <a:spcPts val="2350"/>
              </a:lnSpc>
            </a:pPr>
            <a:r>
              <a:rPr sz="2000" dirty="0">
                <a:latin typeface="黑体" panose="02010609060101010101" charset="-122"/>
                <a:cs typeface="黑体" panose="02010609060101010101" charset="-122"/>
              </a:rPr>
              <a:t>2..6</a:t>
            </a:r>
          </a:p>
        </p:txBody>
      </p:sp>
    </p:spTree>
  </p:cSld>
  <p:clrMapOvr>
    <a:masterClrMapping/>
  </p:clrMapOvr>
  <mc:AlternateContent xmlns:mc="http://schemas.openxmlformats.org/markup-compatibility/2006" xmlns:p14="http://schemas.microsoft.com/office/powerpoint/2010/main">
    <mc:Choice Requires="p14">
      <p:transition spd="slow" p14:dur="2000" advTm="166697"/>
    </mc:Choice>
    <mc:Fallback xmlns="">
      <p:transition spd="slow" advTm="166697"/>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关联关系的种类</a:t>
            </a:r>
          </a:p>
        </p:txBody>
      </p:sp>
      <p:sp>
        <p:nvSpPr>
          <p:cNvPr id="3" name="内容占位符 2"/>
          <p:cNvSpPr>
            <a:spLocks noGrp="1"/>
          </p:cNvSpPr>
          <p:nvPr>
            <p:ph idx="1"/>
          </p:nvPr>
        </p:nvSpPr>
        <p:spPr>
          <a:xfrm>
            <a:off x="622081" y="1614597"/>
            <a:ext cx="10947838" cy="4878278"/>
          </a:xfrm>
        </p:spPr>
        <p:txBody>
          <a:bodyPr>
            <a:normAutofit/>
          </a:bodyPr>
          <a:lstStyle/>
          <a:p>
            <a:pPr marL="241300">
              <a:lnSpc>
                <a:spcPct val="100000"/>
              </a:lnSpc>
              <a:spcBef>
                <a:spcPts val="800"/>
              </a:spcBef>
              <a:buFont typeface="Arial" panose="020B0604020202020204"/>
              <a:buChar char="•"/>
              <a:tabLst>
                <a:tab pos="240665" algn="l"/>
                <a:tab pos="241300" algn="l"/>
              </a:tabLst>
            </a:pPr>
            <a:r>
              <a:rPr lang="zh-CN" altLang="en-US" sz="2000" dirty="0">
                <a:cs typeface="华文细黑" panose="02010600040101010101" charset="-122"/>
              </a:rPr>
              <a:t>按照关联所连接的类的数量，对象类之间的关联可分为：</a:t>
            </a:r>
            <a:r>
              <a:rPr lang="zh-CN" altLang="en-US" sz="2000" dirty="0">
                <a:solidFill>
                  <a:srgbClr val="800000"/>
                </a:solidFill>
                <a:cs typeface="华文细黑" panose="02010600040101010101" charset="-122"/>
              </a:rPr>
              <a:t>自返关联</a:t>
            </a:r>
            <a:r>
              <a:rPr lang="zh-CN" altLang="en-US" sz="2000" dirty="0">
                <a:cs typeface="华文细黑" panose="02010600040101010101" charset="-122"/>
              </a:rPr>
              <a:t>，</a:t>
            </a:r>
            <a:r>
              <a:rPr lang="zh-CN" altLang="en-US" sz="2000" dirty="0">
                <a:solidFill>
                  <a:srgbClr val="800000"/>
                </a:solidFill>
                <a:cs typeface="华文细黑" panose="02010600040101010101" charset="-122"/>
              </a:rPr>
              <a:t>二元关联</a:t>
            </a:r>
            <a:r>
              <a:rPr lang="zh-CN" altLang="en-US" sz="2000" dirty="0">
                <a:cs typeface="华文细黑" panose="02010600040101010101" charset="-122"/>
              </a:rPr>
              <a:t>，</a:t>
            </a:r>
            <a:r>
              <a:rPr lang="en-US" altLang="zh-CN" sz="2000" dirty="0">
                <a:solidFill>
                  <a:srgbClr val="800000"/>
                </a:solidFill>
                <a:cs typeface="华文细黑" panose="02010600040101010101" charset="-122"/>
              </a:rPr>
              <a:t>N</a:t>
            </a:r>
            <a:r>
              <a:rPr lang="zh-CN" altLang="en-US" sz="2000" dirty="0">
                <a:solidFill>
                  <a:srgbClr val="800000"/>
                </a:solidFill>
                <a:cs typeface="华文细黑" panose="02010600040101010101" charset="-122"/>
              </a:rPr>
              <a:t>元关联</a:t>
            </a:r>
            <a:endParaRPr lang="en-US" altLang="zh-CN" sz="2000" dirty="0">
              <a:solidFill>
                <a:srgbClr val="800000"/>
              </a:solidFill>
              <a:cs typeface="华文细黑" panose="02010600040101010101" charset="-122"/>
            </a:endParaRPr>
          </a:p>
          <a:p>
            <a:pPr marL="241300">
              <a:lnSpc>
                <a:spcPct val="100000"/>
              </a:lnSpc>
              <a:spcBef>
                <a:spcPts val="700"/>
              </a:spcBef>
              <a:buFont typeface="Arial" panose="020B0604020202020204"/>
              <a:buChar char="•"/>
              <a:tabLst>
                <a:tab pos="240665" algn="l"/>
                <a:tab pos="241300" algn="l"/>
              </a:tabLst>
            </a:pPr>
            <a:r>
              <a:rPr lang="zh-CN" altLang="en-US" sz="2000" dirty="0">
                <a:solidFill>
                  <a:srgbClr val="800000"/>
                </a:solidFill>
                <a:cs typeface="华文细黑" panose="02010600040101010101" charset="-122"/>
              </a:rPr>
              <a:t>自返关联</a:t>
            </a:r>
            <a:r>
              <a:rPr lang="en-US" altLang="zh-CN" sz="2000" dirty="0">
                <a:solidFill>
                  <a:srgbClr val="800000"/>
                </a:solidFill>
                <a:cs typeface="华文细黑" panose="02010600040101010101" charset="-122"/>
              </a:rPr>
              <a:t>(reflexive</a:t>
            </a:r>
            <a:r>
              <a:rPr lang="zh-CN" altLang="en-US" sz="2000" dirty="0">
                <a:solidFill>
                  <a:srgbClr val="800000"/>
                </a:solidFill>
                <a:cs typeface="华文细黑" panose="02010600040101010101" charset="-122"/>
              </a:rPr>
              <a:t> </a:t>
            </a:r>
            <a:r>
              <a:rPr lang="en-US" altLang="zh-CN" sz="2000" dirty="0">
                <a:solidFill>
                  <a:srgbClr val="800000"/>
                </a:solidFill>
                <a:cs typeface="华文细黑" panose="02010600040101010101" charset="-122"/>
              </a:rPr>
              <a:t>association)</a:t>
            </a:r>
            <a:r>
              <a:rPr lang="zh-CN" altLang="en-US" sz="2000" dirty="0">
                <a:cs typeface="华文细黑" panose="02010600040101010101" charset="-122"/>
              </a:rPr>
              <a:t>又称递归关联</a:t>
            </a:r>
            <a:r>
              <a:rPr lang="en-US" altLang="zh-CN" sz="2000" dirty="0">
                <a:cs typeface="华文细黑" panose="02010600040101010101" charset="-122"/>
              </a:rPr>
              <a:t>(recursive</a:t>
            </a:r>
            <a:r>
              <a:rPr lang="zh-CN" altLang="en-US" sz="2000" dirty="0">
                <a:cs typeface="华文细黑" panose="02010600040101010101" charset="-122"/>
              </a:rPr>
              <a:t> </a:t>
            </a:r>
            <a:r>
              <a:rPr lang="en-US" altLang="zh-CN" sz="2000" dirty="0">
                <a:cs typeface="华文细黑" panose="02010600040101010101" charset="-122"/>
              </a:rPr>
              <a:t>association)</a:t>
            </a:r>
            <a:r>
              <a:rPr lang="zh-CN" altLang="en-US" sz="2000" dirty="0">
                <a:cs typeface="华文细黑" panose="02010600040101010101" charset="-122"/>
              </a:rPr>
              <a:t>，是一个类与本身的关联，即同一个类的两个对象间的联系。</a:t>
            </a:r>
            <a:endParaRPr lang="en-US" altLang="zh-CN" sz="2000" dirty="0">
              <a:cs typeface="华文细黑" panose="02010600040101010101" charset="-122"/>
            </a:endParaRPr>
          </a:p>
          <a:p>
            <a:pPr marL="241300">
              <a:lnSpc>
                <a:spcPct val="100000"/>
              </a:lnSpc>
              <a:spcBef>
                <a:spcPts val="700"/>
              </a:spcBef>
              <a:buFont typeface="Arial" panose="020B0604020202020204"/>
              <a:buChar char="•"/>
              <a:tabLst>
                <a:tab pos="240665" algn="l"/>
                <a:tab pos="241300" algn="l"/>
              </a:tabLst>
            </a:pPr>
            <a:r>
              <a:rPr lang="zh-CN" altLang="en-US" sz="2000" dirty="0">
                <a:solidFill>
                  <a:srgbClr val="800000"/>
                </a:solidFill>
                <a:cs typeface="华文细黑" panose="02010600040101010101" charset="-122"/>
              </a:rPr>
              <a:t>二元关联</a:t>
            </a:r>
            <a:r>
              <a:rPr lang="en-US" altLang="zh-CN" sz="2000" dirty="0">
                <a:solidFill>
                  <a:srgbClr val="800000"/>
                </a:solidFill>
                <a:cs typeface="华文细黑" panose="02010600040101010101" charset="-122"/>
              </a:rPr>
              <a:t>(binary</a:t>
            </a:r>
            <a:r>
              <a:rPr lang="zh-CN" altLang="en-US" sz="2000" dirty="0">
                <a:solidFill>
                  <a:srgbClr val="800000"/>
                </a:solidFill>
                <a:cs typeface="华文细黑" panose="02010600040101010101" charset="-122"/>
              </a:rPr>
              <a:t> </a:t>
            </a:r>
            <a:r>
              <a:rPr lang="en-US" altLang="zh-CN" sz="2000" dirty="0">
                <a:solidFill>
                  <a:srgbClr val="800000"/>
                </a:solidFill>
                <a:cs typeface="华文细黑" panose="02010600040101010101" charset="-122"/>
              </a:rPr>
              <a:t>association)</a:t>
            </a:r>
            <a:r>
              <a:rPr lang="zh-CN" altLang="en-US" sz="2000" dirty="0">
                <a:solidFill>
                  <a:srgbClr val="800000"/>
                </a:solidFill>
                <a:cs typeface="华文细黑" panose="02010600040101010101" charset="-122"/>
              </a:rPr>
              <a:t> </a:t>
            </a:r>
            <a:r>
              <a:rPr lang="zh-CN" altLang="en-US" sz="2000" dirty="0">
                <a:cs typeface="华文细黑" panose="02010600040101010101" charset="-122"/>
              </a:rPr>
              <a:t>：二元关联是在两个类之间的关联。</a:t>
            </a:r>
            <a:endParaRPr lang="en-US" altLang="zh-CN" sz="2000" dirty="0">
              <a:cs typeface="华文细黑" panose="02010600040101010101" charset="-122"/>
            </a:endParaRPr>
          </a:p>
          <a:p>
            <a:pPr marL="241300">
              <a:lnSpc>
                <a:spcPct val="100000"/>
              </a:lnSpc>
              <a:spcBef>
                <a:spcPts val="800"/>
              </a:spcBef>
              <a:buFont typeface="Arial" panose="020B0604020202020204"/>
              <a:buChar char="•"/>
              <a:tabLst>
                <a:tab pos="240665" algn="l"/>
                <a:tab pos="241300" algn="l"/>
              </a:tabLst>
            </a:pPr>
            <a:r>
              <a:rPr lang="en-US" altLang="zh-CN" sz="2000" dirty="0">
                <a:solidFill>
                  <a:srgbClr val="800000"/>
                </a:solidFill>
                <a:cs typeface="华文细黑" panose="02010600040101010101" charset="-122"/>
              </a:rPr>
              <a:t>N</a:t>
            </a:r>
            <a:r>
              <a:rPr lang="zh-CN" altLang="en-US" sz="2000" dirty="0">
                <a:solidFill>
                  <a:srgbClr val="800000"/>
                </a:solidFill>
                <a:cs typeface="华文细黑" panose="02010600040101010101" charset="-122"/>
              </a:rPr>
              <a:t>元关联</a:t>
            </a:r>
            <a:r>
              <a:rPr lang="en-US" altLang="zh-CN" sz="2000" dirty="0">
                <a:solidFill>
                  <a:srgbClr val="800000"/>
                </a:solidFill>
                <a:cs typeface="华文细黑" panose="02010600040101010101" charset="-122"/>
              </a:rPr>
              <a:t>(n-</a:t>
            </a:r>
            <a:r>
              <a:rPr lang="en-US" altLang="zh-CN" sz="2000" dirty="0" err="1">
                <a:solidFill>
                  <a:srgbClr val="800000"/>
                </a:solidFill>
                <a:cs typeface="华文细黑" panose="02010600040101010101" charset="-122"/>
              </a:rPr>
              <a:t>ary</a:t>
            </a:r>
            <a:r>
              <a:rPr lang="en-US" altLang="zh-CN" sz="2000" dirty="0">
                <a:solidFill>
                  <a:srgbClr val="800000"/>
                </a:solidFill>
                <a:cs typeface="华文细黑" panose="02010600040101010101" charset="-122"/>
              </a:rPr>
              <a:t> association)</a:t>
            </a:r>
            <a:r>
              <a:rPr lang="en-US" altLang="zh-CN" sz="2000" dirty="0">
                <a:cs typeface="华文细黑" panose="02010600040101010101" charset="-122"/>
              </a:rPr>
              <a:t>:</a:t>
            </a:r>
            <a:r>
              <a:rPr lang="zh-CN" altLang="en-US" sz="2000" dirty="0">
                <a:cs typeface="华文细黑" panose="02010600040101010101" charset="-122"/>
              </a:rPr>
              <a:t> 是在</a:t>
            </a:r>
            <a:r>
              <a:rPr lang="en-US" altLang="zh-CN" sz="2000" dirty="0">
                <a:cs typeface="华文细黑" panose="02010600040101010101" charset="-122"/>
              </a:rPr>
              <a:t>3</a:t>
            </a:r>
            <a:r>
              <a:rPr lang="zh-CN" altLang="en-US" sz="2000" dirty="0">
                <a:cs typeface="华文细黑" panose="02010600040101010101" charset="-122"/>
              </a:rPr>
              <a:t>个或</a:t>
            </a:r>
            <a:r>
              <a:rPr lang="en-US" altLang="zh-CN" sz="2000" dirty="0">
                <a:cs typeface="华文细黑" panose="02010600040101010101" charset="-122"/>
              </a:rPr>
              <a:t>3</a:t>
            </a:r>
            <a:r>
              <a:rPr lang="zh-CN" altLang="en-US" sz="2000" dirty="0">
                <a:cs typeface="华文细黑" panose="02010600040101010101" charset="-122"/>
              </a:rPr>
              <a:t>个以上类之间的关联。</a:t>
            </a:r>
          </a:p>
          <a:p>
            <a:pPr>
              <a:lnSpc>
                <a:spcPct val="100000"/>
              </a:lnSpc>
            </a:pPr>
            <a:endParaRPr lang="zh-CN" altLang="en-US" sz="2000"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t>20</a:t>
            </a:fld>
            <a:endParaRPr lang="zh-CN" altLang="en-US"/>
          </a:p>
        </p:txBody>
      </p:sp>
      <p:sp>
        <p:nvSpPr>
          <p:cNvPr id="5" name="object 8"/>
          <p:cNvSpPr/>
          <p:nvPr/>
        </p:nvSpPr>
        <p:spPr>
          <a:xfrm>
            <a:off x="922283" y="4210071"/>
            <a:ext cx="2447857" cy="1033332"/>
          </a:xfrm>
          <a:prstGeom prst="rect">
            <a:avLst/>
          </a:prstGeom>
          <a:blipFill>
            <a:blip r:embed="rId3" cstate="print"/>
            <a:stretch>
              <a:fillRect/>
            </a:stretch>
          </a:blipFill>
        </p:spPr>
        <p:txBody>
          <a:bodyPr wrap="square" lIns="0" tIns="0" rIns="0" bIns="0" rtlCol="0"/>
          <a:lstStyle/>
          <a:p>
            <a:endParaRPr/>
          </a:p>
        </p:txBody>
      </p:sp>
      <p:sp>
        <p:nvSpPr>
          <p:cNvPr id="6" name="object 9"/>
          <p:cNvSpPr/>
          <p:nvPr/>
        </p:nvSpPr>
        <p:spPr>
          <a:xfrm>
            <a:off x="4148018" y="3713160"/>
            <a:ext cx="7121699" cy="2414590"/>
          </a:xfrm>
          <a:prstGeom prst="rect">
            <a:avLst/>
          </a:prstGeom>
          <a:blipFill>
            <a:blip r:embed="rId4" cstate="print"/>
            <a:stretch>
              <a:fillRect/>
            </a:stretch>
          </a:blipFill>
        </p:spPr>
        <p:txBody>
          <a:bodyPr wrap="square" lIns="0" tIns="0" rIns="0" bIns="0" rtlCol="0"/>
          <a:lstStyle/>
          <a:p>
            <a:endParaRPr/>
          </a:p>
        </p:txBody>
      </p:sp>
    </p:spTree>
  </p:cSld>
  <p:clrMapOvr>
    <a:masterClrMapping/>
  </p:clrMapOvr>
  <mc:AlternateContent xmlns:mc="http://schemas.openxmlformats.org/markup-compatibility/2006" xmlns:p14="http://schemas.microsoft.com/office/powerpoint/2010/main">
    <mc:Choice Requires="p14">
      <p:transition spd="slow" p14:dur="2000" advTm="63499"/>
    </mc:Choice>
    <mc:Fallback xmlns="">
      <p:transition spd="slow" advTm="63499"/>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关联关系图例</a:t>
            </a:r>
          </a:p>
        </p:txBody>
      </p:sp>
      <p:sp>
        <p:nvSpPr>
          <p:cNvPr id="4" name="灯片编号占位符 3"/>
          <p:cNvSpPr>
            <a:spLocks noGrp="1"/>
          </p:cNvSpPr>
          <p:nvPr>
            <p:ph type="sldNum" sz="quarter" idx="12"/>
          </p:nvPr>
        </p:nvSpPr>
        <p:spPr/>
        <p:txBody>
          <a:bodyPr/>
          <a:lstStyle/>
          <a:p>
            <a:fld id="{74D2AB8B-5816-41F2-8B4B-CA5C3E4E6A65}" type="slidenum">
              <a:rPr lang="zh-CN" altLang="en-US" smtClean="0">
                <a:latin typeface="微软雅黑" panose="020B0503020204020204" pitchFamily="34" charset="-122"/>
                <a:ea typeface="微软雅黑" panose="020B0503020204020204" pitchFamily="34" charset="-122"/>
              </a:rPr>
              <a:t>21</a:t>
            </a:fld>
            <a:endParaRPr lang="zh-CN" altLang="en-US">
              <a:latin typeface="微软雅黑" panose="020B0503020204020204" pitchFamily="34" charset="-122"/>
              <a:ea typeface="微软雅黑" panose="020B0503020204020204" pitchFamily="34" charset="-122"/>
            </a:endParaRPr>
          </a:p>
        </p:txBody>
      </p:sp>
      <p:sp>
        <p:nvSpPr>
          <p:cNvPr id="36" name="object 7"/>
          <p:cNvSpPr/>
          <p:nvPr/>
        </p:nvSpPr>
        <p:spPr>
          <a:xfrm>
            <a:off x="5627686" y="4039982"/>
            <a:ext cx="174625" cy="0"/>
          </a:xfrm>
          <a:custGeom>
            <a:avLst/>
            <a:gdLst/>
            <a:ahLst/>
            <a:cxnLst/>
            <a:rect l="l" t="t" r="r" b="b"/>
            <a:pathLst>
              <a:path w="174625">
                <a:moveTo>
                  <a:pt x="0" y="0"/>
                </a:moveTo>
                <a:lnTo>
                  <a:pt x="174624" y="0"/>
                </a:lnTo>
              </a:path>
            </a:pathLst>
          </a:custGeom>
          <a:ln w="28574">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37" name="object 8"/>
          <p:cNvSpPr/>
          <p:nvPr/>
        </p:nvSpPr>
        <p:spPr>
          <a:xfrm>
            <a:off x="5688011" y="3968544"/>
            <a:ext cx="142875" cy="142875"/>
          </a:xfrm>
          <a:custGeom>
            <a:avLst/>
            <a:gdLst/>
            <a:ahLst/>
            <a:cxnLst/>
            <a:rect l="l" t="t" r="r" b="b"/>
            <a:pathLst>
              <a:path w="142875" h="142875">
                <a:moveTo>
                  <a:pt x="0" y="0"/>
                </a:moveTo>
                <a:lnTo>
                  <a:pt x="0" y="142875"/>
                </a:lnTo>
                <a:lnTo>
                  <a:pt x="142875" y="71437"/>
                </a:lnTo>
                <a:lnTo>
                  <a:pt x="0" y="0"/>
                </a:lnTo>
                <a:close/>
              </a:path>
            </a:pathLst>
          </a:custGeom>
          <a:solidFill>
            <a:srgbClr val="000000"/>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graphicFrame>
        <p:nvGraphicFramePr>
          <p:cNvPr id="38" name="object 9"/>
          <p:cNvGraphicFramePr>
            <a:graphicFrameLocks noGrp="1"/>
          </p:cNvGraphicFramePr>
          <p:nvPr/>
        </p:nvGraphicFramePr>
        <p:xfrm>
          <a:off x="838200" y="2882694"/>
          <a:ext cx="10566400" cy="1832606"/>
        </p:xfrm>
        <a:graphic>
          <a:graphicData uri="http://schemas.openxmlformats.org/drawingml/2006/table">
            <a:tbl>
              <a:tblPr firstRow="1" bandRow="1">
                <a:tableStyleId>{2D5ABB26-0587-4C30-8999-92F81FD0307C}</a:tableStyleId>
              </a:tblPr>
              <a:tblGrid>
                <a:gridCol w="2235200">
                  <a:extLst>
                    <a:ext uri="{9D8B030D-6E8A-4147-A177-3AD203B41FA5}">
                      <a16:colId xmlns:a16="http://schemas.microsoft.com/office/drawing/2014/main" val="20000"/>
                    </a:ext>
                  </a:extLst>
                </a:gridCol>
                <a:gridCol w="5689600">
                  <a:extLst>
                    <a:ext uri="{9D8B030D-6E8A-4147-A177-3AD203B41FA5}">
                      <a16:colId xmlns:a16="http://schemas.microsoft.com/office/drawing/2014/main" val="20001"/>
                    </a:ext>
                  </a:extLst>
                </a:gridCol>
                <a:gridCol w="2641600">
                  <a:extLst>
                    <a:ext uri="{9D8B030D-6E8A-4147-A177-3AD203B41FA5}">
                      <a16:colId xmlns:a16="http://schemas.microsoft.com/office/drawing/2014/main" val="20002"/>
                    </a:ext>
                  </a:extLst>
                </a:gridCol>
              </a:tblGrid>
              <a:tr h="228599">
                <a:tc gridSpan="2">
                  <a:txBody>
                    <a:bodyPr/>
                    <a:lstStyle/>
                    <a:p>
                      <a:pPr>
                        <a:lnSpc>
                          <a:spcPct val="100000"/>
                        </a:lnSpc>
                      </a:pPr>
                      <a:endParaRPr sz="1300">
                        <a:latin typeface="Times New Roman" panose="02020603050405020304"/>
                        <a:cs typeface="Times New Roman" panose="02020603050405020304"/>
                      </a:endParaRPr>
                    </a:p>
                  </a:txBody>
                  <a:tcPr marL="0" marR="0" marT="0" marB="0">
                    <a:lnR w="28575">
                      <a:solidFill>
                        <a:srgbClr val="000000"/>
                      </a:solidFill>
                      <a:prstDash val="solid"/>
                    </a:lnR>
                  </a:tcPr>
                </a:tc>
                <a:tc hMerge="1">
                  <a:txBody>
                    <a:bodyPr/>
                    <a:lstStyle/>
                    <a:p>
                      <a:endParaRPr lang="zh-CN"/>
                    </a:p>
                  </a:txBody>
                  <a:tcPr marL="0" marR="0" marT="0" marB="0"/>
                </a:tc>
                <a:tc rowSpan="2">
                  <a:txBody>
                    <a:bodyPr/>
                    <a:lstStyle/>
                    <a:p>
                      <a:pPr algn="ctr">
                        <a:lnSpc>
                          <a:spcPct val="100000"/>
                        </a:lnSpc>
                        <a:spcBef>
                          <a:spcPts val="360"/>
                        </a:spcBef>
                      </a:pPr>
                      <a:r>
                        <a:rPr sz="1800" spc="-5" dirty="0">
                          <a:latin typeface="Arial" panose="020B0604020202020204"/>
                          <a:cs typeface="Arial" panose="020B0604020202020204"/>
                        </a:rPr>
                        <a:t>:Client</a:t>
                      </a:r>
                      <a:endParaRPr sz="1800">
                        <a:latin typeface="Arial" panose="020B0604020202020204"/>
                        <a:cs typeface="Arial" panose="020B0604020202020204"/>
                      </a:endParaRPr>
                    </a:p>
                  </a:txBody>
                  <a:tcPr marL="0" marR="0" marT="45719"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FEFED5"/>
                    </a:solidFill>
                  </a:tcPr>
                </a:tc>
                <a:extLst>
                  <a:ext uri="{0D108BD9-81ED-4DB2-BD59-A6C34878D82A}">
                    <a16:rowId xmlns:a16="http://schemas.microsoft.com/office/drawing/2014/main" val="10000"/>
                  </a:ext>
                </a:extLst>
              </a:tr>
              <a:tr h="168275">
                <a:tc rowSpan="2">
                  <a:txBody>
                    <a:bodyPr/>
                    <a:lstStyle/>
                    <a:p>
                      <a:pPr marL="434340">
                        <a:lnSpc>
                          <a:spcPct val="100000"/>
                        </a:lnSpc>
                        <a:spcBef>
                          <a:spcPts val="360"/>
                        </a:spcBef>
                      </a:pPr>
                      <a:r>
                        <a:rPr sz="1800" spc="-5" dirty="0">
                          <a:latin typeface="Arial" panose="020B0604020202020204"/>
                          <a:cs typeface="Arial" panose="020B0604020202020204"/>
                        </a:rPr>
                        <a:t>:StaffMember</a:t>
                      </a:r>
                      <a:endParaRPr sz="1800">
                        <a:latin typeface="Arial" panose="020B0604020202020204"/>
                        <a:cs typeface="Arial" panose="020B0604020202020204"/>
                      </a:endParaRPr>
                    </a:p>
                  </a:txBody>
                  <a:tcPr marL="0" marR="0" marB="0">
                    <a:lnL w="28575">
                      <a:solidFill>
                        <a:srgbClr val="000000"/>
                      </a:solidFill>
                      <a:prstDash val="solid"/>
                    </a:lnL>
                    <a:lnR w="28575">
                      <a:solidFill>
                        <a:srgbClr val="000000"/>
                      </a:solidFill>
                      <a:prstDash val="solid"/>
                    </a:lnR>
                    <a:lnB w="28575">
                      <a:solidFill>
                        <a:srgbClr val="000000"/>
                      </a:solidFill>
                      <a:prstDash val="solid"/>
                    </a:lnB>
                    <a:solidFill>
                      <a:srgbClr val="FEFED5"/>
                    </a:solidFill>
                  </a:tcPr>
                </a:tc>
                <a:tc rowSpan="3">
                  <a:txBody>
                    <a:bodyPr/>
                    <a:lstStyle/>
                    <a:p>
                      <a:pPr>
                        <a:lnSpc>
                          <a:spcPct val="100000"/>
                        </a:lnSpc>
                        <a:spcBef>
                          <a:spcPts val="50"/>
                        </a:spcBef>
                      </a:pPr>
                      <a:endParaRPr sz="3400">
                        <a:latin typeface="Times New Roman" panose="02020603050405020304"/>
                        <a:cs typeface="Times New Roman" panose="02020603050405020304"/>
                      </a:endParaRPr>
                    </a:p>
                    <a:p>
                      <a:pPr marL="91440">
                        <a:lnSpc>
                          <a:spcPts val="1940"/>
                        </a:lnSpc>
                        <a:tabLst>
                          <a:tab pos="1818005" algn="l"/>
                          <a:tab pos="5069205" algn="l"/>
                        </a:tabLst>
                      </a:pPr>
                      <a:r>
                        <a:rPr sz="2700" baseline="19000" dirty="0">
                          <a:latin typeface="Arial" panose="020B0604020202020204"/>
                          <a:cs typeface="Arial" panose="020B0604020202020204"/>
                        </a:rPr>
                        <a:t>1	</a:t>
                      </a:r>
                      <a:r>
                        <a:rPr sz="1800" b="1" spc="-5" dirty="0">
                          <a:latin typeface="Arial" panose="020B0604020202020204"/>
                          <a:cs typeface="Arial" panose="020B0604020202020204"/>
                        </a:rPr>
                        <a:t>liaises</a:t>
                      </a:r>
                      <a:r>
                        <a:rPr sz="1800" b="1" spc="5" dirty="0">
                          <a:latin typeface="Arial" panose="020B0604020202020204"/>
                          <a:cs typeface="Arial" panose="020B0604020202020204"/>
                        </a:rPr>
                        <a:t> </a:t>
                      </a:r>
                      <a:r>
                        <a:rPr sz="1800" b="1" spc="-5" dirty="0">
                          <a:latin typeface="Arial" panose="020B0604020202020204"/>
                          <a:cs typeface="Arial" panose="020B0604020202020204"/>
                        </a:rPr>
                        <a:t>with	</a:t>
                      </a:r>
                      <a:r>
                        <a:rPr sz="2700" baseline="19000" dirty="0">
                          <a:latin typeface="Arial" panose="020B0604020202020204"/>
                          <a:cs typeface="Arial" panose="020B0604020202020204"/>
                        </a:rPr>
                        <a:t>0..*</a:t>
                      </a:r>
                      <a:endParaRPr sz="2700" baseline="19000">
                        <a:latin typeface="Arial" panose="020B0604020202020204"/>
                        <a:cs typeface="Arial" panose="020B0604020202020204"/>
                      </a:endParaRPr>
                    </a:p>
                  </a:txBody>
                  <a:tcPr marL="0" marR="0" marT="6350" marB="0">
                    <a:lnL w="28575">
                      <a:solidFill>
                        <a:srgbClr val="000000"/>
                      </a:solidFill>
                      <a:prstDash val="solid"/>
                    </a:lnL>
                    <a:lnR w="28575">
                      <a:solidFill>
                        <a:srgbClr val="000000"/>
                      </a:solidFill>
                      <a:prstDash val="solid"/>
                    </a:lnR>
                    <a:lnB w="38100">
                      <a:solidFill>
                        <a:srgbClr val="000000"/>
                      </a:solidFill>
                      <a:prstDash val="solid"/>
                    </a:lnB>
                  </a:tcPr>
                </a:tc>
                <a:tc vMerge="1">
                  <a:txBody>
                    <a:bodyPr/>
                    <a:lstStyle/>
                    <a:p>
                      <a:endParaRPr lang="zh-CN"/>
                    </a:p>
                  </a:txBody>
                  <a:tcPr marL="0" marR="0" marT="45719"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FEFED5"/>
                    </a:solidFill>
                  </a:tcPr>
                </a:tc>
                <a:extLst>
                  <a:ext uri="{0D108BD9-81ED-4DB2-BD59-A6C34878D82A}">
                    <a16:rowId xmlns:a16="http://schemas.microsoft.com/office/drawing/2014/main" val="10001"/>
                  </a:ext>
                </a:extLst>
              </a:tr>
              <a:tr h="212725">
                <a:tc vMerge="1">
                  <a:txBody>
                    <a:bodyPr/>
                    <a:lstStyle/>
                    <a:p>
                      <a:endParaRPr lang="zh-CN"/>
                    </a:p>
                  </a:txBody>
                  <a:tcPr marL="0" marR="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FEFED5"/>
                    </a:solidFill>
                  </a:tcPr>
                </a:tc>
                <a:tc vMerge="1">
                  <a:txBody>
                    <a:bodyPr/>
                    <a:lstStyle/>
                    <a:p>
                      <a:endParaRPr lang="zh-CN"/>
                    </a:p>
                  </a:txBody>
                  <a:tcPr marL="0" marR="0" marT="6350" marB="0">
                    <a:lnL w="28575">
                      <a:solidFill>
                        <a:srgbClr val="000000"/>
                      </a:solidFill>
                      <a:prstDash val="solid"/>
                    </a:lnL>
                    <a:lnR w="28575">
                      <a:solidFill>
                        <a:srgbClr val="000000"/>
                      </a:solidFill>
                      <a:prstDash val="solid"/>
                    </a:lnR>
                    <a:lnB w="38100">
                      <a:solidFill>
                        <a:srgbClr val="000000"/>
                      </a:solidFill>
                      <a:prstDash val="solid"/>
                    </a:lnB>
                  </a:tcPr>
                </a:tc>
                <a:tc rowSpan="4">
                  <a:txBody>
                    <a:bodyPr/>
                    <a:lstStyle/>
                    <a:p>
                      <a:pPr marL="91440" marR="779780">
                        <a:lnSpc>
                          <a:spcPct val="90000"/>
                        </a:lnSpc>
                        <a:spcBef>
                          <a:spcPts val="395"/>
                        </a:spcBef>
                      </a:pPr>
                      <a:r>
                        <a:rPr sz="1600" dirty="0">
                          <a:latin typeface="Arial" panose="020B0604020202020204"/>
                          <a:cs typeface="Arial" panose="020B0604020202020204"/>
                        </a:rPr>
                        <a:t>companyAddress  companyEmail  </a:t>
                      </a:r>
                      <a:r>
                        <a:rPr sz="1600" spc="-5" dirty="0">
                          <a:latin typeface="Arial" panose="020B0604020202020204"/>
                          <a:cs typeface="Arial" panose="020B0604020202020204"/>
                        </a:rPr>
                        <a:t>companyFax  </a:t>
                      </a:r>
                      <a:r>
                        <a:rPr sz="1600" dirty="0">
                          <a:latin typeface="Arial" panose="020B0604020202020204"/>
                          <a:cs typeface="Arial" panose="020B0604020202020204"/>
                        </a:rPr>
                        <a:t>companyName  company</a:t>
                      </a:r>
                      <a:r>
                        <a:rPr sz="1600" spc="-180" dirty="0">
                          <a:latin typeface="Arial" panose="020B0604020202020204"/>
                          <a:cs typeface="Arial" panose="020B0604020202020204"/>
                        </a:rPr>
                        <a:t>T</a:t>
                      </a:r>
                      <a:r>
                        <a:rPr sz="1600" dirty="0">
                          <a:latin typeface="Arial" panose="020B0604020202020204"/>
                          <a:cs typeface="Arial" panose="020B0604020202020204"/>
                        </a:rPr>
                        <a:t>elephone</a:t>
                      </a:r>
                      <a:endParaRPr sz="1600">
                        <a:latin typeface="Arial" panose="020B0604020202020204"/>
                        <a:cs typeface="Arial" panose="020B0604020202020204"/>
                      </a:endParaRPr>
                    </a:p>
                  </a:txBody>
                  <a:tcPr marL="0" marR="0" marT="50165"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FEFED5"/>
                    </a:solidFill>
                  </a:tcPr>
                </a:tc>
                <a:extLst>
                  <a:ext uri="{0D108BD9-81ED-4DB2-BD59-A6C34878D82A}">
                    <a16:rowId xmlns:a16="http://schemas.microsoft.com/office/drawing/2014/main" val="10002"/>
                  </a:ext>
                </a:extLst>
              </a:tr>
              <a:tr h="381000">
                <a:tc rowSpan="2">
                  <a:txBody>
                    <a:bodyPr/>
                    <a:lstStyle/>
                    <a:p>
                      <a:pPr marL="91440" marR="897255">
                        <a:lnSpc>
                          <a:spcPts val="1700"/>
                        </a:lnSpc>
                        <a:spcBef>
                          <a:spcPts val="440"/>
                        </a:spcBef>
                      </a:pPr>
                      <a:r>
                        <a:rPr sz="1600" spc="-5" dirty="0">
                          <a:latin typeface="Arial" panose="020B0604020202020204"/>
                          <a:cs typeface="Arial" panose="020B0604020202020204"/>
                        </a:rPr>
                        <a:t>staffName  </a:t>
                      </a:r>
                      <a:r>
                        <a:rPr sz="1600" spc="-10" dirty="0">
                          <a:latin typeface="Arial" panose="020B0604020202020204"/>
                          <a:cs typeface="Arial" panose="020B0604020202020204"/>
                        </a:rPr>
                        <a:t>staff#  </a:t>
                      </a:r>
                      <a:r>
                        <a:rPr sz="1600" dirty="0">
                          <a:latin typeface="Arial" panose="020B0604020202020204"/>
                          <a:cs typeface="Arial" panose="020B0604020202020204"/>
                        </a:rPr>
                        <a:t>s</a:t>
                      </a:r>
                      <a:r>
                        <a:rPr sz="1600" spc="-5" dirty="0">
                          <a:latin typeface="Arial" panose="020B0604020202020204"/>
                          <a:cs typeface="Arial" panose="020B0604020202020204"/>
                        </a:rPr>
                        <a:t>t</a:t>
                      </a:r>
                      <a:r>
                        <a:rPr sz="1600" dirty="0">
                          <a:latin typeface="Arial" panose="020B0604020202020204"/>
                          <a:cs typeface="Arial" panose="020B0604020202020204"/>
                        </a:rPr>
                        <a:t>a</a:t>
                      </a:r>
                      <a:r>
                        <a:rPr sz="1600" spc="-30" dirty="0">
                          <a:latin typeface="Arial" panose="020B0604020202020204"/>
                          <a:cs typeface="Arial" panose="020B0604020202020204"/>
                        </a:rPr>
                        <a:t>f</a:t>
                      </a:r>
                      <a:r>
                        <a:rPr sz="1600" spc="-5" dirty="0">
                          <a:latin typeface="Arial" panose="020B0604020202020204"/>
                          <a:cs typeface="Arial" panose="020B0604020202020204"/>
                        </a:rPr>
                        <a:t>f</a:t>
                      </a:r>
                      <a:r>
                        <a:rPr sz="1600" dirty="0">
                          <a:latin typeface="Arial" panose="020B0604020202020204"/>
                          <a:cs typeface="Arial" panose="020B0604020202020204"/>
                        </a:rPr>
                        <a:t>S</a:t>
                      </a:r>
                      <a:r>
                        <a:rPr sz="1600" spc="-5" dirty="0">
                          <a:latin typeface="Arial" panose="020B0604020202020204"/>
                          <a:cs typeface="Arial" panose="020B0604020202020204"/>
                        </a:rPr>
                        <a:t>t</a:t>
                      </a:r>
                      <a:r>
                        <a:rPr sz="1600" dirty="0">
                          <a:latin typeface="Arial" panose="020B0604020202020204"/>
                          <a:cs typeface="Arial" panose="020B0604020202020204"/>
                        </a:rPr>
                        <a:t>ar</a:t>
                      </a:r>
                      <a:r>
                        <a:rPr sz="1600" spc="-5" dirty="0">
                          <a:latin typeface="Arial" panose="020B0604020202020204"/>
                          <a:cs typeface="Arial" panose="020B0604020202020204"/>
                        </a:rPr>
                        <a:t>t</a:t>
                      </a:r>
                      <a:r>
                        <a:rPr sz="1600" dirty="0">
                          <a:latin typeface="Arial" panose="020B0604020202020204"/>
                          <a:cs typeface="Arial" panose="020B0604020202020204"/>
                        </a:rPr>
                        <a:t>Da</a:t>
                      </a:r>
                      <a:r>
                        <a:rPr sz="1600" spc="-5" dirty="0">
                          <a:latin typeface="Arial" panose="020B0604020202020204"/>
                          <a:cs typeface="Arial" panose="020B0604020202020204"/>
                        </a:rPr>
                        <a:t>t</a:t>
                      </a:r>
                      <a:r>
                        <a:rPr sz="1600" dirty="0">
                          <a:latin typeface="Arial" panose="020B0604020202020204"/>
                          <a:cs typeface="Arial" panose="020B0604020202020204"/>
                        </a:rPr>
                        <a:t>e</a:t>
                      </a:r>
                    </a:p>
                  </a:txBody>
                  <a:tcPr marL="0" marR="0" marT="55879"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FEFED5"/>
                    </a:solidFill>
                  </a:tcPr>
                </a:tc>
                <a:tc vMerge="1">
                  <a:txBody>
                    <a:bodyPr/>
                    <a:lstStyle/>
                    <a:p>
                      <a:endParaRPr lang="zh-CN"/>
                    </a:p>
                  </a:txBody>
                  <a:tcPr marL="0" marR="0" marT="6350" marB="0">
                    <a:lnL w="28575">
                      <a:solidFill>
                        <a:srgbClr val="000000"/>
                      </a:solidFill>
                      <a:prstDash val="solid"/>
                    </a:lnL>
                    <a:lnR w="28575">
                      <a:solidFill>
                        <a:srgbClr val="000000"/>
                      </a:solidFill>
                      <a:prstDash val="solid"/>
                    </a:lnR>
                    <a:lnB w="38100">
                      <a:solidFill>
                        <a:srgbClr val="000000"/>
                      </a:solidFill>
                      <a:prstDash val="solid"/>
                    </a:lnB>
                  </a:tcPr>
                </a:tc>
                <a:tc vMerge="1">
                  <a:txBody>
                    <a:bodyPr/>
                    <a:lstStyle/>
                    <a:p>
                      <a:endParaRPr lang="zh-CN"/>
                    </a:p>
                  </a:txBody>
                  <a:tcPr marL="0" marR="0" marT="50165"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FEFED5"/>
                    </a:solidFill>
                  </a:tcPr>
                </a:tc>
                <a:extLst>
                  <a:ext uri="{0D108BD9-81ED-4DB2-BD59-A6C34878D82A}">
                    <a16:rowId xmlns:a16="http://schemas.microsoft.com/office/drawing/2014/main" val="10003"/>
                  </a:ext>
                </a:extLst>
              </a:tr>
              <a:tr h="380999">
                <a:tc vMerge="1">
                  <a:txBody>
                    <a:bodyPr/>
                    <a:lstStyle/>
                    <a:p>
                      <a:endParaRPr lang="zh-CN"/>
                    </a:p>
                  </a:txBody>
                  <a:tcPr marL="0" marR="0" marT="55879"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FEFED5"/>
                    </a:solidFill>
                  </a:tcPr>
                </a:tc>
                <a:tc rowSpan="2">
                  <a:txBody>
                    <a:bodyPr/>
                    <a:lstStyle/>
                    <a:p>
                      <a:pPr marL="91440">
                        <a:lnSpc>
                          <a:spcPct val="100000"/>
                        </a:lnSpc>
                        <a:spcBef>
                          <a:spcPts val="360"/>
                        </a:spcBef>
                        <a:tabLst>
                          <a:tab pos="4459605" algn="l"/>
                        </a:tabLst>
                      </a:pPr>
                      <a:r>
                        <a:rPr sz="2400" spc="-7" baseline="-7000" dirty="0">
                          <a:latin typeface="Arial" panose="020B0604020202020204"/>
                          <a:cs typeface="Arial" panose="020B0604020202020204"/>
                        </a:rPr>
                        <a:t>contact	</a:t>
                      </a:r>
                      <a:r>
                        <a:rPr sz="1600" spc="-5" dirty="0">
                          <a:latin typeface="Arial" panose="020B0604020202020204"/>
                          <a:cs typeface="Arial" panose="020B0604020202020204"/>
                        </a:rPr>
                        <a:t>ClientList</a:t>
                      </a:r>
                      <a:endParaRPr sz="1600">
                        <a:latin typeface="Arial" panose="020B0604020202020204"/>
                        <a:cs typeface="Arial" panose="020B0604020202020204"/>
                      </a:endParaRPr>
                    </a:p>
                    <a:p>
                      <a:pPr marL="91440">
                        <a:lnSpc>
                          <a:spcPct val="100000"/>
                        </a:lnSpc>
                        <a:spcBef>
                          <a:spcPts val="155"/>
                        </a:spcBef>
                      </a:pPr>
                      <a:r>
                        <a:rPr sz="1600" dirty="0">
                          <a:latin typeface="Arial" panose="020B0604020202020204"/>
                          <a:cs typeface="Arial" panose="020B0604020202020204"/>
                        </a:rPr>
                        <a:t>person</a:t>
                      </a:r>
                      <a:endParaRPr sz="1600">
                        <a:latin typeface="Arial" panose="020B0604020202020204"/>
                        <a:cs typeface="Arial" panose="020B0604020202020204"/>
                      </a:endParaRPr>
                    </a:p>
                  </a:txBody>
                  <a:tcPr marL="0" marR="0" marT="45719" marB="0">
                    <a:lnL w="28575">
                      <a:solidFill>
                        <a:srgbClr val="000000"/>
                      </a:solidFill>
                      <a:prstDash val="solid"/>
                    </a:lnL>
                    <a:lnR w="28575">
                      <a:solidFill>
                        <a:srgbClr val="000000"/>
                      </a:solidFill>
                      <a:prstDash val="solid"/>
                    </a:lnR>
                    <a:lnT w="38100">
                      <a:solidFill>
                        <a:srgbClr val="000000"/>
                      </a:solidFill>
                      <a:prstDash val="solid"/>
                    </a:lnT>
                  </a:tcPr>
                </a:tc>
                <a:tc vMerge="1">
                  <a:txBody>
                    <a:bodyPr/>
                    <a:lstStyle/>
                    <a:p>
                      <a:endParaRPr lang="zh-CN"/>
                    </a:p>
                  </a:txBody>
                  <a:tcPr marL="0" marR="0" marT="50165"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FEFED5"/>
                    </a:solidFill>
                  </a:tcPr>
                </a:tc>
                <a:extLst>
                  <a:ext uri="{0D108BD9-81ED-4DB2-BD59-A6C34878D82A}">
                    <a16:rowId xmlns:a16="http://schemas.microsoft.com/office/drawing/2014/main" val="10004"/>
                  </a:ext>
                </a:extLst>
              </a:tr>
              <a:tr h="219868">
                <a:tc>
                  <a:txBody>
                    <a:bodyPr/>
                    <a:lstStyle/>
                    <a:p>
                      <a:pPr>
                        <a:lnSpc>
                          <a:spcPct val="100000"/>
                        </a:lnSpc>
                      </a:pPr>
                      <a:endParaRPr sz="1300">
                        <a:latin typeface="Times New Roman" panose="02020603050405020304"/>
                        <a:cs typeface="Times New Roman" panose="02020603050405020304"/>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FEFED5"/>
                    </a:solidFill>
                  </a:tcPr>
                </a:tc>
                <a:tc vMerge="1">
                  <a:txBody>
                    <a:bodyPr/>
                    <a:lstStyle/>
                    <a:p>
                      <a:endParaRPr lang="zh-CN"/>
                    </a:p>
                  </a:txBody>
                  <a:tcPr marL="0" marR="0" marT="45719" marB="0">
                    <a:lnL w="28575">
                      <a:solidFill>
                        <a:srgbClr val="000000"/>
                      </a:solidFill>
                      <a:prstDash val="solid"/>
                    </a:lnL>
                    <a:lnR w="28575">
                      <a:solidFill>
                        <a:srgbClr val="000000"/>
                      </a:solidFill>
                      <a:prstDash val="solid"/>
                    </a:lnR>
                    <a:lnT w="38100">
                      <a:solidFill>
                        <a:srgbClr val="000000"/>
                      </a:solidFill>
                      <a:prstDash val="solid"/>
                    </a:lnT>
                  </a:tcPr>
                </a:tc>
                <a:tc vMerge="1">
                  <a:txBody>
                    <a:bodyPr/>
                    <a:lstStyle/>
                    <a:p>
                      <a:endParaRPr lang="zh-CN"/>
                    </a:p>
                  </a:txBody>
                  <a:tcPr marL="0" marR="0" marT="50165"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FEFED5"/>
                    </a:solidFill>
                  </a:tcPr>
                </a:tc>
                <a:extLst>
                  <a:ext uri="{0D108BD9-81ED-4DB2-BD59-A6C34878D82A}">
                    <a16:rowId xmlns:a16="http://schemas.microsoft.com/office/drawing/2014/main" val="10005"/>
                  </a:ext>
                </a:extLst>
              </a:tr>
              <a:tr h="237330">
                <a:tc gridSpan="2">
                  <a:txBody>
                    <a:bodyPr/>
                    <a:lstStyle/>
                    <a:p>
                      <a:pPr>
                        <a:lnSpc>
                          <a:spcPct val="100000"/>
                        </a:lnSpc>
                      </a:pPr>
                      <a:endParaRPr sz="1400">
                        <a:latin typeface="Times New Roman" panose="02020603050405020304"/>
                        <a:cs typeface="Times New Roman" panose="02020603050405020304"/>
                      </a:endParaRPr>
                    </a:p>
                  </a:txBody>
                  <a:tcPr marL="0" marR="0" marT="0" marB="0">
                    <a:lnR w="28575">
                      <a:solidFill>
                        <a:srgbClr val="000000"/>
                      </a:solidFill>
                      <a:prstDash val="solid"/>
                    </a:lnR>
                    <a:lnT w="28575" cap="flat" cmpd="sng" algn="ctr">
                      <a:solidFill>
                        <a:srgbClr val="000000"/>
                      </a:solidFill>
                      <a:prstDash val="solid"/>
                      <a:round/>
                      <a:headEnd type="none" w="med" len="med"/>
                      <a:tailEnd type="none" w="med" len="med"/>
                    </a:lnT>
                  </a:tcPr>
                </a:tc>
                <a:tc hMerge="1">
                  <a:txBody>
                    <a:bodyPr/>
                    <a:lstStyle/>
                    <a:p>
                      <a:endParaRPr lang="zh-CN"/>
                    </a:p>
                  </a:txBody>
                  <a:tcPr marL="0" marR="0" marT="0" marB="0"/>
                </a:tc>
                <a:tc>
                  <a:txBody>
                    <a:bodyPr/>
                    <a:lstStyle/>
                    <a:p>
                      <a:pPr>
                        <a:lnSpc>
                          <a:spcPct val="100000"/>
                        </a:lnSpc>
                      </a:pPr>
                      <a:endParaRPr sz="1400" dirty="0">
                        <a:latin typeface="Times New Roman" panose="02020603050405020304"/>
                        <a:cs typeface="Times New Roman" panose="02020603050405020304"/>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FEFED5"/>
                    </a:solidFill>
                  </a:tcPr>
                </a:tc>
                <a:extLst>
                  <a:ext uri="{0D108BD9-81ED-4DB2-BD59-A6C34878D82A}">
                    <a16:rowId xmlns:a16="http://schemas.microsoft.com/office/drawing/2014/main" val="10006"/>
                  </a:ext>
                </a:extLst>
              </a:tr>
            </a:tbl>
          </a:graphicData>
        </a:graphic>
      </p:graphicFrame>
      <p:sp>
        <p:nvSpPr>
          <p:cNvPr id="39" name="object 10"/>
          <p:cNvSpPr txBox="1"/>
          <p:nvPr/>
        </p:nvSpPr>
        <p:spPr>
          <a:xfrm>
            <a:off x="5256090" y="2319766"/>
            <a:ext cx="116840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800000"/>
                </a:solidFill>
                <a:latin typeface="微软雅黑" panose="020B0503020204020204" pitchFamily="34" charset="-122"/>
                <a:ea typeface="微软雅黑" panose="020B0503020204020204" pitchFamily="34" charset="-122"/>
                <a:cs typeface="黑体" panose="02010609060101010101" charset="-122"/>
              </a:rPr>
              <a:t>关联关系名</a:t>
            </a:r>
            <a:endParaRPr sz="1800">
              <a:latin typeface="微软雅黑" panose="020B0503020204020204" pitchFamily="34" charset="-122"/>
              <a:ea typeface="微软雅黑" panose="020B0503020204020204" pitchFamily="34" charset="-122"/>
              <a:cs typeface="黑体" panose="02010609060101010101" charset="-122"/>
            </a:endParaRPr>
          </a:p>
        </p:txBody>
      </p:sp>
      <p:sp>
        <p:nvSpPr>
          <p:cNvPr id="40" name="object 11"/>
          <p:cNvSpPr txBox="1"/>
          <p:nvPr/>
        </p:nvSpPr>
        <p:spPr>
          <a:xfrm>
            <a:off x="6173293" y="1535541"/>
            <a:ext cx="3683000" cy="541020"/>
          </a:xfrm>
          <a:prstGeom prst="rect">
            <a:avLst/>
          </a:prstGeom>
        </p:spPr>
        <p:txBody>
          <a:bodyPr vert="horz" wrap="square" lIns="0" tIns="48260" rIns="0" bIns="0" rtlCol="0">
            <a:spAutoFit/>
          </a:bodyPr>
          <a:lstStyle/>
          <a:p>
            <a:pPr marL="12700" marR="5080" indent="1257300">
              <a:lnSpc>
                <a:spcPts val="1900"/>
              </a:lnSpc>
              <a:spcBef>
                <a:spcPts val="380"/>
              </a:spcBef>
            </a:pPr>
            <a:r>
              <a:rPr sz="1800" dirty="0">
                <a:solidFill>
                  <a:srgbClr val="800000"/>
                </a:solidFill>
                <a:latin typeface="微软雅黑" panose="020B0503020204020204" pitchFamily="34" charset="-122"/>
                <a:ea typeface="微软雅黑" panose="020B0503020204020204" pitchFamily="34" charset="-122"/>
                <a:cs typeface="黑体" panose="02010609060101010101" charset="-122"/>
              </a:rPr>
              <a:t>多样性定义 “每名员工可以负责零或多名客户</a:t>
            </a:r>
            <a:r>
              <a:rPr sz="1800" dirty="0">
                <a:solidFill>
                  <a:srgbClr val="941100"/>
                </a:solidFill>
                <a:latin typeface="微软雅黑" panose="020B0503020204020204" pitchFamily="34" charset="-122"/>
                <a:ea typeface="微软雅黑" panose="020B0503020204020204" pitchFamily="34" charset="-122"/>
                <a:cs typeface="黑体" panose="02010609060101010101" charset="-122"/>
              </a:rPr>
              <a:t>”</a:t>
            </a:r>
            <a:endParaRPr sz="1800" dirty="0">
              <a:latin typeface="微软雅黑" panose="020B0503020204020204" pitchFamily="34" charset="-122"/>
              <a:ea typeface="微软雅黑" panose="020B0503020204020204" pitchFamily="34" charset="-122"/>
              <a:cs typeface="黑体" panose="02010609060101010101" charset="-122"/>
            </a:endParaRPr>
          </a:p>
        </p:txBody>
      </p:sp>
      <p:sp>
        <p:nvSpPr>
          <p:cNvPr id="41" name="object 12"/>
          <p:cNvSpPr txBox="1"/>
          <p:nvPr/>
        </p:nvSpPr>
        <p:spPr>
          <a:xfrm>
            <a:off x="905005" y="1557766"/>
            <a:ext cx="4368800" cy="541020"/>
          </a:xfrm>
          <a:prstGeom prst="rect">
            <a:avLst/>
          </a:prstGeom>
        </p:spPr>
        <p:txBody>
          <a:bodyPr vert="horz" wrap="square" lIns="0" tIns="48260" rIns="0" bIns="0" rtlCol="0">
            <a:spAutoFit/>
          </a:bodyPr>
          <a:lstStyle/>
          <a:p>
            <a:pPr marL="12700" marR="5080" indent="850900">
              <a:lnSpc>
                <a:spcPts val="1900"/>
              </a:lnSpc>
              <a:spcBef>
                <a:spcPts val="380"/>
              </a:spcBef>
            </a:pPr>
            <a:r>
              <a:rPr sz="1800" dirty="0">
                <a:solidFill>
                  <a:srgbClr val="800000"/>
                </a:solidFill>
                <a:latin typeface="微软雅黑" panose="020B0503020204020204" pitchFamily="34" charset="-122"/>
                <a:ea typeface="微软雅黑" panose="020B0503020204020204" pitchFamily="34" charset="-122"/>
                <a:cs typeface="黑体" panose="02010609060101010101" charset="-122"/>
              </a:rPr>
              <a:t>多 样 性 定 义 </a:t>
            </a:r>
            <a:r>
              <a:rPr sz="1800" spc="-5" dirty="0">
                <a:solidFill>
                  <a:srgbClr val="800000"/>
                </a:solidFill>
                <a:latin typeface="微软雅黑" panose="020B0503020204020204" pitchFamily="34" charset="-122"/>
                <a:ea typeface="微软雅黑" panose="020B0503020204020204" pitchFamily="34" charset="-122"/>
                <a:cs typeface="黑体" panose="02010609060101010101" charset="-122"/>
              </a:rPr>
              <a:t>（</a:t>
            </a:r>
            <a:r>
              <a:rPr sz="1800" spc="-5" dirty="0">
                <a:solidFill>
                  <a:srgbClr val="941100"/>
                </a:solidFill>
                <a:latin typeface="微软雅黑" panose="020B0503020204020204" pitchFamily="34" charset="-122"/>
                <a:ea typeface="微软雅黑" panose="020B0503020204020204" pitchFamily="34" charset="-122"/>
                <a:cs typeface="Calibri" panose="020F0502020204030204"/>
              </a:rPr>
              <a:t>multiplicity</a:t>
            </a:r>
            <a:r>
              <a:rPr sz="1800" spc="-5" dirty="0">
                <a:solidFill>
                  <a:srgbClr val="941100"/>
                </a:solidFill>
                <a:latin typeface="微软雅黑" panose="020B0503020204020204" pitchFamily="34" charset="-122"/>
                <a:ea typeface="微软雅黑" panose="020B0503020204020204" pitchFamily="34" charset="-122"/>
                <a:cs typeface="黑体" panose="02010609060101010101" charset="-122"/>
              </a:rPr>
              <a:t>） </a:t>
            </a:r>
            <a:r>
              <a:rPr sz="1800" spc="-5" dirty="0">
                <a:solidFill>
                  <a:srgbClr val="800000"/>
                </a:solidFill>
                <a:latin typeface="微软雅黑" panose="020B0503020204020204" pitchFamily="34" charset="-122"/>
                <a:ea typeface="微软雅黑" panose="020B0503020204020204" pitchFamily="34" charset="-122"/>
                <a:cs typeface="黑体" panose="02010609060101010101" charset="-122"/>
              </a:rPr>
              <a:t> </a:t>
            </a:r>
            <a:r>
              <a:rPr sz="1800" dirty="0">
                <a:solidFill>
                  <a:srgbClr val="800000"/>
                </a:solidFill>
                <a:latin typeface="微软雅黑" panose="020B0503020204020204" pitchFamily="34" charset="-122"/>
                <a:ea typeface="微软雅黑" panose="020B0503020204020204" pitchFamily="34" charset="-122"/>
                <a:cs typeface="黑体" panose="02010609060101010101" charset="-122"/>
              </a:rPr>
              <a:t>“每个客户只能有一个员工担任其联系人</a:t>
            </a:r>
            <a:r>
              <a:rPr sz="1800" dirty="0">
                <a:solidFill>
                  <a:srgbClr val="941100"/>
                </a:solidFill>
                <a:latin typeface="微软雅黑" panose="020B0503020204020204" pitchFamily="34" charset="-122"/>
                <a:ea typeface="微软雅黑" panose="020B0503020204020204" pitchFamily="34" charset="-122"/>
                <a:cs typeface="黑体" panose="02010609060101010101" charset="-122"/>
              </a:rPr>
              <a:t>”</a:t>
            </a:r>
            <a:endParaRPr sz="1800" dirty="0">
              <a:latin typeface="微软雅黑" panose="020B0503020204020204" pitchFamily="34" charset="-122"/>
              <a:ea typeface="微软雅黑" panose="020B0503020204020204" pitchFamily="34" charset="-122"/>
              <a:cs typeface="黑体" panose="02010609060101010101" charset="-122"/>
            </a:endParaRPr>
          </a:p>
        </p:txBody>
      </p:sp>
      <p:sp>
        <p:nvSpPr>
          <p:cNvPr id="42" name="object 13"/>
          <p:cNvSpPr txBox="1"/>
          <p:nvPr/>
        </p:nvSpPr>
        <p:spPr>
          <a:xfrm>
            <a:off x="4325718" y="4735941"/>
            <a:ext cx="2269490" cy="1013098"/>
          </a:xfrm>
          <a:prstGeom prst="rect">
            <a:avLst/>
          </a:prstGeom>
        </p:spPr>
        <p:txBody>
          <a:bodyPr vert="horz" wrap="square" lIns="0" tIns="12700" rIns="0" bIns="0" rtlCol="0">
            <a:spAutoFit/>
          </a:bodyPr>
          <a:lstStyle/>
          <a:p>
            <a:pPr marR="635" algn="ctr">
              <a:lnSpc>
                <a:spcPts val="2030"/>
              </a:lnSpc>
              <a:spcBef>
                <a:spcPts val="100"/>
              </a:spcBef>
            </a:pPr>
            <a:r>
              <a:rPr sz="1800" dirty="0">
                <a:solidFill>
                  <a:srgbClr val="800000"/>
                </a:solidFill>
                <a:latin typeface="微软雅黑" panose="020B0503020204020204" pitchFamily="34" charset="-122"/>
                <a:ea typeface="微软雅黑" panose="020B0503020204020204" pitchFamily="34" charset="-122"/>
                <a:cs typeface="黑体" panose="02010609060101010101" charset="-122"/>
              </a:rPr>
              <a:t>关联方向定义</a:t>
            </a:r>
            <a:endParaRPr sz="1800">
              <a:latin typeface="微软雅黑" panose="020B0503020204020204" pitchFamily="34" charset="-122"/>
              <a:ea typeface="微软雅黑" panose="020B0503020204020204" pitchFamily="34" charset="-122"/>
              <a:cs typeface="黑体" panose="02010609060101010101" charset="-122"/>
            </a:endParaRPr>
          </a:p>
          <a:p>
            <a:pPr algn="ctr">
              <a:lnSpc>
                <a:spcPts val="1900"/>
              </a:lnSpc>
            </a:pPr>
            <a:r>
              <a:rPr sz="1800" dirty="0">
                <a:solidFill>
                  <a:srgbClr val="800000"/>
                </a:solidFill>
                <a:latin typeface="微软雅黑" panose="020B0503020204020204" pitchFamily="34" charset="-122"/>
                <a:ea typeface="微软雅黑" panose="020B0503020204020204" pitchFamily="34" charset="-122"/>
                <a:cs typeface="黑体" panose="02010609060101010101" charset="-122"/>
              </a:rPr>
              <a:t>关联关系</a:t>
            </a:r>
            <a:r>
              <a:rPr sz="1800" spc="-55" dirty="0">
                <a:solidFill>
                  <a:srgbClr val="800000"/>
                </a:solidFill>
                <a:latin typeface="微软雅黑" panose="020B0503020204020204" pitchFamily="34" charset="-122"/>
                <a:ea typeface="微软雅黑" panose="020B0503020204020204" pitchFamily="34" charset="-122"/>
                <a:cs typeface="黑体" panose="02010609060101010101" charset="-122"/>
              </a:rPr>
              <a:t> </a:t>
            </a:r>
            <a:r>
              <a:rPr sz="1800" dirty="0">
                <a:solidFill>
                  <a:srgbClr val="941100"/>
                </a:solidFill>
                <a:latin typeface="微软雅黑" panose="020B0503020204020204" pitchFamily="34" charset="-122"/>
                <a:ea typeface="微软雅黑" panose="020B0503020204020204" pitchFamily="34" charset="-122"/>
                <a:cs typeface="Calibri" panose="020F0502020204030204"/>
              </a:rPr>
              <a:t>“liaises</a:t>
            </a:r>
            <a:r>
              <a:rPr sz="1800" spc="-20" dirty="0">
                <a:solidFill>
                  <a:srgbClr val="941100"/>
                </a:solidFill>
                <a:latin typeface="微软雅黑" panose="020B0503020204020204" pitchFamily="34" charset="-122"/>
                <a:ea typeface="微软雅黑" panose="020B0503020204020204" pitchFamily="34" charset="-122"/>
                <a:cs typeface="Calibri" panose="020F0502020204030204"/>
              </a:rPr>
              <a:t> </a:t>
            </a:r>
            <a:r>
              <a:rPr sz="1800" spc="-5" dirty="0">
                <a:solidFill>
                  <a:srgbClr val="941100"/>
                </a:solidFill>
                <a:latin typeface="微软雅黑" panose="020B0503020204020204" pitchFamily="34" charset="-122"/>
                <a:ea typeface="微软雅黑" panose="020B0503020204020204" pitchFamily="34" charset="-122"/>
                <a:cs typeface="Calibri" panose="020F0502020204030204"/>
              </a:rPr>
              <a:t>with”</a:t>
            </a:r>
            <a:endParaRPr sz="1800">
              <a:latin typeface="微软雅黑" panose="020B0503020204020204" pitchFamily="34" charset="-122"/>
              <a:ea typeface="微软雅黑" panose="020B0503020204020204" pitchFamily="34" charset="-122"/>
              <a:cs typeface="Calibri" panose="020F0502020204030204"/>
            </a:endParaRPr>
          </a:p>
          <a:p>
            <a:pPr marR="635" algn="ctr">
              <a:lnSpc>
                <a:spcPts val="2030"/>
              </a:lnSpc>
            </a:pPr>
            <a:r>
              <a:rPr sz="1800" dirty="0">
                <a:solidFill>
                  <a:srgbClr val="800000"/>
                </a:solidFill>
                <a:latin typeface="微软雅黑" panose="020B0503020204020204" pitchFamily="34" charset="-122"/>
                <a:ea typeface="微软雅黑" panose="020B0503020204020204" pitchFamily="34" charset="-122"/>
                <a:cs typeface="黑体" panose="02010609060101010101" charset="-122"/>
              </a:rPr>
              <a:t>的方向指示</a:t>
            </a:r>
            <a:endParaRPr sz="1800">
              <a:latin typeface="微软雅黑" panose="020B0503020204020204" pitchFamily="34" charset="-122"/>
              <a:ea typeface="微软雅黑" panose="020B0503020204020204" pitchFamily="34" charset="-122"/>
              <a:cs typeface="黑体" panose="02010609060101010101" charset="-122"/>
            </a:endParaRPr>
          </a:p>
        </p:txBody>
      </p:sp>
      <p:sp>
        <p:nvSpPr>
          <p:cNvPr id="43" name="object 14"/>
          <p:cNvSpPr txBox="1"/>
          <p:nvPr/>
        </p:nvSpPr>
        <p:spPr>
          <a:xfrm>
            <a:off x="5735771" y="5841958"/>
            <a:ext cx="4597400" cy="541020"/>
          </a:xfrm>
          <a:prstGeom prst="rect">
            <a:avLst/>
          </a:prstGeom>
        </p:spPr>
        <p:txBody>
          <a:bodyPr vert="horz" wrap="square" lIns="0" tIns="12700" rIns="0" bIns="0" rtlCol="0">
            <a:spAutoFit/>
          </a:bodyPr>
          <a:lstStyle/>
          <a:p>
            <a:pPr algn="ctr">
              <a:lnSpc>
                <a:spcPts val="2030"/>
              </a:lnSpc>
              <a:spcBef>
                <a:spcPts val="100"/>
              </a:spcBef>
            </a:pPr>
            <a:r>
              <a:rPr sz="1800" dirty="0">
                <a:solidFill>
                  <a:srgbClr val="800000"/>
                </a:solidFill>
                <a:latin typeface="微软雅黑" panose="020B0503020204020204" pitchFamily="34" charset="-122"/>
                <a:ea typeface="微软雅黑" panose="020B0503020204020204" pitchFamily="34" charset="-122"/>
                <a:cs typeface="黑体" panose="02010609060101010101" charset="-122"/>
              </a:rPr>
              <a:t>角色定义</a:t>
            </a:r>
            <a:endParaRPr sz="1800">
              <a:latin typeface="微软雅黑" panose="020B0503020204020204" pitchFamily="34" charset="-122"/>
              <a:ea typeface="微软雅黑" panose="020B0503020204020204" pitchFamily="34" charset="-122"/>
              <a:cs typeface="黑体" panose="02010609060101010101" charset="-122"/>
            </a:endParaRPr>
          </a:p>
          <a:p>
            <a:pPr algn="ctr">
              <a:lnSpc>
                <a:spcPts val="2030"/>
              </a:lnSpc>
            </a:pPr>
            <a:r>
              <a:rPr sz="1800" dirty="0">
                <a:solidFill>
                  <a:srgbClr val="800000"/>
                </a:solidFill>
                <a:latin typeface="微软雅黑" panose="020B0503020204020204" pitchFamily="34" charset="-122"/>
                <a:ea typeface="微软雅黑" panose="020B0503020204020204" pitchFamily="34" charset="-122"/>
                <a:cs typeface="黑体" panose="02010609060101010101" charset="-122"/>
              </a:rPr>
              <a:t>客户在这个关联关系中的角色是</a:t>
            </a:r>
            <a:r>
              <a:rPr sz="1800" dirty="0">
                <a:solidFill>
                  <a:srgbClr val="941100"/>
                </a:solidFill>
                <a:latin typeface="微软雅黑" panose="020B0503020204020204" pitchFamily="34" charset="-122"/>
                <a:ea typeface="微软雅黑" panose="020B0503020204020204" pitchFamily="34" charset="-122"/>
                <a:cs typeface="黑体" panose="02010609060101010101" charset="-122"/>
              </a:rPr>
              <a:t>“</a:t>
            </a:r>
            <a:r>
              <a:rPr sz="1800" dirty="0">
                <a:solidFill>
                  <a:srgbClr val="800000"/>
                </a:solidFill>
                <a:latin typeface="微软雅黑" panose="020B0503020204020204" pitchFamily="34" charset="-122"/>
                <a:ea typeface="微软雅黑" panose="020B0503020204020204" pitchFamily="34" charset="-122"/>
                <a:cs typeface="黑体" panose="02010609060101010101" charset="-122"/>
              </a:rPr>
              <a:t>客户列表</a:t>
            </a:r>
            <a:r>
              <a:rPr sz="1800" dirty="0">
                <a:solidFill>
                  <a:srgbClr val="941100"/>
                </a:solidFill>
                <a:latin typeface="微软雅黑" panose="020B0503020204020204" pitchFamily="34" charset="-122"/>
                <a:ea typeface="微软雅黑" panose="020B0503020204020204" pitchFamily="34" charset="-122"/>
                <a:cs typeface="黑体" panose="02010609060101010101" charset="-122"/>
              </a:rPr>
              <a:t>”</a:t>
            </a:r>
            <a:endParaRPr sz="1800">
              <a:latin typeface="微软雅黑" panose="020B0503020204020204" pitchFamily="34" charset="-122"/>
              <a:ea typeface="微软雅黑" panose="020B0503020204020204" pitchFamily="34" charset="-122"/>
              <a:cs typeface="黑体" panose="02010609060101010101" charset="-122"/>
            </a:endParaRPr>
          </a:p>
        </p:txBody>
      </p:sp>
      <p:sp>
        <p:nvSpPr>
          <p:cNvPr id="44" name="object 15"/>
          <p:cNvSpPr txBox="1"/>
          <p:nvPr/>
        </p:nvSpPr>
        <p:spPr>
          <a:xfrm>
            <a:off x="617666" y="5574141"/>
            <a:ext cx="4368800" cy="541020"/>
          </a:xfrm>
          <a:prstGeom prst="rect">
            <a:avLst/>
          </a:prstGeom>
        </p:spPr>
        <p:txBody>
          <a:bodyPr vert="horz" wrap="square" lIns="0" tIns="12700" rIns="0" bIns="0" rtlCol="0">
            <a:spAutoFit/>
          </a:bodyPr>
          <a:lstStyle/>
          <a:p>
            <a:pPr marL="4445" algn="ctr">
              <a:lnSpc>
                <a:spcPts val="2030"/>
              </a:lnSpc>
              <a:spcBef>
                <a:spcPts val="100"/>
              </a:spcBef>
            </a:pPr>
            <a:r>
              <a:rPr sz="1800" dirty="0">
                <a:solidFill>
                  <a:srgbClr val="800000"/>
                </a:solidFill>
                <a:latin typeface="微软雅黑" panose="020B0503020204020204" pitchFamily="34" charset="-122"/>
                <a:ea typeface="微软雅黑" panose="020B0503020204020204" pitchFamily="34" charset="-122"/>
                <a:cs typeface="黑体" panose="02010609060101010101" charset="-122"/>
              </a:rPr>
              <a:t>角色定义</a:t>
            </a:r>
            <a:r>
              <a:rPr sz="1800" spc="-5" dirty="0">
                <a:solidFill>
                  <a:srgbClr val="800000"/>
                </a:solidFill>
                <a:latin typeface="微软雅黑" panose="020B0503020204020204" pitchFamily="34" charset="-122"/>
                <a:ea typeface="微软雅黑" panose="020B0503020204020204" pitchFamily="34" charset="-122"/>
                <a:cs typeface="黑体" panose="02010609060101010101" charset="-122"/>
              </a:rPr>
              <a:t>（</a:t>
            </a:r>
            <a:r>
              <a:rPr sz="1800" spc="-5" dirty="0">
                <a:solidFill>
                  <a:srgbClr val="941100"/>
                </a:solidFill>
                <a:latin typeface="微软雅黑" panose="020B0503020204020204" pitchFamily="34" charset="-122"/>
                <a:ea typeface="微软雅黑" panose="020B0503020204020204" pitchFamily="34" charset="-122"/>
                <a:cs typeface="Calibri" panose="020F0502020204030204"/>
              </a:rPr>
              <a:t>Role</a:t>
            </a:r>
            <a:r>
              <a:rPr sz="1800" spc="-5" dirty="0">
                <a:solidFill>
                  <a:srgbClr val="941100"/>
                </a:solidFill>
                <a:latin typeface="微软雅黑" panose="020B0503020204020204" pitchFamily="34" charset="-122"/>
                <a:ea typeface="微软雅黑" panose="020B0503020204020204" pitchFamily="34" charset="-122"/>
                <a:cs typeface="黑体" panose="02010609060101010101" charset="-122"/>
              </a:rPr>
              <a:t>）</a:t>
            </a:r>
            <a:endParaRPr sz="1800">
              <a:latin typeface="微软雅黑" panose="020B0503020204020204" pitchFamily="34" charset="-122"/>
              <a:ea typeface="微软雅黑" panose="020B0503020204020204" pitchFamily="34" charset="-122"/>
              <a:cs typeface="黑体" panose="02010609060101010101" charset="-122"/>
            </a:endParaRPr>
          </a:p>
          <a:p>
            <a:pPr algn="ctr">
              <a:lnSpc>
                <a:spcPts val="2030"/>
              </a:lnSpc>
            </a:pPr>
            <a:r>
              <a:rPr sz="1800" dirty="0">
                <a:solidFill>
                  <a:srgbClr val="800000"/>
                </a:solidFill>
                <a:latin typeface="微软雅黑" panose="020B0503020204020204" pitchFamily="34" charset="-122"/>
                <a:ea typeface="微软雅黑" panose="020B0503020204020204" pitchFamily="34" charset="-122"/>
                <a:cs typeface="黑体" panose="02010609060101010101" charset="-122"/>
              </a:rPr>
              <a:t>员工在这个关联关系中的角色是</a:t>
            </a:r>
            <a:r>
              <a:rPr sz="1800" dirty="0">
                <a:solidFill>
                  <a:srgbClr val="941100"/>
                </a:solidFill>
                <a:latin typeface="微软雅黑" panose="020B0503020204020204" pitchFamily="34" charset="-122"/>
                <a:ea typeface="微软雅黑" panose="020B0503020204020204" pitchFamily="34" charset="-122"/>
                <a:cs typeface="黑体" panose="02010609060101010101" charset="-122"/>
              </a:rPr>
              <a:t>“</a:t>
            </a:r>
            <a:r>
              <a:rPr sz="1800" dirty="0">
                <a:solidFill>
                  <a:srgbClr val="800000"/>
                </a:solidFill>
                <a:latin typeface="微软雅黑" panose="020B0503020204020204" pitchFamily="34" charset="-122"/>
                <a:ea typeface="微软雅黑" panose="020B0503020204020204" pitchFamily="34" charset="-122"/>
                <a:cs typeface="黑体" panose="02010609060101010101" charset="-122"/>
              </a:rPr>
              <a:t>联系人</a:t>
            </a:r>
            <a:r>
              <a:rPr sz="1800" dirty="0">
                <a:solidFill>
                  <a:srgbClr val="941100"/>
                </a:solidFill>
                <a:latin typeface="微软雅黑" panose="020B0503020204020204" pitchFamily="34" charset="-122"/>
                <a:ea typeface="微软雅黑" panose="020B0503020204020204" pitchFamily="34" charset="-122"/>
                <a:cs typeface="黑体" panose="02010609060101010101" charset="-122"/>
              </a:rPr>
              <a:t>”</a:t>
            </a:r>
            <a:endParaRPr sz="1800">
              <a:latin typeface="微软雅黑" panose="020B0503020204020204" pitchFamily="34" charset="-122"/>
              <a:ea typeface="微软雅黑" panose="020B0503020204020204" pitchFamily="34" charset="-122"/>
              <a:cs typeface="黑体" panose="02010609060101010101" charset="-122"/>
            </a:endParaRPr>
          </a:p>
        </p:txBody>
      </p:sp>
      <p:sp>
        <p:nvSpPr>
          <p:cNvPr id="45" name="object 16"/>
          <p:cNvSpPr/>
          <p:nvPr/>
        </p:nvSpPr>
        <p:spPr>
          <a:xfrm>
            <a:off x="3081344" y="2138393"/>
            <a:ext cx="200573" cy="1368188"/>
          </a:xfrm>
          <a:prstGeom prst="rect">
            <a:avLst/>
          </a:prstGeom>
          <a:blipFill>
            <a:blip r:embed="rId3"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46" name="object 17"/>
          <p:cNvSpPr/>
          <p:nvPr/>
        </p:nvSpPr>
        <p:spPr>
          <a:xfrm>
            <a:off x="5485754" y="2651094"/>
            <a:ext cx="353074" cy="931688"/>
          </a:xfrm>
          <a:prstGeom prst="rect">
            <a:avLst/>
          </a:prstGeom>
          <a:blipFill>
            <a:blip r:embed="rId4"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47" name="object 18"/>
          <p:cNvSpPr/>
          <p:nvPr/>
        </p:nvSpPr>
        <p:spPr>
          <a:xfrm>
            <a:off x="8016084" y="2116168"/>
            <a:ext cx="353577" cy="1390413"/>
          </a:xfrm>
          <a:prstGeom prst="rect">
            <a:avLst/>
          </a:prstGeom>
          <a:blipFill>
            <a:blip r:embed="rId5"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48" name="object 19"/>
          <p:cNvSpPr/>
          <p:nvPr/>
        </p:nvSpPr>
        <p:spPr>
          <a:xfrm>
            <a:off x="2794005" y="4494008"/>
            <a:ext cx="753177" cy="1074737"/>
          </a:xfrm>
          <a:prstGeom prst="rect">
            <a:avLst/>
          </a:prstGeom>
          <a:blipFill>
            <a:blip r:embed="rId6"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49" name="object 20"/>
          <p:cNvSpPr/>
          <p:nvPr/>
        </p:nvSpPr>
        <p:spPr>
          <a:xfrm>
            <a:off x="5454653" y="4192409"/>
            <a:ext cx="209562" cy="538134"/>
          </a:xfrm>
          <a:prstGeom prst="rect">
            <a:avLst/>
          </a:prstGeom>
          <a:blipFill>
            <a:blip r:embed="rId7"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50" name="object 21"/>
          <p:cNvSpPr/>
          <p:nvPr/>
        </p:nvSpPr>
        <p:spPr>
          <a:xfrm>
            <a:off x="7932805" y="4225719"/>
            <a:ext cx="104245" cy="1610841"/>
          </a:xfrm>
          <a:prstGeom prst="rect">
            <a:avLst/>
          </a:prstGeom>
          <a:blipFill>
            <a:blip r:embed="rId8"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116950"/>
    </mc:Choice>
    <mc:Fallback xmlns="">
      <p:transition spd="slow" advTm="11695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关联类</a:t>
            </a:r>
          </a:p>
        </p:txBody>
      </p:sp>
      <p:sp>
        <p:nvSpPr>
          <p:cNvPr id="3" name="内容占位符 2"/>
          <p:cNvSpPr>
            <a:spLocks noGrp="1"/>
          </p:cNvSpPr>
          <p:nvPr>
            <p:ph idx="1"/>
          </p:nvPr>
        </p:nvSpPr>
        <p:spPr>
          <a:xfrm>
            <a:off x="838200" y="1513490"/>
            <a:ext cx="10515600" cy="4663473"/>
          </a:xfrm>
        </p:spPr>
        <p:txBody>
          <a:bodyPr/>
          <a:lstStyle/>
          <a:p>
            <a:pPr marL="241300">
              <a:lnSpc>
                <a:spcPct val="100000"/>
              </a:lnSpc>
              <a:buFont typeface="Arial" panose="020B0604020202020204"/>
              <a:buChar char="•"/>
              <a:tabLst>
                <a:tab pos="240665" algn="l"/>
                <a:tab pos="241300" algn="l"/>
              </a:tabLst>
            </a:pPr>
            <a:r>
              <a:rPr lang="zh-CN" altLang="en-US" sz="2000" dirty="0">
                <a:latin typeface="黑体" panose="02010609060101010101" charset="-122"/>
                <a:cs typeface="黑体" panose="02010609060101010101" charset="-122"/>
              </a:rPr>
              <a:t>有时要为关联相关信息的存储定义一个专门的类，称为“关联类”</a:t>
            </a:r>
          </a:p>
          <a:p>
            <a:pPr marL="635000" lvl="1">
              <a:lnSpc>
                <a:spcPct val="100000"/>
              </a:lnSpc>
              <a:spcBef>
                <a:spcPts val="900"/>
              </a:spcBef>
              <a:buFont typeface="Arial" panose="020B0604020202020204"/>
              <a:buChar char="•"/>
              <a:tabLst>
                <a:tab pos="634365" algn="l"/>
                <a:tab pos="635000" algn="l"/>
              </a:tabLst>
            </a:pPr>
            <a:r>
              <a:rPr lang="en-US" altLang="zh-CN" sz="2000" dirty="0">
                <a:latin typeface="黑体" panose="02010609060101010101" charset="-122"/>
                <a:cs typeface="黑体" panose="02010609060101010101" charset="-122"/>
              </a:rPr>
              <a:t>…</a:t>
            </a:r>
            <a:r>
              <a:rPr lang="zh-CN" altLang="en-US" sz="2000" dirty="0">
                <a:latin typeface="黑体" panose="02010609060101010101" charset="-122"/>
                <a:cs typeface="黑体" panose="02010609060101010101" charset="-122"/>
              </a:rPr>
              <a:t>保存与关联关系本身相关的信息</a:t>
            </a:r>
          </a:p>
          <a:p>
            <a:pPr marL="635000" lvl="1">
              <a:lnSpc>
                <a:spcPct val="100000"/>
              </a:lnSpc>
              <a:spcBef>
                <a:spcPts val="1000"/>
              </a:spcBef>
              <a:buFont typeface="Arial" panose="020B0604020202020204"/>
              <a:buChar char="•"/>
              <a:tabLst>
                <a:tab pos="634365" algn="l"/>
                <a:tab pos="635000" algn="l"/>
              </a:tabLst>
            </a:pPr>
            <a:r>
              <a:rPr lang="en-US" altLang="zh-CN" sz="2000" dirty="0">
                <a:latin typeface="黑体" panose="02010609060101010101" charset="-122"/>
                <a:cs typeface="黑体" panose="02010609060101010101" charset="-122"/>
              </a:rPr>
              <a:t>…</a:t>
            </a:r>
            <a:r>
              <a:rPr lang="zh-CN" altLang="en-US" sz="2000" dirty="0">
                <a:latin typeface="黑体" panose="02010609060101010101" charset="-122"/>
                <a:cs typeface="黑体" panose="02010609060101010101" charset="-122"/>
              </a:rPr>
              <a:t>这些信息不属于关联所连接的两端的类</a:t>
            </a:r>
          </a:p>
          <a:p>
            <a:pPr marL="635000" lvl="1">
              <a:lnSpc>
                <a:spcPct val="100000"/>
              </a:lnSpc>
              <a:spcBef>
                <a:spcPts val="1000"/>
              </a:spcBef>
              <a:buFont typeface="Arial" panose="020B0604020202020204"/>
              <a:buChar char="•"/>
              <a:tabLst>
                <a:tab pos="634365" algn="l"/>
                <a:tab pos="635000" algn="l"/>
              </a:tabLst>
            </a:pPr>
            <a:r>
              <a:rPr lang="zh-CN" altLang="en-US" sz="2000" dirty="0">
                <a:latin typeface="黑体" panose="02010609060101010101" charset="-122"/>
                <a:cs typeface="黑体" panose="02010609060101010101" charset="-122"/>
              </a:rPr>
              <a:t>例如，下图中，</a:t>
            </a:r>
            <a:r>
              <a:rPr lang="zh-CN" altLang="en-US" sz="2000" spc="-95" dirty="0">
                <a:latin typeface="黑体" panose="02010609060101010101" charset="-122"/>
                <a:cs typeface="黑体" panose="02010609060101010101" charset="-122"/>
              </a:rPr>
              <a:t> </a:t>
            </a:r>
            <a:r>
              <a:rPr lang="zh-CN" altLang="en-US" sz="2000" dirty="0">
                <a:latin typeface="黑体" panose="02010609060101010101" charset="-122"/>
                <a:cs typeface="黑体" panose="02010609060101010101" charset="-122"/>
              </a:rPr>
              <a:t>“</a:t>
            </a:r>
            <a:r>
              <a:rPr lang="en-US" altLang="zh-CN" sz="2000" dirty="0">
                <a:latin typeface="黑体" panose="02010609060101010101" charset="-122"/>
                <a:cs typeface="黑体" panose="02010609060101010101" charset="-122"/>
              </a:rPr>
              <a:t>title”</a:t>
            </a:r>
            <a:r>
              <a:rPr lang="zh-CN" altLang="en-US" sz="2000" dirty="0">
                <a:latin typeface="黑体" panose="02010609060101010101" charset="-122"/>
                <a:cs typeface="黑体" panose="02010609060101010101" charset="-122"/>
              </a:rPr>
              <a:t>类的对象中存储的是车主和车辆之间所属关系有关的信息</a:t>
            </a:r>
          </a:p>
          <a:p>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t>22</a:t>
            </a:fld>
            <a:endParaRPr lang="zh-CN" altLang="en-US"/>
          </a:p>
        </p:txBody>
      </p:sp>
      <p:graphicFrame>
        <p:nvGraphicFramePr>
          <p:cNvPr id="5" name="object 3"/>
          <p:cNvGraphicFramePr>
            <a:graphicFrameLocks noGrp="1"/>
          </p:cNvGraphicFramePr>
          <p:nvPr/>
        </p:nvGraphicFramePr>
        <p:xfrm>
          <a:off x="953098" y="3451436"/>
          <a:ext cx="2743200" cy="1371597"/>
        </p:xfrm>
        <a:graphic>
          <a:graphicData uri="http://schemas.openxmlformats.org/drawingml/2006/table">
            <a:tbl>
              <a:tblPr firstRow="1" bandRow="1">
                <a:tableStyleId>{2D5ABB26-0587-4C30-8999-92F81FD0307C}</a:tableStyleId>
              </a:tblPr>
              <a:tblGrid>
                <a:gridCol w="2743200">
                  <a:extLst>
                    <a:ext uri="{9D8B030D-6E8A-4147-A177-3AD203B41FA5}">
                      <a16:colId xmlns:a16="http://schemas.microsoft.com/office/drawing/2014/main" val="20000"/>
                    </a:ext>
                  </a:extLst>
                </a:gridCol>
              </a:tblGrid>
              <a:tr h="380999">
                <a:tc>
                  <a:txBody>
                    <a:bodyPr/>
                    <a:lstStyle/>
                    <a:p>
                      <a:pPr algn="ctr">
                        <a:lnSpc>
                          <a:spcPct val="100000"/>
                        </a:lnSpc>
                        <a:spcBef>
                          <a:spcPts val="360"/>
                        </a:spcBef>
                      </a:pPr>
                      <a:r>
                        <a:rPr sz="1800" b="1" dirty="0">
                          <a:latin typeface="Arial" panose="020B0604020202020204"/>
                          <a:cs typeface="Arial" panose="020B0604020202020204"/>
                        </a:rPr>
                        <a:t>:car</a:t>
                      </a:r>
                      <a:endParaRPr sz="1800">
                        <a:latin typeface="Arial" panose="020B0604020202020204"/>
                        <a:cs typeface="Arial" panose="020B0604020202020204"/>
                      </a:endParaRPr>
                    </a:p>
                  </a:txBody>
                  <a:tcPr marL="0" marR="0" marT="45719"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FEFED5"/>
                    </a:solidFill>
                  </a:tcPr>
                </a:tc>
                <a:extLst>
                  <a:ext uri="{0D108BD9-81ED-4DB2-BD59-A6C34878D82A}">
                    <a16:rowId xmlns:a16="http://schemas.microsoft.com/office/drawing/2014/main" val="10000"/>
                  </a:ext>
                </a:extLst>
              </a:tr>
              <a:tr h="761999">
                <a:tc>
                  <a:txBody>
                    <a:bodyPr/>
                    <a:lstStyle/>
                    <a:p>
                      <a:pPr marL="90805" marR="736600">
                        <a:lnSpc>
                          <a:spcPts val="1700"/>
                        </a:lnSpc>
                        <a:spcBef>
                          <a:spcPts val="440"/>
                        </a:spcBef>
                      </a:pPr>
                      <a:r>
                        <a:rPr sz="1600" spc="-5" dirty="0">
                          <a:latin typeface="Arial" panose="020B0604020202020204"/>
                          <a:cs typeface="Arial" panose="020B0604020202020204"/>
                        </a:rPr>
                        <a:t>VIN(</a:t>
                      </a:r>
                      <a:r>
                        <a:rPr sz="1400" spc="-5" dirty="0">
                          <a:latin typeface="Arial" panose="020B0604020202020204"/>
                          <a:cs typeface="Arial" panose="020B0604020202020204"/>
                        </a:rPr>
                        <a:t>vehicle </a:t>
                      </a:r>
                      <a:r>
                        <a:rPr sz="1400" dirty="0">
                          <a:latin typeface="Arial" panose="020B0604020202020204"/>
                          <a:cs typeface="Arial" panose="020B0604020202020204"/>
                        </a:rPr>
                        <a:t>Id </a:t>
                      </a:r>
                      <a:r>
                        <a:rPr sz="1400" spc="-5" dirty="0">
                          <a:latin typeface="Arial" panose="020B0604020202020204"/>
                          <a:cs typeface="Arial" panose="020B0604020202020204"/>
                        </a:rPr>
                        <a:t>Number</a:t>
                      </a:r>
                      <a:r>
                        <a:rPr sz="1600" spc="-5" dirty="0">
                          <a:latin typeface="Arial" panose="020B0604020202020204"/>
                          <a:cs typeface="Arial" panose="020B0604020202020204"/>
                        </a:rPr>
                        <a:t>)  </a:t>
                      </a:r>
                      <a:r>
                        <a:rPr sz="1600" spc="-20" dirty="0">
                          <a:latin typeface="Arial" panose="020B0604020202020204"/>
                          <a:cs typeface="Arial" panose="020B0604020202020204"/>
                        </a:rPr>
                        <a:t>YearMade</a:t>
                      </a:r>
                      <a:endParaRPr sz="1600">
                        <a:latin typeface="Arial" panose="020B0604020202020204"/>
                        <a:cs typeface="Arial" panose="020B0604020202020204"/>
                      </a:endParaRPr>
                    </a:p>
                    <a:p>
                      <a:pPr marL="90805">
                        <a:lnSpc>
                          <a:spcPts val="1680"/>
                        </a:lnSpc>
                      </a:pPr>
                      <a:r>
                        <a:rPr sz="1600" dirty="0">
                          <a:latin typeface="Arial" panose="020B0604020202020204"/>
                          <a:cs typeface="Arial" panose="020B0604020202020204"/>
                        </a:rPr>
                        <a:t>Mileage</a:t>
                      </a:r>
                      <a:endParaRPr sz="1600">
                        <a:latin typeface="Arial" panose="020B0604020202020204"/>
                        <a:cs typeface="Arial" panose="020B0604020202020204"/>
                      </a:endParaRPr>
                    </a:p>
                  </a:txBody>
                  <a:tcPr marL="0" marR="0" marT="55879"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FEFED5"/>
                    </a:solidFill>
                  </a:tcPr>
                </a:tc>
                <a:extLst>
                  <a:ext uri="{0D108BD9-81ED-4DB2-BD59-A6C34878D82A}">
                    <a16:rowId xmlns:a16="http://schemas.microsoft.com/office/drawing/2014/main" val="10001"/>
                  </a:ext>
                </a:extLst>
              </a:tr>
              <a:tr h="228599">
                <a:tc>
                  <a:txBody>
                    <a:bodyPr/>
                    <a:lstStyle/>
                    <a:p>
                      <a:pPr>
                        <a:lnSpc>
                          <a:spcPct val="100000"/>
                        </a:lnSpc>
                      </a:pPr>
                      <a:endParaRPr sz="1300">
                        <a:latin typeface="Times New Roman" panose="02020603050405020304"/>
                        <a:cs typeface="Times New Roman" panose="02020603050405020304"/>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FEFED5"/>
                    </a:solidFill>
                  </a:tcPr>
                </a:tc>
                <a:extLst>
                  <a:ext uri="{0D108BD9-81ED-4DB2-BD59-A6C34878D82A}">
                    <a16:rowId xmlns:a16="http://schemas.microsoft.com/office/drawing/2014/main" val="10002"/>
                  </a:ext>
                </a:extLst>
              </a:tr>
            </a:tbl>
          </a:graphicData>
        </a:graphic>
      </p:graphicFrame>
      <p:graphicFrame>
        <p:nvGraphicFramePr>
          <p:cNvPr id="6" name="object 4"/>
          <p:cNvGraphicFramePr>
            <a:graphicFrameLocks noGrp="1"/>
          </p:cNvGraphicFramePr>
          <p:nvPr/>
        </p:nvGraphicFramePr>
        <p:xfrm>
          <a:off x="8305800" y="3265996"/>
          <a:ext cx="3048000" cy="1828798"/>
        </p:xfrm>
        <a:graphic>
          <a:graphicData uri="http://schemas.openxmlformats.org/drawingml/2006/table">
            <a:tbl>
              <a:tblPr firstRow="1" bandRow="1">
                <a:tableStyleId>{2D5ABB26-0587-4C30-8999-92F81FD0307C}</a:tableStyleId>
              </a:tblPr>
              <a:tblGrid>
                <a:gridCol w="3048000">
                  <a:extLst>
                    <a:ext uri="{9D8B030D-6E8A-4147-A177-3AD203B41FA5}">
                      <a16:colId xmlns:a16="http://schemas.microsoft.com/office/drawing/2014/main" val="20000"/>
                    </a:ext>
                  </a:extLst>
                </a:gridCol>
              </a:tblGrid>
              <a:tr h="396876">
                <a:tc>
                  <a:txBody>
                    <a:bodyPr/>
                    <a:lstStyle/>
                    <a:p>
                      <a:pPr marL="5080" algn="ctr">
                        <a:lnSpc>
                          <a:spcPct val="100000"/>
                        </a:lnSpc>
                        <a:spcBef>
                          <a:spcPts val="360"/>
                        </a:spcBef>
                      </a:pPr>
                      <a:r>
                        <a:rPr sz="1800" b="1" spc="-5" dirty="0">
                          <a:latin typeface="Arial" panose="020B0604020202020204"/>
                          <a:cs typeface="Arial" panose="020B0604020202020204"/>
                        </a:rPr>
                        <a:t>:person</a:t>
                      </a:r>
                      <a:endParaRPr sz="1800">
                        <a:latin typeface="Arial" panose="020B0604020202020204"/>
                        <a:cs typeface="Arial" panose="020B0604020202020204"/>
                      </a:endParaRPr>
                    </a:p>
                  </a:txBody>
                  <a:tcPr marL="0" marR="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FEFED5"/>
                    </a:solidFill>
                  </a:tcPr>
                </a:tc>
                <a:extLst>
                  <a:ext uri="{0D108BD9-81ED-4DB2-BD59-A6C34878D82A}">
                    <a16:rowId xmlns:a16="http://schemas.microsoft.com/office/drawing/2014/main" val="10000"/>
                  </a:ext>
                </a:extLst>
              </a:tr>
              <a:tr h="1185862">
                <a:tc>
                  <a:txBody>
                    <a:bodyPr/>
                    <a:lstStyle/>
                    <a:p>
                      <a:pPr marL="91440" marR="2202815">
                        <a:lnSpc>
                          <a:spcPts val="1700"/>
                        </a:lnSpc>
                        <a:spcBef>
                          <a:spcPts val="440"/>
                        </a:spcBef>
                      </a:pPr>
                      <a:r>
                        <a:rPr sz="1600" dirty="0">
                          <a:latin typeface="Arial" panose="020B0604020202020204"/>
                          <a:cs typeface="Arial" panose="020B0604020202020204"/>
                        </a:rPr>
                        <a:t>Name  Address</a:t>
                      </a:r>
                      <a:endParaRPr sz="1600">
                        <a:latin typeface="Arial" panose="020B0604020202020204"/>
                        <a:cs typeface="Arial" panose="020B0604020202020204"/>
                      </a:endParaRPr>
                    </a:p>
                    <a:p>
                      <a:pPr marL="91440" marR="882015">
                        <a:lnSpc>
                          <a:spcPts val="1700"/>
                        </a:lnSpc>
                      </a:pPr>
                      <a:r>
                        <a:rPr sz="1600" dirty="0">
                          <a:latin typeface="Arial" panose="020B0604020202020204"/>
                          <a:cs typeface="Arial" panose="020B0604020202020204"/>
                        </a:rPr>
                        <a:t>DriversLicenceNumber  </a:t>
                      </a:r>
                      <a:r>
                        <a:rPr sz="1600" spc="-10" dirty="0">
                          <a:latin typeface="Arial" panose="020B0604020202020204"/>
                          <a:cs typeface="Arial" panose="020B0604020202020204"/>
                        </a:rPr>
                        <a:t>PermittedVehicles</a:t>
                      </a:r>
                      <a:endParaRPr sz="1600">
                        <a:latin typeface="Arial" panose="020B0604020202020204"/>
                        <a:cs typeface="Arial" panose="020B0604020202020204"/>
                      </a:endParaRPr>
                    </a:p>
                  </a:txBody>
                  <a:tcPr marL="0" marR="0" marT="55879"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FEFED5"/>
                    </a:solidFill>
                  </a:tcPr>
                </a:tc>
                <a:extLst>
                  <a:ext uri="{0D108BD9-81ED-4DB2-BD59-A6C34878D82A}">
                    <a16:rowId xmlns:a16="http://schemas.microsoft.com/office/drawing/2014/main" val="10001"/>
                  </a:ext>
                </a:extLst>
              </a:tr>
              <a:tr h="246060">
                <a:tc>
                  <a:txBody>
                    <a:bodyPr/>
                    <a:lstStyle/>
                    <a:p>
                      <a:pPr>
                        <a:lnSpc>
                          <a:spcPct val="100000"/>
                        </a:lnSpc>
                      </a:pPr>
                      <a:endParaRPr sz="1500">
                        <a:latin typeface="Times New Roman" panose="02020603050405020304"/>
                        <a:cs typeface="Times New Roman" panose="02020603050405020304"/>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FEFED5"/>
                    </a:solidFill>
                  </a:tcPr>
                </a:tc>
                <a:extLst>
                  <a:ext uri="{0D108BD9-81ED-4DB2-BD59-A6C34878D82A}">
                    <a16:rowId xmlns:a16="http://schemas.microsoft.com/office/drawing/2014/main" val="10002"/>
                  </a:ext>
                </a:extLst>
              </a:tr>
            </a:tbl>
          </a:graphicData>
        </a:graphic>
      </p:graphicFrame>
      <p:sp>
        <p:nvSpPr>
          <p:cNvPr id="7" name="object 5"/>
          <p:cNvSpPr/>
          <p:nvPr/>
        </p:nvSpPr>
        <p:spPr>
          <a:xfrm>
            <a:off x="3710585" y="4227724"/>
            <a:ext cx="4610100" cy="42545"/>
          </a:xfrm>
          <a:custGeom>
            <a:avLst/>
            <a:gdLst/>
            <a:ahLst/>
            <a:cxnLst/>
            <a:rect l="l" t="t" r="r" b="b"/>
            <a:pathLst>
              <a:path w="4610100" h="42545">
                <a:moveTo>
                  <a:pt x="0" y="0"/>
                </a:moveTo>
                <a:lnTo>
                  <a:pt x="4609502" y="42366"/>
                </a:lnTo>
              </a:path>
            </a:pathLst>
          </a:custGeom>
          <a:ln w="28574">
            <a:solidFill>
              <a:srgbClr val="000000"/>
            </a:solidFill>
          </a:ln>
        </p:spPr>
        <p:txBody>
          <a:bodyPr wrap="square" lIns="0" tIns="0" rIns="0" bIns="0" rtlCol="0"/>
          <a:lstStyle/>
          <a:p>
            <a:endParaRPr/>
          </a:p>
        </p:txBody>
      </p:sp>
      <p:sp>
        <p:nvSpPr>
          <p:cNvPr id="8" name="object 6"/>
          <p:cNvSpPr txBox="1"/>
          <p:nvPr/>
        </p:nvSpPr>
        <p:spPr>
          <a:xfrm>
            <a:off x="3789325" y="3879744"/>
            <a:ext cx="36893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Arial" panose="020B0604020202020204"/>
                <a:cs typeface="Arial" panose="020B0604020202020204"/>
              </a:rPr>
              <a:t>0..*</a:t>
            </a:r>
            <a:endParaRPr sz="1800">
              <a:latin typeface="Arial" panose="020B0604020202020204"/>
              <a:cs typeface="Arial" panose="020B0604020202020204"/>
            </a:endParaRPr>
          </a:p>
        </p:txBody>
      </p:sp>
      <p:sp>
        <p:nvSpPr>
          <p:cNvPr id="9" name="object 7"/>
          <p:cNvSpPr txBox="1"/>
          <p:nvPr/>
        </p:nvSpPr>
        <p:spPr>
          <a:xfrm>
            <a:off x="7992429" y="3922903"/>
            <a:ext cx="15303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Arial" panose="020B0604020202020204"/>
                <a:cs typeface="Arial" panose="020B0604020202020204"/>
              </a:rPr>
              <a:t>1</a:t>
            </a:r>
            <a:endParaRPr sz="1800">
              <a:latin typeface="Arial" panose="020B0604020202020204"/>
              <a:cs typeface="Arial" panose="020B0604020202020204"/>
            </a:endParaRPr>
          </a:p>
        </p:txBody>
      </p:sp>
      <p:sp>
        <p:nvSpPr>
          <p:cNvPr id="10" name="object 8"/>
          <p:cNvSpPr txBox="1"/>
          <p:nvPr/>
        </p:nvSpPr>
        <p:spPr>
          <a:xfrm>
            <a:off x="5011502" y="3955944"/>
            <a:ext cx="609600"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panose="020B0604020202020204"/>
                <a:cs typeface="Arial" panose="020B0604020202020204"/>
              </a:rPr>
              <a:t>owns</a:t>
            </a:r>
            <a:endParaRPr sz="1800">
              <a:latin typeface="Arial" panose="020B0604020202020204"/>
              <a:cs typeface="Arial" panose="020B0604020202020204"/>
            </a:endParaRPr>
          </a:p>
        </p:txBody>
      </p:sp>
      <p:sp>
        <p:nvSpPr>
          <p:cNvPr id="11" name="object 9"/>
          <p:cNvSpPr/>
          <p:nvPr/>
        </p:nvSpPr>
        <p:spPr>
          <a:xfrm>
            <a:off x="5266135" y="4380124"/>
            <a:ext cx="174625" cy="0"/>
          </a:xfrm>
          <a:custGeom>
            <a:avLst/>
            <a:gdLst/>
            <a:ahLst/>
            <a:cxnLst/>
            <a:rect l="l" t="t" r="r" b="b"/>
            <a:pathLst>
              <a:path w="174625">
                <a:moveTo>
                  <a:pt x="174625" y="0"/>
                </a:moveTo>
                <a:lnTo>
                  <a:pt x="0" y="0"/>
                </a:lnTo>
              </a:path>
            </a:pathLst>
          </a:custGeom>
          <a:ln w="28574">
            <a:solidFill>
              <a:srgbClr val="000000"/>
            </a:solidFill>
          </a:ln>
        </p:spPr>
        <p:txBody>
          <a:bodyPr wrap="square" lIns="0" tIns="0" rIns="0" bIns="0" rtlCol="0"/>
          <a:lstStyle/>
          <a:p>
            <a:endParaRPr/>
          </a:p>
        </p:txBody>
      </p:sp>
      <p:sp>
        <p:nvSpPr>
          <p:cNvPr id="12" name="object 10"/>
          <p:cNvSpPr/>
          <p:nvPr/>
        </p:nvSpPr>
        <p:spPr>
          <a:xfrm>
            <a:off x="5237560" y="4308686"/>
            <a:ext cx="142875" cy="142875"/>
          </a:xfrm>
          <a:custGeom>
            <a:avLst/>
            <a:gdLst/>
            <a:ahLst/>
            <a:cxnLst/>
            <a:rect l="l" t="t" r="r" b="b"/>
            <a:pathLst>
              <a:path w="142875" h="142875">
                <a:moveTo>
                  <a:pt x="142875" y="0"/>
                </a:moveTo>
                <a:lnTo>
                  <a:pt x="0" y="71438"/>
                </a:lnTo>
                <a:lnTo>
                  <a:pt x="142876" y="142875"/>
                </a:lnTo>
                <a:lnTo>
                  <a:pt x="142875" y="0"/>
                </a:lnTo>
                <a:close/>
              </a:path>
            </a:pathLst>
          </a:custGeom>
          <a:solidFill>
            <a:srgbClr val="000000"/>
          </a:solidFill>
        </p:spPr>
        <p:txBody>
          <a:bodyPr wrap="square" lIns="0" tIns="0" rIns="0" bIns="0" rtlCol="0"/>
          <a:lstStyle/>
          <a:p>
            <a:endParaRPr/>
          </a:p>
        </p:txBody>
      </p:sp>
      <p:graphicFrame>
        <p:nvGraphicFramePr>
          <p:cNvPr id="13" name="object 11"/>
          <p:cNvGraphicFramePr>
            <a:graphicFrameLocks noGrp="1"/>
          </p:cNvGraphicFramePr>
          <p:nvPr/>
        </p:nvGraphicFramePr>
        <p:xfrm>
          <a:off x="4918474" y="4227724"/>
          <a:ext cx="2743200" cy="2128517"/>
        </p:xfrm>
        <a:graphic>
          <a:graphicData uri="http://schemas.openxmlformats.org/drawingml/2006/table">
            <a:tbl>
              <a:tblPr firstRow="1" bandRow="1">
                <a:tableStyleId>{2D5ABB26-0587-4C30-8999-92F81FD0307C}</a:tableStyleId>
              </a:tblPr>
              <a:tblGrid>
                <a:gridCol w="1320800">
                  <a:extLst>
                    <a:ext uri="{9D8B030D-6E8A-4147-A177-3AD203B41FA5}">
                      <a16:colId xmlns:a16="http://schemas.microsoft.com/office/drawing/2014/main" val="20000"/>
                    </a:ext>
                  </a:extLst>
                </a:gridCol>
                <a:gridCol w="1422400">
                  <a:extLst>
                    <a:ext uri="{9D8B030D-6E8A-4147-A177-3AD203B41FA5}">
                      <a16:colId xmlns:a16="http://schemas.microsoft.com/office/drawing/2014/main" val="20001"/>
                    </a:ext>
                  </a:extLst>
                </a:gridCol>
              </a:tblGrid>
              <a:tr h="593328">
                <a:tc>
                  <a:txBody>
                    <a:bodyPr/>
                    <a:lstStyle/>
                    <a:p>
                      <a:pPr>
                        <a:lnSpc>
                          <a:spcPct val="100000"/>
                        </a:lnSpc>
                      </a:pPr>
                      <a:endParaRPr sz="1800" dirty="0">
                        <a:latin typeface="Times New Roman" panose="02020603050405020304"/>
                        <a:cs typeface="Times New Roman" panose="02020603050405020304"/>
                      </a:endParaRPr>
                    </a:p>
                  </a:txBody>
                  <a:tcPr marL="0" marR="0" marT="0" marB="0">
                    <a:lnR w="38100">
                      <a:solidFill>
                        <a:srgbClr val="000000"/>
                      </a:solidFill>
                      <a:prstDash val="solid"/>
                    </a:lnR>
                    <a:lnB w="28575">
                      <a:solidFill>
                        <a:srgbClr val="000000"/>
                      </a:solidFill>
                      <a:prstDash val="solid"/>
                    </a:lnB>
                  </a:tcPr>
                </a:tc>
                <a:tc>
                  <a:txBody>
                    <a:bodyPr/>
                    <a:lstStyle/>
                    <a:p>
                      <a:pPr marR="12700" algn="r">
                        <a:lnSpc>
                          <a:spcPct val="100000"/>
                        </a:lnSpc>
                        <a:spcBef>
                          <a:spcPts val="700"/>
                        </a:spcBef>
                      </a:pPr>
                      <a:r>
                        <a:rPr sz="1600" dirty="0">
                          <a:latin typeface="Arial" panose="020B0604020202020204"/>
                          <a:cs typeface="Arial" panose="020B0604020202020204"/>
                        </a:rPr>
                        <a:t>ow</a:t>
                      </a:r>
                    </a:p>
                  </a:txBody>
                  <a:tcPr marL="0" marR="0" marT="88900" marB="0">
                    <a:lnL w="38100">
                      <a:solidFill>
                        <a:srgbClr val="000000"/>
                      </a:solidFill>
                      <a:prstDash val="solid"/>
                    </a:lnL>
                    <a:lnB w="28575">
                      <a:solidFill>
                        <a:srgbClr val="000000"/>
                      </a:solidFill>
                      <a:prstDash val="solid"/>
                    </a:lnB>
                  </a:tcPr>
                </a:tc>
                <a:extLst>
                  <a:ext uri="{0D108BD9-81ED-4DB2-BD59-A6C34878D82A}">
                    <a16:rowId xmlns:a16="http://schemas.microsoft.com/office/drawing/2014/main" val="10000"/>
                  </a:ext>
                </a:extLst>
              </a:tr>
              <a:tr h="168671">
                <a:tc>
                  <a:txBody>
                    <a:bodyPr/>
                    <a:lstStyle/>
                    <a:p>
                      <a:pPr>
                        <a:lnSpc>
                          <a:spcPct val="100000"/>
                        </a:lnSpc>
                      </a:pPr>
                      <a:endParaRPr sz="900">
                        <a:latin typeface="Times New Roman" panose="02020603050405020304"/>
                        <a:cs typeface="Times New Roman" panose="02020603050405020304"/>
                      </a:endParaRPr>
                    </a:p>
                  </a:txBody>
                  <a:tcPr marL="0" marR="0" marT="0" marB="0">
                    <a:lnL w="28575">
                      <a:solidFill>
                        <a:srgbClr val="000000"/>
                      </a:solidFill>
                      <a:prstDash val="solid"/>
                    </a:lnL>
                    <a:lnR w="38100">
                      <a:solidFill>
                        <a:srgbClr val="000000"/>
                      </a:solidFill>
                      <a:prstDash val="solid"/>
                    </a:lnR>
                    <a:lnT w="28575">
                      <a:solidFill>
                        <a:srgbClr val="000000"/>
                      </a:solidFill>
                      <a:prstDash val="solid"/>
                    </a:lnT>
                    <a:solidFill>
                      <a:srgbClr val="FEFED5"/>
                    </a:solidFill>
                  </a:tcPr>
                </a:tc>
                <a:tc>
                  <a:txBody>
                    <a:bodyPr/>
                    <a:lstStyle/>
                    <a:p>
                      <a:pPr>
                        <a:lnSpc>
                          <a:spcPct val="100000"/>
                        </a:lnSpc>
                      </a:pPr>
                      <a:endParaRPr sz="900">
                        <a:latin typeface="Times New Roman" panose="02020603050405020304"/>
                        <a:cs typeface="Times New Roman" panose="02020603050405020304"/>
                      </a:endParaRPr>
                    </a:p>
                  </a:txBody>
                  <a:tcPr marL="0" marR="0" marT="0" marB="0">
                    <a:lnL w="38100">
                      <a:solidFill>
                        <a:srgbClr val="000000"/>
                      </a:solidFill>
                      <a:prstDash val="solid"/>
                    </a:lnL>
                    <a:lnR w="28575">
                      <a:solidFill>
                        <a:srgbClr val="000000"/>
                      </a:solidFill>
                      <a:prstDash val="solid"/>
                    </a:lnR>
                    <a:lnT w="28575">
                      <a:solidFill>
                        <a:srgbClr val="000000"/>
                      </a:solidFill>
                      <a:prstDash val="solid"/>
                    </a:lnT>
                    <a:solidFill>
                      <a:srgbClr val="FEFED5"/>
                    </a:solidFill>
                  </a:tcPr>
                </a:tc>
                <a:extLst>
                  <a:ext uri="{0D108BD9-81ED-4DB2-BD59-A6C34878D82A}">
                    <a16:rowId xmlns:a16="http://schemas.microsoft.com/office/drawing/2014/main" val="10001"/>
                  </a:ext>
                </a:extLst>
              </a:tr>
              <a:tr h="136128">
                <a:tc gridSpan="2">
                  <a:txBody>
                    <a:bodyPr/>
                    <a:lstStyle/>
                    <a:p>
                      <a:pPr marL="4445" algn="ctr">
                        <a:lnSpc>
                          <a:spcPts val="970"/>
                        </a:lnSpc>
                      </a:pPr>
                      <a:r>
                        <a:rPr sz="1800" b="1" spc="-5" dirty="0">
                          <a:latin typeface="Arial" panose="020B0604020202020204"/>
                          <a:cs typeface="Arial" panose="020B0604020202020204"/>
                        </a:rPr>
                        <a:t>:title</a:t>
                      </a:r>
                      <a:endParaRPr sz="1800">
                        <a:latin typeface="Arial" panose="020B0604020202020204"/>
                        <a:cs typeface="Arial" panose="020B0604020202020204"/>
                      </a:endParaRPr>
                    </a:p>
                  </a:txBody>
                  <a:tcPr marL="0" marR="0" marT="0" marB="0">
                    <a:lnL w="28575">
                      <a:solidFill>
                        <a:srgbClr val="000000"/>
                      </a:solidFill>
                      <a:prstDash val="solid"/>
                    </a:lnL>
                    <a:lnR w="28575">
                      <a:solidFill>
                        <a:srgbClr val="000000"/>
                      </a:solidFill>
                      <a:prstDash val="solid"/>
                    </a:lnR>
                    <a:lnB w="28575">
                      <a:solidFill>
                        <a:srgbClr val="000000"/>
                      </a:solidFill>
                      <a:prstDash val="solid"/>
                    </a:lnB>
                    <a:solidFill>
                      <a:srgbClr val="FEFED5"/>
                    </a:solidFill>
                  </a:tcPr>
                </a:tc>
                <a:tc hMerge="1">
                  <a:txBody>
                    <a:bodyPr/>
                    <a:lstStyle/>
                    <a:p>
                      <a:endParaRPr lang="zh-CN"/>
                    </a:p>
                  </a:txBody>
                  <a:tcPr marL="0" marR="0" marT="0" marB="0"/>
                </a:tc>
                <a:extLst>
                  <a:ext uri="{0D108BD9-81ED-4DB2-BD59-A6C34878D82A}">
                    <a16:rowId xmlns:a16="http://schemas.microsoft.com/office/drawing/2014/main" val="10002"/>
                  </a:ext>
                </a:extLst>
              </a:tr>
              <a:tr h="965199">
                <a:tc gridSpan="2">
                  <a:txBody>
                    <a:bodyPr/>
                    <a:lstStyle/>
                    <a:p>
                      <a:pPr marL="91440" marR="1367155">
                        <a:lnSpc>
                          <a:spcPts val="1700"/>
                        </a:lnSpc>
                        <a:spcBef>
                          <a:spcPts val="440"/>
                        </a:spcBef>
                      </a:pPr>
                      <a:r>
                        <a:rPr sz="1600" dirty="0">
                          <a:latin typeface="Arial" panose="020B0604020202020204"/>
                          <a:cs typeface="Arial" panose="020B0604020202020204"/>
                        </a:rPr>
                        <a:t>yearbought  </a:t>
                      </a:r>
                      <a:r>
                        <a:rPr sz="1600" spc="-5" dirty="0">
                          <a:latin typeface="Arial" panose="020B0604020202020204"/>
                          <a:cs typeface="Arial" panose="020B0604020202020204"/>
                        </a:rPr>
                        <a:t>initialMileage  </a:t>
                      </a:r>
                      <a:r>
                        <a:rPr sz="1600" dirty="0">
                          <a:latin typeface="Arial" panose="020B0604020202020204"/>
                          <a:cs typeface="Arial" panose="020B0604020202020204"/>
                        </a:rPr>
                        <a:t>PricePaid  LicencePla</a:t>
                      </a:r>
                      <a:r>
                        <a:rPr sz="1600" spc="-5" dirty="0">
                          <a:latin typeface="Arial" panose="020B0604020202020204"/>
                          <a:cs typeface="Arial" panose="020B0604020202020204"/>
                        </a:rPr>
                        <a:t>t</a:t>
                      </a:r>
                      <a:r>
                        <a:rPr sz="1600" dirty="0">
                          <a:latin typeface="Arial" panose="020B0604020202020204"/>
                          <a:cs typeface="Arial" panose="020B0604020202020204"/>
                        </a:rPr>
                        <a:t>e#</a:t>
                      </a:r>
                      <a:endParaRPr sz="1600">
                        <a:latin typeface="Arial" panose="020B0604020202020204"/>
                        <a:cs typeface="Arial" panose="020B0604020202020204"/>
                      </a:endParaRPr>
                    </a:p>
                  </a:txBody>
                  <a:tcPr marL="0" marR="0" marT="55879"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FEFED5"/>
                    </a:solidFill>
                  </a:tcPr>
                </a:tc>
                <a:tc hMerge="1">
                  <a:txBody>
                    <a:bodyPr/>
                    <a:lstStyle/>
                    <a:p>
                      <a:endParaRPr lang="zh-CN"/>
                    </a:p>
                  </a:txBody>
                  <a:tcPr marL="0" marR="0" marT="0" marB="0"/>
                </a:tc>
                <a:extLst>
                  <a:ext uri="{0D108BD9-81ED-4DB2-BD59-A6C34878D82A}">
                    <a16:rowId xmlns:a16="http://schemas.microsoft.com/office/drawing/2014/main" val="10003"/>
                  </a:ext>
                </a:extLst>
              </a:tr>
              <a:tr h="253999">
                <a:tc gridSpan="2">
                  <a:txBody>
                    <a:bodyPr/>
                    <a:lstStyle/>
                    <a:p>
                      <a:pPr>
                        <a:lnSpc>
                          <a:spcPct val="100000"/>
                        </a:lnSpc>
                      </a:pPr>
                      <a:endParaRPr sz="1500" dirty="0">
                        <a:latin typeface="Times New Roman" panose="02020603050405020304"/>
                        <a:cs typeface="Times New Roman" panose="02020603050405020304"/>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FEFED5"/>
                    </a:solidFill>
                  </a:tcPr>
                </a:tc>
                <a:tc hMerge="1">
                  <a:txBody>
                    <a:bodyPr/>
                    <a:lstStyle/>
                    <a:p>
                      <a:endParaRPr lang="zh-CN"/>
                    </a:p>
                  </a:txBody>
                  <a:tcPr marL="0" marR="0" marT="0" marB="0"/>
                </a:tc>
                <a:extLst>
                  <a:ext uri="{0D108BD9-81ED-4DB2-BD59-A6C34878D82A}">
                    <a16:rowId xmlns:a16="http://schemas.microsoft.com/office/drawing/2014/main" val="10004"/>
                  </a:ext>
                </a:extLst>
              </a:tr>
            </a:tbl>
          </a:graphicData>
        </a:graphic>
      </p:graphicFrame>
      <p:sp>
        <p:nvSpPr>
          <p:cNvPr id="14" name="object 12"/>
          <p:cNvSpPr txBox="1"/>
          <p:nvPr/>
        </p:nvSpPr>
        <p:spPr>
          <a:xfrm>
            <a:off x="7642602" y="4303903"/>
            <a:ext cx="319405" cy="269240"/>
          </a:xfrm>
          <a:prstGeom prst="rect">
            <a:avLst/>
          </a:prstGeom>
        </p:spPr>
        <p:txBody>
          <a:bodyPr vert="horz" wrap="square" lIns="0" tIns="12700" rIns="0" bIns="0" rtlCol="0">
            <a:spAutoFit/>
          </a:bodyPr>
          <a:lstStyle/>
          <a:p>
            <a:pPr marL="12700">
              <a:lnSpc>
                <a:spcPct val="100000"/>
              </a:lnSpc>
              <a:spcBef>
                <a:spcPts val="100"/>
              </a:spcBef>
            </a:pPr>
            <a:r>
              <a:rPr sz="1600" dirty="0">
                <a:latin typeface="Arial" panose="020B0604020202020204"/>
                <a:cs typeface="Arial" panose="020B0604020202020204"/>
              </a:rPr>
              <a:t>ner</a:t>
            </a:r>
            <a:endParaRPr sz="1600">
              <a:latin typeface="Arial" panose="020B0604020202020204"/>
              <a:cs typeface="Arial" panose="020B0604020202020204"/>
            </a:endParaRPr>
          </a:p>
        </p:txBody>
      </p:sp>
      <p:sp>
        <p:nvSpPr>
          <p:cNvPr id="15" name="矩形 14"/>
          <p:cNvSpPr/>
          <p:nvPr/>
        </p:nvSpPr>
        <p:spPr>
          <a:xfrm>
            <a:off x="6096000" y="4303903"/>
            <a:ext cx="492324" cy="4765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 name="直接连接符 16"/>
          <p:cNvCxnSpPr/>
          <p:nvPr/>
        </p:nvCxnSpPr>
        <p:spPr>
          <a:xfrm>
            <a:off x="6264166" y="4303903"/>
            <a:ext cx="0" cy="476579"/>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2000" advTm="45620"/>
    </mc:Choice>
    <mc:Fallback xmlns="">
      <p:transition spd="slow" advTm="4562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05790" y="414172"/>
            <a:ext cx="5490210" cy="505267"/>
          </a:xfrm>
          <a:prstGeom prst="rect">
            <a:avLst/>
          </a:prstGeom>
        </p:spPr>
        <p:txBody>
          <a:bodyPr vert="horz" wrap="square" lIns="0" tIns="12700" rIns="0" bIns="0" rtlCol="0">
            <a:spAutoFit/>
          </a:bodyPr>
          <a:lstStyle/>
          <a:p>
            <a:pPr marL="12700">
              <a:lnSpc>
                <a:spcPct val="100000"/>
              </a:lnSpc>
              <a:spcBef>
                <a:spcPts val="100"/>
              </a:spcBef>
              <a:tabLst>
                <a:tab pos="240665" algn="l"/>
                <a:tab pos="241300" algn="l"/>
              </a:tabLst>
            </a:pPr>
            <a:r>
              <a:rPr sz="3200" dirty="0" err="1">
                <a:latin typeface="微软雅黑" panose="020B0503020204020204" pitchFamily="34" charset="-122"/>
                <a:ea typeface="微软雅黑" panose="020B0503020204020204" pitchFamily="34" charset="-122"/>
              </a:rPr>
              <a:t>关联类所生成Java代码示例</a:t>
            </a:r>
            <a:r>
              <a:rPr sz="3200" dirty="0">
                <a:latin typeface="微软雅黑" panose="020B0503020204020204" pitchFamily="34" charset="-122"/>
                <a:ea typeface="微软雅黑" panose="020B0503020204020204" pitchFamily="34" charset="-122"/>
                <a:cs typeface="华文细黑" panose="02010600040101010101" charset="-122"/>
              </a:rPr>
              <a:t>：</a:t>
            </a:r>
          </a:p>
        </p:txBody>
      </p:sp>
      <p:grpSp>
        <p:nvGrpSpPr>
          <p:cNvPr id="14" name="组合 13"/>
          <p:cNvGrpSpPr/>
          <p:nvPr/>
        </p:nvGrpSpPr>
        <p:grpSpPr>
          <a:xfrm>
            <a:off x="344732" y="1243813"/>
            <a:ext cx="11502536" cy="4631317"/>
            <a:chOff x="347435" y="1149220"/>
            <a:chExt cx="11502536" cy="4631317"/>
          </a:xfrm>
        </p:grpSpPr>
        <p:sp>
          <p:nvSpPr>
            <p:cNvPr id="3" name="object 3"/>
            <p:cNvSpPr/>
            <p:nvPr/>
          </p:nvSpPr>
          <p:spPr>
            <a:xfrm>
              <a:off x="2311579" y="1149220"/>
              <a:ext cx="5988881" cy="2009216"/>
            </a:xfrm>
            <a:prstGeom prst="rect">
              <a:avLst/>
            </a:prstGeom>
            <a:blipFill>
              <a:blip r:embed="rId3"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4" name="object 4"/>
            <p:cNvSpPr/>
            <p:nvPr/>
          </p:nvSpPr>
          <p:spPr>
            <a:xfrm>
              <a:off x="347435" y="2267485"/>
              <a:ext cx="4121150" cy="2247265"/>
            </a:xfrm>
            <a:custGeom>
              <a:avLst/>
              <a:gdLst/>
              <a:ahLst/>
              <a:cxnLst/>
              <a:rect l="l" t="t" r="r" b="b"/>
              <a:pathLst>
                <a:path w="4121150" h="2247265">
                  <a:moveTo>
                    <a:pt x="0" y="0"/>
                  </a:moveTo>
                  <a:lnTo>
                    <a:pt x="4120538" y="0"/>
                  </a:lnTo>
                  <a:lnTo>
                    <a:pt x="4120538" y="2246768"/>
                  </a:lnTo>
                  <a:lnTo>
                    <a:pt x="0" y="2246768"/>
                  </a:lnTo>
                  <a:lnTo>
                    <a:pt x="0" y="0"/>
                  </a:lnTo>
                  <a:close/>
                </a:path>
              </a:pathLst>
            </a:custGeom>
            <a:solidFill>
              <a:srgbClr val="ECEBEB"/>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5" name="object 5"/>
            <p:cNvSpPr txBox="1"/>
            <p:nvPr/>
          </p:nvSpPr>
          <p:spPr>
            <a:xfrm>
              <a:off x="438874" y="2300504"/>
              <a:ext cx="3910329" cy="330200"/>
            </a:xfrm>
            <a:prstGeom prst="rect">
              <a:avLst/>
            </a:prstGeom>
          </p:spPr>
          <p:txBody>
            <a:bodyPr vert="horz" wrap="square" lIns="0" tIns="12700" rIns="0" bIns="0" rtlCol="0">
              <a:spAutoFit/>
            </a:bodyPr>
            <a:lstStyle/>
            <a:p>
              <a:pPr>
                <a:lnSpc>
                  <a:spcPct val="100000"/>
                </a:lnSpc>
                <a:spcBef>
                  <a:spcPts val="100"/>
                </a:spcBef>
              </a:pPr>
              <a:r>
                <a:rPr sz="2000" spc="-5" dirty="0">
                  <a:latin typeface="Times New Roman" panose="02020603050405020304" pitchFamily="18" charset="0"/>
                  <a:cs typeface="Times New Roman" panose="02020603050405020304" pitchFamily="18" charset="0"/>
                </a:rPr>
                <a:t>//</a:t>
              </a:r>
              <a:r>
                <a:rPr sz="2000" b="0" spc="-5" dirty="0">
                  <a:latin typeface="Times New Roman" panose="02020603050405020304" pitchFamily="18" charset="0"/>
                  <a:cs typeface="Times New Roman" panose="02020603050405020304" pitchFamily="18" charset="0"/>
                </a:rPr>
                <a:t>Source ﬁle:</a:t>
              </a:r>
              <a:r>
                <a:rPr sz="2000" b="0" spc="-40" dirty="0">
                  <a:latin typeface="Times New Roman" panose="02020603050405020304" pitchFamily="18" charset="0"/>
                  <a:cs typeface="Times New Roman" panose="02020603050405020304" pitchFamily="18" charset="0"/>
                </a:rPr>
                <a:t> </a:t>
              </a:r>
              <a:r>
                <a:rPr sz="2000" b="0" spc="-15" dirty="0">
                  <a:latin typeface="Times New Roman" panose="02020603050405020304" pitchFamily="18" charset="0"/>
                  <a:cs typeface="Times New Roman" panose="02020603050405020304" pitchFamily="18" charset="0"/>
                </a:rPr>
                <a:t>F:\\code\\Company.java</a:t>
              </a:r>
              <a:endParaRPr sz="2000">
                <a:latin typeface="Times New Roman" panose="02020603050405020304" pitchFamily="18" charset="0"/>
                <a:cs typeface="Times New Roman" panose="02020603050405020304" pitchFamily="18" charset="0"/>
              </a:endParaRPr>
            </a:p>
          </p:txBody>
        </p:sp>
        <p:sp>
          <p:nvSpPr>
            <p:cNvPr id="6" name="object 6"/>
            <p:cNvSpPr txBox="1"/>
            <p:nvPr/>
          </p:nvSpPr>
          <p:spPr>
            <a:xfrm>
              <a:off x="438874" y="2910105"/>
              <a:ext cx="3204845" cy="939800"/>
            </a:xfrm>
            <a:prstGeom prst="rect">
              <a:avLst/>
            </a:prstGeom>
          </p:spPr>
          <p:txBody>
            <a:bodyPr vert="horz" wrap="square" lIns="0" tIns="12700" rIns="0" bIns="0" rtlCol="0">
              <a:spAutoFit/>
            </a:bodyPr>
            <a:lstStyle/>
            <a:p>
              <a:pPr>
                <a:lnSpc>
                  <a:spcPct val="100000"/>
                </a:lnSpc>
                <a:spcBef>
                  <a:spcPts val="100"/>
                </a:spcBef>
              </a:pPr>
              <a:r>
                <a:rPr sz="2000" b="0" spc="-5" dirty="0">
                  <a:latin typeface="Times New Roman" panose="02020603050405020304" pitchFamily="18" charset="0"/>
                  <a:cs typeface="Times New Roman" panose="02020603050405020304" pitchFamily="18" charset="0"/>
                </a:rPr>
                <a:t>public </a:t>
              </a:r>
              <a:r>
                <a:rPr sz="2000" b="0" dirty="0">
                  <a:latin typeface="Times New Roman" panose="02020603050405020304" pitchFamily="18" charset="0"/>
                  <a:cs typeface="Times New Roman" panose="02020603050405020304" pitchFamily="18" charset="0"/>
                </a:rPr>
                <a:t>class</a:t>
              </a:r>
              <a:r>
                <a:rPr sz="2000" b="0" spc="-10" dirty="0">
                  <a:latin typeface="Times New Roman" panose="02020603050405020304" pitchFamily="18" charset="0"/>
                  <a:cs typeface="Times New Roman" panose="02020603050405020304" pitchFamily="18" charset="0"/>
                </a:rPr>
                <a:t> </a:t>
              </a:r>
              <a:r>
                <a:rPr sz="2000" b="0" spc="-10" dirty="0">
                  <a:solidFill>
                    <a:srgbClr val="800000"/>
                  </a:solidFill>
                  <a:latin typeface="Times New Roman" panose="02020603050405020304" pitchFamily="18" charset="0"/>
                  <a:cs typeface="Times New Roman" panose="02020603050405020304" pitchFamily="18" charset="0"/>
                </a:rPr>
                <a:t>Company</a:t>
              </a:r>
              <a:endParaRPr sz="2000">
                <a:latin typeface="Times New Roman" panose="02020603050405020304" pitchFamily="18" charset="0"/>
                <a:cs typeface="Times New Roman" panose="02020603050405020304" pitchFamily="18" charset="0"/>
              </a:endParaRPr>
            </a:p>
            <a:p>
              <a:pPr>
                <a:lnSpc>
                  <a:spcPct val="100000"/>
                </a:lnSpc>
              </a:pPr>
              <a:r>
                <a:rPr sz="2000" b="0" dirty="0">
                  <a:latin typeface="Times New Roman" panose="02020603050405020304" pitchFamily="18" charset="0"/>
                  <a:cs typeface="Times New Roman" panose="02020603050405020304" pitchFamily="18" charset="0"/>
                </a:rPr>
                <a:t>{</a:t>
              </a:r>
              <a:endParaRPr sz="2000">
                <a:latin typeface="Times New Roman" panose="02020603050405020304" pitchFamily="18" charset="0"/>
                <a:cs typeface="Times New Roman" panose="02020603050405020304" pitchFamily="18" charset="0"/>
              </a:endParaRPr>
            </a:p>
            <a:p>
              <a:pPr marL="172085">
                <a:lnSpc>
                  <a:spcPct val="100000"/>
                </a:lnSpc>
              </a:pPr>
              <a:r>
                <a:rPr sz="2000" b="0" spc="-15" dirty="0">
                  <a:latin typeface="Times New Roman" panose="02020603050405020304" pitchFamily="18" charset="0"/>
                  <a:cs typeface="Times New Roman" panose="02020603050405020304" pitchFamily="18" charset="0"/>
                </a:rPr>
                <a:t>private </a:t>
              </a:r>
              <a:r>
                <a:rPr sz="2000" b="0" spc="-5" dirty="0">
                  <a:latin typeface="Times New Roman" panose="02020603050405020304" pitchFamily="18" charset="0"/>
                  <a:cs typeface="Times New Roman" panose="02020603050405020304" pitchFamily="18" charset="0"/>
                </a:rPr>
                <a:t>String</a:t>
              </a:r>
              <a:r>
                <a:rPr sz="2000" b="0" spc="10" dirty="0">
                  <a:latin typeface="Times New Roman" panose="02020603050405020304" pitchFamily="18" charset="0"/>
                  <a:cs typeface="Times New Roman" panose="02020603050405020304" pitchFamily="18" charset="0"/>
                </a:rPr>
                <a:t> </a:t>
              </a:r>
              <a:r>
                <a:rPr sz="2000" b="0" spc="-10" dirty="0">
                  <a:solidFill>
                    <a:srgbClr val="800000"/>
                  </a:solidFill>
                  <a:latin typeface="Times New Roman" panose="02020603050405020304" pitchFamily="18" charset="0"/>
                  <a:cs typeface="Times New Roman" panose="02020603050405020304" pitchFamily="18" charset="0"/>
                </a:rPr>
                <a:t>companyName</a:t>
              </a:r>
              <a:r>
                <a:rPr sz="2000" b="0" spc="-10" dirty="0">
                  <a:latin typeface="Times New Roman" panose="02020603050405020304" pitchFamily="18" charset="0"/>
                  <a:cs typeface="Times New Roman" panose="02020603050405020304" pitchFamily="18" charset="0"/>
                </a:rPr>
                <a:t>;</a:t>
              </a:r>
              <a:endParaRPr sz="2000">
                <a:latin typeface="Times New Roman" panose="02020603050405020304" pitchFamily="18" charset="0"/>
                <a:cs typeface="Times New Roman" panose="02020603050405020304" pitchFamily="18" charset="0"/>
              </a:endParaRPr>
            </a:p>
          </p:txBody>
        </p:sp>
        <p:sp>
          <p:nvSpPr>
            <p:cNvPr id="7" name="object 7"/>
            <p:cNvSpPr txBox="1"/>
            <p:nvPr/>
          </p:nvSpPr>
          <p:spPr>
            <a:xfrm>
              <a:off x="598463" y="3824505"/>
              <a:ext cx="2673985" cy="330200"/>
            </a:xfrm>
            <a:prstGeom prst="rect">
              <a:avLst/>
            </a:prstGeom>
          </p:spPr>
          <p:txBody>
            <a:bodyPr vert="horz" wrap="square" lIns="0" tIns="12700" rIns="0" bIns="0" rtlCol="0">
              <a:spAutoFit/>
            </a:bodyPr>
            <a:lstStyle/>
            <a:p>
              <a:pPr marL="12700">
                <a:lnSpc>
                  <a:spcPct val="100000"/>
                </a:lnSpc>
                <a:spcBef>
                  <a:spcPts val="100"/>
                </a:spcBef>
              </a:pPr>
              <a:r>
                <a:rPr sz="2000" b="0" spc="-5" dirty="0">
                  <a:latin typeface="Times New Roman" panose="02020603050405020304" pitchFamily="18" charset="0"/>
                  <a:cs typeface="Times New Roman" panose="02020603050405020304" pitchFamily="18" charset="0"/>
                </a:rPr>
                <a:t>public </a:t>
              </a:r>
              <a:r>
                <a:rPr sz="2000" b="0" spc="-20" dirty="0">
                  <a:latin typeface="Times New Roman" panose="02020603050405020304" pitchFamily="18" charset="0"/>
                  <a:cs typeface="Times New Roman" panose="02020603050405020304" pitchFamily="18" charset="0"/>
                </a:rPr>
                <a:t>Person</a:t>
              </a:r>
              <a:r>
                <a:rPr sz="2000" b="0" spc="-60" dirty="0">
                  <a:latin typeface="Times New Roman" panose="02020603050405020304" pitchFamily="18" charset="0"/>
                  <a:cs typeface="Times New Roman" panose="02020603050405020304" pitchFamily="18" charset="0"/>
                </a:rPr>
                <a:t> </a:t>
              </a:r>
              <a:r>
                <a:rPr sz="2000" b="0" spc="-5" dirty="0">
                  <a:solidFill>
                    <a:srgbClr val="800000"/>
                  </a:solidFill>
                  <a:latin typeface="Times New Roman" panose="02020603050405020304" pitchFamily="18" charset="0"/>
                  <a:cs typeface="Times New Roman" panose="02020603050405020304" pitchFamily="18" charset="0"/>
                </a:rPr>
                <a:t>employee</a:t>
              </a:r>
              <a:r>
                <a:rPr sz="2000" b="0" spc="-5" dirty="0">
                  <a:latin typeface="Times New Roman" panose="02020603050405020304" pitchFamily="18" charset="0"/>
                  <a:cs typeface="Times New Roman" panose="02020603050405020304" pitchFamily="18" charset="0"/>
                </a:rPr>
                <a:t>[];</a:t>
              </a:r>
              <a:endParaRPr sz="2000">
                <a:latin typeface="Times New Roman" panose="02020603050405020304" pitchFamily="18" charset="0"/>
                <a:cs typeface="Times New Roman" panose="02020603050405020304" pitchFamily="18" charset="0"/>
              </a:endParaRPr>
            </a:p>
          </p:txBody>
        </p:sp>
        <p:sp>
          <p:nvSpPr>
            <p:cNvPr id="8" name="object 8"/>
            <p:cNvSpPr txBox="1"/>
            <p:nvPr/>
          </p:nvSpPr>
          <p:spPr>
            <a:xfrm>
              <a:off x="426174" y="4129305"/>
              <a:ext cx="101600" cy="330200"/>
            </a:xfrm>
            <a:prstGeom prst="rect">
              <a:avLst/>
            </a:prstGeom>
          </p:spPr>
          <p:txBody>
            <a:bodyPr vert="horz" wrap="square" lIns="0" tIns="12700" rIns="0" bIns="0" rtlCol="0">
              <a:spAutoFit/>
            </a:bodyPr>
            <a:lstStyle/>
            <a:p>
              <a:pPr marL="12700">
                <a:lnSpc>
                  <a:spcPct val="100000"/>
                </a:lnSpc>
                <a:spcBef>
                  <a:spcPts val="100"/>
                </a:spcBef>
              </a:pPr>
              <a:r>
                <a:rPr sz="2000" b="0" dirty="0">
                  <a:latin typeface="Times New Roman" panose="02020603050405020304" pitchFamily="18" charset="0"/>
                  <a:cs typeface="Times New Roman" panose="02020603050405020304" pitchFamily="18" charset="0"/>
                </a:rPr>
                <a:t>}</a:t>
              </a:r>
              <a:endParaRPr sz="2000">
                <a:latin typeface="Times New Roman" panose="02020603050405020304" pitchFamily="18" charset="0"/>
                <a:cs typeface="Times New Roman" panose="02020603050405020304" pitchFamily="18" charset="0"/>
              </a:endParaRPr>
            </a:p>
          </p:txBody>
        </p:sp>
        <p:sp>
          <p:nvSpPr>
            <p:cNvPr id="9" name="object 9"/>
            <p:cNvSpPr/>
            <p:nvPr/>
          </p:nvSpPr>
          <p:spPr>
            <a:xfrm>
              <a:off x="3875826" y="3779652"/>
              <a:ext cx="4052570" cy="2000885"/>
            </a:xfrm>
            <a:custGeom>
              <a:avLst/>
              <a:gdLst/>
              <a:ahLst/>
              <a:cxnLst/>
              <a:rect l="l" t="t" r="r" b="b"/>
              <a:pathLst>
                <a:path w="4052570" h="2000885">
                  <a:moveTo>
                    <a:pt x="0" y="0"/>
                  </a:moveTo>
                  <a:lnTo>
                    <a:pt x="4052285" y="0"/>
                  </a:lnTo>
                  <a:lnTo>
                    <a:pt x="4052285" y="2000548"/>
                  </a:lnTo>
                  <a:lnTo>
                    <a:pt x="0" y="2000548"/>
                  </a:lnTo>
                  <a:lnTo>
                    <a:pt x="0" y="0"/>
                  </a:lnTo>
                  <a:close/>
                </a:path>
              </a:pathLst>
            </a:custGeom>
            <a:solidFill>
              <a:srgbClr val="ECEBEB"/>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0" name="object 10"/>
            <p:cNvSpPr txBox="1"/>
            <p:nvPr/>
          </p:nvSpPr>
          <p:spPr>
            <a:xfrm>
              <a:off x="3875826" y="3779652"/>
              <a:ext cx="3934460" cy="353943"/>
            </a:xfrm>
            <a:prstGeom prst="rect">
              <a:avLst/>
            </a:prstGeom>
            <a:solidFill>
              <a:srgbClr val="ECEBEB"/>
            </a:solidFill>
          </p:spPr>
          <p:txBody>
            <a:bodyPr vert="horz" wrap="square" lIns="0" tIns="45720" rIns="0" bIns="0" rtlCol="0">
              <a:spAutoFit/>
            </a:bodyPr>
            <a:lstStyle/>
            <a:p>
              <a:pPr marL="90805">
                <a:lnSpc>
                  <a:spcPct val="100000"/>
                </a:lnSpc>
                <a:spcBef>
                  <a:spcPts val="360"/>
                </a:spcBef>
              </a:pPr>
              <a:r>
                <a:rPr sz="2000" spc="-5" dirty="0">
                  <a:latin typeface="Times New Roman" panose="02020603050405020304" pitchFamily="18" charset="0"/>
                  <a:cs typeface="Times New Roman" panose="02020603050405020304" pitchFamily="18" charset="0"/>
                </a:rPr>
                <a:t>//</a:t>
              </a:r>
              <a:r>
                <a:rPr sz="2000" b="0" spc="-5" dirty="0">
                  <a:latin typeface="Times New Roman" panose="02020603050405020304" pitchFamily="18" charset="0"/>
                  <a:cs typeface="Times New Roman" panose="02020603050405020304" pitchFamily="18" charset="0"/>
                </a:rPr>
                <a:t>Source ﬁle:</a:t>
              </a:r>
              <a:r>
                <a:rPr sz="2000" b="0" spc="-20" dirty="0">
                  <a:latin typeface="Times New Roman" panose="02020603050405020304" pitchFamily="18" charset="0"/>
                  <a:cs typeface="Times New Roman" panose="02020603050405020304" pitchFamily="18" charset="0"/>
                </a:rPr>
                <a:t> </a:t>
              </a:r>
              <a:r>
                <a:rPr sz="2000" b="0" spc="-10" dirty="0">
                  <a:latin typeface="Times New Roman" panose="02020603050405020304" pitchFamily="18" charset="0"/>
                  <a:cs typeface="Times New Roman" panose="02020603050405020304" pitchFamily="18" charset="0"/>
                </a:rPr>
                <a:t>F:\\code\\Contract.java</a:t>
              </a:r>
              <a:endParaRPr sz="2000">
                <a:latin typeface="Times New Roman" panose="02020603050405020304" pitchFamily="18" charset="0"/>
                <a:cs typeface="Times New Roman" panose="02020603050405020304" pitchFamily="18" charset="0"/>
              </a:endParaRPr>
            </a:p>
          </p:txBody>
        </p:sp>
        <p:sp>
          <p:nvSpPr>
            <p:cNvPr id="11" name="object 11"/>
            <p:cNvSpPr txBox="1"/>
            <p:nvPr/>
          </p:nvSpPr>
          <p:spPr>
            <a:xfrm>
              <a:off x="3875826" y="4514253"/>
              <a:ext cx="4052570" cy="1154162"/>
            </a:xfrm>
            <a:prstGeom prst="rect">
              <a:avLst/>
            </a:prstGeom>
            <a:solidFill>
              <a:srgbClr val="ECEBEB"/>
            </a:solidFill>
          </p:spPr>
          <p:txBody>
            <a:bodyPr vert="horz" wrap="square" lIns="0" tIns="0" rIns="0" bIns="0" rtlCol="0">
              <a:spAutoFit/>
            </a:bodyPr>
            <a:lstStyle/>
            <a:p>
              <a:pPr marL="90805">
                <a:lnSpc>
                  <a:spcPts val="1775"/>
                </a:lnSpc>
              </a:pPr>
              <a:r>
                <a:rPr sz="2000" b="0" spc="-5" dirty="0">
                  <a:latin typeface="Times New Roman" panose="02020603050405020304" pitchFamily="18" charset="0"/>
                  <a:cs typeface="Times New Roman" panose="02020603050405020304" pitchFamily="18" charset="0"/>
                </a:rPr>
                <a:t>public </a:t>
              </a:r>
              <a:r>
                <a:rPr sz="2000" b="0" dirty="0">
                  <a:latin typeface="Times New Roman" panose="02020603050405020304" pitchFamily="18" charset="0"/>
                  <a:cs typeface="Times New Roman" panose="02020603050405020304" pitchFamily="18" charset="0"/>
                </a:rPr>
                <a:t>class</a:t>
              </a:r>
              <a:r>
                <a:rPr sz="2000" b="0" spc="-10" dirty="0">
                  <a:latin typeface="Times New Roman" panose="02020603050405020304" pitchFamily="18" charset="0"/>
                  <a:cs typeface="Times New Roman" panose="02020603050405020304" pitchFamily="18" charset="0"/>
                </a:rPr>
                <a:t> </a:t>
              </a:r>
              <a:r>
                <a:rPr sz="2000" b="0" spc="-10" dirty="0">
                  <a:solidFill>
                    <a:srgbClr val="800000"/>
                  </a:solidFill>
                  <a:latin typeface="Times New Roman" panose="02020603050405020304" pitchFamily="18" charset="0"/>
                  <a:cs typeface="Times New Roman" panose="02020603050405020304" pitchFamily="18" charset="0"/>
                </a:rPr>
                <a:t>Contract</a:t>
              </a:r>
              <a:endParaRPr sz="2000">
                <a:latin typeface="Times New Roman" panose="02020603050405020304" pitchFamily="18" charset="0"/>
                <a:cs typeface="Times New Roman" panose="02020603050405020304" pitchFamily="18" charset="0"/>
              </a:endParaRPr>
            </a:p>
            <a:p>
              <a:pPr marL="90805">
                <a:lnSpc>
                  <a:spcPct val="100000"/>
                </a:lnSpc>
              </a:pPr>
              <a:r>
                <a:rPr sz="2000" b="0" dirty="0">
                  <a:latin typeface="Times New Roman" panose="02020603050405020304" pitchFamily="18" charset="0"/>
                  <a:cs typeface="Times New Roman" panose="02020603050405020304" pitchFamily="18" charset="0"/>
                </a:rPr>
                <a:t>{</a:t>
              </a:r>
              <a:endParaRPr sz="2000">
                <a:latin typeface="Times New Roman" panose="02020603050405020304" pitchFamily="18" charset="0"/>
                <a:cs typeface="Times New Roman" panose="02020603050405020304" pitchFamily="18" charset="0"/>
              </a:endParaRPr>
            </a:p>
            <a:p>
              <a:pPr marL="263525">
                <a:lnSpc>
                  <a:spcPct val="100000"/>
                </a:lnSpc>
              </a:pPr>
              <a:r>
                <a:rPr sz="2000" b="0" spc="-15" dirty="0">
                  <a:latin typeface="Times New Roman" panose="02020603050405020304" pitchFamily="18" charset="0"/>
                  <a:cs typeface="Times New Roman" panose="02020603050405020304" pitchFamily="18" charset="0"/>
                </a:rPr>
                <a:t>private </a:t>
              </a:r>
              <a:r>
                <a:rPr sz="2000" b="0" spc="-5" dirty="0">
                  <a:latin typeface="Times New Roman" panose="02020603050405020304" pitchFamily="18" charset="0"/>
                  <a:cs typeface="Times New Roman" panose="02020603050405020304" pitchFamily="18" charset="0"/>
                </a:rPr>
                <a:t>Double</a:t>
              </a:r>
              <a:r>
                <a:rPr sz="2000" b="0" dirty="0">
                  <a:latin typeface="Times New Roman" panose="02020603050405020304" pitchFamily="18" charset="0"/>
                  <a:cs typeface="Times New Roman" panose="02020603050405020304" pitchFamily="18" charset="0"/>
                </a:rPr>
                <a:t> </a:t>
              </a:r>
              <a:r>
                <a:rPr sz="2000" b="0" dirty="0">
                  <a:solidFill>
                    <a:srgbClr val="800000"/>
                  </a:solidFill>
                  <a:latin typeface="Times New Roman" panose="02020603050405020304" pitchFamily="18" charset="0"/>
                  <a:cs typeface="Times New Roman" panose="02020603050405020304" pitchFamily="18" charset="0"/>
                </a:rPr>
                <a:t>salary</a:t>
              </a:r>
              <a:r>
                <a:rPr sz="2000" b="0" dirty="0">
                  <a:latin typeface="Times New Roman" panose="02020603050405020304" pitchFamily="18" charset="0"/>
                  <a:cs typeface="Times New Roman" panose="02020603050405020304" pitchFamily="18" charset="0"/>
                </a:rPr>
                <a:t>;</a:t>
              </a:r>
              <a:endParaRPr sz="2000">
                <a:latin typeface="Times New Roman" panose="02020603050405020304" pitchFamily="18" charset="0"/>
                <a:cs typeface="Times New Roman" panose="02020603050405020304" pitchFamily="18" charset="0"/>
              </a:endParaRPr>
            </a:p>
            <a:p>
              <a:pPr marL="90805">
                <a:lnSpc>
                  <a:spcPct val="100000"/>
                </a:lnSpc>
              </a:pPr>
              <a:r>
                <a:rPr sz="2000" b="0" dirty="0">
                  <a:latin typeface="Times New Roman" panose="02020603050405020304" pitchFamily="18" charset="0"/>
                  <a:cs typeface="Times New Roman" panose="02020603050405020304" pitchFamily="18" charset="0"/>
                </a:rPr>
                <a:t>}</a:t>
              </a:r>
              <a:endParaRPr sz="2000">
                <a:latin typeface="Times New Roman" panose="02020603050405020304" pitchFamily="18" charset="0"/>
                <a:cs typeface="Times New Roman" panose="02020603050405020304" pitchFamily="18" charset="0"/>
              </a:endParaRPr>
            </a:p>
          </p:txBody>
        </p:sp>
        <p:sp>
          <p:nvSpPr>
            <p:cNvPr id="12" name="object 12"/>
            <p:cNvSpPr txBox="1"/>
            <p:nvPr/>
          </p:nvSpPr>
          <p:spPr>
            <a:xfrm>
              <a:off x="7980281" y="2195477"/>
              <a:ext cx="3869690" cy="2208296"/>
            </a:xfrm>
            <a:prstGeom prst="rect">
              <a:avLst/>
            </a:prstGeom>
            <a:solidFill>
              <a:srgbClr val="ECEBEB"/>
            </a:solidFill>
          </p:spPr>
          <p:txBody>
            <a:bodyPr vert="horz" wrap="square" lIns="0" tIns="45719" rIns="0" bIns="0" rtlCol="0">
              <a:spAutoFit/>
            </a:bodyPr>
            <a:lstStyle/>
            <a:p>
              <a:pPr marL="91440">
                <a:lnSpc>
                  <a:spcPct val="100000"/>
                </a:lnSpc>
                <a:spcBef>
                  <a:spcPts val="360"/>
                </a:spcBef>
              </a:pPr>
              <a:r>
                <a:rPr sz="2000" spc="-5" dirty="0">
                  <a:latin typeface="Times New Roman" panose="02020603050405020304" pitchFamily="18" charset="0"/>
                  <a:cs typeface="Times New Roman" panose="02020603050405020304" pitchFamily="18" charset="0"/>
                </a:rPr>
                <a:t>//</a:t>
              </a:r>
              <a:r>
                <a:rPr sz="2000" b="0" spc="-5" dirty="0">
                  <a:latin typeface="Times New Roman" panose="02020603050405020304" pitchFamily="18" charset="0"/>
                  <a:cs typeface="Times New Roman" panose="02020603050405020304" pitchFamily="18" charset="0"/>
                </a:rPr>
                <a:t>Source ﬁle:</a:t>
              </a:r>
              <a:r>
                <a:rPr sz="2000" b="0" spc="-35" dirty="0">
                  <a:latin typeface="Times New Roman" panose="02020603050405020304" pitchFamily="18" charset="0"/>
                  <a:cs typeface="Times New Roman" panose="02020603050405020304" pitchFamily="18" charset="0"/>
                </a:rPr>
                <a:t> </a:t>
              </a:r>
              <a:r>
                <a:rPr sz="2000" b="0" spc="-10" dirty="0">
                  <a:latin typeface="Times New Roman" panose="02020603050405020304" pitchFamily="18" charset="0"/>
                  <a:cs typeface="Times New Roman" panose="02020603050405020304" pitchFamily="18" charset="0"/>
                </a:rPr>
                <a:t>F:\\code\\Person.java</a:t>
              </a:r>
              <a:endParaRPr sz="2000">
                <a:latin typeface="Times New Roman" panose="02020603050405020304" pitchFamily="18" charset="0"/>
                <a:cs typeface="Times New Roman" panose="02020603050405020304" pitchFamily="18" charset="0"/>
              </a:endParaRPr>
            </a:p>
            <a:p>
              <a:pPr>
                <a:lnSpc>
                  <a:spcPct val="100000"/>
                </a:lnSpc>
                <a:spcBef>
                  <a:spcPts val="40"/>
                </a:spcBef>
              </a:pPr>
              <a:endParaRPr sz="2050">
                <a:latin typeface="Times New Roman" panose="02020603050405020304" pitchFamily="18" charset="0"/>
                <a:cs typeface="Times New Roman" panose="02020603050405020304" pitchFamily="18" charset="0"/>
              </a:endParaRPr>
            </a:p>
            <a:p>
              <a:pPr marL="91440">
                <a:lnSpc>
                  <a:spcPct val="100000"/>
                </a:lnSpc>
              </a:pPr>
              <a:r>
                <a:rPr sz="2000" b="0" spc="-5" dirty="0">
                  <a:latin typeface="Times New Roman" panose="02020603050405020304" pitchFamily="18" charset="0"/>
                  <a:cs typeface="Times New Roman" panose="02020603050405020304" pitchFamily="18" charset="0"/>
                </a:rPr>
                <a:t>public </a:t>
              </a:r>
              <a:r>
                <a:rPr sz="2000" b="0" dirty="0">
                  <a:latin typeface="Times New Roman" panose="02020603050405020304" pitchFamily="18" charset="0"/>
                  <a:cs typeface="Times New Roman" panose="02020603050405020304" pitchFamily="18" charset="0"/>
                </a:rPr>
                <a:t>class</a:t>
              </a:r>
              <a:r>
                <a:rPr sz="2000" b="0" spc="-5" dirty="0">
                  <a:latin typeface="Times New Roman" panose="02020603050405020304" pitchFamily="18" charset="0"/>
                  <a:cs typeface="Times New Roman" panose="02020603050405020304" pitchFamily="18" charset="0"/>
                </a:rPr>
                <a:t> </a:t>
              </a:r>
              <a:r>
                <a:rPr sz="2000" b="0" spc="-20" dirty="0">
                  <a:solidFill>
                    <a:srgbClr val="800000"/>
                  </a:solidFill>
                  <a:latin typeface="Times New Roman" panose="02020603050405020304" pitchFamily="18" charset="0"/>
                  <a:cs typeface="Times New Roman" panose="02020603050405020304" pitchFamily="18" charset="0"/>
                </a:rPr>
                <a:t>Person</a:t>
              </a:r>
              <a:endParaRPr sz="2000">
                <a:latin typeface="Times New Roman" panose="02020603050405020304" pitchFamily="18" charset="0"/>
                <a:cs typeface="Times New Roman" panose="02020603050405020304" pitchFamily="18" charset="0"/>
              </a:endParaRPr>
            </a:p>
            <a:p>
              <a:pPr marL="91440">
                <a:lnSpc>
                  <a:spcPct val="100000"/>
                </a:lnSpc>
              </a:pPr>
              <a:r>
                <a:rPr sz="2000" b="0" dirty="0">
                  <a:latin typeface="Times New Roman" panose="02020603050405020304" pitchFamily="18" charset="0"/>
                  <a:cs typeface="Times New Roman" panose="02020603050405020304" pitchFamily="18" charset="0"/>
                </a:rPr>
                <a:t>{</a:t>
              </a:r>
              <a:endParaRPr sz="2000">
                <a:latin typeface="Times New Roman" panose="02020603050405020304" pitchFamily="18" charset="0"/>
                <a:cs typeface="Times New Roman" panose="02020603050405020304" pitchFamily="18" charset="0"/>
              </a:endParaRPr>
            </a:p>
            <a:p>
              <a:pPr marL="263525" marR="488950">
                <a:lnSpc>
                  <a:spcPct val="100000"/>
                </a:lnSpc>
              </a:pPr>
              <a:r>
                <a:rPr sz="2000" b="0" spc="-15" dirty="0">
                  <a:latin typeface="Times New Roman" panose="02020603050405020304" pitchFamily="18" charset="0"/>
                  <a:cs typeface="Times New Roman" panose="02020603050405020304" pitchFamily="18" charset="0"/>
                </a:rPr>
                <a:t>private </a:t>
              </a:r>
              <a:r>
                <a:rPr sz="2000" b="0" spc="-5" dirty="0">
                  <a:latin typeface="Times New Roman" panose="02020603050405020304" pitchFamily="18" charset="0"/>
                  <a:cs typeface="Times New Roman" panose="02020603050405020304" pitchFamily="18" charset="0"/>
                </a:rPr>
                <a:t>String </a:t>
              </a:r>
              <a:r>
                <a:rPr sz="2000" b="0" spc="-5" dirty="0">
                  <a:solidFill>
                    <a:srgbClr val="800000"/>
                  </a:solidFill>
                  <a:latin typeface="Times New Roman" panose="02020603050405020304" pitchFamily="18" charset="0"/>
                  <a:cs typeface="Times New Roman" panose="02020603050405020304" pitchFamily="18" charset="0"/>
                </a:rPr>
                <a:t>personName</a:t>
              </a:r>
              <a:r>
                <a:rPr sz="2000" b="0" spc="-5" dirty="0">
                  <a:latin typeface="Times New Roman" panose="02020603050405020304" pitchFamily="18" charset="0"/>
                  <a:cs typeface="Times New Roman" panose="02020603050405020304" pitchFamily="18" charset="0"/>
                </a:rPr>
                <a:t>;  </a:t>
              </a:r>
              <a:r>
                <a:rPr sz="2000" b="0" spc="-15" dirty="0">
                  <a:latin typeface="Times New Roman" panose="02020603050405020304" pitchFamily="18" charset="0"/>
                  <a:cs typeface="Times New Roman" panose="02020603050405020304" pitchFamily="18" charset="0"/>
                </a:rPr>
                <a:t>protected </a:t>
              </a:r>
              <a:r>
                <a:rPr sz="2000" b="0" spc="-10" dirty="0">
                  <a:latin typeface="Times New Roman" panose="02020603050405020304" pitchFamily="18" charset="0"/>
                  <a:cs typeface="Times New Roman" panose="02020603050405020304" pitchFamily="18" charset="0"/>
                </a:rPr>
                <a:t>Company</a:t>
              </a:r>
              <a:r>
                <a:rPr sz="2000" b="0" spc="15" dirty="0">
                  <a:latin typeface="Times New Roman" panose="02020603050405020304" pitchFamily="18" charset="0"/>
                  <a:cs typeface="Times New Roman" panose="02020603050405020304" pitchFamily="18" charset="0"/>
                </a:rPr>
                <a:t> </a:t>
              </a:r>
              <a:r>
                <a:rPr sz="2000" b="0" spc="-10" dirty="0">
                  <a:solidFill>
                    <a:srgbClr val="800000"/>
                  </a:solidFill>
                  <a:latin typeface="Times New Roman" panose="02020603050405020304" pitchFamily="18" charset="0"/>
                  <a:cs typeface="Times New Roman" panose="02020603050405020304" pitchFamily="18" charset="0"/>
                </a:rPr>
                <a:t>employer</a:t>
              </a:r>
              <a:r>
                <a:rPr sz="2000" b="0" spc="-10" dirty="0">
                  <a:latin typeface="Times New Roman" panose="02020603050405020304" pitchFamily="18" charset="0"/>
                  <a:cs typeface="Times New Roman" panose="02020603050405020304" pitchFamily="18" charset="0"/>
                </a:rPr>
                <a:t>;</a:t>
              </a:r>
              <a:endParaRPr sz="2000">
                <a:latin typeface="Times New Roman" panose="02020603050405020304" pitchFamily="18" charset="0"/>
                <a:cs typeface="Times New Roman" panose="02020603050405020304" pitchFamily="18" charset="0"/>
              </a:endParaRPr>
            </a:p>
            <a:p>
              <a:pPr marL="91440">
                <a:lnSpc>
                  <a:spcPct val="100000"/>
                </a:lnSpc>
              </a:pPr>
              <a:r>
                <a:rPr sz="2000" b="0" dirty="0">
                  <a:latin typeface="Times New Roman" panose="02020603050405020304" pitchFamily="18" charset="0"/>
                  <a:cs typeface="Times New Roman" panose="02020603050405020304" pitchFamily="18" charset="0"/>
                </a:rPr>
                <a:t>}</a:t>
              </a:r>
              <a:endParaRPr sz="2000">
                <a:latin typeface="Times New Roman" panose="02020603050405020304" pitchFamily="18" charset="0"/>
                <a:cs typeface="Times New Roman" panose="02020603050405020304" pitchFamily="18" charset="0"/>
              </a:endParaRPr>
            </a:p>
          </p:txBody>
        </p:sp>
      </p:grpSp>
    </p:spTree>
  </p:cSld>
  <p:clrMapOvr>
    <a:masterClrMapping/>
  </p:clrMapOvr>
  <mc:AlternateContent xmlns:mc="http://schemas.openxmlformats.org/markup-compatibility/2006" xmlns:p14="http://schemas.microsoft.com/office/powerpoint/2010/main">
    <mc:Choice Requires="p14">
      <p:transition spd="slow" p14:dur="2000" advTm="25538"/>
    </mc:Choice>
    <mc:Fallback xmlns="">
      <p:transition spd="slow" advTm="25538"/>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199" y="365125"/>
            <a:ext cx="11458903" cy="1325563"/>
          </a:xfrm>
        </p:spPr>
        <p:txBody>
          <a:bodyPr>
            <a:normAutofit/>
          </a:bodyPr>
          <a:lstStyle/>
          <a:p>
            <a:r>
              <a:rPr lang="zh-CN" altLang="en-US" sz="4000" dirty="0"/>
              <a:t>聚合（</a:t>
            </a:r>
            <a:r>
              <a:rPr lang="en-US" altLang="zh-CN" sz="4000" dirty="0"/>
              <a:t>Aggregation</a:t>
            </a:r>
            <a:r>
              <a:rPr lang="zh-CN" altLang="en-US" sz="4000" dirty="0"/>
              <a:t>）与组合（</a:t>
            </a:r>
            <a:r>
              <a:rPr lang="en-US" altLang="zh-CN" sz="4000" dirty="0"/>
              <a:t>Composition</a:t>
            </a:r>
            <a:r>
              <a:rPr lang="zh-CN" altLang="en-US" sz="4000" dirty="0"/>
              <a:t>）</a:t>
            </a:r>
          </a:p>
        </p:txBody>
      </p:sp>
      <p:sp>
        <p:nvSpPr>
          <p:cNvPr id="3" name="内容占位符 2"/>
          <p:cNvSpPr>
            <a:spLocks noGrp="1"/>
          </p:cNvSpPr>
          <p:nvPr>
            <p:ph idx="1"/>
          </p:nvPr>
        </p:nvSpPr>
        <p:spPr>
          <a:xfrm>
            <a:off x="838200" y="1587062"/>
            <a:ext cx="10515600" cy="4589901"/>
          </a:xfrm>
        </p:spPr>
        <p:txBody>
          <a:bodyPr/>
          <a:lstStyle/>
          <a:p>
            <a:pPr marL="241300">
              <a:lnSpc>
                <a:spcPct val="100000"/>
              </a:lnSpc>
              <a:spcBef>
                <a:spcPts val="600"/>
              </a:spcBef>
              <a:buFont typeface="Arial" panose="020B0604020202020204"/>
              <a:buChar char="•"/>
              <a:tabLst>
                <a:tab pos="240665" algn="l"/>
                <a:tab pos="241300" algn="l"/>
              </a:tabLst>
            </a:pPr>
            <a:r>
              <a:rPr lang="zh-CN" altLang="en-US" sz="2000" dirty="0">
                <a:latin typeface="黑体" panose="02010609060101010101" charset="-122"/>
                <a:cs typeface="黑体" panose="02010609060101010101" charset="-122"/>
              </a:rPr>
              <a:t>聚合（</a:t>
            </a:r>
            <a:r>
              <a:rPr lang="en-US" altLang="zh-CN" sz="2000" dirty="0">
                <a:latin typeface="黑体" panose="02010609060101010101" charset="-122"/>
                <a:cs typeface="黑体" panose="02010609060101010101" charset="-122"/>
              </a:rPr>
              <a:t>Aggregation</a:t>
            </a:r>
            <a:r>
              <a:rPr lang="zh-CN" altLang="en-US" sz="2000" dirty="0">
                <a:latin typeface="黑体" panose="02010609060101010101" charset="-122"/>
                <a:cs typeface="黑体" panose="02010609060101010101" charset="-122"/>
              </a:rPr>
              <a:t>）用于表达一个整体对象与其成员对象之间的关系</a:t>
            </a:r>
          </a:p>
          <a:p>
            <a:pPr marL="698500" lvl="1">
              <a:lnSpc>
                <a:spcPct val="100000"/>
              </a:lnSpc>
              <a:buFont typeface="Arial" panose="020B0604020202020204"/>
              <a:buChar char="•"/>
              <a:tabLst>
                <a:tab pos="697865" algn="l"/>
                <a:tab pos="698500" algn="l"/>
              </a:tabLst>
            </a:pPr>
            <a:r>
              <a:rPr lang="zh-CN" altLang="en-US" sz="2000" spc="-140" dirty="0">
                <a:latin typeface="黑体" panose="02010609060101010101" charset="-122"/>
                <a:cs typeface="黑体" panose="02010609060101010101" charset="-122"/>
              </a:rPr>
              <a:t>“</a:t>
            </a:r>
            <a:r>
              <a:rPr lang="en-US" altLang="zh-CN" sz="2000" b="1" spc="-140" dirty="0">
                <a:solidFill>
                  <a:srgbClr val="800000"/>
                </a:solidFill>
                <a:latin typeface="Calibri" panose="020F0502020204030204"/>
                <a:cs typeface="Calibri" panose="020F0502020204030204"/>
              </a:rPr>
              <a:t>Has-­‐a</a:t>
            </a:r>
            <a:r>
              <a:rPr lang="zh-CN" altLang="en-US" sz="2000" spc="-140" dirty="0">
                <a:latin typeface="黑体" panose="02010609060101010101" charset="-122"/>
                <a:cs typeface="黑体" panose="02010609060101010101" charset="-122"/>
              </a:rPr>
              <a:t>”</a:t>
            </a:r>
            <a:r>
              <a:rPr lang="zh-CN" altLang="en-US" sz="2000" spc="-5" dirty="0">
                <a:latin typeface="黑体" panose="02010609060101010101" charset="-122"/>
                <a:cs typeface="黑体" panose="02010609060101010101" charset="-122"/>
              </a:rPr>
              <a:t> </a:t>
            </a:r>
            <a:r>
              <a:rPr lang="zh-CN" altLang="en-US" sz="2000" dirty="0">
                <a:latin typeface="黑体" panose="02010609060101010101" charset="-122"/>
                <a:cs typeface="黑体" panose="02010609060101010101" charset="-122"/>
              </a:rPr>
              <a:t>或是 </a:t>
            </a:r>
            <a:r>
              <a:rPr lang="zh-CN" altLang="en-US" sz="2000" spc="-5" dirty="0">
                <a:latin typeface="黑体" panose="02010609060101010101" charset="-122"/>
                <a:cs typeface="黑体" panose="02010609060101010101" charset="-122"/>
              </a:rPr>
              <a:t>“</a:t>
            </a:r>
            <a:r>
              <a:rPr lang="en-US" altLang="zh-CN" sz="2000" b="1" spc="-5" dirty="0">
                <a:solidFill>
                  <a:srgbClr val="800000"/>
                </a:solidFill>
                <a:latin typeface="Calibri" panose="020F0502020204030204"/>
                <a:cs typeface="Calibri" panose="020F0502020204030204"/>
              </a:rPr>
              <a:t>Whole/part</a:t>
            </a:r>
            <a:r>
              <a:rPr lang="zh-CN" altLang="en-US" sz="2000" spc="-5" dirty="0">
                <a:latin typeface="黑体" panose="02010609060101010101" charset="-122"/>
                <a:cs typeface="黑体" panose="02010609060101010101" charset="-122"/>
              </a:rPr>
              <a:t>”</a:t>
            </a:r>
            <a:endParaRPr lang="zh-CN" altLang="en-US" sz="2000" dirty="0">
              <a:latin typeface="黑体" panose="02010609060101010101" charset="-122"/>
              <a:cs typeface="黑体" panose="02010609060101010101" charset="-122"/>
            </a:endParaRPr>
          </a:p>
          <a:p>
            <a:pPr marL="241300">
              <a:lnSpc>
                <a:spcPct val="100000"/>
              </a:lnSpc>
              <a:buFont typeface="Arial" panose="020B0604020202020204"/>
              <a:buChar char="•"/>
              <a:tabLst>
                <a:tab pos="240665" algn="l"/>
                <a:tab pos="241300" algn="l"/>
              </a:tabLst>
            </a:pPr>
            <a:r>
              <a:rPr lang="zh-CN" altLang="en-US" sz="2000" dirty="0">
                <a:latin typeface="黑体" panose="02010609060101010101" charset="-122"/>
                <a:cs typeface="黑体" panose="02010609060101010101" charset="-122"/>
              </a:rPr>
              <a:t>组合（</a:t>
            </a:r>
            <a:r>
              <a:rPr lang="en-US" altLang="zh-CN" sz="2000" dirty="0">
                <a:latin typeface="黑体" panose="02010609060101010101" charset="-122"/>
                <a:cs typeface="黑体" panose="02010609060101010101" charset="-122"/>
              </a:rPr>
              <a:t>Composition</a:t>
            </a:r>
            <a:r>
              <a:rPr lang="zh-CN" altLang="en-US" sz="2000" dirty="0">
                <a:latin typeface="黑体" panose="02010609060101010101" charset="-122"/>
                <a:cs typeface="黑体" panose="02010609060101010101" charset="-122"/>
              </a:rPr>
              <a:t>）用于表达一个整体对象与其组成部分之间的关系</a:t>
            </a:r>
          </a:p>
          <a:p>
            <a:pPr marL="698500" lvl="1">
              <a:lnSpc>
                <a:spcPct val="100000"/>
              </a:lnSpc>
              <a:buFont typeface="Arial" panose="020B0604020202020204"/>
              <a:buChar char="•"/>
              <a:tabLst>
                <a:tab pos="697865" algn="l"/>
                <a:tab pos="698500" algn="l"/>
              </a:tabLst>
            </a:pPr>
            <a:r>
              <a:rPr lang="zh-CN" altLang="en-US" sz="2000" dirty="0">
                <a:latin typeface="黑体" panose="02010609060101010101" charset="-122"/>
                <a:cs typeface="黑体" panose="02010609060101010101" charset="-122"/>
              </a:rPr>
              <a:t>组合关系所表达的整体类与部分类之间的所属关系更强</a:t>
            </a:r>
          </a:p>
          <a:p>
            <a:pPr marL="1155700" lvl="2">
              <a:lnSpc>
                <a:spcPct val="100000"/>
              </a:lnSpc>
              <a:buFont typeface="Arial" panose="020B0604020202020204"/>
              <a:buChar char="•"/>
              <a:tabLst>
                <a:tab pos="1155065" algn="l"/>
                <a:tab pos="1155700" algn="l"/>
              </a:tabLst>
            </a:pPr>
            <a:r>
              <a:rPr lang="zh-CN" altLang="en-US" dirty="0">
                <a:latin typeface="黑体" panose="02010609060101010101" charset="-122"/>
                <a:cs typeface="黑体" panose="02010609060101010101" charset="-122"/>
              </a:rPr>
              <a:t>整体类的对象不存在时，部分类的对象也不存在</a:t>
            </a:r>
          </a:p>
          <a:p>
            <a:pPr marL="1155700" lvl="2">
              <a:lnSpc>
                <a:spcPct val="100000"/>
              </a:lnSpc>
              <a:buFont typeface="Arial" panose="020B0604020202020204"/>
              <a:buChar char="•"/>
              <a:tabLst>
                <a:tab pos="1155065" algn="l"/>
                <a:tab pos="1155700" algn="l"/>
              </a:tabLst>
            </a:pPr>
            <a:r>
              <a:rPr lang="zh-CN" altLang="en-US" dirty="0">
                <a:latin typeface="黑体" panose="02010609060101010101" charset="-122"/>
                <a:cs typeface="黑体" panose="02010609060101010101" charset="-122"/>
              </a:rPr>
              <a:t>整体类对象撤销之前要负责将部分类对象撤销</a:t>
            </a:r>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t>24</a:t>
            </a:fld>
            <a:endParaRPr lang="zh-CN" altLang="en-US"/>
          </a:p>
        </p:txBody>
      </p:sp>
      <p:sp>
        <p:nvSpPr>
          <p:cNvPr id="5" name="object 8"/>
          <p:cNvSpPr/>
          <p:nvPr/>
        </p:nvSpPr>
        <p:spPr>
          <a:xfrm>
            <a:off x="5658069" y="3873147"/>
            <a:ext cx="1494155" cy="671830"/>
          </a:xfrm>
          <a:custGeom>
            <a:avLst/>
            <a:gdLst/>
            <a:ahLst/>
            <a:cxnLst/>
            <a:rect l="l" t="t" r="r" b="b"/>
            <a:pathLst>
              <a:path w="1494154" h="671829">
                <a:moveTo>
                  <a:pt x="0" y="0"/>
                </a:moveTo>
                <a:lnTo>
                  <a:pt x="1493837" y="0"/>
                </a:lnTo>
                <a:lnTo>
                  <a:pt x="1493837" y="671512"/>
                </a:lnTo>
                <a:lnTo>
                  <a:pt x="0" y="671512"/>
                </a:lnTo>
                <a:lnTo>
                  <a:pt x="0" y="0"/>
                </a:lnTo>
                <a:close/>
              </a:path>
            </a:pathLst>
          </a:custGeom>
          <a:ln w="28574">
            <a:solidFill>
              <a:srgbClr val="000000"/>
            </a:solidFill>
          </a:ln>
        </p:spPr>
        <p:txBody>
          <a:bodyPr wrap="square" lIns="0" tIns="0" rIns="0" bIns="0" rtlCol="0"/>
          <a:lstStyle/>
          <a:p>
            <a:endParaRPr/>
          </a:p>
        </p:txBody>
      </p:sp>
      <p:sp>
        <p:nvSpPr>
          <p:cNvPr id="6" name="object 9"/>
          <p:cNvSpPr txBox="1"/>
          <p:nvPr/>
        </p:nvSpPr>
        <p:spPr>
          <a:xfrm>
            <a:off x="5658069" y="3873147"/>
            <a:ext cx="1494155" cy="381000"/>
          </a:xfrm>
          <a:prstGeom prst="rect">
            <a:avLst/>
          </a:prstGeom>
          <a:ln w="28574">
            <a:solidFill>
              <a:srgbClr val="000000"/>
            </a:solidFill>
          </a:ln>
        </p:spPr>
        <p:txBody>
          <a:bodyPr vert="horz" wrap="square" lIns="0" tIns="45720" rIns="0" bIns="0" rtlCol="0">
            <a:spAutoFit/>
          </a:bodyPr>
          <a:lstStyle/>
          <a:p>
            <a:pPr marL="320040">
              <a:lnSpc>
                <a:spcPct val="100000"/>
              </a:lnSpc>
              <a:spcBef>
                <a:spcPts val="360"/>
              </a:spcBef>
            </a:pPr>
            <a:r>
              <a:rPr sz="2000" spc="-5" dirty="0">
                <a:latin typeface="Arial" panose="020B0604020202020204"/>
                <a:cs typeface="Arial" panose="020B0604020202020204"/>
              </a:rPr>
              <a:t>:Engine</a:t>
            </a:r>
            <a:endParaRPr sz="2000">
              <a:latin typeface="Arial" panose="020B0604020202020204"/>
              <a:cs typeface="Arial" panose="020B0604020202020204"/>
            </a:endParaRPr>
          </a:p>
        </p:txBody>
      </p:sp>
      <p:sp>
        <p:nvSpPr>
          <p:cNvPr id="7" name="object 10"/>
          <p:cNvSpPr/>
          <p:nvPr/>
        </p:nvSpPr>
        <p:spPr>
          <a:xfrm>
            <a:off x="6166067" y="5778147"/>
            <a:ext cx="1494155" cy="671830"/>
          </a:xfrm>
          <a:custGeom>
            <a:avLst/>
            <a:gdLst/>
            <a:ahLst/>
            <a:cxnLst/>
            <a:rect l="l" t="t" r="r" b="b"/>
            <a:pathLst>
              <a:path w="1494154" h="671829">
                <a:moveTo>
                  <a:pt x="0" y="0"/>
                </a:moveTo>
                <a:lnTo>
                  <a:pt x="1493837" y="0"/>
                </a:lnTo>
                <a:lnTo>
                  <a:pt x="1493837" y="671512"/>
                </a:lnTo>
                <a:lnTo>
                  <a:pt x="0" y="671512"/>
                </a:lnTo>
                <a:lnTo>
                  <a:pt x="0" y="0"/>
                </a:lnTo>
                <a:close/>
              </a:path>
            </a:pathLst>
          </a:custGeom>
          <a:ln w="28574">
            <a:solidFill>
              <a:srgbClr val="000000"/>
            </a:solidFill>
          </a:ln>
        </p:spPr>
        <p:txBody>
          <a:bodyPr wrap="square" lIns="0" tIns="0" rIns="0" bIns="0" rtlCol="0"/>
          <a:lstStyle/>
          <a:p>
            <a:endParaRPr/>
          </a:p>
        </p:txBody>
      </p:sp>
      <p:sp>
        <p:nvSpPr>
          <p:cNvPr id="8" name="object 11"/>
          <p:cNvSpPr txBox="1"/>
          <p:nvPr/>
        </p:nvSpPr>
        <p:spPr>
          <a:xfrm>
            <a:off x="6166067" y="5747190"/>
            <a:ext cx="1494155" cy="389890"/>
          </a:xfrm>
          <a:prstGeom prst="rect">
            <a:avLst/>
          </a:prstGeom>
          <a:ln w="28574">
            <a:solidFill>
              <a:srgbClr val="000000"/>
            </a:solidFill>
          </a:ln>
        </p:spPr>
        <p:txBody>
          <a:bodyPr vert="horz" wrap="square" lIns="0" tIns="76200" rIns="0" bIns="0" rtlCol="0">
            <a:spAutoFit/>
          </a:bodyPr>
          <a:lstStyle/>
          <a:p>
            <a:pPr marL="352425">
              <a:lnSpc>
                <a:spcPct val="100000"/>
              </a:lnSpc>
              <a:spcBef>
                <a:spcPts val="600"/>
              </a:spcBef>
            </a:pPr>
            <a:r>
              <a:rPr sz="1800" spc="-5" dirty="0">
                <a:latin typeface="Arial" panose="020B0604020202020204"/>
                <a:cs typeface="Arial" panose="020B0604020202020204"/>
              </a:rPr>
              <a:t>:Person</a:t>
            </a:r>
            <a:endParaRPr sz="1800">
              <a:latin typeface="Arial" panose="020B0604020202020204"/>
              <a:cs typeface="Arial" panose="020B0604020202020204"/>
            </a:endParaRPr>
          </a:p>
        </p:txBody>
      </p:sp>
      <p:sp>
        <p:nvSpPr>
          <p:cNvPr id="9" name="object 12"/>
          <p:cNvSpPr/>
          <p:nvPr/>
        </p:nvSpPr>
        <p:spPr>
          <a:xfrm>
            <a:off x="2305269" y="5168547"/>
            <a:ext cx="1494155" cy="671830"/>
          </a:xfrm>
          <a:custGeom>
            <a:avLst/>
            <a:gdLst/>
            <a:ahLst/>
            <a:cxnLst/>
            <a:rect l="l" t="t" r="r" b="b"/>
            <a:pathLst>
              <a:path w="1494155" h="671829">
                <a:moveTo>
                  <a:pt x="0" y="0"/>
                </a:moveTo>
                <a:lnTo>
                  <a:pt x="1493837" y="0"/>
                </a:lnTo>
                <a:lnTo>
                  <a:pt x="1493837" y="671512"/>
                </a:lnTo>
                <a:lnTo>
                  <a:pt x="0" y="671512"/>
                </a:lnTo>
                <a:lnTo>
                  <a:pt x="0" y="0"/>
                </a:lnTo>
                <a:close/>
              </a:path>
            </a:pathLst>
          </a:custGeom>
          <a:ln w="28574">
            <a:solidFill>
              <a:srgbClr val="000000"/>
            </a:solidFill>
          </a:ln>
        </p:spPr>
        <p:txBody>
          <a:bodyPr wrap="square" lIns="0" tIns="0" rIns="0" bIns="0" rtlCol="0"/>
          <a:lstStyle/>
          <a:p>
            <a:endParaRPr/>
          </a:p>
        </p:txBody>
      </p:sp>
      <p:sp>
        <p:nvSpPr>
          <p:cNvPr id="10" name="object 13"/>
          <p:cNvSpPr txBox="1"/>
          <p:nvPr/>
        </p:nvSpPr>
        <p:spPr>
          <a:xfrm>
            <a:off x="2305269" y="5168547"/>
            <a:ext cx="1494155" cy="381000"/>
          </a:xfrm>
          <a:prstGeom prst="rect">
            <a:avLst/>
          </a:prstGeom>
          <a:ln w="28574">
            <a:solidFill>
              <a:srgbClr val="000000"/>
            </a:solidFill>
          </a:ln>
        </p:spPr>
        <p:txBody>
          <a:bodyPr vert="horz" wrap="square" lIns="0" tIns="45720" rIns="0" bIns="0" rtlCol="0">
            <a:spAutoFit/>
          </a:bodyPr>
          <a:lstStyle/>
          <a:p>
            <a:pPr marL="6985" algn="ctr">
              <a:lnSpc>
                <a:spcPct val="100000"/>
              </a:lnSpc>
              <a:spcBef>
                <a:spcPts val="360"/>
              </a:spcBef>
            </a:pPr>
            <a:r>
              <a:rPr sz="2000" spc="-5" dirty="0">
                <a:latin typeface="Arial" panose="020B0604020202020204"/>
                <a:cs typeface="Arial" panose="020B0604020202020204"/>
              </a:rPr>
              <a:t>:Car</a:t>
            </a:r>
            <a:endParaRPr sz="2000">
              <a:latin typeface="Arial" panose="020B0604020202020204"/>
              <a:cs typeface="Arial" panose="020B0604020202020204"/>
            </a:endParaRPr>
          </a:p>
        </p:txBody>
      </p:sp>
      <p:sp>
        <p:nvSpPr>
          <p:cNvPr id="11" name="object 14"/>
          <p:cNvSpPr/>
          <p:nvPr/>
        </p:nvSpPr>
        <p:spPr>
          <a:xfrm>
            <a:off x="4351556" y="5716234"/>
            <a:ext cx="1795780" cy="398780"/>
          </a:xfrm>
          <a:custGeom>
            <a:avLst/>
            <a:gdLst/>
            <a:ahLst/>
            <a:cxnLst/>
            <a:rect l="l" t="t" r="r" b="b"/>
            <a:pathLst>
              <a:path w="1795779" h="398779">
                <a:moveTo>
                  <a:pt x="0" y="0"/>
                </a:moveTo>
                <a:lnTo>
                  <a:pt x="897730" y="0"/>
                </a:lnTo>
                <a:lnTo>
                  <a:pt x="897730" y="398461"/>
                </a:lnTo>
                <a:lnTo>
                  <a:pt x="1795461" y="398461"/>
                </a:lnTo>
              </a:path>
            </a:pathLst>
          </a:custGeom>
          <a:ln w="28574">
            <a:solidFill>
              <a:srgbClr val="000000"/>
            </a:solidFill>
          </a:ln>
        </p:spPr>
        <p:txBody>
          <a:bodyPr wrap="square" lIns="0" tIns="0" rIns="0" bIns="0" rtlCol="0"/>
          <a:lstStyle/>
          <a:p>
            <a:endParaRPr/>
          </a:p>
        </p:txBody>
      </p:sp>
      <p:sp>
        <p:nvSpPr>
          <p:cNvPr id="12" name="object 15"/>
          <p:cNvSpPr/>
          <p:nvPr/>
        </p:nvSpPr>
        <p:spPr>
          <a:xfrm>
            <a:off x="4356319" y="4209697"/>
            <a:ext cx="1282700" cy="1092200"/>
          </a:xfrm>
          <a:custGeom>
            <a:avLst/>
            <a:gdLst/>
            <a:ahLst/>
            <a:cxnLst/>
            <a:rect l="l" t="t" r="r" b="b"/>
            <a:pathLst>
              <a:path w="1282700" h="1092200">
                <a:moveTo>
                  <a:pt x="0" y="1092199"/>
                </a:moveTo>
                <a:lnTo>
                  <a:pt x="641349" y="1092199"/>
                </a:lnTo>
                <a:lnTo>
                  <a:pt x="641349" y="0"/>
                </a:lnTo>
                <a:lnTo>
                  <a:pt x="1282699" y="0"/>
                </a:lnTo>
              </a:path>
            </a:pathLst>
          </a:custGeom>
          <a:ln w="28574">
            <a:solidFill>
              <a:srgbClr val="000000"/>
            </a:solidFill>
          </a:ln>
        </p:spPr>
        <p:txBody>
          <a:bodyPr wrap="square" lIns="0" tIns="0" rIns="0" bIns="0" rtlCol="0"/>
          <a:lstStyle/>
          <a:p>
            <a:endParaRPr/>
          </a:p>
        </p:txBody>
      </p:sp>
      <p:sp>
        <p:nvSpPr>
          <p:cNvPr id="13" name="object 16"/>
          <p:cNvSpPr/>
          <p:nvPr/>
        </p:nvSpPr>
        <p:spPr>
          <a:xfrm>
            <a:off x="3829269" y="5168547"/>
            <a:ext cx="508000" cy="266700"/>
          </a:xfrm>
          <a:custGeom>
            <a:avLst/>
            <a:gdLst/>
            <a:ahLst/>
            <a:cxnLst/>
            <a:rect l="l" t="t" r="r" b="b"/>
            <a:pathLst>
              <a:path w="508000" h="266700">
                <a:moveTo>
                  <a:pt x="254000" y="0"/>
                </a:moveTo>
                <a:lnTo>
                  <a:pt x="0" y="133350"/>
                </a:lnTo>
                <a:lnTo>
                  <a:pt x="254000" y="266700"/>
                </a:lnTo>
                <a:lnTo>
                  <a:pt x="508000" y="133350"/>
                </a:lnTo>
                <a:lnTo>
                  <a:pt x="254000" y="0"/>
                </a:lnTo>
                <a:close/>
              </a:path>
            </a:pathLst>
          </a:custGeom>
          <a:solidFill>
            <a:srgbClr val="55677D"/>
          </a:solidFill>
        </p:spPr>
        <p:txBody>
          <a:bodyPr wrap="square" lIns="0" tIns="0" rIns="0" bIns="0" rtlCol="0"/>
          <a:lstStyle/>
          <a:p>
            <a:endParaRPr/>
          </a:p>
        </p:txBody>
      </p:sp>
      <p:sp>
        <p:nvSpPr>
          <p:cNvPr id="14" name="object 17"/>
          <p:cNvSpPr/>
          <p:nvPr/>
        </p:nvSpPr>
        <p:spPr>
          <a:xfrm>
            <a:off x="3829269" y="5168547"/>
            <a:ext cx="508000" cy="266700"/>
          </a:xfrm>
          <a:custGeom>
            <a:avLst/>
            <a:gdLst/>
            <a:ahLst/>
            <a:cxnLst/>
            <a:rect l="l" t="t" r="r" b="b"/>
            <a:pathLst>
              <a:path w="508000" h="266700">
                <a:moveTo>
                  <a:pt x="0" y="133349"/>
                </a:moveTo>
                <a:lnTo>
                  <a:pt x="253999" y="0"/>
                </a:lnTo>
                <a:lnTo>
                  <a:pt x="507999" y="133349"/>
                </a:lnTo>
                <a:lnTo>
                  <a:pt x="253999" y="266700"/>
                </a:lnTo>
                <a:lnTo>
                  <a:pt x="0" y="133349"/>
                </a:lnTo>
                <a:close/>
              </a:path>
            </a:pathLst>
          </a:custGeom>
          <a:ln w="28574">
            <a:solidFill>
              <a:srgbClr val="000000"/>
            </a:solidFill>
          </a:ln>
        </p:spPr>
        <p:txBody>
          <a:bodyPr wrap="square" lIns="0" tIns="0" rIns="0" bIns="0" rtlCol="0"/>
          <a:lstStyle/>
          <a:p>
            <a:endParaRPr/>
          </a:p>
        </p:txBody>
      </p:sp>
      <p:sp>
        <p:nvSpPr>
          <p:cNvPr id="15" name="object 18"/>
          <p:cNvSpPr/>
          <p:nvPr/>
        </p:nvSpPr>
        <p:spPr>
          <a:xfrm>
            <a:off x="3824506" y="5595584"/>
            <a:ext cx="508000" cy="241300"/>
          </a:xfrm>
          <a:custGeom>
            <a:avLst/>
            <a:gdLst/>
            <a:ahLst/>
            <a:cxnLst/>
            <a:rect l="l" t="t" r="r" b="b"/>
            <a:pathLst>
              <a:path w="508000" h="241300">
                <a:moveTo>
                  <a:pt x="0" y="120649"/>
                </a:moveTo>
                <a:lnTo>
                  <a:pt x="253999" y="0"/>
                </a:lnTo>
                <a:lnTo>
                  <a:pt x="507999" y="120649"/>
                </a:lnTo>
                <a:lnTo>
                  <a:pt x="253999" y="241299"/>
                </a:lnTo>
                <a:lnTo>
                  <a:pt x="0" y="120649"/>
                </a:lnTo>
                <a:close/>
              </a:path>
            </a:pathLst>
          </a:custGeom>
          <a:ln w="28574">
            <a:solidFill>
              <a:srgbClr val="000000"/>
            </a:solidFill>
          </a:ln>
        </p:spPr>
        <p:txBody>
          <a:bodyPr wrap="square" lIns="0" tIns="0" rIns="0" bIns="0" rtlCol="0"/>
          <a:lstStyle/>
          <a:p>
            <a:endParaRPr/>
          </a:p>
        </p:txBody>
      </p:sp>
      <p:sp>
        <p:nvSpPr>
          <p:cNvPr id="16" name="object 19"/>
          <p:cNvSpPr txBox="1"/>
          <p:nvPr/>
        </p:nvSpPr>
        <p:spPr>
          <a:xfrm>
            <a:off x="4314409" y="5049167"/>
            <a:ext cx="124460" cy="238760"/>
          </a:xfrm>
          <a:prstGeom prst="rect">
            <a:avLst/>
          </a:prstGeom>
        </p:spPr>
        <p:txBody>
          <a:bodyPr vert="horz" wrap="square" lIns="0" tIns="12700" rIns="0" bIns="0" rtlCol="0">
            <a:spAutoFit/>
          </a:bodyPr>
          <a:lstStyle/>
          <a:p>
            <a:pPr marL="12700">
              <a:lnSpc>
                <a:spcPct val="100000"/>
              </a:lnSpc>
              <a:spcBef>
                <a:spcPts val="100"/>
              </a:spcBef>
            </a:pPr>
            <a:r>
              <a:rPr sz="1400" dirty="0">
                <a:latin typeface="Arial" panose="020B0604020202020204"/>
                <a:cs typeface="Arial" panose="020B0604020202020204"/>
              </a:rPr>
              <a:t>1</a:t>
            </a:r>
            <a:endParaRPr sz="1400">
              <a:latin typeface="Arial" panose="020B0604020202020204"/>
              <a:cs typeface="Arial" panose="020B0604020202020204"/>
            </a:endParaRPr>
          </a:p>
        </p:txBody>
      </p:sp>
      <p:sp>
        <p:nvSpPr>
          <p:cNvPr id="17" name="object 20"/>
          <p:cNvSpPr txBox="1"/>
          <p:nvPr/>
        </p:nvSpPr>
        <p:spPr>
          <a:xfrm>
            <a:off x="4314409" y="5734967"/>
            <a:ext cx="322580" cy="238760"/>
          </a:xfrm>
          <a:prstGeom prst="rect">
            <a:avLst/>
          </a:prstGeom>
        </p:spPr>
        <p:txBody>
          <a:bodyPr vert="horz" wrap="square" lIns="0" tIns="12700" rIns="0" bIns="0" rtlCol="0">
            <a:spAutoFit/>
          </a:bodyPr>
          <a:lstStyle/>
          <a:p>
            <a:pPr marL="12700">
              <a:lnSpc>
                <a:spcPct val="100000"/>
              </a:lnSpc>
              <a:spcBef>
                <a:spcPts val="100"/>
              </a:spcBef>
            </a:pPr>
            <a:r>
              <a:rPr sz="1400" dirty="0">
                <a:latin typeface="Arial" panose="020B0604020202020204"/>
                <a:cs typeface="Arial" panose="020B0604020202020204"/>
              </a:rPr>
              <a:t>0..1</a:t>
            </a:r>
          </a:p>
        </p:txBody>
      </p:sp>
      <p:sp>
        <p:nvSpPr>
          <p:cNvPr id="18" name="object 21"/>
          <p:cNvSpPr/>
          <p:nvPr/>
        </p:nvSpPr>
        <p:spPr>
          <a:xfrm>
            <a:off x="7678954" y="5828947"/>
            <a:ext cx="1922780" cy="285750"/>
          </a:xfrm>
          <a:custGeom>
            <a:avLst/>
            <a:gdLst/>
            <a:ahLst/>
            <a:cxnLst/>
            <a:rect l="l" t="t" r="r" b="b"/>
            <a:pathLst>
              <a:path w="1922779" h="285750">
                <a:moveTo>
                  <a:pt x="0" y="285749"/>
                </a:moveTo>
                <a:lnTo>
                  <a:pt x="961230" y="285749"/>
                </a:lnTo>
                <a:lnTo>
                  <a:pt x="961230" y="0"/>
                </a:lnTo>
                <a:lnTo>
                  <a:pt x="1922461" y="0"/>
                </a:lnTo>
              </a:path>
            </a:pathLst>
          </a:custGeom>
          <a:ln w="28574">
            <a:solidFill>
              <a:srgbClr val="000000"/>
            </a:solidFill>
          </a:ln>
        </p:spPr>
        <p:txBody>
          <a:bodyPr wrap="square" lIns="0" tIns="0" rIns="0" bIns="0" rtlCol="0"/>
          <a:lstStyle/>
          <a:p>
            <a:endParaRPr/>
          </a:p>
        </p:txBody>
      </p:sp>
      <p:sp>
        <p:nvSpPr>
          <p:cNvPr id="19" name="object 22"/>
          <p:cNvSpPr/>
          <p:nvPr/>
        </p:nvSpPr>
        <p:spPr>
          <a:xfrm>
            <a:off x="9620467" y="5244747"/>
            <a:ext cx="508000" cy="292100"/>
          </a:xfrm>
          <a:custGeom>
            <a:avLst/>
            <a:gdLst/>
            <a:ahLst/>
            <a:cxnLst/>
            <a:rect l="l" t="t" r="r" b="b"/>
            <a:pathLst>
              <a:path w="508000" h="292100">
                <a:moveTo>
                  <a:pt x="254000" y="0"/>
                </a:moveTo>
                <a:lnTo>
                  <a:pt x="0" y="146050"/>
                </a:lnTo>
                <a:lnTo>
                  <a:pt x="254000" y="292100"/>
                </a:lnTo>
                <a:lnTo>
                  <a:pt x="508000" y="146050"/>
                </a:lnTo>
                <a:lnTo>
                  <a:pt x="254000" y="0"/>
                </a:lnTo>
                <a:close/>
              </a:path>
            </a:pathLst>
          </a:custGeom>
          <a:solidFill>
            <a:srgbClr val="55677D"/>
          </a:solidFill>
        </p:spPr>
        <p:txBody>
          <a:bodyPr wrap="square" lIns="0" tIns="0" rIns="0" bIns="0" rtlCol="0"/>
          <a:lstStyle/>
          <a:p>
            <a:endParaRPr/>
          </a:p>
        </p:txBody>
      </p:sp>
      <p:sp>
        <p:nvSpPr>
          <p:cNvPr id="20" name="object 23"/>
          <p:cNvSpPr/>
          <p:nvPr/>
        </p:nvSpPr>
        <p:spPr>
          <a:xfrm>
            <a:off x="9620467" y="5244747"/>
            <a:ext cx="508000" cy="292100"/>
          </a:xfrm>
          <a:custGeom>
            <a:avLst/>
            <a:gdLst/>
            <a:ahLst/>
            <a:cxnLst/>
            <a:rect l="l" t="t" r="r" b="b"/>
            <a:pathLst>
              <a:path w="508000" h="292100">
                <a:moveTo>
                  <a:pt x="0" y="146049"/>
                </a:moveTo>
                <a:lnTo>
                  <a:pt x="253999" y="0"/>
                </a:lnTo>
                <a:lnTo>
                  <a:pt x="507999" y="146049"/>
                </a:lnTo>
                <a:lnTo>
                  <a:pt x="253999" y="292100"/>
                </a:lnTo>
                <a:lnTo>
                  <a:pt x="0" y="146049"/>
                </a:lnTo>
                <a:close/>
              </a:path>
            </a:pathLst>
          </a:custGeom>
          <a:ln w="28574">
            <a:solidFill>
              <a:srgbClr val="000000"/>
            </a:solidFill>
          </a:ln>
        </p:spPr>
        <p:txBody>
          <a:bodyPr wrap="square" lIns="0" tIns="0" rIns="0" bIns="0" rtlCol="0"/>
          <a:lstStyle/>
          <a:p>
            <a:endParaRPr/>
          </a:p>
        </p:txBody>
      </p:sp>
      <p:sp>
        <p:nvSpPr>
          <p:cNvPr id="21" name="object 24"/>
          <p:cNvSpPr/>
          <p:nvPr/>
        </p:nvSpPr>
        <p:spPr>
          <a:xfrm>
            <a:off x="9620467" y="5701947"/>
            <a:ext cx="508000" cy="254000"/>
          </a:xfrm>
          <a:custGeom>
            <a:avLst/>
            <a:gdLst/>
            <a:ahLst/>
            <a:cxnLst/>
            <a:rect l="l" t="t" r="r" b="b"/>
            <a:pathLst>
              <a:path w="508000" h="254000">
                <a:moveTo>
                  <a:pt x="254000" y="0"/>
                </a:moveTo>
                <a:lnTo>
                  <a:pt x="0" y="127000"/>
                </a:lnTo>
                <a:lnTo>
                  <a:pt x="254000" y="254000"/>
                </a:lnTo>
                <a:lnTo>
                  <a:pt x="508000" y="127000"/>
                </a:lnTo>
                <a:lnTo>
                  <a:pt x="254000" y="0"/>
                </a:lnTo>
                <a:close/>
              </a:path>
            </a:pathLst>
          </a:custGeom>
          <a:solidFill>
            <a:srgbClr val="FFFFFF"/>
          </a:solidFill>
        </p:spPr>
        <p:txBody>
          <a:bodyPr wrap="square" lIns="0" tIns="0" rIns="0" bIns="0" rtlCol="0"/>
          <a:lstStyle/>
          <a:p>
            <a:endParaRPr/>
          </a:p>
        </p:txBody>
      </p:sp>
      <p:sp>
        <p:nvSpPr>
          <p:cNvPr id="22" name="object 25"/>
          <p:cNvSpPr/>
          <p:nvPr/>
        </p:nvSpPr>
        <p:spPr>
          <a:xfrm>
            <a:off x="9620467" y="5701947"/>
            <a:ext cx="508000" cy="254000"/>
          </a:xfrm>
          <a:custGeom>
            <a:avLst/>
            <a:gdLst/>
            <a:ahLst/>
            <a:cxnLst/>
            <a:rect l="l" t="t" r="r" b="b"/>
            <a:pathLst>
              <a:path w="508000" h="254000">
                <a:moveTo>
                  <a:pt x="0" y="126999"/>
                </a:moveTo>
                <a:lnTo>
                  <a:pt x="253999" y="0"/>
                </a:lnTo>
                <a:lnTo>
                  <a:pt x="507999" y="126999"/>
                </a:lnTo>
                <a:lnTo>
                  <a:pt x="253999" y="253999"/>
                </a:lnTo>
                <a:lnTo>
                  <a:pt x="0" y="126999"/>
                </a:lnTo>
                <a:close/>
              </a:path>
            </a:pathLst>
          </a:custGeom>
          <a:ln w="28574">
            <a:solidFill>
              <a:srgbClr val="000000"/>
            </a:solidFill>
          </a:ln>
        </p:spPr>
        <p:txBody>
          <a:bodyPr wrap="square" lIns="0" tIns="0" rIns="0" bIns="0" rtlCol="0"/>
          <a:lstStyle/>
          <a:p>
            <a:endParaRPr/>
          </a:p>
        </p:txBody>
      </p:sp>
      <p:sp>
        <p:nvSpPr>
          <p:cNvPr id="23" name="object 26"/>
          <p:cNvSpPr txBox="1"/>
          <p:nvPr/>
        </p:nvSpPr>
        <p:spPr>
          <a:xfrm>
            <a:off x="9191207" y="5811167"/>
            <a:ext cx="322580" cy="238760"/>
          </a:xfrm>
          <a:prstGeom prst="rect">
            <a:avLst/>
          </a:prstGeom>
        </p:spPr>
        <p:txBody>
          <a:bodyPr vert="horz" wrap="square" lIns="0" tIns="12700" rIns="0" bIns="0" rtlCol="0">
            <a:spAutoFit/>
          </a:bodyPr>
          <a:lstStyle/>
          <a:p>
            <a:pPr marL="12700">
              <a:lnSpc>
                <a:spcPct val="100000"/>
              </a:lnSpc>
              <a:spcBef>
                <a:spcPts val="100"/>
              </a:spcBef>
            </a:pPr>
            <a:r>
              <a:rPr sz="1400" dirty="0">
                <a:latin typeface="Arial" panose="020B0604020202020204"/>
                <a:cs typeface="Arial" panose="020B0604020202020204"/>
              </a:rPr>
              <a:t>0..1</a:t>
            </a:r>
            <a:endParaRPr sz="1400">
              <a:latin typeface="Arial" panose="020B0604020202020204"/>
              <a:cs typeface="Arial" panose="020B0604020202020204"/>
            </a:endParaRPr>
          </a:p>
        </p:txBody>
      </p:sp>
      <p:sp>
        <p:nvSpPr>
          <p:cNvPr id="24" name="object 27"/>
          <p:cNvSpPr txBox="1"/>
          <p:nvPr/>
        </p:nvSpPr>
        <p:spPr>
          <a:xfrm>
            <a:off x="8073607" y="6115966"/>
            <a:ext cx="944880" cy="238760"/>
          </a:xfrm>
          <a:prstGeom prst="rect">
            <a:avLst/>
          </a:prstGeom>
        </p:spPr>
        <p:txBody>
          <a:bodyPr vert="horz" wrap="square" lIns="0" tIns="12700" rIns="0" bIns="0" rtlCol="0">
            <a:spAutoFit/>
          </a:bodyPr>
          <a:lstStyle/>
          <a:p>
            <a:pPr marL="12700">
              <a:lnSpc>
                <a:spcPct val="100000"/>
              </a:lnSpc>
              <a:spcBef>
                <a:spcPts val="100"/>
              </a:spcBef>
            </a:pPr>
            <a:r>
              <a:rPr sz="1400" dirty="0">
                <a:latin typeface="Arial" panose="020B0604020202020204"/>
                <a:cs typeface="Arial" panose="020B0604020202020204"/>
              </a:rPr>
              <a:t>passengers</a:t>
            </a:r>
            <a:endParaRPr sz="1400">
              <a:latin typeface="Arial" panose="020B0604020202020204"/>
              <a:cs typeface="Arial" panose="020B0604020202020204"/>
            </a:endParaRPr>
          </a:p>
        </p:txBody>
      </p:sp>
      <p:sp>
        <p:nvSpPr>
          <p:cNvPr id="25" name="object 28"/>
          <p:cNvSpPr txBox="1"/>
          <p:nvPr/>
        </p:nvSpPr>
        <p:spPr>
          <a:xfrm>
            <a:off x="5025609" y="6115966"/>
            <a:ext cx="470534" cy="238760"/>
          </a:xfrm>
          <a:prstGeom prst="rect">
            <a:avLst/>
          </a:prstGeom>
        </p:spPr>
        <p:txBody>
          <a:bodyPr vert="horz" wrap="square" lIns="0" tIns="12700" rIns="0" bIns="0" rtlCol="0">
            <a:spAutoFit/>
          </a:bodyPr>
          <a:lstStyle/>
          <a:p>
            <a:pPr marL="12700">
              <a:lnSpc>
                <a:spcPct val="100000"/>
              </a:lnSpc>
              <a:spcBef>
                <a:spcPts val="100"/>
              </a:spcBef>
            </a:pPr>
            <a:r>
              <a:rPr sz="1400" dirty="0">
                <a:latin typeface="Arial" panose="020B0604020202020204"/>
                <a:cs typeface="Arial" panose="020B0604020202020204"/>
              </a:rPr>
              <a:t>driver</a:t>
            </a:r>
            <a:endParaRPr sz="1400">
              <a:latin typeface="Arial" panose="020B0604020202020204"/>
              <a:cs typeface="Arial" panose="020B0604020202020204"/>
            </a:endParaRPr>
          </a:p>
        </p:txBody>
      </p:sp>
      <p:sp>
        <p:nvSpPr>
          <p:cNvPr id="26" name="object 29"/>
          <p:cNvSpPr txBox="1"/>
          <p:nvPr/>
        </p:nvSpPr>
        <p:spPr>
          <a:xfrm>
            <a:off x="5838409" y="6115966"/>
            <a:ext cx="124460" cy="238760"/>
          </a:xfrm>
          <a:prstGeom prst="rect">
            <a:avLst/>
          </a:prstGeom>
        </p:spPr>
        <p:txBody>
          <a:bodyPr vert="horz" wrap="square" lIns="0" tIns="12700" rIns="0" bIns="0" rtlCol="0">
            <a:spAutoFit/>
          </a:bodyPr>
          <a:lstStyle/>
          <a:p>
            <a:pPr marL="12700">
              <a:lnSpc>
                <a:spcPct val="100000"/>
              </a:lnSpc>
              <a:spcBef>
                <a:spcPts val="100"/>
              </a:spcBef>
            </a:pPr>
            <a:r>
              <a:rPr sz="1400" dirty="0">
                <a:latin typeface="Arial" panose="020B0604020202020204"/>
                <a:cs typeface="Arial" panose="020B0604020202020204"/>
              </a:rPr>
              <a:t>1</a:t>
            </a:r>
            <a:endParaRPr sz="1400">
              <a:latin typeface="Arial" panose="020B0604020202020204"/>
              <a:cs typeface="Arial" panose="020B0604020202020204"/>
            </a:endParaRPr>
          </a:p>
        </p:txBody>
      </p:sp>
      <p:sp>
        <p:nvSpPr>
          <p:cNvPr id="27" name="object 30"/>
          <p:cNvSpPr txBox="1"/>
          <p:nvPr/>
        </p:nvSpPr>
        <p:spPr>
          <a:xfrm>
            <a:off x="5330409" y="3982367"/>
            <a:ext cx="124460" cy="238760"/>
          </a:xfrm>
          <a:prstGeom prst="rect">
            <a:avLst/>
          </a:prstGeom>
        </p:spPr>
        <p:txBody>
          <a:bodyPr vert="horz" wrap="square" lIns="0" tIns="12700" rIns="0" bIns="0" rtlCol="0">
            <a:spAutoFit/>
          </a:bodyPr>
          <a:lstStyle/>
          <a:p>
            <a:pPr marL="12700">
              <a:lnSpc>
                <a:spcPct val="100000"/>
              </a:lnSpc>
              <a:spcBef>
                <a:spcPts val="100"/>
              </a:spcBef>
            </a:pPr>
            <a:r>
              <a:rPr sz="1400" dirty="0">
                <a:latin typeface="Arial" panose="020B0604020202020204"/>
                <a:cs typeface="Arial" panose="020B0604020202020204"/>
              </a:rPr>
              <a:t>1</a:t>
            </a:r>
            <a:endParaRPr sz="1400">
              <a:latin typeface="Arial" panose="020B0604020202020204"/>
              <a:cs typeface="Arial" panose="020B0604020202020204"/>
            </a:endParaRPr>
          </a:p>
        </p:txBody>
      </p:sp>
      <p:sp>
        <p:nvSpPr>
          <p:cNvPr id="28" name="object 31"/>
          <p:cNvSpPr txBox="1"/>
          <p:nvPr/>
        </p:nvSpPr>
        <p:spPr>
          <a:xfrm>
            <a:off x="7667209" y="5887367"/>
            <a:ext cx="292735" cy="238760"/>
          </a:xfrm>
          <a:prstGeom prst="rect">
            <a:avLst/>
          </a:prstGeom>
        </p:spPr>
        <p:txBody>
          <a:bodyPr vert="horz" wrap="square" lIns="0" tIns="12700" rIns="0" bIns="0" rtlCol="0">
            <a:spAutoFit/>
          </a:bodyPr>
          <a:lstStyle/>
          <a:p>
            <a:pPr marL="12700">
              <a:lnSpc>
                <a:spcPct val="100000"/>
              </a:lnSpc>
              <a:spcBef>
                <a:spcPts val="100"/>
              </a:spcBef>
            </a:pPr>
            <a:r>
              <a:rPr sz="1400" dirty="0">
                <a:latin typeface="Arial" panose="020B0604020202020204"/>
                <a:cs typeface="Arial" panose="020B0604020202020204"/>
              </a:rPr>
              <a:t>0..*</a:t>
            </a:r>
            <a:endParaRPr sz="1400">
              <a:latin typeface="Arial" panose="020B0604020202020204"/>
              <a:cs typeface="Arial" panose="020B0604020202020204"/>
            </a:endParaRPr>
          </a:p>
        </p:txBody>
      </p:sp>
      <p:sp>
        <p:nvSpPr>
          <p:cNvPr id="29" name="object 32"/>
          <p:cNvSpPr txBox="1"/>
          <p:nvPr/>
        </p:nvSpPr>
        <p:spPr>
          <a:xfrm>
            <a:off x="2688808" y="4586494"/>
            <a:ext cx="1794510" cy="245745"/>
          </a:xfrm>
          <a:prstGeom prst="rect">
            <a:avLst/>
          </a:prstGeom>
        </p:spPr>
        <p:txBody>
          <a:bodyPr vert="horz" wrap="square" lIns="0" tIns="11430" rIns="0" bIns="0" rtlCol="0">
            <a:spAutoFit/>
          </a:bodyPr>
          <a:lstStyle/>
          <a:p>
            <a:pPr marL="12700">
              <a:lnSpc>
                <a:spcPct val="100000"/>
              </a:lnSpc>
              <a:spcBef>
                <a:spcPts val="90"/>
              </a:spcBef>
            </a:pPr>
            <a:r>
              <a:rPr sz="1400" b="1" spc="-10" dirty="0">
                <a:solidFill>
                  <a:srgbClr val="800000"/>
                </a:solidFill>
                <a:latin typeface="黑体" panose="02010609060101010101" charset="-122"/>
                <a:cs typeface="黑体" panose="02010609060101010101" charset="-122"/>
              </a:rPr>
              <a:t>组合关系</a:t>
            </a:r>
            <a:r>
              <a:rPr sz="1400" b="1" spc="-40" dirty="0">
                <a:solidFill>
                  <a:srgbClr val="800000"/>
                </a:solidFill>
                <a:latin typeface="黑体" panose="02010609060101010101" charset="-122"/>
                <a:cs typeface="黑体" panose="02010609060101010101" charset="-122"/>
              </a:rPr>
              <a:t> </a:t>
            </a:r>
            <a:r>
              <a:rPr sz="1450" b="1" i="1" spc="-30" dirty="0">
                <a:solidFill>
                  <a:srgbClr val="941100"/>
                </a:solidFill>
                <a:latin typeface="Comic Sans MS" panose="030F0702030302020204"/>
                <a:cs typeface="Comic Sans MS" panose="030F0702030302020204"/>
              </a:rPr>
              <a:t>composition</a:t>
            </a:r>
            <a:endParaRPr sz="1450">
              <a:latin typeface="Comic Sans MS" panose="030F0702030302020204"/>
              <a:cs typeface="Comic Sans MS" panose="030F0702030302020204"/>
            </a:endParaRPr>
          </a:p>
        </p:txBody>
      </p:sp>
      <p:sp>
        <p:nvSpPr>
          <p:cNvPr id="30" name="object 33"/>
          <p:cNvSpPr/>
          <p:nvPr/>
        </p:nvSpPr>
        <p:spPr>
          <a:xfrm>
            <a:off x="3626069" y="4863747"/>
            <a:ext cx="359410" cy="401955"/>
          </a:xfrm>
          <a:custGeom>
            <a:avLst/>
            <a:gdLst/>
            <a:ahLst/>
            <a:cxnLst/>
            <a:rect l="l" t="t" r="r" b="b"/>
            <a:pathLst>
              <a:path w="359410" h="401954">
                <a:moveTo>
                  <a:pt x="0" y="0"/>
                </a:moveTo>
                <a:lnTo>
                  <a:pt x="359304" y="401754"/>
                </a:lnTo>
              </a:path>
            </a:pathLst>
          </a:custGeom>
          <a:ln w="8312">
            <a:solidFill>
              <a:srgbClr val="0079CD"/>
            </a:solidFill>
          </a:ln>
        </p:spPr>
        <p:txBody>
          <a:bodyPr wrap="square" lIns="0" tIns="0" rIns="0" bIns="0" rtlCol="0"/>
          <a:lstStyle/>
          <a:p>
            <a:endParaRPr/>
          </a:p>
        </p:txBody>
      </p:sp>
      <p:sp>
        <p:nvSpPr>
          <p:cNvPr id="31" name="object 34"/>
          <p:cNvSpPr/>
          <p:nvPr/>
        </p:nvSpPr>
        <p:spPr>
          <a:xfrm>
            <a:off x="3923109" y="5202237"/>
            <a:ext cx="79375" cy="82550"/>
          </a:xfrm>
          <a:custGeom>
            <a:avLst/>
            <a:gdLst/>
            <a:ahLst/>
            <a:cxnLst/>
            <a:rect l="l" t="t" r="r" b="b"/>
            <a:pathLst>
              <a:path w="79375" h="82550">
                <a:moveTo>
                  <a:pt x="56798" y="0"/>
                </a:moveTo>
                <a:lnTo>
                  <a:pt x="0" y="50797"/>
                </a:lnTo>
                <a:lnTo>
                  <a:pt x="79197" y="82196"/>
                </a:lnTo>
                <a:lnTo>
                  <a:pt x="56798" y="0"/>
                </a:lnTo>
                <a:close/>
              </a:path>
            </a:pathLst>
          </a:custGeom>
          <a:solidFill>
            <a:srgbClr val="0079CD"/>
          </a:solidFill>
        </p:spPr>
        <p:txBody>
          <a:bodyPr wrap="square" lIns="0" tIns="0" rIns="0" bIns="0" rtlCol="0"/>
          <a:lstStyle/>
          <a:p>
            <a:endParaRPr/>
          </a:p>
        </p:txBody>
      </p:sp>
      <p:sp>
        <p:nvSpPr>
          <p:cNvPr id="32" name="object 35"/>
          <p:cNvSpPr txBox="1"/>
          <p:nvPr/>
        </p:nvSpPr>
        <p:spPr>
          <a:xfrm>
            <a:off x="2593113" y="6262896"/>
            <a:ext cx="1811655" cy="245745"/>
          </a:xfrm>
          <a:prstGeom prst="rect">
            <a:avLst/>
          </a:prstGeom>
        </p:spPr>
        <p:txBody>
          <a:bodyPr vert="horz" wrap="square" lIns="0" tIns="11430" rIns="0" bIns="0" rtlCol="0">
            <a:spAutoFit/>
          </a:bodyPr>
          <a:lstStyle/>
          <a:p>
            <a:pPr marL="12700">
              <a:lnSpc>
                <a:spcPct val="100000"/>
              </a:lnSpc>
              <a:spcBef>
                <a:spcPts val="90"/>
              </a:spcBef>
            </a:pPr>
            <a:r>
              <a:rPr sz="1400" b="1" spc="-10" dirty="0">
                <a:solidFill>
                  <a:srgbClr val="800000"/>
                </a:solidFill>
                <a:latin typeface="黑体" panose="02010609060101010101" charset="-122"/>
                <a:cs typeface="黑体" panose="02010609060101010101" charset="-122"/>
              </a:rPr>
              <a:t>聚合关系</a:t>
            </a:r>
            <a:r>
              <a:rPr sz="1400" b="1" spc="-60" dirty="0">
                <a:solidFill>
                  <a:srgbClr val="800000"/>
                </a:solidFill>
                <a:latin typeface="黑体" panose="02010609060101010101" charset="-122"/>
                <a:cs typeface="黑体" panose="02010609060101010101" charset="-122"/>
              </a:rPr>
              <a:t> </a:t>
            </a:r>
            <a:r>
              <a:rPr sz="1450" b="1" i="1" spc="-30" dirty="0">
                <a:solidFill>
                  <a:srgbClr val="941100"/>
                </a:solidFill>
                <a:latin typeface="Comic Sans MS" panose="030F0702030302020204"/>
                <a:cs typeface="Comic Sans MS" panose="030F0702030302020204"/>
              </a:rPr>
              <a:t>aggregation</a:t>
            </a:r>
            <a:endParaRPr sz="1450">
              <a:latin typeface="Comic Sans MS" panose="030F0702030302020204"/>
              <a:cs typeface="Comic Sans MS" panose="030F0702030302020204"/>
            </a:endParaRPr>
          </a:p>
        </p:txBody>
      </p:sp>
      <p:sp>
        <p:nvSpPr>
          <p:cNvPr id="33" name="object 36"/>
          <p:cNvSpPr/>
          <p:nvPr/>
        </p:nvSpPr>
        <p:spPr>
          <a:xfrm>
            <a:off x="3829269" y="5726414"/>
            <a:ext cx="163195" cy="585470"/>
          </a:xfrm>
          <a:custGeom>
            <a:avLst/>
            <a:gdLst/>
            <a:ahLst/>
            <a:cxnLst/>
            <a:rect l="l" t="t" r="r" b="b"/>
            <a:pathLst>
              <a:path w="163194" h="585470">
                <a:moveTo>
                  <a:pt x="0" y="585132"/>
                </a:moveTo>
                <a:lnTo>
                  <a:pt x="163044" y="0"/>
                </a:lnTo>
              </a:path>
            </a:pathLst>
          </a:custGeom>
          <a:ln w="8312">
            <a:solidFill>
              <a:srgbClr val="0079CD"/>
            </a:solidFill>
          </a:ln>
        </p:spPr>
        <p:txBody>
          <a:bodyPr wrap="square" lIns="0" tIns="0" rIns="0" bIns="0" rtlCol="0"/>
          <a:lstStyle/>
          <a:p>
            <a:endParaRPr/>
          </a:p>
        </p:txBody>
      </p:sp>
      <p:sp>
        <p:nvSpPr>
          <p:cNvPr id="34" name="object 37"/>
          <p:cNvSpPr/>
          <p:nvPr/>
        </p:nvSpPr>
        <p:spPr>
          <a:xfrm>
            <a:off x="3941976" y="5701947"/>
            <a:ext cx="73660" cy="83820"/>
          </a:xfrm>
          <a:custGeom>
            <a:avLst/>
            <a:gdLst/>
            <a:ahLst/>
            <a:cxnLst/>
            <a:rect l="l" t="t" r="r" b="b"/>
            <a:pathLst>
              <a:path w="73660" h="83820">
                <a:moveTo>
                  <a:pt x="57155" y="0"/>
                </a:moveTo>
                <a:lnTo>
                  <a:pt x="0" y="63176"/>
                </a:lnTo>
                <a:lnTo>
                  <a:pt x="73403" y="83630"/>
                </a:lnTo>
                <a:lnTo>
                  <a:pt x="57155" y="0"/>
                </a:lnTo>
                <a:close/>
              </a:path>
            </a:pathLst>
          </a:custGeom>
          <a:solidFill>
            <a:srgbClr val="0079CD"/>
          </a:solidFill>
        </p:spPr>
        <p:txBody>
          <a:bodyPr wrap="square" lIns="0" tIns="0" rIns="0" bIns="0" rtlCol="0"/>
          <a:lstStyle/>
          <a:p>
            <a:endParaRPr/>
          </a:p>
        </p:txBody>
      </p:sp>
      <p:sp>
        <p:nvSpPr>
          <p:cNvPr id="35" name="object 38"/>
          <p:cNvSpPr/>
          <p:nvPr/>
        </p:nvSpPr>
        <p:spPr>
          <a:xfrm>
            <a:off x="2305269" y="5549547"/>
            <a:ext cx="1494155" cy="138430"/>
          </a:xfrm>
          <a:custGeom>
            <a:avLst/>
            <a:gdLst/>
            <a:ahLst/>
            <a:cxnLst/>
            <a:rect l="l" t="t" r="r" b="b"/>
            <a:pathLst>
              <a:path w="1494155" h="138429">
                <a:moveTo>
                  <a:pt x="0" y="0"/>
                </a:moveTo>
                <a:lnTo>
                  <a:pt x="1493837" y="0"/>
                </a:lnTo>
                <a:lnTo>
                  <a:pt x="1493837" y="138113"/>
                </a:lnTo>
                <a:lnTo>
                  <a:pt x="0" y="138113"/>
                </a:lnTo>
                <a:lnTo>
                  <a:pt x="0" y="0"/>
                </a:lnTo>
                <a:close/>
              </a:path>
            </a:pathLst>
          </a:custGeom>
          <a:ln w="28574">
            <a:solidFill>
              <a:srgbClr val="000000"/>
            </a:solidFill>
          </a:ln>
        </p:spPr>
        <p:txBody>
          <a:bodyPr wrap="square" lIns="0" tIns="0" rIns="0" bIns="0" rtlCol="0"/>
          <a:lstStyle/>
          <a:p>
            <a:endParaRPr/>
          </a:p>
        </p:txBody>
      </p:sp>
      <p:sp>
        <p:nvSpPr>
          <p:cNvPr id="36" name="object 39"/>
          <p:cNvSpPr/>
          <p:nvPr/>
        </p:nvSpPr>
        <p:spPr>
          <a:xfrm>
            <a:off x="5658069" y="4254147"/>
            <a:ext cx="1494155" cy="138430"/>
          </a:xfrm>
          <a:custGeom>
            <a:avLst/>
            <a:gdLst/>
            <a:ahLst/>
            <a:cxnLst/>
            <a:rect l="l" t="t" r="r" b="b"/>
            <a:pathLst>
              <a:path w="1494154" h="138429">
                <a:moveTo>
                  <a:pt x="0" y="0"/>
                </a:moveTo>
                <a:lnTo>
                  <a:pt x="1493837" y="0"/>
                </a:lnTo>
                <a:lnTo>
                  <a:pt x="1493837" y="138112"/>
                </a:lnTo>
                <a:lnTo>
                  <a:pt x="0" y="138112"/>
                </a:lnTo>
                <a:lnTo>
                  <a:pt x="0" y="0"/>
                </a:lnTo>
                <a:close/>
              </a:path>
            </a:pathLst>
          </a:custGeom>
          <a:ln w="28574">
            <a:solidFill>
              <a:srgbClr val="000000"/>
            </a:solidFill>
          </a:ln>
        </p:spPr>
        <p:txBody>
          <a:bodyPr wrap="square" lIns="0" tIns="0" rIns="0" bIns="0" rtlCol="0"/>
          <a:lstStyle/>
          <a:p>
            <a:endParaRPr/>
          </a:p>
        </p:txBody>
      </p:sp>
      <p:sp>
        <p:nvSpPr>
          <p:cNvPr id="37" name="object 40"/>
          <p:cNvSpPr/>
          <p:nvPr/>
        </p:nvSpPr>
        <p:spPr>
          <a:xfrm>
            <a:off x="6166067" y="6159147"/>
            <a:ext cx="1494155" cy="138430"/>
          </a:xfrm>
          <a:custGeom>
            <a:avLst/>
            <a:gdLst/>
            <a:ahLst/>
            <a:cxnLst/>
            <a:rect l="l" t="t" r="r" b="b"/>
            <a:pathLst>
              <a:path w="1494154" h="138429">
                <a:moveTo>
                  <a:pt x="0" y="0"/>
                </a:moveTo>
                <a:lnTo>
                  <a:pt x="1493837" y="0"/>
                </a:lnTo>
                <a:lnTo>
                  <a:pt x="1493837" y="138112"/>
                </a:lnTo>
                <a:lnTo>
                  <a:pt x="0" y="138112"/>
                </a:lnTo>
                <a:lnTo>
                  <a:pt x="0" y="0"/>
                </a:lnTo>
                <a:close/>
              </a:path>
            </a:pathLst>
          </a:custGeom>
          <a:ln w="28574">
            <a:solidFill>
              <a:srgbClr val="000000"/>
            </a:solidFill>
          </a:ln>
        </p:spPr>
        <p:txBody>
          <a:bodyPr wrap="square" lIns="0" tIns="0" rIns="0" bIns="0" rtlCol="0"/>
          <a:lstStyle/>
          <a:p>
            <a:endParaRPr/>
          </a:p>
        </p:txBody>
      </p:sp>
      <p:graphicFrame>
        <p:nvGraphicFramePr>
          <p:cNvPr id="38" name="object 41"/>
          <p:cNvGraphicFramePr>
            <a:graphicFrameLocks noGrp="1"/>
          </p:cNvGraphicFramePr>
          <p:nvPr/>
        </p:nvGraphicFramePr>
        <p:xfrm>
          <a:off x="10114179" y="5230459"/>
          <a:ext cx="1494155" cy="671510"/>
        </p:xfrm>
        <a:graphic>
          <a:graphicData uri="http://schemas.openxmlformats.org/drawingml/2006/table">
            <a:tbl>
              <a:tblPr firstRow="1" bandRow="1">
                <a:tableStyleId>{2D5ABB26-0587-4C30-8999-92F81FD0307C}</a:tableStyleId>
              </a:tblPr>
              <a:tblGrid>
                <a:gridCol w="1494155">
                  <a:extLst>
                    <a:ext uri="{9D8B030D-6E8A-4147-A177-3AD203B41FA5}">
                      <a16:colId xmlns:a16="http://schemas.microsoft.com/office/drawing/2014/main" val="20000"/>
                    </a:ext>
                  </a:extLst>
                </a:gridCol>
              </a:tblGrid>
              <a:tr h="380999">
                <a:tc>
                  <a:txBody>
                    <a:bodyPr/>
                    <a:lstStyle/>
                    <a:p>
                      <a:pPr marL="421640">
                        <a:lnSpc>
                          <a:spcPct val="100000"/>
                        </a:lnSpc>
                        <a:spcBef>
                          <a:spcPts val="360"/>
                        </a:spcBef>
                      </a:pPr>
                      <a:r>
                        <a:rPr sz="2000" spc="-15" dirty="0">
                          <a:latin typeface="Arial" panose="020B0604020202020204"/>
                          <a:cs typeface="Arial" panose="020B0604020202020204"/>
                        </a:rPr>
                        <a:t>:Train</a:t>
                      </a:r>
                      <a:endParaRPr sz="2000">
                        <a:latin typeface="Arial" panose="020B0604020202020204"/>
                        <a:cs typeface="Arial" panose="020B0604020202020204"/>
                      </a:endParaRPr>
                    </a:p>
                  </a:txBody>
                  <a:tcPr marL="0" marR="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0"/>
                  </a:ext>
                </a:extLst>
              </a:tr>
              <a:tr h="138112">
                <a:tc>
                  <a:txBody>
                    <a:bodyPr/>
                    <a:lstStyle/>
                    <a:p>
                      <a:pPr>
                        <a:lnSpc>
                          <a:spcPct val="100000"/>
                        </a:lnSpc>
                      </a:pPr>
                      <a:endParaRPr sz="700">
                        <a:latin typeface="Times New Roman" panose="02020603050405020304"/>
                        <a:cs typeface="Times New Roman" panose="02020603050405020304"/>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1"/>
                  </a:ext>
                </a:extLst>
              </a:tr>
              <a:tr h="152399">
                <a:tc>
                  <a:txBody>
                    <a:bodyPr/>
                    <a:lstStyle/>
                    <a:p>
                      <a:pPr>
                        <a:lnSpc>
                          <a:spcPct val="100000"/>
                        </a:lnSpc>
                      </a:pPr>
                      <a:endParaRPr sz="800">
                        <a:latin typeface="Times New Roman" panose="02020603050405020304"/>
                        <a:cs typeface="Times New Roman" panose="02020603050405020304"/>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2"/>
                  </a:ext>
                </a:extLst>
              </a:tr>
            </a:tbl>
          </a:graphicData>
        </a:graphic>
      </p:graphicFrame>
      <p:graphicFrame>
        <p:nvGraphicFramePr>
          <p:cNvPr id="39" name="object 42"/>
          <p:cNvGraphicFramePr>
            <a:graphicFrameLocks noGrp="1"/>
          </p:cNvGraphicFramePr>
          <p:nvPr/>
        </p:nvGraphicFramePr>
        <p:xfrm>
          <a:off x="6253380" y="4697059"/>
          <a:ext cx="3333750" cy="675480"/>
        </p:xfrm>
        <a:graphic>
          <a:graphicData uri="http://schemas.openxmlformats.org/drawingml/2006/table">
            <a:tbl>
              <a:tblPr firstRow="1" bandRow="1">
                <a:tableStyleId>{2D5ABB26-0587-4C30-8999-92F81FD0307C}</a:tableStyleId>
              </a:tblPr>
              <a:tblGrid>
                <a:gridCol w="1930400">
                  <a:extLst>
                    <a:ext uri="{9D8B030D-6E8A-4147-A177-3AD203B41FA5}">
                      <a16:colId xmlns:a16="http://schemas.microsoft.com/office/drawing/2014/main" val="20000"/>
                    </a:ext>
                  </a:extLst>
                </a:gridCol>
                <a:gridCol w="711200">
                  <a:extLst>
                    <a:ext uri="{9D8B030D-6E8A-4147-A177-3AD203B41FA5}">
                      <a16:colId xmlns:a16="http://schemas.microsoft.com/office/drawing/2014/main" val="20001"/>
                    </a:ext>
                  </a:extLst>
                </a:gridCol>
                <a:gridCol w="692150">
                  <a:extLst>
                    <a:ext uri="{9D8B030D-6E8A-4147-A177-3AD203B41FA5}">
                      <a16:colId xmlns:a16="http://schemas.microsoft.com/office/drawing/2014/main" val="20002"/>
                    </a:ext>
                  </a:extLst>
                </a:gridCol>
              </a:tblGrid>
              <a:tr h="380999">
                <a:tc>
                  <a:txBody>
                    <a:bodyPr/>
                    <a:lstStyle/>
                    <a:p>
                      <a:pPr marL="281940">
                        <a:lnSpc>
                          <a:spcPct val="100000"/>
                        </a:lnSpc>
                        <a:spcBef>
                          <a:spcPts val="360"/>
                        </a:spcBef>
                      </a:pPr>
                      <a:r>
                        <a:rPr sz="2000" spc="-5" dirty="0">
                          <a:latin typeface="Arial" panose="020B0604020202020204"/>
                          <a:cs typeface="Arial" panose="020B0604020202020204"/>
                        </a:rPr>
                        <a:t>:Locomotive</a:t>
                      </a:r>
                      <a:endParaRPr sz="2000">
                        <a:latin typeface="Arial" panose="020B0604020202020204"/>
                        <a:cs typeface="Arial" panose="020B0604020202020204"/>
                      </a:endParaRPr>
                    </a:p>
                  </a:txBody>
                  <a:tcPr marL="0" marR="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gridSpan="2">
                  <a:txBody>
                    <a:bodyPr/>
                    <a:lstStyle/>
                    <a:p>
                      <a:pPr marL="91440">
                        <a:lnSpc>
                          <a:spcPct val="100000"/>
                        </a:lnSpc>
                        <a:spcBef>
                          <a:spcPts val="960"/>
                        </a:spcBef>
                      </a:pPr>
                      <a:r>
                        <a:rPr sz="1400" dirty="0">
                          <a:latin typeface="Arial" panose="020B0604020202020204"/>
                          <a:cs typeface="Arial" panose="020B0604020202020204"/>
                        </a:rPr>
                        <a:t>1..*</a:t>
                      </a:r>
                      <a:endParaRPr sz="1400">
                        <a:latin typeface="Arial" panose="020B0604020202020204"/>
                        <a:cs typeface="Arial" panose="020B0604020202020204"/>
                      </a:endParaRPr>
                    </a:p>
                  </a:txBody>
                  <a:tcPr marL="0" marR="0" marT="121920" marB="0">
                    <a:lnL w="28575">
                      <a:solidFill>
                        <a:srgbClr val="000000"/>
                      </a:solidFill>
                      <a:prstDash val="solid"/>
                    </a:lnL>
                    <a:lnB w="28575">
                      <a:solidFill>
                        <a:srgbClr val="000000"/>
                      </a:solidFill>
                      <a:prstDash val="solid"/>
                    </a:lnB>
                  </a:tcPr>
                </a:tc>
                <a:tc hMerge="1">
                  <a:txBody>
                    <a:bodyPr/>
                    <a:lstStyle/>
                    <a:p>
                      <a:endParaRPr lang="zh-CN"/>
                    </a:p>
                  </a:txBody>
                  <a:tcPr marL="0" marR="0" marT="0" marB="0"/>
                </a:tc>
                <a:extLst>
                  <a:ext uri="{0D108BD9-81ED-4DB2-BD59-A6C34878D82A}">
                    <a16:rowId xmlns:a16="http://schemas.microsoft.com/office/drawing/2014/main" val="10000"/>
                  </a:ext>
                </a:extLst>
              </a:tr>
              <a:tr h="152400">
                <a:tc>
                  <a:txBody>
                    <a:bodyPr/>
                    <a:lstStyle/>
                    <a:p>
                      <a:pPr>
                        <a:lnSpc>
                          <a:spcPct val="100000"/>
                        </a:lnSpc>
                      </a:pPr>
                      <a:endParaRPr sz="800">
                        <a:latin typeface="Times New Roman" panose="02020603050405020304"/>
                        <a:cs typeface="Times New Roman" panose="02020603050405020304"/>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rowSpan="2">
                  <a:txBody>
                    <a:bodyPr/>
                    <a:lstStyle/>
                    <a:p>
                      <a:pPr>
                        <a:lnSpc>
                          <a:spcPct val="100000"/>
                        </a:lnSpc>
                      </a:pPr>
                      <a:endParaRPr sz="1800">
                        <a:latin typeface="Times New Roman" panose="02020603050405020304"/>
                        <a:cs typeface="Times New Roman" panose="02020603050405020304"/>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tcPr>
                </a:tc>
                <a:tc rowSpan="2">
                  <a:txBody>
                    <a:bodyPr/>
                    <a:lstStyle/>
                    <a:p>
                      <a:pPr marL="294640">
                        <a:lnSpc>
                          <a:spcPct val="100000"/>
                        </a:lnSpc>
                        <a:spcBef>
                          <a:spcPts val="360"/>
                        </a:spcBef>
                      </a:pPr>
                      <a:r>
                        <a:rPr sz="1400" dirty="0">
                          <a:latin typeface="Arial" panose="020B0604020202020204"/>
                          <a:cs typeface="Arial" panose="020B0604020202020204"/>
                        </a:rPr>
                        <a:t>0..1</a:t>
                      </a:r>
                      <a:endParaRPr sz="1400">
                        <a:latin typeface="Arial" panose="020B0604020202020204"/>
                        <a:cs typeface="Arial" panose="020B0604020202020204"/>
                      </a:endParaRPr>
                    </a:p>
                  </a:txBody>
                  <a:tcPr marL="0" marR="0" marB="0">
                    <a:lnL w="28575">
                      <a:solidFill>
                        <a:srgbClr val="000000"/>
                      </a:solidFill>
                      <a:prstDash val="solid"/>
                    </a:lnL>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1"/>
                  </a:ext>
                </a:extLst>
              </a:tr>
              <a:tr h="142081">
                <a:tc>
                  <a:txBody>
                    <a:bodyPr/>
                    <a:lstStyle/>
                    <a:p>
                      <a:pPr>
                        <a:lnSpc>
                          <a:spcPct val="100000"/>
                        </a:lnSpc>
                      </a:pPr>
                      <a:endParaRPr sz="700" dirty="0">
                        <a:latin typeface="Times New Roman" panose="02020603050405020304"/>
                        <a:cs typeface="Times New Roman" panose="02020603050405020304"/>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vMerge="1">
                  <a:txBody>
                    <a:bodyPr/>
                    <a:lstStyle/>
                    <a:p>
                      <a:endParaRPr lang="zh-CN"/>
                    </a:p>
                  </a:txBody>
                  <a:tcPr marL="0" marR="0" marT="0" marB="0">
                    <a:lnL w="28575">
                      <a:solidFill>
                        <a:srgbClr val="000000"/>
                      </a:solidFill>
                      <a:prstDash val="solid"/>
                    </a:lnL>
                    <a:lnR w="28575">
                      <a:solidFill>
                        <a:srgbClr val="000000"/>
                      </a:solidFill>
                      <a:prstDash val="solid"/>
                    </a:lnR>
                    <a:lnT w="28575">
                      <a:solidFill>
                        <a:srgbClr val="000000"/>
                      </a:solidFill>
                      <a:prstDash val="solid"/>
                    </a:lnT>
                  </a:tcPr>
                </a:tc>
                <a:tc vMerge="1">
                  <a:txBody>
                    <a:bodyPr/>
                    <a:lstStyle/>
                    <a:p>
                      <a:endParaRPr lang="zh-CN"/>
                    </a:p>
                  </a:txBody>
                  <a:tcPr marL="0" marR="0" marB="0">
                    <a:lnL w="28575">
                      <a:solidFill>
                        <a:srgbClr val="000000"/>
                      </a:solidFill>
                      <a:prstDash val="solid"/>
                    </a:lnL>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2"/>
                  </a:ext>
                </a:extLst>
              </a:tr>
            </a:tbl>
          </a:graphicData>
        </a:graphic>
      </p:graphicFrame>
      <p:sp>
        <p:nvSpPr>
          <p:cNvPr id="40" name="矩形 39"/>
          <p:cNvSpPr/>
          <p:nvPr/>
        </p:nvSpPr>
        <p:spPr>
          <a:xfrm>
            <a:off x="8923283" y="4597004"/>
            <a:ext cx="697184" cy="50517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999" advTm="309047"/>
    </mc:Choice>
    <mc:Fallback xmlns="">
      <p:transition spd="slow" advTm="309047"/>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继承</a:t>
            </a:r>
            <a:r>
              <a:rPr lang="en-US" altLang="zh-CN" dirty="0"/>
              <a:t>/</a:t>
            </a:r>
            <a:r>
              <a:rPr lang="zh-CN" altLang="en-US" dirty="0"/>
              <a:t>泛化</a:t>
            </a:r>
            <a:r>
              <a:rPr lang="en-US" altLang="zh-CN" dirty="0"/>
              <a:t>(Inheritance/Generalization)</a:t>
            </a:r>
            <a:endParaRPr lang="zh-CN" altLang="en-US" dirty="0"/>
          </a:p>
        </p:txBody>
      </p:sp>
      <p:sp>
        <p:nvSpPr>
          <p:cNvPr id="3" name="内容占位符 2"/>
          <p:cNvSpPr>
            <a:spLocks noGrp="1"/>
          </p:cNvSpPr>
          <p:nvPr>
            <p:ph idx="1"/>
          </p:nvPr>
        </p:nvSpPr>
        <p:spPr>
          <a:xfrm>
            <a:off x="188436" y="1576576"/>
            <a:ext cx="4597162" cy="4806402"/>
          </a:xfrm>
        </p:spPr>
        <p:txBody>
          <a:bodyPr>
            <a:noAutofit/>
          </a:bodyPr>
          <a:lstStyle/>
          <a:p>
            <a:pPr marL="241300" algn="just">
              <a:lnSpc>
                <a:spcPct val="100000"/>
              </a:lnSpc>
              <a:spcBef>
                <a:spcPts val="100"/>
              </a:spcBef>
              <a:buFont typeface="Arial" panose="020B0604020202020204"/>
              <a:buChar char="•"/>
              <a:tabLst>
                <a:tab pos="241300" algn="l"/>
              </a:tabLst>
            </a:pPr>
            <a:r>
              <a:rPr lang="zh-CN" altLang="en-US" sz="2000" dirty="0">
                <a:solidFill>
                  <a:srgbClr val="800000"/>
                </a:solidFill>
                <a:latin typeface="黑体" panose="02010609060101010101" charset="-122"/>
                <a:cs typeface="黑体" panose="02010609060101010101" charset="-122"/>
              </a:rPr>
              <a:t>子类继承父类的属性</a:t>
            </a:r>
            <a:r>
              <a:rPr lang="zh-CN" altLang="en-US" sz="2000" dirty="0">
                <a:solidFill>
                  <a:srgbClr val="941100"/>
                </a:solidFill>
                <a:latin typeface="黑体" panose="02010609060101010101" charset="-122"/>
                <a:cs typeface="黑体" panose="02010609060101010101" charset="-122"/>
              </a:rPr>
              <a:t>、</a:t>
            </a:r>
            <a:r>
              <a:rPr lang="zh-CN" altLang="en-US" sz="2000" dirty="0">
                <a:solidFill>
                  <a:srgbClr val="800000"/>
                </a:solidFill>
                <a:latin typeface="黑体" panose="02010609060101010101" charset="-122"/>
                <a:cs typeface="黑体" panose="02010609060101010101" charset="-122"/>
              </a:rPr>
              <a:t>关联和操作</a:t>
            </a:r>
            <a:endParaRPr lang="zh-CN" altLang="en-US" sz="2000" dirty="0">
              <a:latin typeface="黑体" panose="02010609060101010101" charset="-122"/>
              <a:cs typeface="黑体" panose="02010609060101010101" charset="-122"/>
            </a:endParaRPr>
          </a:p>
          <a:p>
            <a:pPr marL="241300" algn="just">
              <a:lnSpc>
                <a:spcPct val="100000"/>
              </a:lnSpc>
              <a:spcBef>
                <a:spcPts val="1340"/>
              </a:spcBef>
              <a:buFont typeface="Arial" panose="020B0604020202020204"/>
              <a:buChar char="•"/>
              <a:tabLst>
                <a:tab pos="241300" algn="l"/>
              </a:tabLst>
            </a:pPr>
            <a:r>
              <a:rPr lang="zh-CN" altLang="en-US" sz="2000" dirty="0">
                <a:latin typeface="黑体" panose="02010609060101010101" charset="-122"/>
                <a:cs typeface="黑体" panose="02010609060101010101" charset="-122"/>
              </a:rPr>
              <a:t>子类可以</a:t>
            </a:r>
            <a:r>
              <a:rPr lang="zh-CN" altLang="en-US" sz="2000" dirty="0">
                <a:solidFill>
                  <a:srgbClr val="800000"/>
                </a:solidFill>
                <a:latin typeface="黑体" panose="02010609060101010101" charset="-122"/>
                <a:cs typeface="黑体" panose="02010609060101010101" charset="-122"/>
              </a:rPr>
              <a:t>覆盖</a:t>
            </a:r>
            <a:r>
              <a:rPr lang="zh-CN" altLang="en-US" sz="2000" dirty="0">
                <a:latin typeface="黑体" panose="02010609060101010101" charset="-122"/>
                <a:cs typeface="黑体" panose="02010609060101010101" charset="-122"/>
              </a:rPr>
              <a:t>继承来的内容</a:t>
            </a:r>
          </a:p>
          <a:p>
            <a:pPr marL="469265" marR="88900" algn="just">
              <a:lnSpc>
                <a:spcPct val="120000"/>
              </a:lnSpc>
              <a:spcBef>
                <a:spcPts val="500"/>
              </a:spcBef>
            </a:pPr>
            <a:r>
              <a:rPr lang="zh-CN" altLang="en-US" sz="2000" dirty="0">
                <a:latin typeface="黑体" panose="02010609060101010101" charset="-122"/>
                <a:cs typeface="黑体" panose="02010609060101010101" charset="-122"/>
              </a:rPr>
              <a:t>例如：行政员工</a:t>
            </a:r>
            <a:r>
              <a:rPr lang="en-US" altLang="zh-CN" sz="2000" b="1" dirty="0" err="1">
                <a:latin typeface="Calibri" panose="020F0502020204030204"/>
                <a:cs typeface="Calibri" panose="020F0502020204030204"/>
              </a:rPr>
              <a:t>AdminStaﬀ</a:t>
            </a:r>
            <a:r>
              <a:rPr lang="zh-CN" altLang="en-US" sz="2000" dirty="0">
                <a:latin typeface="黑体" panose="02010609060101010101" charset="-122"/>
                <a:cs typeface="黑体" panose="02010609060101010101" charset="-122"/>
              </a:rPr>
              <a:t>和专业 设计人员</a:t>
            </a:r>
            <a:r>
              <a:rPr lang="en-US" altLang="zh-CN" sz="2000" b="1" dirty="0" err="1">
                <a:latin typeface="Calibri" panose="020F0502020204030204"/>
                <a:cs typeface="Calibri" panose="020F0502020204030204"/>
              </a:rPr>
              <a:t>CreativeStaﬀ</a:t>
            </a:r>
            <a:r>
              <a:rPr lang="zh-CN" altLang="en-US" sz="2000" dirty="0">
                <a:latin typeface="黑体" panose="02010609060101010101" charset="-122"/>
                <a:cs typeface="黑体" panose="02010609060101010101" charset="-122"/>
              </a:rPr>
              <a:t>的奖金计算 方法可以不同</a:t>
            </a:r>
          </a:p>
          <a:p>
            <a:pPr marL="241300" marR="5080" algn="just">
              <a:lnSpc>
                <a:spcPct val="120000"/>
              </a:lnSpc>
              <a:spcBef>
                <a:spcPts val="995"/>
              </a:spcBef>
              <a:buFont typeface="Arial" panose="020B0604020202020204"/>
              <a:buChar char="•"/>
              <a:tabLst>
                <a:tab pos="241300" algn="l"/>
              </a:tabLst>
            </a:pPr>
            <a:r>
              <a:rPr lang="zh-CN" altLang="en-US" sz="2000" dirty="0">
                <a:latin typeface="黑体" panose="02010609060101010101" charset="-122"/>
                <a:cs typeface="黑体" panose="02010609060101010101" charset="-122"/>
              </a:rPr>
              <a:t>父类可以声明为</a:t>
            </a:r>
            <a:r>
              <a:rPr lang="zh-CN" altLang="en-US" sz="2000" dirty="0">
                <a:solidFill>
                  <a:srgbClr val="800000"/>
                </a:solidFill>
                <a:latin typeface="黑体" panose="02010609060101010101" charset="-122"/>
                <a:cs typeface="黑体" panose="02010609060101010101" charset="-122"/>
              </a:rPr>
              <a:t>抽象类</a:t>
            </a:r>
            <a:r>
              <a:rPr lang="en-US" altLang="zh-CN" sz="2000" dirty="0">
                <a:latin typeface="Calibri" panose="020F0502020204030204"/>
                <a:cs typeface="Calibri" panose="020F0502020204030204"/>
              </a:rPr>
              <a:t>{</a:t>
            </a:r>
            <a:r>
              <a:rPr lang="en-US" altLang="zh-CN" sz="2000" b="1" dirty="0">
                <a:solidFill>
                  <a:srgbClr val="800000"/>
                </a:solidFill>
                <a:latin typeface="Calibri" panose="020F0502020204030204"/>
                <a:cs typeface="Calibri" panose="020F0502020204030204"/>
              </a:rPr>
              <a:t>abstract</a:t>
            </a:r>
            <a:r>
              <a:rPr lang="en-US" altLang="zh-CN" sz="2000" dirty="0">
                <a:latin typeface="Calibri" panose="020F0502020204030204"/>
                <a:cs typeface="Calibri" panose="020F0502020204030204"/>
              </a:rPr>
              <a:t>}</a:t>
            </a:r>
            <a:r>
              <a:rPr lang="zh-CN" altLang="en-US" sz="2000" dirty="0">
                <a:latin typeface="黑体" panose="02010609060101010101" charset="-122"/>
                <a:cs typeface="黑体" panose="02010609060101010101" charset="-122"/>
              </a:rPr>
              <a:t>，则 将不会为它直接创建实例对象</a:t>
            </a:r>
          </a:p>
          <a:p>
            <a:pPr marL="697865" marR="8890" lvl="1" algn="just">
              <a:lnSpc>
                <a:spcPct val="120000"/>
              </a:lnSpc>
              <a:buFont typeface="Arial" panose="020B0604020202020204"/>
              <a:buChar char="•"/>
              <a:tabLst>
                <a:tab pos="698500" algn="l"/>
              </a:tabLst>
            </a:pPr>
            <a:r>
              <a:rPr lang="zh-CN" altLang="en-US" sz="2000" dirty="0">
                <a:latin typeface="黑体" panose="02010609060101010101" charset="-122"/>
                <a:cs typeface="黑体" panose="02010609060101010101" charset="-122"/>
              </a:rPr>
              <a:t>意味着现有子类覆盖了该类对象 的</a:t>
            </a:r>
            <a:r>
              <a:rPr lang="zh-CN" altLang="en-US" sz="2000" dirty="0">
                <a:solidFill>
                  <a:srgbClr val="800000"/>
                </a:solidFill>
                <a:latin typeface="黑体" panose="02010609060101010101" charset="-122"/>
                <a:cs typeface="黑体" panose="02010609060101010101" charset="-122"/>
              </a:rPr>
              <a:t>全集</a:t>
            </a:r>
            <a:endParaRPr lang="zh-CN" altLang="en-US" sz="2000" dirty="0">
              <a:latin typeface="黑体" panose="02010609060101010101" charset="-122"/>
              <a:cs typeface="黑体" panose="02010609060101010101" charset="-122"/>
            </a:endParaRPr>
          </a:p>
          <a:p>
            <a:pPr marL="469265" marR="88900" algn="just">
              <a:lnSpc>
                <a:spcPct val="120000"/>
              </a:lnSpc>
              <a:spcBef>
                <a:spcPts val="500"/>
              </a:spcBef>
            </a:pPr>
            <a:r>
              <a:rPr lang="zh-CN" altLang="en-US" sz="2000" dirty="0">
                <a:latin typeface="黑体" panose="02010609060101010101" charset="-122"/>
                <a:cs typeface="黑体" panose="02010609060101010101" charset="-122"/>
              </a:rPr>
              <a:t>例如，除了行政员工</a:t>
            </a:r>
            <a:r>
              <a:rPr lang="en-US" altLang="zh-CN" sz="2000" b="1" dirty="0" err="1">
                <a:latin typeface="Calibri" panose="020F0502020204030204"/>
                <a:cs typeface="Calibri" panose="020F0502020204030204"/>
              </a:rPr>
              <a:t>AdminStaﬀ</a:t>
            </a:r>
            <a:r>
              <a:rPr lang="zh-CN" altLang="en-US" sz="2000" dirty="0">
                <a:latin typeface="黑体" panose="02010609060101010101" charset="-122"/>
                <a:cs typeface="黑体" panose="02010609060101010101" charset="-122"/>
              </a:rPr>
              <a:t>和 专业设计人员</a:t>
            </a:r>
            <a:r>
              <a:rPr lang="en-US" altLang="zh-CN" sz="2000" b="1" dirty="0" err="1">
                <a:latin typeface="Calibri" panose="020F0502020204030204"/>
                <a:cs typeface="Calibri" panose="020F0502020204030204"/>
              </a:rPr>
              <a:t>CreativeStaﬀ</a:t>
            </a:r>
            <a:r>
              <a:rPr lang="zh-CN" altLang="en-US" sz="2000" dirty="0">
                <a:latin typeface="黑体" panose="02010609060101010101" charset="-122"/>
                <a:cs typeface="黑体" panose="02010609060101010101" charset="-122"/>
              </a:rPr>
              <a:t>之外，  不存在其他类员工</a:t>
            </a:r>
          </a:p>
          <a:p>
            <a:endParaRPr lang="zh-CN" altLang="en-US" sz="2000"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t>25</a:t>
            </a:fld>
            <a:endParaRPr lang="zh-CN" altLang="en-US"/>
          </a:p>
        </p:txBody>
      </p:sp>
      <p:sp>
        <p:nvSpPr>
          <p:cNvPr id="5" name="object 6"/>
          <p:cNvSpPr/>
          <p:nvPr/>
        </p:nvSpPr>
        <p:spPr>
          <a:xfrm>
            <a:off x="4785598" y="1471592"/>
            <a:ext cx="7531329" cy="4596937"/>
          </a:xfrm>
          <a:prstGeom prst="rect">
            <a:avLst/>
          </a:prstGeom>
          <a:blipFill>
            <a:blip r:embed="rId3" cstate="print"/>
            <a:stretch>
              <a:fillRect/>
            </a:stretch>
          </a:blipFill>
        </p:spPr>
        <p:txBody>
          <a:bodyPr wrap="square" lIns="0" tIns="0" rIns="0" bIns="0" rtlCol="0"/>
          <a:lstStyle/>
          <a:p>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200" dirty="0"/>
              <a:t>继承</a:t>
            </a:r>
            <a:r>
              <a:rPr lang="en-US" altLang="zh-CN" sz="3200" dirty="0"/>
              <a:t>/</a:t>
            </a:r>
            <a:r>
              <a:rPr lang="zh-CN" altLang="en-US" sz="3200" dirty="0"/>
              <a:t>泛化</a:t>
            </a:r>
            <a:r>
              <a:rPr lang="en-US" altLang="zh-CN" sz="3200" dirty="0"/>
              <a:t>(Inheritance/Generalization)</a:t>
            </a:r>
            <a:r>
              <a:rPr lang="zh-CN" altLang="en-US" sz="3200" dirty="0"/>
              <a:t>关系的定义</a:t>
            </a:r>
          </a:p>
        </p:txBody>
      </p:sp>
      <p:sp>
        <p:nvSpPr>
          <p:cNvPr id="3" name="内容占位符 2"/>
          <p:cNvSpPr>
            <a:spLocks noGrp="1"/>
          </p:cNvSpPr>
          <p:nvPr>
            <p:ph idx="1"/>
          </p:nvPr>
        </p:nvSpPr>
        <p:spPr>
          <a:xfrm>
            <a:off x="838200" y="1566041"/>
            <a:ext cx="10515600" cy="4610922"/>
          </a:xfrm>
        </p:spPr>
        <p:txBody>
          <a:bodyPr/>
          <a:lstStyle/>
          <a:p>
            <a:pPr marL="241300">
              <a:lnSpc>
                <a:spcPct val="100000"/>
              </a:lnSpc>
              <a:spcBef>
                <a:spcPts val="840"/>
              </a:spcBef>
              <a:buFont typeface="Arial" panose="020B0604020202020204"/>
              <a:buChar char="•"/>
              <a:tabLst>
                <a:tab pos="240665" algn="l"/>
                <a:tab pos="241300" algn="l"/>
              </a:tabLst>
            </a:pPr>
            <a:r>
              <a:rPr lang="zh-CN" altLang="en-US" sz="1800" dirty="0">
                <a:latin typeface="黑体" panose="02010609060101010101" charset="-122"/>
                <a:cs typeface="黑体" panose="02010609060101010101" charset="-122"/>
              </a:rPr>
              <a:t>继承</a:t>
            </a:r>
            <a:r>
              <a:rPr lang="en-US" altLang="zh-CN" sz="1800" dirty="0">
                <a:latin typeface="黑体" panose="02010609060101010101" charset="-122"/>
                <a:cs typeface="黑体" panose="02010609060101010101" charset="-122"/>
              </a:rPr>
              <a:t>/</a:t>
            </a:r>
            <a:r>
              <a:rPr lang="zh-CN" altLang="en-US" sz="1800" dirty="0">
                <a:latin typeface="黑体" panose="02010609060101010101" charset="-122"/>
                <a:cs typeface="黑体" panose="02010609060101010101" charset="-122"/>
              </a:rPr>
              <a:t>泛化关系建模的意义在于系统环境发生变化时便于添加新的子类</a:t>
            </a:r>
          </a:p>
          <a:p>
            <a:pPr marL="241300">
              <a:lnSpc>
                <a:spcPct val="100000"/>
              </a:lnSpc>
              <a:spcBef>
                <a:spcPts val="740"/>
              </a:spcBef>
              <a:buFont typeface="Arial" panose="020B0604020202020204"/>
              <a:buChar char="•"/>
              <a:tabLst>
                <a:tab pos="240665" algn="l"/>
                <a:tab pos="241300" algn="l"/>
              </a:tabLst>
            </a:pPr>
            <a:r>
              <a:rPr lang="zh-CN" altLang="en-US" sz="1800" dirty="0">
                <a:latin typeface="黑体" panose="02010609060101010101" charset="-122"/>
                <a:cs typeface="黑体" panose="02010609060101010101" charset="-122"/>
              </a:rPr>
              <a:t>继承</a:t>
            </a:r>
            <a:r>
              <a:rPr lang="en-US" altLang="zh-CN" sz="1800" dirty="0">
                <a:latin typeface="黑体" panose="02010609060101010101" charset="-122"/>
                <a:cs typeface="黑体" panose="02010609060101010101" charset="-122"/>
              </a:rPr>
              <a:t>/</a:t>
            </a:r>
            <a:r>
              <a:rPr lang="zh-CN" altLang="en-US" sz="1800" dirty="0">
                <a:latin typeface="黑体" panose="02010609060101010101" charset="-122"/>
                <a:cs typeface="黑体" panose="02010609060101010101" charset="-122"/>
              </a:rPr>
              <a:t>泛化关系建模的过程</a:t>
            </a:r>
          </a:p>
          <a:p>
            <a:pPr marL="698500" lvl="1">
              <a:lnSpc>
                <a:spcPct val="100000"/>
              </a:lnSpc>
              <a:spcBef>
                <a:spcPts val="240"/>
              </a:spcBef>
              <a:buFont typeface="Arial" panose="020B0604020202020204"/>
              <a:buChar char="•"/>
              <a:tabLst>
                <a:tab pos="697865" algn="l"/>
                <a:tab pos="698500" algn="l"/>
              </a:tabLst>
            </a:pPr>
            <a:r>
              <a:rPr lang="zh-CN" altLang="en-US" sz="1800" b="1" spc="-10" dirty="0">
                <a:solidFill>
                  <a:srgbClr val="800000"/>
                </a:solidFill>
                <a:latin typeface="黑体" panose="02010609060101010101" charset="-122"/>
                <a:cs typeface="黑体" panose="02010609060101010101" charset="-122"/>
              </a:rPr>
              <a:t>自顶向下</a:t>
            </a:r>
            <a:endParaRPr lang="zh-CN" altLang="en-US" sz="1800" dirty="0">
              <a:latin typeface="黑体" panose="02010609060101010101" charset="-122"/>
              <a:cs typeface="黑体" panose="02010609060101010101" charset="-122"/>
            </a:endParaRPr>
          </a:p>
          <a:p>
            <a:pPr marL="1212850" lvl="2" indent="-285750">
              <a:lnSpc>
                <a:spcPct val="100000"/>
              </a:lnSpc>
              <a:spcBef>
                <a:spcPts val="340"/>
              </a:spcBef>
              <a:buFont typeface="Arial" panose="020B0604020202020204"/>
              <a:buChar char="•"/>
              <a:tabLst>
                <a:tab pos="1212215" algn="l"/>
                <a:tab pos="1212850" algn="l"/>
              </a:tabLst>
            </a:pPr>
            <a:r>
              <a:rPr lang="zh-CN" altLang="en-US" sz="1800" dirty="0">
                <a:latin typeface="黑体" panose="02010609060101010101" charset="-122"/>
                <a:cs typeface="黑体" panose="02010609060101010101" charset="-122"/>
              </a:rPr>
              <a:t>将某个类分割为属性和操作不同的子类，或者发现关联关系定义的是分类关系“</a:t>
            </a:r>
            <a:r>
              <a:rPr lang="en-US" altLang="zh-CN" sz="1800" dirty="0">
                <a:latin typeface="黑体" panose="02010609060101010101" charset="-122"/>
                <a:cs typeface="黑体" panose="02010609060101010101" charset="-122"/>
              </a:rPr>
              <a:t>kind</a:t>
            </a:r>
            <a:r>
              <a:rPr lang="zh-CN" altLang="en-US" sz="1800" spc="-90" dirty="0">
                <a:latin typeface="黑体" panose="02010609060101010101" charset="-122"/>
                <a:cs typeface="黑体" panose="02010609060101010101" charset="-122"/>
              </a:rPr>
              <a:t> </a:t>
            </a:r>
            <a:r>
              <a:rPr lang="en-US" altLang="zh-CN" sz="1800" dirty="0">
                <a:latin typeface="黑体" panose="02010609060101010101" charset="-122"/>
                <a:cs typeface="黑体" panose="02010609060101010101" charset="-122"/>
              </a:rPr>
              <a:t>of”</a:t>
            </a:r>
          </a:p>
          <a:p>
            <a:pPr marL="698500" lvl="1">
              <a:lnSpc>
                <a:spcPts val="2080"/>
              </a:lnSpc>
              <a:spcBef>
                <a:spcPts val="240"/>
              </a:spcBef>
              <a:buFont typeface="Arial" panose="020B0604020202020204"/>
              <a:buChar char="•"/>
              <a:tabLst>
                <a:tab pos="697865" algn="l"/>
                <a:tab pos="698500" algn="l"/>
              </a:tabLst>
            </a:pPr>
            <a:r>
              <a:rPr lang="zh-CN" altLang="en-US" sz="1800" b="1" spc="-10" dirty="0">
                <a:solidFill>
                  <a:srgbClr val="800000"/>
                </a:solidFill>
                <a:latin typeface="黑体" panose="02010609060101010101" charset="-122"/>
                <a:cs typeface="黑体" panose="02010609060101010101" charset="-122"/>
              </a:rPr>
              <a:t>自底向上</a:t>
            </a:r>
            <a:endParaRPr lang="zh-CN" altLang="en-US" sz="1800" dirty="0">
              <a:latin typeface="黑体" panose="02010609060101010101" charset="-122"/>
              <a:cs typeface="黑体" panose="02010609060101010101" charset="-122"/>
            </a:endParaRPr>
          </a:p>
          <a:p>
            <a:pPr marL="1155700" lvl="2">
              <a:lnSpc>
                <a:spcPts val="2080"/>
              </a:lnSpc>
              <a:buFont typeface="Arial" panose="020B0604020202020204"/>
              <a:buChar char="•"/>
              <a:tabLst>
                <a:tab pos="1155065" algn="l"/>
                <a:tab pos="1155700" algn="l"/>
              </a:tabLst>
            </a:pPr>
            <a:r>
              <a:rPr lang="zh-CN" altLang="en-US" sz="1800" dirty="0">
                <a:latin typeface="黑体" panose="02010609060101010101" charset="-122"/>
                <a:cs typeface="黑体" panose="02010609060101010101" charset="-122"/>
              </a:rPr>
              <a:t>为现有的多个具有公共属性及方法的类，定义一个父类</a:t>
            </a:r>
          </a:p>
          <a:p>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t>26</a:t>
            </a:fld>
            <a:endParaRPr lang="zh-CN" altLang="en-US"/>
          </a:p>
        </p:txBody>
      </p:sp>
      <p:grpSp>
        <p:nvGrpSpPr>
          <p:cNvPr id="5" name="组合 4"/>
          <p:cNvGrpSpPr/>
          <p:nvPr/>
        </p:nvGrpSpPr>
        <p:grpSpPr>
          <a:xfrm>
            <a:off x="220716" y="3705289"/>
            <a:ext cx="11507147" cy="2677689"/>
            <a:chOff x="362885" y="3024047"/>
            <a:chExt cx="11585696" cy="3300732"/>
          </a:xfrm>
        </p:grpSpPr>
        <p:sp>
          <p:nvSpPr>
            <p:cNvPr id="6" name="object 9"/>
            <p:cNvSpPr/>
            <p:nvPr/>
          </p:nvSpPr>
          <p:spPr>
            <a:xfrm>
              <a:off x="399622" y="4854436"/>
              <a:ext cx="699770" cy="940435"/>
            </a:xfrm>
            <a:custGeom>
              <a:avLst/>
              <a:gdLst/>
              <a:ahLst/>
              <a:cxnLst/>
              <a:rect l="l" t="t" r="r" b="b"/>
              <a:pathLst>
                <a:path w="699769" h="940435">
                  <a:moveTo>
                    <a:pt x="0" y="940098"/>
                  </a:moveTo>
                  <a:lnTo>
                    <a:pt x="2279" y="882649"/>
                  </a:lnTo>
                  <a:lnTo>
                    <a:pt x="12598" y="785018"/>
                  </a:lnTo>
                  <a:lnTo>
                    <a:pt x="30060" y="691356"/>
                  </a:lnTo>
                  <a:lnTo>
                    <a:pt x="53079" y="600868"/>
                  </a:lnTo>
                  <a:lnTo>
                    <a:pt x="83242" y="515143"/>
                  </a:lnTo>
                  <a:lnTo>
                    <a:pt x="118167" y="434181"/>
                  </a:lnTo>
                  <a:lnTo>
                    <a:pt x="158648" y="358775"/>
                  </a:lnTo>
                  <a:lnTo>
                    <a:pt x="203098" y="288924"/>
                  </a:lnTo>
                  <a:lnTo>
                    <a:pt x="253104" y="225424"/>
                  </a:lnTo>
                  <a:lnTo>
                    <a:pt x="307079" y="169068"/>
                  </a:lnTo>
                  <a:lnTo>
                    <a:pt x="365023" y="119856"/>
                  </a:lnTo>
                  <a:lnTo>
                    <a:pt x="426142" y="77787"/>
                  </a:lnTo>
                  <a:lnTo>
                    <a:pt x="490435" y="45243"/>
                  </a:lnTo>
                  <a:lnTo>
                    <a:pt x="557904" y="20637"/>
                  </a:lnTo>
                  <a:lnTo>
                    <a:pt x="627754" y="5556"/>
                  </a:lnTo>
                  <a:lnTo>
                    <a:pt x="699192" y="0"/>
                  </a:lnTo>
                </a:path>
              </a:pathLst>
            </a:custGeom>
            <a:ln w="38099">
              <a:solidFill>
                <a:srgbClr val="0079CD"/>
              </a:solidFill>
            </a:ln>
          </p:spPr>
          <p:txBody>
            <a:bodyPr wrap="square" lIns="0" tIns="0" rIns="0" bIns="0" rtlCol="0"/>
            <a:lstStyle/>
            <a:p>
              <a:endParaRPr/>
            </a:p>
          </p:txBody>
        </p:sp>
        <p:sp>
          <p:nvSpPr>
            <p:cNvPr id="7" name="object 10"/>
            <p:cNvSpPr/>
            <p:nvPr/>
          </p:nvSpPr>
          <p:spPr>
            <a:xfrm>
              <a:off x="362885" y="5759447"/>
              <a:ext cx="76200" cy="78105"/>
            </a:xfrm>
            <a:custGeom>
              <a:avLst/>
              <a:gdLst/>
              <a:ahLst/>
              <a:cxnLst/>
              <a:rect l="l" t="t" r="r" b="b"/>
              <a:pathLst>
                <a:path w="76200" h="78104">
                  <a:moveTo>
                    <a:pt x="0" y="0"/>
                  </a:moveTo>
                  <a:lnTo>
                    <a:pt x="35048" y="77650"/>
                  </a:lnTo>
                  <a:lnTo>
                    <a:pt x="76140" y="3021"/>
                  </a:lnTo>
                  <a:lnTo>
                    <a:pt x="0" y="0"/>
                  </a:lnTo>
                  <a:close/>
                </a:path>
              </a:pathLst>
            </a:custGeom>
            <a:solidFill>
              <a:srgbClr val="0079CD"/>
            </a:solidFill>
          </p:spPr>
          <p:txBody>
            <a:bodyPr wrap="square" lIns="0" tIns="0" rIns="0" bIns="0" rtlCol="0"/>
            <a:lstStyle/>
            <a:p>
              <a:endParaRPr/>
            </a:p>
          </p:txBody>
        </p:sp>
        <p:sp>
          <p:nvSpPr>
            <p:cNvPr id="8" name="object 11"/>
            <p:cNvSpPr txBox="1"/>
            <p:nvPr/>
          </p:nvSpPr>
          <p:spPr>
            <a:xfrm>
              <a:off x="539221" y="5595797"/>
              <a:ext cx="96520" cy="208279"/>
            </a:xfrm>
            <a:prstGeom prst="rect">
              <a:avLst/>
            </a:prstGeom>
          </p:spPr>
          <p:txBody>
            <a:bodyPr vert="horz" wrap="square" lIns="0" tIns="12700" rIns="0" bIns="0" rtlCol="0">
              <a:spAutoFit/>
            </a:bodyPr>
            <a:lstStyle/>
            <a:p>
              <a:pPr marL="12700">
                <a:lnSpc>
                  <a:spcPct val="100000"/>
                </a:lnSpc>
                <a:spcBef>
                  <a:spcPts val="100"/>
                </a:spcBef>
              </a:pPr>
              <a:r>
                <a:rPr sz="1200" b="1" dirty="0">
                  <a:latin typeface="Calibri" panose="020F0502020204030204"/>
                  <a:cs typeface="Calibri" panose="020F0502020204030204"/>
                </a:rPr>
                <a:t>?</a:t>
              </a:r>
              <a:endParaRPr sz="1200">
                <a:latin typeface="Calibri" panose="020F0502020204030204"/>
                <a:cs typeface="Calibri" panose="020F0502020204030204"/>
              </a:endParaRPr>
            </a:p>
          </p:txBody>
        </p:sp>
        <p:sp>
          <p:nvSpPr>
            <p:cNvPr id="9" name="object 12"/>
            <p:cNvSpPr/>
            <p:nvPr/>
          </p:nvSpPr>
          <p:spPr>
            <a:xfrm>
              <a:off x="1005416" y="3936861"/>
              <a:ext cx="1064895" cy="1700530"/>
            </a:xfrm>
            <a:custGeom>
              <a:avLst/>
              <a:gdLst/>
              <a:ahLst/>
              <a:cxnLst/>
              <a:rect l="l" t="t" r="r" b="b"/>
              <a:pathLst>
                <a:path w="1064895" h="1700529">
                  <a:moveTo>
                    <a:pt x="0" y="0"/>
                  </a:moveTo>
                  <a:lnTo>
                    <a:pt x="1064683" y="0"/>
                  </a:lnTo>
                  <a:lnTo>
                    <a:pt x="1064683" y="1700212"/>
                  </a:lnTo>
                  <a:lnTo>
                    <a:pt x="0" y="1700212"/>
                  </a:lnTo>
                  <a:lnTo>
                    <a:pt x="0" y="0"/>
                  </a:lnTo>
                  <a:close/>
                </a:path>
              </a:pathLst>
            </a:custGeom>
            <a:solidFill>
              <a:srgbClr val="DEE3EA"/>
            </a:solidFill>
          </p:spPr>
          <p:txBody>
            <a:bodyPr wrap="square" lIns="0" tIns="0" rIns="0" bIns="0" rtlCol="0"/>
            <a:lstStyle/>
            <a:p>
              <a:endParaRPr/>
            </a:p>
          </p:txBody>
        </p:sp>
        <p:sp>
          <p:nvSpPr>
            <p:cNvPr id="10" name="object 13"/>
            <p:cNvSpPr/>
            <p:nvPr/>
          </p:nvSpPr>
          <p:spPr>
            <a:xfrm>
              <a:off x="1005416" y="3936861"/>
              <a:ext cx="1064895" cy="1700530"/>
            </a:xfrm>
            <a:custGeom>
              <a:avLst/>
              <a:gdLst/>
              <a:ahLst/>
              <a:cxnLst/>
              <a:rect l="l" t="t" r="r" b="b"/>
              <a:pathLst>
                <a:path w="1064895" h="1700529">
                  <a:moveTo>
                    <a:pt x="0" y="0"/>
                  </a:moveTo>
                  <a:lnTo>
                    <a:pt x="1064682" y="0"/>
                  </a:lnTo>
                  <a:lnTo>
                    <a:pt x="1064682" y="1700212"/>
                  </a:lnTo>
                  <a:lnTo>
                    <a:pt x="0" y="1700212"/>
                  </a:lnTo>
                  <a:lnTo>
                    <a:pt x="0" y="0"/>
                  </a:lnTo>
                  <a:close/>
                </a:path>
              </a:pathLst>
            </a:custGeom>
            <a:ln w="12699">
              <a:solidFill>
                <a:srgbClr val="000000"/>
              </a:solidFill>
            </a:ln>
          </p:spPr>
          <p:txBody>
            <a:bodyPr wrap="square" lIns="0" tIns="0" rIns="0" bIns="0" rtlCol="0"/>
            <a:lstStyle/>
            <a:p>
              <a:endParaRPr/>
            </a:p>
          </p:txBody>
        </p:sp>
        <p:sp>
          <p:nvSpPr>
            <p:cNvPr id="11" name="object 14"/>
            <p:cNvSpPr txBox="1"/>
            <p:nvPr/>
          </p:nvSpPr>
          <p:spPr>
            <a:xfrm>
              <a:off x="1005416" y="3936861"/>
              <a:ext cx="1064895" cy="372277"/>
            </a:xfrm>
            <a:prstGeom prst="rect">
              <a:avLst/>
            </a:prstGeom>
            <a:solidFill>
              <a:srgbClr val="DEE3EA"/>
            </a:solidFill>
            <a:ln w="12699">
              <a:solidFill>
                <a:srgbClr val="000000"/>
              </a:solidFill>
            </a:ln>
          </p:spPr>
          <p:txBody>
            <a:bodyPr vert="horz" wrap="square" lIns="0" tIns="95885" rIns="0" bIns="0" rtlCol="0">
              <a:spAutoFit/>
            </a:bodyPr>
            <a:lstStyle/>
            <a:p>
              <a:pPr marL="75565">
                <a:lnSpc>
                  <a:spcPts val="1590"/>
                </a:lnSpc>
                <a:spcBef>
                  <a:spcPts val="755"/>
                </a:spcBef>
              </a:pPr>
              <a:r>
                <a:rPr sz="1400" b="1" spc="-280" dirty="0" err="1">
                  <a:latin typeface="Microsoft JhengHei" panose="020B0604030504040204" charset="-120"/>
                  <a:cs typeface="Microsoft JhengHei" panose="020B0604030504040204" charset="-120"/>
                </a:rPr>
                <a:t>公司人员</a:t>
              </a:r>
              <a:endParaRPr sz="1400" dirty="0">
                <a:latin typeface="Microsoft JhengHei" panose="020B0604030504040204" charset="-120"/>
                <a:cs typeface="Microsoft JhengHei" panose="020B0604030504040204" charset="-120"/>
              </a:endParaRPr>
            </a:p>
          </p:txBody>
        </p:sp>
        <p:sp>
          <p:nvSpPr>
            <p:cNvPr id="12" name="object 15"/>
            <p:cNvSpPr txBox="1"/>
            <p:nvPr/>
          </p:nvSpPr>
          <p:spPr>
            <a:xfrm>
              <a:off x="1005416" y="4235310"/>
              <a:ext cx="1064895" cy="1407694"/>
            </a:xfrm>
            <a:prstGeom prst="rect">
              <a:avLst/>
            </a:prstGeom>
            <a:ln w="12699">
              <a:solidFill>
                <a:srgbClr val="000000"/>
              </a:solidFill>
            </a:ln>
          </p:spPr>
          <p:txBody>
            <a:bodyPr vert="horz" wrap="square" lIns="0" tIns="102235" rIns="0" bIns="0" rtlCol="0">
              <a:spAutoFit/>
            </a:bodyPr>
            <a:lstStyle/>
            <a:p>
              <a:pPr marL="9525">
                <a:lnSpc>
                  <a:spcPts val="1640"/>
                </a:lnSpc>
                <a:spcBef>
                  <a:spcPts val="805"/>
                </a:spcBef>
              </a:pPr>
              <a:r>
                <a:rPr sz="1400" b="1" dirty="0">
                  <a:latin typeface="Microsoft JhengHei" panose="020B0604030504040204" charset="-120"/>
                  <a:cs typeface="Microsoft JhengHei" panose="020B0604030504040204" charset="-120"/>
                </a:rPr>
                <a:t>姓名</a:t>
              </a:r>
              <a:endParaRPr sz="1400" dirty="0">
                <a:latin typeface="Microsoft JhengHei" panose="020B0604030504040204" charset="-120"/>
                <a:cs typeface="Microsoft JhengHei" panose="020B0604030504040204" charset="-120"/>
              </a:endParaRPr>
            </a:p>
            <a:p>
              <a:pPr marL="9525" marR="335280">
                <a:lnSpc>
                  <a:spcPts val="1700"/>
                </a:lnSpc>
              </a:pPr>
              <a:r>
                <a:rPr sz="1400" b="1" spc="-245" dirty="0" err="1">
                  <a:latin typeface="Microsoft JhengHei" panose="020B0604030504040204" charset="-120"/>
                  <a:cs typeface="Microsoft JhengHei" panose="020B0604030504040204" charset="-120"/>
                </a:rPr>
                <a:t>身份证号</a:t>
              </a:r>
              <a:r>
                <a:rPr sz="1400" b="1" spc="-245" dirty="0">
                  <a:latin typeface="Microsoft JhengHei" panose="020B0604030504040204" charset="-120"/>
                  <a:cs typeface="Microsoft JhengHei" panose="020B0604030504040204" charset="-120"/>
                </a:rPr>
                <a:t> 股份</a:t>
              </a:r>
              <a:endParaRPr sz="1400" dirty="0">
                <a:latin typeface="Microsoft JhengHei" panose="020B0604030504040204" charset="-120"/>
                <a:cs typeface="Microsoft JhengHei" panose="020B0604030504040204" charset="-120"/>
              </a:endParaRPr>
            </a:p>
            <a:p>
              <a:pPr marL="9525">
                <a:lnSpc>
                  <a:spcPts val="1610"/>
                </a:lnSpc>
              </a:pPr>
              <a:r>
                <a:rPr sz="1400" b="1" spc="-470" dirty="0" err="1">
                  <a:latin typeface="Microsoft JhengHei" panose="020B0604030504040204" charset="-120"/>
                  <a:cs typeface="Microsoft JhengHei" panose="020B0604030504040204" charset="-120"/>
                </a:rPr>
                <a:t>工资</a:t>
              </a:r>
              <a:endParaRPr sz="1400" dirty="0">
                <a:latin typeface="Microsoft JhengHei" panose="020B0604030504040204" charset="-120"/>
                <a:cs typeface="Microsoft JhengHei" panose="020B0604030504040204" charset="-120"/>
              </a:endParaRPr>
            </a:p>
            <a:p>
              <a:pPr marL="9525">
                <a:lnSpc>
                  <a:spcPts val="1545"/>
                </a:lnSpc>
              </a:pPr>
              <a:r>
                <a:rPr sz="1400" b="1" dirty="0">
                  <a:latin typeface="Times New Roman" panose="02020603050405020304"/>
                  <a:cs typeface="Times New Roman" panose="02020603050405020304"/>
                </a:rPr>
                <a:t>······</a:t>
              </a:r>
              <a:endParaRPr sz="1400" dirty="0">
                <a:latin typeface="Times New Roman" panose="02020603050405020304"/>
                <a:cs typeface="Times New Roman" panose="02020603050405020304"/>
              </a:endParaRPr>
            </a:p>
          </p:txBody>
        </p:sp>
        <p:sp>
          <p:nvSpPr>
            <p:cNvPr id="13" name="object 16"/>
            <p:cNvSpPr txBox="1"/>
            <p:nvPr/>
          </p:nvSpPr>
          <p:spPr>
            <a:xfrm>
              <a:off x="1005416" y="5378310"/>
              <a:ext cx="1064895" cy="259079"/>
            </a:xfrm>
            <a:prstGeom prst="rect">
              <a:avLst/>
            </a:prstGeom>
            <a:ln w="12699">
              <a:solidFill>
                <a:srgbClr val="000000"/>
              </a:solidFill>
            </a:ln>
          </p:spPr>
          <p:txBody>
            <a:bodyPr vert="horz" wrap="square" lIns="0" tIns="15875" rIns="0" bIns="0" rtlCol="0">
              <a:spAutoFit/>
            </a:bodyPr>
            <a:lstStyle/>
            <a:p>
              <a:pPr marL="59055">
                <a:lnSpc>
                  <a:spcPct val="100000"/>
                </a:lnSpc>
                <a:spcBef>
                  <a:spcPts val="125"/>
                </a:spcBef>
              </a:pPr>
              <a:r>
                <a:rPr sz="1400" b="1" dirty="0">
                  <a:latin typeface="Times New Roman" panose="02020603050405020304"/>
                  <a:cs typeface="Times New Roman" panose="02020603050405020304"/>
                </a:rPr>
                <a:t>······</a:t>
              </a:r>
              <a:endParaRPr sz="1400">
                <a:latin typeface="Times New Roman" panose="02020603050405020304"/>
                <a:cs typeface="Times New Roman" panose="02020603050405020304"/>
              </a:endParaRPr>
            </a:p>
          </p:txBody>
        </p:sp>
        <p:sp>
          <p:nvSpPr>
            <p:cNvPr id="14" name="object 17"/>
            <p:cNvSpPr/>
            <p:nvPr/>
          </p:nvSpPr>
          <p:spPr>
            <a:xfrm>
              <a:off x="2607732" y="3320910"/>
              <a:ext cx="0" cy="2895600"/>
            </a:xfrm>
            <a:custGeom>
              <a:avLst/>
              <a:gdLst/>
              <a:ahLst/>
              <a:cxnLst/>
              <a:rect l="l" t="t" r="r" b="b"/>
              <a:pathLst>
                <a:path h="2895600">
                  <a:moveTo>
                    <a:pt x="0" y="0"/>
                  </a:moveTo>
                  <a:lnTo>
                    <a:pt x="0" y="2895599"/>
                  </a:lnTo>
                </a:path>
              </a:pathLst>
            </a:custGeom>
            <a:ln w="9524">
              <a:solidFill>
                <a:srgbClr val="000000"/>
              </a:solidFill>
            </a:ln>
          </p:spPr>
          <p:txBody>
            <a:bodyPr wrap="square" lIns="0" tIns="0" rIns="0" bIns="0" rtlCol="0"/>
            <a:lstStyle/>
            <a:p>
              <a:endParaRPr/>
            </a:p>
          </p:txBody>
        </p:sp>
        <p:sp>
          <p:nvSpPr>
            <p:cNvPr id="15" name="object 18"/>
            <p:cNvSpPr/>
            <p:nvPr/>
          </p:nvSpPr>
          <p:spPr>
            <a:xfrm>
              <a:off x="1623484" y="5087797"/>
              <a:ext cx="796290" cy="795655"/>
            </a:xfrm>
            <a:custGeom>
              <a:avLst/>
              <a:gdLst/>
              <a:ahLst/>
              <a:cxnLst/>
              <a:rect l="l" t="t" r="r" b="b"/>
              <a:pathLst>
                <a:path w="796289" h="795654">
                  <a:moveTo>
                    <a:pt x="0" y="0"/>
                  </a:moveTo>
                  <a:lnTo>
                    <a:pt x="81756" y="3968"/>
                  </a:lnTo>
                  <a:lnTo>
                    <a:pt x="161131" y="16668"/>
                  </a:lnTo>
                  <a:lnTo>
                    <a:pt x="237331" y="37306"/>
                  </a:lnTo>
                  <a:lnTo>
                    <a:pt x="310356" y="65881"/>
                  </a:lnTo>
                  <a:lnTo>
                    <a:pt x="380206" y="100806"/>
                  </a:lnTo>
                  <a:lnTo>
                    <a:pt x="446087" y="142874"/>
                  </a:lnTo>
                  <a:lnTo>
                    <a:pt x="507206" y="191293"/>
                  </a:lnTo>
                  <a:lnTo>
                    <a:pt x="564356" y="245268"/>
                  </a:lnTo>
                  <a:lnTo>
                    <a:pt x="615156" y="304799"/>
                  </a:lnTo>
                  <a:lnTo>
                    <a:pt x="661193" y="369887"/>
                  </a:lnTo>
                  <a:lnTo>
                    <a:pt x="701674" y="438943"/>
                  </a:lnTo>
                  <a:lnTo>
                    <a:pt x="735012" y="511968"/>
                  </a:lnTo>
                  <a:lnTo>
                    <a:pt x="761999" y="588962"/>
                  </a:lnTo>
                  <a:lnTo>
                    <a:pt x="781843" y="669131"/>
                  </a:lnTo>
                  <a:lnTo>
                    <a:pt x="793749" y="752474"/>
                  </a:lnTo>
                  <a:lnTo>
                    <a:pt x="795748" y="795648"/>
                  </a:lnTo>
                </a:path>
              </a:pathLst>
            </a:custGeom>
            <a:ln w="38099">
              <a:solidFill>
                <a:srgbClr val="0079CD"/>
              </a:solidFill>
            </a:ln>
          </p:spPr>
          <p:txBody>
            <a:bodyPr wrap="square" lIns="0" tIns="0" rIns="0" bIns="0" rtlCol="0"/>
            <a:lstStyle/>
            <a:p>
              <a:endParaRPr/>
            </a:p>
          </p:txBody>
        </p:sp>
        <p:sp>
          <p:nvSpPr>
            <p:cNvPr id="16" name="object 19"/>
            <p:cNvSpPr/>
            <p:nvPr/>
          </p:nvSpPr>
          <p:spPr>
            <a:xfrm>
              <a:off x="2379619" y="5848117"/>
              <a:ext cx="76200" cy="78105"/>
            </a:xfrm>
            <a:custGeom>
              <a:avLst/>
              <a:gdLst/>
              <a:ahLst/>
              <a:cxnLst/>
              <a:rect l="l" t="t" r="r" b="b"/>
              <a:pathLst>
                <a:path w="76200" h="78104">
                  <a:moveTo>
                    <a:pt x="76118" y="0"/>
                  </a:moveTo>
                  <a:lnTo>
                    <a:pt x="0" y="3523"/>
                  </a:lnTo>
                  <a:lnTo>
                    <a:pt x="41583" y="77880"/>
                  </a:lnTo>
                  <a:lnTo>
                    <a:pt x="76118" y="0"/>
                  </a:lnTo>
                  <a:close/>
                </a:path>
              </a:pathLst>
            </a:custGeom>
            <a:solidFill>
              <a:srgbClr val="0079CD"/>
            </a:solidFill>
          </p:spPr>
          <p:txBody>
            <a:bodyPr wrap="square" lIns="0" tIns="0" rIns="0" bIns="0" rtlCol="0"/>
            <a:lstStyle/>
            <a:p>
              <a:endParaRPr/>
            </a:p>
          </p:txBody>
        </p:sp>
        <p:sp>
          <p:nvSpPr>
            <p:cNvPr id="17" name="object 20"/>
            <p:cNvSpPr txBox="1"/>
            <p:nvPr/>
          </p:nvSpPr>
          <p:spPr>
            <a:xfrm>
              <a:off x="2471740" y="5562461"/>
              <a:ext cx="134620" cy="238760"/>
            </a:xfrm>
            <a:prstGeom prst="rect">
              <a:avLst/>
            </a:prstGeom>
          </p:spPr>
          <p:txBody>
            <a:bodyPr vert="horz" wrap="square" lIns="0" tIns="12700" rIns="0" bIns="0" rtlCol="0">
              <a:spAutoFit/>
            </a:bodyPr>
            <a:lstStyle/>
            <a:p>
              <a:pPr marL="12700">
                <a:lnSpc>
                  <a:spcPct val="100000"/>
                </a:lnSpc>
                <a:spcBef>
                  <a:spcPts val="100"/>
                </a:spcBef>
              </a:pPr>
              <a:r>
                <a:rPr sz="1400" b="1" dirty="0">
                  <a:latin typeface="Arial" panose="020B0604020202020204"/>
                  <a:cs typeface="Arial" panose="020B0604020202020204"/>
                </a:rPr>
                <a:t>?</a:t>
              </a:r>
              <a:endParaRPr sz="1400">
                <a:latin typeface="Arial" panose="020B0604020202020204"/>
                <a:cs typeface="Arial" panose="020B0604020202020204"/>
              </a:endParaRPr>
            </a:p>
          </p:txBody>
        </p:sp>
        <p:sp>
          <p:nvSpPr>
            <p:cNvPr id="18" name="object 21"/>
            <p:cNvSpPr/>
            <p:nvPr/>
          </p:nvSpPr>
          <p:spPr>
            <a:xfrm>
              <a:off x="3562350" y="3306622"/>
              <a:ext cx="1066800" cy="1295400"/>
            </a:xfrm>
            <a:custGeom>
              <a:avLst/>
              <a:gdLst/>
              <a:ahLst/>
              <a:cxnLst/>
              <a:rect l="l" t="t" r="r" b="b"/>
              <a:pathLst>
                <a:path w="1066800" h="1295400">
                  <a:moveTo>
                    <a:pt x="0" y="0"/>
                  </a:moveTo>
                  <a:lnTo>
                    <a:pt x="1066800" y="0"/>
                  </a:lnTo>
                  <a:lnTo>
                    <a:pt x="1066800" y="1295400"/>
                  </a:lnTo>
                  <a:lnTo>
                    <a:pt x="0" y="1295400"/>
                  </a:lnTo>
                  <a:lnTo>
                    <a:pt x="0" y="0"/>
                  </a:lnTo>
                  <a:close/>
                </a:path>
              </a:pathLst>
            </a:custGeom>
            <a:solidFill>
              <a:srgbClr val="DEE3EA"/>
            </a:solidFill>
          </p:spPr>
          <p:txBody>
            <a:bodyPr wrap="square" lIns="0" tIns="0" rIns="0" bIns="0" rtlCol="0"/>
            <a:lstStyle/>
            <a:p>
              <a:endParaRPr/>
            </a:p>
          </p:txBody>
        </p:sp>
        <p:sp>
          <p:nvSpPr>
            <p:cNvPr id="19" name="object 22"/>
            <p:cNvSpPr/>
            <p:nvPr/>
          </p:nvSpPr>
          <p:spPr>
            <a:xfrm>
              <a:off x="3562350" y="3306622"/>
              <a:ext cx="1066800" cy="1295400"/>
            </a:xfrm>
            <a:custGeom>
              <a:avLst/>
              <a:gdLst/>
              <a:ahLst/>
              <a:cxnLst/>
              <a:rect l="l" t="t" r="r" b="b"/>
              <a:pathLst>
                <a:path w="1066800" h="1295400">
                  <a:moveTo>
                    <a:pt x="0" y="0"/>
                  </a:moveTo>
                  <a:lnTo>
                    <a:pt x="1066799" y="0"/>
                  </a:lnTo>
                  <a:lnTo>
                    <a:pt x="1066799" y="1295399"/>
                  </a:lnTo>
                  <a:lnTo>
                    <a:pt x="0" y="1295399"/>
                  </a:lnTo>
                  <a:lnTo>
                    <a:pt x="0" y="0"/>
                  </a:lnTo>
                  <a:close/>
                </a:path>
              </a:pathLst>
            </a:custGeom>
            <a:ln w="12699">
              <a:solidFill>
                <a:srgbClr val="000000"/>
              </a:solidFill>
            </a:ln>
          </p:spPr>
          <p:txBody>
            <a:bodyPr wrap="square" lIns="0" tIns="0" rIns="0" bIns="0" rtlCol="0"/>
            <a:lstStyle/>
            <a:p>
              <a:endParaRPr/>
            </a:p>
          </p:txBody>
        </p:sp>
        <p:sp>
          <p:nvSpPr>
            <p:cNvPr id="20" name="object 23"/>
            <p:cNvSpPr txBox="1"/>
            <p:nvPr/>
          </p:nvSpPr>
          <p:spPr>
            <a:xfrm>
              <a:off x="3562350" y="3306621"/>
              <a:ext cx="1066800" cy="334336"/>
            </a:xfrm>
            <a:prstGeom prst="rect">
              <a:avLst/>
            </a:prstGeom>
            <a:solidFill>
              <a:srgbClr val="DEE3EA"/>
            </a:solidFill>
            <a:ln w="12699">
              <a:solidFill>
                <a:srgbClr val="000000"/>
              </a:solidFill>
            </a:ln>
          </p:spPr>
          <p:txBody>
            <a:bodyPr vert="horz" wrap="square" lIns="0" tIns="55244" rIns="0" bIns="0" rtlCol="0">
              <a:spAutoFit/>
            </a:bodyPr>
            <a:lstStyle/>
            <a:p>
              <a:pPr marL="88265">
                <a:lnSpc>
                  <a:spcPct val="100000"/>
                </a:lnSpc>
                <a:spcBef>
                  <a:spcPts val="435"/>
                </a:spcBef>
              </a:pPr>
              <a:r>
                <a:rPr sz="1400" b="1" spc="-280" dirty="0" err="1">
                  <a:latin typeface="Microsoft JhengHei" panose="020B0604030504040204" charset="-120"/>
                  <a:cs typeface="Microsoft JhengHei" panose="020B0604030504040204" charset="-120"/>
                </a:rPr>
                <a:t>公司人员</a:t>
              </a:r>
              <a:endParaRPr sz="1400" dirty="0">
                <a:latin typeface="Microsoft JhengHei" panose="020B0604030504040204" charset="-120"/>
                <a:cs typeface="Microsoft JhengHei" panose="020B0604030504040204" charset="-120"/>
              </a:endParaRPr>
            </a:p>
          </p:txBody>
        </p:sp>
        <p:sp>
          <p:nvSpPr>
            <p:cNvPr id="21" name="object 24"/>
            <p:cNvSpPr txBox="1"/>
            <p:nvPr/>
          </p:nvSpPr>
          <p:spPr>
            <a:xfrm>
              <a:off x="3562350" y="3611422"/>
              <a:ext cx="1066800" cy="827543"/>
            </a:xfrm>
            <a:prstGeom prst="rect">
              <a:avLst/>
            </a:prstGeom>
            <a:solidFill>
              <a:srgbClr val="DEE3EA"/>
            </a:solidFill>
            <a:ln w="12699">
              <a:solidFill>
                <a:srgbClr val="000000"/>
              </a:solidFill>
            </a:ln>
          </p:spPr>
          <p:txBody>
            <a:bodyPr vert="horz" wrap="square" lIns="0" tIns="55244" rIns="0" bIns="0" rtlCol="0">
              <a:spAutoFit/>
            </a:bodyPr>
            <a:lstStyle/>
            <a:p>
              <a:pPr marL="85725">
                <a:lnSpc>
                  <a:spcPts val="1640"/>
                </a:lnSpc>
                <a:spcBef>
                  <a:spcPts val="435"/>
                </a:spcBef>
              </a:pPr>
              <a:r>
                <a:rPr sz="1400" b="1" dirty="0">
                  <a:latin typeface="Microsoft JhengHei" panose="020B0604030504040204" charset="-120"/>
                  <a:cs typeface="Microsoft JhengHei" panose="020B0604030504040204" charset="-120"/>
                </a:rPr>
                <a:t>姓名</a:t>
              </a:r>
              <a:endParaRPr sz="1400" dirty="0">
                <a:latin typeface="Microsoft JhengHei" panose="020B0604030504040204" charset="-120"/>
                <a:cs typeface="Microsoft JhengHei" panose="020B0604030504040204" charset="-120"/>
              </a:endParaRPr>
            </a:p>
            <a:p>
              <a:pPr marL="85725">
                <a:lnSpc>
                  <a:spcPts val="1610"/>
                </a:lnSpc>
              </a:pPr>
              <a:r>
                <a:rPr sz="1400" b="1" spc="-280" dirty="0" err="1">
                  <a:latin typeface="Microsoft JhengHei" panose="020B0604030504040204" charset="-120"/>
                  <a:cs typeface="Microsoft JhengHei" panose="020B0604030504040204" charset="-120"/>
                </a:rPr>
                <a:t>身份证号</a:t>
              </a:r>
              <a:endParaRPr sz="1400" dirty="0">
                <a:latin typeface="Microsoft JhengHei" panose="020B0604030504040204" charset="-120"/>
                <a:cs typeface="Microsoft JhengHei" panose="020B0604030504040204" charset="-120"/>
              </a:endParaRPr>
            </a:p>
            <a:p>
              <a:pPr marL="85725">
                <a:lnSpc>
                  <a:spcPts val="1595"/>
                </a:lnSpc>
              </a:pPr>
              <a:r>
                <a:rPr sz="1400" b="1" dirty="0">
                  <a:latin typeface="Times New Roman" panose="02020603050405020304"/>
                  <a:cs typeface="Times New Roman" panose="02020603050405020304"/>
                </a:rPr>
                <a:t>······</a:t>
              </a:r>
              <a:endParaRPr sz="1400" dirty="0">
                <a:latin typeface="Times New Roman" panose="02020603050405020304"/>
                <a:cs typeface="Times New Roman" panose="02020603050405020304"/>
              </a:endParaRPr>
            </a:p>
          </p:txBody>
        </p:sp>
        <p:sp>
          <p:nvSpPr>
            <p:cNvPr id="22" name="object 25"/>
            <p:cNvSpPr/>
            <p:nvPr/>
          </p:nvSpPr>
          <p:spPr>
            <a:xfrm>
              <a:off x="2840567" y="5059224"/>
              <a:ext cx="982344" cy="1265555"/>
            </a:xfrm>
            <a:custGeom>
              <a:avLst/>
              <a:gdLst/>
              <a:ahLst/>
              <a:cxnLst/>
              <a:rect l="l" t="t" r="r" b="b"/>
              <a:pathLst>
                <a:path w="982345" h="1265554">
                  <a:moveTo>
                    <a:pt x="0" y="0"/>
                  </a:moveTo>
                  <a:lnTo>
                    <a:pt x="982132" y="0"/>
                  </a:lnTo>
                  <a:lnTo>
                    <a:pt x="982132" y="1265236"/>
                  </a:lnTo>
                  <a:lnTo>
                    <a:pt x="0" y="1265236"/>
                  </a:lnTo>
                  <a:lnTo>
                    <a:pt x="0" y="0"/>
                  </a:lnTo>
                  <a:close/>
                </a:path>
              </a:pathLst>
            </a:custGeom>
            <a:solidFill>
              <a:srgbClr val="DEE3EA"/>
            </a:solidFill>
          </p:spPr>
          <p:txBody>
            <a:bodyPr wrap="square" lIns="0" tIns="0" rIns="0" bIns="0" rtlCol="0"/>
            <a:lstStyle/>
            <a:p>
              <a:endParaRPr/>
            </a:p>
          </p:txBody>
        </p:sp>
        <p:sp>
          <p:nvSpPr>
            <p:cNvPr id="23" name="object 26"/>
            <p:cNvSpPr/>
            <p:nvPr/>
          </p:nvSpPr>
          <p:spPr>
            <a:xfrm>
              <a:off x="2840566" y="5059224"/>
              <a:ext cx="982344" cy="1265555"/>
            </a:xfrm>
            <a:custGeom>
              <a:avLst/>
              <a:gdLst/>
              <a:ahLst/>
              <a:cxnLst/>
              <a:rect l="l" t="t" r="r" b="b"/>
              <a:pathLst>
                <a:path w="982345" h="1265554">
                  <a:moveTo>
                    <a:pt x="0" y="0"/>
                  </a:moveTo>
                  <a:lnTo>
                    <a:pt x="982132" y="0"/>
                  </a:lnTo>
                  <a:lnTo>
                    <a:pt x="982132" y="1265236"/>
                  </a:lnTo>
                  <a:lnTo>
                    <a:pt x="0" y="1265236"/>
                  </a:lnTo>
                  <a:lnTo>
                    <a:pt x="0" y="0"/>
                  </a:lnTo>
                  <a:close/>
                </a:path>
              </a:pathLst>
            </a:custGeom>
            <a:ln w="12699">
              <a:solidFill>
                <a:srgbClr val="000000"/>
              </a:solidFill>
            </a:ln>
          </p:spPr>
          <p:txBody>
            <a:bodyPr wrap="square" lIns="0" tIns="0" rIns="0" bIns="0" rtlCol="0"/>
            <a:lstStyle/>
            <a:p>
              <a:endParaRPr/>
            </a:p>
          </p:txBody>
        </p:sp>
        <p:sp>
          <p:nvSpPr>
            <p:cNvPr id="24" name="object 27"/>
            <p:cNvSpPr/>
            <p:nvPr/>
          </p:nvSpPr>
          <p:spPr>
            <a:xfrm>
              <a:off x="2840566" y="5364022"/>
              <a:ext cx="982344" cy="0"/>
            </a:xfrm>
            <a:custGeom>
              <a:avLst/>
              <a:gdLst/>
              <a:ahLst/>
              <a:cxnLst/>
              <a:rect l="l" t="t" r="r" b="b"/>
              <a:pathLst>
                <a:path w="982345">
                  <a:moveTo>
                    <a:pt x="0" y="0"/>
                  </a:moveTo>
                  <a:lnTo>
                    <a:pt x="982132" y="0"/>
                  </a:lnTo>
                </a:path>
              </a:pathLst>
            </a:custGeom>
            <a:ln w="12699">
              <a:solidFill>
                <a:srgbClr val="000000"/>
              </a:solidFill>
            </a:ln>
          </p:spPr>
          <p:txBody>
            <a:bodyPr wrap="square" lIns="0" tIns="0" rIns="0" bIns="0" rtlCol="0"/>
            <a:lstStyle/>
            <a:p>
              <a:endParaRPr/>
            </a:p>
          </p:txBody>
        </p:sp>
        <p:sp>
          <p:nvSpPr>
            <p:cNvPr id="25" name="object 28"/>
            <p:cNvSpPr txBox="1"/>
            <p:nvPr/>
          </p:nvSpPr>
          <p:spPr>
            <a:xfrm>
              <a:off x="3077105" y="5142917"/>
              <a:ext cx="381000" cy="238760"/>
            </a:xfrm>
            <a:prstGeom prst="rect">
              <a:avLst/>
            </a:prstGeom>
          </p:spPr>
          <p:txBody>
            <a:bodyPr vert="horz" wrap="square" lIns="0" tIns="12700" rIns="0" bIns="0" rtlCol="0">
              <a:spAutoFit/>
            </a:bodyPr>
            <a:lstStyle/>
            <a:p>
              <a:pPr marL="12700">
                <a:lnSpc>
                  <a:spcPct val="100000"/>
                </a:lnSpc>
                <a:spcBef>
                  <a:spcPts val="100"/>
                </a:spcBef>
              </a:pPr>
              <a:r>
                <a:rPr sz="1400" b="1" dirty="0">
                  <a:latin typeface="Microsoft JhengHei" panose="020B0604030504040204" charset="-120"/>
                  <a:cs typeface="Microsoft JhengHei" panose="020B0604030504040204" charset="-120"/>
                </a:rPr>
                <a:t>股东</a:t>
              </a:r>
              <a:endParaRPr sz="1400">
                <a:latin typeface="Microsoft JhengHei" panose="020B0604030504040204" charset="-120"/>
                <a:cs typeface="Microsoft JhengHei" panose="020B0604030504040204" charset="-120"/>
              </a:endParaRPr>
            </a:p>
          </p:txBody>
        </p:sp>
        <p:sp>
          <p:nvSpPr>
            <p:cNvPr id="26" name="object 29"/>
            <p:cNvSpPr txBox="1"/>
            <p:nvPr/>
          </p:nvSpPr>
          <p:spPr>
            <a:xfrm>
              <a:off x="3077105" y="5447715"/>
              <a:ext cx="381635" cy="431800"/>
            </a:xfrm>
            <a:prstGeom prst="rect">
              <a:avLst/>
            </a:prstGeom>
          </p:spPr>
          <p:txBody>
            <a:bodyPr vert="horz" wrap="square" lIns="0" tIns="12700" rIns="0" bIns="0" rtlCol="0">
              <a:spAutoFit/>
            </a:bodyPr>
            <a:lstStyle/>
            <a:p>
              <a:pPr marL="12700">
                <a:lnSpc>
                  <a:spcPts val="1600"/>
                </a:lnSpc>
                <a:spcBef>
                  <a:spcPts val="100"/>
                </a:spcBef>
              </a:pPr>
              <a:r>
                <a:rPr sz="1400" b="1" dirty="0">
                  <a:latin typeface="Microsoft JhengHei" panose="020B0604030504040204" charset="-120"/>
                  <a:cs typeface="Microsoft JhengHei" panose="020B0604030504040204" charset="-120"/>
                </a:rPr>
                <a:t>股份</a:t>
              </a:r>
              <a:endParaRPr sz="1400">
                <a:latin typeface="Microsoft JhengHei" panose="020B0604030504040204" charset="-120"/>
                <a:cs typeface="Microsoft JhengHei" panose="020B0604030504040204" charset="-120"/>
              </a:endParaRPr>
            </a:p>
            <a:p>
              <a:pPr marL="12700">
                <a:lnSpc>
                  <a:spcPts val="1600"/>
                </a:lnSpc>
              </a:pPr>
              <a:r>
                <a:rPr sz="1400" b="1" dirty="0">
                  <a:latin typeface="Times New Roman" panose="02020603050405020304"/>
                  <a:cs typeface="Times New Roman" panose="02020603050405020304"/>
                </a:rPr>
                <a:t>······</a:t>
              </a:r>
              <a:endParaRPr sz="1400">
                <a:latin typeface="Times New Roman" panose="02020603050405020304"/>
                <a:cs typeface="Times New Roman" panose="02020603050405020304"/>
              </a:endParaRPr>
            </a:p>
          </p:txBody>
        </p:sp>
        <p:sp>
          <p:nvSpPr>
            <p:cNvPr id="27" name="object 30"/>
            <p:cNvSpPr txBox="1"/>
            <p:nvPr/>
          </p:nvSpPr>
          <p:spPr>
            <a:xfrm>
              <a:off x="3126504" y="6072047"/>
              <a:ext cx="381635" cy="238760"/>
            </a:xfrm>
            <a:prstGeom prst="rect">
              <a:avLst/>
            </a:prstGeom>
          </p:spPr>
          <p:txBody>
            <a:bodyPr vert="horz" wrap="square" lIns="0" tIns="12700" rIns="0" bIns="0" rtlCol="0">
              <a:spAutoFit/>
            </a:bodyPr>
            <a:lstStyle/>
            <a:p>
              <a:pPr marL="12700">
                <a:lnSpc>
                  <a:spcPct val="100000"/>
                </a:lnSpc>
                <a:spcBef>
                  <a:spcPts val="100"/>
                </a:spcBef>
              </a:pPr>
              <a:r>
                <a:rPr sz="1400" b="1" dirty="0">
                  <a:latin typeface="Times New Roman" panose="02020603050405020304"/>
                  <a:cs typeface="Times New Roman" panose="02020603050405020304"/>
                </a:rPr>
                <a:t>······</a:t>
              </a:r>
              <a:endParaRPr sz="1400">
                <a:latin typeface="Times New Roman" panose="02020603050405020304"/>
                <a:cs typeface="Times New Roman" panose="02020603050405020304"/>
              </a:endParaRPr>
            </a:p>
          </p:txBody>
        </p:sp>
        <p:sp>
          <p:nvSpPr>
            <p:cNvPr id="28" name="object 31"/>
            <p:cNvSpPr/>
            <p:nvPr/>
          </p:nvSpPr>
          <p:spPr>
            <a:xfrm>
              <a:off x="4360333" y="5059224"/>
              <a:ext cx="975994" cy="1265555"/>
            </a:xfrm>
            <a:custGeom>
              <a:avLst/>
              <a:gdLst/>
              <a:ahLst/>
              <a:cxnLst/>
              <a:rect l="l" t="t" r="r" b="b"/>
              <a:pathLst>
                <a:path w="975995" h="1265554">
                  <a:moveTo>
                    <a:pt x="0" y="0"/>
                  </a:moveTo>
                  <a:lnTo>
                    <a:pt x="975782" y="0"/>
                  </a:lnTo>
                  <a:lnTo>
                    <a:pt x="975782" y="1265236"/>
                  </a:lnTo>
                  <a:lnTo>
                    <a:pt x="0" y="1265236"/>
                  </a:lnTo>
                  <a:lnTo>
                    <a:pt x="0" y="0"/>
                  </a:lnTo>
                  <a:close/>
                </a:path>
              </a:pathLst>
            </a:custGeom>
            <a:solidFill>
              <a:srgbClr val="DEE3EA"/>
            </a:solidFill>
          </p:spPr>
          <p:txBody>
            <a:bodyPr wrap="square" lIns="0" tIns="0" rIns="0" bIns="0" rtlCol="0"/>
            <a:lstStyle/>
            <a:p>
              <a:endParaRPr/>
            </a:p>
          </p:txBody>
        </p:sp>
        <p:sp>
          <p:nvSpPr>
            <p:cNvPr id="29" name="object 32"/>
            <p:cNvSpPr/>
            <p:nvPr/>
          </p:nvSpPr>
          <p:spPr>
            <a:xfrm>
              <a:off x="4360332" y="5059224"/>
              <a:ext cx="975994" cy="1265555"/>
            </a:xfrm>
            <a:custGeom>
              <a:avLst/>
              <a:gdLst/>
              <a:ahLst/>
              <a:cxnLst/>
              <a:rect l="l" t="t" r="r" b="b"/>
              <a:pathLst>
                <a:path w="975995" h="1265554">
                  <a:moveTo>
                    <a:pt x="0" y="0"/>
                  </a:moveTo>
                  <a:lnTo>
                    <a:pt x="975783" y="0"/>
                  </a:lnTo>
                  <a:lnTo>
                    <a:pt x="975783" y="1265236"/>
                  </a:lnTo>
                  <a:lnTo>
                    <a:pt x="0" y="1265236"/>
                  </a:lnTo>
                  <a:lnTo>
                    <a:pt x="0" y="0"/>
                  </a:lnTo>
                  <a:close/>
                </a:path>
              </a:pathLst>
            </a:custGeom>
            <a:ln w="12699">
              <a:solidFill>
                <a:srgbClr val="000000"/>
              </a:solidFill>
            </a:ln>
          </p:spPr>
          <p:txBody>
            <a:bodyPr wrap="square" lIns="0" tIns="0" rIns="0" bIns="0" rtlCol="0"/>
            <a:lstStyle/>
            <a:p>
              <a:endParaRPr/>
            </a:p>
          </p:txBody>
        </p:sp>
        <p:sp>
          <p:nvSpPr>
            <p:cNvPr id="30" name="object 33"/>
            <p:cNvSpPr/>
            <p:nvPr/>
          </p:nvSpPr>
          <p:spPr>
            <a:xfrm>
              <a:off x="4360332" y="5364022"/>
              <a:ext cx="975994" cy="0"/>
            </a:xfrm>
            <a:custGeom>
              <a:avLst/>
              <a:gdLst/>
              <a:ahLst/>
              <a:cxnLst/>
              <a:rect l="l" t="t" r="r" b="b"/>
              <a:pathLst>
                <a:path w="975995">
                  <a:moveTo>
                    <a:pt x="0" y="0"/>
                  </a:moveTo>
                  <a:lnTo>
                    <a:pt x="975783" y="0"/>
                  </a:lnTo>
                </a:path>
              </a:pathLst>
            </a:custGeom>
            <a:ln w="12699">
              <a:solidFill>
                <a:srgbClr val="000000"/>
              </a:solidFill>
            </a:ln>
          </p:spPr>
          <p:txBody>
            <a:bodyPr wrap="square" lIns="0" tIns="0" rIns="0" bIns="0" rtlCol="0"/>
            <a:lstStyle/>
            <a:p>
              <a:endParaRPr/>
            </a:p>
          </p:txBody>
        </p:sp>
        <p:sp>
          <p:nvSpPr>
            <p:cNvPr id="31" name="object 34"/>
            <p:cNvSpPr txBox="1"/>
            <p:nvPr/>
          </p:nvSpPr>
          <p:spPr>
            <a:xfrm>
              <a:off x="4664604" y="5142917"/>
              <a:ext cx="381000" cy="238760"/>
            </a:xfrm>
            <a:prstGeom prst="rect">
              <a:avLst/>
            </a:prstGeom>
          </p:spPr>
          <p:txBody>
            <a:bodyPr vert="horz" wrap="square" lIns="0" tIns="12700" rIns="0" bIns="0" rtlCol="0">
              <a:spAutoFit/>
            </a:bodyPr>
            <a:lstStyle/>
            <a:p>
              <a:pPr marL="12700">
                <a:lnSpc>
                  <a:spcPct val="100000"/>
                </a:lnSpc>
                <a:spcBef>
                  <a:spcPts val="100"/>
                </a:spcBef>
              </a:pPr>
              <a:r>
                <a:rPr sz="1400" b="1" dirty="0">
                  <a:latin typeface="Microsoft JhengHei" panose="020B0604030504040204" charset="-120"/>
                  <a:cs typeface="Microsoft JhengHei" panose="020B0604030504040204" charset="-120"/>
                </a:rPr>
                <a:t>职员</a:t>
              </a:r>
              <a:endParaRPr sz="1400">
                <a:latin typeface="Microsoft JhengHei" panose="020B0604030504040204" charset="-120"/>
                <a:cs typeface="Microsoft JhengHei" panose="020B0604030504040204" charset="-120"/>
              </a:endParaRPr>
            </a:p>
          </p:txBody>
        </p:sp>
        <p:sp>
          <p:nvSpPr>
            <p:cNvPr id="32" name="object 35"/>
            <p:cNvSpPr txBox="1"/>
            <p:nvPr/>
          </p:nvSpPr>
          <p:spPr>
            <a:xfrm>
              <a:off x="4664604" y="5447715"/>
              <a:ext cx="381635" cy="521661"/>
            </a:xfrm>
            <a:prstGeom prst="rect">
              <a:avLst/>
            </a:prstGeom>
          </p:spPr>
          <p:txBody>
            <a:bodyPr vert="horz" wrap="square" lIns="0" tIns="12700" rIns="0" bIns="0" rtlCol="0">
              <a:spAutoFit/>
            </a:bodyPr>
            <a:lstStyle/>
            <a:p>
              <a:pPr marL="12700">
                <a:lnSpc>
                  <a:spcPts val="1600"/>
                </a:lnSpc>
                <a:spcBef>
                  <a:spcPts val="100"/>
                </a:spcBef>
              </a:pPr>
              <a:r>
                <a:rPr sz="1400" b="1" spc="-470" dirty="0">
                  <a:latin typeface="Microsoft JhengHei" panose="020B0604030504040204" charset="-120"/>
                  <a:cs typeface="Microsoft JhengHei" panose="020B0604030504040204" charset="-120"/>
                </a:rPr>
                <a:t>⼯资</a:t>
              </a:r>
              <a:endParaRPr sz="1400" dirty="0">
                <a:latin typeface="Microsoft JhengHei" panose="020B0604030504040204" charset="-120"/>
                <a:cs typeface="Microsoft JhengHei" panose="020B0604030504040204" charset="-120"/>
              </a:endParaRPr>
            </a:p>
            <a:p>
              <a:pPr marL="12700">
                <a:lnSpc>
                  <a:spcPts val="1600"/>
                </a:lnSpc>
              </a:pPr>
              <a:r>
                <a:rPr sz="1400" b="1" dirty="0">
                  <a:latin typeface="Times New Roman" panose="02020603050405020304"/>
                  <a:cs typeface="Times New Roman" panose="02020603050405020304"/>
                </a:rPr>
                <a:t>······</a:t>
              </a:r>
              <a:endParaRPr sz="1400" dirty="0">
                <a:latin typeface="Times New Roman" panose="02020603050405020304"/>
                <a:cs typeface="Times New Roman" panose="02020603050405020304"/>
              </a:endParaRPr>
            </a:p>
          </p:txBody>
        </p:sp>
        <p:sp>
          <p:nvSpPr>
            <p:cNvPr id="33" name="object 36"/>
            <p:cNvSpPr txBox="1"/>
            <p:nvPr/>
          </p:nvSpPr>
          <p:spPr>
            <a:xfrm>
              <a:off x="4664604" y="6072047"/>
              <a:ext cx="381635" cy="238760"/>
            </a:xfrm>
            <a:prstGeom prst="rect">
              <a:avLst/>
            </a:prstGeom>
          </p:spPr>
          <p:txBody>
            <a:bodyPr vert="horz" wrap="square" lIns="0" tIns="12700" rIns="0" bIns="0" rtlCol="0">
              <a:spAutoFit/>
            </a:bodyPr>
            <a:lstStyle/>
            <a:p>
              <a:pPr marL="12700">
                <a:lnSpc>
                  <a:spcPct val="100000"/>
                </a:lnSpc>
                <a:spcBef>
                  <a:spcPts val="100"/>
                </a:spcBef>
              </a:pPr>
              <a:r>
                <a:rPr sz="1400" b="1" dirty="0">
                  <a:latin typeface="Times New Roman" panose="02020603050405020304"/>
                  <a:cs typeface="Times New Roman" panose="02020603050405020304"/>
                </a:rPr>
                <a:t>······</a:t>
              </a:r>
              <a:endParaRPr sz="1400">
                <a:latin typeface="Times New Roman" panose="02020603050405020304"/>
                <a:cs typeface="Times New Roman" panose="02020603050405020304"/>
              </a:endParaRPr>
            </a:p>
          </p:txBody>
        </p:sp>
        <p:sp>
          <p:nvSpPr>
            <p:cNvPr id="34" name="object 37"/>
            <p:cNvSpPr/>
            <p:nvPr/>
          </p:nvSpPr>
          <p:spPr>
            <a:xfrm>
              <a:off x="4360332" y="5989497"/>
              <a:ext cx="975994" cy="0"/>
            </a:xfrm>
            <a:custGeom>
              <a:avLst/>
              <a:gdLst/>
              <a:ahLst/>
              <a:cxnLst/>
              <a:rect l="l" t="t" r="r" b="b"/>
              <a:pathLst>
                <a:path w="975995">
                  <a:moveTo>
                    <a:pt x="0" y="0"/>
                  </a:moveTo>
                  <a:lnTo>
                    <a:pt x="975783" y="0"/>
                  </a:lnTo>
                </a:path>
              </a:pathLst>
            </a:custGeom>
            <a:ln w="12699">
              <a:solidFill>
                <a:srgbClr val="000000"/>
              </a:solidFill>
            </a:ln>
          </p:spPr>
          <p:txBody>
            <a:bodyPr wrap="square" lIns="0" tIns="0" rIns="0" bIns="0" rtlCol="0"/>
            <a:lstStyle/>
            <a:p>
              <a:endParaRPr/>
            </a:p>
          </p:txBody>
        </p:sp>
        <p:sp>
          <p:nvSpPr>
            <p:cNvPr id="35" name="object 38"/>
            <p:cNvSpPr/>
            <p:nvPr/>
          </p:nvSpPr>
          <p:spPr>
            <a:xfrm>
              <a:off x="2840566" y="5973622"/>
              <a:ext cx="982344" cy="0"/>
            </a:xfrm>
            <a:custGeom>
              <a:avLst/>
              <a:gdLst/>
              <a:ahLst/>
              <a:cxnLst/>
              <a:rect l="l" t="t" r="r" b="b"/>
              <a:pathLst>
                <a:path w="982345">
                  <a:moveTo>
                    <a:pt x="0" y="0"/>
                  </a:moveTo>
                  <a:lnTo>
                    <a:pt x="982132" y="0"/>
                  </a:lnTo>
                </a:path>
              </a:pathLst>
            </a:custGeom>
            <a:ln w="12699">
              <a:solidFill>
                <a:srgbClr val="000000"/>
              </a:solidFill>
            </a:ln>
          </p:spPr>
          <p:txBody>
            <a:bodyPr wrap="square" lIns="0" tIns="0" rIns="0" bIns="0" rtlCol="0"/>
            <a:lstStyle/>
            <a:p>
              <a:endParaRPr/>
            </a:p>
          </p:txBody>
        </p:sp>
        <p:sp>
          <p:nvSpPr>
            <p:cNvPr id="36" name="object 39"/>
            <p:cNvSpPr/>
            <p:nvPr/>
          </p:nvSpPr>
          <p:spPr>
            <a:xfrm>
              <a:off x="2436284" y="4317860"/>
              <a:ext cx="431800" cy="139700"/>
            </a:xfrm>
            <a:custGeom>
              <a:avLst/>
              <a:gdLst/>
              <a:ahLst/>
              <a:cxnLst/>
              <a:rect l="l" t="t" r="r" b="b"/>
              <a:pathLst>
                <a:path w="431800" h="139700">
                  <a:moveTo>
                    <a:pt x="269859" y="0"/>
                  </a:moveTo>
                  <a:lnTo>
                    <a:pt x="269859" y="34924"/>
                  </a:lnTo>
                  <a:lnTo>
                    <a:pt x="0" y="34924"/>
                  </a:lnTo>
                  <a:lnTo>
                    <a:pt x="0" y="104774"/>
                  </a:lnTo>
                  <a:lnTo>
                    <a:pt x="269859" y="104774"/>
                  </a:lnTo>
                  <a:lnTo>
                    <a:pt x="269859" y="139699"/>
                  </a:lnTo>
                  <a:lnTo>
                    <a:pt x="431800" y="69849"/>
                  </a:lnTo>
                  <a:lnTo>
                    <a:pt x="269859" y="0"/>
                  </a:lnTo>
                  <a:close/>
                </a:path>
              </a:pathLst>
            </a:custGeom>
            <a:solidFill>
              <a:srgbClr val="78ACFF"/>
            </a:solidFill>
          </p:spPr>
          <p:txBody>
            <a:bodyPr wrap="square" lIns="0" tIns="0" rIns="0" bIns="0" rtlCol="0"/>
            <a:lstStyle/>
            <a:p>
              <a:endParaRPr/>
            </a:p>
          </p:txBody>
        </p:sp>
        <p:sp>
          <p:nvSpPr>
            <p:cNvPr id="37" name="object 40"/>
            <p:cNvSpPr/>
            <p:nvPr/>
          </p:nvSpPr>
          <p:spPr>
            <a:xfrm>
              <a:off x="2436284" y="4317860"/>
              <a:ext cx="431800" cy="139700"/>
            </a:xfrm>
            <a:custGeom>
              <a:avLst/>
              <a:gdLst/>
              <a:ahLst/>
              <a:cxnLst/>
              <a:rect l="l" t="t" r="r" b="b"/>
              <a:pathLst>
                <a:path w="431800" h="139700">
                  <a:moveTo>
                    <a:pt x="0" y="34924"/>
                  </a:moveTo>
                  <a:lnTo>
                    <a:pt x="269859" y="34924"/>
                  </a:lnTo>
                  <a:lnTo>
                    <a:pt x="269859" y="0"/>
                  </a:lnTo>
                  <a:lnTo>
                    <a:pt x="431799" y="69849"/>
                  </a:lnTo>
                  <a:lnTo>
                    <a:pt x="269859" y="139700"/>
                  </a:lnTo>
                  <a:lnTo>
                    <a:pt x="269859" y="104775"/>
                  </a:lnTo>
                  <a:lnTo>
                    <a:pt x="0" y="104775"/>
                  </a:lnTo>
                  <a:lnTo>
                    <a:pt x="0" y="34924"/>
                  </a:lnTo>
                  <a:close/>
                </a:path>
              </a:pathLst>
            </a:custGeom>
            <a:ln w="12699">
              <a:solidFill>
                <a:srgbClr val="000000"/>
              </a:solidFill>
            </a:ln>
          </p:spPr>
          <p:txBody>
            <a:bodyPr wrap="square" lIns="0" tIns="0" rIns="0" bIns="0" rtlCol="0"/>
            <a:lstStyle/>
            <a:p>
              <a:endParaRPr/>
            </a:p>
          </p:txBody>
        </p:sp>
        <p:sp>
          <p:nvSpPr>
            <p:cNvPr id="38" name="object 41"/>
            <p:cNvSpPr/>
            <p:nvPr/>
          </p:nvSpPr>
          <p:spPr>
            <a:xfrm>
              <a:off x="3822700" y="4760772"/>
              <a:ext cx="537845" cy="146050"/>
            </a:xfrm>
            <a:custGeom>
              <a:avLst/>
              <a:gdLst/>
              <a:ahLst/>
              <a:cxnLst/>
              <a:rect l="l" t="t" r="r" b="b"/>
              <a:pathLst>
                <a:path w="537845" h="146050">
                  <a:moveTo>
                    <a:pt x="0" y="0"/>
                  </a:moveTo>
                  <a:lnTo>
                    <a:pt x="537632" y="0"/>
                  </a:lnTo>
                  <a:lnTo>
                    <a:pt x="537632" y="146049"/>
                  </a:lnTo>
                  <a:lnTo>
                    <a:pt x="0" y="146049"/>
                  </a:lnTo>
                  <a:lnTo>
                    <a:pt x="0" y="0"/>
                  </a:lnTo>
                  <a:close/>
                </a:path>
              </a:pathLst>
            </a:custGeom>
            <a:solidFill>
              <a:srgbClr val="D4FDD5"/>
            </a:solidFill>
          </p:spPr>
          <p:txBody>
            <a:bodyPr wrap="square" lIns="0" tIns="0" rIns="0" bIns="0" rtlCol="0"/>
            <a:lstStyle/>
            <a:p>
              <a:endParaRPr/>
            </a:p>
          </p:txBody>
        </p:sp>
        <p:sp>
          <p:nvSpPr>
            <p:cNvPr id="39" name="object 42"/>
            <p:cNvSpPr/>
            <p:nvPr/>
          </p:nvSpPr>
          <p:spPr>
            <a:xfrm>
              <a:off x="3376084" y="4849672"/>
              <a:ext cx="1431290" cy="304165"/>
            </a:xfrm>
            <a:custGeom>
              <a:avLst/>
              <a:gdLst/>
              <a:ahLst/>
              <a:cxnLst/>
              <a:rect l="l" t="t" r="r" b="b"/>
              <a:pathLst>
                <a:path w="1431289" h="304164">
                  <a:moveTo>
                    <a:pt x="0" y="303695"/>
                  </a:moveTo>
                  <a:lnTo>
                    <a:pt x="0" y="0"/>
                  </a:lnTo>
                  <a:lnTo>
                    <a:pt x="1431101" y="0"/>
                  </a:lnTo>
                  <a:lnTo>
                    <a:pt x="1431101" y="303695"/>
                  </a:lnTo>
                </a:path>
              </a:pathLst>
            </a:custGeom>
            <a:ln w="12699">
              <a:solidFill>
                <a:srgbClr val="000000"/>
              </a:solidFill>
            </a:ln>
          </p:spPr>
          <p:txBody>
            <a:bodyPr wrap="square" lIns="0" tIns="0" rIns="0" bIns="0" rtlCol="0"/>
            <a:lstStyle/>
            <a:p>
              <a:endParaRPr/>
            </a:p>
          </p:txBody>
        </p:sp>
        <p:sp>
          <p:nvSpPr>
            <p:cNvPr id="40" name="object 43"/>
            <p:cNvSpPr txBox="1"/>
            <p:nvPr/>
          </p:nvSpPr>
          <p:spPr>
            <a:xfrm>
              <a:off x="3562350" y="4281348"/>
              <a:ext cx="1066800" cy="320675"/>
            </a:xfrm>
            <a:prstGeom prst="rect">
              <a:avLst/>
            </a:prstGeom>
            <a:ln w="12699">
              <a:solidFill>
                <a:srgbClr val="000000"/>
              </a:solidFill>
            </a:ln>
          </p:spPr>
          <p:txBody>
            <a:bodyPr vert="horz" wrap="square" lIns="0" tIns="24765" rIns="0" bIns="0" rtlCol="0">
              <a:spAutoFit/>
            </a:bodyPr>
            <a:lstStyle/>
            <a:p>
              <a:pPr marL="172720">
                <a:lnSpc>
                  <a:spcPct val="100000"/>
                </a:lnSpc>
                <a:spcBef>
                  <a:spcPts val="195"/>
                </a:spcBef>
              </a:pPr>
              <a:r>
                <a:rPr sz="1400" b="1" dirty="0">
                  <a:latin typeface="Times New Roman" panose="02020603050405020304"/>
                  <a:cs typeface="Times New Roman" panose="02020603050405020304"/>
                </a:rPr>
                <a:t>······</a:t>
              </a:r>
              <a:endParaRPr sz="1400">
                <a:latin typeface="Times New Roman" panose="02020603050405020304"/>
                <a:cs typeface="Times New Roman" panose="02020603050405020304"/>
              </a:endParaRPr>
            </a:p>
          </p:txBody>
        </p:sp>
        <p:sp>
          <p:nvSpPr>
            <p:cNvPr id="41" name="object 44"/>
            <p:cNvSpPr/>
            <p:nvPr/>
          </p:nvSpPr>
          <p:spPr>
            <a:xfrm>
              <a:off x="10204450" y="3024047"/>
              <a:ext cx="1031240" cy="1212850"/>
            </a:xfrm>
            <a:custGeom>
              <a:avLst/>
              <a:gdLst/>
              <a:ahLst/>
              <a:cxnLst/>
              <a:rect l="l" t="t" r="r" b="b"/>
              <a:pathLst>
                <a:path w="1031240" h="1212850">
                  <a:moveTo>
                    <a:pt x="0" y="0"/>
                  </a:moveTo>
                  <a:lnTo>
                    <a:pt x="1030815" y="0"/>
                  </a:lnTo>
                  <a:lnTo>
                    <a:pt x="1030815" y="1212850"/>
                  </a:lnTo>
                  <a:lnTo>
                    <a:pt x="0" y="1212850"/>
                  </a:lnTo>
                  <a:lnTo>
                    <a:pt x="0" y="0"/>
                  </a:lnTo>
                  <a:close/>
                </a:path>
              </a:pathLst>
            </a:custGeom>
            <a:solidFill>
              <a:srgbClr val="ECEBEB"/>
            </a:solidFill>
          </p:spPr>
          <p:txBody>
            <a:bodyPr wrap="square" lIns="0" tIns="0" rIns="0" bIns="0" rtlCol="0"/>
            <a:lstStyle/>
            <a:p>
              <a:endParaRPr/>
            </a:p>
          </p:txBody>
        </p:sp>
        <p:sp>
          <p:nvSpPr>
            <p:cNvPr id="42" name="object 45"/>
            <p:cNvSpPr/>
            <p:nvPr/>
          </p:nvSpPr>
          <p:spPr>
            <a:xfrm>
              <a:off x="10204449" y="3024047"/>
              <a:ext cx="1031240" cy="1212850"/>
            </a:xfrm>
            <a:custGeom>
              <a:avLst/>
              <a:gdLst/>
              <a:ahLst/>
              <a:cxnLst/>
              <a:rect l="l" t="t" r="r" b="b"/>
              <a:pathLst>
                <a:path w="1031240" h="1212850">
                  <a:moveTo>
                    <a:pt x="0" y="0"/>
                  </a:moveTo>
                  <a:lnTo>
                    <a:pt x="1030816" y="0"/>
                  </a:lnTo>
                  <a:lnTo>
                    <a:pt x="1030816" y="1212849"/>
                  </a:lnTo>
                  <a:lnTo>
                    <a:pt x="0" y="1212849"/>
                  </a:lnTo>
                  <a:lnTo>
                    <a:pt x="0" y="0"/>
                  </a:lnTo>
                  <a:close/>
                </a:path>
              </a:pathLst>
            </a:custGeom>
            <a:ln w="12699">
              <a:solidFill>
                <a:srgbClr val="000000"/>
              </a:solidFill>
            </a:ln>
          </p:spPr>
          <p:txBody>
            <a:bodyPr wrap="square" lIns="0" tIns="0" rIns="0" bIns="0" rtlCol="0"/>
            <a:lstStyle/>
            <a:p>
              <a:endParaRPr/>
            </a:p>
          </p:txBody>
        </p:sp>
        <p:sp>
          <p:nvSpPr>
            <p:cNvPr id="43" name="object 46"/>
            <p:cNvSpPr/>
            <p:nvPr/>
          </p:nvSpPr>
          <p:spPr>
            <a:xfrm>
              <a:off x="10727266" y="4370247"/>
              <a:ext cx="0" cy="177800"/>
            </a:xfrm>
            <a:custGeom>
              <a:avLst/>
              <a:gdLst/>
              <a:ahLst/>
              <a:cxnLst/>
              <a:rect l="l" t="t" r="r" b="b"/>
              <a:pathLst>
                <a:path h="177800">
                  <a:moveTo>
                    <a:pt x="0" y="0"/>
                  </a:moveTo>
                  <a:lnTo>
                    <a:pt x="0" y="177799"/>
                  </a:lnTo>
                </a:path>
              </a:pathLst>
            </a:custGeom>
            <a:ln w="12700">
              <a:solidFill>
                <a:srgbClr val="000000"/>
              </a:solidFill>
            </a:ln>
          </p:spPr>
          <p:txBody>
            <a:bodyPr wrap="square" lIns="0" tIns="0" rIns="0" bIns="0" rtlCol="0"/>
            <a:lstStyle/>
            <a:p>
              <a:endParaRPr/>
            </a:p>
          </p:txBody>
        </p:sp>
        <p:sp>
          <p:nvSpPr>
            <p:cNvPr id="44" name="object 47"/>
            <p:cNvSpPr/>
            <p:nvPr/>
          </p:nvSpPr>
          <p:spPr>
            <a:xfrm>
              <a:off x="6178550" y="4706797"/>
              <a:ext cx="1033144" cy="1617980"/>
            </a:xfrm>
            <a:custGeom>
              <a:avLst/>
              <a:gdLst/>
              <a:ahLst/>
              <a:cxnLst/>
              <a:rect l="l" t="t" r="r" b="b"/>
              <a:pathLst>
                <a:path w="1033145" h="1617979">
                  <a:moveTo>
                    <a:pt x="0" y="0"/>
                  </a:moveTo>
                  <a:lnTo>
                    <a:pt x="1032932" y="0"/>
                  </a:lnTo>
                  <a:lnTo>
                    <a:pt x="1032932" y="1617662"/>
                  </a:lnTo>
                  <a:lnTo>
                    <a:pt x="0" y="1617662"/>
                  </a:lnTo>
                  <a:lnTo>
                    <a:pt x="0" y="0"/>
                  </a:lnTo>
                  <a:close/>
                </a:path>
              </a:pathLst>
            </a:custGeom>
            <a:solidFill>
              <a:srgbClr val="ECEBEB"/>
            </a:solidFill>
          </p:spPr>
          <p:txBody>
            <a:bodyPr wrap="square" lIns="0" tIns="0" rIns="0" bIns="0" rtlCol="0"/>
            <a:lstStyle/>
            <a:p>
              <a:endParaRPr/>
            </a:p>
          </p:txBody>
        </p:sp>
        <p:sp>
          <p:nvSpPr>
            <p:cNvPr id="45" name="object 48"/>
            <p:cNvSpPr/>
            <p:nvPr/>
          </p:nvSpPr>
          <p:spPr>
            <a:xfrm>
              <a:off x="6178550" y="4706797"/>
              <a:ext cx="1033144" cy="1617980"/>
            </a:xfrm>
            <a:custGeom>
              <a:avLst/>
              <a:gdLst/>
              <a:ahLst/>
              <a:cxnLst/>
              <a:rect l="l" t="t" r="r" b="b"/>
              <a:pathLst>
                <a:path w="1033145" h="1617979">
                  <a:moveTo>
                    <a:pt x="0" y="0"/>
                  </a:moveTo>
                  <a:lnTo>
                    <a:pt x="1032932" y="0"/>
                  </a:lnTo>
                  <a:lnTo>
                    <a:pt x="1032932" y="1617661"/>
                  </a:lnTo>
                  <a:lnTo>
                    <a:pt x="0" y="1617661"/>
                  </a:lnTo>
                  <a:lnTo>
                    <a:pt x="0" y="0"/>
                  </a:lnTo>
                  <a:close/>
                </a:path>
              </a:pathLst>
            </a:custGeom>
            <a:ln w="12699">
              <a:solidFill>
                <a:srgbClr val="000000"/>
              </a:solidFill>
            </a:ln>
          </p:spPr>
          <p:txBody>
            <a:bodyPr wrap="square" lIns="0" tIns="0" rIns="0" bIns="0" rtlCol="0"/>
            <a:lstStyle/>
            <a:p>
              <a:endParaRPr/>
            </a:p>
          </p:txBody>
        </p:sp>
        <p:sp>
          <p:nvSpPr>
            <p:cNvPr id="46" name="object 49"/>
            <p:cNvSpPr txBox="1"/>
            <p:nvPr/>
          </p:nvSpPr>
          <p:spPr>
            <a:xfrm>
              <a:off x="6184900" y="4706797"/>
              <a:ext cx="1020444" cy="285750"/>
            </a:xfrm>
            <a:prstGeom prst="rect">
              <a:avLst/>
            </a:prstGeom>
            <a:solidFill>
              <a:srgbClr val="ECEBEB"/>
            </a:solidFill>
          </p:spPr>
          <p:txBody>
            <a:bodyPr vert="horz" wrap="square" lIns="0" tIns="96520" rIns="0" bIns="0" rtlCol="0">
              <a:spAutoFit/>
            </a:bodyPr>
            <a:lstStyle/>
            <a:p>
              <a:pPr marL="329565">
                <a:lnSpc>
                  <a:spcPts val="1490"/>
                </a:lnSpc>
                <a:spcBef>
                  <a:spcPts val="760"/>
                </a:spcBef>
              </a:pPr>
              <a:r>
                <a:rPr sz="1400" b="1" dirty="0">
                  <a:latin typeface="Microsoft JhengHei" panose="020B0604030504040204" charset="-120"/>
                  <a:cs typeface="Microsoft JhengHei" panose="020B0604030504040204" charset="-120"/>
                </a:rPr>
                <a:t>股东</a:t>
              </a:r>
              <a:endParaRPr sz="1400">
                <a:latin typeface="Microsoft JhengHei" panose="020B0604030504040204" charset="-120"/>
                <a:cs typeface="Microsoft JhengHei" panose="020B0604030504040204" charset="-120"/>
              </a:endParaRPr>
            </a:p>
          </p:txBody>
        </p:sp>
        <p:sp>
          <p:nvSpPr>
            <p:cNvPr id="47" name="object 50"/>
            <p:cNvSpPr txBox="1"/>
            <p:nvPr/>
          </p:nvSpPr>
          <p:spPr>
            <a:xfrm>
              <a:off x="6178550" y="4998898"/>
              <a:ext cx="1033144" cy="1111296"/>
            </a:xfrm>
            <a:prstGeom prst="rect">
              <a:avLst/>
            </a:prstGeom>
            <a:ln w="12699">
              <a:solidFill>
                <a:srgbClr val="000000"/>
              </a:solidFill>
            </a:ln>
          </p:spPr>
          <p:txBody>
            <a:bodyPr vert="horz" wrap="square" lIns="0" tIns="54610" rIns="0" bIns="0" rtlCol="0">
              <a:spAutoFit/>
            </a:bodyPr>
            <a:lstStyle/>
            <a:p>
              <a:pPr>
                <a:lnSpc>
                  <a:spcPts val="1640"/>
                </a:lnSpc>
                <a:spcBef>
                  <a:spcPts val="430"/>
                </a:spcBef>
              </a:pPr>
              <a:r>
                <a:rPr sz="1400" b="1" dirty="0">
                  <a:latin typeface="Microsoft JhengHei" panose="020B0604030504040204" charset="-120"/>
                  <a:cs typeface="Microsoft JhengHei" panose="020B0604030504040204" charset="-120"/>
                </a:rPr>
                <a:t>姓名</a:t>
              </a:r>
              <a:endParaRPr sz="1400" dirty="0">
                <a:latin typeface="Microsoft JhengHei" panose="020B0604030504040204" charset="-120"/>
                <a:cs typeface="Microsoft JhengHei" panose="020B0604030504040204" charset="-120"/>
              </a:endParaRPr>
            </a:p>
            <a:p>
              <a:pPr marR="316230">
                <a:lnSpc>
                  <a:spcPts val="1700"/>
                </a:lnSpc>
              </a:pPr>
              <a:r>
                <a:rPr sz="1400" b="1" spc="-245" dirty="0" err="1">
                  <a:latin typeface="Microsoft JhengHei" panose="020B0604030504040204" charset="-120"/>
                  <a:cs typeface="Microsoft JhengHei" panose="020B0604030504040204" charset="-120"/>
                </a:rPr>
                <a:t>身份证号</a:t>
              </a:r>
              <a:r>
                <a:rPr sz="1400" b="1" spc="-245" dirty="0">
                  <a:latin typeface="Microsoft JhengHei" panose="020B0604030504040204" charset="-120"/>
                  <a:cs typeface="Microsoft JhengHei" panose="020B0604030504040204" charset="-120"/>
                </a:rPr>
                <a:t> 股份</a:t>
              </a:r>
              <a:endParaRPr sz="1400" dirty="0">
                <a:latin typeface="Microsoft JhengHei" panose="020B0604030504040204" charset="-120"/>
                <a:cs typeface="Microsoft JhengHei" panose="020B0604030504040204" charset="-120"/>
              </a:endParaRPr>
            </a:p>
            <a:p>
              <a:pPr marL="95885">
                <a:lnSpc>
                  <a:spcPts val="1555"/>
                </a:lnSpc>
              </a:pPr>
              <a:r>
                <a:rPr sz="1400" b="1" dirty="0">
                  <a:latin typeface="Times New Roman" panose="02020603050405020304"/>
                  <a:cs typeface="Times New Roman" panose="02020603050405020304"/>
                </a:rPr>
                <a:t>······</a:t>
              </a:r>
              <a:endParaRPr sz="1400" dirty="0">
                <a:latin typeface="Times New Roman" panose="02020603050405020304"/>
                <a:cs typeface="Times New Roman" panose="02020603050405020304"/>
              </a:endParaRPr>
            </a:p>
          </p:txBody>
        </p:sp>
        <p:sp>
          <p:nvSpPr>
            <p:cNvPr id="48" name="object 51"/>
            <p:cNvSpPr txBox="1"/>
            <p:nvPr/>
          </p:nvSpPr>
          <p:spPr>
            <a:xfrm>
              <a:off x="6178550" y="5989498"/>
              <a:ext cx="1033144" cy="335280"/>
            </a:xfrm>
            <a:prstGeom prst="rect">
              <a:avLst/>
            </a:prstGeom>
            <a:solidFill>
              <a:srgbClr val="ECEBEB"/>
            </a:solidFill>
            <a:ln w="12699">
              <a:solidFill>
                <a:srgbClr val="000000"/>
              </a:solidFill>
            </a:ln>
          </p:spPr>
          <p:txBody>
            <a:bodyPr vert="horz" wrap="square" lIns="0" tIns="120650" rIns="0" bIns="0" rtlCol="0">
              <a:spAutoFit/>
            </a:bodyPr>
            <a:lstStyle/>
            <a:p>
              <a:pPr marL="95885">
                <a:lnSpc>
                  <a:spcPct val="100000"/>
                </a:lnSpc>
                <a:spcBef>
                  <a:spcPts val="950"/>
                </a:spcBef>
              </a:pPr>
              <a:r>
                <a:rPr sz="1400" b="1" dirty="0">
                  <a:latin typeface="Times New Roman" panose="02020603050405020304"/>
                  <a:cs typeface="Times New Roman" panose="02020603050405020304"/>
                </a:rPr>
                <a:t>······</a:t>
              </a:r>
              <a:endParaRPr sz="1400">
                <a:latin typeface="Times New Roman" panose="02020603050405020304"/>
                <a:cs typeface="Times New Roman" panose="02020603050405020304"/>
              </a:endParaRPr>
            </a:p>
          </p:txBody>
        </p:sp>
        <p:sp>
          <p:nvSpPr>
            <p:cNvPr id="49" name="object 52"/>
            <p:cNvSpPr/>
            <p:nvPr/>
          </p:nvSpPr>
          <p:spPr>
            <a:xfrm>
              <a:off x="7850716" y="4706797"/>
              <a:ext cx="1033144" cy="1587500"/>
            </a:xfrm>
            <a:custGeom>
              <a:avLst/>
              <a:gdLst/>
              <a:ahLst/>
              <a:cxnLst/>
              <a:rect l="l" t="t" r="r" b="b"/>
              <a:pathLst>
                <a:path w="1033145" h="1587500">
                  <a:moveTo>
                    <a:pt x="0" y="0"/>
                  </a:moveTo>
                  <a:lnTo>
                    <a:pt x="1032932" y="0"/>
                  </a:lnTo>
                  <a:lnTo>
                    <a:pt x="1032932" y="1587500"/>
                  </a:lnTo>
                  <a:lnTo>
                    <a:pt x="0" y="1587500"/>
                  </a:lnTo>
                  <a:lnTo>
                    <a:pt x="0" y="0"/>
                  </a:lnTo>
                  <a:close/>
                </a:path>
              </a:pathLst>
            </a:custGeom>
            <a:solidFill>
              <a:srgbClr val="ECEBEB"/>
            </a:solidFill>
          </p:spPr>
          <p:txBody>
            <a:bodyPr wrap="square" lIns="0" tIns="0" rIns="0" bIns="0" rtlCol="0"/>
            <a:lstStyle/>
            <a:p>
              <a:endParaRPr/>
            </a:p>
          </p:txBody>
        </p:sp>
        <p:sp>
          <p:nvSpPr>
            <p:cNvPr id="50" name="object 53"/>
            <p:cNvSpPr/>
            <p:nvPr/>
          </p:nvSpPr>
          <p:spPr>
            <a:xfrm>
              <a:off x="7850716" y="4706797"/>
              <a:ext cx="1033144" cy="1587500"/>
            </a:xfrm>
            <a:custGeom>
              <a:avLst/>
              <a:gdLst/>
              <a:ahLst/>
              <a:cxnLst/>
              <a:rect l="l" t="t" r="r" b="b"/>
              <a:pathLst>
                <a:path w="1033145" h="1587500">
                  <a:moveTo>
                    <a:pt x="0" y="0"/>
                  </a:moveTo>
                  <a:lnTo>
                    <a:pt x="1032933" y="0"/>
                  </a:lnTo>
                  <a:lnTo>
                    <a:pt x="1032933" y="1587499"/>
                  </a:lnTo>
                  <a:lnTo>
                    <a:pt x="0" y="1587499"/>
                  </a:lnTo>
                  <a:lnTo>
                    <a:pt x="0" y="0"/>
                  </a:lnTo>
                  <a:close/>
                </a:path>
              </a:pathLst>
            </a:custGeom>
            <a:ln w="12699">
              <a:solidFill>
                <a:srgbClr val="000000"/>
              </a:solidFill>
            </a:ln>
          </p:spPr>
          <p:txBody>
            <a:bodyPr wrap="square" lIns="0" tIns="0" rIns="0" bIns="0" rtlCol="0"/>
            <a:lstStyle/>
            <a:p>
              <a:endParaRPr/>
            </a:p>
          </p:txBody>
        </p:sp>
        <p:sp>
          <p:nvSpPr>
            <p:cNvPr id="51" name="object 54"/>
            <p:cNvSpPr txBox="1"/>
            <p:nvPr/>
          </p:nvSpPr>
          <p:spPr>
            <a:xfrm>
              <a:off x="7857066" y="4706797"/>
              <a:ext cx="1020444" cy="285750"/>
            </a:xfrm>
            <a:prstGeom prst="rect">
              <a:avLst/>
            </a:prstGeom>
            <a:solidFill>
              <a:srgbClr val="ECEBEB"/>
            </a:solidFill>
          </p:spPr>
          <p:txBody>
            <a:bodyPr vert="horz" wrap="square" lIns="0" tIns="96520" rIns="0" bIns="0" rtlCol="0">
              <a:spAutoFit/>
            </a:bodyPr>
            <a:lstStyle/>
            <a:p>
              <a:pPr marL="314325">
                <a:lnSpc>
                  <a:spcPts val="1490"/>
                </a:lnSpc>
                <a:spcBef>
                  <a:spcPts val="760"/>
                </a:spcBef>
              </a:pPr>
              <a:r>
                <a:rPr sz="1400" b="1" dirty="0">
                  <a:latin typeface="Microsoft JhengHei" panose="020B0604030504040204" charset="-120"/>
                  <a:cs typeface="Microsoft JhengHei" panose="020B0604030504040204" charset="-120"/>
                </a:rPr>
                <a:t>职员</a:t>
              </a:r>
              <a:endParaRPr sz="1400">
                <a:latin typeface="Microsoft JhengHei" panose="020B0604030504040204" charset="-120"/>
                <a:cs typeface="Microsoft JhengHei" panose="020B0604030504040204" charset="-120"/>
              </a:endParaRPr>
            </a:p>
          </p:txBody>
        </p:sp>
        <p:sp>
          <p:nvSpPr>
            <p:cNvPr id="52" name="object 55"/>
            <p:cNvSpPr txBox="1"/>
            <p:nvPr/>
          </p:nvSpPr>
          <p:spPr>
            <a:xfrm>
              <a:off x="7850716" y="4998898"/>
              <a:ext cx="1033144" cy="1096042"/>
            </a:xfrm>
            <a:prstGeom prst="rect">
              <a:avLst/>
            </a:prstGeom>
            <a:ln w="12699">
              <a:solidFill>
                <a:srgbClr val="000000"/>
              </a:solidFill>
            </a:ln>
          </p:spPr>
          <p:txBody>
            <a:bodyPr vert="horz" wrap="square" lIns="0" tIns="54610" rIns="0" bIns="0" rtlCol="0">
              <a:spAutoFit/>
            </a:bodyPr>
            <a:lstStyle/>
            <a:p>
              <a:pPr>
                <a:lnSpc>
                  <a:spcPts val="1640"/>
                </a:lnSpc>
                <a:spcBef>
                  <a:spcPts val="430"/>
                </a:spcBef>
              </a:pPr>
              <a:r>
                <a:rPr sz="1400" b="1" dirty="0">
                  <a:latin typeface="Microsoft JhengHei" panose="020B0604030504040204" charset="-120"/>
                  <a:cs typeface="Microsoft JhengHei" panose="020B0604030504040204" charset="-120"/>
                </a:rPr>
                <a:t>姓名</a:t>
              </a:r>
              <a:endParaRPr sz="1400" dirty="0">
                <a:latin typeface="Microsoft JhengHei" panose="020B0604030504040204" charset="-120"/>
                <a:cs typeface="Microsoft JhengHei" panose="020B0604030504040204" charset="-120"/>
              </a:endParaRPr>
            </a:p>
            <a:p>
              <a:pPr>
                <a:lnSpc>
                  <a:spcPts val="1640"/>
                </a:lnSpc>
              </a:pPr>
              <a:r>
                <a:rPr sz="1400" b="1" spc="-280" dirty="0" err="1">
                  <a:latin typeface="Microsoft JhengHei" panose="020B0604030504040204" charset="-120"/>
                  <a:cs typeface="Microsoft JhengHei" panose="020B0604030504040204" charset="-120"/>
                </a:rPr>
                <a:t>身份证号</a:t>
              </a:r>
              <a:endParaRPr sz="1400" dirty="0">
                <a:latin typeface="Microsoft JhengHei" panose="020B0604030504040204" charset="-120"/>
                <a:cs typeface="Microsoft JhengHei" panose="020B0604030504040204" charset="-120"/>
              </a:endParaRPr>
            </a:p>
            <a:p>
              <a:pPr>
                <a:lnSpc>
                  <a:spcPts val="1650"/>
                </a:lnSpc>
                <a:spcBef>
                  <a:spcPts val="20"/>
                </a:spcBef>
              </a:pPr>
              <a:r>
                <a:rPr sz="1400" b="1" spc="-470" dirty="0" err="1">
                  <a:latin typeface="Microsoft JhengHei" panose="020B0604030504040204" charset="-120"/>
                  <a:cs typeface="Microsoft JhengHei" panose="020B0604030504040204" charset="-120"/>
                </a:rPr>
                <a:t>工资</a:t>
              </a:r>
              <a:endParaRPr sz="1400" dirty="0">
                <a:latin typeface="Microsoft JhengHei" panose="020B0604030504040204" charset="-120"/>
                <a:cs typeface="Microsoft JhengHei" panose="020B0604030504040204" charset="-120"/>
              </a:endParaRPr>
            </a:p>
            <a:p>
              <a:pPr>
                <a:lnSpc>
                  <a:spcPts val="1650"/>
                </a:lnSpc>
              </a:pPr>
              <a:r>
                <a:rPr sz="1400" b="1" dirty="0">
                  <a:latin typeface="Times New Roman" panose="02020603050405020304"/>
                  <a:cs typeface="Times New Roman" panose="02020603050405020304"/>
                </a:rPr>
                <a:t>······</a:t>
              </a:r>
              <a:endParaRPr sz="1400" dirty="0">
                <a:latin typeface="Times New Roman" panose="02020603050405020304"/>
                <a:cs typeface="Times New Roman" panose="02020603050405020304"/>
              </a:endParaRPr>
            </a:p>
          </p:txBody>
        </p:sp>
        <p:sp>
          <p:nvSpPr>
            <p:cNvPr id="53" name="object 56"/>
            <p:cNvSpPr txBox="1"/>
            <p:nvPr/>
          </p:nvSpPr>
          <p:spPr>
            <a:xfrm>
              <a:off x="7850716" y="5989498"/>
              <a:ext cx="1033144" cy="304800"/>
            </a:xfrm>
            <a:prstGeom prst="rect">
              <a:avLst/>
            </a:prstGeom>
            <a:solidFill>
              <a:srgbClr val="ECEBEB"/>
            </a:solidFill>
            <a:ln w="12699">
              <a:solidFill>
                <a:srgbClr val="000000"/>
              </a:solidFill>
            </a:ln>
          </p:spPr>
          <p:txBody>
            <a:bodyPr vert="horz" wrap="square" lIns="0" tIns="120650" rIns="0" bIns="0" rtlCol="0">
              <a:spAutoFit/>
            </a:bodyPr>
            <a:lstStyle/>
            <a:p>
              <a:pPr marL="33655">
                <a:lnSpc>
                  <a:spcPts val="1450"/>
                </a:lnSpc>
                <a:spcBef>
                  <a:spcPts val="950"/>
                </a:spcBef>
              </a:pPr>
              <a:r>
                <a:rPr sz="1400" b="1" dirty="0">
                  <a:latin typeface="Times New Roman" panose="02020603050405020304"/>
                  <a:cs typeface="Times New Roman" panose="02020603050405020304"/>
                </a:rPr>
                <a:t>······</a:t>
              </a:r>
              <a:endParaRPr sz="1400">
                <a:latin typeface="Times New Roman" panose="02020603050405020304"/>
                <a:cs typeface="Times New Roman" panose="02020603050405020304"/>
              </a:endParaRPr>
            </a:p>
          </p:txBody>
        </p:sp>
        <p:sp>
          <p:nvSpPr>
            <p:cNvPr id="54" name="object 57"/>
            <p:cNvSpPr/>
            <p:nvPr/>
          </p:nvSpPr>
          <p:spPr>
            <a:xfrm>
              <a:off x="10217148" y="3322497"/>
              <a:ext cx="1033144" cy="0"/>
            </a:xfrm>
            <a:custGeom>
              <a:avLst/>
              <a:gdLst/>
              <a:ahLst/>
              <a:cxnLst/>
              <a:rect l="l" t="t" r="r" b="b"/>
              <a:pathLst>
                <a:path w="1033145">
                  <a:moveTo>
                    <a:pt x="0" y="0"/>
                  </a:moveTo>
                  <a:lnTo>
                    <a:pt x="1032932" y="1"/>
                  </a:lnTo>
                </a:path>
              </a:pathLst>
            </a:custGeom>
            <a:ln w="12699">
              <a:solidFill>
                <a:srgbClr val="000000"/>
              </a:solidFill>
            </a:ln>
          </p:spPr>
          <p:txBody>
            <a:bodyPr wrap="square" lIns="0" tIns="0" rIns="0" bIns="0" rtlCol="0"/>
            <a:lstStyle/>
            <a:p>
              <a:endParaRPr/>
            </a:p>
          </p:txBody>
        </p:sp>
        <p:sp>
          <p:nvSpPr>
            <p:cNvPr id="55" name="object 58"/>
            <p:cNvSpPr txBox="1"/>
            <p:nvPr/>
          </p:nvSpPr>
          <p:spPr>
            <a:xfrm>
              <a:off x="10204449" y="3024047"/>
              <a:ext cx="1031240" cy="373067"/>
            </a:xfrm>
            <a:prstGeom prst="rect">
              <a:avLst/>
            </a:prstGeom>
            <a:solidFill>
              <a:srgbClr val="ECEBEB"/>
            </a:solidFill>
            <a:ln w="12699">
              <a:solidFill>
                <a:srgbClr val="000000"/>
              </a:solidFill>
            </a:ln>
          </p:spPr>
          <p:txBody>
            <a:bodyPr vert="horz" wrap="square" lIns="0" tIns="96520" rIns="0" bIns="0" rtlCol="0">
              <a:spAutoFit/>
            </a:bodyPr>
            <a:lstStyle/>
            <a:p>
              <a:pPr marL="34925">
                <a:lnSpc>
                  <a:spcPts val="1590"/>
                </a:lnSpc>
                <a:spcBef>
                  <a:spcPts val="760"/>
                </a:spcBef>
              </a:pPr>
              <a:r>
                <a:rPr sz="1400" b="1" spc="-280" dirty="0" err="1">
                  <a:latin typeface="Microsoft JhengHei" panose="020B0604030504040204" charset="-120"/>
                  <a:cs typeface="Microsoft JhengHei" panose="020B0604030504040204" charset="-120"/>
                </a:rPr>
                <a:t>公司⼈员</a:t>
              </a:r>
              <a:endParaRPr sz="1400" dirty="0">
                <a:latin typeface="Microsoft JhengHei" panose="020B0604030504040204" charset="-120"/>
                <a:cs typeface="Microsoft JhengHei" panose="020B0604030504040204" charset="-120"/>
              </a:endParaRPr>
            </a:p>
          </p:txBody>
        </p:sp>
        <p:sp>
          <p:nvSpPr>
            <p:cNvPr id="56" name="object 59"/>
            <p:cNvSpPr txBox="1"/>
            <p:nvPr/>
          </p:nvSpPr>
          <p:spPr>
            <a:xfrm>
              <a:off x="10225089" y="3336340"/>
              <a:ext cx="736600" cy="775141"/>
            </a:xfrm>
            <a:prstGeom prst="rect">
              <a:avLst/>
            </a:prstGeom>
          </p:spPr>
          <p:txBody>
            <a:bodyPr vert="horz" wrap="square" lIns="0" tIns="12700" rIns="0" bIns="0" rtlCol="0">
              <a:spAutoFit/>
            </a:bodyPr>
            <a:lstStyle/>
            <a:p>
              <a:pPr marL="12700">
                <a:lnSpc>
                  <a:spcPts val="1640"/>
                </a:lnSpc>
                <a:spcBef>
                  <a:spcPts val="100"/>
                </a:spcBef>
              </a:pPr>
              <a:r>
                <a:rPr sz="1400" b="1" dirty="0">
                  <a:latin typeface="Microsoft JhengHei" panose="020B0604030504040204" charset="-120"/>
                  <a:cs typeface="Microsoft JhengHei" panose="020B0604030504040204" charset="-120"/>
                </a:rPr>
                <a:t>姓名</a:t>
              </a:r>
              <a:endParaRPr sz="1400" dirty="0">
                <a:latin typeface="Microsoft JhengHei" panose="020B0604030504040204" charset="-120"/>
                <a:cs typeface="Microsoft JhengHei" panose="020B0604030504040204" charset="-120"/>
              </a:endParaRPr>
            </a:p>
            <a:p>
              <a:pPr marL="12700">
                <a:lnSpc>
                  <a:spcPts val="1610"/>
                </a:lnSpc>
              </a:pPr>
              <a:r>
                <a:rPr sz="1400" b="1" spc="-280">
                  <a:latin typeface="Microsoft JhengHei" panose="020B0604030504040204" charset="-120"/>
                  <a:cs typeface="Microsoft JhengHei" panose="020B0604030504040204" charset="-120"/>
                </a:rPr>
                <a:t>身份证号</a:t>
              </a:r>
              <a:endParaRPr sz="1400" dirty="0">
                <a:latin typeface="Microsoft JhengHei" panose="020B0604030504040204" charset="-120"/>
                <a:cs typeface="Microsoft JhengHei" panose="020B0604030504040204" charset="-120"/>
              </a:endParaRPr>
            </a:p>
            <a:p>
              <a:pPr marL="111125">
                <a:lnSpc>
                  <a:spcPts val="1650"/>
                </a:lnSpc>
              </a:pPr>
              <a:r>
                <a:rPr sz="1400" b="1" dirty="0">
                  <a:latin typeface="Times New Roman" panose="02020603050405020304"/>
                  <a:cs typeface="Times New Roman" panose="02020603050405020304"/>
                </a:rPr>
                <a:t>······</a:t>
              </a:r>
              <a:endParaRPr sz="1400" dirty="0">
                <a:latin typeface="Times New Roman" panose="02020603050405020304"/>
                <a:cs typeface="Times New Roman" panose="02020603050405020304"/>
              </a:endParaRPr>
            </a:p>
          </p:txBody>
        </p:sp>
        <p:sp>
          <p:nvSpPr>
            <p:cNvPr id="57" name="object 60"/>
            <p:cNvSpPr txBox="1"/>
            <p:nvPr/>
          </p:nvSpPr>
          <p:spPr>
            <a:xfrm>
              <a:off x="10204449" y="4068623"/>
              <a:ext cx="1031240" cy="168275"/>
            </a:xfrm>
            <a:prstGeom prst="rect">
              <a:avLst/>
            </a:prstGeom>
            <a:ln w="12699">
              <a:solidFill>
                <a:srgbClr val="000000"/>
              </a:solidFill>
            </a:ln>
          </p:spPr>
          <p:txBody>
            <a:bodyPr vert="horz" wrap="square" lIns="0" tIns="0" rIns="0" bIns="0" rtlCol="0">
              <a:spAutoFit/>
            </a:bodyPr>
            <a:lstStyle/>
            <a:p>
              <a:pPr marL="132080">
                <a:lnSpc>
                  <a:spcPts val="930"/>
                </a:lnSpc>
              </a:pPr>
              <a:r>
                <a:rPr sz="1400" b="1" dirty="0">
                  <a:latin typeface="Times New Roman" panose="02020603050405020304"/>
                  <a:cs typeface="Times New Roman" panose="02020603050405020304"/>
                </a:rPr>
                <a:t>······</a:t>
              </a:r>
              <a:endParaRPr sz="1400">
                <a:latin typeface="Times New Roman" panose="02020603050405020304"/>
                <a:cs typeface="Times New Roman" panose="02020603050405020304"/>
              </a:endParaRPr>
            </a:p>
          </p:txBody>
        </p:sp>
        <p:sp>
          <p:nvSpPr>
            <p:cNvPr id="58" name="object 61"/>
            <p:cNvSpPr/>
            <p:nvPr/>
          </p:nvSpPr>
          <p:spPr>
            <a:xfrm>
              <a:off x="7065433" y="3030397"/>
              <a:ext cx="1033144" cy="1206500"/>
            </a:xfrm>
            <a:custGeom>
              <a:avLst/>
              <a:gdLst/>
              <a:ahLst/>
              <a:cxnLst/>
              <a:rect l="l" t="t" r="r" b="b"/>
              <a:pathLst>
                <a:path w="1033145" h="1206500">
                  <a:moveTo>
                    <a:pt x="0" y="0"/>
                  </a:moveTo>
                  <a:lnTo>
                    <a:pt x="1032932" y="0"/>
                  </a:lnTo>
                  <a:lnTo>
                    <a:pt x="1032932" y="1206500"/>
                  </a:lnTo>
                  <a:lnTo>
                    <a:pt x="0" y="1206500"/>
                  </a:lnTo>
                  <a:lnTo>
                    <a:pt x="0" y="0"/>
                  </a:lnTo>
                  <a:close/>
                </a:path>
              </a:pathLst>
            </a:custGeom>
            <a:solidFill>
              <a:srgbClr val="ECEBEB"/>
            </a:solidFill>
          </p:spPr>
          <p:txBody>
            <a:bodyPr wrap="square" lIns="0" tIns="0" rIns="0" bIns="0" rtlCol="0"/>
            <a:lstStyle/>
            <a:p>
              <a:endParaRPr/>
            </a:p>
          </p:txBody>
        </p:sp>
        <p:sp>
          <p:nvSpPr>
            <p:cNvPr id="59" name="object 62"/>
            <p:cNvSpPr/>
            <p:nvPr/>
          </p:nvSpPr>
          <p:spPr>
            <a:xfrm>
              <a:off x="7065433" y="3030397"/>
              <a:ext cx="1033144" cy="1206500"/>
            </a:xfrm>
            <a:custGeom>
              <a:avLst/>
              <a:gdLst/>
              <a:ahLst/>
              <a:cxnLst/>
              <a:rect l="l" t="t" r="r" b="b"/>
              <a:pathLst>
                <a:path w="1033145" h="1206500">
                  <a:moveTo>
                    <a:pt x="0" y="0"/>
                  </a:moveTo>
                  <a:lnTo>
                    <a:pt x="1032932" y="0"/>
                  </a:lnTo>
                  <a:lnTo>
                    <a:pt x="1032932" y="1206499"/>
                  </a:lnTo>
                  <a:lnTo>
                    <a:pt x="0" y="1206499"/>
                  </a:lnTo>
                  <a:lnTo>
                    <a:pt x="0" y="0"/>
                  </a:lnTo>
                  <a:close/>
                </a:path>
              </a:pathLst>
            </a:custGeom>
            <a:ln w="12699">
              <a:solidFill>
                <a:srgbClr val="000000"/>
              </a:solidFill>
            </a:ln>
          </p:spPr>
          <p:txBody>
            <a:bodyPr wrap="square" lIns="0" tIns="0" rIns="0" bIns="0" rtlCol="0"/>
            <a:lstStyle/>
            <a:p>
              <a:endParaRPr/>
            </a:p>
          </p:txBody>
        </p:sp>
        <p:sp>
          <p:nvSpPr>
            <p:cNvPr id="60" name="object 63"/>
            <p:cNvSpPr/>
            <p:nvPr/>
          </p:nvSpPr>
          <p:spPr>
            <a:xfrm>
              <a:off x="7050616" y="3322497"/>
              <a:ext cx="1047750" cy="0"/>
            </a:xfrm>
            <a:custGeom>
              <a:avLst/>
              <a:gdLst/>
              <a:ahLst/>
              <a:cxnLst/>
              <a:rect l="l" t="t" r="r" b="b"/>
              <a:pathLst>
                <a:path w="1047750">
                  <a:moveTo>
                    <a:pt x="0" y="0"/>
                  </a:moveTo>
                  <a:lnTo>
                    <a:pt x="1047748" y="1"/>
                  </a:lnTo>
                </a:path>
              </a:pathLst>
            </a:custGeom>
            <a:ln w="12699">
              <a:solidFill>
                <a:srgbClr val="000000"/>
              </a:solidFill>
            </a:ln>
          </p:spPr>
          <p:txBody>
            <a:bodyPr wrap="square" lIns="0" tIns="0" rIns="0" bIns="0" rtlCol="0"/>
            <a:lstStyle/>
            <a:p>
              <a:endParaRPr/>
            </a:p>
          </p:txBody>
        </p:sp>
        <p:sp>
          <p:nvSpPr>
            <p:cNvPr id="61" name="object 64"/>
            <p:cNvSpPr/>
            <p:nvPr/>
          </p:nvSpPr>
          <p:spPr>
            <a:xfrm>
              <a:off x="7050615" y="3932097"/>
              <a:ext cx="1033144" cy="0"/>
            </a:xfrm>
            <a:custGeom>
              <a:avLst/>
              <a:gdLst/>
              <a:ahLst/>
              <a:cxnLst/>
              <a:rect l="l" t="t" r="r" b="b"/>
              <a:pathLst>
                <a:path w="1033145">
                  <a:moveTo>
                    <a:pt x="0" y="0"/>
                  </a:moveTo>
                  <a:lnTo>
                    <a:pt x="1032932" y="0"/>
                  </a:lnTo>
                </a:path>
              </a:pathLst>
            </a:custGeom>
            <a:ln w="12699">
              <a:solidFill>
                <a:srgbClr val="000000"/>
              </a:solidFill>
            </a:ln>
          </p:spPr>
          <p:txBody>
            <a:bodyPr wrap="square" lIns="0" tIns="0" rIns="0" bIns="0" rtlCol="0"/>
            <a:lstStyle/>
            <a:p>
              <a:endParaRPr/>
            </a:p>
          </p:txBody>
        </p:sp>
        <p:sp>
          <p:nvSpPr>
            <p:cNvPr id="62" name="object 65"/>
            <p:cNvSpPr/>
            <p:nvPr/>
          </p:nvSpPr>
          <p:spPr>
            <a:xfrm>
              <a:off x="9505951" y="4776647"/>
              <a:ext cx="958850" cy="1289050"/>
            </a:xfrm>
            <a:custGeom>
              <a:avLst/>
              <a:gdLst/>
              <a:ahLst/>
              <a:cxnLst/>
              <a:rect l="l" t="t" r="r" b="b"/>
              <a:pathLst>
                <a:path w="958850" h="1289050">
                  <a:moveTo>
                    <a:pt x="0" y="0"/>
                  </a:moveTo>
                  <a:lnTo>
                    <a:pt x="958847" y="0"/>
                  </a:lnTo>
                  <a:lnTo>
                    <a:pt x="958847" y="1289050"/>
                  </a:lnTo>
                  <a:lnTo>
                    <a:pt x="0" y="1289050"/>
                  </a:lnTo>
                  <a:lnTo>
                    <a:pt x="0" y="0"/>
                  </a:lnTo>
                  <a:close/>
                </a:path>
              </a:pathLst>
            </a:custGeom>
            <a:solidFill>
              <a:srgbClr val="ECEBEB"/>
            </a:solidFill>
          </p:spPr>
          <p:txBody>
            <a:bodyPr wrap="square" lIns="0" tIns="0" rIns="0" bIns="0" rtlCol="0"/>
            <a:lstStyle/>
            <a:p>
              <a:endParaRPr/>
            </a:p>
          </p:txBody>
        </p:sp>
        <p:sp>
          <p:nvSpPr>
            <p:cNvPr id="63" name="object 66"/>
            <p:cNvSpPr/>
            <p:nvPr/>
          </p:nvSpPr>
          <p:spPr>
            <a:xfrm>
              <a:off x="9505951" y="4776647"/>
              <a:ext cx="958850" cy="1289050"/>
            </a:xfrm>
            <a:custGeom>
              <a:avLst/>
              <a:gdLst/>
              <a:ahLst/>
              <a:cxnLst/>
              <a:rect l="l" t="t" r="r" b="b"/>
              <a:pathLst>
                <a:path w="958850" h="1289050">
                  <a:moveTo>
                    <a:pt x="0" y="0"/>
                  </a:moveTo>
                  <a:lnTo>
                    <a:pt x="958848" y="0"/>
                  </a:lnTo>
                  <a:lnTo>
                    <a:pt x="958848" y="1289049"/>
                  </a:lnTo>
                  <a:lnTo>
                    <a:pt x="0" y="1289049"/>
                  </a:lnTo>
                  <a:lnTo>
                    <a:pt x="0" y="0"/>
                  </a:lnTo>
                  <a:close/>
                </a:path>
              </a:pathLst>
            </a:custGeom>
            <a:ln w="12699">
              <a:solidFill>
                <a:srgbClr val="000000"/>
              </a:solidFill>
            </a:ln>
          </p:spPr>
          <p:txBody>
            <a:bodyPr wrap="square" lIns="0" tIns="0" rIns="0" bIns="0" rtlCol="0"/>
            <a:lstStyle/>
            <a:p>
              <a:endParaRPr/>
            </a:p>
          </p:txBody>
        </p:sp>
        <p:sp>
          <p:nvSpPr>
            <p:cNvPr id="64" name="object 67"/>
            <p:cNvSpPr txBox="1"/>
            <p:nvPr/>
          </p:nvSpPr>
          <p:spPr>
            <a:xfrm>
              <a:off x="9505951" y="4776647"/>
              <a:ext cx="958850" cy="298450"/>
            </a:xfrm>
            <a:prstGeom prst="rect">
              <a:avLst/>
            </a:prstGeom>
            <a:solidFill>
              <a:srgbClr val="ECEBEB"/>
            </a:solidFill>
            <a:ln w="12699">
              <a:solidFill>
                <a:srgbClr val="000000"/>
              </a:solidFill>
            </a:ln>
          </p:spPr>
          <p:txBody>
            <a:bodyPr vert="horz" wrap="square" lIns="0" tIns="96520" rIns="0" bIns="0" rtlCol="0">
              <a:spAutoFit/>
            </a:bodyPr>
            <a:lstStyle/>
            <a:p>
              <a:pPr marL="318770">
                <a:lnSpc>
                  <a:spcPts val="1590"/>
                </a:lnSpc>
                <a:spcBef>
                  <a:spcPts val="760"/>
                </a:spcBef>
              </a:pPr>
              <a:r>
                <a:rPr sz="1400" b="1" dirty="0">
                  <a:latin typeface="Microsoft JhengHei" panose="020B0604030504040204" charset="-120"/>
                  <a:cs typeface="Microsoft JhengHei" panose="020B0604030504040204" charset="-120"/>
                </a:rPr>
                <a:t>股东</a:t>
              </a:r>
              <a:endParaRPr sz="1400">
                <a:latin typeface="Microsoft JhengHei" panose="020B0604030504040204" charset="-120"/>
                <a:cs typeface="Microsoft JhengHei" panose="020B0604030504040204" charset="-120"/>
              </a:endParaRPr>
            </a:p>
          </p:txBody>
        </p:sp>
        <p:sp>
          <p:nvSpPr>
            <p:cNvPr id="65" name="object 68"/>
            <p:cNvSpPr txBox="1"/>
            <p:nvPr/>
          </p:nvSpPr>
          <p:spPr>
            <a:xfrm>
              <a:off x="9505951" y="5075098"/>
              <a:ext cx="958850" cy="669925"/>
            </a:xfrm>
            <a:prstGeom prst="rect">
              <a:avLst/>
            </a:prstGeom>
            <a:solidFill>
              <a:srgbClr val="ECEBEB"/>
            </a:solidFill>
            <a:ln w="12699">
              <a:solidFill>
                <a:srgbClr val="000000"/>
              </a:solidFill>
            </a:ln>
          </p:spPr>
          <p:txBody>
            <a:bodyPr vert="horz" wrap="square" lIns="0" tIns="6350" rIns="0" bIns="0" rtlCol="0">
              <a:spAutoFit/>
            </a:bodyPr>
            <a:lstStyle/>
            <a:p>
              <a:pPr>
                <a:lnSpc>
                  <a:spcPct val="100000"/>
                </a:lnSpc>
                <a:spcBef>
                  <a:spcPts val="50"/>
                </a:spcBef>
              </a:pPr>
              <a:endParaRPr sz="1700">
                <a:latin typeface="Times New Roman" panose="02020603050405020304"/>
                <a:cs typeface="Times New Roman" panose="02020603050405020304"/>
              </a:endParaRPr>
            </a:p>
            <a:p>
              <a:pPr marL="231775">
                <a:lnSpc>
                  <a:spcPts val="1600"/>
                </a:lnSpc>
                <a:spcBef>
                  <a:spcPts val="5"/>
                </a:spcBef>
              </a:pPr>
              <a:r>
                <a:rPr sz="1400" b="1" dirty="0">
                  <a:latin typeface="Microsoft JhengHei" panose="020B0604030504040204" charset="-120"/>
                  <a:cs typeface="Microsoft JhengHei" panose="020B0604030504040204" charset="-120"/>
                </a:rPr>
                <a:t>股份</a:t>
              </a:r>
              <a:endParaRPr sz="1400">
                <a:latin typeface="Microsoft JhengHei" panose="020B0604030504040204" charset="-120"/>
                <a:cs typeface="Microsoft JhengHei" panose="020B0604030504040204" charset="-120"/>
              </a:endParaRPr>
            </a:p>
            <a:p>
              <a:pPr marL="231775">
                <a:lnSpc>
                  <a:spcPts val="1600"/>
                </a:lnSpc>
              </a:pPr>
              <a:r>
                <a:rPr sz="1400" b="1" dirty="0">
                  <a:latin typeface="Times New Roman" panose="02020603050405020304"/>
                  <a:cs typeface="Times New Roman" panose="02020603050405020304"/>
                </a:rPr>
                <a:t>······</a:t>
              </a:r>
              <a:endParaRPr sz="1400">
                <a:latin typeface="Times New Roman" panose="02020603050405020304"/>
                <a:cs typeface="Times New Roman" panose="02020603050405020304"/>
              </a:endParaRPr>
            </a:p>
          </p:txBody>
        </p:sp>
        <p:sp>
          <p:nvSpPr>
            <p:cNvPr id="66" name="object 69"/>
            <p:cNvSpPr txBox="1"/>
            <p:nvPr/>
          </p:nvSpPr>
          <p:spPr>
            <a:xfrm>
              <a:off x="9505951" y="5745023"/>
              <a:ext cx="958850" cy="320675"/>
            </a:xfrm>
            <a:prstGeom prst="rect">
              <a:avLst/>
            </a:prstGeom>
            <a:solidFill>
              <a:srgbClr val="ECEBEB"/>
            </a:solidFill>
            <a:ln w="12699">
              <a:solidFill>
                <a:srgbClr val="000000"/>
              </a:solidFill>
            </a:ln>
          </p:spPr>
          <p:txBody>
            <a:bodyPr vert="horz" wrap="square" lIns="0" tIns="0" rIns="0" bIns="0" rtlCol="0">
              <a:spAutoFit/>
            </a:bodyPr>
            <a:lstStyle/>
            <a:p>
              <a:pPr marL="231775">
                <a:lnSpc>
                  <a:spcPts val="1630"/>
                </a:lnSpc>
              </a:pPr>
              <a:r>
                <a:rPr sz="1400" b="1" dirty="0">
                  <a:latin typeface="Times New Roman" panose="02020603050405020304"/>
                  <a:cs typeface="Times New Roman" panose="02020603050405020304"/>
                </a:rPr>
                <a:t>······</a:t>
              </a:r>
              <a:endParaRPr sz="1400">
                <a:latin typeface="Times New Roman" panose="02020603050405020304"/>
                <a:cs typeface="Times New Roman" panose="02020603050405020304"/>
              </a:endParaRPr>
            </a:p>
          </p:txBody>
        </p:sp>
        <p:sp>
          <p:nvSpPr>
            <p:cNvPr id="67" name="object 70"/>
            <p:cNvSpPr/>
            <p:nvPr/>
          </p:nvSpPr>
          <p:spPr>
            <a:xfrm>
              <a:off x="10989731" y="4776647"/>
              <a:ext cx="958850" cy="1289050"/>
            </a:xfrm>
            <a:custGeom>
              <a:avLst/>
              <a:gdLst/>
              <a:ahLst/>
              <a:cxnLst/>
              <a:rect l="l" t="t" r="r" b="b"/>
              <a:pathLst>
                <a:path w="958850" h="1289050">
                  <a:moveTo>
                    <a:pt x="0" y="0"/>
                  </a:moveTo>
                  <a:lnTo>
                    <a:pt x="958851" y="0"/>
                  </a:lnTo>
                  <a:lnTo>
                    <a:pt x="958851" y="1289050"/>
                  </a:lnTo>
                  <a:lnTo>
                    <a:pt x="0" y="1289050"/>
                  </a:lnTo>
                  <a:lnTo>
                    <a:pt x="0" y="0"/>
                  </a:lnTo>
                  <a:close/>
                </a:path>
              </a:pathLst>
            </a:custGeom>
            <a:solidFill>
              <a:srgbClr val="ECEBEB"/>
            </a:solidFill>
          </p:spPr>
          <p:txBody>
            <a:bodyPr wrap="square" lIns="0" tIns="0" rIns="0" bIns="0" rtlCol="0"/>
            <a:lstStyle/>
            <a:p>
              <a:endParaRPr/>
            </a:p>
          </p:txBody>
        </p:sp>
        <p:sp>
          <p:nvSpPr>
            <p:cNvPr id="68" name="object 71"/>
            <p:cNvSpPr/>
            <p:nvPr/>
          </p:nvSpPr>
          <p:spPr>
            <a:xfrm>
              <a:off x="10989731" y="4776647"/>
              <a:ext cx="958850" cy="1289050"/>
            </a:xfrm>
            <a:custGeom>
              <a:avLst/>
              <a:gdLst/>
              <a:ahLst/>
              <a:cxnLst/>
              <a:rect l="l" t="t" r="r" b="b"/>
              <a:pathLst>
                <a:path w="958850" h="1289050">
                  <a:moveTo>
                    <a:pt x="0" y="0"/>
                  </a:moveTo>
                  <a:lnTo>
                    <a:pt x="958850" y="0"/>
                  </a:lnTo>
                  <a:lnTo>
                    <a:pt x="958850" y="1289049"/>
                  </a:lnTo>
                  <a:lnTo>
                    <a:pt x="0" y="1289049"/>
                  </a:lnTo>
                  <a:lnTo>
                    <a:pt x="0" y="0"/>
                  </a:lnTo>
                  <a:close/>
                </a:path>
              </a:pathLst>
            </a:custGeom>
            <a:ln w="12699">
              <a:solidFill>
                <a:srgbClr val="000000"/>
              </a:solidFill>
            </a:ln>
          </p:spPr>
          <p:txBody>
            <a:bodyPr wrap="square" lIns="0" tIns="0" rIns="0" bIns="0" rtlCol="0"/>
            <a:lstStyle/>
            <a:p>
              <a:endParaRPr/>
            </a:p>
          </p:txBody>
        </p:sp>
        <p:sp>
          <p:nvSpPr>
            <p:cNvPr id="69" name="object 72"/>
            <p:cNvSpPr txBox="1"/>
            <p:nvPr/>
          </p:nvSpPr>
          <p:spPr>
            <a:xfrm>
              <a:off x="10989731" y="4776647"/>
              <a:ext cx="958850" cy="298450"/>
            </a:xfrm>
            <a:prstGeom prst="rect">
              <a:avLst/>
            </a:prstGeom>
            <a:solidFill>
              <a:srgbClr val="ECEBEB"/>
            </a:solidFill>
            <a:ln w="12699">
              <a:solidFill>
                <a:srgbClr val="000000"/>
              </a:solidFill>
            </a:ln>
          </p:spPr>
          <p:txBody>
            <a:bodyPr vert="horz" wrap="square" lIns="0" tIns="96520" rIns="0" bIns="0" rtlCol="0">
              <a:spAutoFit/>
            </a:bodyPr>
            <a:lstStyle/>
            <a:p>
              <a:pPr marL="263525">
                <a:lnSpc>
                  <a:spcPts val="1590"/>
                </a:lnSpc>
                <a:spcBef>
                  <a:spcPts val="760"/>
                </a:spcBef>
              </a:pPr>
              <a:r>
                <a:rPr sz="1400" b="1" dirty="0">
                  <a:latin typeface="Microsoft JhengHei" panose="020B0604030504040204" charset="-120"/>
                  <a:cs typeface="Microsoft JhengHei" panose="020B0604030504040204" charset="-120"/>
                </a:rPr>
                <a:t>职员</a:t>
              </a:r>
              <a:endParaRPr sz="1400">
                <a:latin typeface="Microsoft JhengHei" panose="020B0604030504040204" charset="-120"/>
                <a:cs typeface="Microsoft JhengHei" panose="020B0604030504040204" charset="-120"/>
              </a:endParaRPr>
            </a:p>
          </p:txBody>
        </p:sp>
        <p:sp>
          <p:nvSpPr>
            <p:cNvPr id="70" name="object 73"/>
            <p:cNvSpPr txBox="1"/>
            <p:nvPr/>
          </p:nvSpPr>
          <p:spPr>
            <a:xfrm>
              <a:off x="10989731" y="5075099"/>
              <a:ext cx="958850" cy="836239"/>
            </a:xfrm>
            <a:prstGeom prst="rect">
              <a:avLst/>
            </a:prstGeom>
            <a:solidFill>
              <a:srgbClr val="ECEBEB"/>
            </a:solidFill>
            <a:ln w="12699">
              <a:solidFill>
                <a:srgbClr val="000000"/>
              </a:solidFill>
            </a:ln>
          </p:spPr>
          <p:txBody>
            <a:bodyPr vert="horz" wrap="square" lIns="0" tIns="6350" rIns="0" bIns="0" rtlCol="0">
              <a:spAutoFit/>
            </a:bodyPr>
            <a:lstStyle/>
            <a:p>
              <a:pPr>
                <a:lnSpc>
                  <a:spcPct val="100000"/>
                </a:lnSpc>
                <a:spcBef>
                  <a:spcPts val="50"/>
                </a:spcBef>
              </a:pPr>
              <a:endParaRPr sz="1700" dirty="0">
                <a:latin typeface="Times New Roman" panose="02020603050405020304"/>
                <a:cs typeface="Times New Roman" panose="02020603050405020304"/>
              </a:endParaRPr>
            </a:p>
            <a:p>
              <a:pPr marL="177165">
                <a:lnSpc>
                  <a:spcPts val="1600"/>
                </a:lnSpc>
                <a:spcBef>
                  <a:spcPts val="5"/>
                </a:spcBef>
              </a:pPr>
              <a:r>
                <a:rPr sz="1400" b="1" spc="-470" dirty="0">
                  <a:latin typeface="Microsoft JhengHei" panose="020B0604030504040204" charset="-120"/>
                  <a:cs typeface="Microsoft JhengHei" panose="020B0604030504040204" charset="-120"/>
                </a:rPr>
                <a:t>⼯</a:t>
              </a:r>
              <a:r>
                <a:rPr lang="en-US" altLang="zh-CN" sz="1400" b="1" spc="-470" dirty="0">
                  <a:latin typeface="Microsoft JhengHei" panose="020B0604030504040204" charset="-120"/>
                  <a:cs typeface="Microsoft JhengHei" panose="020B0604030504040204" charset="-120"/>
                </a:rPr>
                <a:t>  </a:t>
              </a:r>
              <a:r>
                <a:rPr sz="1400" b="1" spc="-470" dirty="0">
                  <a:latin typeface="Microsoft JhengHei" panose="020B0604030504040204" charset="-120"/>
                  <a:cs typeface="Microsoft JhengHei" panose="020B0604030504040204" charset="-120"/>
                </a:rPr>
                <a:t>资</a:t>
              </a:r>
              <a:r>
                <a:rPr lang="en-US" altLang="zh-CN" sz="1400" b="1" spc="-470" dirty="0">
                  <a:latin typeface="Microsoft JhengHei" panose="020B0604030504040204" charset="-120"/>
                  <a:cs typeface="Microsoft JhengHei" panose="020B0604030504040204" charset="-120"/>
                </a:rPr>
                <a:t> </a:t>
              </a:r>
              <a:endParaRPr sz="1400" dirty="0">
                <a:latin typeface="Microsoft JhengHei" panose="020B0604030504040204" charset="-120"/>
                <a:cs typeface="Microsoft JhengHei" panose="020B0604030504040204" charset="-120"/>
              </a:endParaRPr>
            </a:p>
            <a:p>
              <a:pPr marL="177165">
                <a:lnSpc>
                  <a:spcPts val="1600"/>
                </a:lnSpc>
              </a:pPr>
              <a:r>
                <a:rPr sz="1400" b="1" dirty="0">
                  <a:latin typeface="Times New Roman" panose="02020603050405020304"/>
                  <a:cs typeface="Times New Roman" panose="02020603050405020304"/>
                </a:rPr>
                <a:t>······</a:t>
              </a:r>
              <a:endParaRPr sz="1400" dirty="0">
                <a:latin typeface="Times New Roman" panose="02020603050405020304"/>
                <a:cs typeface="Times New Roman" panose="02020603050405020304"/>
              </a:endParaRPr>
            </a:p>
          </p:txBody>
        </p:sp>
        <p:sp>
          <p:nvSpPr>
            <p:cNvPr id="71" name="object 74"/>
            <p:cNvSpPr txBox="1"/>
            <p:nvPr/>
          </p:nvSpPr>
          <p:spPr>
            <a:xfrm>
              <a:off x="10989731" y="5745023"/>
              <a:ext cx="958850" cy="320675"/>
            </a:xfrm>
            <a:prstGeom prst="rect">
              <a:avLst/>
            </a:prstGeom>
            <a:ln w="12699">
              <a:solidFill>
                <a:srgbClr val="000000"/>
              </a:solidFill>
            </a:ln>
          </p:spPr>
          <p:txBody>
            <a:bodyPr vert="horz" wrap="square" lIns="0" tIns="0" rIns="0" bIns="0" rtlCol="0">
              <a:spAutoFit/>
            </a:bodyPr>
            <a:lstStyle/>
            <a:p>
              <a:pPr marL="226060">
                <a:lnSpc>
                  <a:spcPts val="1630"/>
                </a:lnSpc>
              </a:pPr>
              <a:r>
                <a:rPr sz="1400" b="1" dirty="0">
                  <a:latin typeface="Times New Roman" panose="02020603050405020304"/>
                  <a:cs typeface="Times New Roman" panose="02020603050405020304"/>
                </a:rPr>
                <a:t>······</a:t>
              </a:r>
              <a:endParaRPr sz="1400">
                <a:latin typeface="Times New Roman" panose="02020603050405020304"/>
                <a:cs typeface="Times New Roman" panose="02020603050405020304"/>
              </a:endParaRPr>
            </a:p>
          </p:txBody>
        </p:sp>
        <p:sp>
          <p:nvSpPr>
            <p:cNvPr id="72" name="object 75"/>
            <p:cNvSpPr txBox="1"/>
            <p:nvPr/>
          </p:nvSpPr>
          <p:spPr>
            <a:xfrm>
              <a:off x="7065433" y="3030397"/>
              <a:ext cx="1033144" cy="292100"/>
            </a:xfrm>
            <a:prstGeom prst="rect">
              <a:avLst/>
            </a:prstGeom>
            <a:solidFill>
              <a:srgbClr val="ECEBEB"/>
            </a:solidFill>
            <a:ln w="12699">
              <a:solidFill>
                <a:srgbClr val="000000"/>
              </a:solidFill>
            </a:ln>
          </p:spPr>
          <p:txBody>
            <a:bodyPr vert="horz" wrap="square" lIns="0" tIns="38100" rIns="0" bIns="0" rtlCol="0">
              <a:spAutoFit/>
            </a:bodyPr>
            <a:lstStyle/>
            <a:p>
              <a:pPr marL="69215" algn="ctr">
                <a:lnSpc>
                  <a:spcPct val="100000"/>
                </a:lnSpc>
                <a:spcBef>
                  <a:spcPts val="300"/>
                </a:spcBef>
              </a:pPr>
              <a:r>
                <a:rPr sz="1400" b="1" dirty="0">
                  <a:latin typeface="Arial" panose="020B0604020202020204"/>
                  <a:cs typeface="Arial" panose="020B0604020202020204"/>
                </a:rPr>
                <a:t>?</a:t>
              </a:r>
              <a:endParaRPr sz="1400">
                <a:latin typeface="Arial" panose="020B0604020202020204"/>
                <a:cs typeface="Arial" panose="020B0604020202020204"/>
              </a:endParaRPr>
            </a:p>
          </p:txBody>
        </p:sp>
        <p:sp>
          <p:nvSpPr>
            <p:cNvPr id="73" name="object 76"/>
            <p:cNvSpPr/>
            <p:nvPr/>
          </p:nvSpPr>
          <p:spPr>
            <a:xfrm>
              <a:off x="6178550" y="3671747"/>
              <a:ext cx="2703830" cy="1783714"/>
            </a:xfrm>
            <a:custGeom>
              <a:avLst/>
              <a:gdLst/>
              <a:ahLst/>
              <a:cxnLst/>
              <a:rect l="l" t="t" r="r" b="b"/>
              <a:pathLst>
                <a:path w="2703829" h="1783714">
                  <a:moveTo>
                    <a:pt x="1426866" y="115042"/>
                  </a:moveTo>
                  <a:lnTo>
                    <a:pt x="1276668" y="115042"/>
                  </a:lnTo>
                  <a:lnTo>
                    <a:pt x="1126473" y="1322983"/>
                  </a:lnTo>
                  <a:lnTo>
                    <a:pt x="976276" y="1438026"/>
                  </a:lnTo>
                  <a:lnTo>
                    <a:pt x="0" y="1438026"/>
                  </a:lnTo>
                  <a:lnTo>
                    <a:pt x="150196" y="1610588"/>
                  </a:lnTo>
                  <a:lnTo>
                    <a:pt x="0" y="1783151"/>
                  </a:lnTo>
                  <a:lnTo>
                    <a:pt x="1051375" y="1783151"/>
                  </a:lnTo>
                  <a:lnTo>
                    <a:pt x="1276668" y="1553067"/>
                  </a:lnTo>
                  <a:lnTo>
                    <a:pt x="1351767" y="1380505"/>
                  </a:lnTo>
                  <a:lnTo>
                    <a:pt x="1652161" y="1380505"/>
                  </a:lnTo>
                  <a:lnTo>
                    <a:pt x="1577063" y="1322983"/>
                  </a:lnTo>
                  <a:lnTo>
                    <a:pt x="1426866" y="115042"/>
                  </a:lnTo>
                  <a:close/>
                </a:path>
                <a:path w="2703829" h="1783714">
                  <a:moveTo>
                    <a:pt x="1652161" y="1380505"/>
                  </a:moveTo>
                  <a:lnTo>
                    <a:pt x="1351767" y="1380505"/>
                  </a:lnTo>
                  <a:lnTo>
                    <a:pt x="1426866" y="1553067"/>
                  </a:lnTo>
                  <a:lnTo>
                    <a:pt x="1652160" y="1783151"/>
                  </a:lnTo>
                  <a:lnTo>
                    <a:pt x="2703535" y="1783151"/>
                  </a:lnTo>
                  <a:lnTo>
                    <a:pt x="2553338" y="1610588"/>
                  </a:lnTo>
                  <a:lnTo>
                    <a:pt x="2703535" y="1438026"/>
                  </a:lnTo>
                  <a:lnTo>
                    <a:pt x="1727258" y="1438026"/>
                  </a:lnTo>
                  <a:lnTo>
                    <a:pt x="1652161" y="1380505"/>
                  </a:lnTo>
                  <a:close/>
                </a:path>
                <a:path w="2703829" h="1783714">
                  <a:moveTo>
                    <a:pt x="1351767" y="0"/>
                  </a:moveTo>
                  <a:lnTo>
                    <a:pt x="1126473" y="172563"/>
                  </a:lnTo>
                  <a:lnTo>
                    <a:pt x="1276668" y="115042"/>
                  </a:lnTo>
                  <a:lnTo>
                    <a:pt x="1501965" y="115042"/>
                  </a:lnTo>
                  <a:lnTo>
                    <a:pt x="1351767" y="0"/>
                  </a:lnTo>
                  <a:close/>
                </a:path>
                <a:path w="2703829" h="1783714">
                  <a:moveTo>
                    <a:pt x="1501965" y="115042"/>
                  </a:moveTo>
                  <a:lnTo>
                    <a:pt x="1426866" y="115042"/>
                  </a:lnTo>
                  <a:lnTo>
                    <a:pt x="1577063" y="172563"/>
                  </a:lnTo>
                  <a:lnTo>
                    <a:pt x="1501965" y="115042"/>
                  </a:lnTo>
                  <a:close/>
                </a:path>
              </a:pathLst>
            </a:custGeom>
            <a:solidFill>
              <a:srgbClr val="0079CD">
                <a:alpha val="21179"/>
              </a:srgbClr>
            </a:solidFill>
          </p:spPr>
          <p:txBody>
            <a:bodyPr wrap="square" lIns="0" tIns="0" rIns="0" bIns="0" rtlCol="0"/>
            <a:lstStyle/>
            <a:p>
              <a:endParaRPr/>
            </a:p>
          </p:txBody>
        </p:sp>
        <p:sp>
          <p:nvSpPr>
            <p:cNvPr id="74" name="object 77"/>
            <p:cNvSpPr/>
            <p:nvPr/>
          </p:nvSpPr>
          <p:spPr>
            <a:xfrm>
              <a:off x="6178550" y="3671747"/>
              <a:ext cx="2703830" cy="1783714"/>
            </a:xfrm>
            <a:custGeom>
              <a:avLst/>
              <a:gdLst/>
              <a:ahLst/>
              <a:cxnLst/>
              <a:rect l="l" t="t" r="r" b="b"/>
              <a:pathLst>
                <a:path w="2703829" h="1783714">
                  <a:moveTo>
                    <a:pt x="1126472" y="172563"/>
                  </a:moveTo>
                  <a:lnTo>
                    <a:pt x="1351767" y="0"/>
                  </a:lnTo>
                  <a:lnTo>
                    <a:pt x="1577061" y="172563"/>
                  </a:lnTo>
                  <a:lnTo>
                    <a:pt x="1426865" y="115042"/>
                  </a:lnTo>
                  <a:lnTo>
                    <a:pt x="1577061" y="1322982"/>
                  </a:lnTo>
                  <a:lnTo>
                    <a:pt x="1727258" y="1438024"/>
                  </a:lnTo>
                  <a:lnTo>
                    <a:pt x="2703535" y="1438024"/>
                  </a:lnTo>
                  <a:lnTo>
                    <a:pt x="2553337" y="1610587"/>
                  </a:lnTo>
                  <a:lnTo>
                    <a:pt x="2703535" y="1783151"/>
                  </a:lnTo>
                  <a:lnTo>
                    <a:pt x="1652159" y="1783151"/>
                  </a:lnTo>
                  <a:lnTo>
                    <a:pt x="1426865" y="1553067"/>
                  </a:lnTo>
                  <a:lnTo>
                    <a:pt x="1351767" y="1380503"/>
                  </a:lnTo>
                  <a:lnTo>
                    <a:pt x="1276668" y="1553067"/>
                  </a:lnTo>
                  <a:lnTo>
                    <a:pt x="1051374" y="1783151"/>
                  </a:lnTo>
                  <a:lnTo>
                    <a:pt x="0" y="1783151"/>
                  </a:lnTo>
                  <a:lnTo>
                    <a:pt x="150196" y="1610587"/>
                  </a:lnTo>
                  <a:lnTo>
                    <a:pt x="0" y="1438024"/>
                  </a:lnTo>
                  <a:lnTo>
                    <a:pt x="976276" y="1438024"/>
                  </a:lnTo>
                  <a:lnTo>
                    <a:pt x="1126472" y="1322982"/>
                  </a:lnTo>
                  <a:lnTo>
                    <a:pt x="1276668" y="115042"/>
                  </a:lnTo>
                  <a:lnTo>
                    <a:pt x="1126472" y="172563"/>
                  </a:lnTo>
                </a:path>
              </a:pathLst>
            </a:custGeom>
            <a:ln w="12699">
              <a:solidFill>
                <a:srgbClr val="FF2600"/>
              </a:solidFill>
              <a:prstDash val="dot"/>
            </a:ln>
          </p:spPr>
          <p:txBody>
            <a:bodyPr wrap="square" lIns="0" tIns="0" rIns="0" bIns="0" rtlCol="0"/>
            <a:lstStyle/>
            <a:p>
              <a:endParaRPr/>
            </a:p>
          </p:txBody>
        </p:sp>
        <p:sp>
          <p:nvSpPr>
            <p:cNvPr id="75" name="object 78"/>
            <p:cNvSpPr/>
            <p:nvPr/>
          </p:nvSpPr>
          <p:spPr>
            <a:xfrm>
              <a:off x="9069915" y="3030397"/>
              <a:ext cx="0" cy="3035300"/>
            </a:xfrm>
            <a:custGeom>
              <a:avLst/>
              <a:gdLst/>
              <a:ahLst/>
              <a:cxnLst/>
              <a:rect l="l" t="t" r="r" b="b"/>
              <a:pathLst>
                <a:path h="3035300">
                  <a:moveTo>
                    <a:pt x="0" y="0"/>
                  </a:moveTo>
                  <a:lnTo>
                    <a:pt x="0" y="3035299"/>
                  </a:lnTo>
                </a:path>
              </a:pathLst>
            </a:custGeom>
            <a:ln w="9524">
              <a:solidFill>
                <a:srgbClr val="000000"/>
              </a:solidFill>
            </a:ln>
          </p:spPr>
          <p:txBody>
            <a:bodyPr wrap="square" lIns="0" tIns="0" rIns="0" bIns="0" rtlCol="0"/>
            <a:lstStyle/>
            <a:p>
              <a:endParaRPr/>
            </a:p>
          </p:txBody>
        </p:sp>
        <p:sp>
          <p:nvSpPr>
            <p:cNvPr id="76" name="object 79"/>
            <p:cNvSpPr/>
            <p:nvPr/>
          </p:nvSpPr>
          <p:spPr>
            <a:xfrm>
              <a:off x="8902698" y="3709847"/>
              <a:ext cx="421640" cy="139700"/>
            </a:xfrm>
            <a:custGeom>
              <a:avLst/>
              <a:gdLst/>
              <a:ahLst/>
              <a:cxnLst/>
              <a:rect l="l" t="t" r="r" b="b"/>
              <a:pathLst>
                <a:path w="421640" h="139700">
                  <a:moveTo>
                    <a:pt x="263246" y="0"/>
                  </a:moveTo>
                  <a:lnTo>
                    <a:pt x="263246" y="34924"/>
                  </a:lnTo>
                  <a:lnTo>
                    <a:pt x="0" y="34924"/>
                  </a:lnTo>
                  <a:lnTo>
                    <a:pt x="0" y="104774"/>
                  </a:lnTo>
                  <a:lnTo>
                    <a:pt x="263246" y="104774"/>
                  </a:lnTo>
                  <a:lnTo>
                    <a:pt x="263246" y="139699"/>
                  </a:lnTo>
                  <a:lnTo>
                    <a:pt x="421217" y="69849"/>
                  </a:lnTo>
                  <a:lnTo>
                    <a:pt x="263246" y="0"/>
                  </a:lnTo>
                  <a:close/>
                </a:path>
              </a:pathLst>
            </a:custGeom>
            <a:solidFill>
              <a:srgbClr val="78ACFF"/>
            </a:solidFill>
          </p:spPr>
          <p:txBody>
            <a:bodyPr wrap="square" lIns="0" tIns="0" rIns="0" bIns="0" rtlCol="0"/>
            <a:lstStyle/>
            <a:p>
              <a:endParaRPr/>
            </a:p>
          </p:txBody>
        </p:sp>
        <p:sp>
          <p:nvSpPr>
            <p:cNvPr id="77" name="object 80"/>
            <p:cNvSpPr/>
            <p:nvPr/>
          </p:nvSpPr>
          <p:spPr>
            <a:xfrm>
              <a:off x="8902698" y="3709847"/>
              <a:ext cx="421640" cy="139700"/>
            </a:xfrm>
            <a:custGeom>
              <a:avLst/>
              <a:gdLst/>
              <a:ahLst/>
              <a:cxnLst/>
              <a:rect l="l" t="t" r="r" b="b"/>
              <a:pathLst>
                <a:path w="421640" h="139700">
                  <a:moveTo>
                    <a:pt x="0" y="34924"/>
                  </a:moveTo>
                  <a:lnTo>
                    <a:pt x="263245" y="34924"/>
                  </a:lnTo>
                  <a:lnTo>
                    <a:pt x="263245" y="0"/>
                  </a:lnTo>
                  <a:lnTo>
                    <a:pt x="421216" y="69849"/>
                  </a:lnTo>
                  <a:lnTo>
                    <a:pt x="263245" y="139700"/>
                  </a:lnTo>
                  <a:lnTo>
                    <a:pt x="263245" y="104774"/>
                  </a:lnTo>
                  <a:lnTo>
                    <a:pt x="0" y="104774"/>
                  </a:lnTo>
                  <a:lnTo>
                    <a:pt x="0" y="34924"/>
                  </a:lnTo>
                  <a:close/>
                </a:path>
              </a:pathLst>
            </a:custGeom>
            <a:ln w="12699">
              <a:solidFill>
                <a:srgbClr val="000000"/>
              </a:solidFill>
            </a:ln>
          </p:spPr>
          <p:txBody>
            <a:bodyPr wrap="square" lIns="0" tIns="0" rIns="0" bIns="0" rtlCol="0"/>
            <a:lstStyle/>
            <a:p>
              <a:endParaRPr/>
            </a:p>
          </p:txBody>
        </p:sp>
        <p:sp>
          <p:nvSpPr>
            <p:cNvPr id="78" name="object 81"/>
            <p:cNvSpPr/>
            <p:nvPr/>
          </p:nvSpPr>
          <p:spPr>
            <a:xfrm>
              <a:off x="10464798" y="4548047"/>
              <a:ext cx="525145" cy="146050"/>
            </a:xfrm>
            <a:custGeom>
              <a:avLst/>
              <a:gdLst/>
              <a:ahLst/>
              <a:cxnLst/>
              <a:rect l="l" t="t" r="r" b="b"/>
              <a:pathLst>
                <a:path w="525145" h="146050">
                  <a:moveTo>
                    <a:pt x="0" y="0"/>
                  </a:moveTo>
                  <a:lnTo>
                    <a:pt x="524932" y="0"/>
                  </a:lnTo>
                  <a:lnTo>
                    <a:pt x="524932" y="146049"/>
                  </a:lnTo>
                  <a:lnTo>
                    <a:pt x="0" y="146049"/>
                  </a:lnTo>
                  <a:lnTo>
                    <a:pt x="0" y="0"/>
                  </a:lnTo>
                  <a:close/>
                </a:path>
              </a:pathLst>
            </a:custGeom>
            <a:solidFill>
              <a:srgbClr val="A6FBA9"/>
            </a:solidFill>
          </p:spPr>
          <p:txBody>
            <a:bodyPr wrap="square" lIns="0" tIns="0" rIns="0" bIns="0" rtlCol="0"/>
            <a:lstStyle/>
            <a:p>
              <a:endParaRPr/>
            </a:p>
          </p:txBody>
        </p:sp>
        <p:sp>
          <p:nvSpPr>
            <p:cNvPr id="79" name="object 82"/>
            <p:cNvSpPr/>
            <p:nvPr/>
          </p:nvSpPr>
          <p:spPr>
            <a:xfrm>
              <a:off x="10028765" y="4541699"/>
              <a:ext cx="1395730" cy="228600"/>
            </a:xfrm>
            <a:custGeom>
              <a:avLst/>
              <a:gdLst/>
              <a:ahLst/>
              <a:cxnLst/>
              <a:rect l="l" t="t" r="r" b="b"/>
              <a:pathLst>
                <a:path w="1395729" h="228600">
                  <a:moveTo>
                    <a:pt x="0" y="228599"/>
                  </a:moveTo>
                  <a:lnTo>
                    <a:pt x="0" y="0"/>
                  </a:lnTo>
                  <a:lnTo>
                    <a:pt x="1395384" y="0"/>
                  </a:lnTo>
                  <a:lnTo>
                    <a:pt x="1395384" y="228599"/>
                  </a:lnTo>
                </a:path>
              </a:pathLst>
            </a:custGeom>
            <a:ln w="12699">
              <a:solidFill>
                <a:srgbClr val="000000"/>
              </a:solidFill>
            </a:ln>
          </p:spPr>
          <p:txBody>
            <a:bodyPr wrap="square" lIns="0" tIns="0" rIns="0" bIns="0" rtlCol="0"/>
            <a:lstStyle/>
            <a:p>
              <a:endParaRPr/>
            </a:p>
          </p:txBody>
        </p:sp>
        <p:sp>
          <p:nvSpPr>
            <p:cNvPr id="80" name="object 83"/>
            <p:cNvSpPr/>
            <p:nvPr/>
          </p:nvSpPr>
          <p:spPr>
            <a:xfrm>
              <a:off x="3987800" y="4391193"/>
              <a:ext cx="139700" cy="550545"/>
            </a:xfrm>
            <a:custGeom>
              <a:avLst/>
              <a:gdLst/>
              <a:ahLst/>
              <a:cxnLst/>
              <a:rect l="l" t="t" r="r" b="b"/>
              <a:pathLst>
                <a:path w="139700" h="550545">
                  <a:moveTo>
                    <a:pt x="69850" y="0"/>
                  </a:moveTo>
                  <a:lnTo>
                    <a:pt x="0" y="550247"/>
                  </a:lnTo>
                  <a:lnTo>
                    <a:pt x="139700" y="550247"/>
                  </a:lnTo>
                  <a:lnTo>
                    <a:pt x="69850" y="0"/>
                  </a:lnTo>
                  <a:close/>
                </a:path>
              </a:pathLst>
            </a:custGeom>
            <a:solidFill>
              <a:srgbClr val="ABE14B"/>
            </a:solidFill>
          </p:spPr>
          <p:txBody>
            <a:bodyPr wrap="square" lIns="0" tIns="0" rIns="0" bIns="0" rtlCol="0"/>
            <a:lstStyle/>
            <a:p>
              <a:endParaRPr/>
            </a:p>
          </p:txBody>
        </p:sp>
        <p:sp>
          <p:nvSpPr>
            <p:cNvPr id="81" name="object 84"/>
            <p:cNvSpPr/>
            <p:nvPr/>
          </p:nvSpPr>
          <p:spPr>
            <a:xfrm>
              <a:off x="3987800" y="4391193"/>
              <a:ext cx="139700" cy="550545"/>
            </a:xfrm>
            <a:custGeom>
              <a:avLst/>
              <a:gdLst/>
              <a:ahLst/>
              <a:cxnLst/>
              <a:rect l="l" t="t" r="r" b="b"/>
              <a:pathLst>
                <a:path w="139700" h="550545">
                  <a:moveTo>
                    <a:pt x="0" y="550246"/>
                  </a:moveTo>
                  <a:lnTo>
                    <a:pt x="69849" y="0"/>
                  </a:lnTo>
                  <a:lnTo>
                    <a:pt x="139699" y="550246"/>
                  </a:lnTo>
                  <a:lnTo>
                    <a:pt x="0" y="550246"/>
                  </a:lnTo>
                  <a:close/>
                </a:path>
              </a:pathLst>
            </a:custGeom>
            <a:ln w="9524">
              <a:solidFill>
                <a:srgbClr val="000000"/>
              </a:solidFill>
            </a:ln>
          </p:spPr>
          <p:txBody>
            <a:bodyPr wrap="square" lIns="0" tIns="0" rIns="0" bIns="0" rtlCol="0"/>
            <a:lstStyle/>
            <a:p>
              <a:endParaRPr/>
            </a:p>
          </p:txBody>
        </p:sp>
        <p:sp>
          <p:nvSpPr>
            <p:cNvPr id="82" name="object 85"/>
            <p:cNvSpPr/>
            <p:nvPr/>
          </p:nvSpPr>
          <p:spPr>
            <a:xfrm>
              <a:off x="4064000" y="4749660"/>
              <a:ext cx="0" cy="95250"/>
            </a:xfrm>
            <a:custGeom>
              <a:avLst/>
              <a:gdLst/>
              <a:ahLst/>
              <a:cxnLst/>
              <a:rect l="l" t="t" r="r" b="b"/>
              <a:pathLst>
                <a:path h="95250">
                  <a:moveTo>
                    <a:pt x="0" y="0"/>
                  </a:moveTo>
                  <a:lnTo>
                    <a:pt x="1" y="95249"/>
                  </a:lnTo>
                </a:path>
              </a:pathLst>
            </a:custGeom>
            <a:ln w="9524">
              <a:solidFill>
                <a:srgbClr val="000000"/>
              </a:solidFill>
            </a:ln>
          </p:spPr>
          <p:txBody>
            <a:bodyPr wrap="square" lIns="0" tIns="0" rIns="0" bIns="0" rtlCol="0"/>
            <a:lstStyle/>
            <a:p>
              <a:endParaRPr/>
            </a:p>
          </p:txBody>
        </p:sp>
        <p:sp>
          <p:nvSpPr>
            <p:cNvPr id="83" name="object 86"/>
            <p:cNvSpPr/>
            <p:nvPr/>
          </p:nvSpPr>
          <p:spPr>
            <a:xfrm>
              <a:off x="10642600" y="4029243"/>
              <a:ext cx="139700" cy="550545"/>
            </a:xfrm>
            <a:custGeom>
              <a:avLst/>
              <a:gdLst/>
              <a:ahLst/>
              <a:cxnLst/>
              <a:rect l="l" t="t" r="r" b="b"/>
              <a:pathLst>
                <a:path w="139700" h="550545">
                  <a:moveTo>
                    <a:pt x="69850" y="0"/>
                  </a:moveTo>
                  <a:lnTo>
                    <a:pt x="0" y="550246"/>
                  </a:lnTo>
                  <a:lnTo>
                    <a:pt x="139700" y="550246"/>
                  </a:lnTo>
                  <a:lnTo>
                    <a:pt x="69850" y="0"/>
                  </a:lnTo>
                  <a:close/>
                </a:path>
              </a:pathLst>
            </a:custGeom>
            <a:solidFill>
              <a:srgbClr val="ABE14B"/>
            </a:solidFill>
          </p:spPr>
          <p:txBody>
            <a:bodyPr wrap="square" lIns="0" tIns="0" rIns="0" bIns="0" rtlCol="0"/>
            <a:lstStyle/>
            <a:p>
              <a:endParaRPr/>
            </a:p>
          </p:txBody>
        </p:sp>
        <p:sp>
          <p:nvSpPr>
            <p:cNvPr id="84" name="object 87"/>
            <p:cNvSpPr/>
            <p:nvPr/>
          </p:nvSpPr>
          <p:spPr>
            <a:xfrm>
              <a:off x="10642600" y="4029243"/>
              <a:ext cx="139700" cy="550545"/>
            </a:xfrm>
            <a:custGeom>
              <a:avLst/>
              <a:gdLst/>
              <a:ahLst/>
              <a:cxnLst/>
              <a:rect l="l" t="t" r="r" b="b"/>
              <a:pathLst>
                <a:path w="139700" h="550545">
                  <a:moveTo>
                    <a:pt x="0" y="550246"/>
                  </a:moveTo>
                  <a:lnTo>
                    <a:pt x="69849" y="0"/>
                  </a:lnTo>
                  <a:lnTo>
                    <a:pt x="139700" y="550246"/>
                  </a:lnTo>
                  <a:lnTo>
                    <a:pt x="0" y="550246"/>
                  </a:lnTo>
                  <a:close/>
                </a:path>
              </a:pathLst>
            </a:custGeom>
            <a:ln w="9524">
              <a:solidFill>
                <a:srgbClr val="000000"/>
              </a:solidFill>
            </a:ln>
          </p:spPr>
          <p:txBody>
            <a:bodyPr wrap="square" lIns="0" tIns="0" rIns="0" bIns="0" rtlCol="0"/>
            <a:lstStyle/>
            <a:p>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800000"/>
                </a:solidFill>
              </a:rPr>
              <a:t>自顶向下</a:t>
            </a:r>
            <a:r>
              <a:rPr lang="zh-CN" altLang="en-US" dirty="0"/>
              <a:t>定义继承关系</a:t>
            </a:r>
          </a:p>
        </p:txBody>
      </p:sp>
      <p:sp>
        <p:nvSpPr>
          <p:cNvPr id="4" name="灯片编号占位符 3"/>
          <p:cNvSpPr>
            <a:spLocks noGrp="1"/>
          </p:cNvSpPr>
          <p:nvPr>
            <p:ph type="sldNum" sz="quarter" idx="12"/>
          </p:nvPr>
        </p:nvSpPr>
        <p:spPr/>
        <p:txBody>
          <a:bodyPr/>
          <a:lstStyle/>
          <a:p>
            <a:fld id="{74D2AB8B-5816-41F2-8B4B-CA5C3E4E6A65}" type="slidenum">
              <a:rPr lang="zh-CN" altLang="en-US" smtClean="0"/>
              <a:t>27</a:t>
            </a:fld>
            <a:endParaRPr lang="zh-CN" altLang="en-US"/>
          </a:p>
        </p:txBody>
      </p:sp>
      <p:grpSp>
        <p:nvGrpSpPr>
          <p:cNvPr id="5" name="组合 4"/>
          <p:cNvGrpSpPr/>
          <p:nvPr/>
        </p:nvGrpSpPr>
        <p:grpSpPr>
          <a:xfrm>
            <a:off x="1098184" y="1564563"/>
            <a:ext cx="9995632" cy="4594615"/>
            <a:chOff x="911422" y="1196751"/>
            <a:chExt cx="10061672" cy="5088552"/>
          </a:xfrm>
        </p:grpSpPr>
        <p:sp>
          <p:nvSpPr>
            <p:cNvPr id="6" name="object 6"/>
            <p:cNvSpPr/>
            <p:nvPr/>
          </p:nvSpPr>
          <p:spPr>
            <a:xfrm>
              <a:off x="4443153" y="1196751"/>
              <a:ext cx="2764790" cy="709930"/>
            </a:xfrm>
            <a:custGeom>
              <a:avLst/>
              <a:gdLst/>
              <a:ahLst/>
              <a:cxnLst/>
              <a:rect l="l" t="t" r="r" b="b"/>
              <a:pathLst>
                <a:path w="2764790" h="709930">
                  <a:moveTo>
                    <a:pt x="0" y="0"/>
                  </a:moveTo>
                  <a:lnTo>
                    <a:pt x="2764493" y="0"/>
                  </a:lnTo>
                  <a:lnTo>
                    <a:pt x="2764493" y="709538"/>
                  </a:lnTo>
                  <a:lnTo>
                    <a:pt x="0" y="709538"/>
                  </a:lnTo>
                  <a:lnTo>
                    <a:pt x="0" y="0"/>
                  </a:lnTo>
                  <a:close/>
                </a:path>
              </a:pathLst>
            </a:custGeom>
            <a:ln w="9524">
              <a:solidFill>
                <a:srgbClr val="000000"/>
              </a:solidFill>
            </a:ln>
          </p:spPr>
          <p:txBody>
            <a:bodyPr wrap="square" lIns="0" tIns="0" rIns="0" bIns="0" rtlCol="0"/>
            <a:lstStyle/>
            <a:p>
              <a:endParaRPr/>
            </a:p>
          </p:txBody>
        </p:sp>
        <p:sp>
          <p:nvSpPr>
            <p:cNvPr id="7" name="object 7"/>
            <p:cNvSpPr txBox="1"/>
            <p:nvPr/>
          </p:nvSpPr>
          <p:spPr>
            <a:xfrm>
              <a:off x="4443153" y="1196751"/>
              <a:ext cx="2764790" cy="473709"/>
            </a:xfrm>
            <a:prstGeom prst="rect">
              <a:avLst/>
            </a:prstGeom>
            <a:ln w="9524">
              <a:solidFill>
                <a:srgbClr val="000000"/>
              </a:solidFill>
            </a:ln>
          </p:spPr>
          <p:txBody>
            <a:bodyPr vert="horz" wrap="square" lIns="0" tIns="107950" rIns="0" bIns="0" rtlCol="0">
              <a:spAutoFit/>
            </a:bodyPr>
            <a:lstStyle/>
            <a:p>
              <a:pPr marR="179070" algn="ctr">
                <a:lnSpc>
                  <a:spcPct val="100000"/>
                </a:lnSpc>
                <a:spcBef>
                  <a:spcPts val="850"/>
                </a:spcBef>
              </a:pPr>
              <a:r>
                <a:rPr sz="2000" dirty="0">
                  <a:latin typeface="Arial" panose="020B0604020202020204"/>
                  <a:cs typeface="Arial" panose="020B0604020202020204"/>
                </a:rPr>
                <a:t>Advert</a:t>
              </a:r>
              <a:endParaRPr sz="2000">
                <a:latin typeface="Arial" panose="020B0604020202020204"/>
                <a:cs typeface="Arial" panose="020B0604020202020204"/>
              </a:endParaRPr>
            </a:p>
          </p:txBody>
        </p:sp>
        <p:sp>
          <p:nvSpPr>
            <p:cNvPr id="8" name="object 8"/>
            <p:cNvSpPr/>
            <p:nvPr/>
          </p:nvSpPr>
          <p:spPr>
            <a:xfrm>
              <a:off x="4443153" y="1669295"/>
              <a:ext cx="2764790" cy="1905"/>
            </a:xfrm>
            <a:custGeom>
              <a:avLst/>
              <a:gdLst/>
              <a:ahLst/>
              <a:cxnLst/>
              <a:rect l="l" t="t" r="r" b="b"/>
              <a:pathLst>
                <a:path w="2764790" h="1905">
                  <a:moveTo>
                    <a:pt x="0" y="0"/>
                  </a:moveTo>
                  <a:lnTo>
                    <a:pt x="2764493" y="1444"/>
                  </a:lnTo>
                </a:path>
              </a:pathLst>
            </a:custGeom>
            <a:ln w="9524">
              <a:solidFill>
                <a:srgbClr val="000000"/>
              </a:solidFill>
            </a:ln>
          </p:spPr>
          <p:txBody>
            <a:bodyPr wrap="square" lIns="0" tIns="0" rIns="0" bIns="0" rtlCol="0"/>
            <a:lstStyle/>
            <a:p>
              <a:endParaRPr/>
            </a:p>
          </p:txBody>
        </p:sp>
        <p:sp>
          <p:nvSpPr>
            <p:cNvPr id="9" name="object 9"/>
            <p:cNvSpPr/>
            <p:nvPr/>
          </p:nvSpPr>
          <p:spPr>
            <a:xfrm>
              <a:off x="5443811" y="1731434"/>
              <a:ext cx="769620" cy="1905"/>
            </a:xfrm>
            <a:custGeom>
              <a:avLst/>
              <a:gdLst/>
              <a:ahLst/>
              <a:cxnLst/>
              <a:rect l="l" t="t" r="r" b="b"/>
              <a:pathLst>
                <a:path w="769620" h="1905">
                  <a:moveTo>
                    <a:pt x="0" y="0"/>
                  </a:moveTo>
                  <a:lnTo>
                    <a:pt x="769267" y="1444"/>
                  </a:lnTo>
                </a:path>
              </a:pathLst>
            </a:custGeom>
            <a:ln w="9524">
              <a:solidFill>
                <a:srgbClr val="000000"/>
              </a:solidFill>
            </a:ln>
          </p:spPr>
          <p:txBody>
            <a:bodyPr wrap="square" lIns="0" tIns="0" rIns="0" bIns="0" rtlCol="0"/>
            <a:lstStyle/>
            <a:p>
              <a:endParaRPr/>
            </a:p>
          </p:txBody>
        </p:sp>
        <p:sp>
          <p:nvSpPr>
            <p:cNvPr id="10" name="object 10"/>
            <p:cNvSpPr/>
            <p:nvPr/>
          </p:nvSpPr>
          <p:spPr>
            <a:xfrm>
              <a:off x="4443153" y="1787793"/>
              <a:ext cx="2764790" cy="1905"/>
            </a:xfrm>
            <a:custGeom>
              <a:avLst/>
              <a:gdLst/>
              <a:ahLst/>
              <a:cxnLst/>
              <a:rect l="l" t="t" r="r" b="b"/>
              <a:pathLst>
                <a:path w="2764790" h="1905">
                  <a:moveTo>
                    <a:pt x="0" y="0"/>
                  </a:moveTo>
                  <a:lnTo>
                    <a:pt x="2764493" y="1444"/>
                  </a:lnTo>
                </a:path>
              </a:pathLst>
            </a:custGeom>
            <a:ln w="9524">
              <a:solidFill>
                <a:srgbClr val="000000"/>
              </a:solidFill>
            </a:ln>
          </p:spPr>
          <p:txBody>
            <a:bodyPr wrap="square" lIns="0" tIns="0" rIns="0" bIns="0" rtlCol="0"/>
            <a:lstStyle/>
            <a:p>
              <a:endParaRPr/>
            </a:p>
          </p:txBody>
        </p:sp>
        <p:sp>
          <p:nvSpPr>
            <p:cNvPr id="11" name="object 11"/>
            <p:cNvSpPr/>
            <p:nvPr/>
          </p:nvSpPr>
          <p:spPr>
            <a:xfrm>
              <a:off x="5443811" y="1849933"/>
              <a:ext cx="769620" cy="1905"/>
            </a:xfrm>
            <a:custGeom>
              <a:avLst/>
              <a:gdLst/>
              <a:ahLst/>
              <a:cxnLst/>
              <a:rect l="l" t="t" r="r" b="b"/>
              <a:pathLst>
                <a:path w="769620" h="1905">
                  <a:moveTo>
                    <a:pt x="0" y="0"/>
                  </a:moveTo>
                  <a:lnTo>
                    <a:pt x="769267" y="1444"/>
                  </a:lnTo>
                </a:path>
              </a:pathLst>
            </a:custGeom>
            <a:ln w="9524">
              <a:solidFill>
                <a:srgbClr val="000000"/>
              </a:solidFill>
            </a:ln>
          </p:spPr>
          <p:txBody>
            <a:bodyPr wrap="square" lIns="0" tIns="0" rIns="0" bIns="0" rtlCol="0"/>
            <a:lstStyle/>
            <a:p>
              <a:endParaRPr/>
            </a:p>
          </p:txBody>
        </p:sp>
        <p:sp>
          <p:nvSpPr>
            <p:cNvPr id="12" name="object 12"/>
            <p:cNvSpPr/>
            <p:nvPr/>
          </p:nvSpPr>
          <p:spPr>
            <a:xfrm>
              <a:off x="5591982" y="2971321"/>
              <a:ext cx="467359" cy="299720"/>
            </a:xfrm>
            <a:custGeom>
              <a:avLst/>
              <a:gdLst/>
              <a:ahLst/>
              <a:cxnLst/>
              <a:rect l="l" t="t" r="r" b="b"/>
              <a:pathLst>
                <a:path w="467360" h="299720">
                  <a:moveTo>
                    <a:pt x="466837" y="299134"/>
                  </a:moveTo>
                  <a:lnTo>
                    <a:pt x="0" y="299134"/>
                  </a:lnTo>
                  <a:lnTo>
                    <a:pt x="233419" y="0"/>
                  </a:lnTo>
                  <a:lnTo>
                    <a:pt x="466837" y="299134"/>
                  </a:lnTo>
                </a:path>
              </a:pathLst>
            </a:custGeom>
            <a:ln w="9524">
              <a:solidFill>
                <a:srgbClr val="000000"/>
              </a:solidFill>
            </a:ln>
          </p:spPr>
          <p:txBody>
            <a:bodyPr wrap="square" lIns="0" tIns="0" rIns="0" bIns="0" rtlCol="0"/>
            <a:lstStyle/>
            <a:p>
              <a:endParaRPr/>
            </a:p>
          </p:txBody>
        </p:sp>
        <p:sp>
          <p:nvSpPr>
            <p:cNvPr id="13" name="object 13"/>
            <p:cNvSpPr/>
            <p:nvPr/>
          </p:nvSpPr>
          <p:spPr>
            <a:xfrm>
              <a:off x="5825401" y="1906290"/>
              <a:ext cx="2540" cy="1065530"/>
            </a:xfrm>
            <a:custGeom>
              <a:avLst/>
              <a:gdLst/>
              <a:ahLst/>
              <a:cxnLst/>
              <a:rect l="l" t="t" r="r" b="b"/>
              <a:pathLst>
                <a:path w="2539" h="1065530">
                  <a:moveTo>
                    <a:pt x="0" y="1065030"/>
                  </a:moveTo>
                  <a:lnTo>
                    <a:pt x="2030" y="0"/>
                  </a:lnTo>
                </a:path>
              </a:pathLst>
            </a:custGeom>
            <a:ln w="9524">
              <a:solidFill>
                <a:srgbClr val="000000"/>
              </a:solidFill>
            </a:ln>
          </p:spPr>
          <p:txBody>
            <a:bodyPr wrap="square" lIns="0" tIns="0" rIns="0" bIns="0" rtlCol="0"/>
            <a:lstStyle/>
            <a:p>
              <a:endParaRPr/>
            </a:p>
          </p:txBody>
        </p:sp>
        <p:sp>
          <p:nvSpPr>
            <p:cNvPr id="14" name="object 14"/>
            <p:cNvSpPr/>
            <p:nvPr/>
          </p:nvSpPr>
          <p:spPr>
            <a:xfrm>
              <a:off x="911422" y="3917854"/>
              <a:ext cx="3071495" cy="711200"/>
            </a:xfrm>
            <a:custGeom>
              <a:avLst/>
              <a:gdLst/>
              <a:ahLst/>
              <a:cxnLst/>
              <a:rect l="l" t="t" r="r" b="b"/>
              <a:pathLst>
                <a:path w="3071495" h="711200">
                  <a:moveTo>
                    <a:pt x="0" y="0"/>
                  </a:moveTo>
                  <a:lnTo>
                    <a:pt x="3070982" y="0"/>
                  </a:lnTo>
                  <a:lnTo>
                    <a:pt x="3070982" y="710983"/>
                  </a:lnTo>
                  <a:lnTo>
                    <a:pt x="0" y="710983"/>
                  </a:lnTo>
                  <a:lnTo>
                    <a:pt x="0" y="0"/>
                  </a:lnTo>
                  <a:close/>
                </a:path>
              </a:pathLst>
            </a:custGeom>
            <a:ln w="9524">
              <a:solidFill>
                <a:srgbClr val="000000"/>
              </a:solidFill>
            </a:ln>
          </p:spPr>
          <p:txBody>
            <a:bodyPr wrap="square" lIns="0" tIns="0" rIns="0" bIns="0" rtlCol="0"/>
            <a:lstStyle/>
            <a:p>
              <a:endParaRPr/>
            </a:p>
          </p:txBody>
        </p:sp>
        <p:sp>
          <p:nvSpPr>
            <p:cNvPr id="15" name="object 15"/>
            <p:cNvSpPr txBox="1"/>
            <p:nvPr/>
          </p:nvSpPr>
          <p:spPr>
            <a:xfrm>
              <a:off x="911422" y="3917854"/>
              <a:ext cx="3071495" cy="474980"/>
            </a:xfrm>
            <a:prstGeom prst="rect">
              <a:avLst/>
            </a:prstGeom>
            <a:ln w="9524">
              <a:solidFill>
                <a:srgbClr val="000000"/>
              </a:solidFill>
            </a:ln>
          </p:spPr>
          <p:txBody>
            <a:bodyPr vert="horz" wrap="square" lIns="0" tIns="109855" rIns="0" bIns="0" rtlCol="0">
              <a:spAutoFit/>
            </a:bodyPr>
            <a:lstStyle/>
            <a:p>
              <a:pPr marL="306070">
                <a:lnSpc>
                  <a:spcPct val="100000"/>
                </a:lnSpc>
                <a:spcBef>
                  <a:spcPts val="865"/>
                </a:spcBef>
              </a:pPr>
              <a:r>
                <a:rPr sz="2000" dirty="0">
                  <a:latin typeface="Arial" panose="020B0604020202020204"/>
                  <a:cs typeface="Arial" panose="020B0604020202020204"/>
                </a:rPr>
                <a:t>Hoarding</a:t>
              </a:r>
              <a:r>
                <a:rPr sz="2000" spc="-125" dirty="0">
                  <a:latin typeface="Arial" panose="020B0604020202020204"/>
                  <a:cs typeface="Arial" panose="020B0604020202020204"/>
                </a:rPr>
                <a:t> </a:t>
              </a:r>
              <a:r>
                <a:rPr sz="2000" dirty="0">
                  <a:latin typeface="Arial" panose="020B0604020202020204"/>
                  <a:cs typeface="Arial" panose="020B0604020202020204"/>
                </a:rPr>
                <a:t>Advert</a:t>
              </a:r>
            </a:p>
          </p:txBody>
        </p:sp>
        <p:sp>
          <p:nvSpPr>
            <p:cNvPr id="16" name="object 16"/>
            <p:cNvSpPr/>
            <p:nvPr/>
          </p:nvSpPr>
          <p:spPr>
            <a:xfrm>
              <a:off x="911422" y="4391843"/>
              <a:ext cx="3071495" cy="1905"/>
            </a:xfrm>
            <a:custGeom>
              <a:avLst/>
              <a:gdLst/>
              <a:ahLst/>
              <a:cxnLst/>
              <a:rect l="l" t="t" r="r" b="b"/>
              <a:pathLst>
                <a:path w="3071495" h="1904">
                  <a:moveTo>
                    <a:pt x="0" y="0"/>
                  </a:moveTo>
                  <a:lnTo>
                    <a:pt x="3070982" y="1445"/>
                  </a:lnTo>
                </a:path>
              </a:pathLst>
            </a:custGeom>
            <a:ln w="9524">
              <a:solidFill>
                <a:srgbClr val="000000"/>
              </a:solidFill>
            </a:ln>
          </p:spPr>
          <p:txBody>
            <a:bodyPr wrap="square" lIns="0" tIns="0" rIns="0" bIns="0" rtlCol="0"/>
            <a:lstStyle/>
            <a:p>
              <a:endParaRPr/>
            </a:p>
          </p:txBody>
        </p:sp>
        <p:sp>
          <p:nvSpPr>
            <p:cNvPr id="17" name="object 17"/>
            <p:cNvSpPr/>
            <p:nvPr/>
          </p:nvSpPr>
          <p:spPr>
            <a:xfrm>
              <a:off x="911422" y="4510342"/>
              <a:ext cx="3071495" cy="1905"/>
            </a:xfrm>
            <a:custGeom>
              <a:avLst/>
              <a:gdLst/>
              <a:ahLst/>
              <a:cxnLst/>
              <a:rect l="l" t="t" r="r" b="b"/>
              <a:pathLst>
                <a:path w="3071495" h="1904">
                  <a:moveTo>
                    <a:pt x="0" y="0"/>
                  </a:moveTo>
                  <a:lnTo>
                    <a:pt x="3070982" y="1445"/>
                  </a:lnTo>
                </a:path>
              </a:pathLst>
            </a:custGeom>
            <a:ln w="9524">
              <a:solidFill>
                <a:srgbClr val="000000"/>
              </a:solidFill>
            </a:ln>
          </p:spPr>
          <p:txBody>
            <a:bodyPr wrap="square" lIns="0" tIns="0" rIns="0" bIns="0" rtlCol="0"/>
            <a:lstStyle/>
            <a:p>
              <a:endParaRPr/>
            </a:p>
          </p:txBody>
        </p:sp>
        <p:sp>
          <p:nvSpPr>
            <p:cNvPr id="18" name="object 18"/>
            <p:cNvSpPr/>
            <p:nvPr/>
          </p:nvSpPr>
          <p:spPr>
            <a:xfrm>
              <a:off x="4522313" y="3917854"/>
              <a:ext cx="2764790" cy="711200"/>
            </a:xfrm>
            <a:custGeom>
              <a:avLst/>
              <a:gdLst/>
              <a:ahLst/>
              <a:cxnLst/>
              <a:rect l="l" t="t" r="r" b="b"/>
              <a:pathLst>
                <a:path w="2764790" h="711200">
                  <a:moveTo>
                    <a:pt x="0" y="0"/>
                  </a:moveTo>
                  <a:lnTo>
                    <a:pt x="2764493" y="0"/>
                  </a:lnTo>
                  <a:lnTo>
                    <a:pt x="2764493" y="710983"/>
                  </a:lnTo>
                  <a:lnTo>
                    <a:pt x="0" y="710983"/>
                  </a:lnTo>
                  <a:lnTo>
                    <a:pt x="0" y="0"/>
                  </a:lnTo>
                  <a:close/>
                </a:path>
              </a:pathLst>
            </a:custGeom>
            <a:ln w="9524">
              <a:solidFill>
                <a:srgbClr val="000000"/>
              </a:solidFill>
            </a:ln>
          </p:spPr>
          <p:txBody>
            <a:bodyPr wrap="square" lIns="0" tIns="0" rIns="0" bIns="0" rtlCol="0"/>
            <a:lstStyle/>
            <a:p>
              <a:endParaRPr/>
            </a:p>
          </p:txBody>
        </p:sp>
        <p:sp>
          <p:nvSpPr>
            <p:cNvPr id="19" name="object 19"/>
            <p:cNvSpPr txBox="1"/>
            <p:nvPr/>
          </p:nvSpPr>
          <p:spPr>
            <a:xfrm>
              <a:off x="4522313" y="3917854"/>
              <a:ext cx="2764790" cy="474980"/>
            </a:xfrm>
            <a:prstGeom prst="rect">
              <a:avLst/>
            </a:prstGeom>
            <a:ln w="9524">
              <a:solidFill>
                <a:srgbClr val="000000"/>
              </a:solidFill>
            </a:ln>
          </p:spPr>
          <p:txBody>
            <a:bodyPr vert="horz" wrap="square" lIns="0" tIns="109855" rIns="0" bIns="0" rtlCol="0">
              <a:spAutoFit/>
            </a:bodyPr>
            <a:lstStyle/>
            <a:p>
              <a:pPr marL="381000">
                <a:lnSpc>
                  <a:spcPct val="100000"/>
                </a:lnSpc>
                <a:spcBef>
                  <a:spcPts val="865"/>
                </a:spcBef>
              </a:pPr>
              <a:r>
                <a:rPr sz="2000" dirty="0">
                  <a:latin typeface="Arial" panose="020B0604020202020204"/>
                  <a:cs typeface="Arial" panose="020B0604020202020204"/>
                </a:rPr>
                <a:t>Press</a:t>
              </a:r>
              <a:r>
                <a:rPr sz="2000" spc="-125" dirty="0">
                  <a:latin typeface="Arial" panose="020B0604020202020204"/>
                  <a:cs typeface="Arial" panose="020B0604020202020204"/>
                </a:rPr>
                <a:t> </a:t>
              </a:r>
              <a:r>
                <a:rPr sz="2000" dirty="0">
                  <a:latin typeface="Arial" panose="020B0604020202020204"/>
                  <a:cs typeface="Arial" panose="020B0604020202020204"/>
                </a:rPr>
                <a:t>Advert</a:t>
              </a:r>
              <a:endParaRPr sz="2000">
                <a:latin typeface="Arial" panose="020B0604020202020204"/>
                <a:cs typeface="Arial" panose="020B0604020202020204"/>
              </a:endParaRPr>
            </a:p>
          </p:txBody>
        </p:sp>
        <p:sp>
          <p:nvSpPr>
            <p:cNvPr id="20" name="object 20"/>
            <p:cNvSpPr/>
            <p:nvPr/>
          </p:nvSpPr>
          <p:spPr>
            <a:xfrm>
              <a:off x="4522313" y="4391843"/>
              <a:ext cx="2764790" cy="1905"/>
            </a:xfrm>
            <a:custGeom>
              <a:avLst/>
              <a:gdLst/>
              <a:ahLst/>
              <a:cxnLst/>
              <a:rect l="l" t="t" r="r" b="b"/>
              <a:pathLst>
                <a:path w="2764790" h="1904">
                  <a:moveTo>
                    <a:pt x="0" y="0"/>
                  </a:moveTo>
                  <a:lnTo>
                    <a:pt x="2764493" y="1445"/>
                  </a:lnTo>
                </a:path>
              </a:pathLst>
            </a:custGeom>
            <a:ln w="9524">
              <a:solidFill>
                <a:srgbClr val="000000"/>
              </a:solidFill>
            </a:ln>
          </p:spPr>
          <p:txBody>
            <a:bodyPr wrap="square" lIns="0" tIns="0" rIns="0" bIns="0" rtlCol="0"/>
            <a:lstStyle/>
            <a:p>
              <a:endParaRPr/>
            </a:p>
          </p:txBody>
        </p:sp>
        <p:sp>
          <p:nvSpPr>
            <p:cNvPr id="21" name="object 21"/>
            <p:cNvSpPr/>
            <p:nvPr/>
          </p:nvSpPr>
          <p:spPr>
            <a:xfrm>
              <a:off x="4522313" y="4510342"/>
              <a:ext cx="2764790" cy="1905"/>
            </a:xfrm>
            <a:custGeom>
              <a:avLst/>
              <a:gdLst/>
              <a:ahLst/>
              <a:cxnLst/>
              <a:rect l="l" t="t" r="r" b="b"/>
              <a:pathLst>
                <a:path w="2764790" h="1904">
                  <a:moveTo>
                    <a:pt x="0" y="0"/>
                  </a:moveTo>
                  <a:lnTo>
                    <a:pt x="2764493" y="1445"/>
                  </a:lnTo>
                </a:path>
              </a:pathLst>
            </a:custGeom>
            <a:ln w="9524">
              <a:solidFill>
                <a:srgbClr val="000000"/>
              </a:solidFill>
            </a:ln>
          </p:spPr>
          <p:txBody>
            <a:bodyPr wrap="square" lIns="0" tIns="0" rIns="0" bIns="0" rtlCol="0"/>
            <a:lstStyle/>
            <a:p>
              <a:endParaRPr/>
            </a:p>
          </p:txBody>
        </p:sp>
        <p:sp>
          <p:nvSpPr>
            <p:cNvPr id="22" name="object 22"/>
            <p:cNvSpPr/>
            <p:nvPr/>
          </p:nvSpPr>
          <p:spPr>
            <a:xfrm>
              <a:off x="5591982" y="4865833"/>
              <a:ext cx="467359" cy="297815"/>
            </a:xfrm>
            <a:custGeom>
              <a:avLst/>
              <a:gdLst/>
              <a:ahLst/>
              <a:cxnLst/>
              <a:rect l="l" t="t" r="r" b="b"/>
              <a:pathLst>
                <a:path w="467360" h="297814">
                  <a:moveTo>
                    <a:pt x="466837" y="297688"/>
                  </a:moveTo>
                  <a:lnTo>
                    <a:pt x="0" y="297688"/>
                  </a:lnTo>
                  <a:lnTo>
                    <a:pt x="233419" y="0"/>
                  </a:lnTo>
                  <a:lnTo>
                    <a:pt x="466837" y="297688"/>
                  </a:lnTo>
                </a:path>
              </a:pathLst>
            </a:custGeom>
            <a:ln w="9524">
              <a:solidFill>
                <a:srgbClr val="000000"/>
              </a:solidFill>
            </a:ln>
          </p:spPr>
          <p:txBody>
            <a:bodyPr wrap="square" lIns="0" tIns="0" rIns="0" bIns="0" rtlCol="0"/>
            <a:lstStyle/>
            <a:p>
              <a:endParaRPr/>
            </a:p>
          </p:txBody>
        </p:sp>
        <p:sp>
          <p:nvSpPr>
            <p:cNvPr id="23" name="object 23"/>
            <p:cNvSpPr/>
            <p:nvPr/>
          </p:nvSpPr>
          <p:spPr>
            <a:xfrm>
              <a:off x="5825401" y="4628838"/>
              <a:ext cx="2540" cy="237490"/>
            </a:xfrm>
            <a:custGeom>
              <a:avLst/>
              <a:gdLst/>
              <a:ahLst/>
              <a:cxnLst/>
              <a:rect l="l" t="t" r="r" b="b"/>
              <a:pathLst>
                <a:path w="2539" h="237489">
                  <a:moveTo>
                    <a:pt x="0" y="236995"/>
                  </a:moveTo>
                  <a:lnTo>
                    <a:pt x="2030" y="0"/>
                  </a:lnTo>
                </a:path>
              </a:pathLst>
            </a:custGeom>
            <a:ln w="9524">
              <a:solidFill>
                <a:srgbClr val="000000"/>
              </a:solidFill>
            </a:ln>
          </p:spPr>
          <p:txBody>
            <a:bodyPr wrap="square" lIns="0" tIns="0" rIns="0" bIns="0" rtlCol="0"/>
            <a:lstStyle/>
            <a:p>
              <a:endParaRPr/>
            </a:p>
          </p:txBody>
        </p:sp>
        <p:sp>
          <p:nvSpPr>
            <p:cNvPr id="24" name="object 24"/>
            <p:cNvSpPr/>
            <p:nvPr/>
          </p:nvSpPr>
          <p:spPr>
            <a:xfrm>
              <a:off x="8208304" y="3917854"/>
              <a:ext cx="2764790" cy="711200"/>
            </a:xfrm>
            <a:custGeom>
              <a:avLst/>
              <a:gdLst/>
              <a:ahLst/>
              <a:cxnLst/>
              <a:rect l="l" t="t" r="r" b="b"/>
              <a:pathLst>
                <a:path w="2764790" h="711200">
                  <a:moveTo>
                    <a:pt x="0" y="0"/>
                  </a:moveTo>
                  <a:lnTo>
                    <a:pt x="2764493" y="0"/>
                  </a:lnTo>
                  <a:lnTo>
                    <a:pt x="2764493" y="710983"/>
                  </a:lnTo>
                  <a:lnTo>
                    <a:pt x="0" y="710983"/>
                  </a:lnTo>
                  <a:lnTo>
                    <a:pt x="0" y="0"/>
                  </a:lnTo>
                  <a:close/>
                </a:path>
              </a:pathLst>
            </a:custGeom>
            <a:ln w="9524">
              <a:solidFill>
                <a:srgbClr val="000000"/>
              </a:solidFill>
            </a:ln>
          </p:spPr>
          <p:txBody>
            <a:bodyPr wrap="square" lIns="0" tIns="0" rIns="0" bIns="0" rtlCol="0"/>
            <a:lstStyle/>
            <a:p>
              <a:endParaRPr/>
            </a:p>
          </p:txBody>
        </p:sp>
        <p:sp>
          <p:nvSpPr>
            <p:cNvPr id="25" name="object 25"/>
            <p:cNvSpPr txBox="1"/>
            <p:nvPr/>
          </p:nvSpPr>
          <p:spPr>
            <a:xfrm>
              <a:off x="8208304" y="3917854"/>
              <a:ext cx="2764790" cy="474980"/>
            </a:xfrm>
            <a:prstGeom prst="rect">
              <a:avLst/>
            </a:prstGeom>
            <a:ln w="9524">
              <a:solidFill>
                <a:srgbClr val="000000"/>
              </a:solidFill>
            </a:ln>
          </p:spPr>
          <p:txBody>
            <a:bodyPr vert="horz" wrap="square" lIns="0" tIns="109855" rIns="0" bIns="0" rtlCol="0">
              <a:spAutoFit/>
            </a:bodyPr>
            <a:lstStyle/>
            <a:p>
              <a:pPr marL="381000">
                <a:lnSpc>
                  <a:spcPct val="100000"/>
                </a:lnSpc>
                <a:spcBef>
                  <a:spcPts val="865"/>
                </a:spcBef>
              </a:pPr>
              <a:r>
                <a:rPr sz="2000" spc="-10" dirty="0">
                  <a:latin typeface="Arial" panose="020B0604020202020204"/>
                  <a:cs typeface="Arial" panose="020B0604020202020204"/>
                </a:rPr>
                <a:t>Video</a:t>
              </a:r>
              <a:r>
                <a:rPr sz="2000" spc="-120" dirty="0">
                  <a:latin typeface="Arial" panose="020B0604020202020204"/>
                  <a:cs typeface="Arial" panose="020B0604020202020204"/>
                </a:rPr>
                <a:t> </a:t>
              </a:r>
              <a:r>
                <a:rPr sz="2000" dirty="0">
                  <a:latin typeface="Arial" panose="020B0604020202020204"/>
                  <a:cs typeface="Arial" panose="020B0604020202020204"/>
                </a:rPr>
                <a:t>Advert</a:t>
              </a:r>
              <a:endParaRPr sz="2000">
                <a:latin typeface="Arial" panose="020B0604020202020204"/>
                <a:cs typeface="Arial" panose="020B0604020202020204"/>
              </a:endParaRPr>
            </a:p>
          </p:txBody>
        </p:sp>
        <p:sp>
          <p:nvSpPr>
            <p:cNvPr id="26" name="object 26"/>
            <p:cNvSpPr/>
            <p:nvPr/>
          </p:nvSpPr>
          <p:spPr>
            <a:xfrm>
              <a:off x="8208304" y="4391843"/>
              <a:ext cx="2764790" cy="1905"/>
            </a:xfrm>
            <a:custGeom>
              <a:avLst/>
              <a:gdLst/>
              <a:ahLst/>
              <a:cxnLst/>
              <a:rect l="l" t="t" r="r" b="b"/>
              <a:pathLst>
                <a:path w="2764790" h="1904">
                  <a:moveTo>
                    <a:pt x="0" y="0"/>
                  </a:moveTo>
                  <a:lnTo>
                    <a:pt x="2764493" y="1445"/>
                  </a:lnTo>
                </a:path>
              </a:pathLst>
            </a:custGeom>
            <a:ln w="9524">
              <a:solidFill>
                <a:srgbClr val="000000"/>
              </a:solidFill>
            </a:ln>
          </p:spPr>
          <p:txBody>
            <a:bodyPr wrap="square" lIns="0" tIns="0" rIns="0" bIns="0" rtlCol="0"/>
            <a:lstStyle/>
            <a:p>
              <a:endParaRPr/>
            </a:p>
          </p:txBody>
        </p:sp>
        <p:sp>
          <p:nvSpPr>
            <p:cNvPr id="27" name="object 27"/>
            <p:cNvSpPr/>
            <p:nvPr/>
          </p:nvSpPr>
          <p:spPr>
            <a:xfrm>
              <a:off x="8208304" y="4510342"/>
              <a:ext cx="2764790" cy="1905"/>
            </a:xfrm>
            <a:custGeom>
              <a:avLst/>
              <a:gdLst/>
              <a:ahLst/>
              <a:cxnLst/>
              <a:rect l="l" t="t" r="r" b="b"/>
              <a:pathLst>
                <a:path w="2764790" h="1904">
                  <a:moveTo>
                    <a:pt x="0" y="0"/>
                  </a:moveTo>
                  <a:lnTo>
                    <a:pt x="2764493" y="1445"/>
                  </a:lnTo>
                </a:path>
              </a:pathLst>
            </a:custGeom>
            <a:ln w="9524">
              <a:solidFill>
                <a:srgbClr val="000000"/>
              </a:solidFill>
            </a:ln>
          </p:spPr>
          <p:txBody>
            <a:bodyPr wrap="square" lIns="0" tIns="0" rIns="0" bIns="0" rtlCol="0"/>
            <a:lstStyle/>
            <a:p>
              <a:endParaRPr/>
            </a:p>
          </p:txBody>
        </p:sp>
        <p:sp>
          <p:nvSpPr>
            <p:cNvPr id="28" name="object 28"/>
            <p:cNvSpPr/>
            <p:nvPr/>
          </p:nvSpPr>
          <p:spPr>
            <a:xfrm>
              <a:off x="2372828" y="5575373"/>
              <a:ext cx="3380104" cy="709930"/>
            </a:xfrm>
            <a:custGeom>
              <a:avLst/>
              <a:gdLst/>
              <a:ahLst/>
              <a:cxnLst/>
              <a:rect l="l" t="t" r="r" b="b"/>
              <a:pathLst>
                <a:path w="3380104" h="709929">
                  <a:moveTo>
                    <a:pt x="0" y="0"/>
                  </a:moveTo>
                  <a:lnTo>
                    <a:pt x="3379501" y="0"/>
                  </a:lnTo>
                  <a:lnTo>
                    <a:pt x="3379501" y="709538"/>
                  </a:lnTo>
                  <a:lnTo>
                    <a:pt x="0" y="709538"/>
                  </a:lnTo>
                  <a:lnTo>
                    <a:pt x="0" y="0"/>
                  </a:lnTo>
                  <a:close/>
                </a:path>
              </a:pathLst>
            </a:custGeom>
            <a:ln w="9524">
              <a:solidFill>
                <a:srgbClr val="000000"/>
              </a:solidFill>
            </a:ln>
          </p:spPr>
          <p:txBody>
            <a:bodyPr wrap="square" lIns="0" tIns="0" rIns="0" bIns="0" rtlCol="0"/>
            <a:lstStyle/>
            <a:p>
              <a:endParaRPr/>
            </a:p>
          </p:txBody>
        </p:sp>
        <p:sp>
          <p:nvSpPr>
            <p:cNvPr id="29" name="object 29"/>
            <p:cNvSpPr txBox="1"/>
            <p:nvPr/>
          </p:nvSpPr>
          <p:spPr>
            <a:xfrm>
              <a:off x="2372828" y="5575373"/>
              <a:ext cx="3380104" cy="474980"/>
            </a:xfrm>
            <a:prstGeom prst="rect">
              <a:avLst/>
            </a:prstGeom>
            <a:ln w="9524">
              <a:solidFill>
                <a:srgbClr val="000000"/>
              </a:solidFill>
            </a:ln>
          </p:spPr>
          <p:txBody>
            <a:bodyPr vert="horz" wrap="square" lIns="0" tIns="107950" rIns="0" bIns="0" rtlCol="0">
              <a:spAutoFit/>
            </a:bodyPr>
            <a:lstStyle/>
            <a:p>
              <a:pPr marL="227330">
                <a:lnSpc>
                  <a:spcPct val="100000"/>
                </a:lnSpc>
                <a:spcBef>
                  <a:spcPts val="850"/>
                </a:spcBef>
              </a:pPr>
              <a:r>
                <a:rPr sz="2000" dirty="0">
                  <a:latin typeface="Arial" panose="020B0604020202020204"/>
                  <a:cs typeface="Arial" panose="020B0604020202020204"/>
                </a:rPr>
                <a:t>Newspaper</a:t>
              </a:r>
              <a:r>
                <a:rPr sz="2000" spc="-120" dirty="0">
                  <a:latin typeface="Arial" panose="020B0604020202020204"/>
                  <a:cs typeface="Arial" panose="020B0604020202020204"/>
                </a:rPr>
                <a:t> </a:t>
              </a:r>
              <a:r>
                <a:rPr sz="2000" dirty="0">
                  <a:latin typeface="Arial" panose="020B0604020202020204"/>
                  <a:cs typeface="Arial" panose="020B0604020202020204"/>
                </a:rPr>
                <a:t>Advert</a:t>
              </a:r>
              <a:endParaRPr sz="2000">
                <a:latin typeface="Arial" panose="020B0604020202020204"/>
                <a:cs typeface="Arial" panose="020B0604020202020204"/>
              </a:endParaRPr>
            </a:p>
          </p:txBody>
        </p:sp>
        <p:sp>
          <p:nvSpPr>
            <p:cNvPr id="30" name="object 30"/>
            <p:cNvSpPr/>
            <p:nvPr/>
          </p:nvSpPr>
          <p:spPr>
            <a:xfrm>
              <a:off x="2372828" y="6049361"/>
              <a:ext cx="3380104" cy="1905"/>
            </a:xfrm>
            <a:custGeom>
              <a:avLst/>
              <a:gdLst/>
              <a:ahLst/>
              <a:cxnLst/>
              <a:rect l="l" t="t" r="r" b="b"/>
              <a:pathLst>
                <a:path w="3380104" h="1904">
                  <a:moveTo>
                    <a:pt x="0" y="0"/>
                  </a:moveTo>
                  <a:lnTo>
                    <a:pt x="3379501" y="1445"/>
                  </a:lnTo>
                </a:path>
              </a:pathLst>
            </a:custGeom>
            <a:ln w="9524">
              <a:solidFill>
                <a:srgbClr val="000000"/>
              </a:solidFill>
            </a:ln>
          </p:spPr>
          <p:txBody>
            <a:bodyPr wrap="square" lIns="0" tIns="0" rIns="0" bIns="0" rtlCol="0"/>
            <a:lstStyle/>
            <a:p>
              <a:endParaRPr/>
            </a:p>
          </p:txBody>
        </p:sp>
        <p:sp>
          <p:nvSpPr>
            <p:cNvPr id="31" name="object 31"/>
            <p:cNvSpPr/>
            <p:nvPr/>
          </p:nvSpPr>
          <p:spPr>
            <a:xfrm>
              <a:off x="2372828" y="6166415"/>
              <a:ext cx="3380104" cy="1905"/>
            </a:xfrm>
            <a:custGeom>
              <a:avLst/>
              <a:gdLst/>
              <a:ahLst/>
              <a:cxnLst/>
              <a:rect l="l" t="t" r="r" b="b"/>
              <a:pathLst>
                <a:path w="3380104" h="1904">
                  <a:moveTo>
                    <a:pt x="0" y="0"/>
                  </a:moveTo>
                  <a:lnTo>
                    <a:pt x="3379501" y="1445"/>
                  </a:lnTo>
                </a:path>
              </a:pathLst>
            </a:custGeom>
            <a:ln w="9524">
              <a:solidFill>
                <a:srgbClr val="000000"/>
              </a:solidFill>
            </a:ln>
          </p:spPr>
          <p:txBody>
            <a:bodyPr wrap="square" lIns="0" tIns="0" rIns="0" bIns="0" rtlCol="0"/>
            <a:lstStyle/>
            <a:p>
              <a:endParaRPr/>
            </a:p>
          </p:txBody>
        </p:sp>
        <p:sp>
          <p:nvSpPr>
            <p:cNvPr id="32" name="object 32"/>
            <p:cNvSpPr/>
            <p:nvPr/>
          </p:nvSpPr>
          <p:spPr>
            <a:xfrm>
              <a:off x="6131890" y="5575373"/>
              <a:ext cx="3071495" cy="709930"/>
            </a:xfrm>
            <a:custGeom>
              <a:avLst/>
              <a:gdLst/>
              <a:ahLst/>
              <a:cxnLst/>
              <a:rect l="l" t="t" r="r" b="b"/>
              <a:pathLst>
                <a:path w="3071495" h="709929">
                  <a:moveTo>
                    <a:pt x="0" y="0"/>
                  </a:moveTo>
                  <a:lnTo>
                    <a:pt x="3070982" y="0"/>
                  </a:lnTo>
                  <a:lnTo>
                    <a:pt x="3070982" y="709538"/>
                  </a:lnTo>
                  <a:lnTo>
                    <a:pt x="0" y="709538"/>
                  </a:lnTo>
                  <a:lnTo>
                    <a:pt x="0" y="0"/>
                  </a:lnTo>
                  <a:close/>
                </a:path>
              </a:pathLst>
            </a:custGeom>
            <a:ln w="9524">
              <a:solidFill>
                <a:srgbClr val="000000"/>
              </a:solidFill>
            </a:ln>
          </p:spPr>
          <p:txBody>
            <a:bodyPr wrap="square" lIns="0" tIns="0" rIns="0" bIns="0" rtlCol="0"/>
            <a:lstStyle/>
            <a:p>
              <a:endParaRPr/>
            </a:p>
          </p:txBody>
        </p:sp>
        <p:sp>
          <p:nvSpPr>
            <p:cNvPr id="33" name="object 33"/>
            <p:cNvSpPr txBox="1"/>
            <p:nvPr/>
          </p:nvSpPr>
          <p:spPr>
            <a:xfrm>
              <a:off x="6131890" y="5575373"/>
              <a:ext cx="3071495" cy="474980"/>
            </a:xfrm>
            <a:prstGeom prst="rect">
              <a:avLst/>
            </a:prstGeom>
            <a:ln w="9524">
              <a:solidFill>
                <a:srgbClr val="000000"/>
              </a:solidFill>
            </a:ln>
          </p:spPr>
          <p:txBody>
            <a:bodyPr vert="horz" wrap="square" lIns="0" tIns="107950" rIns="0" bIns="0" rtlCol="0">
              <a:spAutoFit/>
            </a:bodyPr>
            <a:lstStyle/>
            <a:p>
              <a:pPr marL="233045">
                <a:lnSpc>
                  <a:spcPct val="100000"/>
                </a:lnSpc>
                <a:spcBef>
                  <a:spcPts val="850"/>
                </a:spcBef>
              </a:pPr>
              <a:r>
                <a:rPr sz="2000" dirty="0">
                  <a:latin typeface="Arial" panose="020B0604020202020204"/>
                  <a:cs typeface="Arial" panose="020B0604020202020204"/>
                </a:rPr>
                <a:t>Magazine</a:t>
              </a:r>
              <a:r>
                <a:rPr sz="2000" spc="-125" dirty="0">
                  <a:latin typeface="Arial" panose="020B0604020202020204"/>
                  <a:cs typeface="Arial" panose="020B0604020202020204"/>
                </a:rPr>
                <a:t> </a:t>
              </a:r>
              <a:r>
                <a:rPr sz="2000" dirty="0">
                  <a:latin typeface="Arial" panose="020B0604020202020204"/>
                  <a:cs typeface="Arial" panose="020B0604020202020204"/>
                </a:rPr>
                <a:t>Advert</a:t>
              </a:r>
              <a:endParaRPr sz="2000">
                <a:latin typeface="Arial" panose="020B0604020202020204"/>
                <a:cs typeface="Arial" panose="020B0604020202020204"/>
              </a:endParaRPr>
            </a:p>
          </p:txBody>
        </p:sp>
        <p:sp>
          <p:nvSpPr>
            <p:cNvPr id="34" name="object 34"/>
            <p:cNvSpPr/>
            <p:nvPr/>
          </p:nvSpPr>
          <p:spPr>
            <a:xfrm>
              <a:off x="6131890" y="6049361"/>
              <a:ext cx="3071495" cy="1905"/>
            </a:xfrm>
            <a:custGeom>
              <a:avLst/>
              <a:gdLst/>
              <a:ahLst/>
              <a:cxnLst/>
              <a:rect l="l" t="t" r="r" b="b"/>
              <a:pathLst>
                <a:path w="3071495" h="1904">
                  <a:moveTo>
                    <a:pt x="0" y="0"/>
                  </a:moveTo>
                  <a:lnTo>
                    <a:pt x="3070982" y="1445"/>
                  </a:lnTo>
                </a:path>
              </a:pathLst>
            </a:custGeom>
            <a:ln w="9524">
              <a:solidFill>
                <a:srgbClr val="000000"/>
              </a:solidFill>
            </a:ln>
          </p:spPr>
          <p:txBody>
            <a:bodyPr wrap="square" lIns="0" tIns="0" rIns="0" bIns="0" rtlCol="0"/>
            <a:lstStyle/>
            <a:p>
              <a:endParaRPr/>
            </a:p>
          </p:txBody>
        </p:sp>
        <p:sp>
          <p:nvSpPr>
            <p:cNvPr id="35" name="object 35"/>
            <p:cNvSpPr/>
            <p:nvPr/>
          </p:nvSpPr>
          <p:spPr>
            <a:xfrm>
              <a:off x="6131890" y="6166415"/>
              <a:ext cx="3071495" cy="1905"/>
            </a:xfrm>
            <a:custGeom>
              <a:avLst/>
              <a:gdLst/>
              <a:ahLst/>
              <a:cxnLst/>
              <a:rect l="l" t="t" r="r" b="b"/>
              <a:pathLst>
                <a:path w="3071495" h="1904">
                  <a:moveTo>
                    <a:pt x="0" y="0"/>
                  </a:moveTo>
                  <a:lnTo>
                    <a:pt x="3070982" y="1445"/>
                  </a:lnTo>
                </a:path>
              </a:pathLst>
            </a:custGeom>
            <a:ln w="9524">
              <a:solidFill>
                <a:srgbClr val="000000"/>
              </a:solidFill>
            </a:ln>
          </p:spPr>
          <p:txBody>
            <a:bodyPr wrap="square" lIns="0" tIns="0" rIns="0" bIns="0" rtlCol="0"/>
            <a:lstStyle/>
            <a:p>
              <a:endParaRPr/>
            </a:p>
          </p:txBody>
        </p:sp>
        <p:sp>
          <p:nvSpPr>
            <p:cNvPr id="36" name="object 36"/>
            <p:cNvSpPr/>
            <p:nvPr/>
          </p:nvSpPr>
          <p:spPr>
            <a:xfrm>
              <a:off x="6058819" y="3270455"/>
              <a:ext cx="2992120" cy="647700"/>
            </a:xfrm>
            <a:custGeom>
              <a:avLst/>
              <a:gdLst/>
              <a:ahLst/>
              <a:cxnLst/>
              <a:rect l="l" t="t" r="r" b="b"/>
              <a:pathLst>
                <a:path w="2992120" h="647700">
                  <a:moveTo>
                    <a:pt x="0" y="0"/>
                  </a:moveTo>
                  <a:lnTo>
                    <a:pt x="2991823" y="0"/>
                  </a:lnTo>
                  <a:lnTo>
                    <a:pt x="2991823" y="354415"/>
                  </a:lnTo>
                  <a:lnTo>
                    <a:pt x="2991823" y="647399"/>
                  </a:lnTo>
                </a:path>
              </a:pathLst>
            </a:custGeom>
            <a:ln w="9524">
              <a:solidFill>
                <a:srgbClr val="000000"/>
              </a:solidFill>
            </a:ln>
          </p:spPr>
          <p:txBody>
            <a:bodyPr wrap="square" lIns="0" tIns="0" rIns="0" bIns="0" rtlCol="0"/>
            <a:lstStyle/>
            <a:p>
              <a:endParaRPr/>
            </a:p>
          </p:txBody>
        </p:sp>
        <p:sp>
          <p:nvSpPr>
            <p:cNvPr id="37" name="object 37"/>
            <p:cNvSpPr/>
            <p:nvPr/>
          </p:nvSpPr>
          <p:spPr>
            <a:xfrm>
              <a:off x="5825401" y="3270455"/>
              <a:ext cx="2540" cy="647700"/>
            </a:xfrm>
            <a:custGeom>
              <a:avLst/>
              <a:gdLst/>
              <a:ahLst/>
              <a:cxnLst/>
              <a:rect l="l" t="t" r="r" b="b"/>
              <a:pathLst>
                <a:path w="2539" h="647700">
                  <a:moveTo>
                    <a:pt x="0" y="0"/>
                  </a:moveTo>
                  <a:lnTo>
                    <a:pt x="2030" y="647399"/>
                  </a:lnTo>
                </a:path>
              </a:pathLst>
            </a:custGeom>
            <a:ln w="9524">
              <a:solidFill>
                <a:srgbClr val="000000"/>
              </a:solidFill>
            </a:ln>
          </p:spPr>
          <p:txBody>
            <a:bodyPr wrap="square" lIns="0" tIns="0" rIns="0" bIns="0" rtlCol="0"/>
            <a:lstStyle/>
            <a:p>
              <a:endParaRPr/>
            </a:p>
          </p:txBody>
        </p:sp>
        <p:sp>
          <p:nvSpPr>
            <p:cNvPr id="38" name="object 38"/>
            <p:cNvSpPr/>
            <p:nvPr/>
          </p:nvSpPr>
          <p:spPr>
            <a:xfrm>
              <a:off x="2833577" y="3270455"/>
              <a:ext cx="2758440" cy="647700"/>
            </a:xfrm>
            <a:custGeom>
              <a:avLst/>
              <a:gdLst/>
              <a:ahLst/>
              <a:cxnLst/>
              <a:rect l="l" t="t" r="r" b="b"/>
              <a:pathLst>
                <a:path w="2758440" h="647700">
                  <a:moveTo>
                    <a:pt x="2758404" y="0"/>
                  </a:moveTo>
                  <a:lnTo>
                    <a:pt x="0" y="0"/>
                  </a:lnTo>
                  <a:lnTo>
                    <a:pt x="0" y="647399"/>
                  </a:lnTo>
                </a:path>
              </a:pathLst>
            </a:custGeom>
            <a:ln w="9524">
              <a:solidFill>
                <a:srgbClr val="000000"/>
              </a:solidFill>
            </a:ln>
          </p:spPr>
          <p:txBody>
            <a:bodyPr wrap="square" lIns="0" tIns="0" rIns="0" bIns="0" rtlCol="0"/>
            <a:lstStyle/>
            <a:p>
              <a:endParaRPr/>
            </a:p>
          </p:txBody>
        </p:sp>
        <p:sp>
          <p:nvSpPr>
            <p:cNvPr id="39" name="object 39"/>
            <p:cNvSpPr/>
            <p:nvPr/>
          </p:nvSpPr>
          <p:spPr>
            <a:xfrm>
              <a:off x="6058819" y="5163522"/>
              <a:ext cx="1228090" cy="412115"/>
            </a:xfrm>
            <a:custGeom>
              <a:avLst/>
              <a:gdLst/>
              <a:ahLst/>
              <a:cxnLst/>
              <a:rect l="l" t="t" r="r" b="b"/>
              <a:pathLst>
                <a:path w="1228090" h="412114">
                  <a:moveTo>
                    <a:pt x="0" y="0"/>
                  </a:moveTo>
                  <a:lnTo>
                    <a:pt x="1227986" y="0"/>
                  </a:lnTo>
                  <a:lnTo>
                    <a:pt x="1227986" y="411850"/>
                  </a:lnTo>
                </a:path>
              </a:pathLst>
            </a:custGeom>
            <a:ln w="9524">
              <a:solidFill>
                <a:srgbClr val="000000"/>
              </a:solidFill>
            </a:ln>
          </p:spPr>
          <p:txBody>
            <a:bodyPr wrap="square" lIns="0" tIns="0" rIns="0" bIns="0" rtlCol="0"/>
            <a:lstStyle/>
            <a:p>
              <a:endParaRPr/>
            </a:p>
          </p:txBody>
        </p:sp>
        <p:sp>
          <p:nvSpPr>
            <p:cNvPr id="40" name="object 40"/>
            <p:cNvSpPr/>
            <p:nvPr/>
          </p:nvSpPr>
          <p:spPr>
            <a:xfrm>
              <a:off x="4522313" y="5163522"/>
              <a:ext cx="1069975" cy="412115"/>
            </a:xfrm>
            <a:custGeom>
              <a:avLst/>
              <a:gdLst/>
              <a:ahLst/>
              <a:cxnLst/>
              <a:rect l="l" t="t" r="r" b="b"/>
              <a:pathLst>
                <a:path w="1069975" h="412114">
                  <a:moveTo>
                    <a:pt x="1069667" y="0"/>
                  </a:moveTo>
                  <a:lnTo>
                    <a:pt x="0" y="0"/>
                  </a:lnTo>
                  <a:lnTo>
                    <a:pt x="0" y="411850"/>
                  </a:lnTo>
                </a:path>
              </a:pathLst>
            </a:custGeom>
            <a:ln w="9524">
              <a:solidFill>
                <a:srgbClr val="000000"/>
              </a:solidFill>
            </a:ln>
          </p:spPr>
          <p:txBody>
            <a:bodyPr wrap="square" lIns="0" tIns="0" rIns="0" bIns="0" rtlCol="0"/>
            <a:lstStyle/>
            <a:p>
              <a:endParaRPr/>
            </a:p>
          </p:txBody>
        </p:sp>
        <p:sp>
          <p:nvSpPr>
            <p:cNvPr id="41" name="object 42"/>
            <p:cNvSpPr/>
            <p:nvPr/>
          </p:nvSpPr>
          <p:spPr>
            <a:xfrm>
              <a:off x="5951983" y="1988840"/>
              <a:ext cx="216535" cy="1008380"/>
            </a:xfrm>
            <a:custGeom>
              <a:avLst/>
              <a:gdLst/>
              <a:ahLst/>
              <a:cxnLst/>
              <a:rect l="l" t="t" r="r" b="b"/>
              <a:pathLst>
                <a:path w="216535" h="1008380">
                  <a:moveTo>
                    <a:pt x="216023" y="900099"/>
                  </a:moveTo>
                  <a:lnTo>
                    <a:pt x="0" y="900099"/>
                  </a:lnTo>
                  <a:lnTo>
                    <a:pt x="108010" y="1008112"/>
                  </a:lnTo>
                  <a:lnTo>
                    <a:pt x="216023" y="900099"/>
                  </a:lnTo>
                  <a:close/>
                </a:path>
                <a:path w="216535" h="1008380">
                  <a:moveTo>
                    <a:pt x="162017" y="0"/>
                  </a:moveTo>
                  <a:lnTo>
                    <a:pt x="54005" y="0"/>
                  </a:lnTo>
                  <a:lnTo>
                    <a:pt x="54005" y="900099"/>
                  </a:lnTo>
                  <a:lnTo>
                    <a:pt x="162017" y="900099"/>
                  </a:lnTo>
                  <a:lnTo>
                    <a:pt x="162017" y="0"/>
                  </a:lnTo>
                  <a:close/>
                </a:path>
              </a:pathLst>
            </a:custGeom>
            <a:solidFill>
              <a:srgbClr val="941100"/>
            </a:solidFill>
          </p:spPr>
          <p:txBody>
            <a:bodyPr wrap="square" lIns="0" tIns="0" rIns="0" bIns="0" rtlCol="0"/>
            <a:lstStyle/>
            <a:p>
              <a:endParaRPr/>
            </a:p>
          </p:txBody>
        </p:sp>
        <p:sp>
          <p:nvSpPr>
            <p:cNvPr id="42" name="object 43"/>
            <p:cNvSpPr/>
            <p:nvPr/>
          </p:nvSpPr>
          <p:spPr>
            <a:xfrm>
              <a:off x="5951982" y="1988840"/>
              <a:ext cx="216535" cy="1008380"/>
            </a:xfrm>
            <a:custGeom>
              <a:avLst/>
              <a:gdLst/>
              <a:ahLst/>
              <a:cxnLst/>
              <a:rect l="l" t="t" r="r" b="b"/>
              <a:pathLst>
                <a:path w="216535" h="1008380">
                  <a:moveTo>
                    <a:pt x="0" y="900099"/>
                  </a:moveTo>
                  <a:lnTo>
                    <a:pt x="54005" y="900099"/>
                  </a:lnTo>
                  <a:lnTo>
                    <a:pt x="54005" y="0"/>
                  </a:lnTo>
                  <a:lnTo>
                    <a:pt x="162018" y="0"/>
                  </a:lnTo>
                  <a:lnTo>
                    <a:pt x="162018" y="900099"/>
                  </a:lnTo>
                  <a:lnTo>
                    <a:pt x="216024" y="900099"/>
                  </a:lnTo>
                  <a:lnTo>
                    <a:pt x="108012" y="1008111"/>
                  </a:lnTo>
                  <a:lnTo>
                    <a:pt x="0" y="900099"/>
                  </a:lnTo>
                  <a:close/>
                </a:path>
              </a:pathLst>
            </a:custGeom>
            <a:ln w="6349">
              <a:solidFill>
                <a:srgbClr val="6CACDD"/>
              </a:solidFill>
            </a:ln>
          </p:spPr>
          <p:txBody>
            <a:bodyPr wrap="square" lIns="0" tIns="0" rIns="0" bIns="0" rtlCol="0"/>
            <a:lstStyle/>
            <a:p>
              <a:endParaRPr/>
            </a:p>
          </p:txBody>
        </p:sp>
        <p:sp>
          <p:nvSpPr>
            <p:cNvPr id="43" name="object 44"/>
            <p:cNvSpPr/>
            <p:nvPr/>
          </p:nvSpPr>
          <p:spPr>
            <a:xfrm>
              <a:off x="6095998" y="4725144"/>
              <a:ext cx="207645" cy="720090"/>
            </a:xfrm>
            <a:custGeom>
              <a:avLst/>
              <a:gdLst/>
              <a:ahLst/>
              <a:cxnLst/>
              <a:rect l="l" t="t" r="r" b="b"/>
              <a:pathLst>
                <a:path w="207645" h="720089">
                  <a:moveTo>
                    <a:pt x="207639" y="616259"/>
                  </a:moveTo>
                  <a:lnTo>
                    <a:pt x="0" y="616259"/>
                  </a:lnTo>
                  <a:lnTo>
                    <a:pt x="103819" y="720079"/>
                  </a:lnTo>
                  <a:lnTo>
                    <a:pt x="207639" y="616259"/>
                  </a:lnTo>
                  <a:close/>
                </a:path>
                <a:path w="207645" h="720089">
                  <a:moveTo>
                    <a:pt x="155729" y="0"/>
                  </a:moveTo>
                  <a:lnTo>
                    <a:pt x="51909" y="0"/>
                  </a:lnTo>
                  <a:lnTo>
                    <a:pt x="51909" y="616259"/>
                  </a:lnTo>
                  <a:lnTo>
                    <a:pt x="155729" y="616259"/>
                  </a:lnTo>
                  <a:lnTo>
                    <a:pt x="155729" y="0"/>
                  </a:lnTo>
                  <a:close/>
                </a:path>
              </a:pathLst>
            </a:custGeom>
            <a:solidFill>
              <a:srgbClr val="941100"/>
            </a:solidFill>
          </p:spPr>
          <p:txBody>
            <a:bodyPr wrap="square" lIns="0" tIns="0" rIns="0" bIns="0" rtlCol="0"/>
            <a:lstStyle/>
            <a:p>
              <a:endParaRPr/>
            </a:p>
          </p:txBody>
        </p:sp>
        <p:sp>
          <p:nvSpPr>
            <p:cNvPr id="44" name="object 45"/>
            <p:cNvSpPr/>
            <p:nvPr/>
          </p:nvSpPr>
          <p:spPr>
            <a:xfrm>
              <a:off x="6095998" y="4725144"/>
              <a:ext cx="207645" cy="720090"/>
            </a:xfrm>
            <a:custGeom>
              <a:avLst/>
              <a:gdLst/>
              <a:ahLst/>
              <a:cxnLst/>
              <a:rect l="l" t="t" r="r" b="b"/>
              <a:pathLst>
                <a:path w="207645" h="720089">
                  <a:moveTo>
                    <a:pt x="0" y="616259"/>
                  </a:moveTo>
                  <a:lnTo>
                    <a:pt x="51910" y="616259"/>
                  </a:lnTo>
                  <a:lnTo>
                    <a:pt x="51910" y="0"/>
                  </a:lnTo>
                  <a:lnTo>
                    <a:pt x="155729" y="0"/>
                  </a:lnTo>
                  <a:lnTo>
                    <a:pt x="155729" y="616259"/>
                  </a:lnTo>
                  <a:lnTo>
                    <a:pt x="207639" y="616259"/>
                  </a:lnTo>
                  <a:lnTo>
                    <a:pt x="103819" y="720079"/>
                  </a:lnTo>
                  <a:lnTo>
                    <a:pt x="0" y="616259"/>
                  </a:lnTo>
                  <a:close/>
                </a:path>
              </a:pathLst>
            </a:custGeom>
            <a:ln w="6349">
              <a:solidFill>
                <a:srgbClr val="6CACDD"/>
              </a:solidFill>
            </a:ln>
          </p:spPr>
          <p:txBody>
            <a:bodyPr wrap="square" lIns="0" tIns="0" rIns="0" bIns="0" rtlCol="0"/>
            <a:lstStyle/>
            <a:p>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800000"/>
                </a:solidFill>
              </a:rPr>
              <a:t>自底向上</a:t>
            </a:r>
            <a:r>
              <a:rPr lang="zh-CN" altLang="en-US" dirty="0"/>
              <a:t>定义继承关系</a:t>
            </a:r>
          </a:p>
        </p:txBody>
      </p:sp>
      <p:sp>
        <p:nvSpPr>
          <p:cNvPr id="4" name="灯片编号占位符 3"/>
          <p:cNvSpPr>
            <a:spLocks noGrp="1"/>
          </p:cNvSpPr>
          <p:nvPr>
            <p:ph type="sldNum" sz="quarter" idx="12"/>
          </p:nvPr>
        </p:nvSpPr>
        <p:spPr/>
        <p:txBody>
          <a:bodyPr/>
          <a:lstStyle/>
          <a:p>
            <a:fld id="{74D2AB8B-5816-41F2-8B4B-CA5C3E4E6A65}" type="slidenum">
              <a:rPr lang="zh-CN" altLang="en-US" smtClean="0"/>
              <a:t>28</a:t>
            </a:fld>
            <a:endParaRPr lang="zh-CN" altLang="en-US"/>
          </a:p>
        </p:txBody>
      </p:sp>
      <p:sp>
        <p:nvSpPr>
          <p:cNvPr id="45" name="object 13"/>
          <p:cNvSpPr txBox="1"/>
          <p:nvPr/>
        </p:nvSpPr>
        <p:spPr>
          <a:xfrm>
            <a:off x="787526" y="2733837"/>
            <a:ext cx="3581400" cy="880049"/>
          </a:xfrm>
          <a:prstGeom prst="rect">
            <a:avLst/>
          </a:prstGeom>
        </p:spPr>
        <p:txBody>
          <a:bodyPr vert="horz" wrap="square" lIns="0" tIns="12700" rIns="0" bIns="0" rtlCol="0">
            <a:spAutoFit/>
          </a:bodyPr>
          <a:lstStyle/>
          <a:p>
            <a:pPr marL="12700" marR="5080">
              <a:lnSpc>
                <a:spcPct val="150000"/>
              </a:lnSpc>
              <a:spcBef>
                <a:spcPts val="100"/>
              </a:spcBef>
            </a:pPr>
            <a:r>
              <a:rPr sz="2000" dirty="0" err="1">
                <a:solidFill>
                  <a:srgbClr val="800000"/>
                </a:solidFill>
                <a:latin typeface="微软雅黑" panose="020B0503020204020204" pitchFamily="34" charset="-122"/>
                <a:ea typeface="微软雅黑" panose="020B0503020204020204" pitchFamily="34" charset="-122"/>
                <a:cs typeface="华文细黑" panose="02010600040101010101" charset="-122"/>
              </a:rPr>
              <a:t>为右图的两个类定义公共父类</a:t>
            </a:r>
            <a:r>
              <a:rPr sz="2000" dirty="0">
                <a:solidFill>
                  <a:srgbClr val="941100"/>
                </a:solidFill>
                <a:latin typeface="微软雅黑" panose="020B0503020204020204" pitchFamily="34" charset="-122"/>
                <a:ea typeface="微软雅黑" panose="020B0503020204020204" pitchFamily="34" charset="-122"/>
                <a:cs typeface="华文细黑" panose="02010600040101010101" charset="-122"/>
              </a:rPr>
              <a:t>， </a:t>
            </a:r>
            <a:r>
              <a:rPr sz="2000" dirty="0">
                <a:solidFill>
                  <a:srgbClr val="800000"/>
                </a:solidFill>
                <a:latin typeface="微软雅黑" panose="020B0503020204020204" pitchFamily="34" charset="-122"/>
                <a:ea typeface="微软雅黑" panose="020B0503020204020204" pitchFamily="34" charset="-122"/>
                <a:cs typeface="华文细黑" panose="02010600040101010101" charset="-122"/>
              </a:rPr>
              <a:t>并重画该类图</a:t>
            </a:r>
            <a:endParaRPr sz="2000" dirty="0">
              <a:latin typeface="微软雅黑" panose="020B0503020204020204" pitchFamily="34" charset="-122"/>
              <a:ea typeface="微软雅黑" panose="020B0503020204020204" pitchFamily="34" charset="-122"/>
              <a:cs typeface="华文细黑" panose="02010600040101010101" charset="-122"/>
            </a:endParaRPr>
          </a:p>
        </p:txBody>
      </p:sp>
      <p:sp>
        <p:nvSpPr>
          <p:cNvPr id="46" name="object 7"/>
          <p:cNvSpPr/>
          <p:nvPr/>
        </p:nvSpPr>
        <p:spPr>
          <a:xfrm>
            <a:off x="4567256" y="2290514"/>
            <a:ext cx="3308465" cy="2647603"/>
          </a:xfrm>
          <a:prstGeom prst="rect">
            <a:avLst/>
          </a:prstGeom>
          <a:blipFill>
            <a:blip r:embed="rId3" cstate="print"/>
            <a:stretch>
              <a:fillRect/>
            </a:stretch>
          </a:blipFill>
        </p:spPr>
        <p:txBody>
          <a:bodyPr wrap="square" lIns="0" tIns="0" rIns="0" bIns="0" rtlCol="0"/>
          <a:lstStyle/>
          <a:p>
            <a:endParaRPr/>
          </a:p>
        </p:txBody>
      </p:sp>
      <p:sp>
        <p:nvSpPr>
          <p:cNvPr id="47" name="object 8"/>
          <p:cNvSpPr/>
          <p:nvPr/>
        </p:nvSpPr>
        <p:spPr>
          <a:xfrm>
            <a:off x="4656474" y="2381912"/>
            <a:ext cx="3130550" cy="2465705"/>
          </a:xfrm>
          <a:custGeom>
            <a:avLst/>
            <a:gdLst/>
            <a:ahLst/>
            <a:cxnLst/>
            <a:rect l="l" t="t" r="r" b="b"/>
            <a:pathLst>
              <a:path w="3130550" h="2465704">
                <a:moveTo>
                  <a:pt x="0" y="0"/>
                </a:moveTo>
                <a:lnTo>
                  <a:pt x="3130548" y="0"/>
                </a:lnTo>
                <a:lnTo>
                  <a:pt x="3130548" y="2465386"/>
                </a:lnTo>
                <a:lnTo>
                  <a:pt x="0" y="2465386"/>
                </a:lnTo>
                <a:lnTo>
                  <a:pt x="0" y="0"/>
                </a:lnTo>
                <a:close/>
              </a:path>
            </a:pathLst>
          </a:custGeom>
          <a:solidFill>
            <a:srgbClr val="ECEBEB"/>
          </a:solidFill>
        </p:spPr>
        <p:txBody>
          <a:bodyPr wrap="square" lIns="0" tIns="0" rIns="0" bIns="0" rtlCol="0"/>
          <a:lstStyle/>
          <a:p>
            <a:endParaRPr/>
          </a:p>
        </p:txBody>
      </p:sp>
      <p:graphicFrame>
        <p:nvGraphicFramePr>
          <p:cNvPr id="48" name="object 9"/>
          <p:cNvGraphicFramePr>
            <a:graphicFrameLocks noGrp="1"/>
          </p:cNvGraphicFramePr>
          <p:nvPr/>
        </p:nvGraphicFramePr>
        <p:xfrm>
          <a:off x="4637424" y="2362863"/>
          <a:ext cx="3130550" cy="2465385"/>
        </p:xfrm>
        <a:graphic>
          <a:graphicData uri="http://schemas.openxmlformats.org/drawingml/2006/table">
            <a:tbl>
              <a:tblPr firstRow="1" bandRow="1">
                <a:tableStyleId>{2D5ABB26-0587-4C30-8999-92F81FD0307C}</a:tableStyleId>
              </a:tblPr>
              <a:tblGrid>
                <a:gridCol w="3130550">
                  <a:extLst>
                    <a:ext uri="{9D8B030D-6E8A-4147-A177-3AD203B41FA5}">
                      <a16:colId xmlns:a16="http://schemas.microsoft.com/office/drawing/2014/main" val="20000"/>
                    </a:ext>
                  </a:extLst>
                </a:gridCol>
              </a:tblGrid>
              <a:tr h="382087">
                <a:tc>
                  <a:txBody>
                    <a:bodyPr/>
                    <a:lstStyle/>
                    <a:p>
                      <a:pPr marR="179070" algn="ctr">
                        <a:lnSpc>
                          <a:spcPct val="100000"/>
                        </a:lnSpc>
                        <a:spcBef>
                          <a:spcPts val="600"/>
                        </a:spcBef>
                      </a:pPr>
                      <a:r>
                        <a:rPr sz="1700" dirty="0">
                          <a:latin typeface="Arial" panose="020B0604020202020204"/>
                          <a:cs typeface="Arial" panose="020B0604020202020204"/>
                        </a:rPr>
                        <a:t>Book</a:t>
                      </a:r>
                      <a:endParaRPr sz="1700">
                        <a:latin typeface="Arial" panose="020B0604020202020204"/>
                        <a:cs typeface="Arial" panose="020B0604020202020204"/>
                      </a:endParaRPr>
                    </a:p>
                  </a:txBody>
                  <a:tcPr marL="0" marR="0" marT="76200" marB="0">
                    <a:lnL w="38100">
                      <a:solidFill>
                        <a:srgbClr val="941100"/>
                      </a:solidFill>
                      <a:prstDash val="solid"/>
                    </a:lnL>
                    <a:lnR w="38100">
                      <a:solidFill>
                        <a:srgbClr val="941100"/>
                      </a:solidFill>
                      <a:prstDash val="solid"/>
                    </a:lnR>
                    <a:lnT w="38100">
                      <a:solidFill>
                        <a:srgbClr val="941100"/>
                      </a:solidFill>
                      <a:prstDash val="solid"/>
                    </a:lnT>
                    <a:lnB w="12700">
                      <a:solidFill>
                        <a:srgbClr val="000000"/>
                      </a:solidFill>
                      <a:prstDash val="solid"/>
                    </a:lnB>
                  </a:tcPr>
                </a:tc>
                <a:extLst>
                  <a:ext uri="{0D108BD9-81ED-4DB2-BD59-A6C34878D82A}">
                    <a16:rowId xmlns:a16="http://schemas.microsoft.com/office/drawing/2014/main" val="10000"/>
                  </a:ext>
                </a:extLst>
              </a:tr>
              <a:tr h="1599111">
                <a:tc>
                  <a:txBody>
                    <a:bodyPr/>
                    <a:lstStyle/>
                    <a:p>
                      <a:pPr marL="292100" marR="1018540">
                        <a:lnSpc>
                          <a:spcPts val="1740"/>
                        </a:lnSpc>
                        <a:spcBef>
                          <a:spcPts val="1500"/>
                        </a:spcBef>
                      </a:pPr>
                      <a:r>
                        <a:rPr sz="1700" dirty="0">
                          <a:solidFill>
                            <a:srgbClr val="800000"/>
                          </a:solidFill>
                          <a:latin typeface="Arial" panose="020B0604020202020204"/>
                          <a:cs typeface="Arial" panose="020B0604020202020204"/>
                        </a:rPr>
                        <a:t>Acquisi</a:t>
                      </a:r>
                      <a:r>
                        <a:rPr sz="1700" spc="-5" dirty="0">
                          <a:solidFill>
                            <a:srgbClr val="800000"/>
                          </a:solidFill>
                          <a:latin typeface="Arial" panose="020B0604020202020204"/>
                          <a:cs typeface="Arial" panose="020B0604020202020204"/>
                        </a:rPr>
                        <a:t>t</a:t>
                      </a:r>
                      <a:r>
                        <a:rPr sz="1700" dirty="0">
                          <a:solidFill>
                            <a:srgbClr val="800000"/>
                          </a:solidFill>
                          <a:latin typeface="Arial" panose="020B0604020202020204"/>
                          <a:cs typeface="Arial" panose="020B0604020202020204"/>
                        </a:rPr>
                        <a:t>ionNumber  </a:t>
                      </a:r>
                      <a:r>
                        <a:rPr sz="1700" spc="-15" dirty="0">
                          <a:solidFill>
                            <a:srgbClr val="800000"/>
                          </a:solidFill>
                          <a:latin typeface="Arial" panose="020B0604020202020204"/>
                          <a:cs typeface="Arial" panose="020B0604020202020204"/>
                        </a:rPr>
                        <a:t>Title</a:t>
                      </a:r>
                      <a:endParaRPr sz="1700">
                        <a:latin typeface="Arial" panose="020B0604020202020204"/>
                        <a:cs typeface="Arial" panose="020B0604020202020204"/>
                      </a:endParaRPr>
                    </a:p>
                    <a:p>
                      <a:pPr marL="291465" marR="1930400">
                        <a:lnSpc>
                          <a:spcPts val="1740"/>
                        </a:lnSpc>
                        <a:spcBef>
                          <a:spcPts val="5"/>
                        </a:spcBef>
                      </a:pPr>
                      <a:r>
                        <a:rPr sz="1700" spc="-5" dirty="0">
                          <a:latin typeface="Arial" panose="020B0604020202020204"/>
                          <a:cs typeface="Arial" panose="020B0604020202020204"/>
                        </a:rPr>
                        <a:t>Author  </a:t>
                      </a:r>
                      <a:r>
                        <a:rPr sz="1700" dirty="0">
                          <a:latin typeface="Arial" panose="020B0604020202020204"/>
                          <a:cs typeface="Arial" panose="020B0604020202020204"/>
                        </a:rPr>
                        <a:t>Publisher  </a:t>
                      </a:r>
                      <a:r>
                        <a:rPr sz="1700" spc="-5" dirty="0">
                          <a:latin typeface="Arial" panose="020B0604020202020204"/>
                          <a:cs typeface="Arial" panose="020B0604020202020204"/>
                        </a:rPr>
                        <a:t>ISBN</a:t>
                      </a:r>
                      <a:endParaRPr sz="1700">
                        <a:latin typeface="Arial" panose="020B0604020202020204"/>
                        <a:cs typeface="Arial" panose="020B0604020202020204"/>
                      </a:endParaRPr>
                    </a:p>
                    <a:p>
                      <a:pPr marL="292100">
                        <a:lnSpc>
                          <a:spcPts val="1725"/>
                        </a:lnSpc>
                      </a:pPr>
                      <a:r>
                        <a:rPr sz="1700" dirty="0">
                          <a:solidFill>
                            <a:srgbClr val="800000"/>
                          </a:solidFill>
                          <a:latin typeface="Arial" panose="020B0604020202020204"/>
                          <a:cs typeface="Arial" panose="020B0604020202020204"/>
                        </a:rPr>
                        <a:t>DeweyCode</a:t>
                      </a:r>
                      <a:endParaRPr sz="1700">
                        <a:latin typeface="Arial" panose="020B0604020202020204"/>
                        <a:cs typeface="Arial" panose="020B0604020202020204"/>
                      </a:endParaRPr>
                    </a:p>
                  </a:txBody>
                  <a:tcPr marL="0" marR="0" marT="190500" marB="0">
                    <a:lnL w="38100">
                      <a:solidFill>
                        <a:srgbClr val="941100"/>
                      </a:solidFill>
                      <a:prstDash val="solid"/>
                    </a:lnL>
                    <a:lnR w="38100">
                      <a:solidFill>
                        <a:srgbClr val="941100"/>
                      </a:solidFill>
                      <a:prstDash val="solid"/>
                    </a:lnR>
                    <a:lnT w="12700">
                      <a:solidFill>
                        <a:srgbClr val="000000"/>
                      </a:solidFill>
                      <a:prstDash val="solid"/>
                    </a:lnT>
                    <a:lnB w="9525">
                      <a:solidFill>
                        <a:srgbClr val="000000"/>
                      </a:solidFill>
                      <a:prstDash val="solid"/>
                    </a:lnB>
                  </a:tcPr>
                </a:tc>
                <a:extLst>
                  <a:ext uri="{0D108BD9-81ED-4DB2-BD59-A6C34878D82A}">
                    <a16:rowId xmlns:a16="http://schemas.microsoft.com/office/drawing/2014/main" val="10001"/>
                  </a:ext>
                </a:extLst>
              </a:tr>
              <a:tr h="484187">
                <a:tc>
                  <a:txBody>
                    <a:bodyPr/>
                    <a:lstStyle/>
                    <a:p>
                      <a:pPr marL="291465" marR="2182495">
                        <a:lnSpc>
                          <a:spcPts val="1740"/>
                        </a:lnSpc>
                        <a:spcBef>
                          <a:spcPts val="305"/>
                        </a:spcBef>
                      </a:pPr>
                      <a:r>
                        <a:rPr sz="1700" dirty="0">
                          <a:solidFill>
                            <a:srgbClr val="800000"/>
                          </a:solidFill>
                          <a:latin typeface="Arial" panose="020B0604020202020204"/>
                          <a:cs typeface="Arial" panose="020B0604020202020204"/>
                        </a:rPr>
                        <a:t>Loan  Re</a:t>
                      </a:r>
                      <a:r>
                        <a:rPr sz="1700" spc="-5" dirty="0">
                          <a:solidFill>
                            <a:srgbClr val="800000"/>
                          </a:solidFill>
                          <a:latin typeface="Arial" panose="020B0604020202020204"/>
                          <a:cs typeface="Arial" panose="020B0604020202020204"/>
                        </a:rPr>
                        <a:t>t</a:t>
                      </a:r>
                      <a:r>
                        <a:rPr sz="1700" dirty="0">
                          <a:solidFill>
                            <a:srgbClr val="800000"/>
                          </a:solidFill>
                          <a:latin typeface="Arial" panose="020B0604020202020204"/>
                          <a:cs typeface="Arial" panose="020B0604020202020204"/>
                        </a:rPr>
                        <a:t>urn</a:t>
                      </a:r>
                      <a:endParaRPr sz="1700" dirty="0">
                        <a:latin typeface="Arial" panose="020B0604020202020204"/>
                        <a:cs typeface="Arial" panose="020B0604020202020204"/>
                      </a:endParaRPr>
                    </a:p>
                  </a:txBody>
                  <a:tcPr marL="0" marR="0" marT="38735" marB="0">
                    <a:lnL w="38100">
                      <a:solidFill>
                        <a:srgbClr val="941100"/>
                      </a:solidFill>
                      <a:prstDash val="solid"/>
                    </a:lnL>
                    <a:lnR w="38100">
                      <a:solidFill>
                        <a:srgbClr val="941100"/>
                      </a:solidFill>
                      <a:prstDash val="solid"/>
                    </a:lnR>
                    <a:lnT w="9525">
                      <a:solidFill>
                        <a:srgbClr val="000000"/>
                      </a:solidFill>
                      <a:prstDash val="solid"/>
                    </a:lnT>
                    <a:lnB w="38100">
                      <a:solidFill>
                        <a:srgbClr val="941100"/>
                      </a:solidFill>
                      <a:prstDash val="solid"/>
                    </a:lnB>
                  </a:tcPr>
                </a:tc>
                <a:extLst>
                  <a:ext uri="{0D108BD9-81ED-4DB2-BD59-A6C34878D82A}">
                    <a16:rowId xmlns:a16="http://schemas.microsoft.com/office/drawing/2014/main" val="10002"/>
                  </a:ext>
                </a:extLst>
              </a:tr>
            </a:tbl>
          </a:graphicData>
        </a:graphic>
      </p:graphicFrame>
      <p:sp>
        <p:nvSpPr>
          <p:cNvPr id="49" name="object 10"/>
          <p:cNvSpPr/>
          <p:nvPr/>
        </p:nvSpPr>
        <p:spPr>
          <a:xfrm>
            <a:off x="8012882" y="2248951"/>
            <a:ext cx="3391592" cy="2730731"/>
          </a:xfrm>
          <a:prstGeom prst="rect">
            <a:avLst/>
          </a:prstGeom>
          <a:blipFill>
            <a:blip r:embed="rId4" cstate="print"/>
            <a:stretch>
              <a:fillRect/>
            </a:stretch>
          </a:blipFill>
        </p:spPr>
        <p:txBody>
          <a:bodyPr wrap="square" lIns="0" tIns="0" rIns="0" bIns="0" rtlCol="0"/>
          <a:lstStyle/>
          <a:p>
            <a:endParaRPr/>
          </a:p>
        </p:txBody>
      </p:sp>
      <p:sp>
        <p:nvSpPr>
          <p:cNvPr id="50" name="object 11"/>
          <p:cNvSpPr/>
          <p:nvPr/>
        </p:nvSpPr>
        <p:spPr>
          <a:xfrm>
            <a:off x="8144039" y="2381912"/>
            <a:ext cx="3130550" cy="2465705"/>
          </a:xfrm>
          <a:custGeom>
            <a:avLst/>
            <a:gdLst/>
            <a:ahLst/>
            <a:cxnLst/>
            <a:rect l="l" t="t" r="r" b="b"/>
            <a:pathLst>
              <a:path w="3130550" h="2465704">
                <a:moveTo>
                  <a:pt x="0" y="0"/>
                </a:moveTo>
                <a:lnTo>
                  <a:pt x="3130551" y="0"/>
                </a:lnTo>
                <a:lnTo>
                  <a:pt x="3130551" y="2465386"/>
                </a:lnTo>
                <a:lnTo>
                  <a:pt x="0" y="2465386"/>
                </a:lnTo>
                <a:lnTo>
                  <a:pt x="0" y="0"/>
                </a:lnTo>
                <a:close/>
              </a:path>
            </a:pathLst>
          </a:custGeom>
          <a:solidFill>
            <a:srgbClr val="DEE3EA"/>
          </a:solidFill>
        </p:spPr>
        <p:txBody>
          <a:bodyPr wrap="square" lIns="0" tIns="0" rIns="0" bIns="0" rtlCol="0"/>
          <a:lstStyle/>
          <a:p>
            <a:endParaRPr/>
          </a:p>
        </p:txBody>
      </p:sp>
      <p:graphicFrame>
        <p:nvGraphicFramePr>
          <p:cNvPr id="51" name="object 12"/>
          <p:cNvGraphicFramePr>
            <a:graphicFrameLocks noGrp="1"/>
          </p:cNvGraphicFramePr>
          <p:nvPr/>
        </p:nvGraphicFramePr>
        <p:xfrm>
          <a:off x="8124989" y="2362863"/>
          <a:ext cx="3130550" cy="2465385"/>
        </p:xfrm>
        <a:graphic>
          <a:graphicData uri="http://schemas.openxmlformats.org/drawingml/2006/table">
            <a:tbl>
              <a:tblPr firstRow="1" bandRow="1">
                <a:tableStyleId>{2D5ABB26-0587-4C30-8999-92F81FD0307C}</a:tableStyleId>
              </a:tblPr>
              <a:tblGrid>
                <a:gridCol w="3130550">
                  <a:extLst>
                    <a:ext uri="{9D8B030D-6E8A-4147-A177-3AD203B41FA5}">
                      <a16:colId xmlns:a16="http://schemas.microsoft.com/office/drawing/2014/main" val="20000"/>
                    </a:ext>
                  </a:extLst>
                </a:gridCol>
              </a:tblGrid>
              <a:tr h="380999">
                <a:tc>
                  <a:txBody>
                    <a:bodyPr/>
                    <a:lstStyle/>
                    <a:p>
                      <a:pPr marL="1089660">
                        <a:lnSpc>
                          <a:spcPct val="100000"/>
                        </a:lnSpc>
                        <a:spcBef>
                          <a:spcPts val="600"/>
                        </a:spcBef>
                      </a:pPr>
                      <a:r>
                        <a:rPr sz="1700" spc="-5" dirty="0">
                          <a:latin typeface="Arial" panose="020B0604020202020204"/>
                          <a:cs typeface="Arial" panose="020B0604020202020204"/>
                        </a:rPr>
                        <a:t>Record/CD</a:t>
                      </a:r>
                      <a:endParaRPr sz="1700">
                        <a:latin typeface="Arial" panose="020B0604020202020204"/>
                        <a:cs typeface="Arial" panose="020B0604020202020204"/>
                      </a:endParaRPr>
                    </a:p>
                  </a:txBody>
                  <a:tcPr marL="0" marR="0" marT="76200" marB="0">
                    <a:lnL w="38100">
                      <a:solidFill>
                        <a:srgbClr val="941100"/>
                      </a:solidFill>
                      <a:prstDash val="solid"/>
                    </a:lnL>
                    <a:lnR w="38100">
                      <a:solidFill>
                        <a:srgbClr val="941100"/>
                      </a:solidFill>
                      <a:prstDash val="solid"/>
                    </a:lnR>
                    <a:lnT w="38100">
                      <a:solidFill>
                        <a:srgbClr val="941100"/>
                      </a:solidFill>
                      <a:prstDash val="solid"/>
                    </a:lnT>
                    <a:lnB w="9525">
                      <a:solidFill>
                        <a:srgbClr val="000000"/>
                      </a:solidFill>
                      <a:prstDash val="solid"/>
                    </a:lnB>
                  </a:tcPr>
                </a:tc>
                <a:extLst>
                  <a:ext uri="{0D108BD9-81ED-4DB2-BD59-A6C34878D82A}">
                    <a16:rowId xmlns:a16="http://schemas.microsoft.com/office/drawing/2014/main" val="10000"/>
                  </a:ext>
                </a:extLst>
              </a:tr>
              <a:tr h="1600199">
                <a:tc>
                  <a:txBody>
                    <a:bodyPr/>
                    <a:lstStyle/>
                    <a:p>
                      <a:pPr marL="276860" marR="1033145">
                        <a:lnSpc>
                          <a:spcPts val="1740"/>
                        </a:lnSpc>
                        <a:spcBef>
                          <a:spcPts val="1505"/>
                        </a:spcBef>
                      </a:pPr>
                      <a:r>
                        <a:rPr sz="1700" dirty="0">
                          <a:solidFill>
                            <a:srgbClr val="800000"/>
                          </a:solidFill>
                          <a:latin typeface="Arial" panose="020B0604020202020204"/>
                          <a:cs typeface="Arial" panose="020B0604020202020204"/>
                        </a:rPr>
                        <a:t>Acquisi</a:t>
                      </a:r>
                      <a:r>
                        <a:rPr sz="1700" spc="-5" dirty="0">
                          <a:solidFill>
                            <a:srgbClr val="800000"/>
                          </a:solidFill>
                          <a:latin typeface="Arial" panose="020B0604020202020204"/>
                          <a:cs typeface="Arial" panose="020B0604020202020204"/>
                        </a:rPr>
                        <a:t>t</a:t>
                      </a:r>
                      <a:r>
                        <a:rPr sz="1700" dirty="0">
                          <a:solidFill>
                            <a:srgbClr val="800000"/>
                          </a:solidFill>
                          <a:latin typeface="Arial" panose="020B0604020202020204"/>
                          <a:cs typeface="Arial" panose="020B0604020202020204"/>
                        </a:rPr>
                        <a:t>ionNumber  </a:t>
                      </a:r>
                      <a:r>
                        <a:rPr sz="1700" spc="-15" dirty="0">
                          <a:solidFill>
                            <a:srgbClr val="800000"/>
                          </a:solidFill>
                          <a:latin typeface="Arial" panose="020B0604020202020204"/>
                          <a:cs typeface="Arial" panose="020B0604020202020204"/>
                        </a:rPr>
                        <a:t>Title</a:t>
                      </a:r>
                      <a:endParaRPr sz="1700">
                        <a:latin typeface="Arial" panose="020B0604020202020204"/>
                        <a:cs typeface="Arial" panose="020B0604020202020204"/>
                      </a:endParaRPr>
                    </a:p>
                    <a:p>
                      <a:pPr marL="276860" marR="1224915">
                        <a:lnSpc>
                          <a:spcPts val="1740"/>
                        </a:lnSpc>
                        <a:spcBef>
                          <a:spcPts val="10"/>
                        </a:spcBef>
                      </a:pPr>
                      <a:r>
                        <a:rPr sz="1700" spc="-5" dirty="0">
                          <a:latin typeface="Arial" panose="020B0604020202020204"/>
                          <a:cs typeface="Arial" panose="020B0604020202020204"/>
                        </a:rPr>
                        <a:t>Artiste  CatalogNumber  </a:t>
                      </a:r>
                      <a:r>
                        <a:rPr sz="1700" dirty="0">
                          <a:latin typeface="Arial" panose="020B0604020202020204"/>
                          <a:cs typeface="Arial" panose="020B0604020202020204"/>
                        </a:rPr>
                        <a:t>RecordCompany  </a:t>
                      </a:r>
                      <a:r>
                        <a:rPr sz="1700" dirty="0">
                          <a:solidFill>
                            <a:srgbClr val="800000"/>
                          </a:solidFill>
                          <a:latin typeface="Arial" panose="020B0604020202020204"/>
                          <a:cs typeface="Arial" panose="020B0604020202020204"/>
                        </a:rPr>
                        <a:t>DeweyCode</a:t>
                      </a:r>
                      <a:endParaRPr sz="1700">
                        <a:latin typeface="Arial" panose="020B0604020202020204"/>
                        <a:cs typeface="Arial" panose="020B0604020202020204"/>
                      </a:endParaRPr>
                    </a:p>
                  </a:txBody>
                  <a:tcPr marL="0" marR="0" marT="191135" marB="0">
                    <a:lnL w="38100">
                      <a:solidFill>
                        <a:srgbClr val="941100"/>
                      </a:solidFill>
                      <a:prstDash val="solid"/>
                    </a:lnL>
                    <a:lnR w="38100">
                      <a:solidFill>
                        <a:srgbClr val="9411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1"/>
                  </a:ext>
                </a:extLst>
              </a:tr>
              <a:tr h="484187">
                <a:tc>
                  <a:txBody>
                    <a:bodyPr/>
                    <a:lstStyle/>
                    <a:p>
                      <a:pPr marL="276860" marR="2197100">
                        <a:lnSpc>
                          <a:spcPts val="1740"/>
                        </a:lnSpc>
                        <a:spcBef>
                          <a:spcPts val="370"/>
                        </a:spcBef>
                      </a:pPr>
                      <a:r>
                        <a:rPr sz="1700" dirty="0">
                          <a:solidFill>
                            <a:srgbClr val="800000"/>
                          </a:solidFill>
                          <a:latin typeface="Arial" panose="020B0604020202020204"/>
                          <a:cs typeface="Arial" panose="020B0604020202020204"/>
                        </a:rPr>
                        <a:t>Loan  Re</a:t>
                      </a:r>
                      <a:r>
                        <a:rPr sz="1700" spc="-5" dirty="0">
                          <a:solidFill>
                            <a:srgbClr val="800000"/>
                          </a:solidFill>
                          <a:latin typeface="Arial" panose="020B0604020202020204"/>
                          <a:cs typeface="Arial" panose="020B0604020202020204"/>
                        </a:rPr>
                        <a:t>t</a:t>
                      </a:r>
                      <a:r>
                        <a:rPr sz="1700" dirty="0">
                          <a:solidFill>
                            <a:srgbClr val="800000"/>
                          </a:solidFill>
                          <a:latin typeface="Arial" panose="020B0604020202020204"/>
                          <a:cs typeface="Arial" panose="020B0604020202020204"/>
                        </a:rPr>
                        <a:t>urn</a:t>
                      </a:r>
                      <a:endParaRPr sz="1700" dirty="0">
                        <a:latin typeface="Arial" panose="020B0604020202020204"/>
                        <a:cs typeface="Arial" panose="020B0604020202020204"/>
                      </a:endParaRPr>
                    </a:p>
                  </a:txBody>
                  <a:tcPr marL="0" marR="0" marT="46990" marB="0">
                    <a:lnL w="38100">
                      <a:solidFill>
                        <a:srgbClr val="941100"/>
                      </a:solidFill>
                      <a:prstDash val="solid"/>
                    </a:lnL>
                    <a:lnR w="38100">
                      <a:solidFill>
                        <a:srgbClr val="941100"/>
                      </a:solidFill>
                      <a:prstDash val="solid"/>
                    </a:lnR>
                    <a:lnT w="9525">
                      <a:solidFill>
                        <a:srgbClr val="000000"/>
                      </a:solidFill>
                      <a:prstDash val="solid"/>
                    </a:lnT>
                    <a:lnB w="38100">
                      <a:solidFill>
                        <a:srgbClr val="941100"/>
                      </a:solidFill>
                      <a:prstDash val="solid"/>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74D2AB8B-5816-41F2-8B4B-CA5C3E4E6A65}" type="slidenum">
              <a:rPr lang="zh-CN" altLang="en-US" smtClean="0"/>
              <a:t>29</a:t>
            </a:fld>
            <a:endParaRPr lang="zh-CN" altLang="en-US"/>
          </a:p>
        </p:txBody>
      </p:sp>
      <p:sp>
        <p:nvSpPr>
          <p:cNvPr id="3" name="object 2"/>
          <p:cNvSpPr/>
          <p:nvPr/>
        </p:nvSpPr>
        <p:spPr>
          <a:xfrm>
            <a:off x="6197116" y="3277027"/>
            <a:ext cx="406400" cy="313690"/>
          </a:xfrm>
          <a:custGeom>
            <a:avLst/>
            <a:gdLst/>
            <a:ahLst/>
            <a:cxnLst/>
            <a:rect l="l" t="t" r="r" b="b"/>
            <a:pathLst>
              <a:path w="406400" h="313689">
                <a:moveTo>
                  <a:pt x="406307" y="313427"/>
                </a:moveTo>
                <a:lnTo>
                  <a:pt x="0" y="313427"/>
                </a:lnTo>
                <a:lnTo>
                  <a:pt x="203190" y="0"/>
                </a:lnTo>
                <a:lnTo>
                  <a:pt x="406307" y="313427"/>
                </a:lnTo>
              </a:path>
            </a:pathLst>
          </a:custGeom>
          <a:ln w="10215">
            <a:solidFill>
              <a:srgbClr val="000000"/>
            </a:solidFill>
          </a:ln>
        </p:spPr>
        <p:txBody>
          <a:bodyPr wrap="square" lIns="0" tIns="0" rIns="0" bIns="0" rtlCol="0"/>
          <a:lstStyle/>
          <a:p>
            <a:endParaRPr/>
          </a:p>
        </p:txBody>
      </p:sp>
      <p:graphicFrame>
        <p:nvGraphicFramePr>
          <p:cNvPr id="4" name="object 3"/>
          <p:cNvGraphicFramePr>
            <a:graphicFrameLocks noGrp="1"/>
          </p:cNvGraphicFramePr>
          <p:nvPr/>
        </p:nvGraphicFramePr>
        <p:xfrm>
          <a:off x="5128392" y="1217872"/>
          <a:ext cx="3068320" cy="2057329"/>
        </p:xfrm>
        <a:graphic>
          <a:graphicData uri="http://schemas.openxmlformats.org/drawingml/2006/table">
            <a:tbl>
              <a:tblPr firstRow="1" bandRow="1">
                <a:tableStyleId>{2D5ABB26-0587-4C30-8999-92F81FD0307C}</a:tableStyleId>
              </a:tblPr>
              <a:tblGrid>
                <a:gridCol w="1266825">
                  <a:extLst>
                    <a:ext uri="{9D8B030D-6E8A-4147-A177-3AD203B41FA5}">
                      <a16:colId xmlns:a16="http://schemas.microsoft.com/office/drawing/2014/main" val="20000"/>
                    </a:ext>
                  </a:extLst>
                </a:gridCol>
                <a:gridCol w="1801495">
                  <a:extLst>
                    <a:ext uri="{9D8B030D-6E8A-4147-A177-3AD203B41FA5}">
                      <a16:colId xmlns:a16="http://schemas.microsoft.com/office/drawing/2014/main" val="20001"/>
                    </a:ext>
                  </a:extLst>
                </a:gridCol>
              </a:tblGrid>
              <a:tr h="497439">
                <a:tc gridSpan="2">
                  <a:txBody>
                    <a:bodyPr/>
                    <a:lstStyle/>
                    <a:p>
                      <a:pPr marL="935355">
                        <a:lnSpc>
                          <a:spcPct val="100000"/>
                        </a:lnSpc>
                        <a:spcBef>
                          <a:spcPts val="715"/>
                        </a:spcBef>
                      </a:pPr>
                      <a:r>
                        <a:rPr sz="1750" spc="320" dirty="0">
                          <a:latin typeface="Arial" panose="020B0604020202020204"/>
                          <a:cs typeface="Arial" panose="020B0604020202020204"/>
                        </a:rPr>
                        <a:t>LoanItem</a:t>
                      </a:r>
                      <a:endParaRPr sz="1750">
                        <a:latin typeface="Arial" panose="020B0604020202020204"/>
                        <a:cs typeface="Arial" panose="020B0604020202020204"/>
                      </a:endParaRPr>
                    </a:p>
                  </a:txBody>
                  <a:tcPr marL="0" marR="0" marT="908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lang="zh-CN"/>
                    </a:p>
                  </a:txBody>
                  <a:tcPr marL="0" marR="0" marT="0" marB="0"/>
                </a:tc>
                <a:extLst>
                  <a:ext uri="{0D108BD9-81ED-4DB2-BD59-A6C34878D82A}">
                    <a16:rowId xmlns:a16="http://schemas.microsoft.com/office/drawing/2014/main" val="10000"/>
                  </a:ext>
                </a:extLst>
              </a:tr>
              <a:tr h="746056">
                <a:tc gridSpan="2">
                  <a:txBody>
                    <a:bodyPr/>
                    <a:lstStyle/>
                    <a:p>
                      <a:pPr marL="197485">
                        <a:lnSpc>
                          <a:spcPts val="1765"/>
                        </a:lnSpc>
                      </a:pPr>
                      <a:r>
                        <a:rPr sz="1750" spc="235" dirty="0">
                          <a:latin typeface="Arial" panose="020B0604020202020204"/>
                          <a:cs typeface="Arial" panose="020B0604020202020204"/>
                        </a:rPr>
                        <a:t>Title</a:t>
                      </a:r>
                      <a:endParaRPr sz="1750" dirty="0">
                        <a:latin typeface="Arial" panose="020B0604020202020204"/>
                        <a:cs typeface="Arial" panose="020B0604020202020204"/>
                      </a:endParaRPr>
                    </a:p>
                    <a:p>
                      <a:pPr marL="197485" marR="327025">
                        <a:lnSpc>
                          <a:spcPts val="1960"/>
                        </a:lnSpc>
                        <a:spcBef>
                          <a:spcPts val="110"/>
                        </a:spcBef>
                      </a:pPr>
                      <a:r>
                        <a:rPr sz="1750" spc="375" dirty="0">
                          <a:latin typeface="Arial" panose="020B0604020202020204"/>
                          <a:cs typeface="Arial" panose="020B0604020202020204"/>
                        </a:rPr>
                        <a:t>DeweyCode  </a:t>
                      </a:r>
                      <a:r>
                        <a:rPr sz="1750" spc="15" dirty="0">
                          <a:latin typeface="Arial" panose="020B0604020202020204"/>
                          <a:cs typeface="Arial" panose="020B0604020202020204"/>
                        </a:rPr>
                        <a:t>A</a:t>
                      </a:r>
                      <a:r>
                        <a:rPr sz="1750" dirty="0">
                          <a:latin typeface="Arial" panose="020B0604020202020204"/>
                          <a:cs typeface="Arial" panose="020B0604020202020204"/>
                        </a:rPr>
                        <a:t>c</a:t>
                      </a:r>
                      <a:r>
                        <a:rPr sz="1750" spc="20" dirty="0">
                          <a:latin typeface="Arial" panose="020B0604020202020204"/>
                          <a:cs typeface="Arial" panose="020B0604020202020204"/>
                        </a:rPr>
                        <a:t>q</a:t>
                      </a:r>
                      <a:r>
                        <a:rPr sz="1750" spc="-15" dirty="0">
                          <a:latin typeface="Arial" panose="020B0604020202020204"/>
                          <a:cs typeface="Arial" panose="020B0604020202020204"/>
                        </a:rPr>
                        <a:t>u</a:t>
                      </a:r>
                      <a:r>
                        <a:rPr sz="1750" spc="15" dirty="0">
                          <a:latin typeface="Arial" panose="020B0604020202020204"/>
                          <a:cs typeface="Arial" panose="020B0604020202020204"/>
                        </a:rPr>
                        <a:t>i</a:t>
                      </a:r>
                      <a:r>
                        <a:rPr sz="1750" dirty="0">
                          <a:latin typeface="Arial" panose="020B0604020202020204"/>
                          <a:cs typeface="Arial" panose="020B0604020202020204"/>
                        </a:rPr>
                        <a:t>s</a:t>
                      </a:r>
                      <a:r>
                        <a:rPr sz="1750" spc="10" dirty="0">
                          <a:latin typeface="Arial" panose="020B0604020202020204"/>
                          <a:cs typeface="Arial" panose="020B0604020202020204"/>
                        </a:rPr>
                        <a:t>i</a:t>
                      </a:r>
                      <a:r>
                        <a:rPr sz="1750" spc="-30" dirty="0">
                          <a:latin typeface="Arial" panose="020B0604020202020204"/>
                          <a:cs typeface="Arial" panose="020B0604020202020204"/>
                        </a:rPr>
                        <a:t>t</a:t>
                      </a:r>
                      <a:r>
                        <a:rPr sz="1750" spc="15" dirty="0">
                          <a:latin typeface="Arial" panose="020B0604020202020204"/>
                          <a:cs typeface="Arial" panose="020B0604020202020204"/>
                        </a:rPr>
                        <a:t>i</a:t>
                      </a:r>
                      <a:r>
                        <a:rPr sz="1750" spc="-15" dirty="0">
                          <a:latin typeface="Arial" panose="020B0604020202020204"/>
                          <a:cs typeface="Arial" panose="020B0604020202020204"/>
                        </a:rPr>
                        <a:t>o</a:t>
                      </a:r>
                      <a:r>
                        <a:rPr sz="1750" spc="25" dirty="0">
                          <a:latin typeface="Arial" panose="020B0604020202020204"/>
                          <a:cs typeface="Arial" panose="020B0604020202020204"/>
                        </a:rPr>
                        <a:t>n</a:t>
                      </a:r>
                      <a:r>
                        <a:rPr sz="1750" spc="10" dirty="0">
                          <a:latin typeface="Arial" panose="020B0604020202020204"/>
                          <a:cs typeface="Arial" panose="020B0604020202020204"/>
                        </a:rPr>
                        <a:t>N</a:t>
                      </a:r>
                      <a:r>
                        <a:rPr sz="1750" spc="-15" dirty="0">
                          <a:latin typeface="Arial" panose="020B0604020202020204"/>
                          <a:cs typeface="Arial" panose="020B0604020202020204"/>
                        </a:rPr>
                        <a:t>u</a:t>
                      </a:r>
                      <a:r>
                        <a:rPr sz="1750" dirty="0">
                          <a:latin typeface="Arial" panose="020B0604020202020204"/>
                          <a:cs typeface="Arial" panose="020B0604020202020204"/>
                        </a:rPr>
                        <a:t>m</a:t>
                      </a:r>
                      <a:r>
                        <a:rPr sz="1750" spc="35" dirty="0">
                          <a:latin typeface="Arial" panose="020B0604020202020204"/>
                          <a:cs typeface="Arial" panose="020B0604020202020204"/>
                        </a:rPr>
                        <a:t>b</a:t>
                      </a:r>
                      <a:r>
                        <a:rPr sz="1750" spc="-15" dirty="0">
                          <a:latin typeface="Arial" panose="020B0604020202020204"/>
                          <a:cs typeface="Arial" panose="020B0604020202020204"/>
                        </a:rPr>
                        <a:t>e</a:t>
                      </a:r>
                      <a:r>
                        <a:rPr sz="1750" dirty="0">
                          <a:latin typeface="Arial" panose="020B0604020202020204"/>
                          <a:cs typeface="Arial" panose="020B0604020202020204"/>
                        </a:rPr>
                        <a:t>r</a:t>
                      </a: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lang="zh-CN"/>
                    </a:p>
                  </a:txBody>
                  <a:tcPr marL="0" marR="0" marT="0" marB="0"/>
                </a:tc>
                <a:extLst>
                  <a:ext uri="{0D108BD9-81ED-4DB2-BD59-A6C34878D82A}">
                    <a16:rowId xmlns:a16="http://schemas.microsoft.com/office/drawing/2014/main" val="10001"/>
                  </a:ext>
                </a:extLst>
              </a:tr>
              <a:tr h="492401">
                <a:tc gridSpan="2">
                  <a:txBody>
                    <a:bodyPr/>
                    <a:lstStyle/>
                    <a:p>
                      <a:pPr marL="197485">
                        <a:lnSpc>
                          <a:spcPts val="1765"/>
                        </a:lnSpc>
                      </a:pPr>
                      <a:r>
                        <a:rPr sz="1750" spc="355" dirty="0">
                          <a:latin typeface="Arial" panose="020B0604020202020204"/>
                          <a:cs typeface="Arial" panose="020B0604020202020204"/>
                        </a:rPr>
                        <a:t>Loan</a:t>
                      </a:r>
                      <a:endParaRPr sz="1750">
                        <a:latin typeface="Arial" panose="020B0604020202020204"/>
                        <a:cs typeface="Arial" panose="020B0604020202020204"/>
                      </a:endParaRPr>
                    </a:p>
                    <a:p>
                      <a:pPr marL="197485">
                        <a:lnSpc>
                          <a:spcPts val="2010"/>
                        </a:lnSpc>
                      </a:pPr>
                      <a:r>
                        <a:rPr sz="1750" spc="310" dirty="0">
                          <a:latin typeface="Arial" panose="020B0604020202020204"/>
                          <a:cs typeface="Arial" panose="020B0604020202020204"/>
                        </a:rPr>
                        <a:t>Return</a:t>
                      </a:r>
                      <a:endParaRPr sz="1750">
                        <a:latin typeface="Arial" panose="020B0604020202020204"/>
                        <a:cs typeface="Arial" panose="020B06040202020202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lang="zh-CN"/>
                    </a:p>
                  </a:txBody>
                  <a:tcPr marL="0" marR="0" marT="0" marB="0"/>
                </a:tc>
                <a:extLst>
                  <a:ext uri="{0D108BD9-81ED-4DB2-BD59-A6C34878D82A}">
                    <a16:rowId xmlns:a16="http://schemas.microsoft.com/office/drawing/2014/main" val="10002"/>
                  </a:ext>
                </a:extLst>
              </a:tr>
              <a:tr h="318189">
                <a:tc>
                  <a:txBody>
                    <a:bodyPr/>
                    <a:lstStyle/>
                    <a:p>
                      <a:pPr>
                        <a:lnSpc>
                          <a:spcPct val="100000"/>
                        </a:lnSpc>
                      </a:pPr>
                      <a:endParaRPr sz="2000" dirty="0">
                        <a:latin typeface="Times New Roman" panose="02020603050405020304"/>
                        <a:cs typeface="Times New Roman" panose="02020603050405020304"/>
                      </a:endParaRPr>
                    </a:p>
                  </a:txBody>
                  <a:tcPr marL="0" marR="0" marT="0" marB="0">
                    <a:lnR w="12700">
                      <a:solidFill>
                        <a:srgbClr val="000000"/>
                      </a:solidFill>
                      <a:prstDash val="solid"/>
                    </a:lnR>
                    <a:lnT w="12700">
                      <a:solidFill>
                        <a:srgbClr val="000000"/>
                      </a:solidFill>
                      <a:prstDash val="solid"/>
                    </a:lnT>
                  </a:tcPr>
                </a:tc>
                <a:tc>
                  <a:txBody>
                    <a:bodyPr/>
                    <a:lstStyle/>
                    <a:p>
                      <a:pPr>
                        <a:lnSpc>
                          <a:spcPct val="100000"/>
                        </a:lnSpc>
                      </a:pPr>
                      <a:endParaRPr sz="2000" dirty="0">
                        <a:latin typeface="Times New Roman" panose="02020603050405020304"/>
                        <a:cs typeface="Times New Roman" panose="02020603050405020304"/>
                      </a:endParaRPr>
                    </a:p>
                  </a:txBody>
                  <a:tcPr marL="0" marR="0" marT="0" marB="0">
                    <a:lnL w="12700">
                      <a:solidFill>
                        <a:srgbClr val="000000"/>
                      </a:solidFill>
                      <a:prstDash val="solid"/>
                    </a:lnL>
                    <a:lnT w="12700">
                      <a:solidFill>
                        <a:srgbClr val="000000"/>
                      </a:solidFill>
                      <a:prstDash val="solid"/>
                    </a:lnT>
                  </a:tcPr>
                </a:tc>
                <a:extLst>
                  <a:ext uri="{0D108BD9-81ED-4DB2-BD59-A6C34878D82A}">
                    <a16:rowId xmlns:a16="http://schemas.microsoft.com/office/drawing/2014/main" val="10003"/>
                  </a:ext>
                </a:extLst>
              </a:tr>
            </a:tbl>
          </a:graphicData>
        </a:graphic>
      </p:graphicFrame>
      <p:sp>
        <p:nvSpPr>
          <p:cNvPr id="5" name="object 4"/>
          <p:cNvSpPr/>
          <p:nvPr/>
        </p:nvSpPr>
        <p:spPr>
          <a:xfrm>
            <a:off x="6603424" y="3585485"/>
            <a:ext cx="1202690" cy="681990"/>
          </a:xfrm>
          <a:custGeom>
            <a:avLst/>
            <a:gdLst/>
            <a:ahLst/>
            <a:cxnLst/>
            <a:rect l="l" t="t" r="r" b="b"/>
            <a:pathLst>
              <a:path w="1202690" h="681989">
                <a:moveTo>
                  <a:pt x="0" y="4969"/>
                </a:moveTo>
                <a:lnTo>
                  <a:pt x="1202528" y="0"/>
                </a:lnTo>
                <a:lnTo>
                  <a:pt x="1202528" y="681382"/>
                </a:lnTo>
              </a:path>
            </a:pathLst>
          </a:custGeom>
          <a:ln w="10118">
            <a:solidFill>
              <a:srgbClr val="000000"/>
            </a:solidFill>
          </a:ln>
        </p:spPr>
        <p:txBody>
          <a:bodyPr wrap="square" lIns="0" tIns="0" rIns="0" bIns="0" rtlCol="0"/>
          <a:lstStyle/>
          <a:p>
            <a:endParaRPr/>
          </a:p>
        </p:txBody>
      </p:sp>
      <p:graphicFrame>
        <p:nvGraphicFramePr>
          <p:cNvPr id="6" name="object 5"/>
          <p:cNvGraphicFramePr>
            <a:graphicFrameLocks noGrp="1"/>
          </p:cNvGraphicFramePr>
          <p:nvPr/>
        </p:nvGraphicFramePr>
        <p:xfrm>
          <a:off x="6662451" y="3582901"/>
          <a:ext cx="2667635" cy="2046575"/>
        </p:xfrm>
        <a:graphic>
          <a:graphicData uri="http://schemas.openxmlformats.org/drawingml/2006/table">
            <a:tbl>
              <a:tblPr firstRow="1" bandRow="1">
                <a:tableStyleId>{2D5ABB26-0587-4C30-8999-92F81FD0307C}</a:tableStyleId>
              </a:tblPr>
              <a:tblGrid>
                <a:gridCol w="1138555">
                  <a:extLst>
                    <a:ext uri="{9D8B030D-6E8A-4147-A177-3AD203B41FA5}">
                      <a16:colId xmlns:a16="http://schemas.microsoft.com/office/drawing/2014/main" val="20000"/>
                    </a:ext>
                  </a:extLst>
                </a:gridCol>
                <a:gridCol w="1529080">
                  <a:extLst>
                    <a:ext uri="{9D8B030D-6E8A-4147-A177-3AD203B41FA5}">
                      <a16:colId xmlns:a16="http://schemas.microsoft.com/office/drawing/2014/main" val="20001"/>
                    </a:ext>
                  </a:extLst>
                </a:gridCol>
              </a:tblGrid>
              <a:tr h="683881">
                <a:tc>
                  <a:txBody>
                    <a:bodyPr/>
                    <a:lstStyle/>
                    <a:p>
                      <a:pPr>
                        <a:lnSpc>
                          <a:spcPct val="100000"/>
                        </a:lnSpc>
                      </a:pPr>
                      <a:endParaRPr sz="2300">
                        <a:latin typeface="Times New Roman" panose="02020603050405020304"/>
                        <a:cs typeface="Times New Roman" panose="02020603050405020304"/>
                      </a:endParaRPr>
                    </a:p>
                  </a:txBody>
                  <a:tcPr marL="0" marR="0" marT="0"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300">
                        <a:latin typeface="Times New Roman" panose="02020603050405020304"/>
                        <a:cs typeface="Times New Roman" panose="02020603050405020304"/>
                      </a:endParaRPr>
                    </a:p>
                  </a:txBody>
                  <a:tcPr marL="0" marR="0" marT="0" marB="0">
                    <a:lnL w="12700">
                      <a:solidFill>
                        <a:srgbClr val="000000"/>
                      </a:solidFill>
                      <a:prstDash val="solid"/>
                    </a:lnL>
                    <a:lnB w="12700">
                      <a:solidFill>
                        <a:srgbClr val="000000"/>
                      </a:solidFill>
                      <a:prstDash val="solid"/>
                    </a:lnB>
                  </a:tcPr>
                </a:tc>
                <a:extLst>
                  <a:ext uri="{0D108BD9-81ED-4DB2-BD59-A6C34878D82A}">
                    <a16:rowId xmlns:a16="http://schemas.microsoft.com/office/drawing/2014/main" val="10000"/>
                  </a:ext>
                </a:extLst>
              </a:tr>
              <a:tr h="497425">
                <a:tc gridSpan="2">
                  <a:txBody>
                    <a:bodyPr/>
                    <a:lstStyle/>
                    <a:p>
                      <a:pPr marL="871220">
                        <a:lnSpc>
                          <a:spcPct val="100000"/>
                        </a:lnSpc>
                        <a:spcBef>
                          <a:spcPts val="675"/>
                        </a:spcBef>
                      </a:pPr>
                      <a:r>
                        <a:rPr sz="1750" spc="335" dirty="0">
                          <a:latin typeface="Arial" panose="020B0604020202020204"/>
                          <a:cs typeface="Arial" panose="020B0604020202020204"/>
                        </a:rPr>
                        <a:t>Record</a:t>
                      </a:r>
                      <a:endParaRPr sz="1750">
                        <a:latin typeface="Arial" panose="020B0604020202020204"/>
                        <a:cs typeface="Arial" panose="020B0604020202020204"/>
                      </a:endParaRPr>
                    </a:p>
                  </a:txBody>
                  <a:tcPr marL="0" marR="0" marT="857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lang="zh-CN"/>
                    </a:p>
                  </a:txBody>
                  <a:tcPr marL="0" marR="0" marT="0" marB="0"/>
                </a:tc>
                <a:extLst>
                  <a:ext uri="{0D108BD9-81ED-4DB2-BD59-A6C34878D82A}">
                    <a16:rowId xmlns:a16="http://schemas.microsoft.com/office/drawing/2014/main" val="10001"/>
                  </a:ext>
                </a:extLst>
              </a:tr>
              <a:tr h="746014">
                <a:tc gridSpan="2">
                  <a:txBody>
                    <a:bodyPr/>
                    <a:lstStyle/>
                    <a:p>
                      <a:pPr marL="202565">
                        <a:lnSpc>
                          <a:spcPts val="1730"/>
                        </a:lnSpc>
                      </a:pPr>
                      <a:r>
                        <a:rPr sz="1750" spc="250" dirty="0">
                          <a:latin typeface="Arial" panose="020B0604020202020204"/>
                          <a:cs typeface="Arial" panose="020B0604020202020204"/>
                        </a:rPr>
                        <a:t>Artiste</a:t>
                      </a:r>
                      <a:endParaRPr sz="1750">
                        <a:latin typeface="Arial" panose="020B0604020202020204"/>
                        <a:cs typeface="Arial" panose="020B0604020202020204"/>
                      </a:endParaRPr>
                    </a:p>
                    <a:p>
                      <a:pPr marL="202565" marR="185420">
                        <a:lnSpc>
                          <a:spcPts val="1960"/>
                        </a:lnSpc>
                        <a:spcBef>
                          <a:spcPts val="110"/>
                        </a:spcBef>
                      </a:pPr>
                      <a:r>
                        <a:rPr sz="1750" spc="335" dirty="0">
                          <a:latin typeface="Arial" panose="020B0604020202020204"/>
                          <a:cs typeface="Arial" panose="020B0604020202020204"/>
                        </a:rPr>
                        <a:t>CatalogNumber  </a:t>
                      </a:r>
                      <a:r>
                        <a:rPr sz="1750" spc="10" dirty="0">
                          <a:latin typeface="Arial" panose="020B0604020202020204"/>
                          <a:cs typeface="Arial" panose="020B0604020202020204"/>
                        </a:rPr>
                        <a:t>R</a:t>
                      </a:r>
                      <a:r>
                        <a:rPr sz="1750" spc="-15" dirty="0">
                          <a:latin typeface="Arial" panose="020B0604020202020204"/>
                          <a:cs typeface="Arial" panose="020B0604020202020204"/>
                        </a:rPr>
                        <a:t>e</a:t>
                      </a:r>
                      <a:r>
                        <a:rPr sz="1750" spc="35" dirty="0">
                          <a:latin typeface="Arial" panose="020B0604020202020204"/>
                          <a:cs typeface="Arial" panose="020B0604020202020204"/>
                        </a:rPr>
                        <a:t>c</a:t>
                      </a:r>
                      <a:r>
                        <a:rPr sz="1750" spc="-15" dirty="0">
                          <a:latin typeface="Arial" panose="020B0604020202020204"/>
                          <a:cs typeface="Arial" panose="020B0604020202020204"/>
                        </a:rPr>
                        <a:t>o</a:t>
                      </a:r>
                      <a:r>
                        <a:rPr sz="1750" spc="5" dirty="0">
                          <a:latin typeface="Arial" panose="020B0604020202020204"/>
                          <a:cs typeface="Arial" panose="020B0604020202020204"/>
                        </a:rPr>
                        <a:t>r</a:t>
                      </a:r>
                      <a:r>
                        <a:rPr sz="1750" spc="25" dirty="0">
                          <a:latin typeface="Arial" panose="020B0604020202020204"/>
                          <a:cs typeface="Arial" panose="020B0604020202020204"/>
                        </a:rPr>
                        <a:t>d</a:t>
                      </a:r>
                      <a:r>
                        <a:rPr sz="1750" spc="-30" dirty="0">
                          <a:latin typeface="Arial" panose="020B0604020202020204"/>
                          <a:cs typeface="Arial" panose="020B0604020202020204"/>
                        </a:rPr>
                        <a:t>C</a:t>
                      </a:r>
                      <a:r>
                        <a:rPr sz="1750" spc="25" dirty="0">
                          <a:latin typeface="Arial" panose="020B0604020202020204"/>
                          <a:cs typeface="Arial" panose="020B0604020202020204"/>
                        </a:rPr>
                        <a:t>o</a:t>
                      </a:r>
                      <a:r>
                        <a:rPr sz="1750" dirty="0">
                          <a:latin typeface="Arial" panose="020B0604020202020204"/>
                          <a:cs typeface="Arial" panose="020B0604020202020204"/>
                        </a:rPr>
                        <a:t>m</a:t>
                      </a:r>
                      <a:r>
                        <a:rPr sz="1750" spc="35" dirty="0">
                          <a:latin typeface="Arial" panose="020B0604020202020204"/>
                          <a:cs typeface="Arial" panose="020B0604020202020204"/>
                        </a:rPr>
                        <a:t>p</a:t>
                      </a:r>
                      <a:r>
                        <a:rPr sz="1750" spc="-15" dirty="0">
                          <a:latin typeface="Arial" panose="020B0604020202020204"/>
                          <a:cs typeface="Arial" panose="020B0604020202020204"/>
                        </a:rPr>
                        <a:t>a</a:t>
                      </a:r>
                      <a:r>
                        <a:rPr sz="1750" spc="25" dirty="0">
                          <a:latin typeface="Arial" panose="020B0604020202020204"/>
                          <a:cs typeface="Arial" panose="020B0604020202020204"/>
                        </a:rPr>
                        <a:t>n</a:t>
                      </a:r>
                      <a:r>
                        <a:rPr sz="1750" dirty="0">
                          <a:latin typeface="Arial" panose="020B0604020202020204"/>
                          <a:cs typeface="Arial" panose="020B0604020202020204"/>
                        </a:rPr>
                        <a:t>y</a:t>
                      </a:r>
                      <a:endParaRPr sz="1750">
                        <a:latin typeface="Arial" panose="020B0604020202020204"/>
                        <a:cs typeface="Arial" panose="020B06040202020202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lang="zh-CN"/>
                    </a:p>
                  </a:txBody>
                  <a:tcPr marL="0" marR="0" marT="0" marB="0"/>
                </a:tc>
                <a:extLst>
                  <a:ext uri="{0D108BD9-81ED-4DB2-BD59-A6C34878D82A}">
                    <a16:rowId xmlns:a16="http://schemas.microsoft.com/office/drawing/2014/main" val="10002"/>
                  </a:ext>
                </a:extLst>
              </a:tr>
              <a:tr h="119255">
                <a:tc gridSpan="2">
                  <a:txBody>
                    <a:bodyPr/>
                    <a:lstStyle/>
                    <a:p>
                      <a:pPr>
                        <a:lnSpc>
                          <a:spcPct val="100000"/>
                        </a:lnSpc>
                      </a:pPr>
                      <a:endParaRPr sz="600" dirty="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lang="zh-CN"/>
                    </a:p>
                  </a:txBody>
                  <a:tcPr marL="0" marR="0" marT="0" marB="0"/>
                </a:tc>
                <a:extLst>
                  <a:ext uri="{0D108BD9-81ED-4DB2-BD59-A6C34878D82A}">
                    <a16:rowId xmlns:a16="http://schemas.microsoft.com/office/drawing/2014/main" val="10003"/>
                  </a:ext>
                </a:extLst>
              </a:tr>
            </a:tbl>
          </a:graphicData>
        </a:graphic>
      </p:graphicFrame>
      <p:graphicFrame>
        <p:nvGraphicFramePr>
          <p:cNvPr id="7" name="object 6"/>
          <p:cNvGraphicFramePr>
            <a:graphicFrameLocks noGrp="1"/>
          </p:cNvGraphicFramePr>
          <p:nvPr/>
        </p:nvGraphicFramePr>
        <p:xfrm>
          <a:off x="3455482" y="3585485"/>
          <a:ext cx="2737485" cy="2046575"/>
        </p:xfrm>
        <a:graphic>
          <a:graphicData uri="http://schemas.openxmlformats.org/drawingml/2006/table">
            <a:tbl>
              <a:tblPr firstRow="1" bandRow="1">
                <a:tableStyleId>{2D5ABB26-0587-4C30-8999-92F81FD0307C}</a:tableStyleId>
              </a:tblPr>
              <a:tblGrid>
                <a:gridCol w="1202690">
                  <a:extLst>
                    <a:ext uri="{9D8B030D-6E8A-4147-A177-3AD203B41FA5}">
                      <a16:colId xmlns:a16="http://schemas.microsoft.com/office/drawing/2014/main" val="20000"/>
                    </a:ext>
                  </a:extLst>
                </a:gridCol>
                <a:gridCol w="1197610">
                  <a:extLst>
                    <a:ext uri="{9D8B030D-6E8A-4147-A177-3AD203B41FA5}">
                      <a16:colId xmlns:a16="http://schemas.microsoft.com/office/drawing/2014/main" val="20001"/>
                    </a:ext>
                  </a:extLst>
                </a:gridCol>
                <a:gridCol w="337185">
                  <a:extLst>
                    <a:ext uri="{9D8B030D-6E8A-4147-A177-3AD203B41FA5}">
                      <a16:colId xmlns:a16="http://schemas.microsoft.com/office/drawing/2014/main" val="20002"/>
                    </a:ext>
                  </a:extLst>
                </a:gridCol>
              </a:tblGrid>
              <a:tr h="683881">
                <a:tc>
                  <a:txBody>
                    <a:bodyPr/>
                    <a:lstStyle/>
                    <a:p>
                      <a:pPr>
                        <a:lnSpc>
                          <a:spcPct val="100000"/>
                        </a:lnSpc>
                      </a:pPr>
                      <a:endParaRPr sz="2300">
                        <a:latin typeface="Times New Roman" panose="02020603050405020304"/>
                        <a:cs typeface="Times New Roman" panose="02020603050405020304"/>
                      </a:endParaRPr>
                    </a:p>
                  </a:txBody>
                  <a:tcPr marL="0" marR="0" marT="0" marB="0">
                    <a:lnR w="12700">
                      <a:solidFill>
                        <a:srgbClr val="000000"/>
                      </a:solidFill>
                      <a:prstDash val="solid"/>
                    </a:lnR>
                    <a:lnB w="12700">
                      <a:solidFill>
                        <a:srgbClr val="000000"/>
                      </a:solidFill>
                      <a:prstDash val="solid"/>
                    </a:lnB>
                  </a:tcPr>
                </a:tc>
                <a:tc gridSpan="2">
                  <a:txBody>
                    <a:bodyPr/>
                    <a:lstStyle/>
                    <a:p>
                      <a:pPr>
                        <a:lnSpc>
                          <a:spcPct val="100000"/>
                        </a:lnSpc>
                      </a:pPr>
                      <a:endParaRPr sz="2300">
                        <a:latin typeface="Times New Roman" panose="02020603050405020304"/>
                        <a:cs typeface="Times New Roman" panose="02020603050405020304"/>
                      </a:endParaRPr>
                    </a:p>
                  </a:txBody>
                  <a:tcPr marL="0" marR="0" marT="0" marB="0">
                    <a:lnL w="12700">
                      <a:solidFill>
                        <a:srgbClr val="000000"/>
                      </a:solidFill>
                      <a:prstDash val="solid"/>
                    </a:lnL>
                    <a:lnT w="6350">
                      <a:solidFill>
                        <a:srgbClr val="000000"/>
                      </a:solidFill>
                      <a:prstDash val="solid"/>
                    </a:lnT>
                  </a:tcPr>
                </a:tc>
                <a:tc hMerge="1">
                  <a:txBody>
                    <a:bodyPr/>
                    <a:lstStyle/>
                    <a:p>
                      <a:endParaRPr lang="zh-CN"/>
                    </a:p>
                  </a:txBody>
                  <a:tcPr marL="0" marR="0" marT="0" marB="0"/>
                </a:tc>
                <a:extLst>
                  <a:ext uri="{0D108BD9-81ED-4DB2-BD59-A6C34878D82A}">
                    <a16:rowId xmlns:a16="http://schemas.microsoft.com/office/drawing/2014/main" val="10000"/>
                  </a:ext>
                </a:extLst>
              </a:tr>
              <a:tr h="497425">
                <a:tc gridSpan="2">
                  <a:txBody>
                    <a:bodyPr/>
                    <a:lstStyle/>
                    <a:p>
                      <a:pPr marL="31750" algn="ctr">
                        <a:lnSpc>
                          <a:spcPct val="100000"/>
                        </a:lnSpc>
                        <a:spcBef>
                          <a:spcPts val="675"/>
                        </a:spcBef>
                      </a:pPr>
                      <a:r>
                        <a:rPr sz="1750" spc="355" dirty="0">
                          <a:latin typeface="Arial" panose="020B0604020202020204"/>
                          <a:cs typeface="Arial" panose="020B0604020202020204"/>
                        </a:rPr>
                        <a:t>Book</a:t>
                      </a:r>
                      <a:endParaRPr sz="1750">
                        <a:latin typeface="Arial" panose="020B0604020202020204"/>
                        <a:cs typeface="Arial" panose="020B0604020202020204"/>
                      </a:endParaRPr>
                    </a:p>
                  </a:txBody>
                  <a:tcPr marL="0" marR="0" marT="857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lang="zh-CN"/>
                    </a:p>
                  </a:txBody>
                  <a:tcPr marL="0" marR="0" marT="0" marB="0"/>
                </a:tc>
                <a:tc rowSpan="3">
                  <a:txBody>
                    <a:bodyPr/>
                    <a:lstStyle/>
                    <a:p>
                      <a:pPr>
                        <a:lnSpc>
                          <a:spcPct val="100000"/>
                        </a:lnSpc>
                      </a:pPr>
                      <a:endParaRPr sz="2300">
                        <a:latin typeface="Times New Roman" panose="02020603050405020304"/>
                        <a:cs typeface="Times New Roman" panose="02020603050405020304"/>
                      </a:endParaRPr>
                    </a:p>
                  </a:txBody>
                  <a:tcPr marL="0" marR="0" marT="0" marB="0">
                    <a:lnL w="12700">
                      <a:solidFill>
                        <a:srgbClr val="000000"/>
                      </a:solidFill>
                      <a:prstDash val="solid"/>
                    </a:lnL>
                  </a:tcPr>
                </a:tc>
                <a:extLst>
                  <a:ext uri="{0D108BD9-81ED-4DB2-BD59-A6C34878D82A}">
                    <a16:rowId xmlns:a16="http://schemas.microsoft.com/office/drawing/2014/main" val="10001"/>
                  </a:ext>
                </a:extLst>
              </a:tr>
              <a:tr h="746014">
                <a:tc gridSpan="2">
                  <a:txBody>
                    <a:bodyPr/>
                    <a:lstStyle/>
                    <a:p>
                      <a:pPr marL="202565">
                        <a:lnSpc>
                          <a:spcPts val="1730"/>
                        </a:lnSpc>
                      </a:pPr>
                      <a:r>
                        <a:rPr sz="1750" spc="305" dirty="0">
                          <a:latin typeface="Arial" panose="020B0604020202020204"/>
                          <a:cs typeface="Arial" panose="020B0604020202020204"/>
                        </a:rPr>
                        <a:t>Author</a:t>
                      </a:r>
                      <a:endParaRPr sz="1750">
                        <a:latin typeface="Arial" panose="020B0604020202020204"/>
                        <a:cs typeface="Arial" panose="020B0604020202020204"/>
                      </a:endParaRPr>
                    </a:p>
                    <a:p>
                      <a:pPr marL="202565" marR="930275">
                        <a:lnSpc>
                          <a:spcPts val="1960"/>
                        </a:lnSpc>
                        <a:spcBef>
                          <a:spcPts val="110"/>
                        </a:spcBef>
                      </a:pPr>
                      <a:r>
                        <a:rPr sz="1750" spc="15" dirty="0">
                          <a:latin typeface="Arial" panose="020B0604020202020204"/>
                          <a:cs typeface="Arial" panose="020B0604020202020204"/>
                        </a:rPr>
                        <a:t>P</a:t>
                      </a:r>
                      <a:r>
                        <a:rPr sz="1750" spc="-15" dirty="0">
                          <a:latin typeface="Arial" panose="020B0604020202020204"/>
                          <a:cs typeface="Arial" panose="020B0604020202020204"/>
                        </a:rPr>
                        <a:t>u</a:t>
                      </a:r>
                      <a:r>
                        <a:rPr sz="1750" spc="25" dirty="0">
                          <a:latin typeface="Arial" panose="020B0604020202020204"/>
                          <a:cs typeface="Arial" panose="020B0604020202020204"/>
                        </a:rPr>
                        <a:t>b</a:t>
                      </a:r>
                      <a:r>
                        <a:rPr sz="1750" spc="-25" dirty="0">
                          <a:latin typeface="Arial" panose="020B0604020202020204"/>
                          <a:cs typeface="Arial" panose="020B0604020202020204"/>
                        </a:rPr>
                        <a:t>l</a:t>
                      </a:r>
                      <a:r>
                        <a:rPr sz="1750" spc="15" dirty="0">
                          <a:latin typeface="Arial" panose="020B0604020202020204"/>
                          <a:cs typeface="Arial" panose="020B0604020202020204"/>
                        </a:rPr>
                        <a:t>i</a:t>
                      </a:r>
                      <a:r>
                        <a:rPr sz="1750" dirty="0">
                          <a:latin typeface="Arial" panose="020B0604020202020204"/>
                          <a:cs typeface="Arial" panose="020B0604020202020204"/>
                        </a:rPr>
                        <a:t>s</a:t>
                      </a:r>
                      <a:r>
                        <a:rPr sz="1750" spc="20" dirty="0">
                          <a:latin typeface="Arial" panose="020B0604020202020204"/>
                          <a:cs typeface="Arial" panose="020B0604020202020204"/>
                        </a:rPr>
                        <a:t>h</a:t>
                      </a:r>
                      <a:r>
                        <a:rPr sz="1750" spc="-15" dirty="0">
                          <a:latin typeface="Arial" panose="020B0604020202020204"/>
                          <a:cs typeface="Arial" panose="020B0604020202020204"/>
                        </a:rPr>
                        <a:t>e</a:t>
                      </a:r>
                      <a:r>
                        <a:rPr sz="1750" dirty="0">
                          <a:latin typeface="Arial" panose="020B0604020202020204"/>
                          <a:cs typeface="Arial" panose="020B0604020202020204"/>
                        </a:rPr>
                        <a:t>r  </a:t>
                      </a:r>
                      <a:r>
                        <a:rPr sz="1750" spc="360" dirty="0">
                          <a:latin typeface="Arial" panose="020B0604020202020204"/>
                          <a:cs typeface="Arial" panose="020B0604020202020204"/>
                        </a:rPr>
                        <a:t>ISBN</a:t>
                      </a:r>
                      <a:endParaRPr sz="1750">
                        <a:latin typeface="Arial" panose="020B0604020202020204"/>
                        <a:cs typeface="Arial" panose="020B06040202020202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lang="zh-CN"/>
                    </a:p>
                  </a:txBody>
                  <a:tcPr marL="0" marR="0" marT="0" marB="0"/>
                </a:tc>
                <a:tc vMerge="1">
                  <a:txBody>
                    <a:bodyPr/>
                    <a:lstStyle/>
                    <a:p>
                      <a:endParaRPr lang="zh-CN"/>
                    </a:p>
                  </a:txBody>
                  <a:tcPr marL="0" marR="0" marT="0" marB="0">
                    <a:lnL w="12700">
                      <a:solidFill>
                        <a:srgbClr val="000000"/>
                      </a:solidFill>
                      <a:prstDash val="solid"/>
                    </a:lnL>
                  </a:tcPr>
                </a:tc>
                <a:extLst>
                  <a:ext uri="{0D108BD9-81ED-4DB2-BD59-A6C34878D82A}">
                    <a16:rowId xmlns:a16="http://schemas.microsoft.com/office/drawing/2014/main" val="10002"/>
                  </a:ext>
                </a:extLst>
              </a:tr>
              <a:tr h="119255">
                <a:tc gridSpan="2">
                  <a:txBody>
                    <a:bodyPr/>
                    <a:lstStyle/>
                    <a:p>
                      <a:pPr>
                        <a:lnSpc>
                          <a:spcPct val="100000"/>
                        </a:lnSpc>
                      </a:pPr>
                      <a:endParaRPr sz="6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lang="zh-CN"/>
                    </a:p>
                  </a:txBody>
                  <a:tcPr marL="0" marR="0" marT="0" marB="0"/>
                </a:tc>
                <a:tc vMerge="1">
                  <a:txBody>
                    <a:bodyPr/>
                    <a:lstStyle/>
                    <a:p>
                      <a:endParaRPr lang="zh-CN"/>
                    </a:p>
                  </a:txBody>
                  <a:tcPr marL="0" marR="0" marT="0" marB="0">
                    <a:lnL w="12700">
                      <a:solidFill>
                        <a:srgbClr val="000000"/>
                      </a:solidFill>
                      <a:prstDash val="solid"/>
                    </a:lnL>
                  </a:tcPr>
                </a:tc>
                <a:extLst>
                  <a:ext uri="{0D108BD9-81ED-4DB2-BD59-A6C34878D82A}">
                    <a16:rowId xmlns:a16="http://schemas.microsoft.com/office/drawing/2014/main" val="10003"/>
                  </a:ext>
                </a:extLst>
              </a:tr>
            </a:tbl>
          </a:graphicData>
        </a:graphic>
      </p:graphicFrame>
      <p:sp>
        <p:nvSpPr>
          <p:cNvPr id="8" name="object 7"/>
          <p:cNvSpPr/>
          <p:nvPr/>
        </p:nvSpPr>
        <p:spPr>
          <a:xfrm>
            <a:off x="3021537" y="811847"/>
            <a:ext cx="6485255" cy="5234305"/>
          </a:xfrm>
          <a:custGeom>
            <a:avLst/>
            <a:gdLst/>
            <a:ahLst/>
            <a:cxnLst/>
            <a:rect l="l" t="t" r="r" b="b"/>
            <a:pathLst>
              <a:path w="6485255" h="5234305">
                <a:moveTo>
                  <a:pt x="0" y="0"/>
                </a:moveTo>
                <a:lnTo>
                  <a:pt x="6484936" y="0"/>
                </a:lnTo>
                <a:lnTo>
                  <a:pt x="6484936" y="5233986"/>
                </a:lnTo>
                <a:lnTo>
                  <a:pt x="0" y="5233986"/>
                </a:lnTo>
                <a:lnTo>
                  <a:pt x="0" y="0"/>
                </a:lnTo>
                <a:close/>
              </a:path>
            </a:pathLst>
          </a:custGeom>
          <a:ln w="76199">
            <a:solidFill>
              <a:srgbClr val="941100"/>
            </a:solidFill>
          </a:ln>
        </p:spPr>
        <p:txBody>
          <a:bodyPr wrap="square" lIns="0" tIns="0" rIns="0" bIns="0" rtlCol="0"/>
          <a:lstStyle/>
          <a:p>
            <a:endParaRPr/>
          </a:p>
        </p:txBody>
      </p:sp>
      <p:cxnSp>
        <p:nvCxnSpPr>
          <p:cNvPr id="10" name="直接连接符 9"/>
          <p:cNvCxnSpPr/>
          <p:nvPr/>
        </p:nvCxnSpPr>
        <p:spPr>
          <a:xfrm>
            <a:off x="4656083" y="4267475"/>
            <a:ext cx="120868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类图建模图例</a:t>
            </a:r>
          </a:p>
        </p:txBody>
      </p:sp>
      <p:sp>
        <p:nvSpPr>
          <p:cNvPr id="4" name="灯片编号占位符 3"/>
          <p:cNvSpPr>
            <a:spLocks noGrp="1"/>
          </p:cNvSpPr>
          <p:nvPr>
            <p:ph type="sldNum" sz="quarter" idx="12"/>
          </p:nvPr>
        </p:nvSpPr>
        <p:spPr/>
        <p:txBody>
          <a:bodyPr/>
          <a:lstStyle/>
          <a:p>
            <a:fld id="{74D2AB8B-5816-41F2-8B4B-CA5C3E4E6A65}" type="slidenum">
              <a:rPr lang="zh-CN" altLang="en-US" smtClean="0"/>
              <a:t>30</a:t>
            </a:fld>
            <a:endParaRPr lang="zh-CN" altLang="en-US"/>
          </a:p>
        </p:txBody>
      </p:sp>
      <p:sp>
        <p:nvSpPr>
          <p:cNvPr id="163" name="object 4"/>
          <p:cNvSpPr/>
          <p:nvPr/>
        </p:nvSpPr>
        <p:spPr>
          <a:xfrm>
            <a:off x="10839844" y="1180537"/>
            <a:ext cx="167247" cy="167247"/>
          </a:xfrm>
          <a:prstGeom prst="rect">
            <a:avLst/>
          </a:prstGeom>
          <a:blipFill>
            <a:blip r:embed="rId3" cstate="print"/>
            <a:stretch>
              <a:fillRect/>
            </a:stretch>
          </a:blipFill>
        </p:spPr>
        <p:txBody>
          <a:bodyPr wrap="square" lIns="0" tIns="0" rIns="0" bIns="0" rtlCol="0"/>
          <a:lstStyle/>
          <a:p>
            <a:endParaRPr/>
          </a:p>
        </p:txBody>
      </p:sp>
      <p:sp>
        <p:nvSpPr>
          <p:cNvPr id="164" name="object 5"/>
          <p:cNvSpPr/>
          <p:nvPr/>
        </p:nvSpPr>
        <p:spPr>
          <a:xfrm>
            <a:off x="11121033" y="1180536"/>
            <a:ext cx="167247" cy="167247"/>
          </a:xfrm>
          <a:prstGeom prst="rect">
            <a:avLst/>
          </a:prstGeom>
          <a:blipFill>
            <a:blip r:embed="rId4" cstate="print"/>
            <a:stretch>
              <a:fillRect/>
            </a:stretch>
          </a:blipFill>
        </p:spPr>
        <p:txBody>
          <a:bodyPr wrap="square" lIns="0" tIns="0" rIns="0" bIns="0" rtlCol="0"/>
          <a:lstStyle/>
          <a:p>
            <a:endParaRPr/>
          </a:p>
        </p:txBody>
      </p:sp>
      <p:sp>
        <p:nvSpPr>
          <p:cNvPr id="165" name="object 6"/>
          <p:cNvSpPr/>
          <p:nvPr/>
        </p:nvSpPr>
        <p:spPr>
          <a:xfrm>
            <a:off x="11402222" y="1180534"/>
            <a:ext cx="167247" cy="167247"/>
          </a:xfrm>
          <a:prstGeom prst="rect">
            <a:avLst/>
          </a:prstGeom>
          <a:blipFill>
            <a:blip r:embed="rId5" cstate="print"/>
            <a:stretch>
              <a:fillRect/>
            </a:stretch>
          </a:blipFill>
        </p:spPr>
        <p:txBody>
          <a:bodyPr wrap="square" lIns="0" tIns="0" rIns="0" bIns="0" rtlCol="0"/>
          <a:lstStyle/>
          <a:p>
            <a:endParaRPr/>
          </a:p>
        </p:txBody>
      </p:sp>
      <p:sp>
        <p:nvSpPr>
          <p:cNvPr id="166" name="object 7"/>
          <p:cNvSpPr/>
          <p:nvPr/>
        </p:nvSpPr>
        <p:spPr>
          <a:xfrm>
            <a:off x="9562430" y="3688450"/>
            <a:ext cx="481330" cy="1120775"/>
          </a:xfrm>
          <a:custGeom>
            <a:avLst/>
            <a:gdLst/>
            <a:ahLst/>
            <a:cxnLst/>
            <a:rect l="l" t="t" r="r" b="b"/>
            <a:pathLst>
              <a:path w="481329" h="1120775">
                <a:moveTo>
                  <a:pt x="0" y="0"/>
                </a:moveTo>
                <a:lnTo>
                  <a:pt x="481283" y="1120185"/>
                </a:lnTo>
              </a:path>
            </a:pathLst>
          </a:custGeom>
          <a:ln w="38099">
            <a:solidFill>
              <a:srgbClr val="000000"/>
            </a:solidFill>
          </a:ln>
        </p:spPr>
        <p:txBody>
          <a:bodyPr wrap="square" lIns="0" tIns="0" rIns="0" bIns="0" rtlCol="0"/>
          <a:lstStyle/>
          <a:p>
            <a:endParaRPr/>
          </a:p>
        </p:txBody>
      </p:sp>
      <p:sp>
        <p:nvSpPr>
          <p:cNvPr id="167" name="object 8"/>
          <p:cNvSpPr/>
          <p:nvPr/>
        </p:nvSpPr>
        <p:spPr>
          <a:xfrm>
            <a:off x="9950365" y="4768528"/>
            <a:ext cx="187325" cy="250190"/>
          </a:xfrm>
          <a:custGeom>
            <a:avLst/>
            <a:gdLst/>
            <a:ahLst/>
            <a:cxnLst/>
            <a:rect l="l" t="t" r="r" b="b"/>
            <a:pathLst>
              <a:path w="187325" h="250189">
                <a:moveTo>
                  <a:pt x="186696" y="0"/>
                </a:moveTo>
                <a:lnTo>
                  <a:pt x="0" y="80214"/>
                </a:lnTo>
                <a:lnTo>
                  <a:pt x="183588" y="250141"/>
                </a:lnTo>
                <a:lnTo>
                  <a:pt x="186696" y="0"/>
                </a:lnTo>
                <a:close/>
              </a:path>
            </a:pathLst>
          </a:custGeom>
          <a:solidFill>
            <a:srgbClr val="FCFAD3"/>
          </a:solidFill>
        </p:spPr>
        <p:txBody>
          <a:bodyPr wrap="square" lIns="0" tIns="0" rIns="0" bIns="0" rtlCol="0"/>
          <a:lstStyle/>
          <a:p>
            <a:endParaRPr/>
          </a:p>
        </p:txBody>
      </p:sp>
      <p:sp>
        <p:nvSpPr>
          <p:cNvPr id="168" name="object 9"/>
          <p:cNvSpPr/>
          <p:nvPr/>
        </p:nvSpPr>
        <p:spPr>
          <a:xfrm>
            <a:off x="9950364" y="4768528"/>
            <a:ext cx="187325" cy="250190"/>
          </a:xfrm>
          <a:custGeom>
            <a:avLst/>
            <a:gdLst/>
            <a:ahLst/>
            <a:cxnLst/>
            <a:rect l="l" t="t" r="r" b="b"/>
            <a:pathLst>
              <a:path w="187325" h="250189">
                <a:moveTo>
                  <a:pt x="0" y="80213"/>
                </a:moveTo>
                <a:lnTo>
                  <a:pt x="183588" y="250141"/>
                </a:lnTo>
                <a:lnTo>
                  <a:pt x="186697" y="0"/>
                </a:lnTo>
                <a:lnTo>
                  <a:pt x="0" y="80213"/>
                </a:lnTo>
                <a:close/>
              </a:path>
            </a:pathLst>
          </a:custGeom>
          <a:ln w="28574">
            <a:solidFill>
              <a:srgbClr val="000000"/>
            </a:solidFill>
          </a:ln>
        </p:spPr>
        <p:txBody>
          <a:bodyPr wrap="square" lIns="0" tIns="0" rIns="0" bIns="0" rtlCol="0"/>
          <a:lstStyle/>
          <a:p>
            <a:endParaRPr/>
          </a:p>
        </p:txBody>
      </p:sp>
      <p:sp>
        <p:nvSpPr>
          <p:cNvPr id="169" name="object 11"/>
          <p:cNvSpPr/>
          <p:nvPr/>
        </p:nvSpPr>
        <p:spPr>
          <a:xfrm>
            <a:off x="2398056" y="2102485"/>
            <a:ext cx="1422400" cy="1600200"/>
          </a:xfrm>
          <a:custGeom>
            <a:avLst/>
            <a:gdLst/>
            <a:ahLst/>
            <a:cxnLst/>
            <a:rect l="l" t="t" r="r" b="b"/>
            <a:pathLst>
              <a:path w="1422400" h="1600200">
                <a:moveTo>
                  <a:pt x="0" y="0"/>
                </a:moveTo>
                <a:lnTo>
                  <a:pt x="1422400" y="0"/>
                </a:lnTo>
                <a:lnTo>
                  <a:pt x="1422400" y="1600200"/>
                </a:lnTo>
                <a:lnTo>
                  <a:pt x="0" y="1600200"/>
                </a:lnTo>
                <a:lnTo>
                  <a:pt x="0" y="0"/>
                </a:lnTo>
                <a:close/>
              </a:path>
            </a:pathLst>
          </a:custGeom>
          <a:solidFill>
            <a:srgbClr val="FCFAD3"/>
          </a:solidFill>
        </p:spPr>
        <p:txBody>
          <a:bodyPr wrap="square" lIns="0" tIns="0" rIns="0" bIns="0" rtlCol="0"/>
          <a:lstStyle/>
          <a:p>
            <a:endParaRPr/>
          </a:p>
        </p:txBody>
      </p:sp>
      <p:sp>
        <p:nvSpPr>
          <p:cNvPr id="170" name="object 12"/>
          <p:cNvSpPr/>
          <p:nvPr/>
        </p:nvSpPr>
        <p:spPr>
          <a:xfrm>
            <a:off x="2398056" y="2102485"/>
            <a:ext cx="1422400" cy="1600200"/>
          </a:xfrm>
          <a:custGeom>
            <a:avLst/>
            <a:gdLst/>
            <a:ahLst/>
            <a:cxnLst/>
            <a:rect l="l" t="t" r="r" b="b"/>
            <a:pathLst>
              <a:path w="1422400" h="1600200">
                <a:moveTo>
                  <a:pt x="0" y="0"/>
                </a:moveTo>
                <a:lnTo>
                  <a:pt x="1422399" y="0"/>
                </a:lnTo>
                <a:lnTo>
                  <a:pt x="1422399" y="1600199"/>
                </a:lnTo>
                <a:lnTo>
                  <a:pt x="0" y="1600199"/>
                </a:lnTo>
                <a:lnTo>
                  <a:pt x="0" y="0"/>
                </a:lnTo>
                <a:close/>
              </a:path>
            </a:pathLst>
          </a:custGeom>
          <a:ln w="38099">
            <a:solidFill>
              <a:srgbClr val="000000"/>
            </a:solidFill>
          </a:ln>
        </p:spPr>
        <p:txBody>
          <a:bodyPr wrap="square" lIns="0" tIns="0" rIns="0" bIns="0" rtlCol="0"/>
          <a:lstStyle/>
          <a:p>
            <a:endParaRPr/>
          </a:p>
        </p:txBody>
      </p:sp>
      <p:sp>
        <p:nvSpPr>
          <p:cNvPr id="171" name="object 13"/>
          <p:cNvSpPr/>
          <p:nvPr/>
        </p:nvSpPr>
        <p:spPr>
          <a:xfrm>
            <a:off x="2398056" y="3397885"/>
            <a:ext cx="1422400" cy="0"/>
          </a:xfrm>
          <a:custGeom>
            <a:avLst/>
            <a:gdLst/>
            <a:ahLst/>
            <a:cxnLst/>
            <a:rect l="l" t="t" r="r" b="b"/>
            <a:pathLst>
              <a:path w="1422400">
                <a:moveTo>
                  <a:pt x="0" y="0"/>
                </a:moveTo>
                <a:lnTo>
                  <a:pt x="1422399" y="1"/>
                </a:lnTo>
              </a:path>
            </a:pathLst>
          </a:custGeom>
          <a:ln w="38099">
            <a:solidFill>
              <a:srgbClr val="000000"/>
            </a:solidFill>
          </a:ln>
        </p:spPr>
        <p:txBody>
          <a:bodyPr wrap="square" lIns="0" tIns="0" rIns="0" bIns="0" rtlCol="0"/>
          <a:lstStyle/>
          <a:p>
            <a:endParaRPr/>
          </a:p>
        </p:txBody>
      </p:sp>
      <p:sp>
        <p:nvSpPr>
          <p:cNvPr id="172" name="object 14"/>
          <p:cNvSpPr txBox="1"/>
          <p:nvPr/>
        </p:nvSpPr>
        <p:spPr>
          <a:xfrm>
            <a:off x="2398056" y="2102485"/>
            <a:ext cx="1422400" cy="304800"/>
          </a:xfrm>
          <a:prstGeom prst="rect">
            <a:avLst/>
          </a:prstGeom>
          <a:ln w="38099">
            <a:solidFill>
              <a:srgbClr val="000000"/>
            </a:solidFill>
          </a:ln>
        </p:spPr>
        <p:txBody>
          <a:bodyPr vert="horz" wrap="square" lIns="0" tIns="48894" rIns="0" bIns="0" rtlCol="0">
            <a:spAutoFit/>
          </a:bodyPr>
          <a:lstStyle/>
          <a:p>
            <a:pPr marL="267335">
              <a:lnSpc>
                <a:spcPct val="100000"/>
              </a:lnSpc>
              <a:spcBef>
                <a:spcPts val="385"/>
              </a:spcBef>
            </a:pPr>
            <a:r>
              <a:rPr sz="1400" b="1" dirty="0">
                <a:latin typeface="Comic Sans MS" panose="030F0702030302020204"/>
                <a:cs typeface="Comic Sans MS" panose="030F0702030302020204"/>
              </a:rPr>
              <a:t>:patient</a:t>
            </a:r>
            <a:endParaRPr sz="1400">
              <a:latin typeface="Comic Sans MS" panose="030F0702030302020204"/>
              <a:cs typeface="Comic Sans MS" panose="030F0702030302020204"/>
            </a:endParaRPr>
          </a:p>
        </p:txBody>
      </p:sp>
      <p:sp>
        <p:nvSpPr>
          <p:cNvPr id="173" name="object 15"/>
          <p:cNvSpPr txBox="1"/>
          <p:nvPr/>
        </p:nvSpPr>
        <p:spPr>
          <a:xfrm>
            <a:off x="2398056" y="2407285"/>
            <a:ext cx="1422400" cy="990600"/>
          </a:xfrm>
          <a:prstGeom prst="rect">
            <a:avLst/>
          </a:prstGeom>
          <a:ln w="38099">
            <a:solidFill>
              <a:srgbClr val="000000"/>
            </a:solidFill>
          </a:ln>
        </p:spPr>
        <p:txBody>
          <a:bodyPr vert="horz" wrap="square" lIns="0" tIns="50165" rIns="0" bIns="0" rtlCol="0">
            <a:spAutoFit/>
          </a:bodyPr>
          <a:lstStyle/>
          <a:p>
            <a:pPr marL="91440">
              <a:lnSpc>
                <a:spcPts val="1420"/>
              </a:lnSpc>
              <a:spcBef>
                <a:spcPts val="395"/>
              </a:spcBef>
            </a:pPr>
            <a:r>
              <a:rPr sz="1200" dirty="0">
                <a:latin typeface="Comic Sans MS" panose="030F0702030302020204"/>
                <a:cs typeface="Comic Sans MS" panose="030F0702030302020204"/>
              </a:rPr>
              <a:t>Name</a:t>
            </a:r>
            <a:endParaRPr sz="1200">
              <a:latin typeface="Comic Sans MS" panose="030F0702030302020204"/>
              <a:cs typeface="Comic Sans MS" panose="030F0702030302020204"/>
            </a:endParaRPr>
          </a:p>
          <a:p>
            <a:pPr marL="91440" marR="358775">
              <a:lnSpc>
                <a:spcPts val="1400"/>
              </a:lnSpc>
              <a:spcBef>
                <a:spcPts val="60"/>
              </a:spcBef>
            </a:pPr>
            <a:r>
              <a:rPr sz="1200" dirty="0">
                <a:latin typeface="Comic Sans MS" panose="030F0702030302020204"/>
                <a:cs typeface="Comic Sans MS" panose="030F0702030302020204"/>
              </a:rPr>
              <a:t>Date </a:t>
            </a:r>
            <a:r>
              <a:rPr sz="1200" spc="-5" dirty="0">
                <a:latin typeface="Comic Sans MS" panose="030F0702030302020204"/>
                <a:cs typeface="Comic Sans MS" panose="030F0702030302020204"/>
              </a:rPr>
              <a:t>of</a:t>
            </a:r>
            <a:r>
              <a:rPr sz="1200" spc="-100" dirty="0">
                <a:latin typeface="Comic Sans MS" panose="030F0702030302020204"/>
                <a:cs typeface="Comic Sans MS" panose="030F0702030302020204"/>
              </a:rPr>
              <a:t> </a:t>
            </a:r>
            <a:r>
              <a:rPr sz="1200" dirty="0">
                <a:latin typeface="Comic Sans MS" panose="030F0702030302020204"/>
                <a:cs typeface="Comic Sans MS" panose="030F0702030302020204"/>
              </a:rPr>
              <a:t>Birth  </a:t>
            </a:r>
            <a:r>
              <a:rPr sz="1200" spc="-5" dirty="0">
                <a:latin typeface="Comic Sans MS" panose="030F0702030302020204"/>
                <a:cs typeface="Comic Sans MS" panose="030F0702030302020204"/>
              </a:rPr>
              <a:t>Height</a:t>
            </a:r>
            <a:endParaRPr sz="1200">
              <a:latin typeface="Comic Sans MS" panose="030F0702030302020204"/>
              <a:cs typeface="Comic Sans MS" panose="030F0702030302020204"/>
            </a:endParaRPr>
          </a:p>
          <a:p>
            <a:pPr marL="91440">
              <a:lnSpc>
                <a:spcPct val="100000"/>
              </a:lnSpc>
              <a:spcBef>
                <a:spcPts val="20"/>
              </a:spcBef>
            </a:pPr>
            <a:r>
              <a:rPr sz="1200" spc="-5" dirty="0">
                <a:latin typeface="Comic Sans MS" panose="030F0702030302020204"/>
                <a:cs typeface="Comic Sans MS" panose="030F0702030302020204"/>
              </a:rPr>
              <a:t>Weight</a:t>
            </a:r>
            <a:endParaRPr sz="1200">
              <a:latin typeface="Comic Sans MS" panose="030F0702030302020204"/>
              <a:cs typeface="Comic Sans MS" panose="030F0702030302020204"/>
            </a:endParaRPr>
          </a:p>
        </p:txBody>
      </p:sp>
      <p:graphicFrame>
        <p:nvGraphicFramePr>
          <p:cNvPr id="174" name="object 16"/>
          <p:cNvGraphicFramePr>
            <a:graphicFrameLocks noGrp="1"/>
          </p:cNvGraphicFramePr>
          <p:nvPr/>
        </p:nvGraphicFramePr>
        <p:xfrm>
          <a:off x="989943" y="4829810"/>
          <a:ext cx="1524000" cy="1600198"/>
        </p:xfrm>
        <a:graphic>
          <a:graphicData uri="http://schemas.openxmlformats.org/drawingml/2006/table">
            <a:tbl>
              <a:tblPr firstRow="1" bandRow="1">
                <a:tableStyleId>{2D5ABB26-0587-4C30-8999-92F81FD0307C}</a:tableStyleId>
              </a:tblPr>
              <a:tblGrid>
                <a:gridCol w="1524000">
                  <a:extLst>
                    <a:ext uri="{9D8B030D-6E8A-4147-A177-3AD203B41FA5}">
                      <a16:colId xmlns:a16="http://schemas.microsoft.com/office/drawing/2014/main" val="20000"/>
                    </a:ext>
                  </a:extLst>
                </a:gridCol>
              </a:tblGrid>
              <a:tr h="304800">
                <a:tc>
                  <a:txBody>
                    <a:bodyPr/>
                    <a:lstStyle/>
                    <a:p>
                      <a:pPr marL="231140">
                        <a:lnSpc>
                          <a:spcPct val="100000"/>
                        </a:lnSpc>
                        <a:spcBef>
                          <a:spcPts val="360"/>
                        </a:spcBef>
                      </a:pPr>
                      <a:r>
                        <a:rPr sz="1400" b="1" spc="-5" dirty="0">
                          <a:latin typeface="Comic Sans MS" panose="030F0702030302020204"/>
                          <a:cs typeface="Comic Sans MS" panose="030F0702030302020204"/>
                        </a:rPr>
                        <a:t>:In-patient</a:t>
                      </a:r>
                      <a:endParaRPr sz="1400">
                        <a:latin typeface="Comic Sans MS" panose="030F0702030302020204"/>
                        <a:cs typeface="Comic Sans MS" panose="030F0702030302020204"/>
                      </a:endParaRPr>
                    </a:p>
                  </a:txBody>
                  <a:tcPr marL="0" marR="0" marT="45719" marB="0">
                    <a:lnL w="38100">
                      <a:solidFill>
                        <a:srgbClr val="000000"/>
                      </a:solidFill>
                      <a:prstDash val="solid"/>
                    </a:lnL>
                    <a:lnR w="38100">
                      <a:solidFill>
                        <a:srgbClr val="000000"/>
                      </a:solidFill>
                      <a:prstDash val="solid"/>
                    </a:lnR>
                    <a:lnT w="38100">
                      <a:solidFill>
                        <a:srgbClr val="000000"/>
                      </a:solidFill>
                      <a:prstDash val="solid"/>
                    </a:lnT>
                    <a:lnB w="53975">
                      <a:solidFill>
                        <a:srgbClr val="000000"/>
                      </a:solidFill>
                      <a:prstDash val="solid"/>
                    </a:lnB>
                    <a:solidFill>
                      <a:srgbClr val="FCFAD3"/>
                    </a:solidFill>
                  </a:tcPr>
                </a:tc>
                <a:extLst>
                  <a:ext uri="{0D108BD9-81ED-4DB2-BD59-A6C34878D82A}">
                    <a16:rowId xmlns:a16="http://schemas.microsoft.com/office/drawing/2014/main" val="10000"/>
                  </a:ext>
                </a:extLst>
              </a:tr>
              <a:tr h="990600">
                <a:tc>
                  <a:txBody>
                    <a:bodyPr/>
                    <a:lstStyle/>
                    <a:p>
                      <a:pPr marL="91440" marR="782320">
                        <a:lnSpc>
                          <a:spcPts val="1400"/>
                        </a:lnSpc>
                        <a:spcBef>
                          <a:spcPts val="475"/>
                        </a:spcBef>
                      </a:pPr>
                      <a:r>
                        <a:rPr sz="1200" spc="-5" dirty="0">
                          <a:latin typeface="Comic Sans MS" panose="030F0702030302020204"/>
                          <a:cs typeface="Comic Sans MS" panose="030F0702030302020204"/>
                        </a:rPr>
                        <a:t>Room  Bed  </a:t>
                      </a:r>
                      <a:r>
                        <a:rPr sz="1200" dirty="0">
                          <a:latin typeface="Comic Sans MS" panose="030F0702030302020204"/>
                          <a:cs typeface="Comic Sans MS" panose="030F0702030302020204"/>
                        </a:rPr>
                        <a:t>Physi</a:t>
                      </a:r>
                      <a:r>
                        <a:rPr sz="1200" spc="-5" dirty="0">
                          <a:latin typeface="Comic Sans MS" panose="030F0702030302020204"/>
                          <a:cs typeface="Comic Sans MS" panose="030F0702030302020204"/>
                        </a:rPr>
                        <a:t>c</a:t>
                      </a:r>
                      <a:r>
                        <a:rPr sz="1200" dirty="0">
                          <a:latin typeface="Comic Sans MS" panose="030F0702030302020204"/>
                          <a:cs typeface="Comic Sans MS" panose="030F0702030302020204"/>
                        </a:rPr>
                        <a:t>i</a:t>
                      </a:r>
                      <a:r>
                        <a:rPr sz="1200" spc="-5" dirty="0">
                          <a:latin typeface="Comic Sans MS" panose="030F0702030302020204"/>
                          <a:cs typeface="Comic Sans MS" panose="030F0702030302020204"/>
                        </a:rPr>
                        <a:t>an</a:t>
                      </a:r>
                      <a:endParaRPr sz="1200">
                        <a:latin typeface="Comic Sans MS" panose="030F0702030302020204"/>
                        <a:cs typeface="Comic Sans MS" panose="030F0702030302020204"/>
                      </a:endParaRPr>
                    </a:p>
                  </a:txBody>
                  <a:tcPr marL="0" marR="0" marT="60325" marB="0">
                    <a:lnL w="38100">
                      <a:solidFill>
                        <a:srgbClr val="000000"/>
                      </a:solidFill>
                      <a:prstDash val="solid"/>
                    </a:lnL>
                    <a:lnR w="38100">
                      <a:solidFill>
                        <a:srgbClr val="000000"/>
                      </a:solidFill>
                      <a:prstDash val="solid"/>
                    </a:lnR>
                    <a:lnT w="53975">
                      <a:solidFill>
                        <a:srgbClr val="000000"/>
                      </a:solidFill>
                      <a:prstDash val="solid"/>
                    </a:lnT>
                    <a:lnB w="53975">
                      <a:solidFill>
                        <a:srgbClr val="000000"/>
                      </a:solidFill>
                      <a:prstDash val="solid"/>
                    </a:lnB>
                    <a:solidFill>
                      <a:srgbClr val="FCFAD3"/>
                    </a:solidFill>
                  </a:tcPr>
                </a:tc>
                <a:extLst>
                  <a:ext uri="{0D108BD9-81ED-4DB2-BD59-A6C34878D82A}">
                    <a16:rowId xmlns:a16="http://schemas.microsoft.com/office/drawing/2014/main" val="10001"/>
                  </a:ext>
                </a:extLst>
              </a:tr>
              <a:tr h="304798">
                <a:tc>
                  <a:txBody>
                    <a:bodyPr/>
                    <a:lstStyle/>
                    <a:p>
                      <a:pPr>
                        <a:lnSpc>
                          <a:spcPct val="100000"/>
                        </a:lnSpc>
                      </a:pPr>
                      <a:endParaRPr sz="1400">
                        <a:latin typeface="Times New Roman" panose="02020603050405020304"/>
                        <a:cs typeface="Times New Roman" panose="02020603050405020304"/>
                      </a:endParaRPr>
                    </a:p>
                  </a:txBody>
                  <a:tcPr marL="0" marR="0" marT="0" marB="0">
                    <a:lnL w="38100">
                      <a:solidFill>
                        <a:srgbClr val="000000"/>
                      </a:solidFill>
                      <a:prstDash val="solid"/>
                    </a:lnL>
                    <a:lnR w="38100">
                      <a:solidFill>
                        <a:srgbClr val="000000"/>
                      </a:solidFill>
                      <a:prstDash val="solid"/>
                    </a:lnR>
                    <a:lnT w="53975">
                      <a:solidFill>
                        <a:srgbClr val="000000"/>
                      </a:solidFill>
                      <a:prstDash val="solid"/>
                    </a:lnT>
                    <a:lnB w="38100">
                      <a:solidFill>
                        <a:srgbClr val="000000"/>
                      </a:solidFill>
                      <a:prstDash val="solid"/>
                    </a:lnB>
                    <a:solidFill>
                      <a:srgbClr val="FCFAD3"/>
                    </a:solidFill>
                  </a:tcPr>
                </a:tc>
                <a:extLst>
                  <a:ext uri="{0D108BD9-81ED-4DB2-BD59-A6C34878D82A}">
                    <a16:rowId xmlns:a16="http://schemas.microsoft.com/office/drawing/2014/main" val="10002"/>
                  </a:ext>
                </a:extLst>
              </a:tr>
            </a:tbl>
          </a:graphicData>
        </a:graphic>
      </p:graphicFrame>
      <p:graphicFrame>
        <p:nvGraphicFramePr>
          <p:cNvPr id="175" name="object 17"/>
          <p:cNvGraphicFramePr>
            <a:graphicFrameLocks noGrp="1"/>
          </p:cNvGraphicFramePr>
          <p:nvPr/>
        </p:nvGraphicFramePr>
        <p:xfrm>
          <a:off x="3471206" y="4826635"/>
          <a:ext cx="1625600" cy="1600198"/>
        </p:xfrm>
        <a:graphic>
          <a:graphicData uri="http://schemas.openxmlformats.org/drawingml/2006/table">
            <a:tbl>
              <a:tblPr firstRow="1" bandRow="1">
                <a:tableStyleId>{2D5ABB26-0587-4C30-8999-92F81FD0307C}</a:tableStyleId>
              </a:tblPr>
              <a:tblGrid>
                <a:gridCol w="1625600">
                  <a:extLst>
                    <a:ext uri="{9D8B030D-6E8A-4147-A177-3AD203B41FA5}">
                      <a16:colId xmlns:a16="http://schemas.microsoft.com/office/drawing/2014/main" val="20000"/>
                    </a:ext>
                  </a:extLst>
                </a:gridCol>
              </a:tblGrid>
              <a:tr h="304800">
                <a:tc>
                  <a:txBody>
                    <a:bodyPr/>
                    <a:lstStyle/>
                    <a:p>
                      <a:pPr marL="257810">
                        <a:lnSpc>
                          <a:spcPct val="100000"/>
                        </a:lnSpc>
                        <a:spcBef>
                          <a:spcPts val="385"/>
                        </a:spcBef>
                      </a:pPr>
                      <a:r>
                        <a:rPr sz="1400" b="1" spc="-5" dirty="0">
                          <a:latin typeface="Comic Sans MS" panose="030F0702030302020204"/>
                          <a:cs typeface="Comic Sans MS" panose="030F0702030302020204"/>
                        </a:rPr>
                        <a:t>:Out-patient</a:t>
                      </a:r>
                      <a:endParaRPr sz="1400">
                        <a:latin typeface="Comic Sans MS" panose="030F0702030302020204"/>
                        <a:cs typeface="Comic Sans MS" panose="030F0702030302020204"/>
                      </a:endParaRPr>
                    </a:p>
                  </a:txBody>
                  <a:tcPr marL="0" marR="0" marT="48895" marB="0">
                    <a:lnL w="38100">
                      <a:solidFill>
                        <a:srgbClr val="000000"/>
                      </a:solidFill>
                      <a:prstDash val="solid"/>
                    </a:lnL>
                    <a:lnR w="38100">
                      <a:solidFill>
                        <a:srgbClr val="000000"/>
                      </a:solidFill>
                      <a:prstDash val="solid"/>
                    </a:lnR>
                    <a:lnT w="38100">
                      <a:solidFill>
                        <a:srgbClr val="000000"/>
                      </a:solidFill>
                      <a:prstDash val="solid"/>
                    </a:lnT>
                    <a:lnB w="53975">
                      <a:solidFill>
                        <a:srgbClr val="000000"/>
                      </a:solidFill>
                      <a:prstDash val="solid"/>
                    </a:lnB>
                    <a:solidFill>
                      <a:srgbClr val="FCFAD3"/>
                    </a:solidFill>
                  </a:tcPr>
                </a:tc>
                <a:extLst>
                  <a:ext uri="{0D108BD9-81ED-4DB2-BD59-A6C34878D82A}">
                    <a16:rowId xmlns:a16="http://schemas.microsoft.com/office/drawing/2014/main" val="10000"/>
                  </a:ext>
                </a:extLst>
              </a:tr>
              <a:tr h="990600">
                <a:tc>
                  <a:txBody>
                    <a:bodyPr/>
                    <a:lstStyle/>
                    <a:p>
                      <a:pPr marL="90805" marR="850265" algn="just">
                        <a:lnSpc>
                          <a:spcPts val="1400"/>
                        </a:lnSpc>
                        <a:spcBef>
                          <a:spcPts val="440"/>
                        </a:spcBef>
                      </a:pPr>
                      <a:r>
                        <a:rPr sz="1200" dirty="0">
                          <a:latin typeface="Comic Sans MS" panose="030F0702030302020204"/>
                          <a:cs typeface="Comic Sans MS" panose="030F0702030302020204"/>
                        </a:rPr>
                        <a:t>Last visit  </a:t>
                      </a:r>
                      <a:r>
                        <a:rPr sz="1200" spc="-5" dirty="0">
                          <a:latin typeface="Comic Sans MS" panose="030F0702030302020204"/>
                          <a:cs typeface="Comic Sans MS" panose="030F0702030302020204"/>
                        </a:rPr>
                        <a:t>next</a:t>
                      </a:r>
                      <a:r>
                        <a:rPr sz="1200" spc="-80" dirty="0">
                          <a:latin typeface="Comic Sans MS" panose="030F0702030302020204"/>
                          <a:cs typeface="Comic Sans MS" panose="030F0702030302020204"/>
                        </a:rPr>
                        <a:t> </a:t>
                      </a:r>
                      <a:r>
                        <a:rPr sz="1200" spc="-5" dirty="0">
                          <a:latin typeface="Comic Sans MS" panose="030F0702030302020204"/>
                          <a:cs typeface="Comic Sans MS" panose="030F0702030302020204"/>
                        </a:rPr>
                        <a:t>visit  </a:t>
                      </a:r>
                      <a:r>
                        <a:rPr sz="1200" dirty="0">
                          <a:latin typeface="Comic Sans MS" panose="030F0702030302020204"/>
                          <a:cs typeface="Comic Sans MS" panose="030F0702030302020204"/>
                        </a:rPr>
                        <a:t>physician</a:t>
                      </a:r>
                      <a:endParaRPr sz="1200">
                        <a:latin typeface="Comic Sans MS" panose="030F0702030302020204"/>
                        <a:cs typeface="Comic Sans MS" panose="030F0702030302020204"/>
                      </a:endParaRPr>
                    </a:p>
                  </a:txBody>
                  <a:tcPr marL="0" marR="0" marT="55879" marB="0">
                    <a:lnL w="38100">
                      <a:solidFill>
                        <a:srgbClr val="000000"/>
                      </a:solidFill>
                      <a:prstDash val="solid"/>
                    </a:lnL>
                    <a:lnR w="38100">
                      <a:solidFill>
                        <a:srgbClr val="000000"/>
                      </a:solidFill>
                      <a:prstDash val="solid"/>
                    </a:lnR>
                    <a:lnT w="53975">
                      <a:solidFill>
                        <a:srgbClr val="000000"/>
                      </a:solidFill>
                      <a:prstDash val="solid"/>
                    </a:lnT>
                    <a:lnB w="53975">
                      <a:solidFill>
                        <a:srgbClr val="000000"/>
                      </a:solidFill>
                      <a:prstDash val="solid"/>
                    </a:lnB>
                    <a:solidFill>
                      <a:srgbClr val="FCFAD3"/>
                    </a:solidFill>
                  </a:tcPr>
                </a:tc>
                <a:extLst>
                  <a:ext uri="{0D108BD9-81ED-4DB2-BD59-A6C34878D82A}">
                    <a16:rowId xmlns:a16="http://schemas.microsoft.com/office/drawing/2014/main" val="10001"/>
                  </a:ext>
                </a:extLst>
              </a:tr>
              <a:tr h="304798">
                <a:tc>
                  <a:txBody>
                    <a:bodyPr/>
                    <a:lstStyle/>
                    <a:p>
                      <a:pPr>
                        <a:lnSpc>
                          <a:spcPct val="100000"/>
                        </a:lnSpc>
                      </a:pPr>
                      <a:endParaRPr sz="1400">
                        <a:latin typeface="Times New Roman" panose="02020603050405020304"/>
                        <a:cs typeface="Times New Roman" panose="02020603050405020304"/>
                      </a:endParaRPr>
                    </a:p>
                  </a:txBody>
                  <a:tcPr marL="0" marR="0" marT="0" marB="0">
                    <a:lnL w="38100">
                      <a:solidFill>
                        <a:srgbClr val="000000"/>
                      </a:solidFill>
                      <a:prstDash val="solid"/>
                    </a:lnL>
                    <a:lnR w="38100">
                      <a:solidFill>
                        <a:srgbClr val="000000"/>
                      </a:solidFill>
                      <a:prstDash val="solid"/>
                    </a:lnR>
                    <a:lnT w="53975">
                      <a:solidFill>
                        <a:srgbClr val="000000"/>
                      </a:solidFill>
                      <a:prstDash val="solid"/>
                    </a:lnT>
                    <a:lnB w="38100">
                      <a:solidFill>
                        <a:srgbClr val="000000"/>
                      </a:solidFill>
                      <a:prstDash val="solid"/>
                    </a:lnB>
                    <a:solidFill>
                      <a:srgbClr val="FCFAD3"/>
                    </a:solidFill>
                  </a:tcPr>
                </a:tc>
                <a:extLst>
                  <a:ext uri="{0D108BD9-81ED-4DB2-BD59-A6C34878D82A}">
                    <a16:rowId xmlns:a16="http://schemas.microsoft.com/office/drawing/2014/main" val="10002"/>
                  </a:ext>
                </a:extLst>
              </a:tr>
            </a:tbl>
          </a:graphicData>
        </a:graphic>
      </p:graphicFrame>
      <p:sp>
        <p:nvSpPr>
          <p:cNvPr id="176" name="object 18"/>
          <p:cNvSpPr/>
          <p:nvPr/>
        </p:nvSpPr>
        <p:spPr>
          <a:xfrm>
            <a:off x="10376829" y="1111886"/>
            <a:ext cx="1422400" cy="1600200"/>
          </a:xfrm>
          <a:custGeom>
            <a:avLst/>
            <a:gdLst/>
            <a:ahLst/>
            <a:cxnLst/>
            <a:rect l="l" t="t" r="r" b="b"/>
            <a:pathLst>
              <a:path w="1422400" h="1600200">
                <a:moveTo>
                  <a:pt x="0" y="0"/>
                </a:moveTo>
                <a:lnTo>
                  <a:pt x="1422400" y="0"/>
                </a:lnTo>
                <a:lnTo>
                  <a:pt x="1422400" y="1600198"/>
                </a:lnTo>
                <a:lnTo>
                  <a:pt x="0" y="1600198"/>
                </a:lnTo>
                <a:lnTo>
                  <a:pt x="0" y="0"/>
                </a:lnTo>
                <a:close/>
              </a:path>
            </a:pathLst>
          </a:custGeom>
          <a:solidFill>
            <a:srgbClr val="FCFAD3"/>
          </a:solidFill>
        </p:spPr>
        <p:txBody>
          <a:bodyPr wrap="square" lIns="0" tIns="0" rIns="0" bIns="0" rtlCol="0"/>
          <a:lstStyle/>
          <a:p>
            <a:endParaRPr/>
          </a:p>
        </p:txBody>
      </p:sp>
      <p:sp>
        <p:nvSpPr>
          <p:cNvPr id="177" name="object 19"/>
          <p:cNvSpPr/>
          <p:nvPr/>
        </p:nvSpPr>
        <p:spPr>
          <a:xfrm>
            <a:off x="10376830" y="1111886"/>
            <a:ext cx="1422400" cy="1600200"/>
          </a:xfrm>
          <a:custGeom>
            <a:avLst/>
            <a:gdLst/>
            <a:ahLst/>
            <a:cxnLst/>
            <a:rect l="l" t="t" r="r" b="b"/>
            <a:pathLst>
              <a:path w="1422400" h="1600200">
                <a:moveTo>
                  <a:pt x="0" y="0"/>
                </a:moveTo>
                <a:lnTo>
                  <a:pt x="1422399" y="0"/>
                </a:lnTo>
                <a:lnTo>
                  <a:pt x="1422399" y="1600199"/>
                </a:lnTo>
                <a:lnTo>
                  <a:pt x="0" y="1600199"/>
                </a:lnTo>
                <a:lnTo>
                  <a:pt x="0" y="0"/>
                </a:lnTo>
                <a:close/>
              </a:path>
            </a:pathLst>
          </a:custGeom>
          <a:ln w="38099">
            <a:solidFill>
              <a:srgbClr val="000000"/>
            </a:solidFill>
          </a:ln>
        </p:spPr>
        <p:txBody>
          <a:bodyPr wrap="square" lIns="0" tIns="0" rIns="0" bIns="0" rtlCol="0"/>
          <a:lstStyle/>
          <a:p>
            <a:endParaRPr/>
          </a:p>
        </p:txBody>
      </p:sp>
      <p:sp>
        <p:nvSpPr>
          <p:cNvPr id="178" name="object 20"/>
          <p:cNvSpPr/>
          <p:nvPr/>
        </p:nvSpPr>
        <p:spPr>
          <a:xfrm>
            <a:off x="10376830" y="2407285"/>
            <a:ext cx="1422400" cy="0"/>
          </a:xfrm>
          <a:custGeom>
            <a:avLst/>
            <a:gdLst/>
            <a:ahLst/>
            <a:cxnLst/>
            <a:rect l="l" t="t" r="r" b="b"/>
            <a:pathLst>
              <a:path w="1422400">
                <a:moveTo>
                  <a:pt x="0" y="0"/>
                </a:moveTo>
                <a:lnTo>
                  <a:pt x="1422399" y="1"/>
                </a:lnTo>
              </a:path>
            </a:pathLst>
          </a:custGeom>
          <a:ln w="38099">
            <a:solidFill>
              <a:srgbClr val="000000"/>
            </a:solidFill>
          </a:ln>
        </p:spPr>
        <p:txBody>
          <a:bodyPr wrap="square" lIns="0" tIns="0" rIns="0" bIns="0" rtlCol="0"/>
          <a:lstStyle/>
          <a:p>
            <a:endParaRPr/>
          </a:p>
        </p:txBody>
      </p:sp>
      <p:sp>
        <p:nvSpPr>
          <p:cNvPr id="179" name="object 21"/>
          <p:cNvSpPr txBox="1"/>
          <p:nvPr/>
        </p:nvSpPr>
        <p:spPr>
          <a:xfrm>
            <a:off x="10376830" y="1111886"/>
            <a:ext cx="1422400" cy="304800"/>
          </a:xfrm>
          <a:prstGeom prst="rect">
            <a:avLst/>
          </a:prstGeom>
          <a:ln w="38099">
            <a:solidFill>
              <a:srgbClr val="000000"/>
            </a:solidFill>
          </a:ln>
        </p:spPr>
        <p:txBody>
          <a:bodyPr vert="horz" wrap="square" lIns="0" tIns="48894" rIns="0" bIns="0" rtlCol="0">
            <a:spAutoFit/>
          </a:bodyPr>
          <a:lstStyle/>
          <a:p>
            <a:pPr marL="424180">
              <a:lnSpc>
                <a:spcPct val="100000"/>
              </a:lnSpc>
              <a:spcBef>
                <a:spcPts val="385"/>
              </a:spcBef>
            </a:pPr>
            <a:r>
              <a:rPr sz="1400" b="1" spc="-5" dirty="0">
                <a:latin typeface="Comic Sans MS" panose="030F0702030302020204"/>
                <a:cs typeface="Comic Sans MS" panose="030F0702030302020204"/>
              </a:rPr>
              <a:t>:eye</a:t>
            </a:r>
            <a:endParaRPr sz="1400">
              <a:latin typeface="Comic Sans MS" panose="030F0702030302020204"/>
              <a:cs typeface="Comic Sans MS" panose="030F0702030302020204"/>
            </a:endParaRPr>
          </a:p>
        </p:txBody>
      </p:sp>
      <p:sp>
        <p:nvSpPr>
          <p:cNvPr id="180" name="object 22"/>
          <p:cNvSpPr txBox="1"/>
          <p:nvPr/>
        </p:nvSpPr>
        <p:spPr>
          <a:xfrm>
            <a:off x="10376830" y="1416686"/>
            <a:ext cx="1422400" cy="990600"/>
          </a:xfrm>
          <a:prstGeom prst="rect">
            <a:avLst/>
          </a:prstGeom>
          <a:solidFill>
            <a:srgbClr val="FCFAD3"/>
          </a:solidFill>
          <a:ln w="38099">
            <a:solidFill>
              <a:srgbClr val="000000"/>
            </a:solidFill>
          </a:ln>
        </p:spPr>
        <p:txBody>
          <a:bodyPr vert="horz" wrap="square" lIns="0" tIns="60325" rIns="0" bIns="0" rtlCol="0">
            <a:spAutoFit/>
          </a:bodyPr>
          <a:lstStyle/>
          <a:p>
            <a:pPr marL="90805" marR="568325">
              <a:lnSpc>
                <a:spcPts val="1400"/>
              </a:lnSpc>
              <a:spcBef>
                <a:spcPts val="475"/>
              </a:spcBef>
            </a:pPr>
            <a:r>
              <a:rPr sz="1200" dirty="0">
                <a:latin typeface="Comic Sans MS" panose="030F0702030302020204"/>
                <a:cs typeface="Comic Sans MS" panose="030F0702030302020204"/>
              </a:rPr>
              <a:t>Colour  </a:t>
            </a:r>
            <a:r>
              <a:rPr sz="1200" spc="-5" dirty="0">
                <a:latin typeface="Comic Sans MS" panose="030F0702030302020204"/>
                <a:cs typeface="Comic Sans MS" panose="030F0702030302020204"/>
              </a:rPr>
              <a:t>Diameter  </a:t>
            </a:r>
            <a:r>
              <a:rPr sz="1200" dirty="0">
                <a:latin typeface="Comic Sans MS" panose="030F0702030302020204"/>
                <a:cs typeface="Comic Sans MS" panose="030F0702030302020204"/>
              </a:rPr>
              <a:t>Corr</a:t>
            </a:r>
            <a:r>
              <a:rPr sz="1200" spc="-5" dirty="0">
                <a:latin typeface="Comic Sans MS" panose="030F0702030302020204"/>
                <a:cs typeface="Comic Sans MS" panose="030F0702030302020204"/>
              </a:rPr>
              <a:t>ec</a:t>
            </a:r>
            <a:r>
              <a:rPr sz="1200" dirty="0">
                <a:latin typeface="Comic Sans MS" panose="030F0702030302020204"/>
                <a:cs typeface="Comic Sans MS" panose="030F0702030302020204"/>
              </a:rPr>
              <a:t>ti</a:t>
            </a:r>
            <a:r>
              <a:rPr sz="1200" spc="-5" dirty="0">
                <a:latin typeface="Comic Sans MS" panose="030F0702030302020204"/>
                <a:cs typeface="Comic Sans MS" panose="030F0702030302020204"/>
              </a:rPr>
              <a:t>on</a:t>
            </a:r>
            <a:endParaRPr sz="1200">
              <a:latin typeface="Comic Sans MS" panose="030F0702030302020204"/>
              <a:cs typeface="Comic Sans MS" panose="030F0702030302020204"/>
            </a:endParaRPr>
          </a:p>
        </p:txBody>
      </p:sp>
      <p:sp>
        <p:nvSpPr>
          <p:cNvPr id="181" name="object 23"/>
          <p:cNvSpPr/>
          <p:nvPr/>
        </p:nvSpPr>
        <p:spPr>
          <a:xfrm>
            <a:off x="8652804" y="2178685"/>
            <a:ext cx="1422400" cy="1600200"/>
          </a:xfrm>
          <a:custGeom>
            <a:avLst/>
            <a:gdLst/>
            <a:ahLst/>
            <a:cxnLst/>
            <a:rect l="l" t="t" r="r" b="b"/>
            <a:pathLst>
              <a:path w="1422400" h="1600200">
                <a:moveTo>
                  <a:pt x="0" y="0"/>
                </a:moveTo>
                <a:lnTo>
                  <a:pt x="1422400" y="0"/>
                </a:lnTo>
                <a:lnTo>
                  <a:pt x="1422400" y="1600200"/>
                </a:lnTo>
                <a:lnTo>
                  <a:pt x="0" y="1600200"/>
                </a:lnTo>
                <a:lnTo>
                  <a:pt x="0" y="0"/>
                </a:lnTo>
                <a:close/>
              </a:path>
            </a:pathLst>
          </a:custGeom>
          <a:solidFill>
            <a:srgbClr val="FCFAD3"/>
          </a:solidFill>
        </p:spPr>
        <p:txBody>
          <a:bodyPr wrap="square" lIns="0" tIns="0" rIns="0" bIns="0" rtlCol="0"/>
          <a:lstStyle/>
          <a:p>
            <a:endParaRPr/>
          </a:p>
        </p:txBody>
      </p:sp>
      <p:sp>
        <p:nvSpPr>
          <p:cNvPr id="182" name="object 24"/>
          <p:cNvSpPr/>
          <p:nvPr/>
        </p:nvSpPr>
        <p:spPr>
          <a:xfrm>
            <a:off x="8652804" y="2178685"/>
            <a:ext cx="1422400" cy="1600200"/>
          </a:xfrm>
          <a:custGeom>
            <a:avLst/>
            <a:gdLst/>
            <a:ahLst/>
            <a:cxnLst/>
            <a:rect l="l" t="t" r="r" b="b"/>
            <a:pathLst>
              <a:path w="1422400" h="1600200">
                <a:moveTo>
                  <a:pt x="0" y="0"/>
                </a:moveTo>
                <a:lnTo>
                  <a:pt x="1422399" y="0"/>
                </a:lnTo>
                <a:lnTo>
                  <a:pt x="1422399" y="1600199"/>
                </a:lnTo>
                <a:lnTo>
                  <a:pt x="0" y="1600199"/>
                </a:lnTo>
                <a:lnTo>
                  <a:pt x="0" y="0"/>
                </a:lnTo>
                <a:close/>
              </a:path>
            </a:pathLst>
          </a:custGeom>
          <a:ln w="38099">
            <a:solidFill>
              <a:srgbClr val="000000"/>
            </a:solidFill>
          </a:ln>
        </p:spPr>
        <p:txBody>
          <a:bodyPr wrap="square" lIns="0" tIns="0" rIns="0" bIns="0" rtlCol="0"/>
          <a:lstStyle/>
          <a:p>
            <a:endParaRPr/>
          </a:p>
        </p:txBody>
      </p:sp>
      <p:sp>
        <p:nvSpPr>
          <p:cNvPr id="183" name="object 25"/>
          <p:cNvSpPr/>
          <p:nvPr/>
        </p:nvSpPr>
        <p:spPr>
          <a:xfrm>
            <a:off x="8652804" y="2483485"/>
            <a:ext cx="1422400" cy="0"/>
          </a:xfrm>
          <a:custGeom>
            <a:avLst/>
            <a:gdLst/>
            <a:ahLst/>
            <a:cxnLst/>
            <a:rect l="l" t="t" r="r" b="b"/>
            <a:pathLst>
              <a:path w="1422400">
                <a:moveTo>
                  <a:pt x="0" y="0"/>
                </a:moveTo>
                <a:lnTo>
                  <a:pt x="1422399" y="1"/>
                </a:lnTo>
              </a:path>
            </a:pathLst>
          </a:custGeom>
          <a:ln w="38099">
            <a:solidFill>
              <a:srgbClr val="000000"/>
            </a:solidFill>
          </a:ln>
        </p:spPr>
        <p:txBody>
          <a:bodyPr wrap="square" lIns="0" tIns="0" rIns="0" bIns="0" rtlCol="0"/>
          <a:lstStyle/>
          <a:p>
            <a:endParaRPr/>
          </a:p>
        </p:txBody>
      </p:sp>
      <p:sp>
        <p:nvSpPr>
          <p:cNvPr id="184" name="object 26"/>
          <p:cNvSpPr/>
          <p:nvPr/>
        </p:nvSpPr>
        <p:spPr>
          <a:xfrm>
            <a:off x="8652804" y="3474085"/>
            <a:ext cx="1422400" cy="0"/>
          </a:xfrm>
          <a:custGeom>
            <a:avLst/>
            <a:gdLst/>
            <a:ahLst/>
            <a:cxnLst/>
            <a:rect l="l" t="t" r="r" b="b"/>
            <a:pathLst>
              <a:path w="1422400">
                <a:moveTo>
                  <a:pt x="0" y="0"/>
                </a:moveTo>
                <a:lnTo>
                  <a:pt x="1422399" y="1"/>
                </a:lnTo>
              </a:path>
            </a:pathLst>
          </a:custGeom>
          <a:ln w="38099">
            <a:solidFill>
              <a:srgbClr val="000000"/>
            </a:solidFill>
          </a:ln>
        </p:spPr>
        <p:txBody>
          <a:bodyPr wrap="square" lIns="0" tIns="0" rIns="0" bIns="0" rtlCol="0"/>
          <a:lstStyle/>
          <a:p>
            <a:endParaRPr/>
          </a:p>
        </p:txBody>
      </p:sp>
      <p:sp>
        <p:nvSpPr>
          <p:cNvPr id="185" name="object 27"/>
          <p:cNvSpPr txBox="1"/>
          <p:nvPr/>
        </p:nvSpPr>
        <p:spPr>
          <a:xfrm>
            <a:off x="8939507" y="2214880"/>
            <a:ext cx="643890" cy="238760"/>
          </a:xfrm>
          <a:prstGeom prst="rect">
            <a:avLst/>
          </a:prstGeom>
        </p:spPr>
        <p:txBody>
          <a:bodyPr vert="horz" wrap="square" lIns="0" tIns="12700" rIns="0" bIns="0" rtlCol="0">
            <a:spAutoFit/>
          </a:bodyPr>
          <a:lstStyle/>
          <a:p>
            <a:pPr marL="12700">
              <a:lnSpc>
                <a:spcPct val="100000"/>
              </a:lnSpc>
              <a:spcBef>
                <a:spcPts val="100"/>
              </a:spcBef>
            </a:pPr>
            <a:r>
              <a:rPr sz="1400" b="1" spc="-5" dirty="0">
                <a:latin typeface="Comic Sans MS" panose="030F0702030302020204"/>
                <a:cs typeface="Comic Sans MS" panose="030F0702030302020204"/>
              </a:rPr>
              <a:t>:kidney</a:t>
            </a:r>
            <a:endParaRPr sz="1400">
              <a:latin typeface="Comic Sans MS" panose="030F0702030302020204"/>
              <a:cs typeface="Comic Sans MS" panose="030F0702030302020204"/>
            </a:endParaRPr>
          </a:p>
        </p:txBody>
      </p:sp>
      <p:sp>
        <p:nvSpPr>
          <p:cNvPr id="186" name="object 28"/>
          <p:cNvSpPr txBox="1"/>
          <p:nvPr/>
        </p:nvSpPr>
        <p:spPr>
          <a:xfrm>
            <a:off x="8707732" y="2519680"/>
            <a:ext cx="937260" cy="208279"/>
          </a:xfrm>
          <a:prstGeom prst="rect">
            <a:avLst/>
          </a:prstGeom>
        </p:spPr>
        <p:txBody>
          <a:bodyPr vert="horz" wrap="square" lIns="0" tIns="12700" rIns="0" bIns="0" rtlCol="0">
            <a:spAutoFit/>
          </a:bodyPr>
          <a:lstStyle/>
          <a:p>
            <a:pPr marL="12700">
              <a:lnSpc>
                <a:spcPct val="100000"/>
              </a:lnSpc>
              <a:spcBef>
                <a:spcPts val="100"/>
              </a:spcBef>
            </a:pPr>
            <a:r>
              <a:rPr sz="1200" spc="-5" dirty="0">
                <a:latin typeface="Comic Sans MS" panose="030F0702030302020204"/>
                <a:cs typeface="Comic Sans MS" panose="030F0702030302020204"/>
              </a:rPr>
              <a:t>Operational?</a:t>
            </a:r>
            <a:endParaRPr sz="1200">
              <a:latin typeface="Comic Sans MS" panose="030F0702030302020204"/>
              <a:cs typeface="Comic Sans MS" panose="030F0702030302020204"/>
            </a:endParaRPr>
          </a:p>
        </p:txBody>
      </p:sp>
      <p:sp>
        <p:nvSpPr>
          <p:cNvPr id="187" name="object 29"/>
          <p:cNvSpPr/>
          <p:nvPr/>
        </p:nvSpPr>
        <p:spPr>
          <a:xfrm>
            <a:off x="4177644" y="1911986"/>
            <a:ext cx="6174105" cy="574675"/>
          </a:xfrm>
          <a:custGeom>
            <a:avLst/>
            <a:gdLst/>
            <a:ahLst/>
            <a:cxnLst/>
            <a:rect l="l" t="t" r="r" b="b"/>
            <a:pathLst>
              <a:path w="6174105" h="574675">
                <a:moveTo>
                  <a:pt x="6173786" y="0"/>
                </a:moveTo>
                <a:lnTo>
                  <a:pt x="3090043" y="0"/>
                </a:lnTo>
                <a:lnTo>
                  <a:pt x="3090043" y="574674"/>
                </a:lnTo>
                <a:lnTo>
                  <a:pt x="0" y="574674"/>
                </a:lnTo>
              </a:path>
            </a:pathLst>
          </a:custGeom>
          <a:ln w="38099">
            <a:solidFill>
              <a:srgbClr val="000000"/>
            </a:solidFill>
          </a:ln>
        </p:spPr>
        <p:txBody>
          <a:bodyPr wrap="square" lIns="0" tIns="0" rIns="0" bIns="0" rtlCol="0"/>
          <a:lstStyle/>
          <a:p>
            <a:endParaRPr/>
          </a:p>
        </p:txBody>
      </p:sp>
      <p:sp>
        <p:nvSpPr>
          <p:cNvPr id="188" name="object 30"/>
          <p:cNvSpPr txBox="1"/>
          <p:nvPr/>
        </p:nvSpPr>
        <p:spPr>
          <a:xfrm>
            <a:off x="772036" y="3891280"/>
            <a:ext cx="1054100" cy="299720"/>
          </a:xfrm>
          <a:prstGeom prst="rect">
            <a:avLst/>
          </a:prstGeom>
        </p:spPr>
        <p:txBody>
          <a:bodyPr vert="horz" wrap="square" lIns="0" tIns="12700" rIns="0" bIns="0" rtlCol="0">
            <a:spAutoFit/>
          </a:bodyPr>
          <a:lstStyle/>
          <a:p>
            <a:pPr marL="12700">
              <a:lnSpc>
                <a:spcPct val="100000"/>
              </a:lnSpc>
              <a:spcBef>
                <a:spcPts val="100"/>
              </a:spcBef>
            </a:pPr>
            <a:r>
              <a:rPr sz="1800" b="1" spc="-10" dirty="0">
                <a:solidFill>
                  <a:srgbClr val="800000"/>
                </a:solidFill>
                <a:latin typeface="黑体" panose="02010609060101010101" charset="-122"/>
                <a:cs typeface="黑体" panose="02010609060101010101" charset="-122"/>
              </a:rPr>
              <a:t>继承</a:t>
            </a:r>
            <a:r>
              <a:rPr sz="1800" b="1" spc="-10" dirty="0">
                <a:solidFill>
                  <a:srgbClr val="941100"/>
                </a:solidFill>
                <a:latin typeface="黑体" panose="02010609060101010101" charset="-122"/>
                <a:cs typeface="黑体" panose="02010609060101010101" charset="-122"/>
              </a:rPr>
              <a:t>/</a:t>
            </a:r>
            <a:r>
              <a:rPr sz="1800" b="1" spc="-10" dirty="0">
                <a:solidFill>
                  <a:srgbClr val="800000"/>
                </a:solidFill>
                <a:latin typeface="黑体" panose="02010609060101010101" charset="-122"/>
                <a:cs typeface="黑体" panose="02010609060101010101" charset="-122"/>
              </a:rPr>
              <a:t>泛化</a:t>
            </a:r>
            <a:endParaRPr sz="1800">
              <a:latin typeface="黑体" panose="02010609060101010101" charset="-122"/>
              <a:cs typeface="黑体" panose="02010609060101010101" charset="-122"/>
            </a:endParaRPr>
          </a:p>
        </p:txBody>
      </p:sp>
      <p:sp>
        <p:nvSpPr>
          <p:cNvPr id="189" name="object 31"/>
          <p:cNvSpPr/>
          <p:nvPr/>
        </p:nvSpPr>
        <p:spPr>
          <a:xfrm>
            <a:off x="1618593" y="3861109"/>
            <a:ext cx="978535" cy="73660"/>
          </a:xfrm>
          <a:custGeom>
            <a:avLst/>
            <a:gdLst/>
            <a:ahLst/>
            <a:cxnLst/>
            <a:rect l="l" t="t" r="r" b="b"/>
            <a:pathLst>
              <a:path w="978535" h="73660">
                <a:moveTo>
                  <a:pt x="0" y="73350"/>
                </a:moveTo>
                <a:lnTo>
                  <a:pt x="978006" y="0"/>
                </a:lnTo>
              </a:path>
            </a:pathLst>
          </a:custGeom>
          <a:ln w="38099">
            <a:solidFill>
              <a:srgbClr val="941100"/>
            </a:solidFill>
          </a:ln>
        </p:spPr>
        <p:txBody>
          <a:bodyPr wrap="square" lIns="0" tIns="0" rIns="0" bIns="0" rtlCol="0"/>
          <a:lstStyle/>
          <a:p>
            <a:endParaRPr/>
          </a:p>
        </p:txBody>
      </p:sp>
      <p:sp>
        <p:nvSpPr>
          <p:cNvPr id="190" name="object 32"/>
          <p:cNvSpPr/>
          <p:nvPr/>
        </p:nvSpPr>
        <p:spPr>
          <a:xfrm>
            <a:off x="2555757" y="3825966"/>
            <a:ext cx="79375" cy="76200"/>
          </a:xfrm>
          <a:custGeom>
            <a:avLst/>
            <a:gdLst/>
            <a:ahLst/>
            <a:cxnLst/>
            <a:rect l="l" t="t" r="r" b="b"/>
            <a:pathLst>
              <a:path w="79375" h="76200">
                <a:moveTo>
                  <a:pt x="0" y="0"/>
                </a:moveTo>
                <a:lnTo>
                  <a:pt x="5698" y="75986"/>
                </a:lnTo>
                <a:lnTo>
                  <a:pt x="78836" y="32293"/>
                </a:lnTo>
                <a:lnTo>
                  <a:pt x="0" y="0"/>
                </a:lnTo>
                <a:close/>
              </a:path>
            </a:pathLst>
          </a:custGeom>
          <a:solidFill>
            <a:srgbClr val="941100"/>
          </a:solidFill>
        </p:spPr>
        <p:txBody>
          <a:bodyPr wrap="square" lIns="0" tIns="0" rIns="0" bIns="0" rtlCol="0"/>
          <a:lstStyle/>
          <a:p>
            <a:endParaRPr/>
          </a:p>
        </p:txBody>
      </p:sp>
      <p:sp>
        <p:nvSpPr>
          <p:cNvPr id="191" name="object 33"/>
          <p:cNvSpPr txBox="1"/>
          <p:nvPr/>
        </p:nvSpPr>
        <p:spPr>
          <a:xfrm>
            <a:off x="4077620" y="1452880"/>
            <a:ext cx="482600" cy="299720"/>
          </a:xfrm>
          <a:prstGeom prst="rect">
            <a:avLst/>
          </a:prstGeom>
        </p:spPr>
        <p:txBody>
          <a:bodyPr vert="horz" wrap="square" lIns="0" tIns="12700" rIns="0" bIns="0" rtlCol="0">
            <a:spAutoFit/>
          </a:bodyPr>
          <a:lstStyle/>
          <a:p>
            <a:pPr marL="12700">
              <a:lnSpc>
                <a:spcPct val="100000"/>
              </a:lnSpc>
              <a:spcBef>
                <a:spcPts val="100"/>
              </a:spcBef>
            </a:pPr>
            <a:r>
              <a:rPr sz="1800" b="1" spc="-10" dirty="0">
                <a:solidFill>
                  <a:srgbClr val="800000"/>
                </a:solidFill>
                <a:latin typeface="黑体" panose="02010609060101010101" charset="-122"/>
                <a:cs typeface="黑体" panose="02010609060101010101" charset="-122"/>
              </a:rPr>
              <a:t>聚合</a:t>
            </a:r>
            <a:endParaRPr sz="1800">
              <a:latin typeface="黑体" panose="02010609060101010101" charset="-122"/>
              <a:cs typeface="黑体" panose="02010609060101010101" charset="-122"/>
            </a:endParaRPr>
          </a:p>
        </p:txBody>
      </p:sp>
      <p:sp>
        <p:nvSpPr>
          <p:cNvPr id="192" name="object 34"/>
          <p:cNvSpPr txBox="1"/>
          <p:nvPr/>
        </p:nvSpPr>
        <p:spPr>
          <a:xfrm>
            <a:off x="955069" y="1376680"/>
            <a:ext cx="482600" cy="299720"/>
          </a:xfrm>
          <a:prstGeom prst="rect">
            <a:avLst/>
          </a:prstGeom>
        </p:spPr>
        <p:txBody>
          <a:bodyPr vert="horz" wrap="square" lIns="0" tIns="12700" rIns="0" bIns="0" rtlCol="0">
            <a:spAutoFit/>
          </a:bodyPr>
          <a:lstStyle/>
          <a:p>
            <a:pPr marL="12700">
              <a:lnSpc>
                <a:spcPct val="100000"/>
              </a:lnSpc>
              <a:spcBef>
                <a:spcPts val="100"/>
              </a:spcBef>
            </a:pPr>
            <a:r>
              <a:rPr sz="1800" b="1" spc="-10" dirty="0">
                <a:solidFill>
                  <a:srgbClr val="800000"/>
                </a:solidFill>
                <a:latin typeface="黑体" panose="02010609060101010101" charset="-122"/>
                <a:cs typeface="黑体" panose="02010609060101010101" charset="-122"/>
              </a:rPr>
              <a:t>类名</a:t>
            </a:r>
            <a:endParaRPr sz="1800">
              <a:latin typeface="黑体" panose="02010609060101010101" charset="-122"/>
              <a:cs typeface="黑体" panose="02010609060101010101" charset="-122"/>
            </a:endParaRPr>
          </a:p>
        </p:txBody>
      </p:sp>
      <p:sp>
        <p:nvSpPr>
          <p:cNvPr id="193" name="object 35"/>
          <p:cNvSpPr/>
          <p:nvPr/>
        </p:nvSpPr>
        <p:spPr>
          <a:xfrm>
            <a:off x="1356656" y="1648460"/>
            <a:ext cx="1489075" cy="595630"/>
          </a:xfrm>
          <a:custGeom>
            <a:avLst/>
            <a:gdLst/>
            <a:ahLst/>
            <a:cxnLst/>
            <a:rect l="l" t="t" r="r" b="b"/>
            <a:pathLst>
              <a:path w="1489075" h="595630">
                <a:moveTo>
                  <a:pt x="0" y="0"/>
                </a:moveTo>
                <a:lnTo>
                  <a:pt x="1488624" y="595450"/>
                </a:lnTo>
              </a:path>
            </a:pathLst>
          </a:custGeom>
          <a:ln w="38099">
            <a:solidFill>
              <a:srgbClr val="941100"/>
            </a:solidFill>
          </a:ln>
        </p:spPr>
        <p:txBody>
          <a:bodyPr wrap="square" lIns="0" tIns="0" rIns="0" bIns="0" rtlCol="0"/>
          <a:lstStyle/>
          <a:p>
            <a:endParaRPr/>
          </a:p>
        </p:txBody>
      </p:sp>
      <p:sp>
        <p:nvSpPr>
          <p:cNvPr id="194" name="object 36"/>
          <p:cNvSpPr/>
          <p:nvPr/>
        </p:nvSpPr>
        <p:spPr>
          <a:xfrm>
            <a:off x="2795757" y="2194385"/>
            <a:ext cx="85090" cy="71120"/>
          </a:xfrm>
          <a:custGeom>
            <a:avLst/>
            <a:gdLst/>
            <a:ahLst/>
            <a:cxnLst/>
            <a:rect l="l" t="t" r="r" b="b"/>
            <a:pathLst>
              <a:path w="85089" h="71119">
                <a:moveTo>
                  <a:pt x="28299" y="0"/>
                </a:moveTo>
                <a:lnTo>
                  <a:pt x="0" y="70749"/>
                </a:lnTo>
                <a:lnTo>
                  <a:pt x="84899" y="63673"/>
                </a:lnTo>
                <a:lnTo>
                  <a:pt x="28299" y="0"/>
                </a:lnTo>
                <a:close/>
              </a:path>
            </a:pathLst>
          </a:custGeom>
          <a:solidFill>
            <a:srgbClr val="941100"/>
          </a:solidFill>
        </p:spPr>
        <p:txBody>
          <a:bodyPr wrap="square" lIns="0" tIns="0" rIns="0" bIns="0" rtlCol="0"/>
          <a:lstStyle/>
          <a:p>
            <a:endParaRPr/>
          </a:p>
        </p:txBody>
      </p:sp>
      <p:sp>
        <p:nvSpPr>
          <p:cNvPr id="195" name="object 37"/>
          <p:cNvSpPr txBox="1"/>
          <p:nvPr/>
        </p:nvSpPr>
        <p:spPr>
          <a:xfrm>
            <a:off x="843622" y="2367280"/>
            <a:ext cx="71120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800000"/>
                </a:solidFill>
                <a:latin typeface="黑体" panose="02010609060101010101" charset="-122"/>
                <a:cs typeface="黑体" panose="02010609060101010101" charset="-122"/>
              </a:rPr>
              <a:t>属性名</a:t>
            </a:r>
            <a:endParaRPr sz="1800">
              <a:latin typeface="黑体" panose="02010609060101010101" charset="-122"/>
              <a:cs typeface="黑体" panose="02010609060101010101" charset="-122"/>
            </a:endParaRPr>
          </a:p>
        </p:txBody>
      </p:sp>
      <p:sp>
        <p:nvSpPr>
          <p:cNvPr id="196" name="object 38"/>
          <p:cNvSpPr/>
          <p:nvPr/>
        </p:nvSpPr>
        <p:spPr>
          <a:xfrm>
            <a:off x="1212193" y="2639060"/>
            <a:ext cx="1181735" cy="147955"/>
          </a:xfrm>
          <a:custGeom>
            <a:avLst/>
            <a:gdLst/>
            <a:ahLst/>
            <a:cxnLst/>
            <a:rect l="l" t="t" r="r" b="b"/>
            <a:pathLst>
              <a:path w="1181735" h="147955">
                <a:moveTo>
                  <a:pt x="0" y="0"/>
                </a:moveTo>
                <a:lnTo>
                  <a:pt x="1181393" y="147674"/>
                </a:lnTo>
              </a:path>
            </a:pathLst>
          </a:custGeom>
          <a:ln w="38099">
            <a:solidFill>
              <a:srgbClr val="941100"/>
            </a:solidFill>
          </a:ln>
        </p:spPr>
        <p:txBody>
          <a:bodyPr wrap="square" lIns="0" tIns="0" rIns="0" bIns="0" rtlCol="0"/>
          <a:lstStyle/>
          <a:p>
            <a:endParaRPr/>
          </a:p>
        </p:txBody>
      </p:sp>
      <p:sp>
        <p:nvSpPr>
          <p:cNvPr id="197" name="object 39"/>
          <p:cNvSpPr/>
          <p:nvPr/>
        </p:nvSpPr>
        <p:spPr>
          <a:xfrm>
            <a:off x="2351056" y="2744203"/>
            <a:ext cx="80645" cy="76200"/>
          </a:xfrm>
          <a:custGeom>
            <a:avLst/>
            <a:gdLst/>
            <a:ahLst/>
            <a:cxnLst/>
            <a:rect l="l" t="t" r="r" b="b"/>
            <a:pathLst>
              <a:path w="80644" h="76200">
                <a:moveTo>
                  <a:pt x="9451" y="0"/>
                </a:moveTo>
                <a:lnTo>
                  <a:pt x="0" y="75611"/>
                </a:lnTo>
                <a:lnTo>
                  <a:pt x="80337" y="47256"/>
                </a:lnTo>
                <a:lnTo>
                  <a:pt x="9451" y="0"/>
                </a:lnTo>
                <a:close/>
              </a:path>
            </a:pathLst>
          </a:custGeom>
          <a:solidFill>
            <a:srgbClr val="941100"/>
          </a:solidFill>
        </p:spPr>
        <p:txBody>
          <a:bodyPr wrap="square" lIns="0" tIns="0" rIns="0" bIns="0" rtlCol="0"/>
          <a:lstStyle/>
          <a:p>
            <a:endParaRPr/>
          </a:p>
        </p:txBody>
      </p:sp>
      <p:sp>
        <p:nvSpPr>
          <p:cNvPr id="198" name="object 40"/>
          <p:cNvSpPr/>
          <p:nvPr/>
        </p:nvSpPr>
        <p:spPr>
          <a:xfrm>
            <a:off x="4072466" y="1724661"/>
            <a:ext cx="289560" cy="651510"/>
          </a:xfrm>
          <a:custGeom>
            <a:avLst/>
            <a:gdLst/>
            <a:ahLst/>
            <a:cxnLst/>
            <a:rect l="l" t="t" r="r" b="b"/>
            <a:pathLst>
              <a:path w="289560" h="651510">
                <a:moveTo>
                  <a:pt x="289326" y="0"/>
                </a:moveTo>
                <a:lnTo>
                  <a:pt x="0" y="650983"/>
                </a:lnTo>
              </a:path>
            </a:pathLst>
          </a:custGeom>
          <a:ln w="38099">
            <a:solidFill>
              <a:srgbClr val="941100"/>
            </a:solidFill>
          </a:ln>
        </p:spPr>
        <p:txBody>
          <a:bodyPr wrap="square" lIns="0" tIns="0" rIns="0" bIns="0" rtlCol="0"/>
          <a:lstStyle/>
          <a:p>
            <a:endParaRPr/>
          </a:p>
        </p:txBody>
      </p:sp>
      <p:sp>
        <p:nvSpPr>
          <p:cNvPr id="199" name="object 41"/>
          <p:cNvSpPr/>
          <p:nvPr/>
        </p:nvSpPr>
        <p:spPr>
          <a:xfrm>
            <a:off x="4053124" y="2325354"/>
            <a:ext cx="69850" cy="85725"/>
          </a:xfrm>
          <a:custGeom>
            <a:avLst/>
            <a:gdLst/>
            <a:ahLst/>
            <a:cxnLst/>
            <a:rect l="l" t="t" r="r" b="b"/>
            <a:pathLst>
              <a:path w="69850" h="85725">
                <a:moveTo>
                  <a:pt x="0" y="0"/>
                </a:moveTo>
                <a:lnTo>
                  <a:pt x="3868" y="85105"/>
                </a:lnTo>
                <a:lnTo>
                  <a:pt x="69632" y="30947"/>
                </a:lnTo>
                <a:lnTo>
                  <a:pt x="0" y="0"/>
                </a:lnTo>
                <a:close/>
              </a:path>
            </a:pathLst>
          </a:custGeom>
          <a:solidFill>
            <a:srgbClr val="941100"/>
          </a:solidFill>
        </p:spPr>
        <p:txBody>
          <a:bodyPr wrap="square" lIns="0" tIns="0" rIns="0" bIns="0" rtlCol="0"/>
          <a:lstStyle/>
          <a:p>
            <a:endParaRPr/>
          </a:p>
        </p:txBody>
      </p:sp>
      <p:sp>
        <p:nvSpPr>
          <p:cNvPr id="200" name="object 42"/>
          <p:cNvSpPr txBox="1"/>
          <p:nvPr/>
        </p:nvSpPr>
        <p:spPr>
          <a:xfrm>
            <a:off x="157799" y="3129280"/>
            <a:ext cx="1854200" cy="299720"/>
          </a:xfrm>
          <a:prstGeom prst="rect">
            <a:avLst/>
          </a:prstGeom>
        </p:spPr>
        <p:txBody>
          <a:bodyPr vert="horz" wrap="square" lIns="0" tIns="12700" rIns="0" bIns="0" rtlCol="0">
            <a:spAutoFit/>
          </a:bodyPr>
          <a:lstStyle/>
          <a:p>
            <a:pPr marL="12700">
              <a:lnSpc>
                <a:spcPct val="100000"/>
              </a:lnSpc>
              <a:spcBef>
                <a:spcPts val="100"/>
              </a:spcBef>
            </a:pPr>
            <a:r>
              <a:rPr sz="1800" b="1" spc="-10" dirty="0">
                <a:solidFill>
                  <a:srgbClr val="800000"/>
                </a:solidFill>
                <a:latin typeface="黑体" panose="02010609060101010101" charset="-122"/>
                <a:cs typeface="黑体" panose="02010609060101010101" charset="-122"/>
              </a:rPr>
              <a:t>服务</a:t>
            </a:r>
            <a:r>
              <a:rPr sz="1800" b="1" spc="-10" dirty="0">
                <a:solidFill>
                  <a:srgbClr val="941100"/>
                </a:solidFill>
                <a:latin typeface="黑体" panose="02010609060101010101" charset="-122"/>
                <a:cs typeface="黑体" panose="02010609060101010101" charset="-122"/>
              </a:rPr>
              <a:t>/</a:t>
            </a:r>
            <a:r>
              <a:rPr sz="1800" b="1" spc="-10" dirty="0">
                <a:solidFill>
                  <a:srgbClr val="800000"/>
                </a:solidFill>
                <a:latin typeface="黑体" panose="02010609060101010101" charset="-122"/>
                <a:cs typeface="黑体" panose="02010609060101010101" charset="-122"/>
              </a:rPr>
              <a:t>操作</a:t>
            </a:r>
            <a:r>
              <a:rPr sz="1800" b="1" spc="-10" dirty="0">
                <a:solidFill>
                  <a:srgbClr val="941100"/>
                </a:solidFill>
                <a:latin typeface="黑体" panose="02010609060101010101" charset="-122"/>
                <a:cs typeface="黑体" panose="02010609060101010101" charset="-122"/>
              </a:rPr>
              <a:t>/</a:t>
            </a:r>
            <a:r>
              <a:rPr sz="1800" b="1" spc="-10" dirty="0">
                <a:solidFill>
                  <a:srgbClr val="800000"/>
                </a:solidFill>
                <a:latin typeface="黑体" panose="02010609060101010101" charset="-122"/>
                <a:cs typeface="黑体" panose="02010609060101010101" charset="-122"/>
              </a:rPr>
              <a:t>方法名</a:t>
            </a:r>
            <a:endParaRPr sz="1800">
              <a:latin typeface="黑体" panose="02010609060101010101" charset="-122"/>
              <a:cs typeface="黑体" panose="02010609060101010101" charset="-122"/>
            </a:endParaRPr>
          </a:p>
        </p:txBody>
      </p:sp>
      <p:sp>
        <p:nvSpPr>
          <p:cNvPr id="201" name="object 43"/>
          <p:cNvSpPr/>
          <p:nvPr/>
        </p:nvSpPr>
        <p:spPr>
          <a:xfrm>
            <a:off x="1212193" y="3401060"/>
            <a:ext cx="1268095" cy="90170"/>
          </a:xfrm>
          <a:custGeom>
            <a:avLst/>
            <a:gdLst/>
            <a:ahLst/>
            <a:cxnLst/>
            <a:rect l="l" t="t" r="r" b="b"/>
            <a:pathLst>
              <a:path w="1268095" h="90169">
                <a:moveTo>
                  <a:pt x="0" y="0"/>
                </a:moveTo>
                <a:lnTo>
                  <a:pt x="1267714" y="90165"/>
                </a:lnTo>
              </a:path>
            </a:pathLst>
          </a:custGeom>
          <a:ln w="38099">
            <a:solidFill>
              <a:srgbClr val="941100"/>
            </a:solidFill>
          </a:ln>
        </p:spPr>
        <p:txBody>
          <a:bodyPr wrap="square" lIns="0" tIns="0" rIns="0" bIns="0" rtlCol="0"/>
          <a:lstStyle/>
          <a:p>
            <a:endParaRPr/>
          </a:p>
        </p:txBody>
      </p:sp>
      <p:sp>
        <p:nvSpPr>
          <p:cNvPr id="202" name="object 44"/>
          <p:cNvSpPr/>
          <p:nvPr/>
        </p:nvSpPr>
        <p:spPr>
          <a:xfrm>
            <a:off x="2439202" y="3450518"/>
            <a:ext cx="78740" cy="76200"/>
          </a:xfrm>
          <a:custGeom>
            <a:avLst/>
            <a:gdLst/>
            <a:ahLst/>
            <a:cxnLst/>
            <a:rect l="l" t="t" r="r" b="b"/>
            <a:pathLst>
              <a:path w="78739" h="76200">
                <a:moveTo>
                  <a:pt x="5406" y="0"/>
                </a:moveTo>
                <a:lnTo>
                  <a:pt x="0" y="76008"/>
                </a:lnTo>
                <a:lnTo>
                  <a:pt x="78710" y="43409"/>
                </a:lnTo>
                <a:lnTo>
                  <a:pt x="5406" y="0"/>
                </a:lnTo>
                <a:close/>
              </a:path>
            </a:pathLst>
          </a:custGeom>
          <a:solidFill>
            <a:srgbClr val="941100"/>
          </a:solidFill>
        </p:spPr>
        <p:txBody>
          <a:bodyPr wrap="square" lIns="0" tIns="0" rIns="0" bIns="0" rtlCol="0"/>
          <a:lstStyle/>
          <a:p>
            <a:endParaRPr/>
          </a:p>
        </p:txBody>
      </p:sp>
      <p:sp>
        <p:nvSpPr>
          <p:cNvPr id="203" name="object 45"/>
          <p:cNvSpPr/>
          <p:nvPr/>
        </p:nvSpPr>
        <p:spPr>
          <a:xfrm>
            <a:off x="1978896" y="3890751"/>
            <a:ext cx="762635" cy="951865"/>
          </a:xfrm>
          <a:custGeom>
            <a:avLst/>
            <a:gdLst/>
            <a:ahLst/>
            <a:cxnLst/>
            <a:rect l="l" t="t" r="r" b="b"/>
            <a:pathLst>
              <a:path w="762635" h="951864">
                <a:moveTo>
                  <a:pt x="0" y="951656"/>
                </a:moveTo>
                <a:lnTo>
                  <a:pt x="762101" y="0"/>
                </a:lnTo>
              </a:path>
            </a:pathLst>
          </a:custGeom>
          <a:ln w="38099">
            <a:solidFill>
              <a:srgbClr val="000000"/>
            </a:solidFill>
          </a:ln>
        </p:spPr>
        <p:txBody>
          <a:bodyPr wrap="square" lIns="0" tIns="0" rIns="0" bIns="0" rtlCol="0"/>
          <a:lstStyle/>
          <a:p>
            <a:endParaRPr/>
          </a:p>
        </p:txBody>
      </p:sp>
      <p:sp>
        <p:nvSpPr>
          <p:cNvPr id="204" name="object 46"/>
          <p:cNvSpPr/>
          <p:nvPr/>
        </p:nvSpPr>
        <p:spPr>
          <a:xfrm>
            <a:off x="2661691" y="3712314"/>
            <a:ext cx="222250" cy="242570"/>
          </a:xfrm>
          <a:custGeom>
            <a:avLst/>
            <a:gdLst/>
            <a:ahLst/>
            <a:cxnLst/>
            <a:rect l="l" t="t" r="r" b="b"/>
            <a:pathLst>
              <a:path w="222250" h="242570">
                <a:moveTo>
                  <a:pt x="222199" y="0"/>
                </a:moveTo>
                <a:lnTo>
                  <a:pt x="0" y="114927"/>
                </a:lnTo>
                <a:lnTo>
                  <a:pt x="158609" y="241943"/>
                </a:lnTo>
                <a:lnTo>
                  <a:pt x="222199" y="0"/>
                </a:lnTo>
                <a:close/>
              </a:path>
            </a:pathLst>
          </a:custGeom>
          <a:solidFill>
            <a:srgbClr val="FCFAD3"/>
          </a:solidFill>
        </p:spPr>
        <p:txBody>
          <a:bodyPr wrap="square" lIns="0" tIns="0" rIns="0" bIns="0" rtlCol="0"/>
          <a:lstStyle/>
          <a:p>
            <a:endParaRPr/>
          </a:p>
        </p:txBody>
      </p:sp>
      <p:sp>
        <p:nvSpPr>
          <p:cNvPr id="205" name="object 47"/>
          <p:cNvSpPr/>
          <p:nvPr/>
        </p:nvSpPr>
        <p:spPr>
          <a:xfrm>
            <a:off x="2661691" y="3712315"/>
            <a:ext cx="222250" cy="242570"/>
          </a:xfrm>
          <a:custGeom>
            <a:avLst/>
            <a:gdLst/>
            <a:ahLst/>
            <a:cxnLst/>
            <a:rect l="l" t="t" r="r" b="b"/>
            <a:pathLst>
              <a:path w="222250" h="242570">
                <a:moveTo>
                  <a:pt x="0" y="114927"/>
                </a:moveTo>
                <a:lnTo>
                  <a:pt x="222198" y="0"/>
                </a:lnTo>
                <a:lnTo>
                  <a:pt x="158609" y="241943"/>
                </a:lnTo>
                <a:lnTo>
                  <a:pt x="0" y="114927"/>
                </a:lnTo>
                <a:close/>
              </a:path>
            </a:pathLst>
          </a:custGeom>
          <a:ln w="28574">
            <a:solidFill>
              <a:srgbClr val="000000"/>
            </a:solidFill>
          </a:ln>
        </p:spPr>
        <p:txBody>
          <a:bodyPr wrap="square" lIns="0" tIns="0" rIns="0" bIns="0" rtlCol="0"/>
          <a:lstStyle/>
          <a:p>
            <a:endParaRPr/>
          </a:p>
        </p:txBody>
      </p:sp>
      <p:sp>
        <p:nvSpPr>
          <p:cNvPr id="206" name="object 48"/>
          <p:cNvSpPr/>
          <p:nvPr/>
        </p:nvSpPr>
        <p:spPr>
          <a:xfrm>
            <a:off x="3544189" y="3890751"/>
            <a:ext cx="762635" cy="951865"/>
          </a:xfrm>
          <a:custGeom>
            <a:avLst/>
            <a:gdLst/>
            <a:ahLst/>
            <a:cxnLst/>
            <a:rect l="l" t="t" r="r" b="b"/>
            <a:pathLst>
              <a:path w="762635" h="951864">
                <a:moveTo>
                  <a:pt x="762101" y="951656"/>
                </a:moveTo>
                <a:lnTo>
                  <a:pt x="0" y="0"/>
                </a:lnTo>
              </a:path>
            </a:pathLst>
          </a:custGeom>
          <a:ln w="38099">
            <a:solidFill>
              <a:srgbClr val="000000"/>
            </a:solidFill>
          </a:ln>
        </p:spPr>
        <p:txBody>
          <a:bodyPr wrap="square" lIns="0" tIns="0" rIns="0" bIns="0" rtlCol="0"/>
          <a:lstStyle/>
          <a:p>
            <a:endParaRPr/>
          </a:p>
        </p:txBody>
      </p:sp>
      <p:sp>
        <p:nvSpPr>
          <p:cNvPr id="207" name="object 49"/>
          <p:cNvSpPr/>
          <p:nvPr/>
        </p:nvSpPr>
        <p:spPr>
          <a:xfrm>
            <a:off x="3401296" y="3712314"/>
            <a:ext cx="222250" cy="242570"/>
          </a:xfrm>
          <a:custGeom>
            <a:avLst/>
            <a:gdLst/>
            <a:ahLst/>
            <a:cxnLst/>
            <a:rect l="l" t="t" r="r" b="b"/>
            <a:pathLst>
              <a:path w="222250" h="242570">
                <a:moveTo>
                  <a:pt x="0" y="0"/>
                </a:moveTo>
                <a:lnTo>
                  <a:pt x="63588" y="241943"/>
                </a:lnTo>
                <a:lnTo>
                  <a:pt x="222197" y="114927"/>
                </a:lnTo>
                <a:lnTo>
                  <a:pt x="0" y="0"/>
                </a:lnTo>
                <a:close/>
              </a:path>
            </a:pathLst>
          </a:custGeom>
          <a:solidFill>
            <a:srgbClr val="FCFAD3"/>
          </a:solidFill>
        </p:spPr>
        <p:txBody>
          <a:bodyPr wrap="square" lIns="0" tIns="0" rIns="0" bIns="0" rtlCol="0"/>
          <a:lstStyle/>
          <a:p>
            <a:endParaRPr/>
          </a:p>
        </p:txBody>
      </p:sp>
      <p:sp>
        <p:nvSpPr>
          <p:cNvPr id="208" name="object 50"/>
          <p:cNvSpPr/>
          <p:nvPr/>
        </p:nvSpPr>
        <p:spPr>
          <a:xfrm>
            <a:off x="3401295" y="3712315"/>
            <a:ext cx="222250" cy="242570"/>
          </a:xfrm>
          <a:custGeom>
            <a:avLst/>
            <a:gdLst/>
            <a:ahLst/>
            <a:cxnLst/>
            <a:rect l="l" t="t" r="r" b="b"/>
            <a:pathLst>
              <a:path w="222250" h="242570">
                <a:moveTo>
                  <a:pt x="222198" y="114927"/>
                </a:moveTo>
                <a:lnTo>
                  <a:pt x="0" y="0"/>
                </a:lnTo>
                <a:lnTo>
                  <a:pt x="63589" y="241943"/>
                </a:lnTo>
                <a:lnTo>
                  <a:pt x="222198" y="114927"/>
                </a:lnTo>
                <a:close/>
              </a:path>
            </a:pathLst>
          </a:custGeom>
          <a:ln w="28574">
            <a:solidFill>
              <a:srgbClr val="000000"/>
            </a:solidFill>
          </a:ln>
        </p:spPr>
        <p:txBody>
          <a:bodyPr wrap="square" lIns="0" tIns="0" rIns="0" bIns="0" rtlCol="0"/>
          <a:lstStyle/>
          <a:p>
            <a:endParaRPr/>
          </a:p>
        </p:txBody>
      </p:sp>
      <p:sp>
        <p:nvSpPr>
          <p:cNvPr id="209" name="object 51"/>
          <p:cNvSpPr/>
          <p:nvPr/>
        </p:nvSpPr>
        <p:spPr>
          <a:xfrm>
            <a:off x="3853794" y="2410460"/>
            <a:ext cx="304800" cy="152400"/>
          </a:xfrm>
          <a:custGeom>
            <a:avLst/>
            <a:gdLst/>
            <a:ahLst/>
            <a:cxnLst/>
            <a:rect l="l" t="t" r="r" b="b"/>
            <a:pathLst>
              <a:path w="304800" h="152400">
                <a:moveTo>
                  <a:pt x="152400" y="0"/>
                </a:moveTo>
                <a:lnTo>
                  <a:pt x="0" y="76200"/>
                </a:lnTo>
                <a:lnTo>
                  <a:pt x="152400" y="152400"/>
                </a:lnTo>
                <a:lnTo>
                  <a:pt x="304800" y="76200"/>
                </a:lnTo>
                <a:lnTo>
                  <a:pt x="152400" y="0"/>
                </a:lnTo>
                <a:close/>
              </a:path>
            </a:pathLst>
          </a:custGeom>
          <a:solidFill>
            <a:srgbClr val="FCFAD3"/>
          </a:solidFill>
        </p:spPr>
        <p:txBody>
          <a:bodyPr wrap="square" lIns="0" tIns="0" rIns="0" bIns="0" rtlCol="0"/>
          <a:lstStyle/>
          <a:p>
            <a:endParaRPr/>
          </a:p>
        </p:txBody>
      </p:sp>
      <p:sp>
        <p:nvSpPr>
          <p:cNvPr id="210" name="object 52"/>
          <p:cNvSpPr/>
          <p:nvPr/>
        </p:nvSpPr>
        <p:spPr>
          <a:xfrm>
            <a:off x="3853794" y="2410460"/>
            <a:ext cx="304800" cy="152400"/>
          </a:xfrm>
          <a:custGeom>
            <a:avLst/>
            <a:gdLst/>
            <a:ahLst/>
            <a:cxnLst/>
            <a:rect l="l" t="t" r="r" b="b"/>
            <a:pathLst>
              <a:path w="304800" h="152400">
                <a:moveTo>
                  <a:pt x="0" y="76199"/>
                </a:moveTo>
                <a:lnTo>
                  <a:pt x="152400" y="0"/>
                </a:lnTo>
                <a:lnTo>
                  <a:pt x="304799" y="76199"/>
                </a:lnTo>
                <a:lnTo>
                  <a:pt x="152400" y="152400"/>
                </a:lnTo>
                <a:lnTo>
                  <a:pt x="0" y="76199"/>
                </a:lnTo>
                <a:close/>
              </a:path>
            </a:pathLst>
          </a:custGeom>
          <a:ln w="28574">
            <a:solidFill>
              <a:srgbClr val="000000"/>
            </a:solidFill>
          </a:ln>
        </p:spPr>
        <p:txBody>
          <a:bodyPr wrap="square" lIns="0" tIns="0" rIns="0" bIns="0" rtlCol="0"/>
          <a:lstStyle/>
          <a:p>
            <a:endParaRPr/>
          </a:p>
        </p:txBody>
      </p:sp>
      <p:sp>
        <p:nvSpPr>
          <p:cNvPr id="211" name="object 53"/>
          <p:cNvSpPr/>
          <p:nvPr/>
        </p:nvSpPr>
        <p:spPr>
          <a:xfrm>
            <a:off x="4177643" y="2943860"/>
            <a:ext cx="4450080" cy="34925"/>
          </a:xfrm>
          <a:custGeom>
            <a:avLst/>
            <a:gdLst/>
            <a:ahLst/>
            <a:cxnLst/>
            <a:rect l="l" t="t" r="r" b="b"/>
            <a:pathLst>
              <a:path w="4450080" h="34925">
                <a:moveTo>
                  <a:pt x="4449761" y="34924"/>
                </a:moveTo>
                <a:lnTo>
                  <a:pt x="2229197" y="34924"/>
                </a:lnTo>
                <a:lnTo>
                  <a:pt x="2229197" y="0"/>
                </a:lnTo>
                <a:lnTo>
                  <a:pt x="0" y="0"/>
                </a:lnTo>
              </a:path>
            </a:pathLst>
          </a:custGeom>
          <a:ln w="38099">
            <a:solidFill>
              <a:srgbClr val="000000"/>
            </a:solidFill>
          </a:ln>
        </p:spPr>
        <p:txBody>
          <a:bodyPr wrap="square" lIns="0" tIns="0" rIns="0" bIns="0" rtlCol="0"/>
          <a:lstStyle/>
          <a:p>
            <a:endParaRPr/>
          </a:p>
        </p:txBody>
      </p:sp>
      <p:graphicFrame>
        <p:nvGraphicFramePr>
          <p:cNvPr id="212" name="object 54"/>
          <p:cNvGraphicFramePr>
            <a:graphicFrameLocks noGrp="1"/>
          </p:cNvGraphicFramePr>
          <p:nvPr/>
        </p:nvGraphicFramePr>
        <p:xfrm>
          <a:off x="4158594" y="3382010"/>
          <a:ext cx="4326254" cy="1636710"/>
        </p:xfrm>
        <a:graphic>
          <a:graphicData uri="http://schemas.openxmlformats.org/drawingml/2006/table">
            <a:tbl>
              <a:tblPr firstRow="1" bandRow="1">
                <a:tableStyleId>{2D5ABB26-0587-4C30-8999-92F81FD0307C}</a:tableStyleId>
              </a:tblPr>
              <a:tblGrid>
                <a:gridCol w="1443355">
                  <a:extLst>
                    <a:ext uri="{9D8B030D-6E8A-4147-A177-3AD203B41FA5}">
                      <a16:colId xmlns:a16="http://schemas.microsoft.com/office/drawing/2014/main" val="20000"/>
                    </a:ext>
                  </a:extLst>
                </a:gridCol>
                <a:gridCol w="1460500">
                  <a:extLst>
                    <a:ext uri="{9D8B030D-6E8A-4147-A177-3AD203B41FA5}">
                      <a16:colId xmlns:a16="http://schemas.microsoft.com/office/drawing/2014/main" val="20001"/>
                    </a:ext>
                  </a:extLst>
                </a:gridCol>
                <a:gridCol w="1422399">
                  <a:extLst>
                    <a:ext uri="{9D8B030D-6E8A-4147-A177-3AD203B41FA5}">
                      <a16:colId xmlns:a16="http://schemas.microsoft.com/office/drawing/2014/main" val="20002"/>
                    </a:ext>
                  </a:extLst>
                </a:gridCol>
              </a:tblGrid>
              <a:tr h="341312">
                <a:tc rowSpan="2">
                  <a:txBody>
                    <a:bodyPr/>
                    <a:lstStyle/>
                    <a:p>
                      <a:pPr>
                        <a:lnSpc>
                          <a:spcPct val="100000"/>
                        </a:lnSpc>
                      </a:pPr>
                      <a:endParaRPr sz="1400">
                        <a:latin typeface="Times New Roman" panose="02020603050405020304"/>
                        <a:cs typeface="Times New Roman" panose="02020603050405020304"/>
                      </a:endParaRPr>
                    </a:p>
                  </a:txBody>
                  <a:tcPr marL="0" marR="0" marT="0" marB="0">
                    <a:lnR w="38100">
                      <a:solidFill>
                        <a:srgbClr val="000000"/>
                      </a:solidFill>
                      <a:prstDash val="solid"/>
                    </a:lnR>
                    <a:lnT w="38100">
                      <a:solidFill>
                        <a:srgbClr val="000000"/>
                      </a:solidFill>
                      <a:prstDash val="solid"/>
                    </a:lnT>
                  </a:tcPr>
                </a:tc>
                <a:tc rowSpan="2">
                  <a:txBody>
                    <a:bodyPr/>
                    <a:lstStyle/>
                    <a:p>
                      <a:pPr>
                        <a:lnSpc>
                          <a:spcPct val="100000"/>
                        </a:lnSpc>
                      </a:pPr>
                      <a:endParaRPr sz="1900">
                        <a:latin typeface="Times New Roman" panose="02020603050405020304"/>
                        <a:cs typeface="Times New Roman" panose="02020603050405020304"/>
                      </a:endParaRPr>
                    </a:p>
                    <a:p>
                      <a:pPr>
                        <a:lnSpc>
                          <a:spcPct val="100000"/>
                        </a:lnSpc>
                        <a:spcBef>
                          <a:spcPts val="40"/>
                        </a:spcBef>
                      </a:pPr>
                      <a:endParaRPr sz="1900">
                        <a:latin typeface="Times New Roman" panose="02020603050405020304"/>
                        <a:cs typeface="Times New Roman" panose="02020603050405020304"/>
                      </a:endParaRPr>
                    </a:p>
                    <a:p>
                      <a:pPr marR="127000" algn="r">
                        <a:lnSpc>
                          <a:spcPct val="100000"/>
                        </a:lnSpc>
                      </a:pPr>
                      <a:r>
                        <a:rPr sz="1400" b="1" dirty="0">
                          <a:latin typeface="Comic Sans MS" panose="030F0702030302020204"/>
                          <a:cs typeface="Comic Sans MS" panose="030F0702030302020204"/>
                        </a:rPr>
                        <a:t>1</a:t>
                      </a:r>
                      <a:endParaRPr sz="1400">
                        <a:latin typeface="Comic Sans MS" panose="030F0702030302020204"/>
                        <a:cs typeface="Comic Sans MS" panose="030F0702030302020204"/>
                      </a:endParaRPr>
                    </a:p>
                  </a:txBody>
                  <a:tcPr marL="0" marR="0" marT="0" marB="0">
                    <a:lnL w="38100">
                      <a:solidFill>
                        <a:srgbClr val="000000"/>
                      </a:solidFill>
                      <a:prstDash val="solid"/>
                    </a:lnL>
                    <a:lnR w="38100">
                      <a:solidFill>
                        <a:srgbClr val="000000"/>
                      </a:solidFill>
                      <a:prstDash val="solid"/>
                    </a:lnR>
                    <a:lnB w="38100">
                      <a:solidFill>
                        <a:srgbClr val="000000"/>
                      </a:solidFill>
                      <a:prstDash val="solid"/>
                    </a:lnB>
                  </a:tcPr>
                </a:tc>
                <a:tc>
                  <a:txBody>
                    <a:bodyPr/>
                    <a:lstStyle/>
                    <a:p>
                      <a:pPr marL="337185">
                        <a:lnSpc>
                          <a:spcPct val="100000"/>
                        </a:lnSpc>
                        <a:spcBef>
                          <a:spcPts val="670"/>
                        </a:spcBef>
                      </a:pPr>
                      <a:r>
                        <a:rPr sz="1400" b="1" spc="-5" dirty="0">
                          <a:latin typeface="Comic Sans MS" panose="030F0702030302020204"/>
                          <a:cs typeface="Comic Sans MS" panose="030F0702030302020204"/>
                        </a:rPr>
                        <a:t>:heart</a:t>
                      </a:r>
                      <a:endParaRPr sz="1400">
                        <a:latin typeface="Comic Sans MS" panose="030F0702030302020204"/>
                        <a:cs typeface="Comic Sans MS" panose="030F0702030302020204"/>
                      </a:endParaRPr>
                    </a:p>
                  </a:txBody>
                  <a:tcPr marL="0" marR="0" marT="85090" marB="0">
                    <a:lnL w="38100">
                      <a:solidFill>
                        <a:srgbClr val="000000"/>
                      </a:solidFill>
                      <a:prstDash val="solid"/>
                    </a:lnL>
                    <a:lnR w="38100">
                      <a:solidFill>
                        <a:srgbClr val="000000"/>
                      </a:solidFill>
                      <a:prstDash val="solid"/>
                    </a:lnR>
                    <a:lnT w="38100">
                      <a:solidFill>
                        <a:srgbClr val="000000"/>
                      </a:solidFill>
                      <a:prstDash val="solid"/>
                    </a:lnT>
                    <a:lnB w="53975">
                      <a:solidFill>
                        <a:srgbClr val="000000"/>
                      </a:solidFill>
                      <a:prstDash val="solid"/>
                    </a:lnB>
                    <a:solidFill>
                      <a:srgbClr val="FCFAD3"/>
                    </a:solidFill>
                  </a:tcPr>
                </a:tc>
                <a:extLst>
                  <a:ext uri="{0D108BD9-81ED-4DB2-BD59-A6C34878D82A}">
                    <a16:rowId xmlns:a16="http://schemas.microsoft.com/office/drawing/2014/main" val="10000"/>
                  </a:ext>
                </a:extLst>
              </a:tr>
              <a:tr h="495299">
                <a:tc vMerge="1">
                  <a:txBody>
                    <a:bodyPr/>
                    <a:lstStyle/>
                    <a:p>
                      <a:endParaRPr lang="zh-CN"/>
                    </a:p>
                  </a:txBody>
                  <a:tcPr marL="0" marR="0" marT="0" marB="0">
                    <a:lnR w="38100">
                      <a:solidFill>
                        <a:srgbClr val="000000"/>
                      </a:solidFill>
                      <a:prstDash val="solid"/>
                    </a:lnR>
                    <a:lnT w="38100">
                      <a:solidFill>
                        <a:srgbClr val="000000"/>
                      </a:solidFill>
                      <a:prstDash val="solid"/>
                    </a:lnT>
                  </a:tcPr>
                </a:tc>
                <a:tc vMerge="1">
                  <a:txBody>
                    <a:bodyPr/>
                    <a:lstStyle/>
                    <a:p>
                      <a:endParaRPr lang="zh-CN"/>
                    </a:p>
                  </a:txBody>
                  <a:tcPr marL="0" marR="0" marT="0" marB="0">
                    <a:lnL w="38100">
                      <a:solidFill>
                        <a:srgbClr val="000000"/>
                      </a:solidFill>
                      <a:prstDash val="solid"/>
                    </a:lnL>
                    <a:lnR w="38100">
                      <a:solidFill>
                        <a:srgbClr val="000000"/>
                      </a:solidFill>
                      <a:prstDash val="solid"/>
                    </a:lnR>
                    <a:lnB w="38100">
                      <a:solidFill>
                        <a:srgbClr val="000000"/>
                      </a:solidFill>
                      <a:prstDash val="solid"/>
                    </a:lnB>
                  </a:tcPr>
                </a:tc>
                <a:tc rowSpan="2">
                  <a:txBody>
                    <a:bodyPr/>
                    <a:lstStyle/>
                    <a:p>
                      <a:pPr marL="91440" marR="474345">
                        <a:lnSpc>
                          <a:spcPts val="1400"/>
                        </a:lnSpc>
                        <a:spcBef>
                          <a:spcPts val="475"/>
                        </a:spcBef>
                      </a:pPr>
                      <a:r>
                        <a:rPr sz="1200" dirty="0">
                          <a:latin typeface="Comic Sans MS" panose="030F0702030302020204"/>
                          <a:cs typeface="Comic Sans MS" panose="030F0702030302020204"/>
                        </a:rPr>
                        <a:t>Normal</a:t>
                      </a:r>
                      <a:r>
                        <a:rPr sz="1200" spc="-95" dirty="0">
                          <a:latin typeface="Comic Sans MS" panose="030F0702030302020204"/>
                          <a:cs typeface="Comic Sans MS" panose="030F0702030302020204"/>
                        </a:rPr>
                        <a:t> </a:t>
                      </a:r>
                      <a:r>
                        <a:rPr sz="1200" spc="-5" dirty="0">
                          <a:latin typeface="Comic Sans MS" panose="030F0702030302020204"/>
                          <a:cs typeface="Comic Sans MS" panose="030F0702030302020204"/>
                        </a:rPr>
                        <a:t>bpm  Blood</a:t>
                      </a:r>
                      <a:r>
                        <a:rPr sz="1200" spc="-30" dirty="0">
                          <a:latin typeface="Comic Sans MS" panose="030F0702030302020204"/>
                          <a:cs typeface="Comic Sans MS" panose="030F0702030302020204"/>
                        </a:rPr>
                        <a:t> </a:t>
                      </a:r>
                      <a:r>
                        <a:rPr sz="1200" spc="-5" dirty="0">
                          <a:latin typeface="Comic Sans MS" panose="030F0702030302020204"/>
                          <a:cs typeface="Comic Sans MS" panose="030F0702030302020204"/>
                        </a:rPr>
                        <a:t>type</a:t>
                      </a:r>
                      <a:endParaRPr sz="1200">
                        <a:latin typeface="Comic Sans MS" panose="030F0702030302020204"/>
                        <a:cs typeface="Comic Sans MS" panose="030F0702030302020204"/>
                      </a:endParaRPr>
                    </a:p>
                  </a:txBody>
                  <a:tcPr marL="0" marR="0" marT="60325" marB="0">
                    <a:lnL w="38100">
                      <a:solidFill>
                        <a:srgbClr val="000000"/>
                      </a:solidFill>
                      <a:prstDash val="solid"/>
                    </a:lnL>
                    <a:lnR w="38100">
                      <a:solidFill>
                        <a:srgbClr val="000000"/>
                      </a:solidFill>
                      <a:prstDash val="solid"/>
                    </a:lnR>
                    <a:lnT w="53975">
                      <a:solidFill>
                        <a:srgbClr val="000000"/>
                      </a:solidFill>
                      <a:prstDash val="solid"/>
                    </a:lnT>
                    <a:lnB w="53975">
                      <a:solidFill>
                        <a:srgbClr val="000000"/>
                      </a:solidFill>
                      <a:prstDash val="solid"/>
                    </a:lnB>
                    <a:solidFill>
                      <a:srgbClr val="FCFAD3"/>
                    </a:solidFill>
                  </a:tcPr>
                </a:tc>
                <a:extLst>
                  <a:ext uri="{0D108BD9-81ED-4DB2-BD59-A6C34878D82A}">
                    <a16:rowId xmlns:a16="http://schemas.microsoft.com/office/drawing/2014/main" val="10001"/>
                  </a:ext>
                </a:extLst>
              </a:tr>
              <a:tr h="495300">
                <a:tc rowSpan="2" gridSpan="2">
                  <a:txBody>
                    <a:bodyPr/>
                    <a:lstStyle/>
                    <a:p>
                      <a:pPr>
                        <a:lnSpc>
                          <a:spcPct val="100000"/>
                        </a:lnSpc>
                      </a:pPr>
                      <a:endParaRPr sz="1400">
                        <a:latin typeface="Times New Roman" panose="02020603050405020304"/>
                        <a:cs typeface="Times New Roman" panose="02020603050405020304"/>
                      </a:endParaRPr>
                    </a:p>
                  </a:txBody>
                  <a:tcPr marL="0" marR="0" marT="0" marB="0">
                    <a:lnR w="38100">
                      <a:solidFill>
                        <a:srgbClr val="000000"/>
                      </a:solidFill>
                      <a:prstDash val="solid"/>
                    </a:lnR>
                  </a:tcPr>
                </a:tc>
                <a:tc rowSpan="2" hMerge="1">
                  <a:txBody>
                    <a:bodyPr/>
                    <a:lstStyle/>
                    <a:p>
                      <a:endParaRPr lang="zh-CN"/>
                    </a:p>
                  </a:txBody>
                  <a:tcPr marL="0" marR="0" marT="0" marB="0"/>
                </a:tc>
                <a:tc vMerge="1">
                  <a:txBody>
                    <a:bodyPr/>
                    <a:lstStyle/>
                    <a:p>
                      <a:endParaRPr lang="zh-CN"/>
                    </a:p>
                  </a:txBody>
                  <a:tcPr marL="0" marR="0" marT="60325" marB="0">
                    <a:lnL w="38100">
                      <a:solidFill>
                        <a:srgbClr val="000000"/>
                      </a:solidFill>
                      <a:prstDash val="solid"/>
                    </a:lnL>
                    <a:lnR w="38100">
                      <a:solidFill>
                        <a:srgbClr val="000000"/>
                      </a:solidFill>
                      <a:prstDash val="solid"/>
                    </a:lnR>
                    <a:lnT w="53975">
                      <a:solidFill>
                        <a:srgbClr val="000000"/>
                      </a:solidFill>
                      <a:prstDash val="solid"/>
                    </a:lnT>
                    <a:lnB w="53975">
                      <a:solidFill>
                        <a:srgbClr val="000000"/>
                      </a:solidFill>
                      <a:prstDash val="solid"/>
                    </a:lnB>
                    <a:solidFill>
                      <a:srgbClr val="FCFAD3"/>
                    </a:solidFill>
                  </a:tcPr>
                </a:tc>
                <a:extLst>
                  <a:ext uri="{0D108BD9-81ED-4DB2-BD59-A6C34878D82A}">
                    <a16:rowId xmlns:a16="http://schemas.microsoft.com/office/drawing/2014/main" val="10002"/>
                  </a:ext>
                </a:extLst>
              </a:tr>
              <a:tr h="304799">
                <a:tc gridSpan="2" vMerge="1">
                  <a:txBody>
                    <a:bodyPr/>
                    <a:lstStyle/>
                    <a:p>
                      <a:endParaRPr lang="zh-CN"/>
                    </a:p>
                  </a:txBody>
                  <a:tcPr marL="0" marR="0" marT="0" marB="0">
                    <a:lnR w="38100">
                      <a:solidFill>
                        <a:srgbClr val="000000"/>
                      </a:solidFill>
                      <a:prstDash val="solid"/>
                    </a:lnR>
                  </a:tcPr>
                </a:tc>
                <a:tc hMerge="1" vMerge="1">
                  <a:txBody>
                    <a:bodyPr/>
                    <a:lstStyle/>
                    <a:p>
                      <a:endParaRPr lang="zh-CN"/>
                    </a:p>
                  </a:txBody>
                  <a:tcPr marL="0" marR="0" marT="0" marB="0"/>
                </a:tc>
                <a:tc>
                  <a:txBody>
                    <a:bodyPr/>
                    <a:lstStyle/>
                    <a:p>
                      <a:pPr>
                        <a:lnSpc>
                          <a:spcPct val="100000"/>
                        </a:lnSpc>
                      </a:pPr>
                      <a:endParaRPr sz="1400" dirty="0">
                        <a:latin typeface="Times New Roman" panose="02020603050405020304"/>
                        <a:cs typeface="Times New Roman" panose="02020603050405020304"/>
                      </a:endParaRPr>
                    </a:p>
                  </a:txBody>
                  <a:tcPr marL="0" marR="0" marT="0" marB="0">
                    <a:lnL w="38100">
                      <a:solidFill>
                        <a:srgbClr val="000000"/>
                      </a:solidFill>
                      <a:prstDash val="solid"/>
                    </a:lnL>
                    <a:lnR w="38100">
                      <a:solidFill>
                        <a:srgbClr val="000000"/>
                      </a:solidFill>
                      <a:prstDash val="solid"/>
                    </a:lnR>
                    <a:lnT w="53975">
                      <a:solidFill>
                        <a:srgbClr val="000000"/>
                      </a:solidFill>
                      <a:prstDash val="solid"/>
                    </a:lnT>
                    <a:lnB w="38100">
                      <a:solidFill>
                        <a:srgbClr val="000000"/>
                      </a:solidFill>
                      <a:prstDash val="solid"/>
                    </a:lnB>
                    <a:solidFill>
                      <a:srgbClr val="FCFAD3"/>
                    </a:solidFill>
                  </a:tcPr>
                </a:tc>
                <a:extLst>
                  <a:ext uri="{0D108BD9-81ED-4DB2-BD59-A6C34878D82A}">
                    <a16:rowId xmlns:a16="http://schemas.microsoft.com/office/drawing/2014/main" val="10003"/>
                  </a:ext>
                </a:extLst>
              </a:tr>
            </a:tbl>
          </a:graphicData>
        </a:graphic>
      </p:graphicFrame>
      <p:sp>
        <p:nvSpPr>
          <p:cNvPr id="213" name="object 55"/>
          <p:cNvSpPr txBox="1"/>
          <p:nvPr/>
        </p:nvSpPr>
        <p:spPr>
          <a:xfrm>
            <a:off x="4226221" y="3146742"/>
            <a:ext cx="396875" cy="238760"/>
          </a:xfrm>
          <a:prstGeom prst="rect">
            <a:avLst/>
          </a:prstGeom>
        </p:spPr>
        <p:txBody>
          <a:bodyPr vert="horz" wrap="square" lIns="0" tIns="12700" rIns="0" bIns="0" rtlCol="0">
            <a:spAutoFit/>
          </a:bodyPr>
          <a:lstStyle/>
          <a:p>
            <a:pPr marL="12700">
              <a:lnSpc>
                <a:spcPct val="100000"/>
              </a:lnSpc>
              <a:spcBef>
                <a:spcPts val="100"/>
              </a:spcBef>
            </a:pPr>
            <a:r>
              <a:rPr sz="1400" b="1" dirty="0">
                <a:latin typeface="Comic Sans MS" panose="030F0702030302020204"/>
                <a:cs typeface="Comic Sans MS" panose="030F0702030302020204"/>
              </a:rPr>
              <a:t>0</a:t>
            </a:r>
            <a:r>
              <a:rPr sz="1400" b="1" spc="-5" dirty="0">
                <a:latin typeface="Comic Sans MS" panose="030F0702030302020204"/>
                <a:cs typeface="Comic Sans MS" panose="030F0702030302020204"/>
              </a:rPr>
              <a:t>..</a:t>
            </a:r>
            <a:r>
              <a:rPr sz="1400" b="1" dirty="0">
                <a:latin typeface="Comic Sans MS" panose="030F0702030302020204"/>
                <a:cs typeface="Comic Sans MS" panose="030F0702030302020204"/>
              </a:rPr>
              <a:t>1</a:t>
            </a:r>
            <a:endParaRPr sz="1400">
              <a:latin typeface="Comic Sans MS" panose="030F0702030302020204"/>
              <a:cs typeface="Comic Sans MS" panose="030F0702030302020204"/>
            </a:endParaRPr>
          </a:p>
        </p:txBody>
      </p:sp>
      <p:sp>
        <p:nvSpPr>
          <p:cNvPr id="214" name="object 56"/>
          <p:cNvSpPr txBox="1"/>
          <p:nvPr/>
        </p:nvSpPr>
        <p:spPr>
          <a:xfrm>
            <a:off x="7985421" y="3070542"/>
            <a:ext cx="396875" cy="238760"/>
          </a:xfrm>
          <a:prstGeom prst="rect">
            <a:avLst/>
          </a:prstGeom>
        </p:spPr>
        <p:txBody>
          <a:bodyPr vert="horz" wrap="square" lIns="0" tIns="12700" rIns="0" bIns="0" rtlCol="0">
            <a:spAutoFit/>
          </a:bodyPr>
          <a:lstStyle/>
          <a:p>
            <a:pPr marL="12700">
              <a:lnSpc>
                <a:spcPct val="100000"/>
              </a:lnSpc>
              <a:spcBef>
                <a:spcPts val="100"/>
              </a:spcBef>
            </a:pPr>
            <a:r>
              <a:rPr sz="1400" b="1" dirty="0">
                <a:latin typeface="Comic Sans MS" panose="030F0702030302020204"/>
                <a:cs typeface="Comic Sans MS" panose="030F0702030302020204"/>
              </a:rPr>
              <a:t>1</a:t>
            </a:r>
            <a:r>
              <a:rPr sz="1400" b="1" spc="-5" dirty="0">
                <a:latin typeface="Comic Sans MS" panose="030F0702030302020204"/>
                <a:cs typeface="Comic Sans MS" panose="030F0702030302020204"/>
              </a:rPr>
              <a:t>..</a:t>
            </a:r>
            <a:r>
              <a:rPr sz="1400" b="1" dirty="0">
                <a:latin typeface="Comic Sans MS" panose="030F0702030302020204"/>
                <a:cs typeface="Comic Sans MS" panose="030F0702030302020204"/>
              </a:rPr>
              <a:t>2</a:t>
            </a:r>
            <a:endParaRPr sz="1400">
              <a:latin typeface="Comic Sans MS" panose="030F0702030302020204"/>
              <a:cs typeface="Comic Sans MS" panose="030F0702030302020204"/>
            </a:endParaRPr>
          </a:p>
        </p:txBody>
      </p:sp>
      <p:sp>
        <p:nvSpPr>
          <p:cNvPr id="215" name="object 57"/>
          <p:cNvSpPr txBox="1"/>
          <p:nvPr/>
        </p:nvSpPr>
        <p:spPr>
          <a:xfrm>
            <a:off x="4226221" y="2689542"/>
            <a:ext cx="396875" cy="238760"/>
          </a:xfrm>
          <a:prstGeom prst="rect">
            <a:avLst/>
          </a:prstGeom>
        </p:spPr>
        <p:txBody>
          <a:bodyPr vert="horz" wrap="square" lIns="0" tIns="12700" rIns="0" bIns="0" rtlCol="0">
            <a:spAutoFit/>
          </a:bodyPr>
          <a:lstStyle/>
          <a:p>
            <a:pPr marL="12700">
              <a:lnSpc>
                <a:spcPct val="100000"/>
              </a:lnSpc>
              <a:spcBef>
                <a:spcPts val="100"/>
              </a:spcBef>
            </a:pPr>
            <a:r>
              <a:rPr sz="1400" b="1" dirty="0">
                <a:latin typeface="Comic Sans MS" panose="030F0702030302020204"/>
                <a:cs typeface="Comic Sans MS" panose="030F0702030302020204"/>
              </a:rPr>
              <a:t>0</a:t>
            </a:r>
            <a:r>
              <a:rPr sz="1400" b="1" spc="-5" dirty="0">
                <a:latin typeface="Comic Sans MS" panose="030F0702030302020204"/>
                <a:cs typeface="Comic Sans MS" panose="030F0702030302020204"/>
              </a:rPr>
              <a:t>..</a:t>
            </a:r>
            <a:r>
              <a:rPr sz="1400" b="1" dirty="0">
                <a:latin typeface="Comic Sans MS" panose="030F0702030302020204"/>
                <a:cs typeface="Comic Sans MS" panose="030F0702030302020204"/>
              </a:rPr>
              <a:t>1</a:t>
            </a:r>
            <a:endParaRPr sz="1400">
              <a:latin typeface="Comic Sans MS" panose="030F0702030302020204"/>
              <a:cs typeface="Comic Sans MS" panose="030F0702030302020204"/>
            </a:endParaRPr>
          </a:p>
        </p:txBody>
      </p:sp>
      <p:sp>
        <p:nvSpPr>
          <p:cNvPr id="216" name="object 58"/>
          <p:cNvSpPr txBox="1"/>
          <p:nvPr/>
        </p:nvSpPr>
        <p:spPr>
          <a:xfrm>
            <a:off x="9834857" y="1619567"/>
            <a:ext cx="396875" cy="238760"/>
          </a:xfrm>
          <a:prstGeom prst="rect">
            <a:avLst/>
          </a:prstGeom>
        </p:spPr>
        <p:txBody>
          <a:bodyPr vert="horz" wrap="square" lIns="0" tIns="12700" rIns="0" bIns="0" rtlCol="0">
            <a:spAutoFit/>
          </a:bodyPr>
          <a:lstStyle/>
          <a:p>
            <a:pPr marL="12700">
              <a:lnSpc>
                <a:spcPct val="100000"/>
              </a:lnSpc>
              <a:spcBef>
                <a:spcPts val="100"/>
              </a:spcBef>
            </a:pPr>
            <a:r>
              <a:rPr sz="1400" b="1" dirty="0">
                <a:latin typeface="Comic Sans MS" panose="030F0702030302020204"/>
                <a:cs typeface="Comic Sans MS" panose="030F0702030302020204"/>
              </a:rPr>
              <a:t>0</a:t>
            </a:r>
            <a:r>
              <a:rPr sz="1400" b="1" spc="-5" dirty="0">
                <a:latin typeface="Comic Sans MS" panose="030F0702030302020204"/>
                <a:cs typeface="Comic Sans MS" panose="030F0702030302020204"/>
              </a:rPr>
              <a:t>..</a:t>
            </a:r>
            <a:r>
              <a:rPr sz="1400" b="1" dirty="0">
                <a:latin typeface="Comic Sans MS" panose="030F0702030302020204"/>
                <a:cs typeface="Comic Sans MS" panose="030F0702030302020204"/>
              </a:rPr>
              <a:t>2</a:t>
            </a:r>
            <a:endParaRPr sz="1400">
              <a:latin typeface="Comic Sans MS" panose="030F0702030302020204"/>
              <a:cs typeface="Comic Sans MS" panose="030F0702030302020204"/>
            </a:endParaRPr>
          </a:p>
        </p:txBody>
      </p:sp>
      <p:sp>
        <p:nvSpPr>
          <p:cNvPr id="217" name="object 59"/>
          <p:cNvSpPr txBox="1"/>
          <p:nvPr/>
        </p:nvSpPr>
        <p:spPr>
          <a:xfrm>
            <a:off x="4274705" y="2201863"/>
            <a:ext cx="50292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Comic Sans MS" panose="030F0702030302020204"/>
                <a:cs typeface="Comic Sans MS" panose="030F0702030302020204"/>
              </a:rPr>
              <a:t>0</a:t>
            </a:r>
            <a:r>
              <a:rPr sz="1800" b="1" spc="-5" dirty="0">
                <a:latin typeface="Comic Sans MS" panose="030F0702030302020204"/>
                <a:cs typeface="Comic Sans MS" panose="030F0702030302020204"/>
              </a:rPr>
              <a:t>..</a:t>
            </a:r>
            <a:r>
              <a:rPr sz="1800" b="1" dirty="0">
                <a:latin typeface="Comic Sans MS" panose="030F0702030302020204"/>
                <a:cs typeface="Comic Sans MS" panose="030F0702030302020204"/>
              </a:rPr>
              <a:t>1</a:t>
            </a:r>
            <a:endParaRPr sz="1800">
              <a:latin typeface="Comic Sans MS" panose="030F0702030302020204"/>
              <a:cs typeface="Comic Sans MS" panose="030F0702030302020204"/>
            </a:endParaRPr>
          </a:p>
        </p:txBody>
      </p:sp>
      <p:sp>
        <p:nvSpPr>
          <p:cNvPr id="218" name="object 60"/>
          <p:cNvSpPr txBox="1"/>
          <p:nvPr/>
        </p:nvSpPr>
        <p:spPr>
          <a:xfrm>
            <a:off x="5853773" y="1986280"/>
            <a:ext cx="711200" cy="299720"/>
          </a:xfrm>
          <a:prstGeom prst="rect">
            <a:avLst/>
          </a:prstGeom>
        </p:spPr>
        <p:txBody>
          <a:bodyPr vert="horz" wrap="square" lIns="0" tIns="12700" rIns="0" bIns="0" rtlCol="0">
            <a:spAutoFit/>
          </a:bodyPr>
          <a:lstStyle/>
          <a:p>
            <a:pPr marL="12700">
              <a:lnSpc>
                <a:spcPct val="100000"/>
              </a:lnSpc>
              <a:spcBef>
                <a:spcPts val="100"/>
              </a:spcBef>
            </a:pPr>
            <a:r>
              <a:rPr sz="1800" b="1" spc="-10" dirty="0">
                <a:solidFill>
                  <a:srgbClr val="800000"/>
                </a:solidFill>
                <a:latin typeface="黑体" panose="02010609060101010101" charset="-122"/>
                <a:cs typeface="黑体" panose="02010609060101010101" charset="-122"/>
              </a:rPr>
              <a:t>多样性</a:t>
            </a:r>
            <a:endParaRPr sz="1800">
              <a:latin typeface="黑体" panose="02010609060101010101" charset="-122"/>
              <a:cs typeface="黑体" panose="02010609060101010101" charset="-122"/>
            </a:endParaRPr>
          </a:p>
        </p:txBody>
      </p:sp>
      <p:sp>
        <p:nvSpPr>
          <p:cNvPr id="219" name="object 61"/>
          <p:cNvSpPr/>
          <p:nvPr/>
        </p:nvSpPr>
        <p:spPr>
          <a:xfrm>
            <a:off x="4794468" y="2258060"/>
            <a:ext cx="989965" cy="1039494"/>
          </a:xfrm>
          <a:custGeom>
            <a:avLst/>
            <a:gdLst/>
            <a:ahLst/>
            <a:cxnLst/>
            <a:rect l="l" t="t" r="r" b="b"/>
            <a:pathLst>
              <a:path w="989964" h="1039494">
                <a:moveTo>
                  <a:pt x="989723" y="0"/>
                </a:moveTo>
                <a:lnTo>
                  <a:pt x="0" y="1039209"/>
                </a:lnTo>
              </a:path>
            </a:pathLst>
          </a:custGeom>
          <a:ln w="38099">
            <a:solidFill>
              <a:srgbClr val="941100"/>
            </a:solidFill>
          </a:ln>
        </p:spPr>
        <p:txBody>
          <a:bodyPr wrap="square" lIns="0" tIns="0" rIns="0" bIns="0" rtlCol="0"/>
          <a:lstStyle/>
          <a:p>
            <a:endParaRPr/>
          </a:p>
        </p:txBody>
      </p:sp>
      <p:sp>
        <p:nvSpPr>
          <p:cNvPr id="220" name="object 62"/>
          <p:cNvSpPr/>
          <p:nvPr/>
        </p:nvSpPr>
        <p:spPr>
          <a:xfrm>
            <a:off x="4768192" y="3243404"/>
            <a:ext cx="80645" cy="81915"/>
          </a:xfrm>
          <a:custGeom>
            <a:avLst/>
            <a:gdLst/>
            <a:ahLst/>
            <a:cxnLst/>
            <a:rect l="l" t="t" r="r" b="b"/>
            <a:pathLst>
              <a:path w="80645" h="81914">
                <a:moveTo>
                  <a:pt x="24963" y="0"/>
                </a:moveTo>
                <a:lnTo>
                  <a:pt x="0" y="81455"/>
                </a:lnTo>
                <a:lnTo>
                  <a:pt x="80142" y="52552"/>
                </a:lnTo>
                <a:lnTo>
                  <a:pt x="24963" y="0"/>
                </a:lnTo>
                <a:close/>
              </a:path>
            </a:pathLst>
          </a:custGeom>
          <a:solidFill>
            <a:srgbClr val="941100"/>
          </a:solidFill>
        </p:spPr>
        <p:txBody>
          <a:bodyPr wrap="square" lIns="0" tIns="0" rIns="0" bIns="0" rtlCol="0"/>
          <a:lstStyle/>
          <a:p>
            <a:endParaRPr/>
          </a:p>
        </p:txBody>
      </p:sp>
      <p:sp>
        <p:nvSpPr>
          <p:cNvPr id="221" name="object 63"/>
          <p:cNvSpPr/>
          <p:nvPr/>
        </p:nvSpPr>
        <p:spPr>
          <a:xfrm>
            <a:off x="4700041" y="2258060"/>
            <a:ext cx="1084580" cy="591820"/>
          </a:xfrm>
          <a:custGeom>
            <a:avLst/>
            <a:gdLst/>
            <a:ahLst/>
            <a:cxnLst/>
            <a:rect l="l" t="t" r="r" b="b"/>
            <a:pathLst>
              <a:path w="1084579" h="591819">
                <a:moveTo>
                  <a:pt x="1084151" y="0"/>
                </a:moveTo>
                <a:lnTo>
                  <a:pt x="0" y="591355"/>
                </a:lnTo>
              </a:path>
            </a:pathLst>
          </a:custGeom>
          <a:ln w="38099">
            <a:solidFill>
              <a:srgbClr val="941100"/>
            </a:solidFill>
          </a:ln>
        </p:spPr>
        <p:txBody>
          <a:bodyPr wrap="square" lIns="0" tIns="0" rIns="0" bIns="0" rtlCol="0"/>
          <a:lstStyle/>
          <a:p>
            <a:endParaRPr/>
          </a:p>
        </p:txBody>
      </p:sp>
      <p:sp>
        <p:nvSpPr>
          <p:cNvPr id="222" name="object 64"/>
          <p:cNvSpPr/>
          <p:nvPr/>
        </p:nvSpPr>
        <p:spPr>
          <a:xfrm>
            <a:off x="4666592" y="2797723"/>
            <a:ext cx="85725" cy="70485"/>
          </a:xfrm>
          <a:custGeom>
            <a:avLst/>
            <a:gdLst/>
            <a:ahLst/>
            <a:cxnLst/>
            <a:rect l="l" t="t" r="r" b="b"/>
            <a:pathLst>
              <a:path w="85725" h="70485">
                <a:moveTo>
                  <a:pt x="48652" y="0"/>
                </a:moveTo>
                <a:lnTo>
                  <a:pt x="0" y="69936"/>
                </a:lnTo>
                <a:lnTo>
                  <a:pt x="85140" y="66895"/>
                </a:lnTo>
                <a:lnTo>
                  <a:pt x="48652" y="0"/>
                </a:lnTo>
                <a:close/>
              </a:path>
            </a:pathLst>
          </a:custGeom>
          <a:solidFill>
            <a:srgbClr val="941100"/>
          </a:solidFill>
        </p:spPr>
        <p:txBody>
          <a:bodyPr wrap="square" lIns="0" tIns="0" rIns="0" bIns="0" rtlCol="0"/>
          <a:lstStyle/>
          <a:p>
            <a:endParaRPr/>
          </a:p>
        </p:txBody>
      </p:sp>
      <p:sp>
        <p:nvSpPr>
          <p:cNvPr id="223" name="object 65"/>
          <p:cNvSpPr/>
          <p:nvPr/>
        </p:nvSpPr>
        <p:spPr>
          <a:xfrm>
            <a:off x="3853794" y="2867660"/>
            <a:ext cx="304800" cy="152400"/>
          </a:xfrm>
          <a:custGeom>
            <a:avLst/>
            <a:gdLst/>
            <a:ahLst/>
            <a:cxnLst/>
            <a:rect l="l" t="t" r="r" b="b"/>
            <a:pathLst>
              <a:path w="304800" h="152400">
                <a:moveTo>
                  <a:pt x="152400" y="0"/>
                </a:moveTo>
                <a:lnTo>
                  <a:pt x="0" y="76200"/>
                </a:lnTo>
                <a:lnTo>
                  <a:pt x="152400" y="152400"/>
                </a:lnTo>
                <a:lnTo>
                  <a:pt x="304800" y="76200"/>
                </a:lnTo>
                <a:lnTo>
                  <a:pt x="152400" y="0"/>
                </a:lnTo>
                <a:close/>
              </a:path>
            </a:pathLst>
          </a:custGeom>
          <a:solidFill>
            <a:srgbClr val="FCFAD3"/>
          </a:solidFill>
        </p:spPr>
        <p:txBody>
          <a:bodyPr wrap="square" lIns="0" tIns="0" rIns="0" bIns="0" rtlCol="0"/>
          <a:lstStyle/>
          <a:p>
            <a:endParaRPr/>
          </a:p>
        </p:txBody>
      </p:sp>
      <p:sp>
        <p:nvSpPr>
          <p:cNvPr id="224" name="object 66"/>
          <p:cNvSpPr/>
          <p:nvPr/>
        </p:nvSpPr>
        <p:spPr>
          <a:xfrm>
            <a:off x="3853794" y="2867660"/>
            <a:ext cx="304800" cy="152400"/>
          </a:xfrm>
          <a:custGeom>
            <a:avLst/>
            <a:gdLst/>
            <a:ahLst/>
            <a:cxnLst/>
            <a:rect l="l" t="t" r="r" b="b"/>
            <a:pathLst>
              <a:path w="304800" h="152400">
                <a:moveTo>
                  <a:pt x="0" y="76199"/>
                </a:moveTo>
                <a:lnTo>
                  <a:pt x="152400" y="0"/>
                </a:lnTo>
                <a:lnTo>
                  <a:pt x="304799" y="76199"/>
                </a:lnTo>
                <a:lnTo>
                  <a:pt x="152400" y="152399"/>
                </a:lnTo>
                <a:lnTo>
                  <a:pt x="0" y="76199"/>
                </a:lnTo>
                <a:close/>
              </a:path>
            </a:pathLst>
          </a:custGeom>
          <a:ln w="28574">
            <a:solidFill>
              <a:srgbClr val="000000"/>
            </a:solidFill>
          </a:ln>
        </p:spPr>
        <p:txBody>
          <a:bodyPr wrap="square" lIns="0" tIns="0" rIns="0" bIns="0" rtlCol="0"/>
          <a:lstStyle/>
          <a:p>
            <a:endParaRPr/>
          </a:p>
        </p:txBody>
      </p:sp>
      <p:sp>
        <p:nvSpPr>
          <p:cNvPr id="225" name="object 67"/>
          <p:cNvSpPr/>
          <p:nvPr/>
        </p:nvSpPr>
        <p:spPr>
          <a:xfrm>
            <a:off x="3853794" y="3324860"/>
            <a:ext cx="304800" cy="152400"/>
          </a:xfrm>
          <a:custGeom>
            <a:avLst/>
            <a:gdLst/>
            <a:ahLst/>
            <a:cxnLst/>
            <a:rect l="l" t="t" r="r" b="b"/>
            <a:pathLst>
              <a:path w="304800" h="152400">
                <a:moveTo>
                  <a:pt x="152400" y="0"/>
                </a:moveTo>
                <a:lnTo>
                  <a:pt x="0" y="76200"/>
                </a:lnTo>
                <a:lnTo>
                  <a:pt x="152400" y="152400"/>
                </a:lnTo>
                <a:lnTo>
                  <a:pt x="304800" y="76200"/>
                </a:lnTo>
                <a:lnTo>
                  <a:pt x="152400" y="0"/>
                </a:lnTo>
                <a:close/>
              </a:path>
            </a:pathLst>
          </a:custGeom>
          <a:solidFill>
            <a:srgbClr val="FCFAD3"/>
          </a:solidFill>
        </p:spPr>
        <p:txBody>
          <a:bodyPr wrap="square" lIns="0" tIns="0" rIns="0" bIns="0" rtlCol="0"/>
          <a:lstStyle/>
          <a:p>
            <a:endParaRPr/>
          </a:p>
        </p:txBody>
      </p:sp>
      <p:sp>
        <p:nvSpPr>
          <p:cNvPr id="226" name="object 68"/>
          <p:cNvSpPr/>
          <p:nvPr/>
        </p:nvSpPr>
        <p:spPr>
          <a:xfrm>
            <a:off x="3853794" y="3324860"/>
            <a:ext cx="304800" cy="152400"/>
          </a:xfrm>
          <a:custGeom>
            <a:avLst/>
            <a:gdLst/>
            <a:ahLst/>
            <a:cxnLst/>
            <a:rect l="l" t="t" r="r" b="b"/>
            <a:pathLst>
              <a:path w="304800" h="152400">
                <a:moveTo>
                  <a:pt x="0" y="76199"/>
                </a:moveTo>
                <a:lnTo>
                  <a:pt x="152400" y="0"/>
                </a:lnTo>
                <a:lnTo>
                  <a:pt x="304799" y="76199"/>
                </a:lnTo>
                <a:lnTo>
                  <a:pt x="152400" y="152400"/>
                </a:lnTo>
                <a:lnTo>
                  <a:pt x="0" y="76199"/>
                </a:lnTo>
                <a:close/>
              </a:path>
            </a:pathLst>
          </a:custGeom>
          <a:ln w="28574">
            <a:solidFill>
              <a:srgbClr val="000000"/>
            </a:solidFill>
          </a:ln>
        </p:spPr>
        <p:txBody>
          <a:bodyPr wrap="square" lIns="0" tIns="0" rIns="0" bIns="0" rtlCol="0"/>
          <a:lstStyle/>
          <a:p>
            <a:endParaRPr/>
          </a:p>
        </p:txBody>
      </p:sp>
      <p:sp>
        <p:nvSpPr>
          <p:cNvPr id="227" name="object 69"/>
          <p:cNvSpPr/>
          <p:nvPr/>
        </p:nvSpPr>
        <p:spPr>
          <a:xfrm>
            <a:off x="4805871" y="2258060"/>
            <a:ext cx="978535" cy="147320"/>
          </a:xfrm>
          <a:custGeom>
            <a:avLst/>
            <a:gdLst/>
            <a:ahLst/>
            <a:cxnLst/>
            <a:rect l="l" t="t" r="r" b="b"/>
            <a:pathLst>
              <a:path w="978535" h="147319">
                <a:moveTo>
                  <a:pt x="978321" y="0"/>
                </a:moveTo>
                <a:lnTo>
                  <a:pt x="0" y="146748"/>
                </a:lnTo>
              </a:path>
            </a:pathLst>
          </a:custGeom>
          <a:ln w="38099">
            <a:solidFill>
              <a:srgbClr val="941100"/>
            </a:solidFill>
          </a:ln>
        </p:spPr>
        <p:txBody>
          <a:bodyPr wrap="square" lIns="0" tIns="0" rIns="0" bIns="0" rtlCol="0"/>
          <a:lstStyle/>
          <a:p>
            <a:endParaRPr/>
          </a:p>
        </p:txBody>
      </p:sp>
      <p:sp>
        <p:nvSpPr>
          <p:cNvPr id="228" name="object 70"/>
          <p:cNvSpPr/>
          <p:nvPr/>
        </p:nvSpPr>
        <p:spPr>
          <a:xfrm>
            <a:off x="4768194" y="2361478"/>
            <a:ext cx="81280" cy="75565"/>
          </a:xfrm>
          <a:custGeom>
            <a:avLst/>
            <a:gdLst/>
            <a:ahLst/>
            <a:cxnLst/>
            <a:rect l="l" t="t" r="r" b="b"/>
            <a:pathLst>
              <a:path w="81279" h="75564">
                <a:moveTo>
                  <a:pt x="69705" y="0"/>
                </a:moveTo>
                <a:lnTo>
                  <a:pt x="0" y="48981"/>
                </a:lnTo>
                <a:lnTo>
                  <a:pt x="81008" y="75356"/>
                </a:lnTo>
                <a:lnTo>
                  <a:pt x="69705" y="0"/>
                </a:lnTo>
                <a:close/>
              </a:path>
            </a:pathLst>
          </a:custGeom>
          <a:solidFill>
            <a:srgbClr val="941100"/>
          </a:solidFill>
        </p:spPr>
        <p:txBody>
          <a:bodyPr wrap="square" lIns="0" tIns="0" rIns="0" bIns="0" rtlCol="0"/>
          <a:lstStyle/>
          <a:p>
            <a:endParaRPr/>
          </a:p>
        </p:txBody>
      </p:sp>
      <p:sp>
        <p:nvSpPr>
          <p:cNvPr id="229" name="object 71"/>
          <p:cNvSpPr/>
          <p:nvPr/>
        </p:nvSpPr>
        <p:spPr>
          <a:xfrm>
            <a:off x="9586254" y="5074285"/>
            <a:ext cx="1625600" cy="1600200"/>
          </a:xfrm>
          <a:custGeom>
            <a:avLst/>
            <a:gdLst/>
            <a:ahLst/>
            <a:cxnLst/>
            <a:rect l="l" t="t" r="r" b="b"/>
            <a:pathLst>
              <a:path w="1625600" h="1600200">
                <a:moveTo>
                  <a:pt x="0" y="0"/>
                </a:moveTo>
                <a:lnTo>
                  <a:pt x="1625600" y="0"/>
                </a:lnTo>
                <a:lnTo>
                  <a:pt x="1625600" y="1600200"/>
                </a:lnTo>
                <a:lnTo>
                  <a:pt x="0" y="1600200"/>
                </a:lnTo>
                <a:lnTo>
                  <a:pt x="0" y="0"/>
                </a:lnTo>
                <a:close/>
              </a:path>
            </a:pathLst>
          </a:custGeom>
          <a:solidFill>
            <a:srgbClr val="FCFAD3"/>
          </a:solidFill>
        </p:spPr>
        <p:txBody>
          <a:bodyPr wrap="square" lIns="0" tIns="0" rIns="0" bIns="0" rtlCol="0"/>
          <a:lstStyle/>
          <a:p>
            <a:endParaRPr/>
          </a:p>
        </p:txBody>
      </p:sp>
      <p:sp>
        <p:nvSpPr>
          <p:cNvPr id="230" name="object 72"/>
          <p:cNvSpPr/>
          <p:nvPr/>
        </p:nvSpPr>
        <p:spPr>
          <a:xfrm>
            <a:off x="9586255" y="5074285"/>
            <a:ext cx="1625600" cy="1600200"/>
          </a:xfrm>
          <a:custGeom>
            <a:avLst/>
            <a:gdLst/>
            <a:ahLst/>
            <a:cxnLst/>
            <a:rect l="l" t="t" r="r" b="b"/>
            <a:pathLst>
              <a:path w="1625600" h="1600200">
                <a:moveTo>
                  <a:pt x="0" y="0"/>
                </a:moveTo>
                <a:lnTo>
                  <a:pt x="1625599" y="0"/>
                </a:lnTo>
                <a:lnTo>
                  <a:pt x="1625599" y="1600199"/>
                </a:lnTo>
                <a:lnTo>
                  <a:pt x="0" y="1600199"/>
                </a:lnTo>
                <a:lnTo>
                  <a:pt x="0" y="0"/>
                </a:lnTo>
                <a:close/>
              </a:path>
            </a:pathLst>
          </a:custGeom>
          <a:ln w="38099">
            <a:solidFill>
              <a:srgbClr val="000000"/>
            </a:solidFill>
          </a:ln>
        </p:spPr>
        <p:txBody>
          <a:bodyPr wrap="square" lIns="0" tIns="0" rIns="0" bIns="0" rtlCol="0"/>
          <a:lstStyle/>
          <a:p>
            <a:endParaRPr/>
          </a:p>
        </p:txBody>
      </p:sp>
      <p:sp>
        <p:nvSpPr>
          <p:cNvPr id="231" name="object 73"/>
          <p:cNvSpPr/>
          <p:nvPr/>
        </p:nvSpPr>
        <p:spPr>
          <a:xfrm>
            <a:off x="9586255" y="6369685"/>
            <a:ext cx="1625600" cy="0"/>
          </a:xfrm>
          <a:custGeom>
            <a:avLst/>
            <a:gdLst/>
            <a:ahLst/>
            <a:cxnLst/>
            <a:rect l="l" t="t" r="r" b="b"/>
            <a:pathLst>
              <a:path w="1625600">
                <a:moveTo>
                  <a:pt x="0" y="0"/>
                </a:moveTo>
                <a:lnTo>
                  <a:pt x="1625599" y="0"/>
                </a:lnTo>
              </a:path>
            </a:pathLst>
          </a:custGeom>
          <a:ln w="38099">
            <a:solidFill>
              <a:srgbClr val="000000"/>
            </a:solidFill>
          </a:ln>
        </p:spPr>
        <p:txBody>
          <a:bodyPr wrap="square" lIns="0" tIns="0" rIns="0" bIns="0" rtlCol="0"/>
          <a:lstStyle/>
          <a:p>
            <a:endParaRPr/>
          </a:p>
        </p:txBody>
      </p:sp>
      <p:sp>
        <p:nvSpPr>
          <p:cNvPr id="232" name="object 74"/>
          <p:cNvSpPr txBox="1"/>
          <p:nvPr/>
        </p:nvSpPr>
        <p:spPr>
          <a:xfrm>
            <a:off x="9586255" y="5074285"/>
            <a:ext cx="1625600" cy="304800"/>
          </a:xfrm>
          <a:prstGeom prst="rect">
            <a:avLst/>
          </a:prstGeom>
          <a:ln w="38099">
            <a:solidFill>
              <a:srgbClr val="000000"/>
            </a:solidFill>
          </a:ln>
        </p:spPr>
        <p:txBody>
          <a:bodyPr vert="horz" wrap="square" lIns="0" tIns="48895" rIns="0" bIns="0" rtlCol="0">
            <a:spAutoFit/>
          </a:bodyPr>
          <a:lstStyle/>
          <a:p>
            <a:pPr marL="545465">
              <a:lnSpc>
                <a:spcPct val="100000"/>
              </a:lnSpc>
              <a:spcBef>
                <a:spcPts val="385"/>
              </a:spcBef>
            </a:pPr>
            <a:r>
              <a:rPr sz="1400" b="1" spc="-5" dirty="0">
                <a:latin typeface="Comic Sans MS" panose="030F0702030302020204"/>
                <a:cs typeface="Comic Sans MS" panose="030F0702030302020204"/>
              </a:rPr>
              <a:t>:organ</a:t>
            </a:r>
            <a:endParaRPr sz="1400">
              <a:latin typeface="Comic Sans MS" panose="030F0702030302020204"/>
              <a:cs typeface="Comic Sans MS" panose="030F0702030302020204"/>
            </a:endParaRPr>
          </a:p>
        </p:txBody>
      </p:sp>
      <p:sp>
        <p:nvSpPr>
          <p:cNvPr id="233" name="object 75"/>
          <p:cNvSpPr txBox="1"/>
          <p:nvPr/>
        </p:nvSpPr>
        <p:spPr>
          <a:xfrm>
            <a:off x="9586255" y="5379085"/>
            <a:ext cx="1625600" cy="990600"/>
          </a:xfrm>
          <a:prstGeom prst="rect">
            <a:avLst/>
          </a:prstGeom>
          <a:solidFill>
            <a:srgbClr val="FCFAD3"/>
          </a:solidFill>
          <a:ln w="38099">
            <a:solidFill>
              <a:srgbClr val="000000"/>
            </a:solidFill>
          </a:ln>
        </p:spPr>
        <p:txBody>
          <a:bodyPr vert="horz" wrap="square" lIns="0" tIns="55879" rIns="0" bIns="0" rtlCol="0">
            <a:spAutoFit/>
          </a:bodyPr>
          <a:lstStyle/>
          <a:p>
            <a:pPr marL="91440" marR="523875">
              <a:lnSpc>
                <a:spcPts val="1400"/>
              </a:lnSpc>
              <a:spcBef>
                <a:spcPts val="440"/>
              </a:spcBef>
            </a:pPr>
            <a:r>
              <a:rPr sz="1200" dirty="0">
                <a:latin typeface="Comic Sans MS" panose="030F0702030302020204"/>
                <a:cs typeface="Comic Sans MS" panose="030F0702030302020204"/>
              </a:rPr>
              <a:t>Natural/artif.  </a:t>
            </a:r>
            <a:r>
              <a:rPr sz="1200" spc="-5" dirty="0">
                <a:latin typeface="Comic Sans MS" panose="030F0702030302020204"/>
                <a:cs typeface="Comic Sans MS" panose="030F0702030302020204"/>
              </a:rPr>
              <a:t>Orig/implant  donor</a:t>
            </a:r>
            <a:endParaRPr sz="1200">
              <a:latin typeface="Comic Sans MS" panose="030F0702030302020204"/>
              <a:cs typeface="Comic Sans MS" panose="030F0702030302020204"/>
            </a:endParaRPr>
          </a:p>
        </p:txBody>
      </p:sp>
      <p:sp>
        <p:nvSpPr>
          <p:cNvPr id="234" name="object 76"/>
          <p:cNvSpPr/>
          <p:nvPr/>
        </p:nvSpPr>
        <p:spPr>
          <a:xfrm>
            <a:off x="10725545" y="2723097"/>
            <a:ext cx="231775" cy="2121535"/>
          </a:xfrm>
          <a:custGeom>
            <a:avLst/>
            <a:gdLst/>
            <a:ahLst/>
            <a:cxnLst/>
            <a:rect l="l" t="t" r="r" b="b"/>
            <a:pathLst>
              <a:path w="231775" h="2121535">
                <a:moveTo>
                  <a:pt x="231258" y="0"/>
                </a:moveTo>
                <a:lnTo>
                  <a:pt x="0" y="2121101"/>
                </a:lnTo>
              </a:path>
            </a:pathLst>
          </a:custGeom>
          <a:ln w="38099">
            <a:solidFill>
              <a:srgbClr val="000000"/>
            </a:solidFill>
          </a:ln>
        </p:spPr>
        <p:txBody>
          <a:bodyPr wrap="square" lIns="0" tIns="0" rIns="0" bIns="0" rtlCol="0"/>
          <a:lstStyle/>
          <a:p>
            <a:endParaRPr/>
          </a:p>
        </p:txBody>
      </p:sp>
      <p:sp>
        <p:nvSpPr>
          <p:cNvPr id="235" name="object 77"/>
          <p:cNvSpPr/>
          <p:nvPr/>
        </p:nvSpPr>
        <p:spPr>
          <a:xfrm>
            <a:off x="10579753" y="4833038"/>
            <a:ext cx="201930" cy="239395"/>
          </a:xfrm>
          <a:custGeom>
            <a:avLst/>
            <a:gdLst/>
            <a:ahLst/>
            <a:cxnLst/>
            <a:rect l="l" t="t" r="r" b="b"/>
            <a:pathLst>
              <a:path w="201929" h="239395">
                <a:moveTo>
                  <a:pt x="0" y="0"/>
                </a:moveTo>
                <a:lnTo>
                  <a:pt x="74270" y="238881"/>
                </a:lnTo>
                <a:lnTo>
                  <a:pt x="201815" y="23676"/>
                </a:lnTo>
                <a:lnTo>
                  <a:pt x="0" y="0"/>
                </a:lnTo>
                <a:close/>
              </a:path>
            </a:pathLst>
          </a:custGeom>
          <a:solidFill>
            <a:srgbClr val="FCFAD3"/>
          </a:solidFill>
        </p:spPr>
        <p:txBody>
          <a:bodyPr wrap="square" lIns="0" tIns="0" rIns="0" bIns="0" rtlCol="0"/>
          <a:lstStyle/>
          <a:p>
            <a:endParaRPr/>
          </a:p>
        </p:txBody>
      </p:sp>
      <p:sp>
        <p:nvSpPr>
          <p:cNvPr id="236" name="object 78"/>
          <p:cNvSpPr/>
          <p:nvPr/>
        </p:nvSpPr>
        <p:spPr>
          <a:xfrm>
            <a:off x="10579752" y="4833038"/>
            <a:ext cx="201930" cy="239395"/>
          </a:xfrm>
          <a:custGeom>
            <a:avLst/>
            <a:gdLst/>
            <a:ahLst/>
            <a:cxnLst/>
            <a:rect l="l" t="t" r="r" b="b"/>
            <a:pathLst>
              <a:path w="201929" h="239395">
                <a:moveTo>
                  <a:pt x="0" y="0"/>
                </a:moveTo>
                <a:lnTo>
                  <a:pt x="74271" y="238881"/>
                </a:lnTo>
                <a:lnTo>
                  <a:pt x="201815" y="23676"/>
                </a:lnTo>
                <a:lnTo>
                  <a:pt x="0" y="0"/>
                </a:lnTo>
                <a:close/>
              </a:path>
            </a:pathLst>
          </a:custGeom>
          <a:ln w="28574">
            <a:solidFill>
              <a:srgbClr val="000000"/>
            </a:solidFill>
          </a:ln>
        </p:spPr>
        <p:txBody>
          <a:bodyPr wrap="square" lIns="0" tIns="0" rIns="0" bIns="0" rtlCol="0"/>
          <a:lstStyle/>
          <a:p>
            <a:endParaRPr/>
          </a:p>
        </p:txBody>
      </p:sp>
      <p:sp>
        <p:nvSpPr>
          <p:cNvPr id="237" name="object 79"/>
          <p:cNvSpPr/>
          <p:nvPr/>
        </p:nvSpPr>
        <p:spPr>
          <a:xfrm>
            <a:off x="8539879" y="3826245"/>
            <a:ext cx="1095375" cy="1075055"/>
          </a:xfrm>
          <a:custGeom>
            <a:avLst/>
            <a:gdLst/>
            <a:ahLst/>
            <a:cxnLst/>
            <a:rect l="l" t="t" r="r" b="b"/>
            <a:pathLst>
              <a:path w="1095375" h="1075054">
                <a:moveTo>
                  <a:pt x="0" y="0"/>
                </a:moveTo>
                <a:lnTo>
                  <a:pt x="1095335" y="1074678"/>
                </a:lnTo>
              </a:path>
            </a:pathLst>
          </a:custGeom>
          <a:ln w="38099">
            <a:solidFill>
              <a:srgbClr val="000000"/>
            </a:solidFill>
          </a:ln>
        </p:spPr>
        <p:txBody>
          <a:bodyPr wrap="square" lIns="0" tIns="0" rIns="0" bIns="0" rtlCol="0"/>
          <a:lstStyle/>
          <a:p>
            <a:endParaRPr/>
          </a:p>
        </p:txBody>
      </p:sp>
      <p:sp>
        <p:nvSpPr>
          <p:cNvPr id="238" name="object 80"/>
          <p:cNvSpPr/>
          <p:nvPr/>
        </p:nvSpPr>
        <p:spPr>
          <a:xfrm>
            <a:off x="9540796" y="4804694"/>
            <a:ext cx="300355" cy="297815"/>
          </a:xfrm>
          <a:custGeom>
            <a:avLst/>
            <a:gdLst/>
            <a:ahLst/>
            <a:cxnLst/>
            <a:rect l="l" t="t" r="r" b="b"/>
            <a:pathLst>
              <a:path w="300354" h="297814">
                <a:moveTo>
                  <a:pt x="188836" y="0"/>
                </a:moveTo>
                <a:lnTo>
                  <a:pt x="0" y="192464"/>
                </a:lnTo>
                <a:lnTo>
                  <a:pt x="299793" y="297733"/>
                </a:lnTo>
                <a:lnTo>
                  <a:pt x="188836" y="0"/>
                </a:lnTo>
                <a:close/>
              </a:path>
            </a:pathLst>
          </a:custGeom>
          <a:solidFill>
            <a:srgbClr val="FCFAD3"/>
          </a:solidFill>
        </p:spPr>
        <p:txBody>
          <a:bodyPr wrap="square" lIns="0" tIns="0" rIns="0" bIns="0" rtlCol="0"/>
          <a:lstStyle/>
          <a:p>
            <a:endParaRPr/>
          </a:p>
        </p:txBody>
      </p:sp>
      <p:sp>
        <p:nvSpPr>
          <p:cNvPr id="239" name="object 81"/>
          <p:cNvSpPr/>
          <p:nvPr/>
        </p:nvSpPr>
        <p:spPr>
          <a:xfrm>
            <a:off x="9540797" y="4804693"/>
            <a:ext cx="300355" cy="297815"/>
          </a:xfrm>
          <a:custGeom>
            <a:avLst/>
            <a:gdLst/>
            <a:ahLst/>
            <a:cxnLst/>
            <a:rect l="l" t="t" r="r" b="b"/>
            <a:pathLst>
              <a:path w="300354" h="297814">
                <a:moveTo>
                  <a:pt x="0" y="192465"/>
                </a:moveTo>
                <a:lnTo>
                  <a:pt x="299793" y="297734"/>
                </a:lnTo>
                <a:lnTo>
                  <a:pt x="188835" y="0"/>
                </a:lnTo>
                <a:lnTo>
                  <a:pt x="0" y="192465"/>
                </a:lnTo>
                <a:close/>
              </a:path>
            </a:pathLst>
          </a:custGeom>
          <a:ln w="28574">
            <a:solidFill>
              <a:srgbClr val="000000"/>
            </a:solidFill>
          </a:ln>
        </p:spPr>
        <p:txBody>
          <a:bodyPr wrap="square" lIns="0" tIns="0" rIns="0" bIns="0" rtlCol="0"/>
          <a:lstStyle/>
          <a:p>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类图的抽象层次</a:t>
            </a:r>
          </a:p>
        </p:txBody>
      </p:sp>
      <p:sp>
        <p:nvSpPr>
          <p:cNvPr id="3" name="内容占位符 2"/>
          <p:cNvSpPr>
            <a:spLocks noGrp="1"/>
          </p:cNvSpPr>
          <p:nvPr>
            <p:ph idx="1"/>
          </p:nvPr>
        </p:nvSpPr>
        <p:spPr>
          <a:xfrm>
            <a:off x="838199" y="1576552"/>
            <a:ext cx="10954407" cy="4600411"/>
          </a:xfrm>
        </p:spPr>
        <p:txBody>
          <a:bodyPr>
            <a:normAutofit/>
          </a:bodyPr>
          <a:lstStyle/>
          <a:p>
            <a:pPr marL="241300" marR="5080">
              <a:lnSpc>
                <a:spcPct val="100000"/>
              </a:lnSpc>
              <a:spcBef>
                <a:spcPts val="100"/>
              </a:spcBef>
              <a:buFont typeface="Arial" panose="020B0604020202020204"/>
              <a:buChar char="•"/>
              <a:tabLst>
                <a:tab pos="240665" algn="l"/>
                <a:tab pos="241300" algn="l"/>
              </a:tabLst>
            </a:pPr>
            <a:r>
              <a:rPr lang="zh-CN" altLang="en-US" dirty="0">
                <a:cs typeface="黑体" panose="02010609060101010101" charset="-122"/>
              </a:rPr>
              <a:t>在软件开发的不同阶段使用的类图具有不同的抽象层次。一般地，类图可分为三个层次，即 </a:t>
            </a:r>
            <a:r>
              <a:rPr lang="zh-CN" altLang="en-US" dirty="0">
                <a:solidFill>
                  <a:srgbClr val="800000"/>
                </a:solidFill>
                <a:cs typeface="黑体" panose="02010609060101010101" charset="-122"/>
              </a:rPr>
              <a:t>概念类</a:t>
            </a:r>
            <a:r>
              <a:rPr lang="zh-CN" altLang="en-US" dirty="0">
                <a:cs typeface="黑体" panose="02010609060101010101" charset="-122"/>
              </a:rPr>
              <a:t>，</a:t>
            </a:r>
            <a:r>
              <a:rPr lang="zh-CN" altLang="en-US" dirty="0">
                <a:solidFill>
                  <a:srgbClr val="800000"/>
                </a:solidFill>
                <a:cs typeface="黑体" panose="02010609060101010101" charset="-122"/>
              </a:rPr>
              <a:t>设计说明类</a:t>
            </a:r>
            <a:r>
              <a:rPr lang="zh-CN" altLang="en-US" dirty="0">
                <a:cs typeface="黑体" panose="02010609060101010101" charset="-122"/>
              </a:rPr>
              <a:t>和</a:t>
            </a:r>
            <a:r>
              <a:rPr lang="zh-CN" altLang="en-US" dirty="0">
                <a:solidFill>
                  <a:srgbClr val="800000"/>
                </a:solidFill>
                <a:cs typeface="黑体" panose="02010609060101010101" charset="-122"/>
              </a:rPr>
              <a:t>实现类</a:t>
            </a:r>
            <a:r>
              <a:rPr lang="zh-CN" altLang="en-US" dirty="0">
                <a:cs typeface="黑体" panose="02010609060101010101" charset="-122"/>
              </a:rPr>
              <a:t>。</a:t>
            </a:r>
          </a:p>
          <a:p>
            <a:pPr marL="12700" marR="1007745">
              <a:lnSpc>
                <a:spcPct val="142000"/>
              </a:lnSpc>
              <a:buFont typeface="Arial" panose="020B0604020202020204"/>
              <a:buChar char="•"/>
              <a:tabLst>
                <a:tab pos="240665" algn="l"/>
                <a:tab pos="241300" algn="l"/>
              </a:tabLst>
            </a:pPr>
            <a:r>
              <a:rPr lang="zh-CN" altLang="en-US" dirty="0">
                <a:solidFill>
                  <a:srgbClr val="800000"/>
                </a:solidFill>
                <a:cs typeface="黑体" panose="02010609060101010101" charset="-122"/>
              </a:rPr>
              <a:t>概念类</a:t>
            </a:r>
            <a:r>
              <a:rPr lang="zh-CN" altLang="en-US" dirty="0">
                <a:cs typeface="黑体" panose="02010609060101010101" charset="-122"/>
              </a:rPr>
              <a:t>，</a:t>
            </a:r>
            <a:r>
              <a:rPr lang="zh-CN" altLang="en-US" dirty="0">
                <a:solidFill>
                  <a:srgbClr val="800000"/>
                </a:solidFill>
                <a:cs typeface="黑体" panose="02010609060101010101" charset="-122"/>
              </a:rPr>
              <a:t>设计说明类</a:t>
            </a:r>
            <a:r>
              <a:rPr lang="zh-CN" altLang="en-US" dirty="0">
                <a:cs typeface="黑体" panose="02010609060101010101" charset="-122"/>
              </a:rPr>
              <a:t>和</a:t>
            </a:r>
            <a:r>
              <a:rPr lang="zh-CN" altLang="en-US" dirty="0">
                <a:solidFill>
                  <a:srgbClr val="800000"/>
                </a:solidFill>
                <a:cs typeface="黑体" panose="02010609060101010101" charset="-122"/>
              </a:rPr>
              <a:t>实现类</a:t>
            </a:r>
            <a:r>
              <a:rPr lang="zh-CN" altLang="en-US" dirty="0">
                <a:cs typeface="黑体" panose="02010609060101010101" charset="-122"/>
              </a:rPr>
              <a:t>的划分最先是由</a:t>
            </a:r>
            <a:r>
              <a:rPr lang="zh-CN" altLang="en-US" spc="-10" dirty="0">
                <a:cs typeface="黑体" panose="02010609060101010101" charset="-122"/>
              </a:rPr>
              <a:t> </a:t>
            </a:r>
            <a:r>
              <a:rPr lang="en-US" altLang="zh-CN" spc="-5" dirty="0">
                <a:solidFill>
                  <a:srgbClr val="800000"/>
                </a:solidFill>
                <a:cs typeface="Calibri" panose="020F0502020204030204"/>
              </a:rPr>
              <a:t>Steve Cook</a:t>
            </a:r>
            <a:r>
              <a:rPr lang="zh-CN" altLang="en-US" dirty="0">
                <a:solidFill>
                  <a:srgbClr val="800000"/>
                </a:solidFill>
                <a:cs typeface="Calibri" panose="020F0502020204030204"/>
              </a:rPr>
              <a:t> </a:t>
            </a:r>
            <a:r>
              <a:rPr lang="zh-CN" altLang="en-US" dirty="0">
                <a:cs typeface="黑体" panose="02010609060101010101" charset="-122"/>
              </a:rPr>
              <a:t>和</a:t>
            </a:r>
            <a:r>
              <a:rPr lang="zh-CN" altLang="en-US" spc="-10" dirty="0">
                <a:cs typeface="黑体" panose="02010609060101010101" charset="-122"/>
              </a:rPr>
              <a:t> </a:t>
            </a:r>
            <a:r>
              <a:rPr lang="en-US" altLang="zh-CN" spc="-5" dirty="0">
                <a:solidFill>
                  <a:srgbClr val="800000"/>
                </a:solidFill>
                <a:cs typeface="Calibri" panose="020F0502020204030204"/>
              </a:rPr>
              <a:t>John Daniels </a:t>
            </a:r>
            <a:r>
              <a:rPr lang="zh-CN" altLang="en-US" dirty="0">
                <a:cs typeface="黑体" panose="02010609060101010101" charset="-122"/>
              </a:rPr>
              <a:t>引入的。 </a:t>
            </a:r>
            <a:r>
              <a:rPr lang="zh-CN" altLang="en-US" b="1" spc="-10" dirty="0">
                <a:cs typeface="黑体" panose="02010609060101010101" charset="-122"/>
              </a:rPr>
              <a:t>例：类图的三个层次的例子。</a:t>
            </a:r>
            <a:endParaRPr lang="zh-CN" altLang="en-US" dirty="0">
              <a:cs typeface="黑体" panose="02010609060101010101" charset="-122"/>
            </a:endParaRPr>
          </a:p>
          <a:p>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t>31</a:t>
            </a:fld>
            <a:endParaRPr lang="zh-CN" altLang="en-US"/>
          </a:p>
        </p:txBody>
      </p:sp>
      <p:grpSp>
        <p:nvGrpSpPr>
          <p:cNvPr id="11" name="组合 10"/>
          <p:cNvGrpSpPr/>
          <p:nvPr/>
        </p:nvGrpSpPr>
        <p:grpSpPr>
          <a:xfrm>
            <a:off x="2267633" y="3942329"/>
            <a:ext cx="8085805" cy="2370461"/>
            <a:chOff x="1821109" y="2847037"/>
            <a:chExt cx="8288852" cy="2854659"/>
          </a:xfrm>
        </p:grpSpPr>
        <p:sp>
          <p:nvSpPr>
            <p:cNvPr id="5" name="object 8"/>
            <p:cNvSpPr/>
            <p:nvPr/>
          </p:nvSpPr>
          <p:spPr>
            <a:xfrm>
              <a:off x="1821109" y="2855646"/>
              <a:ext cx="1413273" cy="896618"/>
            </a:xfrm>
            <a:prstGeom prst="rect">
              <a:avLst/>
            </a:prstGeom>
            <a:blipFill>
              <a:blip r:embed="rId3" cstate="print"/>
              <a:stretch>
                <a:fillRect/>
              </a:stretch>
            </a:blipFill>
          </p:spPr>
          <p:txBody>
            <a:bodyPr wrap="square" lIns="0" tIns="0" rIns="0" bIns="0" rtlCol="0"/>
            <a:lstStyle/>
            <a:p>
              <a:endParaRPr/>
            </a:p>
          </p:txBody>
        </p:sp>
        <p:sp>
          <p:nvSpPr>
            <p:cNvPr id="6" name="object 9"/>
            <p:cNvSpPr/>
            <p:nvPr/>
          </p:nvSpPr>
          <p:spPr>
            <a:xfrm>
              <a:off x="3771634" y="2847037"/>
              <a:ext cx="1250060" cy="2165082"/>
            </a:xfrm>
            <a:prstGeom prst="rect">
              <a:avLst/>
            </a:prstGeom>
            <a:blipFill>
              <a:blip r:embed="rId4" cstate="print"/>
              <a:stretch>
                <a:fillRect/>
              </a:stretch>
            </a:blipFill>
          </p:spPr>
          <p:txBody>
            <a:bodyPr wrap="square" lIns="0" tIns="0" rIns="0" bIns="0" rtlCol="0"/>
            <a:lstStyle/>
            <a:p>
              <a:endParaRPr/>
            </a:p>
          </p:txBody>
        </p:sp>
        <p:sp>
          <p:nvSpPr>
            <p:cNvPr id="7" name="object 10"/>
            <p:cNvSpPr/>
            <p:nvPr/>
          </p:nvSpPr>
          <p:spPr>
            <a:xfrm>
              <a:off x="5458600" y="2855081"/>
              <a:ext cx="4651361" cy="2180108"/>
            </a:xfrm>
            <a:prstGeom prst="rect">
              <a:avLst/>
            </a:prstGeom>
            <a:blipFill>
              <a:blip r:embed="rId5" cstate="print"/>
              <a:stretch>
                <a:fillRect/>
              </a:stretch>
            </a:blipFill>
          </p:spPr>
          <p:txBody>
            <a:bodyPr wrap="square" lIns="0" tIns="0" rIns="0" bIns="0" rtlCol="0"/>
            <a:lstStyle/>
            <a:p>
              <a:endParaRPr/>
            </a:p>
          </p:txBody>
        </p:sp>
        <p:sp>
          <p:nvSpPr>
            <p:cNvPr id="8" name="object 11"/>
            <p:cNvSpPr txBox="1"/>
            <p:nvPr/>
          </p:nvSpPr>
          <p:spPr>
            <a:xfrm>
              <a:off x="1989033" y="5315608"/>
              <a:ext cx="912171" cy="386088"/>
            </a:xfrm>
            <a:prstGeom prst="rect">
              <a:avLst/>
            </a:prstGeom>
          </p:spPr>
          <p:txBody>
            <a:bodyPr vert="horz" wrap="square" lIns="0" tIns="12700" rIns="0" bIns="0" rtlCol="0">
              <a:spAutoFit/>
            </a:bodyPr>
            <a:lstStyle/>
            <a:p>
              <a:pPr marL="12700" algn="ctr">
                <a:lnSpc>
                  <a:spcPct val="100000"/>
                </a:lnSpc>
                <a:spcBef>
                  <a:spcPts val="100"/>
                </a:spcBef>
              </a:pPr>
              <a:r>
                <a:rPr sz="2000" dirty="0">
                  <a:solidFill>
                    <a:srgbClr val="800000"/>
                  </a:solidFill>
                  <a:latin typeface="黑体" panose="02010609060101010101" charset="-122"/>
                  <a:cs typeface="黑体" panose="02010609060101010101" charset="-122"/>
                </a:rPr>
                <a:t>概念类</a:t>
              </a:r>
              <a:endParaRPr sz="2000" dirty="0">
                <a:latin typeface="黑体" panose="02010609060101010101" charset="-122"/>
                <a:cs typeface="黑体" panose="02010609060101010101" charset="-122"/>
              </a:endParaRPr>
            </a:p>
          </p:txBody>
        </p:sp>
        <p:sp>
          <p:nvSpPr>
            <p:cNvPr id="9" name="object 12"/>
            <p:cNvSpPr txBox="1"/>
            <p:nvPr/>
          </p:nvSpPr>
          <p:spPr>
            <a:xfrm>
              <a:off x="3799078" y="5298913"/>
              <a:ext cx="1491349" cy="386088"/>
            </a:xfrm>
            <a:prstGeom prst="rect">
              <a:avLst/>
            </a:prstGeom>
          </p:spPr>
          <p:txBody>
            <a:bodyPr vert="horz" wrap="square" lIns="0" tIns="12700" rIns="0" bIns="0" rtlCol="0">
              <a:spAutoFit/>
            </a:bodyPr>
            <a:lstStyle/>
            <a:p>
              <a:pPr marL="12700" algn="ctr">
                <a:lnSpc>
                  <a:spcPct val="100000"/>
                </a:lnSpc>
                <a:spcBef>
                  <a:spcPts val="100"/>
                </a:spcBef>
              </a:pPr>
              <a:r>
                <a:rPr sz="2000" dirty="0">
                  <a:solidFill>
                    <a:srgbClr val="800000"/>
                  </a:solidFill>
                  <a:latin typeface="黑体" panose="02010609060101010101" charset="-122"/>
                  <a:cs typeface="黑体" panose="02010609060101010101" charset="-122"/>
                </a:rPr>
                <a:t>设计说明类</a:t>
              </a:r>
              <a:endParaRPr sz="2000" dirty="0">
                <a:latin typeface="黑体" panose="02010609060101010101" charset="-122"/>
                <a:cs typeface="黑体" panose="02010609060101010101" charset="-122"/>
              </a:endParaRPr>
            </a:p>
          </p:txBody>
        </p:sp>
        <p:sp>
          <p:nvSpPr>
            <p:cNvPr id="10" name="object 13"/>
            <p:cNvSpPr txBox="1"/>
            <p:nvPr/>
          </p:nvSpPr>
          <p:spPr>
            <a:xfrm>
              <a:off x="6803282" y="5298913"/>
              <a:ext cx="1105293" cy="386088"/>
            </a:xfrm>
            <a:prstGeom prst="rect">
              <a:avLst/>
            </a:prstGeom>
          </p:spPr>
          <p:txBody>
            <a:bodyPr vert="horz" wrap="square" lIns="0" tIns="12700" rIns="0" bIns="0" rtlCol="0">
              <a:spAutoFit/>
            </a:bodyPr>
            <a:lstStyle/>
            <a:p>
              <a:pPr marL="12700" algn="ctr">
                <a:lnSpc>
                  <a:spcPct val="100000"/>
                </a:lnSpc>
                <a:spcBef>
                  <a:spcPts val="100"/>
                </a:spcBef>
              </a:pPr>
              <a:r>
                <a:rPr sz="2000" dirty="0">
                  <a:solidFill>
                    <a:srgbClr val="800000"/>
                  </a:solidFill>
                  <a:latin typeface="黑体" panose="02010609060101010101" charset="-122"/>
                  <a:cs typeface="黑体" panose="02010609060101010101" charset="-122"/>
                </a:rPr>
                <a:t>实现类</a:t>
              </a:r>
              <a:endParaRPr sz="2000" dirty="0">
                <a:latin typeface="黑体" panose="02010609060101010101" charset="-122"/>
                <a:cs typeface="黑体" panose="02010609060101010101" charset="-122"/>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总结建立类图的步骤</a:t>
            </a:r>
          </a:p>
        </p:txBody>
      </p:sp>
      <p:sp>
        <p:nvSpPr>
          <p:cNvPr id="3" name="内容占位符 2"/>
          <p:cNvSpPr>
            <a:spLocks noGrp="1"/>
          </p:cNvSpPr>
          <p:nvPr>
            <p:ph idx="1"/>
          </p:nvPr>
        </p:nvSpPr>
        <p:spPr>
          <a:xfrm>
            <a:off x="734410" y="1690688"/>
            <a:ext cx="10723179" cy="4568880"/>
          </a:xfrm>
        </p:spPr>
        <p:txBody>
          <a:bodyPr/>
          <a:lstStyle/>
          <a:p>
            <a:pPr marL="294640" indent="-282575">
              <a:lnSpc>
                <a:spcPct val="100000"/>
              </a:lnSpc>
              <a:spcBef>
                <a:spcPts val="800"/>
              </a:spcBef>
              <a:buFont typeface="Arial" panose="020B0604020202020204"/>
              <a:buAutoNum type="arabicPeriod"/>
              <a:tabLst>
                <a:tab pos="295275" algn="l"/>
              </a:tabLst>
            </a:pPr>
            <a:r>
              <a:rPr lang="zh-CN" altLang="en-US" dirty="0">
                <a:latin typeface="华文细黑" panose="02010600040101010101" charset="-122"/>
                <a:cs typeface="华文细黑" panose="02010600040101010101" charset="-122"/>
              </a:rPr>
              <a:t>研究分析问题领域，确定系统的需求。</a:t>
            </a:r>
          </a:p>
          <a:p>
            <a:pPr marL="294640" indent="-282575">
              <a:lnSpc>
                <a:spcPct val="100000"/>
              </a:lnSpc>
              <a:spcBef>
                <a:spcPts val="700"/>
              </a:spcBef>
              <a:buFont typeface="Arial" panose="020B0604020202020204"/>
              <a:buAutoNum type="arabicPeriod"/>
              <a:tabLst>
                <a:tab pos="295275" algn="l"/>
              </a:tabLst>
            </a:pPr>
            <a:r>
              <a:rPr lang="zh-CN" altLang="en-US" dirty="0">
                <a:latin typeface="华文细黑" panose="02010600040101010101" charset="-122"/>
                <a:cs typeface="华文细黑" panose="02010600040101010101" charset="-122"/>
              </a:rPr>
              <a:t>发现对象与类，明确它们的含义和责任，确定属性和操作。</a:t>
            </a:r>
          </a:p>
          <a:p>
            <a:pPr marL="294640" indent="-282575">
              <a:lnSpc>
                <a:spcPct val="100000"/>
              </a:lnSpc>
              <a:spcBef>
                <a:spcPts val="800"/>
              </a:spcBef>
              <a:buFont typeface="Arial" panose="020B0604020202020204"/>
              <a:buAutoNum type="arabicPeriod"/>
              <a:tabLst>
                <a:tab pos="295275" algn="l"/>
              </a:tabLst>
            </a:pPr>
            <a:r>
              <a:rPr lang="zh-CN" altLang="en-US" dirty="0">
                <a:latin typeface="华文细黑" panose="02010600040101010101" charset="-122"/>
                <a:cs typeface="华文细黑" panose="02010600040101010101" charset="-122"/>
              </a:rPr>
              <a:t>发现类之间的关系。</a:t>
            </a:r>
            <a:r>
              <a:rPr lang="zh-CN" altLang="en-US" spc="-185" dirty="0">
                <a:latin typeface="华文细黑" panose="02010600040101010101" charset="-122"/>
                <a:cs typeface="华文细黑" panose="02010600040101010101" charset="-122"/>
              </a:rPr>
              <a:t>把类之间的关系用关联</a:t>
            </a:r>
            <a:r>
              <a:rPr lang="zh-CN" altLang="en-US" dirty="0">
                <a:latin typeface="华文细黑" panose="02010600040101010101" charset="-122"/>
                <a:cs typeface="华文细黑" panose="02010600040101010101" charset="-122"/>
              </a:rPr>
              <a:t>、泛化、聚集、组合、依赖等关系表达出来。</a:t>
            </a:r>
          </a:p>
          <a:p>
            <a:pPr marL="295275" marR="259715" indent="-295275">
              <a:lnSpc>
                <a:spcPct val="100000"/>
              </a:lnSpc>
              <a:spcBef>
                <a:spcPts val="940"/>
              </a:spcBef>
              <a:buFont typeface="Arial" panose="020B0604020202020204"/>
              <a:buAutoNum type="arabicPeriod"/>
              <a:tabLst>
                <a:tab pos="295275" algn="l"/>
              </a:tabLst>
            </a:pPr>
            <a:r>
              <a:rPr lang="zh-CN" altLang="en-US" dirty="0">
                <a:latin typeface="华文细黑" panose="02010600040101010101" charset="-122"/>
                <a:cs typeface="华文细黑" panose="02010600040101010101" charset="-122"/>
              </a:rPr>
              <a:t>设计类与关系。调整和细化已得到的类和类之间的关系，解决诸如命名冲突、功能重复等问题。</a:t>
            </a:r>
          </a:p>
          <a:p>
            <a:pPr marL="294640" indent="-282575">
              <a:lnSpc>
                <a:spcPct val="100000"/>
              </a:lnSpc>
              <a:spcBef>
                <a:spcPts val="760"/>
              </a:spcBef>
              <a:buFont typeface="Arial" panose="020B0604020202020204"/>
              <a:buAutoNum type="arabicPeriod"/>
              <a:tabLst>
                <a:tab pos="295275" algn="l"/>
              </a:tabLst>
            </a:pPr>
            <a:r>
              <a:rPr lang="zh-CN" altLang="en-US" dirty="0">
                <a:latin typeface="华文细黑" panose="02010600040101010101" charset="-122"/>
                <a:cs typeface="华文细黑" panose="02010600040101010101" charset="-122"/>
              </a:rPr>
              <a:t>绘制类图并编制相应的说明。</a:t>
            </a:r>
          </a:p>
          <a:p>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t>32</a:t>
            </a:fld>
            <a:endParaRPr lang="zh-CN"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类图建模风格</a:t>
            </a:r>
          </a:p>
        </p:txBody>
      </p:sp>
      <p:sp>
        <p:nvSpPr>
          <p:cNvPr id="3" name="内容占位符 2"/>
          <p:cNvSpPr>
            <a:spLocks noGrp="1"/>
          </p:cNvSpPr>
          <p:nvPr>
            <p:ph idx="1"/>
          </p:nvPr>
        </p:nvSpPr>
        <p:spPr>
          <a:xfrm>
            <a:off x="838200" y="1619610"/>
            <a:ext cx="10515600" cy="4557353"/>
          </a:xfrm>
        </p:spPr>
        <p:txBody>
          <a:bodyPr>
            <a:normAutofit/>
          </a:bodyPr>
          <a:lstStyle/>
          <a:p>
            <a:pPr marL="12700" lvl="0" indent="0">
              <a:lnSpc>
                <a:spcPct val="100000"/>
              </a:lnSpc>
              <a:spcBef>
                <a:spcPts val="720"/>
              </a:spcBef>
              <a:buNone/>
            </a:pPr>
            <a:r>
              <a:rPr lang="en-US" altLang="zh-CN" sz="2400" dirty="0">
                <a:solidFill>
                  <a:prstClr val="black"/>
                </a:solidFill>
                <a:cs typeface="华文细黑" panose="02010600040101010101" charset="-122"/>
              </a:rPr>
              <a:t>1</a:t>
            </a:r>
            <a:r>
              <a:rPr lang="zh-CN" altLang="en-US" sz="2400" dirty="0">
                <a:solidFill>
                  <a:prstClr val="black"/>
                </a:solidFill>
                <a:cs typeface="华文细黑" panose="02010600040101010101" charset="-122"/>
              </a:rPr>
              <a:t>：属性名和类型应该一致</a:t>
            </a:r>
          </a:p>
          <a:p>
            <a:pPr marL="12700" lvl="0" indent="0">
              <a:lnSpc>
                <a:spcPct val="100000"/>
              </a:lnSpc>
              <a:spcBef>
                <a:spcPts val="620"/>
              </a:spcBef>
              <a:buNone/>
            </a:pPr>
            <a:r>
              <a:rPr lang="en-US" altLang="zh-CN" sz="2400" dirty="0">
                <a:solidFill>
                  <a:prstClr val="black"/>
                </a:solidFill>
                <a:cs typeface="华文细黑" panose="02010600040101010101" charset="-122"/>
              </a:rPr>
              <a:t>2</a:t>
            </a:r>
            <a:r>
              <a:rPr lang="zh-CN" altLang="en-US" sz="2400" dirty="0">
                <a:solidFill>
                  <a:prstClr val="black"/>
                </a:solidFill>
                <a:cs typeface="华文细黑" panose="02010600040101010101" charset="-122"/>
              </a:rPr>
              <a:t>：不要对有关联类的关联关系进行命名。</a:t>
            </a:r>
          </a:p>
          <a:p>
            <a:pPr marL="12700" lvl="0" indent="0">
              <a:lnSpc>
                <a:spcPct val="100000"/>
              </a:lnSpc>
              <a:spcBef>
                <a:spcPts val="720"/>
              </a:spcBef>
              <a:buNone/>
            </a:pPr>
            <a:r>
              <a:rPr lang="en-US" altLang="zh-CN" sz="2400" dirty="0">
                <a:solidFill>
                  <a:prstClr val="black"/>
                </a:solidFill>
                <a:cs typeface="华文细黑" panose="02010600040101010101" charset="-122"/>
              </a:rPr>
              <a:t>3</a:t>
            </a:r>
            <a:r>
              <a:rPr lang="zh-CN" altLang="en-US" sz="2400" dirty="0">
                <a:solidFill>
                  <a:prstClr val="black"/>
                </a:solidFill>
                <a:cs typeface="华文细黑" panose="02010600040101010101" charset="-122"/>
              </a:rPr>
              <a:t>：静态操作</a:t>
            </a:r>
            <a:r>
              <a:rPr lang="en-US" altLang="zh-CN" sz="2400" dirty="0">
                <a:solidFill>
                  <a:prstClr val="black"/>
                </a:solidFill>
                <a:cs typeface="华文细黑" panose="02010600040101010101" charset="-122"/>
              </a:rPr>
              <a:t>/</a:t>
            </a:r>
            <a:r>
              <a:rPr lang="zh-CN" altLang="en-US" sz="2400" dirty="0">
                <a:solidFill>
                  <a:prstClr val="black"/>
                </a:solidFill>
                <a:cs typeface="华文细黑" panose="02010600040101010101" charset="-122"/>
              </a:rPr>
              <a:t>属性要在实例操作</a:t>
            </a:r>
            <a:r>
              <a:rPr lang="en-US" altLang="zh-CN" sz="2400" dirty="0">
                <a:solidFill>
                  <a:prstClr val="black"/>
                </a:solidFill>
                <a:cs typeface="华文细黑" panose="02010600040101010101" charset="-122"/>
              </a:rPr>
              <a:t>/</a:t>
            </a:r>
            <a:r>
              <a:rPr lang="zh-CN" altLang="en-US" sz="2400" dirty="0">
                <a:solidFill>
                  <a:prstClr val="black"/>
                </a:solidFill>
                <a:cs typeface="华文细黑" panose="02010600040101010101" charset="-122"/>
              </a:rPr>
              <a:t>属性之前列出。</a:t>
            </a:r>
          </a:p>
          <a:p>
            <a:pPr marL="12700" lvl="0" indent="0">
              <a:lnSpc>
                <a:spcPct val="100000"/>
              </a:lnSpc>
              <a:spcBef>
                <a:spcPts val="720"/>
              </a:spcBef>
              <a:buNone/>
            </a:pPr>
            <a:r>
              <a:rPr lang="en-US" altLang="zh-CN" sz="2400" dirty="0">
                <a:solidFill>
                  <a:prstClr val="black"/>
                </a:solidFill>
                <a:cs typeface="华文细黑" panose="02010600040101010101" charset="-122"/>
              </a:rPr>
              <a:t>4</a:t>
            </a:r>
            <a:r>
              <a:rPr lang="zh-CN" altLang="en-US" sz="2400" dirty="0">
                <a:solidFill>
                  <a:prstClr val="black"/>
                </a:solidFill>
                <a:cs typeface="华文细黑" panose="02010600040101010101" charset="-122"/>
              </a:rPr>
              <a:t>：以可见性降低的次序列出操作</a:t>
            </a:r>
            <a:r>
              <a:rPr lang="en-US" altLang="zh-CN" sz="2400" dirty="0">
                <a:solidFill>
                  <a:prstClr val="black"/>
                </a:solidFill>
                <a:cs typeface="华文细黑" panose="02010600040101010101" charset="-122"/>
              </a:rPr>
              <a:t>/</a:t>
            </a:r>
            <a:r>
              <a:rPr lang="zh-CN" altLang="en-US" sz="2400" dirty="0">
                <a:solidFill>
                  <a:prstClr val="black"/>
                </a:solidFill>
                <a:cs typeface="华文细黑" panose="02010600040101010101" charset="-122"/>
              </a:rPr>
              <a:t>属性。</a:t>
            </a:r>
          </a:p>
          <a:p>
            <a:pPr marL="12700" lvl="0" indent="0">
              <a:lnSpc>
                <a:spcPct val="100000"/>
              </a:lnSpc>
              <a:spcBef>
                <a:spcPts val="720"/>
              </a:spcBef>
              <a:buNone/>
            </a:pPr>
            <a:r>
              <a:rPr lang="en-US" altLang="zh-CN" sz="2400" dirty="0">
                <a:solidFill>
                  <a:prstClr val="black"/>
                </a:solidFill>
                <a:cs typeface="华文细黑" panose="02010600040101010101" charset="-122"/>
              </a:rPr>
              <a:t>5</a:t>
            </a:r>
            <a:r>
              <a:rPr lang="zh-CN" altLang="en-US" sz="2400" dirty="0">
                <a:solidFill>
                  <a:prstClr val="black"/>
                </a:solidFill>
                <a:cs typeface="华文细黑" panose="02010600040101010101" charset="-122"/>
              </a:rPr>
              <a:t>：避免已被语言的命名规范所隐含的版型。</a:t>
            </a:r>
          </a:p>
          <a:p>
            <a:pPr marL="12700" lvl="0" indent="0">
              <a:lnSpc>
                <a:spcPct val="100000"/>
              </a:lnSpc>
              <a:spcBef>
                <a:spcPts val="720"/>
              </a:spcBef>
              <a:buNone/>
            </a:pPr>
            <a:r>
              <a:rPr lang="en-US" altLang="zh-CN" sz="2400" dirty="0">
                <a:solidFill>
                  <a:prstClr val="black"/>
                </a:solidFill>
                <a:cs typeface="华文细黑" panose="02010600040101010101" charset="-122"/>
              </a:rPr>
              <a:t>6</a:t>
            </a:r>
            <a:r>
              <a:rPr lang="zh-CN" altLang="en-US" sz="2400" dirty="0">
                <a:solidFill>
                  <a:prstClr val="black"/>
                </a:solidFill>
                <a:cs typeface="华文细黑" panose="02010600040101010101" charset="-122"/>
              </a:rPr>
              <a:t>：总是指明多样性</a:t>
            </a:r>
          </a:p>
          <a:p>
            <a:pPr marL="12700" lvl="0" indent="0">
              <a:lnSpc>
                <a:spcPct val="100000"/>
              </a:lnSpc>
              <a:spcBef>
                <a:spcPts val="720"/>
              </a:spcBef>
              <a:buNone/>
            </a:pPr>
            <a:r>
              <a:rPr lang="en-US" altLang="zh-CN" sz="2400" dirty="0">
                <a:solidFill>
                  <a:prstClr val="black"/>
                </a:solidFill>
                <a:cs typeface="华文细黑" panose="02010600040101010101" charset="-122"/>
              </a:rPr>
              <a:t>7</a:t>
            </a:r>
            <a:r>
              <a:rPr lang="zh-CN" altLang="en-US" sz="2400" dirty="0">
                <a:solidFill>
                  <a:prstClr val="black"/>
                </a:solidFill>
                <a:cs typeface="华文细黑" panose="02010600040101010101" charset="-122"/>
              </a:rPr>
              <a:t>：不要对每个依赖关系都建模</a:t>
            </a:r>
          </a:p>
          <a:p>
            <a:pPr marL="12700" lvl="0" indent="0">
              <a:lnSpc>
                <a:spcPct val="100000"/>
              </a:lnSpc>
              <a:spcBef>
                <a:spcPts val="720"/>
              </a:spcBef>
              <a:buNone/>
            </a:pPr>
            <a:r>
              <a:rPr lang="en-US" altLang="zh-CN" sz="2400" dirty="0">
                <a:solidFill>
                  <a:prstClr val="black"/>
                </a:solidFill>
                <a:cs typeface="华文细黑" panose="02010600040101010101" charset="-122"/>
              </a:rPr>
              <a:t>8</a:t>
            </a:r>
            <a:r>
              <a:rPr lang="zh-CN" altLang="en-US" sz="2400" dirty="0">
                <a:solidFill>
                  <a:prstClr val="black"/>
                </a:solidFill>
                <a:cs typeface="华文细黑" panose="02010600040101010101" charset="-122"/>
              </a:rPr>
              <a:t>：将子类放在父类的下方</a:t>
            </a:r>
          </a:p>
          <a:p>
            <a:pPr marL="12700" lvl="0" indent="0">
              <a:lnSpc>
                <a:spcPct val="100000"/>
              </a:lnSpc>
              <a:spcBef>
                <a:spcPts val="720"/>
              </a:spcBef>
              <a:buNone/>
            </a:pPr>
            <a:r>
              <a:rPr lang="en-US" altLang="zh-CN" sz="2400" dirty="0">
                <a:solidFill>
                  <a:prstClr val="black"/>
                </a:solidFill>
                <a:cs typeface="华文细黑" panose="02010600040101010101" charset="-122"/>
              </a:rPr>
              <a:t>9</a:t>
            </a:r>
            <a:r>
              <a:rPr lang="zh-CN" altLang="en-US" sz="2400" dirty="0">
                <a:solidFill>
                  <a:prstClr val="black"/>
                </a:solidFill>
                <a:cs typeface="华文细黑" panose="02010600040101010101" charset="-122"/>
              </a:rPr>
              <a:t>：小心基于数据的继承</a:t>
            </a:r>
          </a:p>
          <a:p>
            <a:pPr marL="12700" lvl="0" indent="0">
              <a:lnSpc>
                <a:spcPct val="100000"/>
              </a:lnSpc>
              <a:spcBef>
                <a:spcPts val="720"/>
              </a:spcBef>
              <a:buNone/>
            </a:pPr>
            <a:r>
              <a:rPr lang="en-US" altLang="zh-CN" sz="2400" dirty="0">
                <a:solidFill>
                  <a:prstClr val="black"/>
                </a:solidFill>
                <a:cs typeface="华文细黑" panose="02010600040101010101" charset="-122"/>
              </a:rPr>
              <a:t>10</a:t>
            </a:r>
            <a:r>
              <a:rPr lang="zh-CN" altLang="en-US" sz="2400" dirty="0">
                <a:solidFill>
                  <a:prstClr val="black"/>
                </a:solidFill>
                <a:cs typeface="华文细黑" panose="02010600040101010101" charset="-122"/>
              </a:rPr>
              <a:t>：按惯例是把整体画在部分的左边</a:t>
            </a:r>
          </a:p>
        </p:txBody>
      </p:sp>
      <p:sp>
        <p:nvSpPr>
          <p:cNvPr id="4" name="灯片编号占位符 3"/>
          <p:cNvSpPr>
            <a:spLocks noGrp="1"/>
          </p:cNvSpPr>
          <p:nvPr>
            <p:ph type="sldNum" sz="quarter" idx="12"/>
          </p:nvPr>
        </p:nvSpPr>
        <p:spPr/>
        <p:txBody>
          <a:bodyPr/>
          <a:lstStyle/>
          <a:p>
            <a:fld id="{74D2AB8B-5816-41F2-8B4B-CA5C3E4E6A65}" type="slidenum">
              <a:rPr lang="zh-CN" altLang="en-US" smtClean="0"/>
              <a:t>33</a:t>
            </a:fld>
            <a:endParaRPr lang="zh-CN" altLang="en-US"/>
          </a:p>
        </p:txBody>
      </p:sp>
      <p:sp>
        <p:nvSpPr>
          <p:cNvPr id="5" name="object 8"/>
          <p:cNvSpPr/>
          <p:nvPr/>
        </p:nvSpPr>
        <p:spPr>
          <a:xfrm>
            <a:off x="7381699" y="1619610"/>
            <a:ext cx="4022775" cy="1748579"/>
          </a:xfrm>
          <a:prstGeom prst="rect">
            <a:avLst/>
          </a:prstGeom>
          <a:blipFill>
            <a:blip r:embed="rId3" cstate="print"/>
            <a:stretch>
              <a:fillRect/>
            </a:stretch>
          </a:blipFill>
        </p:spPr>
        <p:txBody>
          <a:bodyPr wrap="square" lIns="0" tIns="0" rIns="0" bIns="0" rtlCol="0"/>
          <a:lstStyle/>
          <a:p>
            <a:endParaRPr/>
          </a:p>
        </p:txBody>
      </p:sp>
      <p:sp>
        <p:nvSpPr>
          <p:cNvPr id="6" name="object 9"/>
          <p:cNvSpPr/>
          <p:nvPr/>
        </p:nvSpPr>
        <p:spPr>
          <a:xfrm>
            <a:off x="6614936" y="3958561"/>
            <a:ext cx="5307807" cy="2391501"/>
          </a:xfrm>
          <a:prstGeom prst="rect">
            <a:avLst/>
          </a:prstGeom>
          <a:blipFill>
            <a:blip r:embed="rId4" cstate="print"/>
            <a:stretch>
              <a:fillRect/>
            </a:stretch>
          </a:blipFill>
        </p:spPr>
        <p:txBody>
          <a:bodyPr wrap="square" lIns="0" tIns="0" rIns="0" bIns="0" rtlCol="0"/>
          <a:lstStyle/>
          <a:p>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2"/>
            </p:custDataLst>
          </p:nvPr>
        </p:nvSpPr>
        <p:spPr>
          <a:xfrm>
            <a:off x="1219200" y="295752"/>
            <a:ext cx="9753600" cy="3694746"/>
          </a:xfrm>
          <a:prstGeom prst="rect">
            <a:avLst/>
          </a:prstGeom>
          <a:noFill/>
        </p:spPr>
        <p:txBody>
          <a:bodyPr vert="horz" wrap="square" rtlCol="0" anchor="ctr" anchorCtr="0">
            <a:noAutofit/>
          </a:bodyPr>
          <a:lstStyle/>
          <a:p>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生物学的分类体系中把企鹅归属为鸟类。我们模仿这个体系，让企鹅继承鸟这个类，而类“鸟”中有个方法</a:t>
            </a:r>
            <a:r>
              <a:rPr lang="en-US" altLang="zh-CN"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fly</a:t>
            </a:r>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，企鹅自然也继承了这个方法，可是企鹅不能飞，于是，我们在企鹅的类中覆盖了</a:t>
            </a:r>
            <a:r>
              <a:rPr lang="en-US" altLang="zh-CN"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fly</a:t>
            </a:r>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方法，告诉方法的调用者：企鹅是不会飞的。</a:t>
            </a:r>
            <a:endParaRPr lang="en-US" altLang="zh-CN"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a:p>
            <a:endParaRPr lang="en-US" altLang="zh-CN"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a:p>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请问上述做法违反了以下哪个原则？</a:t>
            </a:r>
          </a:p>
        </p:txBody>
      </p:sp>
      <p:sp>
        <p:nvSpPr>
          <p:cNvPr id="7" name="文本框 6"/>
          <p:cNvSpPr txBox="1"/>
          <p:nvPr>
            <p:custDataLst>
              <p:tags r:id="rId3"/>
            </p:custDataLst>
          </p:nvPr>
        </p:nvSpPr>
        <p:spPr>
          <a:xfrm>
            <a:off x="3025775" y="3103742"/>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依赖倒置原则</a:t>
            </a:r>
          </a:p>
        </p:txBody>
      </p:sp>
      <p:sp>
        <p:nvSpPr>
          <p:cNvPr id="8" name="文本框 7"/>
          <p:cNvSpPr txBox="1"/>
          <p:nvPr>
            <p:custDataLst>
              <p:tags r:id="rId4"/>
            </p:custDataLst>
          </p:nvPr>
        </p:nvSpPr>
        <p:spPr>
          <a:xfrm>
            <a:off x="3025775" y="3960992"/>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开闭原则</a:t>
            </a:r>
          </a:p>
        </p:txBody>
      </p:sp>
      <p:sp>
        <p:nvSpPr>
          <p:cNvPr id="9" name="文本框 8"/>
          <p:cNvSpPr txBox="1"/>
          <p:nvPr>
            <p:custDataLst>
              <p:tags r:id="rId5"/>
            </p:custDataLst>
          </p:nvPr>
        </p:nvSpPr>
        <p:spPr>
          <a:xfrm>
            <a:off x="3025775" y="4818242"/>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里氏替换原则</a:t>
            </a:r>
          </a:p>
        </p:txBody>
      </p:sp>
      <p:sp>
        <p:nvSpPr>
          <p:cNvPr id="10" name="文本框 9"/>
          <p:cNvSpPr txBox="1"/>
          <p:nvPr>
            <p:custDataLst>
              <p:tags r:id="rId6"/>
            </p:custDataLst>
          </p:nvPr>
        </p:nvSpPr>
        <p:spPr>
          <a:xfrm>
            <a:off x="3025775" y="5675492"/>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接口分离原则</a:t>
            </a:r>
          </a:p>
        </p:txBody>
      </p:sp>
      <p:sp>
        <p:nvSpPr>
          <p:cNvPr id="15" name="矩形: 圆角 14"/>
          <p:cNvSpPr/>
          <p:nvPr>
            <p:custDataLst>
              <p:tags r:id="rId7"/>
            </p:custDataLst>
          </p:nvPr>
        </p:nvSpPr>
        <p:spPr>
          <a:xfrm>
            <a:off x="6826250" y="2598996"/>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sp>
        <p:nvSpPr>
          <p:cNvPr id="22" name="矩形 21"/>
          <p:cNvSpPr/>
          <p:nvPr>
            <p:custDataLst>
              <p:tags r:id="rId8"/>
            </p:custDataLst>
          </p:nvPr>
        </p:nvSpPr>
        <p:spPr>
          <a:xfrm>
            <a:off x="12573000" y="0"/>
            <a:ext cx="3840480" cy="6858000"/>
          </a:xfrm>
          <a:prstGeom prst="rect">
            <a:avLst/>
          </a:prstGeom>
          <a:solidFill>
            <a:srgbClr val="FFFFFF"/>
          </a:solidFill>
          <a:ln w="12700" cmpd="sng">
            <a:solidFill>
              <a:srgbClr val="9B9B9B"/>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rgbClr val="FFFFFF"/>
              </a:solidFill>
            </a:endParaRPr>
          </a:p>
        </p:txBody>
      </p:sp>
      <p:sp>
        <p:nvSpPr>
          <p:cNvPr id="27" name="文本框 26"/>
          <p:cNvSpPr txBox="1"/>
          <p:nvPr>
            <p:custDataLst>
              <p:tags r:id="rId9"/>
            </p:custDataLst>
          </p:nvPr>
        </p:nvSpPr>
        <p:spPr>
          <a:xfrm>
            <a:off x="12661900" y="6326832"/>
            <a:ext cx="3662680" cy="461665"/>
          </a:xfrm>
          <a:prstGeom prst="rect">
            <a:avLst/>
          </a:prstGeom>
          <a:solidFill>
            <a:srgbClr val="FBFAEF"/>
          </a:solidFill>
          <a:ln w="12700">
            <a:noFill/>
          </a:ln>
          <a:extLst>
            <a:ext uri="{91240B29-F687-4F45-9708-019B960494DF}">
              <a14:hiddenLine xmlns:a14="http://schemas.microsoft.com/office/drawing/2010/main" w="12700">
                <a:solidFill>
                  <a:srgbClr val="FFFFFF"/>
                </a:solidFill>
              </a14:hiddenLine>
            </a:ext>
          </a:extLst>
        </p:spPr>
        <p:txBody>
          <a:bodyPr vert="horz" rtlCol="0" anchor="ctr">
            <a:spAutoFit/>
          </a:bodyPr>
          <a:lstStyle/>
          <a:p>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可为此题添加文本、图片、公式等解析，且需将内容全部放在本区域内。正常使用需</a:t>
            </a:r>
            <a:r>
              <a:rPr lang="en-US" altLang="zh-CN"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3.0</a:t>
            </a:r>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a:t>
            </a:r>
          </a:p>
        </p:txBody>
      </p:sp>
      <p:sp>
        <p:nvSpPr>
          <p:cNvPr id="28" name="文本框 27"/>
          <p:cNvSpPr txBox="1"/>
          <p:nvPr>
            <p:custDataLst>
              <p:tags r:id="rId10"/>
            </p:custDataLst>
          </p:nvPr>
        </p:nvSpPr>
        <p:spPr>
          <a:xfrm>
            <a:off x="12827000" y="635000"/>
            <a:ext cx="3332480" cy="5632311"/>
          </a:xfrm>
          <a:prstGeom prst="rect">
            <a:avLst/>
          </a:prstGeom>
          <a:noFill/>
        </p:spPr>
        <p:txBody>
          <a:bodyPr vert="horz" rtlCol="0" anchor="t" anchorCtr="0">
            <a:spAutoFit/>
          </a:bodyPr>
          <a:lstStyle/>
          <a:p>
            <a:r>
              <a:rPr lang="zh-CN" altLang="en-US" sz="2000" dirty="0">
                <a:latin typeface="黑体" panose="02010609060101010101" charset="-122"/>
                <a:cs typeface="黑体" panose="02010609060101010101" charset="-122"/>
              </a:rPr>
              <a:t>依赖关系应该是尽量依赖接口</a:t>
            </a:r>
            <a:r>
              <a:rPr lang="en-US" altLang="zh-CN" sz="2000" dirty="0">
                <a:latin typeface="黑体" panose="02010609060101010101" charset="-122"/>
                <a:cs typeface="黑体" panose="02010609060101010101" charset="-122"/>
              </a:rPr>
              <a:t>(</a:t>
            </a:r>
            <a:r>
              <a:rPr lang="zh-CN" altLang="en-US" sz="2000" dirty="0">
                <a:latin typeface="黑体" panose="02010609060101010101" charset="-122"/>
                <a:cs typeface="黑体" panose="02010609060101010101" charset="-122"/>
              </a:rPr>
              <a:t>或抽象类</a:t>
            </a:r>
            <a:r>
              <a:rPr lang="en-US" altLang="zh-CN" sz="2000" dirty="0">
                <a:latin typeface="黑体" panose="02010609060101010101" charset="-122"/>
                <a:cs typeface="黑体" panose="02010609060101010101" charset="-122"/>
              </a:rPr>
              <a:t>)</a:t>
            </a:r>
            <a:r>
              <a:rPr lang="zh-CN" altLang="en-US" sz="2000" dirty="0">
                <a:latin typeface="黑体" panose="02010609060101010101" charset="-122"/>
                <a:cs typeface="黑体" panose="02010609060101010101" charset="-122"/>
              </a:rPr>
              <a:t>，而不是依赖于具体类</a:t>
            </a:r>
            <a:endParaRPr lang="en-US" altLang="zh-CN" sz="2000" dirty="0"/>
          </a:p>
          <a:p>
            <a:r>
              <a:rPr lang="zh-CN" altLang="en-US" sz="2000" dirty="0"/>
              <a:t>开闭：软件实体要在扩展性方面保持开放，而在更改行方面应该是保持封闭的。也就是说应该尽量使得软件系统是可扩展的，而在扩展的过程中，不需要对源代码进行修改。为了实现开闭原则，我们就要尽可能多的使用接口进行封装，采用抽象机制，运用多态技术。</a:t>
            </a:r>
            <a:endParaRPr lang="en-US" altLang="zh-CN" sz="2000" dirty="0"/>
          </a:p>
          <a:p>
            <a:r>
              <a:rPr lang="zh-CN" altLang="en-US" sz="2000" dirty="0"/>
              <a:t>里氏替换原则，即任何基类出现的地方都应该可以无差别的使用子类替换。</a:t>
            </a:r>
            <a:endParaRPr lang="en-US" altLang="zh-CN" sz="2000" dirty="0"/>
          </a:p>
          <a:p>
            <a:r>
              <a:rPr lang="zh-CN" altLang="en-US" sz="2000" dirty="0"/>
              <a:t>设计时要建立比较小的接口代替通用的接口</a:t>
            </a:r>
            <a:endPar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26" name="组合 25"/>
          <p:cNvGrpSpPr/>
          <p:nvPr>
            <p:custDataLst>
              <p:tags r:id="rId11"/>
            </p:custDataLst>
          </p:nvPr>
        </p:nvGrpSpPr>
        <p:grpSpPr>
          <a:xfrm>
            <a:off x="12585700" y="0"/>
            <a:ext cx="3815080" cy="647700"/>
            <a:chOff x="12585700" y="0"/>
            <a:chExt cx="3815080" cy="647700"/>
          </a:xfrm>
        </p:grpSpPr>
        <p:sp>
          <p:nvSpPr>
            <p:cNvPr id="23" name="RemarkBack"/>
            <p:cNvSpPr/>
            <p:nvPr>
              <p:custDataLst>
                <p:tags r:id="rId26"/>
              </p:custDataLst>
            </p:nvPr>
          </p:nvSpPr>
          <p:spPr>
            <a:xfrm>
              <a:off x="12585700" y="12700"/>
              <a:ext cx="381508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RemarkBlock"/>
            <p:cNvSpPr/>
            <p:nvPr>
              <p:custDataLst>
                <p:tags r:id="rId27"/>
              </p:custDataLst>
            </p:nvPr>
          </p:nvSpPr>
          <p:spPr>
            <a:xfrm>
              <a:off x="12585700" y="1270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RemarkTitleText"/>
            <p:cNvSpPr txBox="1"/>
            <p:nvPr>
              <p:custDataLst>
                <p:tags r:id="rId28"/>
              </p:custDataLst>
            </p:nvPr>
          </p:nvSpPr>
          <p:spPr>
            <a:xfrm>
              <a:off x="12827000" y="0"/>
              <a:ext cx="1905000" cy="635000"/>
            </a:xfrm>
            <a:prstGeom prst="rect">
              <a:avLst/>
            </a:prstGeom>
            <a:noFill/>
          </p:spPr>
          <p:txBody>
            <a:bodyPr vert="horz" wrap="none" rtlCol="0" anchor="ctr" anchorCtr="0">
              <a:noAutofit/>
            </a:bodyPr>
            <a:lstStyle/>
            <a:p>
              <a:r>
                <a:rPr lang="zh-CN" altLang="en-US">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答案解析</a:t>
              </a:r>
            </a:p>
          </p:txBody>
        </p:sp>
      </p:grpSp>
      <p:grpSp>
        <p:nvGrpSpPr>
          <p:cNvPr id="21" name="组合 20"/>
          <p:cNvGrpSpPr/>
          <p:nvPr>
            <p:custDataLst>
              <p:tags r:id="rId12"/>
            </p:custDataLst>
          </p:nvPr>
        </p:nvGrpSpPr>
        <p:grpSpPr>
          <a:xfrm>
            <a:off x="12585700" y="0"/>
            <a:ext cx="3813810" cy="647700"/>
            <a:chOff x="19820" y="0"/>
            <a:chExt cx="6006" cy="1020"/>
          </a:xfrm>
        </p:grpSpPr>
        <p:sp>
          <p:nvSpPr>
            <p:cNvPr id="2" name="RemarkBack"/>
            <p:cNvSpPr/>
            <p:nvPr>
              <p:custDataLst>
                <p:tags r:id="rId23"/>
              </p:custDataLst>
            </p:nvPr>
          </p:nvSpPr>
          <p:spPr>
            <a:xfrm>
              <a:off x="19820" y="20"/>
              <a:ext cx="6007" cy="1000"/>
            </a:xfrm>
            <a:prstGeom prst="rect">
              <a:avLst/>
            </a:prstGeom>
            <a:solidFill>
              <a:srgbClr val="F6F7F8"/>
            </a:solidFill>
            <a:ln w="12700" cap="flat" cmpd="sng" algn="ctr">
              <a:noFill/>
              <a:prstDash val="solid"/>
              <a:miter lim="800000"/>
            </a:ln>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RemarkBlock"/>
            <p:cNvSpPr/>
            <p:nvPr>
              <p:custDataLst>
                <p:tags r:id="rId24"/>
              </p:custDataLst>
            </p:nvPr>
          </p:nvSpPr>
          <p:spPr>
            <a:xfrm>
              <a:off x="19820" y="20"/>
              <a:ext cx="300" cy="1000"/>
            </a:xfrm>
            <a:prstGeom prst="rect">
              <a:avLst/>
            </a:prstGeom>
            <a:solidFill>
              <a:srgbClr val="639EF4"/>
            </a:solidFill>
            <a:ln w="12700" cap="flat" cmpd="sng" algn="ctr">
              <a:noFill/>
              <a:prstDash val="solid"/>
              <a:miter lim="800000"/>
            </a:ln>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RemarkTitleText"/>
            <p:cNvSpPr txBox="1"/>
            <p:nvPr>
              <p:custDataLst>
                <p:tags r:id="rId25"/>
              </p:custDataLst>
            </p:nvPr>
          </p:nvSpPr>
          <p:spPr>
            <a:xfrm>
              <a:off x="20200" y="0"/>
              <a:ext cx="3000" cy="1000"/>
            </a:xfrm>
            <a:prstGeom prst="rect">
              <a:avLst/>
            </a:prstGeom>
            <a:noFill/>
          </p:spPr>
          <p:txBody>
            <a:bodyPr wrap="none" rtlCol="0" anchor="ctr" anchorCtr="0">
              <a:noAutofit/>
            </a:bodyPr>
            <a:lstStyle/>
            <a:p>
              <a:pPr lvl="0" algn="l">
                <a:buNone/>
              </a:pPr>
              <a:r>
                <a:rPr lang="zh-CN" altLang="en-US">
                  <a:solidFill>
                    <a:srgbClr val="000000"/>
                  </a:solidFill>
                  <a:latin typeface="微软雅黑" panose="020B0503020204020204" pitchFamily="34" charset="-122"/>
                  <a:ea typeface="微软雅黑" panose="020B0503020204020204" pitchFamily="34" charset="-122"/>
                </a:rPr>
                <a:t>答案解析</a:t>
              </a:r>
            </a:p>
          </p:txBody>
        </p:sp>
      </p:grpSp>
      <p:grpSp>
        <p:nvGrpSpPr>
          <p:cNvPr id="32" name="组合 31"/>
          <p:cNvGrpSpPr/>
          <p:nvPr>
            <p:custDataLst>
              <p:tags r:id="rId13"/>
            </p:custDataLst>
          </p:nvPr>
        </p:nvGrpSpPr>
        <p:grpSpPr>
          <a:xfrm>
            <a:off x="12585700" y="0"/>
            <a:ext cx="3815080" cy="647700"/>
            <a:chOff x="19820" y="0"/>
            <a:chExt cx="6008" cy="1020"/>
          </a:xfrm>
        </p:grpSpPr>
        <p:sp>
          <p:nvSpPr>
            <p:cNvPr id="29" name="RemarkBack"/>
            <p:cNvSpPr/>
            <p:nvPr>
              <p:custDataLst>
                <p:tags r:id="rId20"/>
              </p:custDataLst>
            </p:nvPr>
          </p:nvSpPr>
          <p:spPr>
            <a:xfrm>
              <a:off x="19820" y="20"/>
              <a:ext cx="6008" cy="1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RemarkBlock"/>
            <p:cNvSpPr/>
            <p:nvPr>
              <p:custDataLst>
                <p:tags r:id="rId21"/>
              </p:custDataLst>
            </p:nvPr>
          </p:nvSpPr>
          <p:spPr>
            <a:xfrm>
              <a:off x="19820" y="20"/>
              <a:ext cx="300" cy="1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RemarkTitleText"/>
            <p:cNvSpPr txBox="1"/>
            <p:nvPr>
              <p:custDataLst>
                <p:tags r:id="rId22"/>
              </p:custDataLst>
            </p:nvPr>
          </p:nvSpPr>
          <p:spPr>
            <a:xfrm>
              <a:off x="20200" y="0"/>
              <a:ext cx="3000" cy="1000"/>
            </a:xfrm>
            <a:prstGeom prst="rect">
              <a:avLst/>
            </a:prstGeom>
            <a:noFill/>
          </p:spPr>
          <p:txBody>
            <a:bodyPr vert="horz" wrap="none" rtlCol="0" anchor="ctr" anchorCtr="0">
              <a:noAutofit/>
            </a:bodyPr>
            <a:lstStyle/>
            <a:p>
              <a:r>
                <a:rPr lang="zh-CN" altLang="en-US">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答案解析</a:t>
              </a:r>
            </a:p>
          </p:txBody>
        </p:sp>
      </p:grpSp>
      <p:grpSp>
        <p:nvGrpSpPr>
          <p:cNvPr id="20" name="组合 19"/>
          <p:cNvGrpSpPr/>
          <p:nvPr>
            <p:custDataLst>
              <p:tags r:id="rId14"/>
            </p:custDataLst>
          </p:nvPr>
        </p:nvGrpSpPr>
        <p:grpSpPr>
          <a:xfrm>
            <a:off x="0" y="0"/>
            <a:ext cx="12192000" cy="635000"/>
            <a:chOff x="0" y="0"/>
            <a:chExt cx="12192000" cy="635000"/>
          </a:xfrm>
        </p:grpSpPr>
        <p:sp>
          <p:nvSpPr>
            <p:cNvPr id="16" name="TitleBackground"/>
            <p:cNvSpPr/>
            <p:nvPr>
              <p:custDataLst>
                <p:tags r:id="rId16"/>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p:cNvSpPr/>
            <p:nvPr>
              <p:custDataLst>
                <p:tags r:id="rId17"/>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p:cNvSpPr txBox="1"/>
            <p:nvPr>
              <p:custDataLst>
                <p:tags r:id="rId18"/>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9" name="TipText"/>
            <p:cNvSpPr txBox="1"/>
            <p:nvPr>
              <p:custDataLst>
                <p:tags r:id="rId19"/>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5" name="图片 4"/>
          <p:cNvPicPr/>
          <p:nvPr>
            <p:custDataLst>
              <p:tags r:id="rId15"/>
            </p:custDataLst>
          </p:nvPr>
        </p:nvPicPr>
        <p:blipFill>
          <a:blip r:embed="rId31">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33" name="文本框 32">
            <a:extLst>
              <a:ext uri="{FF2B5EF4-FFF2-40B4-BE49-F238E27FC236}">
                <a16:creationId xmlns:a16="http://schemas.microsoft.com/office/drawing/2014/main" id="{F8A1E941-5B79-39DC-C107-F532C0B4FBF3}"/>
              </a:ext>
            </a:extLst>
          </p:cNvPr>
          <p:cNvSpPr txBox="1"/>
          <p:nvPr/>
        </p:nvSpPr>
        <p:spPr>
          <a:xfrm>
            <a:off x="2263025" y="3158768"/>
            <a:ext cx="405880" cy="3108543"/>
          </a:xfrm>
          <a:prstGeom prst="rect">
            <a:avLst/>
          </a:prstGeom>
          <a:noFill/>
        </p:spPr>
        <p:txBody>
          <a:bodyPr wrap="none" rtlCol="0">
            <a:spAutoFit/>
          </a:bodyPr>
          <a:lstStyle/>
          <a:p>
            <a:r>
              <a:rPr lang="en-US" altLang="zh-CN" sz="2800" dirty="0"/>
              <a:t>A</a:t>
            </a:r>
          </a:p>
          <a:p>
            <a:endParaRPr lang="en-US" altLang="zh-CN" sz="2800" dirty="0"/>
          </a:p>
          <a:p>
            <a:r>
              <a:rPr lang="en-US" altLang="zh-CN" sz="2800" dirty="0"/>
              <a:t>B</a:t>
            </a:r>
          </a:p>
          <a:p>
            <a:endParaRPr lang="en-US" altLang="zh-CN" sz="2800" dirty="0"/>
          </a:p>
          <a:p>
            <a:r>
              <a:rPr lang="en-US" altLang="zh-CN" sz="2800" dirty="0"/>
              <a:t>C</a:t>
            </a:r>
          </a:p>
          <a:p>
            <a:endParaRPr lang="en-US" altLang="zh-CN" sz="2800" dirty="0"/>
          </a:p>
          <a:p>
            <a:r>
              <a:rPr lang="en-US" altLang="zh-CN" sz="2800" dirty="0"/>
              <a:t>D</a:t>
            </a:r>
            <a:endParaRPr lang="zh-CN" altLang="en-US" sz="2800" dirty="0"/>
          </a:p>
        </p:txBody>
      </p:sp>
    </p:spTree>
    <p:custDataLst>
      <p:tags r:id="rId1"/>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关于</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UML</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类图中泛化关系建模，不正确的说法是？</a:t>
            </a:r>
          </a:p>
        </p:txBody>
      </p:sp>
      <p:sp>
        <p:nvSpPr>
          <p:cNvPr id="5" name="文本框 4"/>
          <p:cNvSpPr txBox="1"/>
          <p:nvPr>
            <p:custDataLst>
              <p:tags r:id="rId3"/>
            </p:custDataLst>
          </p:nvPr>
        </p:nvSpPr>
        <p:spPr>
          <a:xfrm>
            <a:off x="2392680" y="2202180"/>
            <a:ext cx="926592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定义泛化关系的好处是当环境发生变化时，便于添加新的子类</a:t>
            </a:r>
          </a:p>
        </p:txBody>
      </p:sp>
      <p:sp>
        <p:nvSpPr>
          <p:cNvPr id="6" name="文本框 5"/>
          <p:cNvSpPr txBox="1"/>
          <p:nvPr>
            <p:custDataLst>
              <p:tags r:id="rId4"/>
            </p:custDataLst>
          </p:nvPr>
        </p:nvSpPr>
        <p:spPr>
          <a:xfrm>
            <a:off x="2392679" y="3059430"/>
            <a:ext cx="9167949"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当某个类中，存在属性和操作略有不同的子类时，应定义泛化关系</a:t>
            </a:r>
          </a:p>
        </p:txBody>
      </p:sp>
      <p:sp>
        <p:nvSpPr>
          <p:cNvPr id="7" name="文本框 6"/>
          <p:cNvSpPr txBox="1"/>
          <p:nvPr>
            <p:custDataLst>
              <p:tags r:id="rId5"/>
            </p:custDataLst>
          </p:nvPr>
        </p:nvSpPr>
        <p:spPr>
          <a:xfrm>
            <a:off x="2392680" y="3916680"/>
            <a:ext cx="9167948"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当现有的多个类具有公共属性和方法时，可以定义一个父类让它们共同继承</a:t>
            </a:r>
          </a:p>
        </p:txBody>
      </p:sp>
      <p:sp>
        <p:nvSpPr>
          <p:cNvPr id="8" name="文本框 7"/>
          <p:cNvSpPr txBox="1"/>
          <p:nvPr>
            <p:custDataLst>
              <p:tags r:id="rId6"/>
            </p:custDataLst>
          </p:nvPr>
        </p:nvSpPr>
        <p:spPr>
          <a:xfrm>
            <a:off x="2392680" y="4773930"/>
            <a:ext cx="8972006"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关联关系也可以用于定义分类关系，可以替代泛化关系</a:t>
            </a:r>
          </a:p>
        </p:txBody>
      </p:sp>
      <p:sp>
        <p:nvSpPr>
          <p:cNvPr id="13" name="矩形: 圆角 12"/>
          <p:cNvSpPr/>
          <p:nvPr>
            <p:custDataLst>
              <p:tags r:id="rId7"/>
            </p:custDataLst>
          </p:nvPr>
        </p:nvSpPr>
        <p:spPr>
          <a:xfrm>
            <a:off x="8752115" y="1535509"/>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grpSp>
        <p:nvGrpSpPr>
          <p:cNvPr id="18" name="组合 17"/>
          <p:cNvGrpSpPr/>
          <p:nvPr>
            <p:custDataLst>
              <p:tags r:id="rId8"/>
            </p:custDataLst>
          </p:nvPr>
        </p:nvGrpSpPr>
        <p:grpSpPr>
          <a:xfrm>
            <a:off x="0" y="0"/>
            <a:ext cx="12192000" cy="635000"/>
            <a:chOff x="0" y="0"/>
            <a:chExt cx="12192000" cy="635000"/>
          </a:xfrm>
        </p:grpSpPr>
        <p:sp>
          <p:nvSpPr>
            <p:cNvPr id="14" name="TitleBackground"/>
            <p:cNvSpPr/>
            <p:nvPr>
              <p:custDataLst>
                <p:tags r:id="rId10"/>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7" name="TipText"/>
            <p:cNvSpPr txBox="1"/>
            <p:nvPr>
              <p:custDataLst>
                <p:tags r:id="rId13"/>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9"/>
            </p:custDataLst>
          </p:nvPr>
        </p:nvPicPr>
        <p:blipFill>
          <a:blip r:embed="rId16">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2" name="文本框 1">
            <a:extLst>
              <a:ext uri="{FF2B5EF4-FFF2-40B4-BE49-F238E27FC236}">
                <a16:creationId xmlns:a16="http://schemas.microsoft.com/office/drawing/2014/main" id="{FAF3269D-9A1C-C197-1471-DAD0DCA5E701}"/>
              </a:ext>
            </a:extLst>
          </p:cNvPr>
          <p:cNvSpPr txBox="1"/>
          <p:nvPr/>
        </p:nvSpPr>
        <p:spPr>
          <a:xfrm>
            <a:off x="1706879" y="2308325"/>
            <a:ext cx="405880" cy="3108543"/>
          </a:xfrm>
          <a:prstGeom prst="rect">
            <a:avLst/>
          </a:prstGeom>
          <a:noFill/>
        </p:spPr>
        <p:txBody>
          <a:bodyPr wrap="none" rtlCol="0">
            <a:spAutoFit/>
          </a:bodyPr>
          <a:lstStyle/>
          <a:p>
            <a:r>
              <a:rPr lang="en-US" altLang="zh-CN" sz="2800" dirty="0"/>
              <a:t>A</a:t>
            </a:r>
          </a:p>
          <a:p>
            <a:endParaRPr lang="en-US" altLang="zh-CN" sz="2800" dirty="0"/>
          </a:p>
          <a:p>
            <a:r>
              <a:rPr lang="en-US" altLang="zh-CN" sz="2800" dirty="0"/>
              <a:t>B</a:t>
            </a:r>
          </a:p>
          <a:p>
            <a:endParaRPr lang="en-US" altLang="zh-CN" sz="2800" dirty="0"/>
          </a:p>
          <a:p>
            <a:r>
              <a:rPr lang="en-US" altLang="zh-CN" sz="2800" dirty="0"/>
              <a:t>C</a:t>
            </a:r>
          </a:p>
          <a:p>
            <a:endParaRPr lang="en-US" altLang="zh-CN" sz="2800" dirty="0"/>
          </a:p>
          <a:p>
            <a:r>
              <a:rPr lang="en-US" altLang="zh-CN" sz="2800" dirty="0"/>
              <a:t>D</a:t>
            </a:r>
            <a:endParaRPr lang="zh-CN" altLang="en-US" sz="2800" dirty="0"/>
          </a:p>
        </p:txBody>
      </p:sp>
    </p:spTree>
    <p:custDataLst>
      <p:tags r:id="rId1"/>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331310"/>
            <a:ext cx="9144000" cy="2387600"/>
          </a:xfrm>
        </p:spPr>
        <p:txBody>
          <a:bodyPr>
            <a:normAutofit/>
          </a:bodyPr>
          <a:lstStyle/>
          <a:p>
            <a:r>
              <a:rPr lang="zh-CN" altLang="en-US" dirty="0"/>
              <a:t>第</a:t>
            </a:r>
            <a:r>
              <a:rPr lang="en-US" altLang="zh-CN" dirty="0"/>
              <a:t>4.3</a:t>
            </a:r>
            <a:r>
              <a:rPr lang="zh-CN" altLang="en-US" dirty="0"/>
              <a:t>节 </a:t>
            </a:r>
            <a:r>
              <a:rPr lang="zh-CN" altLang="en-US" spc="-5" dirty="0"/>
              <a:t>交互行为建模</a:t>
            </a:r>
            <a:br>
              <a:rPr lang="en-US" altLang="zh-CN" dirty="0"/>
            </a:br>
            <a:r>
              <a:rPr lang="en-US" altLang="zh-CN" dirty="0"/>
              <a:t>Modelling Interactions</a:t>
            </a:r>
            <a:endParaRPr lang="zh-CN" altLang="en-US" dirty="0"/>
          </a:p>
        </p:txBody>
      </p:sp>
      <p:sp>
        <p:nvSpPr>
          <p:cNvPr id="4" name="副标题 2"/>
          <p:cNvSpPr>
            <a:spLocks noGrp="1"/>
          </p:cNvSpPr>
          <p:nvPr>
            <p:ph type="subTitle" idx="1"/>
          </p:nvPr>
        </p:nvSpPr>
        <p:spPr>
          <a:xfrm>
            <a:off x="1524000" y="4211637"/>
            <a:ext cx="9144000" cy="2130577"/>
          </a:xfrm>
        </p:spPr>
        <p:txBody>
          <a:bodyPr anchor="ctr">
            <a:normAutofit fontScale="92500" lnSpcReduction="20000"/>
          </a:bodyPr>
          <a:lstStyle/>
          <a:p>
            <a:r>
              <a:rPr lang="zh-CN" altLang="en-US" dirty="0"/>
              <a:t>李起成</a:t>
            </a:r>
            <a:endParaRPr lang="en-US" altLang="zh-CN" dirty="0"/>
          </a:p>
          <a:p>
            <a:r>
              <a:rPr lang="en-US" altLang="zh-CN" dirty="0"/>
              <a:t>College of</a:t>
            </a:r>
            <a:r>
              <a:rPr lang="zh-CN" altLang="en-US" dirty="0"/>
              <a:t> </a:t>
            </a:r>
            <a:r>
              <a:rPr lang="en-US" altLang="zh-CN" dirty="0"/>
              <a:t>Computer</a:t>
            </a:r>
            <a:r>
              <a:rPr lang="zh-CN" altLang="en-US" dirty="0"/>
              <a:t> </a:t>
            </a:r>
            <a:r>
              <a:rPr lang="en-US" altLang="zh-CN" dirty="0"/>
              <a:t>Science</a:t>
            </a:r>
          </a:p>
          <a:p>
            <a:r>
              <a:rPr lang="en-US" altLang="zh-CN" dirty="0"/>
              <a:t>Nankai</a:t>
            </a:r>
            <a:r>
              <a:rPr lang="zh-CN" altLang="en-US" dirty="0"/>
              <a:t> </a:t>
            </a:r>
            <a:r>
              <a:rPr lang="en-US" altLang="zh-CN" dirty="0"/>
              <a:t>University</a:t>
            </a:r>
          </a:p>
          <a:p>
            <a:endParaRPr lang="en-US" altLang="zh-CN" dirty="0"/>
          </a:p>
          <a:p>
            <a:r>
              <a:rPr lang="en-US" altLang="zh-CN" i="1" dirty="0"/>
              <a:t>Slides adapted from materials by Prof. </a:t>
            </a:r>
            <a:r>
              <a:rPr lang="en-US" altLang="zh-CN" i="1" dirty="0" err="1"/>
              <a:t>Qiang</a:t>
            </a:r>
            <a:r>
              <a:rPr lang="en-US" altLang="zh-CN" i="1" dirty="0"/>
              <a:t> Liu (Tsing Hua University) and </a:t>
            </a:r>
            <a:r>
              <a:rPr lang="en-US" altLang="en-US" i="1" dirty="0"/>
              <a:t>Ivan </a:t>
            </a:r>
            <a:r>
              <a:rPr lang="en-US" altLang="en-US" i="1" dirty="0" err="1"/>
              <a:t>Marsic</a:t>
            </a:r>
            <a:r>
              <a:rPr lang="en-US" altLang="en-US" i="1" dirty="0"/>
              <a:t> (</a:t>
            </a:r>
            <a:r>
              <a:rPr lang="en-US" altLang="en-US" i="1" dirty="0" err="1"/>
              <a:t>Rugers</a:t>
            </a:r>
            <a:r>
              <a:rPr lang="en-US" altLang="en-US" i="1" dirty="0"/>
              <a:t> University)</a:t>
            </a:r>
            <a:endParaRPr lang="zh-CN" altLang="en-US" i="1" dirty="0"/>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72729" y="131261"/>
            <a:ext cx="1846542" cy="180037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99" advTm="15411"/>
    </mc:Choice>
    <mc:Fallback xmlns="">
      <p:transition spd="slow" advTm="15411"/>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2056742" y="1423935"/>
            <a:ext cx="8940363" cy="5068940"/>
          </a:xfrm>
          <a:prstGeom prst="rect">
            <a:avLst/>
          </a:prstGeom>
          <a:blipFill>
            <a:blip r:embed="rId3" cstate="print"/>
            <a:stretch>
              <a:fillRect/>
            </a:stretch>
          </a:blipFill>
        </p:spPr>
        <p:txBody>
          <a:bodyPr wrap="square" lIns="0" tIns="0" rIns="0" bIns="0" rtlCol="0"/>
          <a:lstStyle/>
          <a:p>
            <a:endParaRPr/>
          </a:p>
        </p:txBody>
      </p:sp>
      <p:sp>
        <p:nvSpPr>
          <p:cNvPr id="4" name="object 4"/>
          <p:cNvSpPr txBox="1"/>
          <p:nvPr/>
        </p:nvSpPr>
        <p:spPr>
          <a:xfrm>
            <a:off x="11126003" y="6430888"/>
            <a:ext cx="154305"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E7E6E6"/>
                </a:solidFill>
                <a:latin typeface="Calibri" panose="020F0502020204030204"/>
                <a:cs typeface="Calibri" panose="020F0502020204030204"/>
              </a:rPr>
              <a:t>1</a:t>
            </a:r>
            <a:endParaRPr sz="2000">
              <a:latin typeface="Calibri" panose="020F0502020204030204"/>
              <a:cs typeface="Calibri" panose="020F0502020204030204"/>
            </a:endParaRPr>
          </a:p>
        </p:txBody>
      </p:sp>
      <p:sp>
        <p:nvSpPr>
          <p:cNvPr id="5" name="object 5"/>
          <p:cNvSpPr/>
          <p:nvPr/>
        </p:nvSpPr>
        <p:spPr>
          <a:xfrm>
            <a:off x="1270339" y="5246822"/>
            <a:ext cx="1584325" cy="792480"/>
          </a:xfrm>
          <a:custGeom>
            <a:avLst/>
            <a:gdLst/>
            <a:ahLst/>
            <a:cxnLst/>
            <a:rect l="l" t="t" r="r" b="b"/>
            <a:pathLst>
              <a:path w="1584325" h="792479">
                <a:moveTo>
                  <a:pt x="1452158" y="0"/>
                </a:moveTo>
                <a:lnTo>
                  <a:pt x="0" y="0"/>
                </a:lnTo>
                <a:lnTo>
                  <a:pt x="0" y="792087"/>
                </a:lnTo>
                <a:lnTo>
                  <a:pt x="1584175" y="792087"/>
                </a:lnTo>
                <a:lnTo>
                  <a:pt x="1584175" y="132016"/>
                </a:lnTo>
                <a:lnTo>
                  <a:pt x="1577445" y="90289"/>
                </a:lnTo>
                <a:lnTo>
                  <a:pt x="1558704" y="54049"/>
                </a:lnTo>
                <a:lnTo>
                  <a:pt x="1530126" y="25471"/>
                </a:lnTo>
                <a:lnTo>
                  <a:pt x="1493886" y="6730"/>
                </a:lnTo>
                <a:lnTo>
                  <a:pt x="1452158" y="0"/>
                </a:lnTo>
                <a:close/>
              </a:path>
            </a:pathLst>
          </a:custGeom>
          <a:solidFill>
            <a:srgbClr val="FFEAA9"/>
          </a:solidFill>
        </p:spPr>
        <p:txBody>
          <a:bodyPr wrap="square" lIns="0" tIns="0" rIns="0" bIns="0" rtlCol="0"/>
          <a:lstStyle/>
          <a:p>
            <a:endParaRPr/>
          </a:p>
        </p:txBody>
      </p:sp>
      <p:sp>
        <p:nvSpPr>
          <p:cNvPr id="6" name="object 6"/>
          <p:cNvSpPr/>
          <p:nvPr/>
        </p:nvSpPr>
        <p:spPr>
          <a:xfrm>
            <a:off x="1270339" y="5246822"/>
            <a:ext cx="1584325" cy="792480"/>
          </a:xfrm>
          <a:custGeom>
            <a:avLst/>
            <a:gdLst/>
            <a:ahLst/>
            <a:cxnLst/>
            <a:rect l="l" t="t" r="r" b="b"/>
            <a:pathLst>
              <a:path w="1584325" h="792479">
                <a:moveTo>
                  <a:pt x="0" y="0"/>
                </a:moveTo>
                <a:lnTo>
                  <a:pt x="1452158" y="0"/>
                </a:lnTo>
                <a:lnTo>
                  <a:pt x="1493886" y="6730"/>
                </a:lnTo>
                <a:lnTo>
                  <a:pt x="1530126" y="25471"/>
                </a:lnTo>
                <a:lnTo>
                  <a:pt x="1558703" y="54049"/>
                </a:lnTo>
                <a:lnTo>
                  <a:pt x="1577445" y="90289"/>
                </a:lnTo>
                <a:lnTo>
                  <a:pt x="1584175" y="132016"/>
                </a:lnTo>
                <a:lnTo>
                  <a:pt x="1584175" y="792087"/>
                </a:lnTo>
                <a:lnTo>
                  <a:pt x="0" y="792087"/>
                </a:lnTo>
                <a:lnTo>
                  <a:pt x="0" y="0"/>
                </a:lnTo>
                <a:close/>
              </a:path>
            </a:pathLst>
          </a:custGeom>
          <a:ln w="28574">
            <a:solidFill>
              <a:srgbClr val="F2913F"/>
            </a:solidFill>
          </a:ln>
        </p:spPr>
        <p:txBody>
          <a:bodyPr wrap="square" lIns="0" tIns="0" rIns="0" bIns="0" rtlCol="0"/>
          <a:lstStyle/>
          <a:p>
            <a:endParaRPr/>
          </a:p>
        </p:txBody>
      </p:sp>
      <p:sp>
        <p:nvSpPr>
          <p:cNvPr id="7" name="object 7"/>
          <p:cNvSpPr/>
          <p:nvPr/>
        </p:nvSpPr>
        <p:spPr>
          <a:xfrm>
            <a:off x="1558371" y="3230598"/>
            <a:ext cx="1152525" cy="0"/>
          </a:xfrm>
          <a:custGeom>
            <a:avLst/>
            <a:gdLst/>
            <a:ahLst/>
            <a:cxnLst/>
            <a:rect l="l" t="t" r="r" b="b"/>
            <a:pathLst>
              <a:path w="1152525">
                <a:moveTo>
                  <a:pt x="1152127" y="0"/>
                </a:moveTo>
                <a:lnTo>
                  <a:pt x="0" y="1"/>
                </a:lnTo>
              </a:path>
            </a:pathLst>
          </a:custGeom>
          <a:ln w="28574">
            <a:solidFill>
              <a:srgbClr val="941100"/>
            </a:solidFill>
          </a:ln>
        </p:spPr>
        <p:txBody>
          <a:bodyPr wrap="square" lIns="0" tIns="0" rIns="0" bIns="0" rtlCol="0"/>
          <a:lstStyle/>
          <a:p>
            <a:endParaRPr/>
          </a:p>
        </p:txBody>
      </p:sp>
      <p:sp>
        <p:nvSpPr>
          <p:cNvPr id="8" name="object 8"/>
          <p:cNvSpPr/>
          <p:nvPr/>
        </p:nvSpPr>
        <p:spPr>
          <a:xfrm>
            <a:off x="1558371" y="3230598"/>
            <a:ext cx="0" cy="2016760"/>
          </a:xfrm>
          <a:custGeom>
            <a:avLst/>
            <a:gdLst/>
            <a:ahLst/>
            <a:cxnLst/>
            <a:rect l="l" t="t" r="r" b="b"/>
            <a:pathLst>
              <a:path h="2016760">
                <a:moveTo>
                  <a:pt x="0" y="0"/>
                </a:moveTo>
                <a:lnTo>
                  <a:pt x="0" y="2016223"/>
                </a:lnTo>
              </a:path>
            </a:pathLst>
          </a:custGeom>
          <a:ln w="28574">
            <a:solidFill>
              <a:srgbClr val="941100"/>
            </a:solidFill>
          </a:ln>
        </p:spPr>
        <p:txBody>
          <a:bodyPr wrap="square" lIns="0" tIns="0" rIns="0" bIns="0" rtlCol="0"/>
          <a:lstStyle/>
          <a:p>
            <a:endParaRPr/>
          </a:p>
        </p:txBody>
      </p:sp>
      <p:sp>
        <p:nvSpPr>
          <p:cNvPr id="9" name="object 9"/>
          <p:cNvSpPr txBox="1"/>
          <p:nvPr/>
        </p:nvSpPr>
        <p:spPr>
          <a:xfrm>
            <a:off x="1178458" y="5270743"/>
            <a:ext cx="1202690" cy="889986"/>
          </a:xfrm>
          <a:prstGeom prst="rect">
            <a:avLst/>
          </a:prstGeom>
        </p:spPr>
        <p:txBody>
          <a:bodyPr vert="horz" wrap="square" lIns="0" tIns="27939" rIns="0" bIns="0" rtlCol="0">
            <a:spAutoFit/>
          </a:bodyPr>
          <a:lstStyle/>
          <a:p>
            <a:pPr marL="387985" marR="5080" indent="88900">
              <a:lnSpc>
                <a:spcPts val="2100"/>
              </a:lnSpc>
              <a:spcBef>
                <a:spcPts val="220"/>
              </a:spcBef>
            </a:pPr>
            <a:r>
              <a:rPr sz="1800" b="1" spc="-5" dirty="0">
                <a:latin typeface="Calibri" panose="020F0502020204030204"/>
                <a:cs typeface="Calibri" panose="020F0502020204030204"/>
              </a:rPr>
              <a:t>Proﬁle  </a:t>
            </a:r>
            <a:r>
              <a:rPr sz="1800" b="1" dirty="0">
                <a:latin typeface="Calibri" panose="020F0502020204030204"/>
                <a:cs typeface="Calibri" panose="020F0502020204030204"/>
              </a:rPr>
              <a:t>D</a:t>
            </a:r>
            <a:r>
              <a:rPr sz="1800" b="1" spc="-5" dirty="0">
                <a:latin typeface="Calibri" panose="020F0502020204030204"/>
                <a:cs typeface="Calibri" panose="020F0502020204030204"/>
              </a:rPr>
              <a:t>ia</a:t>
            </a:r>
            <a:r>
              <a:rPr sz="1800" b="1" dirty="0">
                <a:latin typeface="Calibri" panose="020F0502020204030204"/>
                <a:cs typeface="Calibri" panose="020F0502020204030204"/>
              </a:rPr>
              <a:t>gr</a:t>
            </a:r>
            <a:r>
              <a:rPr sz="1800" b="1" spc="-5" dirty="0">
                <a:latin typeface="Calibri" panose="020F0502020204030204"/>
                <a:cs typeface="Calibri" panose="020F0502020204030204"/>
              </a:rPr>
              <a:t>a</a:t>
            </a:r>
            <a:r>
              <a:rPr sz="1800" b="1" dirty="0">
                <a:latin typeface="Calibri" panose="020F0502020204030204"/>
                <a:cs typeface="Calibri" panose="020F0502020204030204"/>
              </a:rPr>
              <a:t>m</a:t>
            </a:r>
            <a:endParaRPr sz="1800" dirty="0">
              <a:latin typeface="Calibri" panose="020F0502020204030204"/>
              <a:cs typeface="Calibri" panose="020F0502020204030204"/>
            </a:endParaRPr>
          </a:p>
          <a:p>
            <a:pPr>
              <a:lnSpc>
                <a:spcPct val="100000"/>
              </a:lnSpc>
              <a:spcBef>
                <a:spcPts val="35"/>
              </a:spcBef>
            </a:pPr>
            <a:endParaRPr sz="2100" dirty="0">
              <a:latin typeface="Times New Roman" panose="02020603050405020304"/>
              <a:cs typeface="Times New Roman" panose="02020603050405020304"/>
            </a:endParaRPr>
          </a:p>
        </p:txBody>
      </p:sp>
      <p:sp>
        <p:nvSpPr>
          <p:cNvPr id="10" name="object 10"/>
          <p:cNvSpPr/>
          <p:nvPr/>
        </p:nvSpPr>
        <p:spPr>
          <a:xfrm>
            <a:off x="1558371" y="3158590"/>
            <a:ext cx="2160270" cy="1080135"/>
          </a:xfrm>
          <a:custGeom>
            <a:avLst/>
            <a:gdLst/>
            <a:ahLst/>
            <a:cxnLst/>
            <a:rect l="l" t="t" r="r" b="b"/>
            <a:pathLst>
              <a:path w="2160270" h="1080135">
                <a:moveTo>
                  <a:pt x="1080119" y="0"/>
                </a:moveTo>
                <a:lnTo>
                  <a:pt x="1016654" y="916"/>
                </a:lnTo>
                <a:lnTo>
                  <a:pt x="954154" y="3633"/>
                </a:lnTo>
                <a:lnTo>
                  <a:pt x="892722" y="8099"/>
                </a:lnTo>
                <a:lnTo>
                  <a:pt x="832458" y="14263"/>
                </a:lnTo>
                <a:lnTo>
                  <a:pt x="773463" y="22075"/>
                </a:lnTo>
                <a:lnTo>
                  <a:pt x="715839" y="31484"/>
                </a:lnTo>
                <a:lnTo>
                  <a:pt x="659688" y="42440"/>
                </a:lnTo>
                <a:lnTo>
                  <a:pt x="605110" y="54892"/>
                </a:lnTo>
                <a:lnTo>
                  <a:pt x="552207" y="68789"/>
                </a:lnTo>
                <a:lnTo>
                  <a:pt x="501080" y="84080"/>
                </a:lnTo>
                <a:lnTo>
                  <a:pt x="451830" y="100716"/>
                </a:lnTo>
                <a:lnTo>
                  <a:pt x="404560" y="118644"/>
                </a:lnTo>
                <a:lnTo>
                  <a:pt x="359369" y="137816"/>
                </a:lnTo>
                <a:lnTo>
                  <a:pt x="316359" y="158179"/>
                </a:lnTo>
                <a:lnTo>
                  <a:pt x="275633" y="179684"/>
                </a:lnTo>
                <a:lnTo>
                  <a:pt x="237290" y="202279"/>
                </a:lnTo>
                <a:lnTo>
                  <a:pt x="201432" y="225915"/>
                </a:lnTo>
                <a:lnTo>
                  <a:pt x="168161" y="250540"/>
                </a:lnTo>
                <a:lnTo>
                  <a:pt x="137578" y="276103"/>
                </a:lnTo>
                <a:lnTo>
                  <a:pt x="109784" y="302555"/>
                </a:lnTo>
                <a:lnTo>
                  <a:pt x="62969" y="357919"/>
                </a:lnTo>
                <a:lnTo>
                  <a:pt x="28526" y="416229"/>
                </a:lnTo>
                <a:lnTo>
                  <a:pt x="7266" y="477077"/>
                </a:lnTo>
                <a:lnTo>
                  <a:pt x="0" y="540059"/>
                </a:lnTo>
                <a:lnTo>
                  <a:pt x="1833" y="571792"/>
                </a:lnTo>
                <a:lnTo>
                  <a:pt x="16198" y="633758"/>
                </a:lnTo>
                <a:lnTo>
                  <a:pt x="44150" y="693388"/>
                </a:lnTo>
                <a:lnTo>
                  <a:pt x="84881" y="750275"/>
                </a:lnTo>
                <a:lnTo>
                  <a:pt x="137578" y="804016"/>
                </a:lnTo>
                <a:lnTo>
                  <a:pt x="168161" y="829579"/>
                </a:lnTo>
                <a:lnTo>
                  <a:pt x="201432" y="854204"/>
                </a:lnTo>
                <a:lnTo>
                  <a:pt x="237290" y="877839"/>
                </a:lnTo>
                <a:lnTo>
                  <a:pt x="275633" y="900435"/>
                </a:lnTo>
                <a:lnTo>
                  <a:pt x="316359" y="921939"/>
                </a:lnTo>
                <a:lnTo>
                  <a:pt x="359369" y="942303"/>
                </a:lnTo>
                <a:lnTo>
                  <a:pt x="404560" y="961474"/>
                </a:lnTo>
                <a:lnTo>
                  <a:pt x="451830" y="979403"/>
                </a:lnTo>
                <a:lnTo>
                  <a:pt x="501080" y="996039"/>
                </a:lnTo>
                <a:lnTo>
                  <a:pt x="552207" y="1011330"/>
                </a:lnTo>
                <a:lnTo>
                  <a:pt x="605110" y="1025227"/>
                </a:lnTo>
                <a:lnTo>
                  <a:pt x="659688" y="1037679"/>
                </a:lnTo>
                <a:lnTo>
                  <a:pt x="715839" y="1048635"/>
                </a:lnTo>
                <a:lnTo>
                  <a:pt x="773463" y="1058044"/>
                </a:lnTo>
                <a:lnTo>
                  <a:pt x="832458" y="1065856"/>
                </a:lnTo>
                <a:lnTo>
                  <a:pt x="892722" y="1072020"/>
                </a:lnTo>
                <a:lnTo>
                  <a:pt x="954154" y="1076486"/>
                </a:lnTo>
                <a:lnTo>
                  <a:pt x="1016654" y="1079202"/>
                </a:lnTo>
                <a:lnTo>
                  <a:pt x="1080119" y="1080119"/>
                </a:lnTo>
                <a:lnTo>
                  <a:pt x="1143584" y="1079202"/>
                </a:lnTo>
                <a:lnTo>
                  <a:pt x="1206084" y="1076486"/>
                </a:lnTo>
                <a:lnTo>
                  <a:pt x="1267516" y="1072020"/>
                </a:lnTo>
                <a:lnTo>
                  <a:pt x="1327781" y="1065856"/>
                </a:lnTo>
                <a:lnTo>
                  <a:pt x="1386775" y="1058044"/>
                </a:lnTo>
                <a:lnTo>
                  <a:pt x="1444399" y="1048635"/>
                </a:lnTo>
                <a:lnTo>
                  <a:pt x="1500551" y="1037679"/>
                </a:lnTo>
                <a:lnTo>
                  <a:pt x="1555129" y="1025227"/>
                </a:lnTo>
                <a:lnTo>
                  <a:pt x="1608032" y="1011330"/>
                </a:lnTo>
                <a:lnTo>
                  <a:pt x="1659159" y="996039"/>
                </a:lnTo>
                <a:lnTo>
                  <a:pt x="1708408" y="979403"/>
                </a:lnTo>
                <a:lnTo>
                  <a:pt x="1755679" y="961474"/>
                </a:lnTo>
                <a:lnTo>
                  <a:pt x="1800870" y="942303"/>
                </a:lnTo>
                <a:lnTo>
                  <a:pt x="1843879" y="921939"/>
                </a:lnTo>
                <a:lnTo>
                  <a:pt x="1884606" y="900435"/>
                </a:lnTo>
                <a:lnTo>
                  <a:pt x="1922949" y="877839"/>
                </a:lnTo>
                <a:lnTo>
                  <a:pt x="1958806" y="854204"/>
                </a:lnTo>
                <a:lnTo>
                  <a:pt x="1992077" y="829579"/>
                </a:lnTo>
                <a:lnTo>
                  <a:pt x="2015394" y="810089"/>
                </a:lnTo>
                <a:lnTo>
                  <a:pt x="1080119" y="810089"/>
                </a:lnTo>
                <a:lnTo>
                  <a:pt x="1010221" y="809098"/>
                </a:lnTo>
                <a:lnTo>
                  <a:pt x="941975" y="806179"/>
                </a:lnTo>
                <a:lnTo>
                  <a:pt x="875623" y="801412"/>
                </a:lnTo>
                <a:lnTo>
                  <a:pt x="811408" y="794879"/>
                </a:lnTo>
                <a:lnTo>
                  <a:pt x="749574" y="786661"/>
                </a:lnTo>
                <a:lnTo>
                  <a:pt x="690363" y="776839"/>
                </a:lnTo>
                <a:lnTo>
                  <a:pt x="634020" y="765494"/>
                </a:lnTo>
                <a:lnTo>
                  <a:pt x="580786" y="752707"/>
                </a:lnTo>
                <a:lnTo>
                  <a:pt x="530906" y="738558"/>
                </a:lnTo>
                <a:lnTo>
                  <a:pt x="484622" y="723131"/>
                </a:lnTo>
                <a:lnTo>
                  <a:pt x="442178" y="706504"/>
                </a:lnTo>
                <a:lnTo>
                  <a:pt x="403816" y="688759"/>
                </a:lnTo>
                <a:lnTo>
                  <a:pt x="369781" y="669978"/>
                </a:lnTo>
                <a:lnTo>
                  <a:pt x="315660" y="629630"/>
                </a:lnTo>
                <a:lnTo>
                  <a:pt x="281761" y="586107"/>
                </a:lnTo>
                <a:lnTo>
                  <a:pt x="270029" y="540059"/>
                </a:lnTo>
                <a:lnTo>
                  <a:pt x="273003" y="516760"/>
                </a:lnTo>
                <a:lnTo>
                  <a:pt x="296061" y="471894"/>
                </a:lnTo>
                <a:lnTo>
                  <a:pt x="340314" y="429877"/>
                </a:lnTo>
                <a:lnTo>
                  <a:pt x="403816" y="391359"/>
                </a:lnTo>
                <a:lnTo>
                  <a:pt x="442178" y="373615"/>
                </a:lnTo>
                <a:lnTo>
                  <a:pt x="484622" y="356988"/>
                </a:lnTo>
                <a:lnTo>
                  <a:pt x="530906" y="341560"/>
                </a:lnTo>
                <a:lnTo>
                  <a:pt x="580786" y="327412"/>
                </a:lnTo>
                <a:lnTo>
                  <a:pt x="634020" y="314625"/>
                </a:lnTo>
                <a:lnTo>
                  <a:pt x="690363" y="303280"/>
                </a:lnTo>
                <a:lnTo>
                  <a:pt x="749574" y="293458"/>
                </a:lnTo>
                <a:lnTo>
                  <a:pt x="811408" y="285240"/>
                </a:lnTo>
                <a:lnTo>
                  <a:pt x="875623" y="278707"/>
                </a:lnTo>
                <a:lnTo>
                  <a:pt x="941975" y="273940"/>
                </a:lnTo>
                <a:lnTo>
                  <a:pt x="1010221" y="271021"/>
                </a:lnTo>
                <a:lnTo>
                  <a:pt x="1080119" y="270029"/>
                </a:lnTo>
                <a:lnTo>
                  <a:pt x="2015394" y="270029"/>
                </a:lnTo>
                <a:lnTo>
                  <a:pt x="1992077" y="250540"/>
                </a:lnTo>
                <a:lnTo>
                  <a:pt x="1958806" y="225915"/>
                </a:lnTo>
                <a:lnTo>
                  <a:pt x="1922949" y="202279"/>
                </a:lnTo>
                <a:lnTo>
                  <a:pt x="1884606" y="179684"/>
                </a:lnTo>
                <a:lnTo>
                  <a:pt x="1843879" y="158179"/>
                </a:lnTo>
                <a:lnTo>
                  <a:pt x="1800870" y="137816"/>
                </a:lnTo>
                <a:lnTo>
                  <a:pt x="1755679" y="118644"/>
                </a:lnTo>
                <a:lnTo>
                  <a:pt x="1708408" y="100716"/>
                </a:lnTo>
                <a:lnTo>
                  <a:pt x="1659159" y="84080"/>
                </a:lnTo>
                <a:lnTo>
                  <a:pt x="1608032" y="68789"/>
                </a:lnTo>
                <a:lnTo>
                  <a:pt x="1555129" y="54892"/>
                </a:lnTo>
                <a:lnTo>
                  <a:pt x="1500551" y="42440"/>
                </a:lnTo>
                <a:lnTo>
                  <a:pt x="1444399" y="31484"/>
                </a:lnTo>
                <a:lnTo>
                  <a:pt x="1386775" y="22075"/>
                </a:lnTo>
                <a:lnTo>
                  <a:pt x="1327781" y="14263"/>
                </a:lnTo>
                <a:lnTo>
                  <a:pt x="1267516" y="8099"/>
                </a:lnTo>
                <a:lnTo>
                  <a:pt x="1206084" y="3633"/>
                </a:lnTo>
                <a:lnTo>
                  <a:pt x="1143584" y="916"/>
                </a:lnTo>
                <a:lnTo>
                  <a:pt x="1080119" y="0"/>
                </a:lnTo>
                <a:close/>
              </a:path>
              <a:path w="2160270" h="1080135">
                <a:moveTo>
                  <a:pt x="2015394" y="270029"/>
                </a:moveTo>
                <a:lnTo>
                  <a:pt x="1080119" y="270029"/>
                </a:lnTo>
                <a:lnTo>
                  <a:pt x="1150017" y="271021"/>
                </a:lnTo>
                <a:lnTo>
                  <a:pt x="1218263" y="273940"/>
                </a:lnTo>
                <a:lnTo>
                  <a:pt x="1284616" y="278707"/>
                </a:lnTo>
                <a:lnTo>
                  <a:pt x="1348831" y="285240"/>
                </a:lnTo>
                <a:lnTo>
                  <a:pt x="1410665" y="293458"/>
                </a:lnTo>
                <a:lnTo>
                  <a:pt x="1469875" y="303280"/>
                </a:lnTo>
                <a:lnTo>
                  <a:pt x="1526219" y="314625"/>
                </a:lnTo>
                <a:lnTo>
                  <a:pt x="1579452" y="327412"/>
                </a:lnTo>
                <a:lnTo>
                  <a:pt x="1629333" y="341560"/>
                </a:lnTo>
                <a:lnTo>
                  <a:pt x="1675616" y="356988"/>
                </a:lnTo>
                <a:lnTo>
                  <a:pt x="1718060" y="373615"/>
                </a:lnTo>
                <a:lnTo>
                  <a:pt x="1756422" y="391359"/>
                </a:lnTo>
                <a:lnTo>
                  <a:pt x="1790457" y="410141"/>
                </a:lnTo>
                <a:lnTo>
                  <a:pt x="1844578" y="450489"/>
                </a:lnTo>
                <a:lnTo>
                  <a:pt x="1878477" y="494011"/>
                </a:lnTo>
                <a:lnTo>
                  <a:pt x="1890209" y="540059"/>
                </a:lnTo>
                <a:lnTo>
                  <a:pt x="1887235" y="563359"/>
                </a:lnTo>
                <a:lnTo>
                  <a:pt x="1864177" y="608225"/>
                </a:lnTo>
                <a:lnTo>
                  <a:pt x="1819924" y="650241"/>
                </a:lnTo>
                <a:lnTo>
                  <a:pt x="1756422" y="688759"/>
                </a:lnTo>
                <a:lnTo>
                  <a:pt x="1718060" y="706504"/>
                </a:lnTo>
                <a:lnTo>
                  <a:pt x="1675616" y="723131"/>
                </a:lnTo>
                <a:lnTo>
                  <a:pt x="1629333" y="738558"/>
                </a:lnTo>
                <a:lnTo>
                  <a:pt x="1579452" y="752707"/>
                </a:lnTo>
                <a:lnTo>
                  <a:pt x="1526219" y="765494"/>
                </a:lnTo>
                <a:lnTo>
                  <a:pt x="1469875" y="776839"/>
                </a:lnTo>
                <a:lnTo>
                  <a:pt x="1410665" y="786661"/>
                </a:lnTo>
                <a:lnTo>
                  <a:pt x="1348831" y="794879"/>
                </a:lnTo>
                <a:lnTo>
                  <a:pt x="1284616" y="801412"/>
                </a:lnTo>
                <a:lnTo>
                  <a:pt x="1218263" y="806179"/>
                </a:lnTo>
                <a:lnTo>
                  <a:pt x="1150017" y="809098"/>
                </a:lnTo>
                <a:lnTo>
                  <a:pt x="1080119" y="810089"/>
                </a:lnTo>
                <a:lnTo>
                  <a:pt x="2015394" y="810089"/>
                </a:lnTo>
                <a:lnTo>
                  <a:pt x="2050454" y="777564"/>
                </a:lnTo>
                <a:lnTo>
                  <a:pt x="2097269" y="722199"/>
                </a:lnTo>
                <a:lnTo>
                  <a:pt x="2131712" y="663890"/>
                </a:lnTo>
                <a:lnTo>
                  <a:pt x="2152972" y="603042"/>
                </a:lnTo>
                <a:lnTo>
                  <a:pt x="2160239" y="540059"/>
                </a:lnTo>
                <a:lnTo>
                  <a:pt x="2158405" y="508327"/>
                </a:lnTo>
                <a:lnTo>
                  <a:pt x="2144041" y="446361"/>
                </a:lnTo>
                <a:lnTo>
                  <a:pt x="2116088" y="386731"/>
                </a:lnTo>
                <a:lnTo>
                  <a:pt x="2075358" y="329844"/>
                </a:lnTo>
                <a:lnTo>
                  <a:pt x="2022660" y="276103"/>
                </a:lnTo>
                <a:lnTo>
                  <a:pt x="2015394" y="270029"/>
                </a:lnTo>
                <a:close/>
              </a:path>
            </a:pathLst>
          </a:custGeom>
          <a:solidFill>
            <a:srgbClr val="941100">
              <a:alpha val="65098"/>
            </a:srgbClr>
          </a:solidFill>
        </p:spPr>
        <p:txBody>
          <a:bodyPr wrap="square" lIns="0" tIns="0" rIns="0" bIns="0" rtlCol="0"/>
          <a:lstStyle/>
          <a:p>
            <a:endParaRPr/>
          </a:p>
        </p:txBody>
      </p:sp>
      <p:sp>
        <p:nvSpPr>
          <p:cNvPr id="11" name="object 11"/>
          <p:cNvSpPr/>
          <p:nvPr/>
        </p:nvSpPr>
        <p:spPr>
          <a:xfrm>
            <a:off x="1558371" y="3158590"/>
            <a:ext cx="2160270" cy="1080135"/>
          </a:xfrm>
          <a:custGeom>
            <a:avLst/>
            <a:gdLst/>
            <a:ahLst/>
            <a:cxnLst/>
            <a:rect l="l" t="t" r="r" b="b"/>
            <a:pathLst>
              <a:path w="2160270" h="1080135">
                <a:moveTo>
                  <a:pt x="0" y="540059"/>
                </a:moveTo>
                <a:lnTo>
                  <a:pt x="7266" y="477077"/>
                </a:lnTo>
                <a:lnTo>
                  <a:pt x="28526" y="416229"/>
                </a:lnTo>
                <a:lnTo>
                  <a:pt x="62969" y="357919"/>
                </a:lnTo>
                <a:lnTo>
                  <a:pt x="109784" y="302555"/>
                </a:lnTo>
                <a:lnTo>
                  <a:pt x="137578" y="276103"/>
                </a:lnTo>
                <a:lnTo>
                  <a:pt x="168161" y="250540"/>
                </a:lnTo>
                <a:lnTo>
                  <a:pt x="201432" y="225915"/>
                </a:lnTo>
                <a:lnTo>
                  <a:pt x="237290" y="202279"/>
                </a:lnTo>
                <a:lnTo>
                  <a:pt x="275632" y="179684"/>
                </a:lnTo>
                <a:lnTo>
                  <a:pt x="316359" y="158179"/>
                </a:lnTo>
                <a:lnTo>
                  <a:pt x="359369" y="137816"/>
                </a:lnTo>
                <a:lnTo>
                  <a:pt x="404559" y="118645"/>
                </a:lnTo>
                <a:lnTo>
                  <a:pt x="451830" y="100716"/>
                </a:lnTo>
                <a:lnTo>
                  <a:pt x="501080" y="84080"/>
                </a:lnTo>
                <a:lnTo>
                  <a:pt x="552207" y="68789"/>
                </a:lnTo>
                <a:lnTo>
                  <a:pt x="605110" y="54892"/>
                </a:lnTo>
                <a:lnTo>
                  <a:pt x="659688" y="42440"/>
                </a:lnTo>
                <a:lnTo>
                  <a:pt x="715839" y="31484"/>
                </a:lnTo>
                <a:lnTo>
                  <a:pt x="773463" y="22075"/>
                </a:lnTo>
                <a:lnTo>
                  <a:pt x="832458" y="14263"/>
                </a:lnTo>
                <a:lnTo>
                  <a:pt x="892722" y="8099"/>
                </a:lnTo>
                <a:lnTo>
                  <a:pt x="954154" y="3633"/>
                </a:lnTo>
                <a:lnTo>
                  <a:pt x="1016654" y="916"/>
                </a:lnTo>
                <a:lnTo>
                  <a:pt x="1080119" y="0"/>
                </a:lnTo>
                <a:lnTo>
                  <a:pt x="1143584" y="916"/>
                </a:lnTo>
                <a:lnTo>
                  <a:pt x="1206084" y="3633"/>
                </a:lnTo>
                <a:lnTo>
                  <a:pt x="1267517" y="8099"/>
                </a:lnTo>
                <a:lnTo>
                  <a:pt x="1327781" y="14263"/>
                </a:lnTo>
                <a:lnTo>
                  <a:pt x="1386775" y="22075"/>
                </a:lnTo>
                <a:lnTo>
                  <a:pt x="1444399" y="31484"/>
                </a:lnTo>
                <a:lnTo>
                  <a:pt x="1500551" y="42440"/>
                </a:lnTo>
                <a:lnTo>
                  <a:pt x="1555129" y="54892"/>
                </a:lnTo>
                <a:lnTo>
                  <a:pt x="1608032" y="68789"/>
                </a:lnTo>
                <a:lnTo>
                  <a:pt x="1659159" y="84080"/>
                </a:lnTo>
                <a:lnTo>
                  <a:pt x="1708408" y="100716"/>
                </a:lnTo>
                <a:lnTo>
                  <a:pt x="1755679" y="118645"/>
                </a:lnTo>
                <a:lnTo>
                  <a:pt x="1800870" y="137816"/>
                </a:lnTo>
                <a:lnTo>
                  <a:pt x="1843879" y="158179"/>
                </a:lnTo>
                <a:lnTo>
                  <a:pt x="1884606" y="179684"/>
                </a:lnTo>
                <a:lnTo>
                  <a:pt x="1922949" y="202279"/>
                </a:lnTo>
                <a:lnTo>
                  <a:pt x="1958806" y="225915"/>
                </a:lnTo>
                <a:lnTo>
                  <a:pt x="1992077" y="250540"/>
                </a:lnTo>
                <a:lnTo>
                  <a:pt x="2022660" y="276103"/>
                </a:lnTo>
                <a:lnTo>
                  <a:pt x="2050454" y="302555"/>
                </a:lnTo>
                <a:lnTo>
                  <a:pt x="2097269" y="357919"/>
                </a:lnTo>
                <a:lnTo>
                  <a:pt x="2131712" y="416229"/>
                </a:lnTo>
                <a:lnTo>
                  <a:pt x="2152972" y="477077"/>
                </a:lnTo>
                <a:lnTo>
                  <a:pt x="2160239" y="540059"/>
                </a:lnTo>
                <a:lnTo>
                  <a:pt x="2158405" y="571792"/>
                </a:lnTo>
                <a:lnTo>
                  <a:pt x="2144041" y="633758"/>
                </a:lnTo>
                <a:lnTo>
                  <a:pt x="2116088" y="693387"/>
                </a:lnTo>
                <a:lnTo>
                  <a:pt x="2075358" y="750275"/>
                </a:lnTo>
                <a:lnTo>
                  <a:pt x="2022660" y="804016"/>
                </a:lnTo>
                <a:lnTo>
                  <a:pt x="1992077" y="829579"/>
                </a:lnTo>
                <a:lnTo>
                  <a:pt x="1958806" y="854204"/>
                </a:lnTo>
                <a:lnTo>
                  <a:pt x="1922949" y="877839"/>
                </a:lnTo>
                <a:lnTo>
                  <a:pt x="1884606" y="900435"/>
                </a:lnTo>
                <a:lnTo>
                  <a:pt x="1843879" y="921939"/>
                </a:lnTo>
                <a:lnTo>
                  <a:pt x="1800870" y="942303"/>
                </a:lnTo>
                <a:lnTo>
                  <a:pt x="1755679" y="961474"/>
                </a:lnTo>
                <a:lnTo>
                  <a:pt x="1708408" y="979403"/>
                </a:lnTo>
                <a:lnTo>
                  <a:pt x="1659159" y="996038"/>
                </a:lnTo>
                <a:lnTo>
                  <a:pt x="1608032" y="1011330"/>
                </a:lnTo>
                <a:lnTo>
                  <a:pt x="1555129" y="1025227"/>
                </a:lnTo>
                <a:lnTo>
                  <a:pt x="1500551" y="1037679"/>
                </a:lnTo>
                <a:lnTo>
                  <a:pt x="1444399" y="1048634"/>
                </a:lnTo>
                <a:lnTo>
                  <a:pt x="1386775" y="1058044"/>
                </a:lnTo>
                <a:lnTo>
                  <a:pt x="1327781" y="1065856"/>
                </a:lnTo>
                <a:lnTo>
                  <a:pt x="1267517" y="1072020"/>
                </a:lnTo>
                <a:lnTo>
                  <a:pt x="1206084" y="1076486"/>
                </a:lnTo>
                <a:lnTo>
                  <a:pt x="1143584" y="1079202"/>
                </a:lnTo>
                <a:lnTo>
                  <a:pt x="1080119" y="1080119"/>
                </a:lnTo>
                <a:lnTo>
                  <a:pt x="1016654" y="1079202"/>
                </a:lnTo>
                <a:lnTo>
                  <a:pt x="954154" y="1076486"/>
                </a:lnTo>
                <a:lnTo>
                  <a:pt x="892722" y="1072020"/>
                </a:lnTo>
                <a:lnTo>
                  <a:pt x="832458" y="1065856"/>
                </a:lnTo>
                <a:lnTo>
                  <a:pt x="773463" y="1058044"/>
                </a:lnTo>
                <a:lnTo>
                  <a:pt x="715839" y="1048634"/>
                </a:lnTo>
                <a:lnTo>
                  <a:pt x="659688" y="1037679"/>
                </a:lnTo>
                <a:lnTo>
                  <a:pt x="605110" y="1025227"/>
                </a:lnTo>
                <a:lnTo>
                  <a:pt x="552207" y="1011330"/>
                </a:lnTo>
                <a:lnTo>
                  <a:pt x="501080" y="996038"/>
                </a:lnTo>
                <a:lnTo>
                  <a:pt x="451830" y="979403"/>
                </a:lnTo>
                <a:lnTo>
                  <a:pt x="404559" y="961474"/>
                </a:lnTo>
                <a:lnTo>
                  <a:pt x="359369" y="942303"/>
                </a:lnTo>
                <a:lnTo>
                  <a:pt x="316359" y="921939"/>
                </a:lnTo>
                <a:lnTo>
                  <a:pt x="275632" y="900435"/>
                </a:lnTo>
                <a:lnTo>
                  <a:pt x="237290" y="877839"/>
                </a:lnTo>
                <a:lnTo>
                  <a:pt x="201432" y="854204"/>
                </a:lnTo>
                <a:lnTo>
                  <a:pt x="168161" y="829579"/>
                </a:lnTo>
                <a:lnTo>
                  <a:pt x="137578" y="804016"/>
                </a:lnTo>
                <a:lnTo>
                  <a:pt x="109784" y="777564"/>
                </a:lnTo>
                <a:lnTo>
                  <a:pt x="62969" y="722199"/>
                </a:lnTo>
                <a:lnTo>
                  <a:pt x="28526" y="663890"/>
                </a:lnTo>
                <a:lnTo>
                  <a:pt x="7266" y="603042"/>
                </a:lnTo>
                <a:lnTo>
                  <a:pt x="0" y="540059"/>
                </a:lnTo>
                <a:close/>
              </a:path>
            </a:pathLst>
          </a:custGeom>
          <a:ln w="6349">
            <a:solidFill>
              <a:srgbClr val="6CACDD"/>
            </a:solidFill>
          </a:ln>
        </p:spPr>
        <p:txBody>
          <a:bodyPr wrap="square" lIns="0" tIns="0" rIns="0" bIns="0" rtlCol="0"/>
          <a:lstStyle/>
          <a:p>
            <a:endParaRPr/>
          </a:p>
        </p:txBody>
      </p:sp>
      <p:sp>
        <p:nvSpPr>
          <p:cNvPr id="12" name="object 12"/>
          <p:cNvSpPr/>
          <p:nvPr/>
        </p:nvSpPr>
        <p:spPr>
          <a:xfrm>
            <a:off x="1828401" y="3428620"/>
            <a:ext cx="1620520" cy="540385"/>
          </a:xfrm>
          <a:custGeom>
            <a:avLst/>
            <a:gdLst/>
            <a:ahLst/>
            <a:cxnLst/>
            <a:rect l="l" t="t" r="r" b="b"/>
            <a:pathLst>
              <a:path w="1620520" h="540385">
                <a:moveTo>
                  <a:pt x="0" y="270029"/>
                </a:moveTo>
                <a:lnTo>
                  <a:pt x="11731" y="316077"/>
                </a:lnTo>
                <a:lnTo>
                  <a:pt x="45630" y="359600"/>
                </a:lnTo>
                <a:lnTo>
                  <a:pt x="99751" y="399948"/>
                </a:lnTo>
                <a:lnTo>
                  <a:pt x="133787" y="418729"/>
                </a:lnTo>
                <a:lnTo>
                  <a:pt x="172148" y="436474"/>
                </a:lnTo>
                <a:lnTo>
                  <a:pt x="214592" y="453100"/>
                </a:lnTo>
                <a:lnTo>
                  <a:pt x="260876" y="468528"/>
                </a:lnTo>
                <a:lnTo>
                  <a:pt x="310756" y="482676"/>
                </a:lnTo>
                <a:lnTo>
                  <a:pt x="363990" y="495464"/>
                </a:lnTo>
                <a:lnTo>
                  <a:pt x="420333" y="506809"/>
                </a:lnTo>
                <a:lnTo>
                  <a:pt x="479544" y="516631"/>
                </a:lnTo>
                <a:lnTo>
                  <a:pt x="541378" y="524849"/>
                </a:lnTo>
                <a:lnTo>
                  <a:pt x="605593" y="531382"/>
                </a:lnTo>
                <a:lnTo>
                  <a:pt x="671945" y="536149"/>
                </a:lnTo>
                <a:lnTo>
                  <a:pt x="740192" y="539068"/>
                </a:lnTo>
                <a:lnTo>
                  <a:pt x="810089" y="540059"/>
                </a:lnTo>
                <a:lnTo>
                  <a:pt x="879987" y="539068"/>
                </a:lnTo>
                <a:lnTo>
                  <a:pt x="948233" y="536149"/>
                </a:lnTo>
                <a:lnTo>
                  <a:pt x="1014586" y="531382"/>
                </a:lnTo>
                <a:lnTo>
                  <a:pt x="1078800" y="524849"/>
                </a:lnTo>
                <a:lnTo>
                  <a:pt x="1140635" y="516631"/>
                </a:lnTo>
                <a:lnTo>
                  <a:pt x="1199845" y="506809"/>
                </a:lnTo>
                <a:lnTo>
                  <a:pt x="1256189" y="495464"/>
                </a:lnTo>
                <a:lnTo>
                  <a:pt x="1309422" y="482676"/>
                </a:lnTo>
                <a:lnTo>
                  <a:pt x="1359302" y="468528"/>
                </a:lnTo>
                <a:lnTo>
                  <a:pt x="1405586" y="453100"/>
                </a:lnTo>
                <a:lnTo>
                  <a:pt x="1448031" y="436474"/>
                </a:lnTo>
                <a:lnTo>
                  <a:pt x="1486392" y="418729"/>
                </a:lnTo>
                <a:lnTo>
                  <a:pt x="1520428" y="399948"/>
                </a:lnTo>
                <a:lnTo>
                  <a:pt x="1574548" y="359600"/>
                </a:lnTo>
                <a:lnTo>
                  <a:pt x="1608447" y="316077"/>
                </a:lnTo>
                <a:lnTo>
                  <a:pt x="1620179" y="270029"/>
                </a:lnTo>
                <a:lnTo>
                  <a:pt x="1617206" y="246730"/>
                </a:lnTo>
                <a:lnTo>
                  <a:pt x="1594147" y="201864"/>
                </a:lnTo>
                <a:lnTo>
                  <a:pt x="1549894" y="159848"/>
                </a:lnTo>
                <a:lnTo>
                  <a:pt x="1486392" y="121330"/>
                </a:lnTo>
                <a:lnTo>
                  <a:pt x="1448031" y="103585"/>
                </a:lnTo>
                <a:lnTo>
                  <a:pt x="1405586" y="86958"/>
                </a:lnTo>
                <a:lnTo>
                  <a:pt x="1359302" y="71530"/>
                </a:lnTo>
                <a:lnTo>
                  <a:pt x="1309422" y="57382"/>
                </a:lnTo>
                <a:lnTo>
                  <a:pt x="1256189" y="44595"/>
                </a:lnTo>
                <a:lnTo>
                  <a:pt x="1199845" y="33250"/>
                </a:lnTo>
                <a:lnTo>
                  <a:pt x="1140635" y="23428"/>
                </a:lnTo>
                <a:lnTo>
                  <a:pt x="1078800" y="15210"/>
                </a:lnTo>
                <a:lnTo>
                  <a:pt x="1014586" y="8677"/>
                </a:lnTo>
                <a:lnTo>
                  <a:pt x="948233" y="3910"/>
                </a:lnTo>
                <a:lnTo>
                  <a:pt x="879987" y="991"/>
                </a:lnTo>
                <a:lnTo>
                  <a:pt x="810089" y="0"/>
                </a:lnTo>
                <a:lnTo>
                  <a:pt x="740192" y="991"/>
                </a:lnTo>
                <a:lnTo>
                  <a:pt x="671945" y="3910"/>
                </a:lnTo>
                <a:lnTo>
                  <a:pt x="605593" y="8677"/>
                </a:lnTo>
                <a:lnTo>
                  <a:pt x="541378" y="15210"/>
                </a:lnTo>
                <a:lnTo>
                  <a:pt x="479544" y="23428"/>
                </a:lnTo>
                <a:lnTo>
                  <a:pt x="420333" y="33250"/>
                </a:lnTo>
                <a:lnTo>
                  <a:pt x="363990" y="44595"/>
                </a:lnTo>
                <a:lnTo>
                  <a:pt x="310756" y="57382"/>
                </a:lnTo>
                <a:lnTo>
                  <a:pt x="260876" y="71530"/>
                </a:lnTo>
                <a:lnTo>
                  <a:pt x="214592" y="86958"/>
                </a:lnTo>
                <a:lnTo>
                  <a:pt x="172148" y="103585"/>
                </a:lnTo>
                <a:lnTo>
                  <a:pt x="133787" y="121330"/>
                </a:lnTo>
                <a:lnTo>
                  <a:pt x="99751" y="140111"/>
                </a:lnTo>
                <a:lnTo>
                  <a:pt x="45630" y="180459"/>
                </a:lnTo>
                <a:lnTo>
                  <a:pt x="11731" y="223981"/>
                </a:lnTo>
                <a:lnTo>
                  <a:pt x="0" y="270029"/>
                </a:lnTo>
                <a:close/>
              </a:path>
            </a:pathLst>
          </a:custGeom>
          <a:ln w="6349">
            <a:solidFill>
              <a:srgbClr val="6CACDD"/>
            </a:solidFill>
          </a:ln>
        </p:spPr>
        <p:txBody>
          <a:bodyPr wrap="square" lIns="0" tIns="0" rIns="0" bIns="0" rtlCol="0"/>
          <a:lstStyle/>
          <a:p>
            <a:endParaRPr/>
          </a:p>
        </p:txBody>
      </p:sp>
      <p:sp>
        <p:nvSpPr>
          <p:cNvPr id="13" name="object 13"/>
          <p:cNvSpPr/>
          <p:nvPr/>
        </p:nvSpPr>
        <p:spPr>
          <a:xfrm>
            <a:off x="7535034" y="2150478"/>
            <a:ext cx="2160270" cy="1080135"/>
          </a:xfrm>
          <a:custGeom>
            <a:avLst/>
            <a:gdLst/>
            <a:ahLst/>
            <a:cxnLst/>
            <a:rect l="l" t="t" r="r" b="b"/>
            <a:pathLst>
              <a:path w="2160270" h="1080135">
                <a:moveTo>
                  <a:pt x="1080119" y="0"/>
                </a:moveTo>
                <a:lnTo>
                  <a:pt x="1016654" y="916"/>
                </a:lnTo>
                <a:lnTo>
                  <a:pt x="954154" y="3633"/>
                </a:lnTo>
                <a:lnTo>
                  <a:pt x="892722" y="8099"/>
                </a:lnTo>
                <a:lnTo>
                  <a:pt x="832458" y="14263"/>
                </a:lnTo>
                <a:lnTo>
                  <a:pt x="773463" y="22075"/>
                </a:lnTo>
                <a:lnTo>
                  <a:pt x="715839" y="31484"/>
                </a:lnTo>
                <a:lnTo>
                  <a:pt x="659688" y="42440"/>
                </a:lnTo>
                <a:lnTo>
                  <a:pt x="605110" y="54892"/>
                </a:lnTo>
                <a:lnTo>
                  <a:pt x="552207" y="68789"/>
                </a:lnTo>
                <a:lnTo>
                  <a:pt x="501080" y="84080"/>
                </a:lnTo>
                <a:lnTo>
                  <a:pt x="451830" y="100716"/>
                </a:lnTo>
                <a:lnTo>
                  <a:pt x="404559" y="118644"/>
                </a:lnTo>
                <a:lnTo>
                  <a:pt x="359368" y="137816"/>
                </a:lnTo>
                <a:lnTo>
                  <a:pt x="316359" y="158179"/>
                </a:lnTo>
                <a:lnTo>
                  <a:pt x="275632" y="179684"/>
                </a:lnTo>
                <a:lnTo>
                  <a:pt x="237289" y="202279"/>
                </a:lnTo>
                <a:lnTo>
                  <a:pt x="201432" y="225915"/>
                </a:lnTo>
                <a:lnTo>
                  <a:pt x="168161" y="250540"/>
                </a:lnTo>
                <a:lnTo>
                  <a:pt x="137578" y="276103"/>
                </a:lnTo>
                <a:lnTo>
                  <a:pt x="109784" y="302555"/>
                </a:lnTo>
                <a:lnTo>
                  <a:pt x="62969" y="357919"/>
                </a:lnTo>
                <a:lnTo>
                  <a:pt x="28526" y="416229"/>
                </a:lnTo>
                <a:lnTo>
                  <a:pt x="7266" y="477077"/>
                </a:lnTo>
                <a:lnTo>
                  <a:pt x="0" y="540059"/>
                </a:lnTo>
                <a:lnTo>
                  <a:pt x="1833" y="571792"/>
                </a:lnTo>
                <a:lnTo>
                  <a:pt x="16198" y="633758"/>
                </a:lnTo>
                <a:lnTo>
                  <a:pt x="44150" y="693388"/>
                </a:lnTo>
                <a:lnTo>
                  <a:pt x="84881" y="750275"/>
                </a:lnTo>
                <a:lnTo>
                  <a:pt x="137578" y="804016"/>
                </a:lnTo>
                <a:lnTo>
                  <a:pt x="168161" y="829579"/>
                </a:lnTo>
                <a:lnTo>
                  <a:pt x="201432" y="854204"/>
                </a:lnTo>
                <a:lnTo>
                  <a:pt x="237289" y="877839"/>
                </a:lnTo>
                <a:lnTo>
                  <a:pt x="275632" y="900435"/>
                </a:lnTo>
                <a:lnTo>
                  <a:pt x="316359" y="921939"/>
                </a:lnTo>
                <a:lnTo>
                  <a:pt x="359368" y="942303"/>
                </a:lnTo>
                <a:lnTo>
                  <a:pt x="404559" y="961474"/>
                </a:lnTo>
                <a:lnTo>
                  <a:pt x="451830" y="979403"/>
                </a:lnTo>
                <a:lnTo>
                  <a:pt x="501080" y="996039"/>
                </a:lnTo>
                <a:lnTo>
                  <a:pt x="552207" y="1011330"/>
                </a:lnTo>
                <a:lnTo>
                  <a:pt x="605110" y="1025227"/>
                </a:lnTo>
                <a:lnTo>
                  <a:pt x="659688" y="1037679"/>
                </a:lnTo>
                <a:lnTo>
                  <a:pt x="715839" y="1048635"/>
                </a:lnTo>
                <a:lnTo>
                  <a:pt x="773463" y="1058044"/>
                </a:lnTo>
                <a:lnTo>
                  <a:pt x="832458" y="1065856"/>
                </a:lnTo>
                <a:lnTo>
                  <a:pt x="892722" y="1072020"/>
                </a:lnTo>
                <a:lnTo>
                  <a:pt x="954154" y="1076486"/>
                </a:lnTo>
                <a:lnTo>
                  <a:pt x="1016654" y="1079202"/>
                </a:lnTo>
                <a:lnTo>
                  <a:pt x="1080119" y="1080119"/>
                </a:lnTo>
                <a:lnTo>
                  <a:pt x="1143584" y="1079202"/>
                </a:lnTo>
                <a:lnTo>
                  <a:pt x="1206084" y="1076486"/>
                </a:lnTo>
                <a:lnTo>
                  <a:pt x="1267516" y="1072020"/>
                </a:lnTo>
                <a:lnTo>
                  <a:pt x="1327781" y="1065856"/>
                </a:lnTo>
                <a:lnTo>
                  <a:pt x="1386775" y="1058044"/>
                </a:lnTo>
                <a:lnTo>
                  <a:pt x="1444399" y="1048635"/>
                </a:lnTo>
                <a:lnTo>
                  <a:pt x="1500550" y="1037679"/>
                </a:lnTo>
                <a:lnTo>
                  <a:pt x="1555128" y="1025227"/>
                </a:lnTo>
                <a:lnTo>
                  <a:pt x="1608031" y="1011330"/>
                </a:lnTo>
                <a:lnTo>
                  <a:pt x="1659158" y="996039"/>
                </a:lnTo>
                <a:lnTo>
                  <a:pt x="1708408" y="979403"/>
                </a:lnTo>
                <a:lnTo>
                  <a:pt x="1755679" y="961474"/>
                </a:lnTo>
                <a:lnTo>
                  <a:pt x="1800870" y="942303"/>
                </a:lnTo>
                <a:lnTo>
                  <a:pt x="1843879" y="921939"/>
                </a:lnTo>
                <a:lnTo>
                  <a:pt x="1884606" y="900435"/>
                </a:lnTo>
                <a:lnTo>
                  <a:pt x="1922949" y="877839"/>
                </a:lnTo>
                <a:lnTo>
                  <a:pt x="1958806" y="854204"/>
                </a:lnTo>
                <a:lnTo>
                  <a:pt x="1992077" y="829579"/>
                </a:lnTo>
                <a:lnTo>
                  <a:pt x="2015394" y="810089"/>
                </a:lnTo>
                <a:lnTo>
                  <a:pt x="1080119" y="810089"/>
                </a:lnTo>
                <a:lnTo>
                  <a:pt x="1010222" y="809098"/>
                </a:lnTo>
                <a:lnTo>
                  <a:pt x="941975" y="806179"/>
                </a:lnTo>
                <a:lnTo>
                  <a:pt x="875623" y="801412"/>
                </a:lnTo>
                <a:lnTo>
                  <a:pt x="811408" y="794879"/>
                </a:lnTo>
                <a:lnTo>
                  <a:pt x="749573" y="786661"/>
                </a:lnTo>
                <a:lnTo>
                  <a:pt x="690363" y="776839"/>
                </a:lnTo>
                <a:lnTo>
                  <a:pt x="634019" y="765494"/>
                </a:lnTo>
                <a:lnTo>
                  <a:pt x="580786" y="752707"/>
                </a:lnTo>
                <a:lnTo>
                  <a:pt x="530906" y="738558"/>
                </a:lnTo>
                <a:lnTo>
                  <a:pt x="484622" y="723131"/>
                </a:lnTo>
                <a:lnTo>
                  <a:pt x="442178" y="706504"/>
                </a:lnTo>
                <a:lnTo>
                  <a:pt x="403816" y="688759"/>
                </a:lnTo>
                <a:lnTo>
                  <a:pt x="369781" y="669978"/>
                </a:lnTo>
                <a:lnTo>
                  <a:pt x="315660" y="629630"/>
                </a:lnTo>
                <a:lnTo>
                  <a:pt x="281761" y="586107"/>
                </a:lnTo>
                <a:lnTo>
                  <a:pt x="270029" y="540059"/>
                </a:lnTo>
                <a:lnTo>
                  <a:pt x="273003" y="516760"/>
                </a:lnTo>
                <a:lnTo>
                  <a:pt x="296062" y="471894"/>
                </a:lnTo>
                <a:lnTo>
                  <a:pt x="340314" y="429877"/>
                </a:lnTo>
                <a:lnTo>
                  <a:pt x="403816" y="391359"/>
                </a:lnTo>
                <a:lnTo>
                  <a:pt x="442178" y="373615"/>
                </a:lnTo>
                <a:lnTo>
                  <a:pt x="484622" y="356988"/>
                </a:lnTo>
                <a:lnTo>
                  <a:pt x="530906" y="341560"/>
                </a:lnTo>
                <a:lnTo>
                  <a:pt x="580786" y="327412"/>
                </a:lnTo>
                <a:lnTo>
                  <a:pt x="634019" y="314625"/>
                </a:lnTo>
                <a:lnTo>
                  <a:pt x="690363" y="303280"/>
                </a:lnTo>
                <a:lnTo>
                  <a:pt x="749573" y="293458"/>
                </a:lnTo>
                <a:lnTo>
                  <a:pt x="811408" y="285240"/>
                </a:lnTo>
                <a:lnTo>
                  <a:pt x="875623" y="278707"/>
                </a:lnTo>
                <a:lnTo>
                  <a:pt x="941975" y="273940"/>
                </a:lnTo>
                <a:lnTo>
                  <a:pt x="1010222" y="271021"/>
                </a:lnTo>
                <a:lnTo>
                  <a:pt x="1080119" y="270029"/>
                </a:lnTo>
                <a:lnTo>
                  <a:pt x="2015394" y="270029"/>
                </a:lnTo>
                <a:lnTo>
                  <a:pt x="1992077" y="250540"/>
                </a:lnTo>
                <a:lnTo>
                  <a:pt x="1958806" y="225915"/>
                </a:lnTo>
                <a:lnTo>
                  <a:pt x="1922949" y="202279"/>
                </a:lnTo>
                <a:lnTo>
                  <a:pt x="1884606" y="179684"/>
                </a:lnTo>
                <a:lnTo>
                  <a:pt x="1843879" y="158179"/>
                </a:lnTo>
                <a:lnTo>
                  <a:pt x="1800870" y="137816"/>
                </a:lnTo>
                <a:lnTo>
                  <a:pt x="1755679" y="118644"/>
                </a:lnTo>
                <a:lnTo>
                  <a:pt x="1708408" y="100716"/>
                </a:lnTo>
                <a:lnTo>
                  <a:pt x="1659158" y="84080"/>
                </a:lnTo>
                <a:lnTo>
                  <a:pt x="1608031" y="68789"/>
                </a:lnTo>
                <a:lnTo>
                  <a:pt x="1555128" y="54892"/>
                </a:lnTo>
                <a:lnTo>
                  <a:pt x="1500550" y="42440"/>
                </a:lnTo>
                <a:lnTo>
                  <a:pt x="1444399" y="31484"/>
                </a:lnTo>
                <a:lnTo>
                  <a:pt x="1386775" y="22075"/>
                </a:lnTo>
                <a:lnTo>
                  <a:pt x="1327781" y="14263"/>
                </a:lnTo>
                <a:lnTo>
                  <a:pt x="1267516" y="8099"/>
                </a:lnTo>
                <a:lnTo>
                  <a:pt x="1206084" y="3633"/>
                </a:lnTo>
                <a:lnTo>
                  <a:pt x="1143584" y="916"/>
                </a:lnTo>
                <a:lnTo>
                  <a:pt x="1080119" y="0"/>
                </a:lnTo>
                <a:close/>
              </a:path>
              <a:path w="2160270" h="1080135">
                <a:moveTo>
                  <a:pt x="2015394" y="270029"/>
                </a:moveTo>
                <a:lnTo>
                  <a:pt x="1080119" y="270029"/>
                </a:lnTo>
                <a:lnTo>
                  <a:pt x="1150017" y="271021"/>
                </a:lnTo>
                <a:lnTo>
                  <a:pt x="1218263" y="273940"/>
                </a:lnTo>
                <a:lnTo>
                  <a:pt x="1284615" y="278707"/>
                </a:lnTo>
                <a:lnTo>
                  <a:pt x="1348830" y="285240"/>
                </a:lnTo>
                <a:lnTo>
                  <a:pt x="1410665" y="293458"/>
                </a:lnTo>
                <a:lnTo>
                  <a:pt x="1469875" y="303280"/>
                </a:lnTo>
                <a:lnTo>
                  <a:pt x="1526219" y="314625"/>
                </a:lnTo>
                <a:lnTo>
                  <a:pt x="1579452" y="327412"/>
                </a:lnTo>
                <a:lnTo>
                  <a:pt x="1629332" y="341560"/>
                </a:lnTo>
                <a:lnTo>
                  <a:pt x="1675616" y="356988"/>
                </a:lnTo>
                <a:lnTo>
                  <a:pt x="1718060" y="373615"/>
                </a:lnTo>
                <a:lnTo>
                  <a:pt x="1756422" y="391359"/>
                </a:lnTo>
                <a:lnTo>
                  <a:pt x="1790457" y="410141"/>
                </a:lnTo>
                <a:lnTo>
                  <a:pt x="1844578" y="450489"/>
                </a:lnTo>
                <a:lnTo>
                  <a:pt x="1878477" y="494011"/>
                </a:lnTo>
                <a:lnTo>
                  <a:pt x="1890209" y="540059"/>
                </a:lnTo>
                <a:lnTo>
                  <a:pt x="1887236" y="563359"/>
                </a:lnTo>
                <a:lnTo>
                  <a:pt x="1864177" y="608225"/>
                </a:lnTo>
                <a:lnTo>
                  <a:pt x="1819924" y="650241"/>
                </a:lnTo>
                <a:lnTo>
                  <a:pt x="1756422" y="688759"/>
                </a:lnTo>
                <a:lnTo>
                  <a:pt x="1718060" y="706504"/>
                </a:lnTo>
                <a:lnTo>
                  <a:pt x="1675616" y="723131"/>
                </a:lnTo>
                <a:lnTo>
                  <a:pt x="1629332" y="738558"/>
                </a:lnTo>
                <a:lnTo>
                  <a:pt x="1579452" y="752707"/>
                </a:lnTo>
                <a:lnTo>
                  <a:pt x="1526219" y="765494"/>
                </a:lnTo>
                <a:lnTo>
                  <a:pt x="1469875" y="776839"/>
                </a:lnTo>
                <a:lnTo>
                  <a:pt x="1410665" y="786661"/>
                </a:lnTo>
                <a:lnTo>
                  <a:pt x="1348830" y="794879"/>
                </a:lnTo>
                <a:lnTo>
                  <a:pt x="1284615" y="801412"/>
                </a:lnTo>
                <a:lnTo>
                  <a:pt x="1218263" y="806179"/>
                </a:lnTo>
                <a:lnTo>
                  <a:pt x="1150017" y="809098"/>
                </a:lnTo>
                <a:lnTo>
                  <a:pt x="1080119" y="810089"/>
                </a:lnTo>
                <a:lnTo>
                  <a:pt x="2015394" y="810089"/>
                </a:lnTo>
                <a:lnTo>
                  <a:pt x="2050454" y="777564"/>
                </a:lnTo>
                <a:lnTo>
                  <a:pt x="2097269" y="722199"/>
                </a:lnTo>
                <a:lnTo>
                  <a:pt x="2131712" y="663890"/>
                </a:lnTo>
                <a:lnTo>
                  <a:pt x="2152972" y="603042"/>
                </a:lnTo>
                <a:lnTo>
                  <a:pt x="2160239" y="540059"/>
                </a:lnTo>
                <a:lnTo>
                  <a:pt x="2158405" y="508327"/>
                </a:lnTo>
                <a:lnTo>
                  <a:pt x="2144041" y="446361"/>
                </a:lnTo>
                <a:lnTo>
                  <a:pt x="2116088" y="386731"/>
                </a:lnTo>
                <a:lnTo>
                  <a:pt x="2075358" y="329844"/>
                </a:lnTo>
                <a:lnTo>
                  <a:pt x="2022660" y="276103"/>
                </a:lnTo>
                <a:lnTo>
                  <a:pt x="2015394" y="270029"/>
                </a:lnTo>
                <a:close/>
              </a:path>
            </a:pathLst>
          </a:custGeom>
          <a:solidFill>
            <a:srgbClr val="659244">
              <a:alpha val="65098"/>
            </a:srgbClr>
          </a:solidFill>
        </p:spPr>
        <p:txBody>
          <a:bodyPr wrap="square" lIns="0" tIns="0" rIns="0" bIns="0" rtlCol="0"/>
          <a:lstStyle/>
          <a:p>
            <a:endParaRPr/>
          </a:p>
        </p:txBody>
      </p:sp>
      <p:sp>
        <p:nvSpPr>
          <p:cNvPr id="14" name="object 14"/>
          <p:cNvSpPr/>
          <p:nvPr/>
        </p:nvSpPr>
        <p:spPr>
          <a:xfrm>
            <a:off x="7535034" y="2150478"/>
            <a:ext cx="2160270" cy="1080135"/>
          </a:xfrm>
          <a:custGeom>
            <a:avLst/>
            <a:gdLst/>
            <a:ahLst/>
            <a:cxnLst/>
            <a:rect l="l" t="t" r="r" b="b"/>
            <a:pathLst>
              <a:path w="2160270" h="1080135">
                <a:moveTo>
                  <a:pt x="0" y="540060"/>
                </a:moveTo>
                <a:lnTo>
                  <a:pt x="7266" y="477077"/>
                </a:lnTo>
                <a:lnTo>
                  <a:pt x="28526" y="416229"/>
                </a:lnTo>
                <a:lnTo>
                  <a:pt x="62969" y="357919"/>
                </a:lnTo>
                <a:lnTo>
                  <a:pt x="109784" y="302555"/>
                </a:lnTo>
                <a:lnTo>
                  <a:pt x="137578" y="276103"/>
                </a:lnTo>
                <a:lnTo>
                  <a:pt x="168161" y="250540"/>
                </a:lnTo>
                <a:lnTo>
                  <a:pt x="201432" y="225915"/>
                </a:lnTo>
                <a:lnTo>
                  <a:pt x="237290" y="202279"/>
                </a:lnTo>
                <a:lnTo>
                  <a:pt x="275632" y="179684"/>
                </a:lnTo>
                <a:lnTo>
                  <a:pt x="316359" y="158179"/>
                </a:lnTo>
                <a:lnTo>
                  <a:pt x="359369" y="137816"/>
                </a:lnTo>
                <a:lnTo>
                  <a:pt x="404559" y="118645"/>
                </a:lnTo>
                <a:lnTo>
                  <a:pt x="451830" y="100716"/>
                </a:lnTo>
                <a:lnTo>
                  <a:pt x="501080" y="84080"/>
                </a:lnTo>
                <a:lnTo>
                  <a:pt x="552207" y="68789"/>
                </a:lnTo>
                <a:lnTo>
                  <a:pt x="605110" y="54892"/>
                </a:lnTo>
                <a:lnTo>
                  <a:pt x="659688" y="42440"/>
                </a:lnTo>
                <a:lnTo>
                  <a:pt x="715839" y="31484"/>
                </a:lnTo>
                <a:lnTo>
                  <a:pt x="773463" y="22075"/>
                </a:lnTo>
                <a:lnTo>
                  <a:pt x="832458" y="14263"/>
                </a:lnTo>
                <a:lnTo>
                  <a:pt x="892722" y="8099"/>
                </a:lnTo>
                <a:lnTo>
                  <a:pt x="954155" y="3633"/>
                </a:lnTo>
                <a:lnTo>
                  <a:pt x="1016654" y="916"/>
                </a:lnTo>
                <a:lnTo>
                  <a:pt x="1080120" y="0"/>
                </a:lnTo>
                <a:lnTo>
                  <a:pt x="1143585" y="916"/>
                </a:lnTo>
                <a:lnTo>
                  <a:pt x="1206084" y="3633"/>
                </a:lnTo>
                <a:lnTo>
                  <a:pt x="1267517" y="8099"/>
                </a:lnTo>
                <a:lnTo>
                  <a:pt x="1327781" y="14263"/>
                </a:lnTo>
                <a:lnTo>
                  <a:pt x="1386775" y="22075"/>
                </a:lnTo>
                <a:lnTo>
                  <a:pt x="1444399" y="31484"/>
                </a:lnTo>
                <a:lnTo>
                  <a:pt x="1500551" y="42440"/>
                </a:lnTo>
                <a:lnTo>
                  <a:pt x="1555129" y="54892"/>
                </a:lnTo>
                <a:lnTo>
                  <a:pt x="1608032" y="68789"/>
                </a:lnTo>
                <a:lnTo>
                  <a:pt x="1659159" y="84080"/>
                </a:lnTo>
                <a:lnTo>
                  <a:pt x="1708408" y="100716"/>
                </a:lnTo>
                <a:lnTo>
                  <a:pt x="1755679" y="118645"/>
                </a:lnTo>
                <a:lnTo>
                  <a:pt x="1800870" y="137816"/>
                </a:lnTo>
                <a:lnTo>
                  <a:pt x="1843879" y="158179"/>
                </a:lnTo>
                <a:lnTo>
                  <a:pt x="1884606" y="179684"/>
                </a:lnTo>
                <a:lnTo>
                  <a:pt x="1922949" y="202279"/>
                </a:lnTo>
                <a:lnTo>
                  <a:pt x="1958806" y="225915"/>
                </a:lnTo>
                <a:lnTo>
                  <a:pt x="1992077" y="250540"/>
                </a:lnTo>
                <a:lnTo>
                  <a:pt x="2022661" y="276103"/>
                </a:lnTo>
                <a:lnTo>
                  <a:pt x="2050455" y="302555"/>
                </a:lnTo>
                <a:lnTo>
                  <a:pt x="2097270" y="357919"/>
                </a:lnTo>
                <a:lnTo>
                  <a:pt x="2131713" y="416229"/>
                </a:lnTo>
                <a:lnTo>
                  <a:pt x="2152973" y="477077"/>
                </a:lnTo>
                <a:lnTo>
                  <a:pt x="2160239" y="540060"/>
                </a:lnTo>
                <a:lnTo>
                  <a:pt x="2158406" y="571792"/>
                </a:lnTo>
                <a:lnTo>
                  <a:pt x="2144041" y="633758"/>
                </a:lnTo>
                <a:lnTo>
                  <a:pt x="2116088" y="693388"/>
                </a:lnTo>
                <a:lnTo>
                  <a:pt x="2075358" y="750275"/>
                </a:lnTo>
                <a:lnTo>
                  <a:pt x="2022661" y="804016"/>
                </a:lnTo>
                <a:lnTo>
                  <a:pt x="1992077" y="829579"/>
                </a:lnTo>
                <a:lnTo>
                  <a:pt x="1958806" y="854204"/>
                </a:lnTo>
                <a:lnTo>
                  <a:pt x="1922949" y="877839"/>
                </a:lnTo>
                <a:lnTo>
                  <a:pt x="1884606" y="900435"/>
                </a:lnTo>
                <a:lnTo>
                  <a:pt x="1843879" y="921939"/>
                </a:lnTo>
                <a:lnTo>
                  <a:pt x="1800870" y="942303"/>
                </a:lnTo>
                <a:lnTo>
                  <a:pt x="1755679" y="961474"/>
                </a:lnTo>
                <a:lnTo>
                  <a:pt x="1708408" y="979403"/>
                </a:lnTo>
                <a:lnTo>
                  <a:pt x="1659159" y="996038"/>
                </a:lnTo>
                <a:lnTo>
                  <a:pt x="1608032" y="1011330"/>
                </a:lnTo>
                <a:lnTo>
                  <a:pt x="1555129" y="1025227"/>
                </a:lnTo>
                <a:lnTo>
                  <a:pt x="1500551" y="1037679"/>
                </a:lnTo>
                <a:lnTo>
                  <a:pt x="1444399" y="1048635"/>
                </a:lnTo>
                <a:lnTo>
                  <a:pt x="1386775" y="1058044"/>
                </a:lnTo>
                <a:lnTo>
                  <a:pt x="1327781" y="1065856"/>
                </a:lnTo>
                <a:lnTo>
                  <a:pt x="1267517" y="1072020"/>
                </a:lnTo>
                <a:lnTo>
                  <a:pt x="1206084" y="1076486"/>
                </a:lnTo>
                <a:lnTo>
                  <a:pt x="1143585" y="1079203"/>
                </a:lnTo>
                <a:lnTo>
                  <a:pt x="1080120" y="1080119"/>
                </a:lnTo>
                <a:lnTo>
                  <a:pt x="1016654" y="1079203"/>
                </a:lnTo>
                <a:lnTo>
                  <a:pt x="954155" y="1076486"/>
                </a:lnTo>
                <a:lnTo>
                  <a:pt x="892722" y="1072020"/>
                </a:lnTo>
                <a:lnTo>
                  <a:pt x="832458" y="1065856"/>
                </a:lnTo>
                <a:lnTo>
                  <a:pt x="773463" y="1058044"/>
                </a:lnTo>
                <a:lnTo>
                  <a:pt x="715839" y="1048635"/>
                </a:lnTo>
                <a:lnTo>
                  <a:pt x="659688" y="1037679"/>
                </a:lnTo>
                <a:lnTo>
                  <a:pt x="605110" y="1025227"/>
                </a:lnTo>
                <a:lnTo>
                  <a:pt x="552207" y="1011330"/>
                </a:lnTo>
                <a:lnTo>
                  <a:pt x="501080" y="996038"/>
                </a:lnTo>
                <a:lnTo>
                  <a:pt x="451830" y="979403"/>
                </a:lnTo>
                <a:lnTo>
                  <a:pt x="404559" y="961474"/>
                </a:lnTo>
                <a:lnTo>
                  <a:pt x="359369" y="942303"/>
                </a:lnTo>
                <a:lnTo>
                  <a:pt x="316359" y="921939"/>
                </a:lnTo>
                <a:lnTo>
                  <a:pt x="275632" y="900435"/>
                </a:lnTo>
                <a:lnTo>
                  <a:pt x="237290" y="877839"/>
                </a:lnTo>
                <a:lnTo>
                  <a:pt x="201432" y="854204"/>
                </a:lnTo>
                <a:lnTo>
                  <a:pt x="168161" y="829579"/>
                </a:lnTo>
                <a:lnTo>
                  <a:pt x="137578" y="804016"/>
                </a:lnTo>
                <a:lnTo>
                  <a:pt x="109784" y="777564"/>
                </a:lnTo>
                <a:lnTo>
                  <a:pt x="62969" y="722199"/>
                </a:lnTo>
                <a:lnTo>
                  <a:pt x="28526" y="663890"/>
                </a:lnTo>
                <a:lnTo>
                  <a:pt x="7266" y="603042"/>
                </a:lnTo>
                <a:lnTo>
                  <a:pt x="0" y="540060"/>
                </a:lnTo>
                <a:close/>
              </a:path>
            </a:pathLst>
          </a:custGeom>
          <a:ln w="6349">
            <a:solidFill>
              <a:srgbClr val="6CACDD"/>
            </a:solidFill>
          </a:ln>
        </p:spPr>
        <p:txBody>
          <a:bodyPr wrap="square" lIns="0" tIns="0" rIns="0" bIns="0" rtlCol="0"/>
          <a:lstStyle/>
          <a:p>
            <a:endParaRPr/>
          </a:p>
        </p:txBody>
      </p:sp>
      <p:sp>
        <p:nvSpPr>
          <p:cNvPr id="15" name="object 15"/>
          <p:cNvSpPr/>
          <p:nvPr/>
        </p:nvSpPr>
        <p:spPr>
          <a:xfrm>
            <a:off x="7805064" y="2420508"/>
            <a:ext cx="1620520" cy="540385"/>
          </a:xfrm>
          <a:custGeom>
            <a:avLst/>
            <a:gdLst/>
            <a:ahLst/>
            <a:cxnLst/>
            <a:rect l="l" t="t" r="r" b="b"/>
            <a:pathLst>
              <a:path w="1620520" h="540385">
                <a:moveTo>
                  <a:pt x="0" y="270030"/>
                </a:moveTo>
                <a:lnTo>
                  <a:pt x="11731" y="316078"/>
                </a:lnTo>
                <a:lnTo>
                  <a:pt x="45630" y="359600"/>
                </a:lnTo>
                <a:lnTo>
                  <a:pt x="99751" y="399948"/>
                </a:lnTo>
                <a:lnTo>
                  <a:pt x="133786" y="418729"/>
                </a:lnTo>
                <a:lnTo>
                  <a:pt x="172148" y="436474"/>
                </a:lnTo>
                <a:lnTo>
                  <a:pt x="214592" y="453100"/>
                </a:lnTo>
                <a:lnTo>
                  <a:pt x="260876" y="468528"/>
                </a:lnTo>
                <a:lnTo>
                  <a:pt x="310756" y="482676"/>
                </a:lnTo>
                <a:lnTo>
                  <a:pt x="363990" y="495464"/>
                </a:lnTo>
                <a:lnTo>
                  <a:pt x="420333" y="506809"/>
                </a:lnTo>
                <a:lnTo>
                  <a:pt x="479544" y="516631"/>
                </a:lnTo>
                <a:lnTo>
                  <a:pt x="541378" y="524849"/>
                </a:lnTo>
                <a:lnTo>
                  <a:pt x="605593" y="531382"/>
                </a:lnTo>
                <a:lnTo>
                  <a:pt x="671945" y="536149"/>
                </a:lnTo>
                <a:lnTo>
                  <a:pt x="740192" y="539068"/>
                </a:lnTo>
                <a:lnTo>
                  <a:pt x="810090" y="540059"/>
                </a:lnTo>
                <a:lnTo>
                  <a:pt x="879987" y="539068"/>
                </a:lnTo>
                <a:lnTo>
                  <a:pt x="948234" y="536149"/>
                </a:lnTo>
                <a:lnTo>
                  <a:pt x="1014586" y="531382"/>
                </a:lnTo>
                <a:lnTo>
                  <a:pt x="1078801" y="524849"/>
                </a:lnTo>
                <a:lnTo>
                  <a:pt x="1140635" y="516631"/>
                </a:lnTo>
                <a:lnTo>
                  <a:pt x="1199845" y="506809"/>
                </a:lnTo>
                <a:lnTo>
                  <a:pt x="1256189" y="495464"/>
                </a:lnTo>
                <a:lnTo>
                  <a:pt x="1309422" y="482676"/>
                </a:lnTo>
                <a:lnTo>
                  <a:pt x="1359302" y="468528"/>
                </a:lnTo>
                <a:lnTo>
                  <a:pt x="1405586" y="453100"/>
                </a:lnTo>
                <a:lnTo>
                  <a:pt x="1448030" y="436474"/>
                </a:lnTo>
                <a:lnTo>
                  <a:pt x="1486392" y="418729"/>
                </a:lnTo>
                <a:lnTo>
                  <a:pt x="1520427" y="399948"/>
                </a:lnTo>
                <a:lnTo>
                  <a:pt x="1574548" y="359600"/>
                </a:lnTo>
                <a:lnTo>
                  <a:pt x="1608446" y="316078"/>
                </a:lnTo>
                <a:lnTo>
                  <a:pt x="1620178" y="270030"/>
                </a:lnTo>
                <a:lnTo>
                  <a:pt x="1617205" y="246730"/>
                </a:lnTo>
                <a:lnTo>
                  <a:pt x="1594146" y="201864"/>
                </a:lnTo>
                <a:lnTo>
                  <a:pt x="1549893" y="159848"/>
                </a:lnTo>
                <a:lnTo>
                  <a:pt x="1486392" y="121330"/>
                </a:lnTo>
                <a:lnTo>
                  <a:pt x="1448030" y="103585"/>
                </a:lnTo>
                <a:lnTo>
                  <a:pt x="1405586" y="86958"/>
                </a:lnTo>
                <a:lnTo>
                  <a:pt x="1359302" y="71530"/>
                </a:lnTo>
                <a:lnTo>
                  <a:pt x="1309422" y="57382"/>
                </a:lnTo>
                <a:lnTo>
                  <a:pt x="1256189" y="44595"/>
                </a:lnTo>
                <a:lnTo>
                  <a:pt x="1199845" y="33250"/>
                </a:lnTo>
                <a:lnTo>
                  <a:pt x="1140635" y="23428"/>
                </a:lnTo>
                <a:lnTo>
                  <a:pt x="1078801" y="15210"/>
                </a:lnTo>
                <a:lnTo>
                  <a:pt x="1014586" y="8677"/>
                </a:lnTo>
                <a:lnTo>
                  <a:pt x="948234" y="3910"/>
                </a:lnTo>
                <a:lnTo>
                  <a:pt x="879987" y="991"/>
                </a:lnTo>
                <a:lnTo>
                  <a:pt x="810090" y="0"/>
                </a:lnTo>
                <a:lnTo>
                  <a:pt x="740192" y="991"/>
                </a:lnTo>
                <a:lnTo>
                  <a:pt x="671945" y="3910"/>
                </a:lnTo>
                <a:lnTo>
                  <a:pt x="605593" y="8677"/>
                </a:lnTo>
                <a:lnTo>
                  <a:pt x="541378" y="15210"/>
                </a:lnTo>
                <a:lnTo>
                  <a:pt x="479544" y="23428"/>
                </a:lnTo>
                <a:lnTo>
                  <a:pt x="420333" y="33250"/>
                </a:lnTo>
                <a:lnTo>
                  <a:pt x="363990" y="44595"/>
                </a:lnTo>
                <a:lnTo>
                  <a:pt x="310756" y="57382"/>
                </a:lnTo>
                <a:lnTo>
                  <a:pt x="260876" y="71530"/>
                </a:lnTo>
                <a:lnTo>
                  <a:pt x="214592" y="86958"/>
                </a:lnTo>
                <a:lnTo>
                  <a:pt x="172148" y="103585"/>
                </a:lnTo>
                <a:lnTo>
                  <a:pt x="133786" y="121330"/>
                </a:lnTo>
                <a:lnTo>
                  <a:pt x="99751" y="140111"/>
                </a:lnTo>
                <a:lnTo>
                  <a:pt x="45630" y="180459"/>
                </a:lnTo>
                <a:lnTo>
                  <a:pt x="11731" y="223981"/>
                </a:lnTo>
                <a:lnTo>
                  <a:pt x="0" y="270030"/>
                </a:lnTo>
                <a:close/>
              </a:path>
            </a:pathLst>
          </a:custGeom>
          <a:ln w="6349">
            <a:solidFill>
              <a:srgbClr val="6CACDD"/>
            </a:solidFill>
          </a:ln>
        </p:spPr>
        <p:txBody>
          <a:bodyPr wrap="square" lIns="0" tIns="0" rIns="0" bIns="0" rtlCol="0"/>
          <a:lstStyle/>
          <a:p>
            <a:endParaRPr/>
          </a:p>
        </p:txBody>
      </p:sp>
      <p:sp>
        <p:nvSpPr>
          <p:cNvPr id="18" name="标题 17"/>
          <p:cNvSpPr>
            <a:spLocks noGrp="1"/>
          </p:cNvSpPr>
          <p:nvPr>
            <p:ph type="title"/>
          </p:nvPr>
        </p:nvSpPr>
        <p:spPr/>
        <p:txBody>
          <a:bodyPr/>
          <a:lstStyle/>
          <a:p>
            <a:r>
              <a:rPr lang="en-US" altLang="zh-CN" spc="-5" dirty="0">
                <a:latin typeface="Calibri" panose="020F0502020204030204"/>
                <a:cs typeface="Calibri" panose="020F0502020204030204"/>
              </a:rPr>
              <a:t>UML</a:t>
            </a:r>
            <a:r>
              <a:rPr lang="en-US" altLang="zh-CN" spc="-70" dirty="0">
                <a:latin typeface="Calibri" panose="020F0502020204030204"/>
                <a:cs typeface="Calibri" panose="020F0502020204030204"/>
              </a:rPr>
              <a:t> </a:t>
            </a:r>
            <a:r>
              <a:rPr lang="en-US" altLang="zh-CN" spc="-5" dirty="0">
                <a:latin typeface="Calibri" panose="020F0502020204030204"/>
                <a:cs typeface="Calibri" panose="020F0502020204030204"/>
              </a:rPr>
              <a:t>2.0</a:t>
            </a:r>
            <a:r>
              <a:rPr lang="zh-CN" altLang="en-US" spc="-5" dirty="0"/>
              <a:t>中图的分类</a:t>
            </a:r>
            <a:endParaRPr lang="zh-CN" altLang="en-US" dirty="0"/>
          </a:p>
        </p:txBody>
      </p:sp>
      <p:sp>
        <p:nvSpPr>
          <p:cNvPr id="19" name="矩形 18"/>
          <p:cNvSpPr/>
          <p:nvPr/>
        </p:nvSpPr>
        <p:spPr>
          <a:xfrm>
            <a:off x="3955517" y="5751165"/>
            <a:ext cx="980718" cy="369332"/>
          </a:xfrm>
          <a:prstGeom prst="rect">
            <a:avLst/>
          </a:prstGeom>
        </p:spPr>
        <p:txBody>
          <a:bodyPr wrap="none">
            <a:spAutoFit/>
          </a:bodyPr>
          <a:lstStyle/>
          <a:p>
            <a:pPr marL="12700">
              <a:lnSpc>
                <a:spcPct val="100000"/>
              </a:lnSpc>
            </a:pPr>
            <a:r>
              <a:rPr lang="en-US" altLang="zh-CN" dirty="0">
                <a:cs typeface="Calibri" panose="020F0502020204030204"/>
              </a:rPr>
              <a:t>UML</a:t>
            </a:r>
            <a:r>
              <a:rPr lang="en-US" altLang="zh-CN" spc="-15" dirty="0">
                <a:cs typeface="Calibri" panose="020F0502020204030204"/>
              </a:rPr>
              <a:t> </a:t>
            </a:r>
            <a:r>
              <a:rPr lang="en-US" altLang="zh-CN" spc="-5" dirty="0">
                <a:cs typeface="Calibri" panose="020F0502020204030204"/>
              </a:rPr>
              <a:t>2.5</a:t>
            </a:r>
            <a:endParaRPr lang="en-US" altLang="zh-CN" dirty="0">
              <a:cs typeface="Calibri" panose="020F0502020204030204"/>
            </a:endParaRPr>
          </a:p>
        </p:txBody>
      </p:sp>
      <p:sp>
        <p:nvSpPr>
          <p:cNvPr id="2" name="灯片编号占位符 1"/>
          <p:cNvSpPr>
            <a:spLocks noGrp="1"/>
          </p:cNvSpPr>
          <p:nvPr>
            <p:ph type="sldNum" sz="quarter" idx="12"/>
          </p:nvPr>
        </p:nvSpPr>
        <p:spPr/>
        <p:txBody>
          <a:bodyPr/>
          <a:lstStyle/>
          <a:p>
            <a:fld id="{74D2AB8B-5816-41F2-8B4B-CA5C3E4E6A65}" type="slidenum">
              <a:rPr lang="zh-CN" altLang="en-US" smtClean="0"/>
              <a:t>37</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68967"/>
    </mc:Choice>
    <mc:Fallback xmlns="">
      <p:transition spd="slow" advTm="68967"/>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452563"/>
            <a:ext cx="9144000" cy="2387600"/>
          </a:xfrm>
        </p:spPr>
        <p:txBody>
          <a:bodyPr>
            <a:normAutofit/>
          </a:bodyPr>
          <a:lstStyle/>
          <a:p>
            <a:r>
              <a:rPr lang="zh-CN" altLang="en-US" spc="-5" dirty="0"/>
              <a:t>顺序图</a:t>
            </a:r>
            <a:br>
              <a:rPr lang="en-US" altLang="zh-CN" dirty="0"/>
            </a:br>
            <a:r>
              <a:rPr lang="en-US" altLang="zh-CN" dirty="0"/>
              <a:t>Sequence Diagram</a:t>
            </a:r>
            <a:endParaRPr lang="zh-CN" altLang="en-US" dirty="0"/>
          </a:p>
        </p:txBody>
      </p:sp>
      <p:sp>
        <p:nvSpPr>
          <p:cNvPr id="4" name="副标题 2"/>
          <p:cNvSpPr>
            <a:spLocks noGrp="1"/>
          </p:cNvSpPr>
          <p:nvPr>
            <p:ph type="subTitle" idx="1"/>
          </p:nvPr>
        </p:nvSpPr>
        <p:spPr>
          <a:xfrm>
            <a:off x="1524000" y="4211637"/>
            <a:ext cx="9144000" cy="2130577"/>
          </a:xfrm>
        </p:spPr>
        <p:txBody>
          <a:bodyPr anchor="ctr">
            <a:normAutofit fontScale="92500" lnSpcReduction="20000"/>
          </a:bodyPr>
          <a:lstStyle/>
          <a:p>
            <a:r>
              <a:rPr lang="zh-CN" altLang="en-US" dirty="0"/>
              <a:t>李起成</a:t>
            </a:r>
            <a:endParaRPr lang="en-US" altLang="zh-CN" dirty="0"/>
          </a:p>
          <a:p>
            <a:r>
              <a:rPr lang="en-US" altLang="zh-CN" dirty="0"/>
              <a:t>College of</a:t>
            </a:r>
            <a:r>
              <a:rPr lang="zh-CN" altLang="en-US" dirty="0"/>
              <a:t> </a:t>
            </a:r>
            <a:r>
              <a:rPr lang="en-US" altLang="zh-CN" dirty="0"/>
              <a:t>Computer</a:t>
            </a:r>
            <a:r>
              <a:rPr lang="zh-CN" altLang="en-US" dirty="0"/>
              <a:t> </a:t>
            </a:r>
            <a:r>
              <a:rPr lang="en-US" altLang="zh-CN" dirty="0"/>
              <a:t>Science</a:t>
            </a:r>
          </a:p>
          <a:p>
            <a:r>
              <a:rPr lang="en-US" altLang="zh-CN" dirty="0"/>
              <a:t>Nankai</a:t>
            </a:r>
            <a:r>
              <a:rPr lang="zh-CN" altLang="en-US" dirty="0"/>
              <a:t> </a:t>
            </a:r>
            <a:r>
              <a:rPr lang="en-US" altLang="zh-CN" dirty="0"/>
              <a:t>University</a:t>
            </a:r>
          </a:p>
          <a:p>
            <a:endParaRPr lang="en-US" altLang="zh-CN" dirty="0"/>
          </a:p>
          <a:p>
            <a:r>
              <a:rPr lang="en-US" altLang="zh-CN" i="1" dirty="0"/>
              <a:t>Slides adapted from materials by Prof. </a:t>
            </a:r>
            <a:r>
              <a:rPr lang="en-US" altLang="zh-CN" i="1" dirty="0" err="1"/>
              <a:t>Qiang</a:t>
            </a:r>
            <a:r>
              <a:rPr lang="en-US" altLang="zh-CN" i="1" dirty="0"/>
              <a:t> Liu (Tsing Hua University) and </a:t>
            </a:r>
            <a:r>
              <a:rPr lang="en-US" altLang="en-US" i="1" dirty="0"/>
              <a:t>Ivan </a:t>
            </a:r>
            <a:r>
              <a:rPr lang="en-US" altLang="en-US" i="1" dirty="0" err="1"/>
              <a:t>Marsic</a:t>
            </a:r>
            <a:r>
              <a:rPr lang="en-US" altLang="en-US" i="1" dirty="0"/>
              <a:t> (</a:t>
            </a:r>
            <a:r>
              <a:rPr lang="en-US" altLang="en-US" i="1" dirty="0" err="1"/>
              <a:t>Rugers</a:t>
            </a:r>
            <a:r>
              <a:rPr lang="en-US" altLang="en-US" i="1" dirty="0"/>
              <a:t> University)</a:t>
            </a:r>
            <a:endParaRPr lang="zh-CN" altLang="en-US" i="1" dirty="0"/>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72729" y="131261"/>
            <a:ext cx="1846542" cy="180037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99" advTm="43041"/>
    </mc:Choice>
    <mc:Fallback xmlns="">
      <p:transition spd="slow" advTm="43041"/>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925878" y="2993158"/>
            <a:ext cx="1141730" cy="269240"/>
          </a:xfrm>
          <a:prstGeom prst="rect">
            <a:avLst/>
          </a:prstGeom>
        </p:spPr>
        <p:txBody>
          <a:bodyPr vert="horz" wrap="square" lIns="0" tIns="12700" rIns="0" bIns="0" rtlCol="0">
            <a:spAutoFit/>
          </a:bodyPr>
          <a:lstStyle/>
          <a:p>
            <a:pPr marL="12700">
              <a:lnSpc>
                <a:spcPct val="100000"/>
              </a:lnSpc>
              <a:spcBef>
                <a:spcPts val="100"/>
              </a:spcBef>
            </a:pPr>
            <a:r>
              <a:rPr sz="1600" u="sng" dirty="0">
                <a:uFill>
                  <a:solidFill>
                    <a:srgbClr val="000000"/>
                  </a:solidFill>
                </a:uFill>
                <a:latin typeface="微软雅黑" panose="020B0503020204020204" pitchFamily="34" charset="-122"/>
                <a:ea typeface="微软雅黑" panose="020B0503020204020204" pitchFamily="34" charset="-122"/>
                <a:cs typeface="华文新魏" panose="02010800040101010101" charset="-122"/>
              </a:rPr>
              <a:t>马小跳</a:t>
            </a:r>
            <a:r>
              <a:rPr sz="1600" u="sng" dirty="0">
                <a:uFill>
                  <a:solidFill>
                    <a:srgbClr val="000000"/>
                  </a:solidFill>
                </a:uFill>
                <a:latin typeface="微软雅黑" panose="020B0503020204020204" pitchFamily="34" charset="-122"/>
                <a:ea typeface="微软雅黑" panose="020B0503020204020204" pitchFamily="34" charset="-122"/>
                <a:cs typeface="Calibri" panose="020F0502020204030204"/>
              </a:rPr>
              <a:t>:</a:t>
            </a:r>
            <a:r>
              <a:rPr sz="1600" u="sng" spc="-80" dirty="0">
                <a:uFill>
                  <a:solidFill>
                    <a:srgbClr val="000000"/>
                  </a:solidFill>
                </a:uFill>
                <a:latin typeface="微软雅黑" panose="020B0503020204020204" pitchFamily="34" charset="-122"/>
                <a:ea typeface="微软雅黑" panose="020B0503020204020204" pitchFamily="34" charset="-122"/>
                <a:cs typeface="Calibri" panose="020F0502020204030204"/>
              </a:rPr>
              <a:t> </a:t>
            </a:r>
            <a:r>
              <a:rPr sz="1600" u="sng" dirty="0">
                <a:uFill>
                  <a:solidFill>
                    <a:srgbClr val="000000"/>
                  </a:solidFill>
                </a:uFill>
                <a:latin typeface="微软雅黑" panose="020B0503020204020204" pitchFamily="34" charset="-122"/>
                <a:ea typeface="微软雅黑" panose="020B0503020204020204" pitchFamily="34" charset="-122"/>
                <a:cs typeface="华文新魏" panose="02010800040101010101" charset="-122"/>
              </a:rPr>
              <a:t>学生</a:t>
            </a:r>
            <a:endParaRPr sz="1600">
              <a:latin typeface="微软雅黑" panose="020B0503020204020204" pitchFamily="34" charset="-122"/>
              <a:ea typeface="微软雅黑" panose="020B0503020204020204" pitchFamily="34" charset="-122"/>
              <a:cs typeface="华文新魏" panose="02010800040101010101" charset="-122"/>
            </a:endParaRPr>
          </a:p>
        </p:txBody>
      </p:sp>
      <p:sp>
        <p:nvSpPr>
          <p:cNvPr id="4" name="object 4"/>
          <p:cNvSpPr/>
          <p:nvPr/>
        </p:nvSpPr>
        <p:spPr>
          <a:xfrm>
            <a:off x="1229823" y="2346554"/>
            <a:ext cx="253924" cy="358169"/>
          </a:xfrm>
          <a:prstGeom prst="rect">
            <a:avLst/>
          </a:prstGeom>
          <a:blipFill>
            <a:blip r:embed="rId3" cstate="print"/>
            <a:stretch>
              <a:fillRect/>
            </a:stretch>
          </a:blipFill>
        </p:spPr>
        <p:txBody>
          <a:bodyPr wrap="square" lIns="0" tIns="0" rIns="0" bIns="0" rtlCol="0"/>
          <a:lstStyle/>
          <a:p>
            <a:endParaRPr sz="1600">
              <a:latin typeface="微软雅黑" panose="020B0503020204020204" pitchFamily="34" charset="-122"/>
              <a:ea typeface="微软雅黑" panose="020B0503020204020204" pitchFamily="34" charset="-122"/>
            </a:endParaRPr>
          </a:p>
        </p:txBody>
      </p:sp>
      <p:sp>
        <p:nvSpPr>
          <p:cNvPr id="5" name="object 5"/>
          <p:cNvSpPr/>
          <p:nvPr/>
        </p:nvSpPr>
        <p:spPr>
          <a:xfrm>
            <a:off x="1151468" y="2580407"/>
            <a:ext cx="410845" cy="1905"/>
          </a:xfrm>
          <a:custGeom>
            <a:avLst/>
            <a:gdLst/>
            <a:ahLst/>
            <a:cxnLst/>
            <a:rect l="l" t="t" r="r" b="b"/>
            <a:pathLst>
              <a:path w="410844" h="1905">
                <a:moveTo>
                  <a:pt x="0" y="0"/>
                </a:moveTo>
                <a:lnTo>
                  <a:pt x="410632" y="1587"/>
                </a:lnTo>
              </a:path>
            </a:pathLst>
          </a:custGeom>
          <a:ln w="4156">
            <a:solidFill>
              <a:srgbClr val="000000"/>
            </a:solidFill>
          </a:ln>
        </p:spPr>
        <p:txBody>
          <a:bodyPr wrap="square" lIns="0" tIns="0" rIns="0" bIns="0" rtlCol="0"/>
          <a:lstStyle/>
          <a:p>
            <a:endParaRPr sz="1600">
              <a:latin typeface="微软雅黑" panose="020B0503020204020204" pitchFamily="34" charset="-122"/>
              <a:ea typeface="微软雅黑" panose="020B0503020204020204" pitchFamily="34" charset="-122"/>
            </a:endParaRPr>
          </a:p>
        </p:txBody>
      </p:sp>
      <p:sp>
        <p:nvSpPr>
          <p:cNvPr id="6" name="object 6"/>
          <p:cNvSpPr/>
          <p:nvPr/>
        </p:nvSpPr>
        <p:spPr>
          <a:xfrm>
            <a:off x="1073150" y="2702645"/>
            <a:ext cx="567690" cy="198755"/>
          </a:xfrm>
          <a:custGeom>
            <a:avLst/>
            <a:gdLst/>
            <a:ahLst/>
            <a:cxnLst/>
            <a:rect l="l" t="t" r="r" b="b"/>
            <a:pathLst>
              <a:path w="567689" h="198755">
                <a:moveTo>
                  <a:pt x="0" y="198437"/>
                </a:moveTo>
                <a:lnTo>
                  <a:pt x="283633" y="0"/>
                </a:lnTo>
                <a:lnTo>
                  <a:pt x="567266" y="198437"/>
                </a:lnTo>
              </a:path>
            </a:pathLst>
          </a:custGeom>
          <a:ln w="4156">
            <a:solidFill>
              <a:srgbClr val="000000"/>
            </a:solidFill>
          </a:ln>
        </p:spPr>
        <p:txBody>
          <a:bodyPr wrap="square" lIns="0" tIns="0" rIns="0" bIns="0" rtlCol="0"/>
          <a:lstStyle/>
          <a:p>
            <a:endParaRPr sz="1600">
              <a:latin typeface="微软雅黑" panose="020B0503020204020204" pitchFamily="34" charset="-122"/>
              <a:ea typeface="微软雅黑" panose="020B0503020204020204" pitchFamily="34" charset="-122"/>
            </a:endParaRPr>
          </a:p>
        </p:txBody>
      </p:sp>
      <p:sp>
        <p:nvSpPr>
          <p:cNvPr id="7" name="object 7"/>
          <p:cNvSpPr txBox="1"/>
          <p:nvPr/>
        </p:nvSpPr>
        <p:spPr>
          <a:xfrm>
            <a:off x="2929467" y="2924894"/>
            <a:ext cx="1581150" cy="318036"/>
          </a:xfrm>
          <a:prstGeom prst="rect">
            <a:avLst/>
          </a:prstGeom>
          <a:solidFill>
            <a:srgbClr val="ECEBEB"/>
          </a:solidFill>
          <a:ln w="4156">
            <a:solidFill>
              <a:srgbClr val="000000"/>
            </a:solidFill>
          </a:ln>
        </p:spPr>
        <p:txBody>
          <a:bodyPr vert="horz" wrap="square" lIns="0" tIns="71120" rIns="0" bIns="0" rtlCol="0">
            <a:spAutoFit/>
          </a:bodyPr>
          <a:lstStyle/>
          <a:p>
            <a:pPr marL="302260">
              <a:lnSpc>
                <a:spcPct val="100000"/>
              </a:lnSpc>
              <a:spcBef>
                <a:spcPts val="560"/>
              </a:spcBef>
            </a:pPr>
            <a:r>
              <a:rPr sz="1600" dirty="0">
                <a:latin typeface="微软雅黑" panose="020B0503020204020204" pitchFamily="34" charset="-122"/>
                <a:ea typeface="微软雅黑" panose="020B0503020204020204" pitchFamily="34" charset="-122"/>
                <a:cs typeface="华文新魏" panose="02010800040101010101" charset="-122"/>
              </a:rPr>
              <a:t>选课登记表</a:t>
            </a:r>
            <a:endParaRPr sz="1600">
              <a:latin typeface="微软雅黑" panose="020B0503020204020204" pitchFamily="34" charset="-122"/>
              <a:ea typeface="微软雅黑" panose="020B0503020204020204" pitchFamily="34" charset="-122"/>
              <a:cs typeface="华文新魏" panose="02010800040101010101" charset="-122"/>
            </a:endParaRPr>
          </a:p>
        </p:txBody>
      </p:sp>
      <p:sp>
        <p:nvSpPr>
          <p:cNvPr id="8" name="object 8"/>
          <p:cNvSpPr txBox="1"/>
          <p:nvPr/>
        </p:nvSpPr>
        <p:spPr>
          <a:xfrm>
            <a:off x="5257798" y="2921719"/>
            <a:ext cx="1579245" cy="321242"/>
          </a:xfrm>
          <a:prstGeom prst="rect">
            <a:avLst/>
          </a:prstGeom>
          <a:solidFill>
            <a:srgbClr val="ECEBEB"/>
          </a:solidFill>
          <a:ln w="4156">
            <a:solidFill>
              <a:srgbClr val="000000"/>
            </a:solidFill>
          </a:ln>
        </p:spPr>
        <p:txBody>
          <a:bodyPr vert="horz" wrap="square" lIns="0" tIns="74295" rIns="0" bIns="0" rtlCol="0">
            <a:spAutoFit/>
          </a:bodyPr>
          <a:lstStyle/>
          <a:p>
            <a:pPr marL="279400">
              <a:lnSpc>
                <a:spcPct val="100000"/>
              </a:lnSpc>
              <a:spcBef>
                <a:spcPts val="585"/>
              </a:spcBef>
            </a:pPr>
            <a:r>
              <a:rPr sz="1600" dirty="0">
                <a:latin typeface="微软雅黑" panose="020B0503020204020204" pitchFamily="34" charset="-122"/>
                <a:ea typeface="微软雅黑" panose="020B0503020204020204" pitchFamily="34" charset="-122"/>
                <a:cs typeface="华文新魏" panose="02010800040101010101" charset="-122"/>
              </a:rPr>
              <a:t>选课管理员</a:t>
            </a:r>
            <a:endParaRPr sz="1600">
              <a:latin typeface="微软雅黑" panose="020B0503020204020204" pitchFamily="34" charset="-122"/>
              <a:ea typeface="微软雅黑" panose="020B0503020204020204" pitchFamily="34" charset="-122"/>
              <a:cs typeface="华文新魏" panose="02010800040101010101" charset="-122"/>
            </a:endParaRPr>
          </a:p>
        </p:txBody>
      </p:sp>
      <p:sp>
        <p:nvSpPr>
          <p:cNvPr id="9" name="object 9"/>
          <p:cNvSpPr/>
          <p:nvPr/>
        </p:nvSpPr>
        <p:spPr>
          <a:xfrm>
            <a:off x="6047316" y="3510682"/>
            <a:ext cx="2540" cy="2692400"/>
          </a:xfrm>
          <a:custGeom>
            <a:avLst/>
            <a:gdLst/>
            <a:ahLst/>
            <a:cxnLst/>
            <a:rect l="l" t="t" r="r" b="b"/>
            <a:pathLst>
              <a:path w="2539" h="2692400">
                <a:moveTo>
                  <a:pt x="0" y="0"/>
                </a:moveTo>
                <a:lnTo>
                  <a:pt x="2116" y="2692399"/>
                </a:lnTo>
              </a:path>
            </a:pathLst>
          </a:custGeom>
          <a:ln w="6349">
            <a:solidFill>
              <a:srgbClr val="000000"/>
            </a:solidFill>
          </a:ln>
        </p:spPr>
        <p:txBody>
          <a:bodyPr wrap="square" lIns="0" tIns="0" rIns="0" bIns="0" rtlCol="0"/>
          <a:lstStyle/>
          <a:p>
            <a:endParaRPr sz="1600">
              <a:latin typeface="微软雅黑" panose="020B0503020204020204" pitchFamily="34" charset="-122"/>
              <a:ea typeface="微软雅黑" panose="020B0503020204020204" pitchFamily="34" charset="-122"/>
            </a:endParaRPr>
          </a:p>
        </p:txBody>
      </p:sp>
      <p:sp>
        <p:nvSpPr>
          <p:cNvPr id="10" name="object 10"/>
          <p:cNvSpPr txBox="1"/>
          <p:nvPr/>
        </p:nvSpPr>
        <p:spPr>
          <a:xfrm>
            <a:off x="7355416" y="2916957"/>
            <a:ext cx="1583690" cy="281487"/>
          </a:xfrm>
          <a:prstGeom prst="rect">
            <a:avLst/>
          </a:prstGeom>
          <a:solidFill>
            <a:srgbClr val="ECEBEB"/>
          </a:solidFill>
          <a:ln w="4156">
            <a:solidFill>
              <a:srgbClr val="000000"/>
            </a:solidFill>
          </a:ln>
        </p:spPr>
        <p:txBody>
          <a:bodyPr vert="horz" wrap="square" lIns="0" tIns="34925" rIns="0" bIns="0" rtlCol="0">
            <a:spAutoFit/>
          </a:bodyPr>
          <a:lstStyle/>
          <a:p>
            <a:pPr marL="346710">
              <a:lnSpc>
                <a:spcPct val="100000"/>
              </a:lnSpc>
              <a:spcBef>
                <a:spcPts val="275"/>
              </a:spcBef>
            </a:pPr>
            <a:r>
              <a:rPr sz="1600" dirty="0">
                <a:latin typeface="微软雅黑" panose="020B0503020204020204" pitchFamily="34" charset="-122"/>
                <a:ea typeface="微软雅黑" panose="020B0503020204020204" pitchFamily="34" charset="-122"/>
                <a:cs typeface="华文新魏" panose="02010800040101010101" charset="-122"/>
              </a:rPr>
              <a:t>线性代数</a:t>
            </a:r>
            <a:endParaRPr sz="1600">
              <a:latin typeface="微软雅黑" panose="020B0503020204020204" pitchFamily="34" charset="-122"/>
              <a:ea typeface="微软雅黑" panose="020B0503020204020204" pitchFamily="34" charset="-122"/>
              <a:cs typeface="华文新魏" panose="02010800040101010101" charset="-122"/>
            </a:endParaRPr>
          </a:p>
        </p:txBody>
      </p:sp>
      <p:sp>
        <p:nvSpPr>
          <p:cNvPr id="11" name="object 11"/>
          <p:cNvSpPr/>
          <p:nvPr/>
        </p:nvSpPr>
        <p:spPr>
          <a:xfrm>
            <a:off x="8147048" y="3505920"/>
            <a:ext cx="2540" cy="2694305"/>
          </a:xfrm>
          <a:custGeom>
            <a:avLst/>
            <a:gdLst/>
            <a:ahLst/>
            <a:cxnLst/>
            <a:rect l="l" t="t" r="r" b="b"/>
            <a:pathLst>
              <a:path w="2540" h="2694304">
                <a:moveTo>
                  <a:pt x="0" y="0"/>
                </a:moveTo>
                <a:lnTo>
                  <a:pt x="2116" y="2693987"/>
                </a:lnTo>
              </a:path>
            </a:pathLst>
          </a:custGeom>
          <a:ln w="6349">
            <a:solidFill>
              <a:srgbClr val="000000"/>
            </a:solidFill>
          </a:ln>
        </p:spPr>
        <p:txBody>
          <a:bodyPr wrap="square" lIns="0" tIns="0" rIns="0" bIns="0" rtlCol="0"/>
          <a:lstStyle/>
          <a:p>
            <a:endParaRPr sz="1600">
              <a:latin typeface="微软雅黑" panose="020B0503020204020204" pitchFamily="34" charset="-122"/>
              <a:ea typeface="微软雅黑" panose="020B0503020204020204" pitchFamily="34" charset="-122"/>
            </a:endParaRPr>
          </a:p>
        </p:txBody>
      </p:sp>
      <p:sp>
        <p:nvSpPr>
          <p:cNvPr id="12" name="object 12"/>
          <p:cNvSpPr/>
          <p:nvPr/>
        </p:nvSpPr>
        <p:spPr>
          <a:xfrm>
            <a:off x="3522998" y="3807456"/>
            <a:ext cx="189865" cy="55880"/>
          </a:xfrm>
          <a:custGeom>
            <a:avLst/>
            <a:gdLst/>
            <a:ahLst/>
            <a:cxnLst/>
            <a:rect l="l" t="t" r="r" b="b"/>
            <a:pathLst>
              <a:path w="189864" h="55879">
                <a:moveTo>
                  <a:pt x="189634" y="0"/>
                </a:moveTo>
                <a:lnTo>
                  <a:pt x="0" y="55652"/>
                </a:lnTo>
              </a:path>
            </a:pathLst>
          </a:custGeom>
          <a:ln w="9524">
            <a:solidFill>
              <a:srgbClr val="000000"/>
            </a:solidFill>
          </a:ln>
        </p:spPr>
        <p:txBody>
          <a:bodyPr wrap="square" lIns="0" tIns="0" rIns="0" bIns="0" rtlCol="0"/>
          <a:lstStyle/>
          <a:p>
            <a:endParaRPr sz="1600">
              <a:latin typeface="微软雅黑" panose="020B0503020204020204" pitchFamily="34" charset="-122"/>
              <a:ea typeface="微软雅黑" panose="020B0503020204020204" pitchFamily="34" charset="-122"/>
            </a:endParaRPr>
          </a:p>
        </p:txBody>
      </p:sp>
      <p:sp>
        <p:nvSpPr>
          <p:cNvPr id="13" name="object 13"/>
          <p:cNvSpPr/>
          <p:nvPr/>
        </p:nvSpPr>
        <p:spPr>
          <a:xfrm>
            <a:off x="3522998" y="3751804"/>
            <a:ext cx="189865" cy="55880"/>
          </a:xfrm>
          <a:custGeom>
            <a:avLst/>
            <a:gdLst/>
            <a:ahLst/>
            <a:cxnLst/>
            <a:rect l="l" t="t" r="r" b="b"/>
            <a:pathLst>
              <a:path w="189864" h="55879">
                <a:moveTo>
                  <a:pt x="189634" y="55652"/>
                </a:moveTo>
                <a:lnTo>
                  <a:pt x="0" y="0"/>
                </a:lnTo>
              </a:path>
            </a:pathLst>
          </a:custGeom>
          <a:ln w="9524">
            <a:solidFill>
              <a:srgbClr val="000000"/>
            </a:solidFill>
          </a:ln>
        </p:spPr>
        <p:txBody>
          <a:bodyPr wrap="square" lIns="0" tIns="0" rIns="0" bIns="0" rtlCol="0"/>
          <a:lstStyle/>
          <a:p>
            <a:endParaRPr sz="1600">
              <a:latin typeface="微软雅黑" panose="020B0503020204020204" pitchFamily="34" charset="-122"/>
              <a:ea typeface="微软雅黑" panose="020B0503020204020204" pitchFamily="34" charset="-122"/>
            </a:endParaRPr>
          </a:p>
        </p:txBody>
      </p:sp>
      <p:sp>
        <p:nvSpPr>
          <p:cNvPr id="14" name="object 14"/>
          <p:cNvSpPr/>
          <p:nvPr/>
        </p:nvSpPr>
        <p:spPr>
          <a:xfrm>
            <a:off x="3522998" y="4222130"/>
            <a:ext cx="189865" cy="55880"/>
          </a:xfrm>
          <a:custGeom>
            <a:avLst/>
            <a:gdLst/>
            <a:ahLst/>
            <a:cxnLst/>
            <a:rect l="l" t="t" r="r" b="b"/>
            <a:pathLst>
              <a:path w="189864" h="55879">
                <a:moveTo>
                  <a:pt x="189634" y="0"/>
                </a:moveTo>
                <a:lnTo>
                  <a:pt x="0" y="55315"/>
                </a:lnTo>
              </a:path>
            </a:pathLst>
          </a:custGeom>
          <a:ln w="9524">
            <a:solidFill>
              <a:srgbClr val="000000"/>
            </a:solidFill>
          </a:ln>
        </p:spPr>
        <p:txBody>
          <a:bodyPr wrap="square" lIns="0" tIns="0" rIns="0" bIns="0" rtlCol="0"/>
          <a:lstStyle/>
          <a:p>
            <a:endParaRPr sz="1600">
              <a:latin typeface="微软雅黑" panose="020B0503020204020204" pitchFamily="34" charset="-122"/>
              <a:ea typeface="微软雅黑" panose="020B0503020204020204" pitchFamily="34" charset="-122"/>
            </a:endParaRPr>
          </a:p>
        </p:txBody>
      </p:sp>
      <p:sp>
        <p:nvSpPr>
          <p:cNvPr id="15" name="object 15"/>
          <p:cNvSpPr/>
          <p:nvPr/>
        </p:nvSpPr>
        <p:spPr>
          <a:xfrm>
            <a:off x="3522998" y="4166814"/>
            <a:ext cx="189865" cy="55880"/>
          </a:xfrm>
          <a:custGeom>
            <a:avLst/>
            <a:gdLst/>
            <a:ahLst/>
            <a:cxnLst/>
            <a:rect l="l" t="t" r="r" b="b"/>
            <a:pathLst>
              <a:path w="189864" h="55879">
                <a:moveTo>
                  <a:pt x="189634" y="55315"/>
                </a:moveTo>
                <a:lnTo>
                  <a:pt x="0" y="0"/>
                </a:lnTo>
              </a:path>
            </a:pathLst>
          </a:custGeom>
          <a:ln w="9524">
            <a:solidFill>
              <a:srgbClr val="000000"/>
            </a:solidFill>
          </a:ln>
        </p:spPr>
        <p:txBody>
          <a:bodyPr wrap="square" lIns="0" tIns="0" rIns="0" bIns="0" rtlCol="0"/>
          <a:lstStyle/>
          <a:p>
            <a:endParaRPr sz="1600">
              <a:latin typeface="微软雅黑" panose="020B0503020204020204" pitchFamily="34" charset="-122"/>
              <a:ea typeface="微软雅黑" panose="020B0503020204020204" pitchFamily="34" charset="-122"/>
            </a:endParaRPr>
          </a:p>
        </p:txBody>
      </p:sp>
      <p:sp>
        <p:nvSpPr>
          <p:cNvPr id="16" name="object 16"/>
          <p:cNvSpPr/>
          <p:nvPr/>
        </p:nvSpPr>
        <p:spPr>
          <a:xfrm>
            <a:off x="5810320" y="4636749"/>
            <a:ext cx="189865" cy="55244"/>
          </a:xfrm>
          <a:custGeom>
            <a:avLst/>
            <a:gdLst/>
            <a:ahLst/>
            <a:cxnLst/>
            <a:rect l="l" t="t" r="r" b="b"/>
            <a:pathLst>
              <a:path w="189864" h="55245">
                <a:moveTo>
                  <a:pt x="189795" y="0"/>
                </a:moveTo>
                <a:lnTo>
                  <a:pt x="0" y="55034"/>
                </a:lnTo>
              </a:path>
            </a:pathLst>
          </a:custGeom>
          <a:ln w="9524">
            <a:solidFill>
              <a:srgbClr val="000000"/>
            </a:solidFill>
          </a:ln>
        </p:spPr>
        <p:txBody>
          <a:bodyPr wrap="square" lIns="0" tIns="0" rIns="0" bIns="0" rtlCol="0"/>
          <a:lstStyle/>
          <a:p>
            <a:endParaRPr sz="1600">
              <a:latin typeface="微软雅黑" panose="020B0503020204020204" pitchFamily="34" charset="-122"/>
              <a:ea typeface="微软雅黑" panose="020B0503020204020204" pitchFamily="34" charset="-122"/>
            </a:endParaRPr>
          </a:p>
        </p:txBody>
      </p:sp>
      <p:sp>
        <p:nvSpPr>
          <p:cNvPr id="17" name="object 17"/>
          <p:cNvSpPr/>
          <p:nvPr/>
        </p:nvSpPr>
        <p:spPr>
          <a:xfrm>
            <a:off x="5810320" y="4579996"/>
            <a:ext cx="189865" cy="57150"/>
          </a:xfrm>
          <a:custGeom>
            <a:avLst/>
            <a:gdLst/>
            <a:ahLst/>
            <a:cxnLst/>
            <a:rect l="l" t="t" r="r" b="b"/>
            <a:pathLst>
              <a:path w="189864" h="57150">
                <a:moveTo>
                  <a:pt x="189795" y="56752"/>
                </a:moveTo>
                <a:lnTo>
                  <a:pt x="0" y="0"/>
                </a:lnTo>
              </a:path>
            </a:pathLst>
          </a:custGeom>
          <a:ln w="9524">
            <a:solidFill>
              <a:srgbClr val="000000"/>
            </a:solidFill>
          </a:ln>
        </p:spPr>
        <p:txBody>
          <a:bodyPr wrap="square" lIns="0" tIns="0" rIns="0" bIns="0" rtlCol="0"/>
          <a:lstStyle/>
          <a:p>
            <a:endParaRPr sz="1600">
              <a:latin typeface="微软雅黑" panose="020B0503020204020204" pitchFamily="34" charset="-122"/>
              <a:ea typeface="微软雅黑" panose="020B0503020204020204" pitchFamily="34" charset="-122"/>
            </a:endParaRPr>
          </a:p>
        </p:txBody>
      </p:sp>
      <p:sp>
        <p:nvSpPr>
          <p:cNvPr id="18" name="object 18"/>
          <p:cNvSpPr/>
          <p:nvPr/>
        </p:nvSpPr>
        <p:spPr>
          <a:xfrm>
            <a:off x="3562350" y="4382220"/>
            <a:ext cx="2667000" cy="246379"/>
          </a:xfrm>
          <a:custGeom>
            <a:avLst/>
            <a:gdLst/>
            <a:ahLst/>
            <a:cxnLst/>
            <a:rect l="l" t="t" r="r" b="b"/>
            <a:pathLst>
              <a:path w="2667000" h="246379">
                <a:moveTo>
                  <a:pt x="0" y="0"/>
                </a:moveTo>
                <a:lnTo>
                  <a:pt x="2666998" y="0"/>
                </a:lnTo>
                <a:lnTo>
                  <a:pt x="2666998" y="245930"/>
                </a:lnTo>
                <a:lnTo>
                  <a:pt x="0" y="245930"/>
                </a:lnTo>
                <a:lnTo>
                  <a:pt x="0" y="0"/>
                </a:lnTo>
                <a:close/>
              </a:path>
            </a:pathLst>
          </a:custGeom>
          <a:ln w="9524">
            <a:solidFill>
              <a:srgbClr val="FFFFFF"/>
            </a:solidFill>
          </a:ln>
        </p:spPr>
        <p:txBody>
          <a:bodyPr wrap="square" lIns="0" tIns="0" rIns="0" bIns="0" rtlCol="0"/>
          <a:lstStyle/>
          <a:p>
            <a:endParaRPr sz="1600">
              <a:latin typeface="微软雅黑" panose="020B0503020204020204" pitchFamily="34" charset="-122"/>
              <a:ea typeface="微软雅黑" panose="020B0503020204020204" pitchFamily="34" charset="-122"/>
            </a:endParaRPr>
          </a:p>
        </p:txBody>
      </p:sp>
      <p:graphicFrame>
        <p:nvGraphicFramePr>
          <p:cNvPr id="19" name="object 19"/>
          <p:cNvGraphicFramePr>
            <a:graphicFrameLocks noGrp="1"/>
          </p:cNvGraphicFramePr>
          <p:nvPr/>
        </p:nvGraphicFramePr>
        <p:xfrm>
          <a:off x="1355726" y="3460411"/>
          <a:ext cx="4642485" cy="2721172"/>
        </p:xfrm>
        <a:graphic>
          <a:graphicData uri="http://schemas.openxmlformats.org/drawingml/2006/table">
            <a:tbl>
              <a:tblPr firstRow="1" bandRow="1">
                <a:tableStyleId>{2D5ABB26-0587-4C30-8999-92F81FD0307C}</a:tableStyleId>
              </a:tblPr>
              <a:tblGrid>
                <a:gridCol w="2362200">
                  <a:extLst>
                    <a:ext uri="{9D8B030D-6E8A-4147-A177-3AD203B41FA5}">
                      <a16:colId xmlns:a16="http://schemas.microsoft.com/office/drawing/2014/main" val="20000"/>
                    </a:ext>
                  </a:extLst>
                </a:gridCol>
                <a:gridCol w="2280285">
                  <a:extLst>
                    <a:ext uri="{9D8B030D-6E8A-4147-A177-3AD203B41FA5}">
                      <a16:colId xmlns:a16="http://schemas.microsoft.com/office/drawing/2014/main" val="20001"/>
                    </a:ext>
                  </a:extLst>
                </a:gridCol>
              </a:tblGrid>
              <a:tr h="343680">
                <a:tc>
                  <a:txBody>
                    <a:bodyPr/>
                    <a:lstStyle/>
                    <a:p>
                      <a:pPr marL="643255" algn="l" defTabSz="914400" rtl="0" eaLnBrk="1" latinLnBrk="0" hangingPunct="1">
                        <a:lnSpc>
                          <a:spcPts val="1905"/>
                        </a:lnSpc>
                        <a:spcBef>
                          <a:spcPts val="700"/>
                        </a:spcBef>
                      </a:pPr>
                      <a:r>
                        <a:rPr sz="1600" kern="1200" dirty="0">
                          <a:solidFill>
                            <a:schemeClr val="tx1"/>
                          </a:solidFill>
                          <a:latin typeface="Times New Roman" panose="02020603050405020304"/>
                          <a:ea typeface="+mn-ea"/>
                          <a:cs typeface="Times New Roman" panose="02020603050405020304"/>
                        </a:rPr>
                        <a:t>1: 填写个人信息</a:t>
                      </a:r>
                    </a:p>
                  </a:txBody>
                  <a:tcPr marL="0" marR="0" marT="88900" marB="0">
                    <a:lnL w="9525">
                      <a:solidFill>
                        <a:srgbClr val="000000"/>
                      </a:solidFill>
                      <a:prstDash val="solid"/>
                    </a:lnL>
                    <a:lnR w="9525">
                      <a:solidFill>
                        <a:srgbClr val="000000"/>
                      </a:solidFill>
                      <a:prstDash val="solid"/>
                    </a:lnR>
                    <a:lnB w="6350">
                      <a:solidFill>
                        <a:srgbClr val="000000"/>
                      </a:solidFill>
                      <a:prstDash val="solid"/>
                    </a:lnB>
                  </a:tcPr>
                </a:tc>
                <a:tc rowSpan="3">
                  <a:txBody>
                    <a:bodyPr/>
                    <a:lstStyle/>
                    <a:p>
                      <a:pPr>
                        <a:lnSpc>
                          <a:spcPct val="100000"/>
                        </a:lnSpc>
                      </a:pPr>
                      <a:endParaRPr sz="1600" dirty="0">
                        <a:latin typeface="Times New Roman" panose="02020603050405020304"/>
                        <a:cs typeface="Times New Roman" panose="02020603050405020304"/>
                      </a:endParaRPr>
                    </a:p>
                    <a:p>
                      <a:pPr>
                        <a:lnSpc>
                          <a:spcPct val="100000"/>
                        </a:lnSpc>
                      </a:pPr>
                      <a:endParaRPr sz="1600" dirty="0">
                        <a:latin typeface="Times New Roman" panose="02020603050405020304"/>
                        <a:cs typeface="Times New Roman" panose="02020603050405020304"/>
                      </a:endParaRPr>
                    </a:p>
                    <a:p>
                      <a:pPr>
                        <a:lnSpc>
                          <a:spcPct val="100000"/>
                        </a:lnSpc>
                      </a:pPr>
                      <a:endParaRPr sz="1600" dirty="0">
                        <a:latin typeface="Times New Roman" panose="02020603050405020304"/>
                        <a:cs typeface="Times New Roman" panose="02020603050405020304"/>
                      </a:endParaRPr>
                    </a:p>
                    <a:p>
                      <a:pPr>
                        <a:lnSpc>
                          <a:spcPct val="100000"/>
                        </a:lnSpc>
                        <a:spcBef>
                          <a:spcPts val="35"/>
                        </a:spcBef>
                      </a:pPr>
                      <a:endParaRPr sz="1450" dirty="0">
                        <a:latin typeface="Times New Roman" panose="02020603050405020304"/>
                        <a:cs typeface="Times New Roman" panose="02020603050405020304"/>
                      </a:endParaRPr>
                    </a:p>
                    <a:p>
                      <a:pPr marL="43180">
                        <a:lnSpc>
                          <a:spcPts val="1910"/>
                        </a:lnSpc>
                      </a:pPr>
                      <a:r>
                        <a:rPr sz="1600" kern="1200" dirty="0" err="1">
                          <a:solidFill>
                            <a:schemeClr val="tx1"/>
                          </a:solidFill>
                          <a:latin typeface="微软雅黑" panose="020B0503020204020204" pitchFamily="34" charset="-122"/>
                          <a:ea typeface="微软雅黑" panose="020B0503020204020204" pitchFamily="34" charset="-122"/>
                          <a:cs typeface="华文新魏" panose="02010800040101010101" charset="-122"/>
                        </a:rPr>
                        <a:t>将马小跳加入选课名</a:t>
                      </a:r>
                      <a:r>
                        <a:rPr lang="zh-CN" altLang="en-US" sz="1600" kern="1200" dirty="0">
                          <a:solidFill>
                            <a:schemeClr val="tx1"/>
                          </a:solidFill>
                          <a:latin typeface="微软雅黑" panose="020B0503020204020204" pitchFamily="34" charset="-122"/>
                          <a:ea typeface="微软雅黑" panose="020B0503020204020204" pitchFamily="34" charset="-122"/>
                          <a:cs typeface="华文新魏" panose="02010800040101010101" charset="-122"/>
                        </a:rPr>
                        <a:t>单</a:t>
                      </a:r>
                      <a:endParaRPr sz="1600" kern="1200" dirty="0">
                        <a:solidFill>
                          <a:schemeClr val="tx1"/>
                        </a:solidFill>
                        <a:latin typeface="微软雅黑" panose="020B0503020204020204" pitchFamily="34" charset="-122"/>
                        <a:ea typeface="微软雅黑" panose="020B0503020204020204" pitchFamily="34" charset="-122"/>
                        <a:cs typeface="华文新魏" panose="02010800040101010101" charset="-122"/>
                      </a:endParaRPr>
                    </a:p>
                  </a:txBody>
                  <a:tcPr marL="0" marR="0" marT="0" marB="0">
                    <a:lnL w="9525">
                      <a:solidFill>
                        <a:srgbClr val="000000"/>
                      </a:solidFill>
                      <a:prstDash val="solid"/>
                    </a:lnL>
                    <a:lnB w="6350">
                      <a:solidFill>
                        <a:srgbClr val="000000"/>
                      </a:solidFill>
                      <a:prstDash val="solid"/>
                    </a:lnB>
                  </a:tcPr>
                </a:tc>
                <a:extLst>
                  <a:ext uri="{0D108BD9-81ED-4DB2-BD59-A6C34878D82A}">
                    <a16:rowId xmlns:a16="http://schemas.microsoft.com/office/drawing/2014/main" val="10000"/>
                  </a:ext>
                </a:extLst>
              </a:tr>
              <a:tr h="414668">
                <a:tc>
                  <a:txBody>
                    <a:bodyPr/>
                    <a:lstStyle/>
                    <a:p>
                      <a:pPr marL="724535" algn="l" defTabSz="914400" rtl="0" eaLnBrk="1" latinLnBrk="0" hangingPunct="1">
                        <a:lnSpc>
                          <a:spcPct val="100000"/>
                        </a:lnSpc>
                        <a:spcBef>
                          <a:spcPts val="1240"/>
                        </a:spcBef>
                      </a:pPr>
                      <a:r>
                        <a:rPr sz="1600" kern="1200" dirty="0">
                          <a:solidFill>
                            <a:schemeClr val="tx1"/>
                          </a:solidFill>
                          <a:latin typeface="Times New Roman" panose="02020603050405020304"/>
                          <a:ea typeface="+mn-ea"/>
                          <a:cs typeface="Times New Roman" panose="02020603050405020304"/>
                        </a:rPr>
                        <a:t>2: 提交</a:t>
                      </a:r>
                    </a:p>
                  </a:txBody>
                  <a:tcPr marL="0" marR="0" marT="157480" marB="0">
                    <a:lnL w="9525">
                      <a:solidFill>
                        <a:srgbClr val="000000"/>
                      </a:solidFill>
                      <a:prstDash val="solid"/>
                    </a:lnL>
                    <a:lnR w="9525">
                      <a:solidFill>
                        <a:srgbClr val="000000"/>
                      </a:solidFill>
                      <a:prstDash val="solid"/>
                    </a:lnR>
                    <a:lnT w="6350">
                      <a:solidFill>
                        <a:srgbClr val="000000"/>
                      </a:solidFill>
                      <a:prstDash val="solid"/>
                    </a:lnT>
                    <a:lnB w="6350">
                      <a:solidFill>
                        <a:srgbClr val="000000"/>
                      </a:solidFill>
                      <a:prstDash val="solid"/>
                    </a:lnB>
                  </a:tcPr>
                </a:tc>
                <a:tc vMerge="1">
                  <a:txBody>
                    <a:bodyPr/>
                    <a:lstStyle/>
                    <a:p>
                      <a:endParaRPr lang="zh-CN"/>
                    </a:p>
                  </a:txBody>
                  <a:tcPr marL="0" marR="0" marT="0" marB="0">
                    <a:lnL w="9525">
                      <a:solidFill>
                        <a:srgbClr val="000000"/>
                      </a:solidFill>
                      <a:prstDash val="solid"/>
                    </a:lnL>
                    <a:lnB w="6350">
                      <a:solidFill>
                        <a:srgbClr val="000000"/>
                      </a:solidFill>
                      <a:prstDash val="solid"/>
                    </a:lnB>
                  </a:tcPr>
                </a:tc>
                <a:extLst>
                  <a:ext uri="{0D108BD9-81ED-4DB2-BD59-A6C34878D82A}">
                    <a16:rowId xmlns:a16="http://schemas.microsoft.com/office/drawing/2014/main" val="10001"/>
                  </a:ext>
                </a:extLst>
              </a:tr>
              <a:tr h="414614">
                <a:tc rowSpan="2">
                  <a:txBody>
                    <a:bodyPr/>
                    <a:lstStyle/>
                    <a:p>
                      <a:pPr algn="r">
                        <a:lnSpc>
                          <a:spcPct val="100000"/>
                        </a:lnSpc>
                        <a:spcBef>
                          <a:spcPts val="1250"/>
                        </a:spcBef>
                      </a:pPr>
                      <a:r>
                        <a:rPr sz="1600" dirty="0">
                          <a:latin typeface="Calibri" panose="020F0502020204030204"/>
                          <a:cs typeface="Calibri" panose="020F0502020204030204"/>
                        </a:rPr>
                        <a:t>3:</a:t>
                      </a:r>
                    </a:p>
                  </a:txBody>
                  <a:tcPr marL="0" marR="0" marT="158750" marB="0">
                    <a:lnL w="9525">
                      <a:solidFill>
                        <a:srgbClr val="000000"/>
                      </a:solidFill>
                      <a:prstDash val="solid"/>
                    </a:lnL>
                    <a:lnR w="9525">
                      <a:solidFill>
                        <a:srgbClr val="000000"/>
                      </a:solidFill>
                      <a:prstDash val="solid"/>
                    </a:lnR>
                    <a:lnT w="6350">
                      <a:solidFill>
                        <a:srgbClr val="000000"/>
                      </a:solidFill>
                      <a:prstDash val="solid"/>
                    </a:lnT>
                  </a:tcPr>
                </a:tc>
                <a:tc vMerge="1">
                  <a:txBody>
                    <a:bodyPr/>
                    <a:lstStyle/>
                    <a:p>
                      <a:endParaRPr lang="zh-CN"/>
                    </a:p>
                  </a:txBody>
                  <a:tcPr marL="0" marR="0" marT="0" marB="0">
                    <a:lnL w="9525">
                      <a:solidFill>
                        <a:srgbClr val="000000"/>
                      </a:solidFill>
                      <a:prstDash val="solid"/>
                    </a:lnL>
                    <a:lnB w="6350">
                      <a:solidFill>
                        <a:srgbClr val="000000"/>
                      </a:solidFill>
                      <a:prstDash val="solid"/>
                    </a:lnB>
                  </a:tcPr>
                </a:tc>
                <a:extLst>
                  <a:ext uri="{0D108BD9-81ED-4DB2-BD59-A6C34878D82A}">
                    <a16:rowId xmlns:a16="http://schemas.microsoft.com/office/drawing/2014/main" val="10002"/>
                  </a:ext>
                </a:extLst>
              </a:tr>
              <a:tr h="1527372">
                <a:tc vMerge="1">
                  <a:txBody>
                    <a:bodyPr/>
                    <a:lstStyle/>
                    <a:p>
                      <a:endParaRPr lang="zh-CN"/>
                    </a:p>
                  </a:txBody>
                  <a:tcPr marL="0" marR="0" marT="158750" marB="0">
                    <a:lnL w="9525">
                      <a:solidFill>
                        <a:srgbClr val="000000"/>
                      </a:solidFill>
                      <a:prstDash val="solid"/>
                    </a:lnL>
                    <a:lnR w="9525">
                      <a:solidFill>
                        <a:srgbClr val="000000"/>
                      </a:solidFill>
                      <a:prstDash val="solid"/>
                    </a:lnR>
                    <a:lnT w="6350">
                      <a:solidFill>
                        <a:srgbClr val="000000"/>
                      </a:solidFill>
                      <a:prstDash val="solid"/>
                    </a:lnT>
                  </a:tcPr>
                </a:tc>
                <a:tc>
                  <a:txBody>
                    <a:bodyPr/>
                    <a:lstStyle/>
                    <a:p>
                      <a:pPr>
                        <a:lnSpc>
                          <a:spcPct val="100000"/>
                        </a:lnSpc>
                      </a:pPr>
                      <a:endParaRPr sz="1900" dirty="0">
                        <a:latin typeface="Times New Roman" panose="02020603050405020304"/>
                        <a:cs typeface="Times New Roman" panose="02020603050405020304"/>
                      </a:endParaRPr>
                    </a:p>
                  </a:txBody>
                  <a:tcPr marL="0" marR="0" marT="0" marB="0">
                    <a:lnL w="9525">
                      <a:solidFill>
                        <a:srgbClr val="000000"/>
                      </a:solidFill>
                      <a:prstDash val="solid"/>
                    </a:lnL>
                    <a:lnT w="6350">
                      <a:solidFill>
                        <a:srgbClr val="000000"/>
                      </a:solidFill>
                      <a:prstDash val="solid"/>
                    </a:lnT>
                  </a:tcPr>
                </a:tc>
                <a:extLst>
                  <a:ext uri="{0D108BD9-81ED-4DB2-BD59-A6C34878D82A}">
                    <a16:rowId xmlns:a16="http://schemas.microsoft.com/office/drawing/2014/main" val="10003"/>
                  </a:ext>
                </a:extLst>
              </a:tr>
            </a:tbl>
          </a:graphicData>
        </a:graphic>
      </p:graphicFrame>
      <p:sp>
        <p:nvSpPr>
          <p:cNvPr id="20" name="object 20"/>
          <p:cNvSpPr/>
          <p:nvPr/>
        </p:nvSpPr>
        <p:spPr>
          <a:xfrm>
            <a:off x="5998632" y="4990762"/>
            <a:ext cx="2099945" cy="1905"/>
          </a:xfrm>
          <a:custGeom>
            <a:avLst/>
            <a:gdLst/>
            <a:ahLst/>
            <a:cxnLst/>
            <a:rect l="l" t="t" r="r" b="b"/>
            <a:pathLst>
              <a:path w="2099945" h="1904">
                <a:moveTo>
                  <a:pt x="0" y="0"/>
                </a:moveTo>
                <a:lnTo>
                  <a:pt x="2099731" y="1720"/>
                </a:lnTo>
              </a:path>
            </a:pathLst>
          </a:custGeom>
          <a:ln w="4156">
            <a:solidFill>
              <a:srgbClr val="000000"/>
            </a:solidFill>
          </a:ln>
        </p:spPr>
        <p:txBody>
          <a:bodyPr wrap="square" lIns="0" tIns="0" rIns="0" bIns="0" rtlCol="0"/>
          <a:lstStyle/>
          <a:p>
            <a:endParaRPr sz="1600">
              <a:latin typeface="微软雅黑" panose="020B0503020204020204" pitchFamily="34" charset="-122"/>
              <a:ea typeface="微软雅黑" panose="020B0503020204020204" pitchFamily="34" charset="-122"/>
            </a:endParaRPr>
          </a:p>
        </p:txBody>
      </p:sp>
      <p:sp>
        <p:nvSpPr>
          <p:cNvPr id="21" name="object 21"/>
          <p:cNvSpPr/>
          <p:nvPr/>
        </p:nvSpPr>
        <p:spPr>
          <a:xfrm>
            <a:off x="7908599" y="4990762"/>
            <a:ext cx="189865" cy="55244"/>
          </a:xfrm>
          <a:custGeom>
            <a:avLst/>
            <a:gdLst/>
            <a:ahLst/>
            <a:cxnLst/>
            <a:rect l="l" t="t" r="r" b="b"/>
            <a:pathLst>
              <a:path w="189865" h="55245">
                <a:moveTo>
                  <a:pt x="189765" y="0"/>
                </a:moveTo>
                <a:lnTo>
                  <a:pt x="0" y="55034"/>
                </a:lnTo>
              </a:path>
            </a:pathLst>
          </a:custGeom>
          <a:ln w="9524">
            <a:solidFill>
              <a:srgbClr val="000000"/>
            </a:solidFill>
          </a:ln>
        </p:spPr>
        <p:txBody>
          <a:bodyPr wrap="square" lIns="0" tIns="0" rIns="0" bIns="0" rtlCol="0"/>
          <a:lstStyle/>
          <a:p>
            <a:endParaRPr sz="1600">
              <a:latin typeface="微软雅黑" panose="020B0503020204020204" pitchFamily="34" charset="-122"/>
              <a:ea typeface="微软雅黑" panose="020B0503020204020204" pitchFamily="34" charset="-122"/>
            </a:endParaRPr>
          </a:p>
        </p:txBody>
      </p:sp>
      <p:sp>
        <p:nvSpPr>
          <p:cNvPr id="22" name="object 22"/>
          <p:cNvSpPr/>
          <p:nvPr/>
        </p:nvSpPr>
        <p:spPr>
          <a:xfrm>
            <a:off x="7908599" y="4935728"/>
            <a:ext cx="189865" cy="55244"/>
          </a:xfrm>
          <a:custGeom>
            <a:avLst/>
            <a:gdLst/>
            <a:ahLst/>
            <a:cxnLst/>
            <a:rect l="l" t="t" r="r" b="b"/>
            <a:pathLst>
              <a:path w="189865" h="55245">
                <a:moveTo>
                  <a:pt x="189765" y="55034"/>
                </a:moveTo>
                <a:lnTo>
                  <a:pt x="0" y="0"/>
                </a:lnTo>
              </a:path>
            </a:pathLst>
          </a:custGeom>
          <a:ln w="9524">
            <a:solidFill>
              <a:srgbClr val="000000"/>
            </a:solidFill>
          </a:ln>
        </p:spPr>
        <p:txBody>
          <a:bodyPr wrap="square" lIns="0" tIns="0" rIns="0" bIns="0" rtlCol="0"/>
          <a:lstStyle/>
          <a:p>
            <a:endParaRPr sz="1600">
              <a:latin typeface="微软雅黑" panose="020B0503020204020204" pitchFamily="34" charset="-122"/>
              <a:ea typeface="微软雅黑" panose="020B0503020204020204" pitchFamily="34" charset="-122"/>
            </a:endParaRPr>
          </a:p>
        </p:txBody>
      </p:sp>
      <p:sp>
        <p:nvSpPr>
          <p:cNvPr id="23" name="object 23"/>
          <p:cNvSpPr/>
          <p:nvPr/>
        </p:nvSpPr>
        <p:spPr>
          <a:xfrm>
            <a:off x="8189381" y="5211211"/>
            <a:ext cx="2099945" cy="1905"/>
          </a:xfrm>
          <a:custGeom>
            <a:avLst/>
            <a:gdLst/>
            <a:ahLst/>
            <a:cxnLst/>
            <a:rect l="l" t="t" r="r" b="b"/>
            <a:pathLst>
              <a:path w="2099945" h="1904">
                <a:moveTo>
                  <a:pt x="0" y="0"/>
                </a:moveTo>
                <a:lnTo>
                  <a:pt x="2099731" y="1726"/>
                </a:lnTo>
              </a:path>
            </a:pathLst>
          </a:custGeom>
          <a:ln w="4156">
            <a:solidFill>
              <a:srgbClr val="000000"/>
            </a:solidFill>
          </a:ln>
        </p:spPr>
        <p:txBody>
          <a:bodyPr wrap="square" lIns="0" tIns="0" rIns="0" bIns="0" rtlCol="0"/>
          <a:lstStyle/>
          <a:p>
            <a:endParaRPr sz="1600">
              <a:latin typeface="微软雅黑" panose="020B0503020204020204" pitchFamily="34" charset="-122"/>
              <a:ea typeface="微软雅黑" panose="020B0503020204020204" pitchFamily="34" charset="-122"/>
            </a:endParaRPr>
          </a:p>
        </p:txBody>
      </p:sp>
      <p:sp>
        <p:nvSpPr>
          <p:cNvPr id="24" name="object 24"/>
          <p:cNvSpPr/>
          <p:nvPr/>
        </p:nvSpPr>
        <p:spPr>
          <a:xfrm>
            <a:off x="10099349" y="5211211"/>
            <a:ext cx="189865" cy="55244"/>
          </a:xfrm>
          <a:custGeom>
            <a:avLst/>
            <a:gdLst/>
            <a:ahLst/>
            <a:cxnLst/>
            <a:rect l="l" t="t" r="r" b="b"/>
            <a:pathLst>
              <a:path w="189865" h="55245">
                <a:moveTo>
                  <a:pt x="189765" y="0"/>
                </a:moveTo>
                <a:lnTo>
                  <a:pt x="0" y="55245"/>
                </a:lnTo>
              </a:path>
            </a:pathLst>
          </a:custGeom>
          <a:ln w="9524">
            <a:solidFill>
              <a:srgbClr val="000000"/>
            </a:solidFill>
          </a:ln>
        </p:spPr>
        <p:txBody>
          <a:bodyPr wrap="square" lIns="0" tIns="0" rIns="0" bIns="0" rtlCol="0"/>
          <a:lstStyle/>
          <a:p>
            <a:endParaRPr sz="1600">
              <a:latin typeface="微软雅黑" panose="020B0503020204020204" pitchFamily="34" charset="-122"/>
              <a:ea typeface="微软雅黑" panose="020B0503020204020204" pitchFamily="34" charset="-122"/>
            </a:endParaRPr>
          </a:p>
        </p:txBody>
      </p:sp>
      <p:sp>
        <p:nvSpPr>
          <p:cNvPr id="25" name="object 25"/>
          <p:cNvSpPr/>
          <p:nvPr/>
        </p:nvSpPr>
        <p:spPr>
          <a:xfrm>
            <a:off x="10099349" y="5155966"/>
            <a:ext cx="189865" cy="55244"/>
          </a:xfrm>
          <a:custGeom>
            <a:avLst/>
            <a:gdLst/>
            <a:ahLst/>
            <a:cxnLst/>
            <a:rect l="l" t="t" r="r" b="b"/>
            <a:pathLst>
              <a:path w="189865" h="55245">
                <a:moveTo>
                  <a:pt x="189765" y="55245"/>
                </a:moveTo>
                <a:lnTo>
                  <a:pt x="0" y="0"/>
                </a:lnTo>
              </a:path>
            </a:pathLst>
          </a:custGeom>
          <a:ln w="9524">
            <a:solidFill>
              <a:srgbClr val="000000"/>
            </a:solidFill>
          </a:ln>
        </p:spPr>
        <p:txBody>
          <a:bodyPr wrap="square" lIns="0" tIns="0" rIns="0" bIns="0" rtlCol="0"/>
          <a:lstStyle/>
          <a:p>
            <a:endParaRPr sz="1600">
              <a:latin typeface="微软雅黑" panose="020B0503020204020204" pitchFamily="34" charset="-122"/>
              <a:ea typeface="微软雅黑" panose="020B0503020204020204" pitchFamily="34" charset="-122"/>
            </a:endParaRPr>
          </a:p>
        </p:txBody>
      </p:sp>
      <p:sp>
        <p:nvSpPr>
          <p:cNvPr id="26" name="object 26"/>
          <p:cNvSpPr txBox="1"/>
          <p:nvPr/>
        </p:nvSpPr>
        <p:spPr>
          <a:xfrm>
            <a:off x="5988149" y="4259347"/>
            <a:ext cx="4403725" cy="1483098"/>
          </a:xfrm>
          <a:prstGeom prst="rect">
            <a:avLst/>
          </a:prstGeom>
        </p:spPr>
        <p:txBody>
          <a:bodyPr vert="horz" wrap="square" lIns="0" tIns="122555" rIns="0" bIns="0" rtlCol="0">
            <a:spAutoFit/>
          </a:bodyPr>
          <a:lstStyle/>
          <a:p>
            <a:pPr marL="12700">
              <a:lnSpc>
                <a:spcPct val="100000"/>
              </a:lnSpc>
              <a:spcBef>
                <a:spcPts val="965"/>
              </a:spcBef>
            </a:pPr>
            <a:endParaRPr sz="1600" dirty="0">
              <a:latin typeface="微软雅黑" panose="020B0503020204020204" pitchFamily="34" charset="-122"/>
              <a:ea typeface="微软雅黑" panose="020B0503020204020204" pitchFamily="34" charset="-122"/>
              <a:cs typeface="华文新魏" panose="02010800040101010101" charset="-122"/>
            </a:endParaRPr>
          </a:p>
          <a:p>
            <a:pPr marL="264160">
              <a:lnSpc>
                <a:spcPct val="100000"/>
              </a:lnSpc>
              <a:spcBef>
                <a:spcPts val="870"/>
              </a:spcBef>
            </a:pPr>
            <a:r>
              <a:rPr sz="1600" dirty="0">
                <a:latin typeface="微软雅黑" panose="020B0503020204020204" pitchFamily="34" charset="-122"/>
                <a:ea typeface="微软雅黑" panose="020B0503020204020204" pitchFamily="34" charset="-122"/>
                <a:cs typeface="Calibri" panose="020F0502020204030204"/>
              </a:rPr>
              <a:t>4:</a:t>
            </a:r>
            <a:r>
              <a:rPr sz="1600" spc="-10" dirty="0">
                <a:latin typeface="微软雅黑" panose="020B0503020204020204" pitchFamily="34" charset="-122"/>
                <a:ea typeface="微软雅黑" panose="020B0503020204020204" pitchFamily="34" charset="-122"/>
                <a:cs typeface="Calibri" panose="020F0502020204030204"/>
              </a:rPr>
              <a:t> </a:t>
            </a:r>
            <a:r>
              <a:rPr sz="1600" dirty="0">
                <a:latin typeface="微软雅黑" panose="020B0503020204020204" pitchFamily="34" charset="-122"/>
                <a:ea typeface="微软雅黑" panose="020B0503020204020204" pitchFamily="34" charset="-122"/>
                <a:cs typeface="华文新魏" panose="02010800040101010101" charset="-122"/>
              </a:rPr>
              <a:t>添加马小跳</a:t>
            </a:r>
          </a:p>
          <a:p>
            <a:pPr marL="2558415">
              <a:lnSpc>
                <a:spcPct val="100000"/>
              </a:lnSpc>
              <a:spcBef>
                <a:spcPts val="80"/>
              </a:spcBef>
            </a:pPr>
            <a:r>
              <a:rPr sz="1600" dirty="0">
                <a:latin typeface="微软雅黑" panose="020B0503020204020204" pitchFamily="34" charset="-122"/>
                <a:ea typeface="微软雅黑" panose="020B0503020204020204" pitchFamily="34" charset="-122"/>
                <a:cs typeface="Calibri" panose="020F0502020204030204"/>
              </a:rPr>
              <a:t>5:</a:t>
            </a:r>
            <a:r>
              <a:rPr sz="1600" spc="-15" dirty="0">
                <a:latin typeface="微软雅黑" panose="020B0503020204020204" pitchFamily="34" charset="-122"/>
                <a:ea typeface="微软雅黑" panose="020B0503020204020204" pitchFamily="34" charset="-122"/>
                <a:cs typeface="Calibri" panose="020F0502020204030204"/>
              </a:rPr>
              <a:t> </a:t>
            </a:r>
            <a:r>
              <a:rPr sz="1600" dirty="0">
                <a:latin typeface="微软雅黑" panose="020B0503020204020204" pitchFamily="34" charset="-122"/>
                <a:ea typeface="微软雅黑" panose="020B0503020204020204" pitchFamily="34" charset="-122"/>
                <a:cs typeface="华文新魏" panose="02010800040101010101" charset="-122"/>
              </a:rPr>
              <a:t>还有位置吗</a:t>
            </a:r>
            <a:r>
              <a:rPr sz="1600" dirty="0">
                <a:latin typeface="微软雅黑" panose="020B0503020204020204" pitchFamily="34" charset="-122"/>
                <a:ea typeface="微软雅黑" panose="020B0503020204020204" pitchFamily="34" charset="-122"/>
                <a:cs typeface="Calibri" panose="020F0502020204030204"/>
              </a:rPr>
              <a:t>?</a:t>
            </a:r>
          </a:p>
          <a:p>
            <a:pPr>
              <a:lnSpc>
                <a:spcPct val="100000"/>
              </a:lnSpc>
              <a:spcBef>
                <a:spcPts val="40"/>
              </a:spcBef>
            </a:pPr>
            <a:endParaRPr sz="1600" dirty="0">
              <a:latin typeface="微软雅黑" panose="020B0503020204020204" pitchFamily="34" charset="-122"/>
              <a:ea typeface="微软雅黑" panose="020B0503020204020204" pitchFamily="34" charset="-122"/>
              <a:cs typeface="Times New Roman" panose="02020603050405020304"/>
            </a:endParaRPr>
          </a:p>
          <a:p>
            <a:pPr marL="2202815">
              <a:lnSpc>
                <a:spcPct val="100000"/>
              </a:lnSpc>
            </a:pPr>
            <a:r>
              <a:rPr sz="1600" u="sng" dirty="0">
                <a:uFill>
                  <a:solidFill>
                    <a:srgbClr val="000000"/>
                  </a:solidFill>
                </a:uFill>
                <a:latin typeface="微软雅黑" panose="020B0503020204020204" pitchFamily="34" charset="-122"/>
                <a:ea typeface="微软雅黑" panose="020B0503020204020204" pitchFamily="34" charset="-122"/>
                <a:cs typeface="Times New Roman" panose="02020603050405020304"/>
              </a:rPr>
              <a:t>  </a:t>
            </a:r>
            <a:r>
              <a:rPr sz="1600" u="sng" spc="20" dirty="0">
                <a:uFill>
                  <a:solidFill>
                    <a:srgbClr val="000000"/>
                  </a:solidFill>
                </a:uFill>
                <a:latin typeface="微软雅黑" panose="020B0503020204020204" pitchFamily="34" charset="-122"/>
                <a:ea typeface="微软雅黑" panose="020B0503020204020204" pitchFamily="34" charset="-122"/>
                <a:cs typeface="Times New Roman" panose="02020603050405020304"/>
              </a:rPr>
              <a:t> </a:t>
            </a:r>
            <a:r>
              <a:rPr sz="1600" u="sng" dirty="0">
                <a:uFill>
                  <a:solidFill>
                    <a:srgbClr val="000000"/>
                  </a:solidFill>
                </a:uFill>
                <a:latin typeface="微软雅黑" panose="020B0503020204020204" pitchFamily="34" charset="-122"/>
                <a:ea typeface="微软雅黑" panose="020B0503020204020204" pitchFamily="34" charset="-122"/>
                <a:cs typeface="Calibri" panose="020F0502020204030204"/>
              </a:rPr>
              <a:t>6:</a:t>
            </a:r>
            <a:r>
              <a:rPr sz="1600" u="sng" spc="-85" dirty="0">
                <a:uFill>
                  <a:solidFill>
                    <a:srgbClr val="000000"/>
                  </a:solidFill>
                </a:uFill>
                <a:latin typeface="微软雅黑" panose="020B0503020204020204" pitchFamily="34" charset="-122"/>
                <a:ea typeface="微软雅黑" panose="020B0503020204020204" pitchFamily="34" charset="-122"/>
                <a:cs typeface="Calibri" panose="020F0502020204030204"/>
              </a:rPr>
              <a:t> </a:t>
            </a:r>
            <a:r>
              <a:rPr sz="1600" u="sng" dirty="0" err="1">
                <a:uFill>
                  <a:solidFill>
                    <a:srgbClr val="000000"/>
                  </a:solidFill>
                </a:uFill>
                <a:latin typeface="微软雅黑" panose="020B0503020204020204" pitchFamily="34" charset="-122"/>
                <a:ea typeface="微软雅黑" panose="020B0503020204020204" pitchFamily="34" charset="-122"/>
                <a:cs typeface="华文新魏" panose="02010800040101010101" charset="-122"/>
              </a:rPr>
              <a:t>有，添加马小跳</a:t>
            </a:r>
            <a:endParaRPr sz="1600" dirty="0">
              <a:latin typeface="微软雅黑" panose="020B0503020204020204" pitchFamily="34" charset="-122"/>
              <a:ea typeface="微软雅黑" panose="020B0503020204020204" pitchFamily="34" charset="-122"/>
              <a:cs typeface="华文新魏" panose="02010800040101010101" charset="-122"/>
            </a:endParaRPr>
          </a:p>
        </p:txBody>
      </p:sp>
      <p:sp>
        <p:nvSpPr>
          <p:cNvPr id="27" name="object 27"/>
          <p:cNvSpPr/>
          <p:nvPr/>
        </p:nvSpPr>
        <p:spPr>
          <a:xfrm>
            <a:off x="10105597" y="5722439"/>
            <a:ext cx="190500" cy="55244"/>
          </a:xfrm>
          <a:custGeom>
            <a:avLst/>
            <a:gdLst/>
            <a:ahLst/>
            <a:cxnLst/>
            <a:rect l="l" t="t" r="r" b="b"/>
            <a:pathLst>
              <a:path w="190500" h="55245">
                <a:moveTo>
                  <a:pt x="189965" y="0"/>
                </a:moveTo>
                <a:lnTo>
                  <a:pt x="0" y="55194"/>
                </a:lnTo>
              </a:path>
            </a:pathLst>
          </a:custGeom>
          <a:ln w="9524">
            <a:solidFill>
              <a:srgbClr val="000000"/>
            </a:solidFill>
          </a:ln>
        </p:spPr>
        <p:txBody>
          <a:bodyPr wrap="square" lIns="0" tIns="0" rIns="0" bIns="0" rtlCol="0"/>
          <a:lstStyle/>
          <a:p>
            <a:endParaRPr sz="1600">
              <a:latin typeface="微软雅黑" panose="020B0503020204020204" pitchFamily="34" charset="-122"/>
              <a:ea typeface="微软雅黑" panose="020B0503020204020204" pitchFamily="34" charset="-122"/>
            </a:endParaRPr>
          </a:p>
        </p:txBody>
      </p:sp>
      <p:sp>
        <p:nvSpPr>
          <p:cNvPr id="28" name="object 28"/>
          <p:cNvSpPr/>
          <p:nvPr/>
        </p:nvSpPr>
        <p:spPr>
          <a:xfrm>
            <a:off x="10105597" y="5667245"/>
            <a:ext cx="190500" cy="55244"/>
          </a:xfrm>
          <a:custGeom>
            <a:avLst/>
            <a:gdLst/>
            <a:ahLst/>
            <a:cxnLst/>
            <a:rect l="l" t="t" r="r" b="b"/>
            <a:pathLst>
              <a:path w="190500" h="55245">
                <a:moveTo>
                  <a:pt x="189965" y="55194"/>
                </a:moveTo>
                <a:lnTo>
                  <a:pt x="0" y="0"/>
                </a:lnTo>
              </a:path>
            </a:pathLst>
          </a:custGeom>
          <a:ln w="9524">
            <a:solidFill>
              <a:srgbClr val="000000"/>
            </a:solidFill>
          </a:ln>
        </p:spPr>
        <p:txBody>
          <a:bodyPr wrap="square" lIns="0" tIns="0" rIns="0" bIns="0" rtlCol="0"/>
          <a:lstStyle/>
          <a:p>
            <a:endParaRPr sz="1600">
              <a:latin typeface="微软雅黑" panose="020B0503020204020204" pitchFamily="34" charset="-122"/>
              <a:ea typeface="微软雅黑" panose="020B0503020204020204" pitchFamily="34" charset="-122"/>
            </a:endParaRPr>
          </a:p>
        </p:txBody>
      </p:sp>
      <p:sp>
        <p:nvSpPr>
          <p:cNvPr id="29" name="object 29"/>
          <p:cNvSpPr/>
          <p:nvPr/>
        </p:nvSpPr>
        <p:spPr>
          <a:xfrm>
            <a:off x="10337797" y="3491632"/>
            <a:ext cx="0" cy="2667000"/>
          </a:xfrm>
          <a:custGeom>
            <a:avLst/>
            <a:gdLst/>
            <a:ahLst/>
            <a:cxnLst/>
            <a:rect l="l" t="t" r="r" b="b"/>
            <a:pathLst>
              <a:path h="2667000">
                <a:moveTo>
                  <a:pt x="0" y="0"/>
                </a:moveTo>
                <a:lnTo>
                  <a:pt x="0" y="2666999"/>
                </a:lnTo>
              </a:path>
            </a:pathLst>
          </a:custGeom>
          <a:ln w="6349">
            <a:solidFill>
              <a:srgbClr val="000000"/>
            </a:solidFill>
          </a:ln>
        </p:spPr>
        <p:txBody>
          <a:bodyPr wrap="square" lIns="0" tIns="0" rIns="0" bIns="0" rtlCol="0"/>
          <a:lstStyle/>
          <a:p>
            <a:endParaRPr sz="1600">
              <a:latin typeface="微软雅黑" panose="020B0503020204020204" pitchFamily="34" charset="-122"/>
              <a:ea typeface="微软雅黑" panose="020B0503020204020204" pitchFamily="34" charset="-122"/>
            </a:endParaRPr>
          </a:p>
        </p:txBody>
      </p:sp>
      <p:sp>
        <p:nvSpPr>
          <p:cNvPr id="30" name="object 30"/>
          <p:cNvSpPr/>
          <p:nvPr/>
        </p:nvSpPr>
        <p:spPr>
          <a:xfrm>
            <a:off x="9569447" y="2916957"/>
            <a:ext cx="1581150" cy="436880"/>
          </a:xfrm>
          <a:custGeom>
            <a:avLst/>
            <a:gdLst/>
            <a:ahLst/>
            <a:cxnLst/>
            <a:rect l="l" t="t" r="r" b="b"/>
            <a:pathLst>
              <a:path w="1581150" h="436880">
                <a:moveTo>
                  <a:pt x="0" y="0"/>
                </a:moveTo>
                <a:lnTo>
                  <a:pt x="1581150" y="0"/>
                </a:lnTo>
                <a:lnTo>
                  <a:pt x="1581150" y="436562"/>
                </a:lnTo>
                <a:lnTo>
                  <a:pt x="0" y="436562"/>
                </a:lnTo>
                <a:lnTo>
                  <a:pt x="0" y="0"/>
                </a:lnTo>
                <a:close/>
              </a:path>
            </a:pathLst>
          </a:custGeom>
          <a:solidFill>
            <a:srgbClr val="ECEBEB"/>
          </a:solidFill>
        </p:spPr>
        <p:txBody>
          <a:bodyPr wrap="square" lIns="0" tIns="0" rIns="0" bIns="0" rtlCol="0"/>
          <a:lstStyle/>
          <a:p>
            <a:endParaRPr sz="1600">
              <a:latin typeface="微软雅黑" panose="020B0503020204020204" pitchFamily="34" charset="-122"/>
              <a:ea typeface="微软雅黑" panose="020B0503020204020204" pitchFamily="34" charset="-122"/>
            </a:endParaRPr>
          </a:p>
        </p:txBody>
      </p:sp>
      <p:sp>
        <p:nvSpPr>
          <p:cNvPr id="31" name="object 31"/>
          <p:cNvSpPr/>
          <p:nvPr/>
        </p:nvSpPr>
        <p:spPr>
          <a:xfrm>
            <a:off x="9569447" y="2916957"/>
            <a:ext cx="1581150" cy="436880"/>
          </a:xfrm>
          <a:custGeom>
            <a:avLst/>
            <a:gdLst/>
            <a:ahLst/>
            <a:cxnLst/>
            <a:rect l="l" t="t" r="r" b="b"/>
            <a:pathLst>
              <a:path w="1581150" h="436880">
                <a:moveTo>
                  <a:pt x="0" y="0"/>
                </a:moveTo>
                <a:lnTo>
                  <a:pt x="1581149" y="0"/>
                </a:lnTo>
                <a:lnTo>
                  <a:pt x="1581149" y="436562"/>
                </a:lnTo>
                <a:lnTo>
                  <a:pt x="0" y="436562"/>
                </a:lnTo>
                <a:lnTo>
                  <a:pt x="0" y="0"/>
                </a:lnTo>
                <a:close/>
              </a:path>
            </a:pathLst>
          </a:custGeom>
          <a:ln w="4156">
            <a:solidFill>
              <a:srgbClr val="000000"/>
            </a:solidFill>
          </a:ln>
        </p:spPr>
        <p:txBody>
          <a:bodyPr wrap="square" lIns="0" tIns="0" rIns="0" bIns="0" rtlCol="0"/>
          <a:lstStyle/>
          <a:p>
            <a:endParaRPr sz="1600">
              <a:latin typeface="微软雅黑" panose="020B0503020204020204" pitchFamily="34" charset="-122"/>
              <a:ea typeface="微软雅黑" panose="020B0503020204020204" pitchFamily="34" charset="-122"/>
            </a:endParaRPr>
          </a:p>
        </p:txBody>
      </p:sp>
      <p:sp>
        <p:nvSpPr>
          <p:cNvPr id="32" name="object 32"/>
          <p:cNvSpPr txBox="1"/>
          <p:nvPr/>
        </p:nvSpPr>
        <p:spPr>
          <a:xfrm>
            <a:off x="352375" y="1556545"/>
            <a:ext cx="11388090" cy="393056"/>
          </a:xfrm>
          <a:prstGeom prst="rect">
            <a:avLst/>
          </a:prstGeom>
          <a:solidFill>
            <a:srgbClr val="7A4779"/>
          </a:solidFill>
        </p:spPr>
        <p:txBody>
          <a:bodyPr vert="horz" wrap="square" lIns="0" tIns="23495" rIns="0" bIns="0" rtlCol="0">
            <a:spAutoFit/>
          </a:bodyPr>
          <a:lstStyle/>
          <a:p>
            <a:pPr marL="336550" indent="-229235">
              <a:lnSpc>
                <a:spcPct val="100000"/>
              </a:lnSpc>
              <a:spcBef>
                <a:spcPts val="185"/>
              </a:spcBef>
              <a:buFont typeface="Arial" panose="020B0604020202020204"/>
              <a:buChar char="•"/>
              <a:tabLst>
                <a:tab pos="336550" algn="l"/>
              </a:tabLst>
            </a:pPr>
            <a:r>
              <a:rPr sz="2400" dirty="0">
                <a:solidFill>
                  <a:srgbClr val="FFFFFF"/>
                </a:solidFill>
                <a:latin typeface="微软雅黑" panose="020B0503020204020204" pitchFamily="34" charset="-122"/>
                <a:ea typeface="微软雅黑" panose="020B0503020204020204" pitchFamily="34" charset="-122"/>
                <a:cs typeface="华文新魏" panose="02010800040101010101" charset="-122"/>
              </a:rPr>
              <a:t>顺序图用来刻画系统实现某个功能的必要步骤</a:t>
            </a:r>
            <a:endParaRPr sz="2400">
              <a:latin typeface="微软雅黑" panose="020B0503020204020204" pitchFamily="34" charset="-122"/>
              <a:ea typeface="微软雅黑" panose="020B0503020204020204" pitchFamily="34" charset="-122"/>
              <a:cs typeface="华文新魏" panose="02010800040101010101" charset="-122"/>
            </a:endParaRPr>
          </a:p>
        </p:txBody>
      </p:sp>
      <p:sp>
        <p:nvSpPr>
          <p:cNvPr id="34" name="object 34"/>
          <p:cNvSpPr txBox="1"/>
          <p:nvPr/>
        </p:nvSpPr>
        <p:spPr>
          <a:xfrm>
            <a:off x="9903881" y="2945532"/>
            <a:ext cx="838200" cy="448309"/>
          </a:xfrm>
          <a:prstGeom prst="rect">
            <a:avLst/>
          </a:prstGeom>
        </p:spPr>
        <p:txBody>
          <a:bodyPr vert="horz" wrap="square" lIns="0" tIns="12700" rIns="0" bIns="0" rtlCol="0">
            <a:spAutoFit/>
          </a:bodyPr>
          <a:lstStyle/>
          <a:p>
            <a:pPr marL="12700">
              <a:lnSpc>
                <a:spcPts val="1665"/>
              </a:lnSpc>
              <a:spcBef>
                <a:spcPts val="100"/>
              </a:spcBef>
            </a:pPr>
            <a:r>
              <a:rPr sz="1600" dirty="0">
                <a:latin typeface="微软雅黑" panose="020B0503020204020204" pitchFamily="34" charset="-122"/>
                <a:ea typeface="微软雅黑" panose="020B0503020204020204" pitchFamily="34" charset="-122"/>
                <a:cs typeface="华文新魏" panose="02010800040101010101" charset="-122"/>
              </a:rPr>
              <a:t>线性代数</a:t>
            </a:r>
            <a:endParaRPr sz="1600">
              <a:latin typeface="微软雅黑" panose="020B0503020204020204" pitchFamily="34" charset="-122"/>
              <a:ea typeface="微软雅黑" panose="020B0503020204020204" pitchFamily="34" charset="-122"/>
              <a:cs typeface="华文新魏" panose="02010800040101010101" charset="-122"/>
            </a:endParaRPr>
          </a:p>
          <a:p>
            <a:pPr marL="302895">
              <a:lnSpc>
                <a:spcPts val="1665"/>
              </a:lnSpc>
            </a:pPr>
            <a:r>
              <a:rPr sz="1600" dirty="0">
                <a:latin typeface="微软雅黑" panose="020B0503020204020204" pitchFamily="34" charset="-122"/>
                <a:ea typeface="微软雅黑" panose="020B0503020204020204" pitchFamily="34" charset="-122"/>
                <a:cs typeface="Calibri" panose="020F0502020204030204"/>
              </a:rPr>
              <a:t>A</a:t>
            </a:r>
            <a:r>
              <a:rPr sz="1600" dirty="0">
                <a:latin typeface="微软雅黑" panose="020B0503020204020204" pitchFamily="34" charset="-122"/>
                <a:ea typeface="微软雅黑" panose="020B0503020204020204" pitchFamily="34" charset="-122"/>
                <a:cs typeface="华文新魏" panose="02010800040101010101" charset="-122"/>
              </a:rPr>
              <a:t>段</a:t>
            </a:r>
            <a:endParaRPr sz="1600">
              <a:latin typeface="微软雅黑" panose="020B0503020204020204" pitchFamily="34" charset="-122"/>
              <a:ea typeface="微软雅黑" panose="020B0503020204020204" pitchFamily="34" charset="-122"/>
              <a:cs typeface="华文新魏" panose="02010800040101010101" charset="-122"/>
            </a:endParaRPr>
          </a:p>
        </p:txBody>
      </p:sp>
      <p:sp>
        <p:nvSpPr>
          <p:cNvPr id="37" name="标题 36"/>
          <p:cNvSpPr>
            <a:spLocks noGrp="1"/>
          </p:cNvSpPr>
          <p:nvPr>
            <p:ph type="title"/>
          </p:nvPr>
        </p:nvSpPr>
        <p:spPr/>
        <p:txBody>
          <a:bodyPr/>
          <a:lstStyle/>
          <a:p>
            <a:r>
              <a:rPr lang="zh-CN" altLang="en-US" spc="-5" dirty="0"/>
              <a:t>顺序图举例（</a:t>
            </a:r>
            <a:r>
              <a:rPr lang="en-US" altLang="zh-CN" spc="-5" dirty="0">
                <a:latin typeface="Calibri" panose="020F0502020204030204"/>
                <a:cs typeface="Calibri" panose="020F0502020204030204"/>
              </a:rPr>
              <a:t>Sequence</a:t>
            </a:r>
            <a:r>
              <a:rPr lang="en-US" altLang="zh-CN" spc="-30" dirty="0">
                <a:latin typeface="Calibri" panose="020F0502020204030204"/>
                <a:cs typeface="Calibri" panose="020F0502020204030204"/>
              </a:rPr>
              <a:t> </a:t>
            </a:r>
            <a:r>
              <a:rPr lang="en-US" altLang="zh-CN" spc="-5" dirty="0">
                <a:latin typeface="Calibri" panose="020F0502020204030204"/>
                <a:cs typeface="Calibri" panose="020F0502020204030204"/>
              </a:rPr>
              <a:t>Diagram</a:t>
            </a:r>
            <a:r>
              <a:rPr lang="zh-CN" altLang="en-US" spc="-5" dirty="0"/>
              <a:t>）</a:t>
            </a:r>
            <a:endParaRPr lang="zh-CN" altLang="en-US" dirty="0"/>
          </a:p>
        </p:txBody>
      </p:sp>
      <p:sp>
        <p:nvSpPr>
          <p:cNvPr id="38" name="灯片编号占位符 37"/>
          <p:cNvSpPr>
            <a:spLocks noGrp="1"/>
          </p:cNvSpPr>
          <p:nvPr>
            <p:ph type="sldNum" sz="quarter" idx="12"/>
          </p:nvPr>
        </p:nvSpPr>
        <p:spPr/>
        <p:txBody>
          <a:bodyPr/>
          <a:lstStyle/>
          <a:p>
            <a:fld id="{74D2AB8B-5816-41F2-8B4B-CA5C3E4E6A65}" type="slidenum">
              <a:rPr lang="zh-CN" altLang="en-US" smtClean="0"/>
              <a:t>39</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06697"/>
    </mc:Choice>
    <mc:Fallback xmlns="">
      <p:transition spd="slow" advTm="106697"/>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702130" y="1362309"/>
            <a:ext cx="9229269" cy="1102866"/>
          </a:xfrm>
          <a:prstGeom prst="rect">
            <a:avLst/>
          </a:prstGeom>
        </p:spPr>
        <p:txBody>
          <a:bodyPr vert="horz" wrap="square" lIns="0" tIns="182880" rIns="0" bIns="0" rtlCol="0">
            <a:spAutoFit/>
          </a:bodyPr>
          <a:lstStyle/>
          <a:p>
            <a:pPr marL="12700">
              <a:lnSpc>
                <a:spcPct val="100000"/>
              </a:lnSpc>
              <a:spcBef>
                <a:spcPts val="1440"/>
              </a:spcBef>
            </a:pPr>
            <a:r>
              <a:rPr sz="2400" b="1" spc="-5" dirty="0" err="1">
                <a:solidFill>
                  <a:srgbClr val="800000"/>
                </a:solidFill>
                <a:latin typeface="微软雅黑" panose="020B0503020204020204" pitchFamily="34" charset="-122"/>
                <a:ea typeface="微软雅黑" panose="020B0503020204020204" pitchFamily="34" charset="-122"/>
              </a:rPr>
              <a:t>对象</a:t>
            </a:r>
            <a:r>
              <a:rPr lang="zh-CN" altLang="en-US" sz="2400" b="1" spc="-5" dirty="0">
                <a:solidFill>
                  <a:srgbClr val="800000"/>
                </a:solidFill>
                <a:latin typeface="微软雅黑" panose="020B0503020204020204" pitchFamily="34" charset="-122"/>
                <a:ea typeface="微软雅黑" panose="020B0503020204020204" pitchFamily="34" charset="-122"/>
              </a:rPr>
              <a:t>：</a:t>
            </a:r>
            <a:r>
              <a:rPr sz="2400" dirty="0" err="1">
                <a:latin typeface="微软雅黑" panose="020B0503020204020204" pitchFamily="34" charset="-122"/>
                <a:ea typeface="微软雅黑" panose="020B0503020204020204" pitchFamily="34" charset="-122"/>
                <a:cs typeface="华文新魏" panose="02010800040101010101" charset="-122"/>
              </a:rPr>
              <a:t>以某种</a:t>
            </a:r>
            <a:r>
              <a:rPr sz="2400" b="1" spc="-5" dirty="0" err="1">
                <a:solidFill>
                  <a:srgbClr val="800000"/>
                </a:solidFill>
                <a:latin typeface="微软雅黑" panose="020B0503020204020204" pitchFamily="34" charset="-122"/>
                <a:ea typeface="微软雅黑" panose="020B0503020204020204" pitchFamily="34" charset="-122"/>
                <a:cs typeface="华文新魏" panose="02010800040101010101" charset="-122"/>
              </a:rPr>
              <a:t>角色</a:t>
            </a:r>
            <a:r>
              <a:rPr sz="2400" dirty="0" err="1">
                <a:latin typeface="微软雅黑" panose="020B0503020204020204" pitchFamily="34" charset="-122"/>
                <a:ea typeface="微软雅黑" panose="020B0503020204020204" pitchFamily="34" charset="-122"/>
                <a:cs typeface="华文新魏" panose="02010800040101010101" charset="-122"/>
              </a:rPr>
              <a:t>参与交互</a:t>
            </a:r>
            <a:r>
              <a:rPr lang="zh-CN" altLang="en-US" sz="2400" dirty="0">
                <a:latin typeface="微软雅黑" panose="020B0503020204020204" pitchFamily="34" charset="-122"/>
                <a:ea typeface="微软雅黑" panose="020B0503020204020204" pitchFamily="34" charset="-122"/>
                <a:cs typeface="华文新魏" panose="02010800040101010101" charset="-122"/>
              </a:rPr>
              <a:t>，</a:t>
            </a:r>
            <a:r>
              <a:rPr sz="2400" dirty="0" err="1">
                <a:latin typeface="微软雅黑" panose="020B0503020204020204" pitchFamily="34" charset="-122"/>
                <a:ea typeface="微软雅黑" panose="020B0503020204020204" pitchFamily="34" charset="-122"/>
              </a:rPr>
              <a:t>可以是人，物，其他系统或者子系统</a:t>
            </a:r>
            <a:endParaRPr sz="2400" dirty="0">
              <a:latin typeface="微软雅黑" panose="020B0503020204020204" pitchFamily="34" charset="-122"/>
              <a:ea typeface="微软雅黑" panose="020B0503020204020204" pitchFamily="34" charset="-122"/>
            </a:endParaRPr>
          </a:p>
          <a:p>
            <a:pPr marL="12700">
              <a:lnSpc>
                <a:spcPct val="100000"/>
              </a:lnSpc>
              <a:spcBef>
                <a:spcPts val="1435"/>
              </a:spcBef>
            </a:pPr>
            <a:r>
              <a:rPr sz="2400" b="1" spc="-5" dirty="0" err="1">
                <a:solidFill>
                  <a:srgbClr val="800000"/>
                </a:solidFill>
                <a:latin typeface="微软雅黑" panose="020B0503020204020204" pitchFamily="34" charset="-122"/>
                <a:ea typeface="微软雅黑" panose="020B0503020204020204" pitchFamily="34" charset="-122"/>
                <a:cs typeface="华文新魏" panose="02010800040101010101" charset="-122"/>
              </a:rPr>
              <a:t>生命线</a:t>
            </a:r>
            <a:r>
              <a:rPr sz="2400" dirty="0" err="1">
                <a:latin typeface="微软雅黑" panose="020B0503020204020204" pitchFamily="34" charset="-122"/>
                <a:ea typeface="微软雅黑" panose="020B0503020204020204" pitchFamily="34" charset="-122"/>
                <a:cs typeface="华文新魏" panose="02010800040101010101" charset="-122"/>
              </a:rPr>
              <a:t>：表示对象存在的时间</a:t>
            </a:r>
            <a:endParaRPr sz="2400" dirty="0">
              <a:latin typeface="微软雅黑" panose="020B0503020204020204" pitchFamily="34" charset="-122"/>
              <a:ea typeface="微软雅黑" panose="020B0503020204020204" pitchFamily="34" charset="-122"/>
              <a:cs typeface="华文新魏" panose="02010800040101010101" charset="-122"/>
            </a:endParaRPr>
          </a:p>
        </p:txBody>
      </p:sp>
      <p:sp>
        <p:nvSpPr>
          <p:cNvPr id="4" name="object 4"/>
          <p:cNvSpPr txBox="1"/>
          <p:nvPr/>
        </p:nvSpPr>
        <p:spPr>
          <a:xfrm>
            <a:off x="501650" y="5607497"/>
            <a:ext cx="11188700" cy="379078"/>
          </a:xfrm>
          <a:prstGeom prst="rect">
            <a:avLst/>
          </a:prstGeom>
        </p:spPr>
        <p:txBody>
          <a:bodyPr vert="horz" wrap="square" lIns="0" tIns="26670" rIns="0" bIns="0" rtlCol="0">
            <a:spAutoFit/>
          </a:bodyPr>
          <a:lstStyle/>
          <a:p>
            <a:pPr marL="12700" marR="5080">
              <a:lnSpc>
                <a:spcPts val="2860"/>
              </a:lnSpc>
              <a:spcBef>
                <a:spcPts val="210"/>
              </a:spcBef>
            </a:pPr>
            <a:r>
              <a:rPr sz="2400" b="1" spc="-5" dirty="0" err="1">
                <a:solidFill>
                  <a:srgbClr val="800000"/>
                </a:solidFill>
                <a:latin typeface="微软雅黑" panose="020B0503020204020204" pitchFamily="34" charset="-122"/>
                <a:ea typeface="微软雅黑" panose="020B0503020204020204" pitchFamily="34" charset="-122"/>
                <a:cs typeface="华文新魏" panose="02010800040101010101" charset="-122"/>
              </a:rPr>
              <a:t>控制焦点</a:t>
            </a:r>
            <a:r>
              <a:rPr sz="2400" b="1" spc="-5" dirty="0">
                <a:solidFill>
                  <a:srgbClr val="941100"/>
                </a:solidFill>
                <a:latin typeface="微软雅黑" panose="020B0503020204020204" pitchFamily="34" charset="-122"/>
                <a:ea typeface="微软雅黑" panose="020B0503020204020204" pitchFamily="34" charset="-122"/>
                <a:cs typeface="华文新魏" panose="02010800040101010101" charset="-122"/>
              </a:rPr>
              <a:t>/</a:t>
            </a:r>
            <a:r>
              <a:rPr sz="2400" b="1" spc="-5" dirty="0">
                <a:solidFill>
                  <a:srgbClr val="800000"/>
                </a:solidFill>
                <a:latin typeface="微软雅黑" panose="020B0503020204020204" pitchFamily="34" charset="-122"/>
                <a:ea typeface="微软雅黑" panose="020B0503020204020204" pitchFamily="34" charset="-122"/>
                <a:cs typeface="华文新魏" panose="02010800040101010101" charset="-122"/>
              </a:rPr>
              <a:t>激活期</a:t>
            </a:r>
            <a:r>
              <a:rPr sz="2400" b="1" spc="-5" dirty="0">
                <a:solidFill>
                  <a:srgbClr val="941100"/>
                </a:solidFill>
                <a:latin typeface="微软雅黑" panose="020B0503020204020204" pitchFamily="34" charset="-122"/>
                <a:ea typeface="微软雅黑" panose="020B0503020204020204" pitchFamily="34" charset="-122"/>
                <a:cs typeface="华文新魏" panose="02010800040101010101" charset="-122"/>
              </a:rPr>
              <a:t>(Focus</a:t>
            </a:r>
            <a:r>
              <a:rPr sz="2400" b="1" spc="-10" dirty="0">
                <a:solidFill>
                  <a:srgbClr val="941100"/>
                </a:solidFill>
                <a:latin typeface="微软雅黑" panose="020B0503020204020204" pitchFamily="34" charset="-122"/>
                <a:ea typeface="微软雅黑" panose="020B0503020204020204" pitchFamily="34" charset="-122"/>
                <a:cs typeface="华文新魏" panose="02010800040101010101" charset="-122"/>
              </a:rPr>
              <a:t> </a:t>
            </a:r>
            <a:r>
              <a:rPr sz="2400" b="1" spc="-5" dirty="0">
                <a:solidFill>
                  <a:srgbClr val="941100"/>
                </a:solidFill>
                <a:latin typeface="微软雅黑" panose="020B0503020204020204" pitchFamily="34" charset="-122"/>
                <a:ea typeface="微软雅黑" panose="020B0503020204020204" pitchFamily="34" charset="-122"/>
                <a:cs typeface="华文新魏" panose="02010800040101010101" charset="-122"/>
              </a:rPr>
              <a:t>of Control/Activation)</a:t>
            </a:r>
            <a:r>
              <a:rPr sz="2400" spc="-5" dirty="0">
                <a:latin typeface="微软雅黑" panose="020B0503020204020204" pitchFamily="34" charset="-122"/>
                <a:ea typeface="微软雅黑" panose="020B0503020204020204" pitchFamily="34" charset="-122"/>
                <a:cs typeface="华文新魏" panose="02010800040101010101" charset="-122"/>
              </a:rPr>
              <a:t>：</a:t>
            </a:r>
            <a:r>
              <a:rPr sz="2400" dirty="0" err="1">
                <a:latin typeface="微软雅黑" panose="020B0503020204020204" pitchFamily="34" charset="-122"/>
                <a:ea typeface="微软雅黑" panose="020B0503020204020204" pitchFamily="34" charset="-122"/>
                <a:cs typeface="华文新魏" panose="02010800040101010101" charset="-122"/>
              </a:rPr>
              <a:t>表示对象进行操作的时间片段</a:t>
            </a:r>
            <a:endParaRPr sz="2400" dirty="0">
              <a:latin typeface="微软雅黑" panose="020B0503020204020204" pitchFamily="34" charset="-122"/>
              <a:ea typeface="微软雅黑" panose="020B0503020204020204" pitchFamily="34" charset="-122"/>
              <a:cs typeface="华文新魏" panose="02010800040101010101" charset="-122"/>
            </a:endParaRPr>
          </a:p>
        </p:txBody>
      </p:sp>
      <p:sp>
        <p:nvSpPr>
          <p:cNvPr id="5" name="object 5"/>
          <p:cNvSpPr/>
          <p:nvPr/>
        </p:nvSpPr>
        <p:spPr>
          <a:xfrm>
            <a:off x="1802846" y="2687872"/>
            <a:ext cx="6033054" cy="2696928"/>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9798605" y="1479550"/>
            <a:ext cx="1384298" cy="3898899"/>
          </a:xfrm>
          <a:prstGeom prst="rect">
            <a:avLst/>
          </a:prstGeom>
          <a:blipFill>
            <a:blip r:embed="rId4" cstate="print"/>
            <a:stretch>
              <a:fillRect/>
            </a:stretch>
          </a:blipFill>
        </p:spPr>
        <p:txBody>
          <a:bodyPr wrap="square" lIns="0" tIns="0" rIns="0" bIns="0" rtlCol="0"/>
          <a:lstStyle/>
          <a:p>
            <a:endParaRPr/>
          </a:p>
        </p:txBody>
      </p:sp>
      <p:sp>
        <p:nvSpPr>
          <p:cNvPr id="10" name="标题 9"/>
          <p:cNvSpPr>
            <a:spLocks noGrp="1"/>
          </p:cNvSpPr>
          <p:nvPr>
            <p:ph type="title"/>
          </p:nvPr>
        </p:nvSpPr>
        <p:spPr>
          <a:xfrm>
            <a:off x="838200" y="365125"/>
            <a:ext cx="11188700" cy="1325563"/>
          </a:xfrm>
        </p:spPr>
        <p:txBody>
          <a:bodyPr>
            <a:normAutofit/>
          </a:bodyPr>
          <a:lstStyle/>
          <a:p>
            <a:r>
              <a:rPr lang="zh-CN" altLang="en-US" sz="3600" spc="-5" dirty="0"/>
              <a:t>顺序图建模元素</a:t>
            </a:r>
            <a:r>
              <a:rPr lang="zh-CN" altLang="en-US" sz="3600" spc="-5" dirty="0">
                <a:solidFill>
                  <a:srgbClr val="800000"/>
                </a:solidFill>
              </a:rPr>
              <a:t>对象</a:t>
            </a:r>
            <a:r>
              <a:rPr lang="en-US" altLang="zh-CN" sz="3600" spc="-5" dirty="0">
                <a:solidFill>
                  <a:srgbClr val="941100"/>
                </a:solidFill>
              </a:rPr>
              <a:t>(Object)</a:t>
            </a:r>
            <a:r>
              <a:rPr lang="zh-CN" altLang="en-US" sz="3600" spc="-5" dirty="0"/>
              <a:t>及其</a:t>
            </a:r>
            <a:r>
              <a:rPr lang="zh-CN" altLang="en-US" sz="3600" spc="-5" dirty="0">
                <a:solidFill>
                  <a:srgbClr val="800000"/>
                </a:solidFill>
              </a:rPr>
              <a:t>生命线</a:t>
            </a:r>
            <a:r>
              <a:rPr lang="en-US" altLang="zh-CN" sz="3600" spc="-5" dirty="0">
                <a:solidFill>
                  <a:srgbClr val="941100"/>
                </a:solidFill>
              </a:rPr>
              <a:t>(Lifeline)</a:t>
            </a:r>
            <a:endParaRPr lang="zh-CN" altLang="en-US" sz="3600" dirty="0"/>
          </a:p>
        </p:txBody>
      </p:sp>
      <p:sp>
        <p:nvSpPr>
          <p:cNvPr id="11" name="灯片编号占位符 10"/>
          <p:cNvSpPr>
            <a:spLocks noGrp="1"/>
          </p:cNvSpPr>
          <p:nvPr>
            <p:ph type="sldNum" sz="quarter" idx="12"/>
          </p:nvPr>
        </p:nvSpPr>
        <p:spPr/>
        <p:txBody>
          <a:bodyPr/>
          <a:lstStyle/>
          <a:p>
            <a:fld id="{74D2AB8B-5816-41F2-8B4B-CA5C3E4E6A65}" type="slidenum">
              <a:rPr lang="zh-CN" altLang="en-US" smtClean="0"/>
              <a:t>40</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01224"/>
    </mc:Choice>
    <mc:Fallback xmlns="">
      <p:transition spd="slow" advTm="101224"/>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2"/>
          <p:cNvSpPr/>
          <p:nvPr/>
        </p:nvSpPr>
        <p:spPr>
          <a:xfrm>
            <a:off x="9676374" y="496789"/>
            <a:ext cx="2458342" cy="2025848"/>
          </a:xfrm>
          <a:prstGeom prst="rect">
            <a:avLst/>
          </a:prstGeom>
          <a:blipFill>
            <a:blip r:embed="rId3" cstate="print"/>
            <a:stretch>
              <a:fillRect/>
            </a:stretch>
          </a:blipFill>
        </p:spPr>
        <p:txBody>
          <a:bodyPr wrap="square" lIns="0" tIns="0" rIns="0" bIns="0" rtlCol="0"/>
          <a:lstStyle/>
          <a:p>
            <a:endParaRPr/>
          </a:p>
        </p:txBody>
      </p:sp>
      <p:sp>
        <p:nvSpPr>
          <p:cNvPr id="2" name="标题 1"/>
          <p:cNvSpPr>
            <a:spLocks noGrp="1"/>
          </p:cNvSpPr>
          <p:nvPr>
            <p:ph type="title"/>
          </p:nvPr>
        </p:nvSpPr>
        <p:spPr/>
        <p:txBody>
          <a:bodyPr/>
          <a:lstStyle/>
          <a:p>
            <a:r>
              <a:rPr lang="zh-CN" altLang="en-US" spc="-5" dirty="0"/>
              <a:t>顺序图建模元素</a:t>
            </a:r>
            <a:r>
              <a:rPr lang="en-US" altLang="zh-CN" spc="-5" dirty="0">
                <a:latin typeface="Calibri Light" panose="020F0302020204030204"/>
                <a:cs typeface="Calibri Light" panose="020F0302020204030204"/>
              </a:rPr>
              <a:t>——</a:t>
            </a:r>
            <a:r>
              <a:rPr lang="zh-CN" altLang="en-US" spc="-5" dirty="0">
                <a:solidFill>
                  <a:srgbClr val="ED7D31"/>
                </a:solidFill>
              </a:rPr>
              <a:t>消息</a:t>
            </a:r>
            <a:r>
              <a:rPr lang="en-US" altLang="zh-CN" spc="-5" dirty="0">
                <a:solidFill>
                  <a:srgbClr val="F2913F"/>
                </a:solidFill>
              </a:rPr>
              <a:t>(Message)</a:t>
            </a:r>
            <a:endParaRPr lang="zh-CN" altLang="en-US" dirty="0"/>
          </a:p>
        </p:txBody>
      </p:sp>
      <p:sp>
        <p:nvSpPr>
          <p:cNvPr id="3" name="内容占位符 2"/>
          <p:cNvSpPr>
            <a:spLocks noGrp="1"/>
          </p:cNvSpPr>
          <p:nvPr>
            <p:ph idx="1"/>
          </p:nvPr>
        </p:nvSpPr>
        <p:spPr>
          <a:xfrm>
            <a:off x="838200" y="1825625"/>
            <a:ext cx="9144000" cy="4351338"/>
          </a:xfrm>
        </p:spPr>
        <p:txBody>
          <a:bodyPr/>
          <a:lstStyle/>
          <a:p>
            <a:r>
              <a:rPr lang="zh-CN" altLang="en-US" b="1" spc="-5" dirty="0">
                <a:solidFill>
                  <a:srgbClr val="ED7D31"/>
                </a:solidFill>
                <a:latin typeface="华文新魏" panose="02010800040101010101" charset="-122"/>
                <a:cs typeface="华文新魏" panose="02010800040101010101" charset="-122"/>
              </a:rPr>
              <a:t>消息</a:t>
            </a:r>
            <a:r>
              <a:rPr lang="en-US" altLang="zh-CN" b="1" spc="-5" dirty="0">
                <a:solidFill>
                  <a:srgbClr val="F2913F"/>
                </a:solidFill>
                <a:latin typeface="华文新魏" panose="02010800040101010101" charset="-122"/>
                <a:cs typeface="华文新魏" panose="02010800040101010101" charset="-122"/>
              </a:rPr>
              <a:t>(Message)</a:t>
            </a:r>
            <a:r>
              <a:rPr lang="zh-CN" altLang="en-US" dirty="0"/>
              <a:t>用于描述对象间的交互操作和值传递过程</a:t>
            </a:r>
            <a:endParaRPr lang="en-US" altLang="zh-CN" dirty="0"/>
          </a:p>
          <a:p>
            <a:endParaRPr lang="en-US" altLang="zh-CN" dirty="0"/>
          </a:p>
          <a:p>
            <a:r>
              <a:rPr lang="zh-CN" altLang="en-US" dirty="0"/>
              <a:t>消息类型：</a:t>
            </a:r>
            <a:endParaRPr lang="en-US" altLang="zh-CN" dirty="0"/>
          </a:p>
          <a:p>
            <a:pPr lvl="1"/>
            <a:r>
              <a:rPr lang="en-US" altLang="zh-CN" dirty="0"/>
              <a:t>Synchronous	  </a:t>
            </a:r>
            <a:r>
              <a:rPr lang="zh-CN" altLang="en-US" dirty="0"/>
              <a:t>同步消息（调用消息）</a:t>
            </a:r>
            <a:endParaRPr lang="zh-CN" altLang="en-US" dirty="0">
              <a:latin typeface="Times New Roman" panose="02020603050405020304"/>
              <a:cs typeface="Times New Roman" panose="02020603050405020304"/>
            </a:endParaRPr>
          </a:p>
          <a:p>
            <a:pPr lvl="1"/>
            <a:r>
              <a:rPr lang="en-US" altLang="zh-CN" dirty="0">
                <a:latin typeface="华文新魏" panose="02010800040101010101" charset="-122"/>
                <a:cs typeface="华文新魏" panose="02010800040101010101" charset="-122"/>
              </a:rPr>
              <a:t>Return                  </a:t>
            </a:r>
            <a:r>
              <a:rPr lang="zh-CN" altLang="en-US" dirty="0">
                <a:latin typeface="华文新魏" panose="02010800040101010101" charset="-122"/>
                <a:cs typeface="华文新魏" panose="02010800040101010101" charset="-122"/>
              </a:rPr>
              <a:t>返回消息 </a:t>
            </a:r>
            <a:endParaRPr lang="en-US" altLang="zh-CN" dirty="0">
              <a:latin typeface="华文新魏" panose="02010800040101010101" charset="-122"/>
              <a:cs typeface="华文新魏" panose="02010800040101010101" charset="-122"/>
            </a:endParaRPr>
          </a:p>
          <a:p>
            <a:pPr lvl="1"/>
            <a:r>
              <a:rPr lang="en-US" altLang="zh-CN" dirty="0"/>
              <a:t>Asynchronous</a:t>
            </a:r>
            <a:r>
              <a:rPr lang="en-US" altLang="zh-CN" spc="480" dirty="0"/>
              <a:t> </a:t>
            </a:r>
            <a:r>
              <a:rPr lang="zh-CN" altLang="en-US" dirty="0"/>
              <a:t>异步消息</a:t>
            </a:r>
            <a:endParaRPr lang="en-US" altLang="zh-CN" dirty="0"/>
          </a:p>
          <a:p>
            <a:pPr lvl="1"/>
            <a:r>
              <a:rPr lang="en-US" altLang="zh-CN" dirty="0">
                <a:latin typeface="华文新魏" panose="02010800040101010101" charset="-122"/>
                <a:cs typeface="华文新魏" panose="02010800040101010101" charset="-122"/>
              </a:rPr>
              <a:t>Self-message        </a:t>
            </a:r>
            <a:r>
              <a:rPr lang="zh-CN" altLang="en-US" dirty="0">
                <a:latin typeface="华文新魏" panose="02010800040101010101" charset="-122"/>
                <a:cs typeface="华文新魏" panose="02010800040101010101" charset="-122"/>
              </a:rPr>
              <a:t>自关联消息 </a:t>
            </a:r>
            <a:endParaRPr lang="en-US" altLang="zh-CN" dirty="0">
              <a:latin typeface="华文新魏" panose="02010800040101010101" charset="-122"/>
              <a:cs typeface="华文新魏" panose="02010800040101010101" charset="-122"/>
            </a:endParaRPr>
          </a:p>
          <a:p>
            <a:pPr lvl="1"/>
            <a:r>
              <a:rPr lang="en-US" altLang="zh-CN" dirty="0">
                <a:latin typeface="华文新魏" panose="02010800040101010101" charset="-122"/>
                <a:cs typeface="华文新魏" panose="02010800040101010101" charset="-122"/>
              </a:rPr>
              <a:t>Time-out             </a:t>
            </a:r>
            <a:r>
              <a:rPr lang="zh-CN" altLang="en-US" dirty="0">
                <a:latin typeface="华文新魏" panose="02010800040101010101" charset="-122"/>
                <a:cs typeface="华文新魏" panose="02010800040101010101" charset="-122"/>
              </a:rPr>
              <a:t>超时等待</a:t>
            </a:r>
            <a:endParaRPr lang="en-US" altLang="zh-CN" dirty="0">
              <a:latin typeface="华文新魏" panose="02010800040101010101" charset="-122"/>
              <a:cs typeface="华文新魏" panose="02010800040101010101" charset="-122"/>
            </a:endParaRPr>
          </a:p>
          <a:p>
            <a:pPr lvl="1"/>
            <a:r>
              <a:rPr lang="en-US" altLang="zh-CN" spc="-45" dirty="0">
                <a:latin typeface="华文新魏" panose="02010800040101010101" charset="-122"/>
                <a:cs typeface="华文新魏" panose="02010800040101010101" charset="-122"/>
              </a:rPr>
              <a:t>Uncommitted</a:t>
            </a:r>
            <a:r>
              <a:rPr lang="zh-CN" altLang="en-US" spc="-45" dirty="0">
                <a:latin typeface="华文新魏" panose="02010800040101010101" charset="-122"/>
                <a:cs typeface="华文新魏" panose="02010800040101010101" charset="-122"/>
              </a:rPr>
              <a:t>／</a:t>
            </a:r>
            <a:r>
              <a:rPr lang="en-US" altLang="zh-CN" spc="-45" dirty="0">
                <a:latin typeface="华文新魏" panose="02010800040101010101" charset="-122"/>
                <a:cs typeface="华文新魏" panose="02010800040101010101" charset="-122"/>
              </a:rPr>
              <a:t>Balking</a:t>
            </a:r>
            <a:r>
              <a:rPr lang="en-US" altLang="zh-CN" spc="-55" dirty="0">
                <a:latin typeface="华文新魏" panose="02010800040101010101" charset="-122"/>
                <a:cs typeface="华文新魏" panose="02010800040101010101" charset="-122"/>
              </a:rPr>
              <a:t> </a:t>
            </a:r>
            <a:r>
              <a:rPr lang="zh-CN" altLang="en-US" dirty="0">
                <a:latin typeface="华文新魏" panose="02010800040101010101" charset="-122"/>
                <a:cs typeface="华文新魏" panose="02010800040101010101" charset="-122"/>
              </a:rPr>
              <a:t>阻塞</a:t>
            </a:r>
            <a:endParaRPr lang="en-US" altLang="zh-CN" dirty="0"/>
          </a:p>
          <a:p>
            <a:pPr lvl="1"/>
            <a:endParaRPr lang="en-US" altLang="zh-CN" dirty="0">
              <a:latin typeface="华文新魏" panose="02010800040101010101" charset="-122"/>
              <a:cs typeface="华文新魏" panose="02010800040101010101" charset="-122"/>
            </a:endParaRPr>
          </a:p>
          <a:p>
            <a:pPr lvl="1"/>
            <a:endParaRPr lang="en-US" altLang="zh-CN" dirty="0">
              <a:latin typeface="华文新魏" panose="02010800040101010101" charset="-122"/>
              <a:cs typeface="华文新魏" panose="02010800040101010101" charset="-122"/>
            </a:endParaRPr>
          </a:p>
          <a:p>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t>41</a:t>
            </a:fld>
            <a:endParaRPr lang="zh-CN" altLang="en-US"/>
          </a:p>
        </p:txBody>
      </p:sp>
      <p:sp>
        <p:nvSpPr>
          <p:cNvPr id="6" name="object 8"/>
          <p:cNvSpPr/>
          <p:nvPr/>
        </p:nvSpPr>
        <p:spPr>
          <a:xfrm>
            <a:off x="7277100" y="2497585"/>
            <a:ext cx="3683582" cy="1452269"/>
          </a:xfrm>
          <a:prstGeom prst="rect">
            <a:avLst/>
          </a:prstGeom>
          <a:blipFill>
            <a:blip r:embed="rId4" cstate="print"/>
            <a:stretch>
              <a:fillRect/>
            </a:stretch>
          </a:blipFill>
        </p:spPr>
        <p:txBody>
          <a:bodyPr wrap="square" lIns="0" tIns="0" rIns="0" bIns="0" rtlCol="0"/>
          <a:lstStyle/>
          <a:p>
            <a:endParaRPr/>
          </a:p>
        </p:txBody>
      </p:sp>
      <p:sp>
        <p:nvSpPr>
          <p:cNvPr id="7" name="object 9"/>
          <p:cNvSpPr/>
          <p:nvPr/>
        </p:nvSpPr>
        <p:spPr>
          <a:xfrm>
            <a:off x="6448783" y="3984653"/>
            <a:ext cx="5340216" cy="2157511"/>
          </a:xfrm>
          <a:prstGeom prst="rect">
            <a:avLst/>
          </a:prstGeom>
          <a:blipFill>
            <a:blip r:embed="rId5" cstate="print"/>
            <a:stretch>
              <a:fillRect/>
            </a:stretch>
          </a:blipFill>
        </p:spPr>
        <p:txBody>
          <a:bodyPr wrap="square" lIns="0" tIns="0" rIns="0" bIns="0" rtlCol="0"/>
          <a:lstStyle/>
          <a:p>
            <a:endParaRPr/>
          </a:p>
        </p:txBody>
      </p:sp>
    </p:spTree>
  </p:cSld>
  <p:clrMapOvr>
    <a:masterClrMapping/>
  </p:clrMapOvr>
  <mc:AlternateContent xmlns:mc="http://schemas.openxmlformats.org/markup-compatibility/2006" xmlns:p14="http://schemas.microsoft.com/office/powerpoint/2010/main">
    <mc:Choice Requires="p14">
      <p:transition spd="slow" p14:dur="2000" advTm="73898"/>
    </mc:Choice>
    <mc:Fallback xmlns="">
      <p:transition spd="slow" advTm="73898"/>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928805" y="1734503"/>
            <a:ext cx="276860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微软雅黑" panose="020B0503020204020204" pitchFamily="34" charset="-122"/>
                <a:ea typeface="微软雅黑" panose="020B0503020204020204" pitchFamily="34" charset="-122"/>
                <a:cs typeface="华文新魏" panose="02010800040101010101" charset="-122"/>
              </a:rPr>
              <a:t>例：一些消息的例子</a:t>
            </a:r>
          </a:p>
        </p:txBody>
      </p:sp>
      <p:graphicFrame>
        <p:nvGraphicFramePr>
          <p:cNvPr id="4" name="object 4"/>
          <p:cNvGraphicFramePr>
            <a:graphicFrameLocks noGrp="1"/>
          </p:cNvGraphicFramePr>
          <p:nvPr>
            <p:extLst>
              <p:ext uri="{D42A27DB-BD31-4B8C-83A1-F6EECF244321}">
                <p14:modId xmlns:p14="http://schemas.microsoft.com/office/powerpoint/2010/main" val="907837621"/>
              </p:ext>
            </p:extLst>
          </p:nvPr>
        </p:nvGraphicFramePr>
        <p:xfrm>
          <a:off x="928805" y="2406650"/>
          <a:ext cx="10297160" cy="2743198"/>
        </p:xfrm>
        <a:graphic>
          <a:graphicData uri="http://schemas.openxmlformats.org/drawingml/2006/table">
            <a:tbl>
              <a:tblPr firstRow="1" bandRow="1">
                <a:tableStyleId>{2D5ABB26-0587-4C30-8999-92F81FD0307C}</a:tableStyleId>
              </a:tblPr>
              <a:tblGrid>
                <a:gridCol w="4241165">
                  <a:extLst>
                    <a:ext uri="{9D8B030D-6E8A-4147-A177-3AD203B41FA5}">
                      <a16:colId xmlns:a16="http://schemas.microsoft.com/office/drawing/2014/main" val="20000"/>
                    </a:ext>
                  </a:extLst>
                </a:gridCol>
                <a:gridCol w="6055995">
                  <a:extLst>
                    <a:ext uri="{9D8B030D-6E8A-4147-A177-3AD203B41FA5}">
                      <a16:colId xmlns:a16="http://schemas.microsoft.com/office/drawing/2014/main" val="20001"/>
                    </a:ext>
                  </a:extLst>
                </a:gridCol>
              </a:tblGrid>
              <a:tr h="685799">
                <a:tc>
                  <a:txBody>
                    <a:bodyPr/>
                    <a:lstStyle/>
                    <a:p>
                      <a:pPr marL="182245">
                        <a:lnSpc>
                          <a:spcPct val="100000"/>
                        </a:lnSpc>
                        <a:spcBef>
                          <a:spcPts val="960"/>
                        </a:spcBef>
                      </a:pPr>
                      <a:r>
                        <a:rPr sz="2400" dirty="0">
                          <a:solidFill>
                            <a:srgbClr val="FFFFFF"/>
                          </a:solidFill>
                          <a:latin typeface="华文新魏" panose="02010800040101010101" charset="-122"/>
                          <a:cs typeface="华文新魏" panose="02010800040101010101" charset="-122"/>
                        </a:rPr>
                        <a:t>2: </a:t>
                      </a:r>
                      <a:r>
                        <a:rPr sz="2400" dirty="0">
                          <a:solidFill>
                            <a:srgbClr val="FFFFFF"/>
                          </a:solidFill>
                          <a:latin typeface="Arial" panose="020B0604020202020204"/>
                          <a:cs typeface="Arial" panose="020B0604020202020204"/>
                        </a:rPr>
                        <a:t>display (x,</a:t>
                      </a:r>
                      <a:r>
                        <a:rPr sz="2400" spc="-30" dirty="0">
                          <a:solidFill>
                            <a:srgbClr val="FFFFFF"/>
                          </a:solidFill>
                          <a:latin typeface="Arial" panose="020B0604020202020204"/>
                          <a:cs typeface="Arial" panose="020B0604020202020204"/>
                        </a:rPr>
                        <a:t> </a:t>
                      </a:r>
                      <a:r>
                        <a:rPr sz="2400" dirty="0">
                          <a:solidFill>
                            <a:srgbClr val="FFFFFF"/>
                          </a:solidFill>
                          <a:latin typeface="Arial" panose="020B0604020202020204"/>
                          <a:cs typeface="Arial" panose="020B0604020202020204"/>
                        </a:rPr>
                        <a:t>y)</a:t>
                      </a:r>
                      <a:endParaRPr sz="2400" dirty="0">
                        <a:latin typeface="Arial" panose="020B0604020202020204"/>
                        <a:cs typeface="Arial" panose="020B0604020202020204"/>
                      </a:endParaRPr>
                    </a:p>
                  </a:txBody>
                  <a:tcPr marL="0" marR="0" marT="1219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7A4779"/>
                    </a:solidFill>
                  </a:tcPr>
                </a:tc>
                <a:tc>
                  <a:txBody>
                    <a:bodyPr/>
                    <a:lstStyle/>
                    <a:p>
                      <a:pPr marL="271780">
                        <a:lnSpc>
                          <a:spcPct val="100000"/>
                        </a:lnSpc>
                        <a:spcBef>
                          <a:spcPts val="795"/>
                        </a:spcBef>
                      </a:pPr>
                      <a:r>
                        <a:rPr sz="2400" dirty="0">
                          <a:solidFill>
                            <a:srgbClr val="FFFFFF"/>
                          </a:solidFill>
                          <a:latin typeface="华文新魏" panose="02010800040101010101" charset="-122"/>
                          <a:cs typeface="华文新魏" panose="02010800040101010101" charset="-122"/>
                        </a:rPr>
                        <a:t>简单消息</a:t>
                      </a:r>
                      <a:endParaRPr sz="2400">
                        <a:latin typeface="华文新魏" panose="02010800040101010101" charset="-122"/>
                        <a:cs typeface="华文新魏" panose="02010800040101010101" charset="-122"/>
                      </a:endParaRPr>
                    </a:p>
                  </a:txBody>
                  <a:tcPr marL="0" marR="0" marT="1009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7A4779"/>
                    </a:solidFill>
                  </a:tcPr>
                </a:tc>
                <a:extLst>
                  <a:ext uri="{0D108BD9-81ED-4DB2-BD59-A6C34878D82A}">
                    <a16:rowId xmlns:a16="http://schemas.microsoft.com/office/drawing/2014/main" val="10000"/>
                  </a:ext>
                </a:extLst>
              </a:tr>
              <a:tr h="685800">
                <a:tc>
                  <a:txBody>
                    <a:bodyPr/>
                    <a:lstStyle/>
                    <a:p>
                      <a:pPr marL="90805">
                        <a:lnSpc>
                          <a:spcPct val="100000"/>
                        </a:lnSpc>
                        <a:spcBef>
                          <a:spcPts val="1160"/>
                        </a:spcBef>
                      </a:pPr>
                      <a:r>
                        <a:rPr sz="2400" dirty="0">
                          <a:latin typeface="华文新魏" panose="02010800040101010101" charset="-122"/>
                          <a:cs typeface="华文新魏" panose="02010800040101010101" charset="-122"/>
                        </a:rPr>
                        <a:t>1.3.1: </a:t>
                      </a:r>
                      <a:r>
                        <a:rPr sz="2400" spc="-5" dirty="0">
                          <a:latin typeface="Arial" panose="020B0604020202020204"/>
                          <a:cs typeface="Arial" panose="020B0604020202020204"/>
                        </a:rPr>
                        <a:t>p:= find(specs)</a:t>
                      </a:r>
                      <a:endParaRPr sz="2400" dirty="0">
                        <a:latin typeface="Arial" panose="020B0604020202020204"/>
                        <a:cs typeface="Arial" panose="020B0604020202020204"/>
                      </a:endParaRPr>
                    </a:p>
                  </a:txBody>
                  <a:tcPr marL="0" marR="0" marT="1473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27965">
                        <a:lnSpc>
                          <a:spcPct val="100000"/>
                        </a:lnSpc>
                        <a:spcBef>
                          <a:spcPts val="1320"/>
                        </a:spcBef>
                      </a:pPr>
                      <a:r>
                        <a:rPr sz="2400" dirty="0">
                          <a:latin typeface="华文新魏" panose="02010800040101010101" charset="-122"/>
                          <a:cs typeface="华文新魏" panose="02010800040101010101" charset="-122"/>
                        </a:rPr>
                        <a:t>嵌套消息，消息带返回值</a:t>
                      </a:r>
                    </a:p>
                  </a:txBody>
                  <a:tcPr marL="0" marR="0" marT="167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685799">
                <a:tc>
                  <a:txBody>
                    <a:bodyPr/>
                    <a:lstStyle/>
                    <a:p>
                      <a:pPr marL="90805">
                        <a:lnSpc>
                          <a:spcPct val="100000"/>
                        </a:lnSpc>
                        <a:spcBef>
                          <a:spcPts val="1160"/>
                        </a:spcBef>
                      </a:pPr>
                      <a:r>
                        <a:rPr sz="2400" dirty="0">
                          <a:solidFill>
                            <a:srgbClr val="FFFFFF"/>
                          </a:solidFill>
                          <a:latin typeface="华文新魏" panose="02010800040101010101" charset="-122"/>
                          <a:cs typeface="华文新魏" panose="02010800040101010101" charset="-122"/>
                        </a:rPr>
                        <a:t>4 [</a:t>
                      </a:r>
                      <a:r>
                        <a:rPr sz="2400" dirty="0">
                          <a:solidFill>
                            <a:srgbClr val="FFFFFF"/>
                          </a:solidFill>
                          <a:latin typeface="Arial" panose="020B0604020202020204"/>
                          <a:cs typeface="Arial" panose="020B0604020202020204"/>
                        </a:rPr>
                        <a:t>x &lt; 0] : invert (x,</a:t>
                      </a:r>
                      <a:r>
                        <a:rPr sz="2400" spc="-75" dirty="0">
                          <a:solidFill>
                            <a:srgbClr val="FFFFFF"/>
                          </a:solidFill>
                          <a:latin typeface="Arial" panose="020B0604020202020204"/>
                          <a:cs typeface="Arial" panose="020B0604020202020204"/>
                        </a:rPr>
                        <a:t> </a:t>
                      </a:r>
                      <a:r>
                        <a:rPr sz="2400" dirty="0">
                          <a:solidFill>
                            <a:srgbClr val="FFFFFF"/>
                          </a:solidFill>
                          <a:latin typeface="Arial" panose="020B0604020202020204"/>
                          <a:cs typeface="Arial" panose="020B0604020202020204"/>
                        </a:rPr>
                        <a:t>color)</a:t>
                      </a:r>
                      <a:endParaRPr sz="2400" dirty="0">
                        <a:latin typeface="Arial" panose="020B0604020202020204"/>
                        <a:cs typeface="Arial" panose="020B0604020202020204"/>
                      </a:endParaRPr>
                    </a:p>
                  </a:txBody>
                  <a:tcPr marL="0" marR="0" marT="1473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7A4779"/>
                    </a:solidFill>
                  </a:tcPr>
                </a:tc>
                <a:tc>
                  <a:txBody>
                    <a:bodyPr/>
                    <a:lstStyle/>
                    <a:p>
                      <a:pPr marL="258445">
                        <a:lnSpc>
                          <a:spcPct val="100000"/>
                        </a:lnSpc>
                        <a:spcBef>
                          <a:spcPts val="1160"/>
                        </a:spcBef>
                      </a:pPr>
                      <a:r>
                        <a:rPr sz="2400" dirty="0">
                          <a:solidFill>
                            <a:srgbClr val="FFFFFF"/>
                          </a:solidFill>
                          <a:latin typeface="华文新魏" panose="02010800040101010101" charset="-122"/>
                          <a:cs typeface="华文新魏" panose="02010800040101010101" charset="-122"/>
                        </a:rPr>
                        <a:t>条件消息</a:t>
                      </a:r>
                      <a:endParaRPr sz="2400">
                        <a:latin typeface="华文新魏" panose="02010800040101010101" charset="-122"/>
                        <a:cs typeface="华文新魏" panose="02010800040101010101" charset="-122"/>
                      </a:endParaRPr>
                    </a:p>
                  </a:txBody>
                  <a:tcPr marL="0" marR="0" marT="1473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7A4779"/>
                    </a:solidFill>
                  </a:tcPr>
                </a:tc>
                <a:extLst>
                  <a:ext uri="{0D108BD9-81ED-4DB2-BD59-A6C34878D82A}">
                    <a16:rowId xmlns:a16="http://schemas.microsoft.com/office/drawing/2014/main" val="10002"/>
                  </a:ext>
                </a:extLst>
              </a:tr>
              <a:tr h="685800">
                <a:tc>
                  <a:txBody>
                    <a:bodyPr/>
                    <a:lstStyle/>
                    <a:p>
                      <a:pPr marL="113665">
                        <a:lnSpc>
                          <a:spcPct val="100000"/>
                        </a:lnSpc>
                        <a:spcBef>
                          <a:spcPts val="1335"/>
                        </a:spcBef>
                      </a:pPr>
                      <a:r>
                        <a:rPr sz="2400" dirty="0">
                          <a:latin typeface="华文新魏" panose="02010800040101010101" charset="-122"/>
                          <a:cs typeface="华文新魏" panose="02010800040101010101" charset="-122"/>
                        </a:rPr>
                        <a:t>3.1*: </a:t>
                      </a:r>
                      <a:r>
                        <a:rPr sz="2400" spc="-5" dirty="0">
                          <a:latin typeface="Arial" panose="020B0604020202020204"/>
                          <a:cs typeface="Arial" panose="020B0604020202020204"/>
                        </a:rPr>
                        <a:t>update </a:t>
                      </a:r>
                      <a:r>
                        <a:rPr sz="2400" dirty="0">
                          <a:latin typeface="Arial" panose="020B0604020202020204"/>
                          <a:cs typeface="Arial" panose="020B0604020202020204"/>
                        </a:rPr>
                        <a:t>(</a:t>
                      </a:r>
                      <a:r>
                        <a:rPr sz="2400" spc="-10" dirty="0">
                          <a:latin typeface="Arial" panose="020B0604020202020204"/>
                          <a:cs typeface="Arial" panose="020B0604020202020204"/>
                        </a:rPr>
                        <a:t> </a:t>
                      </a:r>
                      <a:r>
                        <a:rPr sz="2400" dirty="0">
                          <a:latin typeface="Arial" panose="020B0604020202020204"/>
                          <a:cs typeface="Arial" panose="020B0604020202020204"/>
                        </a:rPr>
                        <a:t>)</a:t>
                      </a:r>
                    </a:p>
                  </a:txBody>
                  <a:tcPr marL="0" marR="0" marT="1695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58445">
                        <a:lnSpc>
                          <a:spcPct val="100000"/>
                        </a:lnSpc>
                        <a:spcBef>
                          <a:spcPts val="1120"/>
                        </a:spcBef>
                      </a:pPr>
                      <a:r>
                        <a:rPr sz="2400" dirty="0">
                          <a:latin typeface="华文新魏" panose="02010800040101010101" charset="-122"/>
                          <a:cs typeface="华文新魏" panose="02010800040101010101" charset="-122"/>
                        </a:rPr>
                        <a:t>循环消息</a:t>
                      </a:r>
                    </a:p>
                  </a:txBody>
                  <a:tcPr marL="0" marR="0" marT="1422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bl>
          </a:graphicData>
        </a:graphic>
      </p:graphicFrame>
      <p:sp>
        <p:nvSpPr>
          <p:cNvPr id="8" name="标题 7"/>
          <p:cNvSpPr>
            <a:spLocks noGrp="1"/>
          </p:cNvSpPr>
          <p:nvPr>
            <p:ph type="title"/>
          </p:nvPr>
        </p:nvSpPr>
        <p:spPr/>
        <p:txBody>
          <a:bodyPr/>
          <a:lstStyle/>
          <a:p>
            <a:r>
              <a:rPr lang="zh-CN" altLang="en-US" spc="-5" dirty="0"/>
              <a:t>消息的表示形式</a:t>
            </a:r>
            <a:endParaRPr lang="zh-CN" altLang="en-US" dirty="0"/>
          </a:p>
        </p:txBody>
      </p:sp>
      <p:sp>
        <p:nvSpPr>
          <p:cNvPr id="9" name="灯片编号占位符 8"/>
          <p:cNvSpPr>
            <a:spLocks noGrp="1"/>
          </p:cNvSpPr>
          <p:nvPr>
            <p:ph type="sldNum" sz="quarter" idx="12"/>
          </p:nvPr>
        </p:nvSpPr>
        <p:spPr/>
        <p:txBody>
          <a:bodyPr/>
          <a:lstStyle/>
          <a:p>
            <a:fld id="{74D2AB8B-5816-41F2-8B4B-CA5C3E4E6A65}" type="slidenum">
              <a:rPr lang="zh-CN" altLang="en-US" smtClean="0"/>
              <a:t>42</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3417"/>
    </mc:Choice>
    <mc:Fallback xmlns="">
      <p:transition spd="slow" advTm="33417"/>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p:cNvGrpSpPr/>
          <p:nvPr/>
        </p:nvGrpSpPr>
        <p:grpSpPr>
          <a:xfrm>
            <a:off x="909167" y="1690688"/>
            <a:ext cx="10373666" cy="4466706"/>
            <a:chOff x="870685" y="1107959"/>
            <a:chExt cx="10373666" cy="4466706"/>
          </a:xfrm>
        </p:grpSpPr>
        <p:sp>
          <p:nvSpPr>
            <p:cNvPr id="3" name="object 3"/>
            <p:cNvSpPr/>
            <p:nvPr/>
          </p:nvSpPr>
          <p:spPr>
            <a:xfrm>
              <a:off x="870685" y="1107959"/>
              <a:ext cx="10373666" cy="4121265"/>
            </a:xfrm>
            <a:prstGeom prst="rect">
              <a:avLst/>
            </a:prstGeom>
            <a:blipFill>
              <a:blip r:embed="rId3" cstate="print"/>
              <a:stretch>
                <a:fillRect/>
              </a:stretch>
            </a:blipFill>
          </p:spPr>
          <p:txBody>
            <a:bodyPr wrap="square" lIns="0" tIns="0" rIns="0" bIns="0" rtlCol="0"/>
            <a:lstStyle/>
            <a:p>
              <a:endParaRPr/>
            </a:p>
          </p:txBody>
        </p:sp>
        <p:sp>
          <p:nvSpPr>
            <p:cNvPr id="4" name="object 4"/>
            <p:cNvSpPr txBox="1"/>
            <p:nvPr/>
          </p:nvSpPr>
          <p:spPr>
            <a:xfrm>
              <a:off x="9848971" y="1212458"/>
              <a:ext cx="736600" cy="452120"/>
            </a:xfrm>
            <a:prstGeom prst="rect">
              <a:avLst/>
            </a:prstGeom>
          </p:spPr>
          <p:txBody>
            <a:bodyPr vert="horz" wrap="square" lIns="0" tIns="12700" rIns="0" bIns="0" rtlCol="0">
              <a:spAutoFit/>
            </a:bodyPr>
            <a:lstStyle/>
            <a:p>
              <a:pPr marL="12700">
                <a:lnSpc>
                  <a:spcPct val="100000"/>
                </a:lnSpc>
                <a:spcBef>
                  <a:spcPts val="100"/>
                </a:spcBef>
              </a:pPr>
              <a:r>
                <a:rPr sz="2800" dirty="0">
                  <a:solidFill>
                    <a:srgbClr val="ED7D31"/>
                  </a:solidFill>
                  <a:latin typeface="华文新魏" panose="02010800040101010101" charset="-122"/>
                  <a:cs typeface="华文新魏" panose="02010800040101010101" charset="-122"/>
                </a:rPr>
                <a:t>对象</a:t>
              </a:r>
              <a:endParaRPr sz="2800">
                <a:latin typeface="华文新魏" panose="02010800040101010101" charset="-122"/>
                <a:cs typeface="华文新魏" panose="02010800040101010101" charset="-122"/>
              </a:endParaRPr>
            </a:p>
          </p:txBody>
        </p:sp>
        <p:sp>
          <p:nvSpPr>
            <p:cNvPr id="5" name="object 5"/>
            <p:cNvSpPr/>
            <p:nvPr/>
          </p:nvSpPr>
          <p:spPr>
            <a:xfrm>
              <a:off x="8045293" y="1293442"/>
              <a:ext cx="1723389" cy="191770"/>
            </a:xfrm>
            <a:custGeom>
              <a:avLst/>
              <a:gdLst/>
              <a:ahLst/>
              <a:cxnLst/>
              <a:rect l="l" t="t" r="r" b="b"/>
              <a:pathLst>
                <a:path w="1723390" h="191769">
                  <a:moveTo>
                    <a:pt x="1723112" y="191342"/>
                  </a:moveTo>
                  <a:lnTo>
                    <a:pt x="0" y="0"/>
                  </a:lnTo>
                </a:path>
              </a:pathLst>
            </a:custGeom>
            <a:ln w="12699">
              <a:solidFill>
                <a:srgbClr val="434DD6"/>
              </a:solidFill>
            </a:ln>
          </p:spPr>
          <p:txBody>
            <a:bodyPr wrap="square" lIns="0" tIns="0" rIns="0" bIns="0" rtlCol="0"/>
            <a:lstStyle/>
            <a:p>
              <a:endParaRPr/>
            </a:p>
          </p:txBody>
        </p:sp>
        <p:sp>
          <p:nvSpPr>
            <p:cNvPr id="6" name="object 6"/>
            <p:cNvSpPr/>
            <p:nvPr/>
          </p:nvSpPr>
          <p:spPr>
            <a:xfrm>
              <a:off x="8020048" y="1261181"/>
              <a:ext cx="80010" cy="76200"/>
            </a:xfrm>
            <a:custGeom>
              <a:avLst/>
              <a:gdLst/>
              <a:ahLst/>
              <a:cxnLst/>
              <a:rect l="l" t="t" r="r" b="b"/>
              <a:pathLst>
                <a:path w="80009" h="76200">
                  <a:moveTo>
                    <a:pt x="79940" y="0"/>
                  </a:moveTo>
                  <a:lnTo>
                    <a:pt x="0" y="29457"/>
                  </a:lnTo>
                  <a:lnTo>
                    <a:pt x="71530" y="75735"/>
                  </a:lnTo>
                  <a:lnTo>
                    <a:pt x="79940" y="0"/>
                  </a:lnTo>
                  <a:close/>
                </a:path>
              </a:pathLst>
            </a:custGeom>
            <a:solidFill>
              <a:srgbClr val="434DD6"/>
            </a:solidFill>
          </p:spPr>
          <p:txBody>
            <a:bodyPr wrap="square" lIns="0" tIns="0" rIns="0" bIns="0" rtlCol="0"/>
            <a:lstStyle/>
            <a:p>
              <a:endParaRPr/>
            </a:p>
          </p:txBody>
        </p:sp>
        <p:sp>
          <p:nvSpPr>
            <p:cNvPr id="7" name="object 7"/>
            <p:cNvSpPr/>
            <p:nvPr/>
          </p:nvSpPr>
          <p:spPr>
            <a:xfrm>
              <a:off x="4799855" y="3309936"/>
              <a:ext cx="2232025" cy="401955"/>
            </a:xfrm>
            <a:custGeom>
              <a:avLst/>
              <a:gdLst/>
              <a:ahLst/>
              <a:cxnLst/>
              <a:rect l="l" t="t" r="r" b="b"/>
              <a:pathLst>
                <a:path w="2232025" h="401954">
                  <a:moveTo>
                    <a:pt x="0" y="0"/>
                  </a:moveTo>
                  <a:lnTo>
                    <a:pt x="2231632" y="401898"/>
                  </a:lnTo>
                </a:path>
              </a:pathLst>
            </a:custGeom>
            <a:ln w="12699">
              <a:solidFill>
                <a:srgbClr val="434DD6"/>
              </a:solidFill>
            </a:ln>
          </p:spPr>
          <p:txBody>
            <a:bodyPr wrap="square" lIns="0" tIns="0" rIns="0" bIns="0" rtlCol="0"/>
            <a:lstStyle/>
            <a:p>
              <a:endParaRPr/>
            </a:p>
          </p:txBody>
        </p:sp>
        <p:sp>
          <p:nvSpPr>
            <p:cNvPr id="8" name="object 8"/>
            <p:cNvSpPr/>
            <p:nvPr/>
          </p:nvSpPr>
          <p:spPr>
            <a:xfrm>
              <a:off x="6974739" y="3665334"/>
              <a:ext cx="81915" cy="75565"/>
            </a:xfrm>
            <a:custGeom>
              <a:avLst/>
              <a:gdLst/>
              <a:ahLst/>
              <a:cxnLst/>
              <a:rect l="l" t="t" r="r" b="b"/>
              <a:pathLst>
                <a:path w="81915" h="75564">
                  <a:moveTo>
                    <a:pt x="13506" y="0"/>
                  </a:moveTo>
                  <a:lnTo>
                    <a:pt x="0" y="74993"/>
                  </a:lnTo>
                  <a:lnTo>
                    <a:pt x="81746" y="51001"/>
                  </a:lnTo>
                  <a:lnTo>
                    <a:pt x="13506" y="0"/>
                  </a:lnTo>
                  <a:close/>
                </a:path>
              </a:pathLst>
            </a:custGeom>
            <a:solidFill>
              <a:srgbClr val="434DD6"/>
            </a:solidFill>
          </p:spPr>
          <p:txBody>
            <a:bodyPr wrap="square" lIns="0" tIns="0" rIns="0" bIns="0" rtlCol="0"/>
            <a:lstStyle/>
            <a:p>
              <a:endParaRPr/>
            </a:p>
          </p:txBody>
        </p:sp>
        <p:sp>
          <p:nvSpPr>
            <p:cNvPr id="9" name="object 9"/>
            <p:cNvSpPr/>
            <p:nvPr/>
          </p:nvSpPr>
          <p:spPr>
            <a:xfrm>
              <a:off x="4527722" y="4696637"/>
              <a:ext cx="2120900" cy="623570"/>
            </a:xfrm>
            <a:custGeom>
              <a:avLst/>
              <a:gdLst/>
              <a:ahLst/>
              <a:cxnLst/>
              <a:rect l="l" t="t" r="r" b="b"/>
              <a:pathLst>
                <a:path w="2120900" h="623570">
                  <a:moveTo>
                    <a:pt x="0" y="623076"/>
                  </a:moveTo>
                  <a:lnTo>
                    <a:pt x="2120343" y="0"/>
                  </a:lnTo>
                </a:path>
              </a:pathLst>
            </a:custGeom>
            <a:ln w="12699">
              <a:solidFill>
                <a:srgbClr val="434DD6"/>
              </a:solidFill>
            </a:ln>
          </p:spPr>
          <p:txBody>
            <a:bodyPr wrap="square" lIns="0" tIns="0" rIns="0" bIns="0" rtlCol="0"/>
            <a:lstStyle/>
            <a:p>
              <a:endParaRPr/>
            </a:p>
          </p:txBody>
        </p:sp>
        <p:sp>
          <p:nvSpPr>
            <p:cNvPr id="10" name="object 10"/>
            <p:cNvSpPr/>
            <p:nvPr/>
          </p:nvSpPr>
          <p:spPr>
            <a:xfrm>
              <a:off x="6588584" y="4674404"/>
              <a:ext cx="84455" cy="73660"/>
            </a:xfrm>
            <a:custGeom>
              <a:avLst/>
              <a:gdLst/>
              <a:ahLst/>
              <a:cxnLst/>
              <a:rect l="l" t="t" r="r" b="b"/>
              <a:pathLst>
                <a:path w="84454" h="73660">
                  <a:moveTo>
                    <a:pt x="0" y="0"/>
                  </a:moveTo>
                  <a:lnTo>
                    <a:pt x="21483" y="73108"/>
                  </a:lnTo>
                  <a:lnTo>
                    <a:pt x="83850" y="15071"/>
                  </a:lnTo>
                  <a:lnTo>
                    <a:pt x="0" y="0"/>
                  </a:lnTo>
                  <a:close/>
                </a:path>
              </a:pathLst>
            </a:custGeom>
            <a:solidFill>
              <a:srgbClr val="434DD6"/>
            </a:solidFill>
          </p:spPr>
          <p:txBody>
            <a:bodyPr wrap="square" lIns="0" tIns="0" rIns="0" bIns="0" rtlCol="0"/>
            <a:lstStyle/>
            <a:p>
              <a:endParaRPr/>
            </a:p>
          </p:txBody>
        </p:sp>
        <p:sp>
          <p:nvSpPr>
            <p:cNvPr id="11" name="object 11"/>
            <p:cNvSpPr/>
            <p:nvPr/>
          </p:nvSpPr>
          <p:spPr>
            <a:xfrm>
              <a:off x="4211637" y="4221087"/>
              <a:ext cx="1186180" cy="36195"/>
            </a:xfrm>
            <a:custGeom>
              <a:avLst/>
              <a:gdLst/>
              <a:ahLst/>
              <a:cxnLst/>
              <a:rect l="l" t="t" r="r" b="b"/>
              <a:pathLst>
                <a:path w="1186179" h="36195">
                  <a:moveTo>
                    <a:pt x="0" y="0"/>
                  </a:moveTo>
                  <a:lnTo>
                    <a:pt x="1185873" y="35747"/>
                  </a:lnTo>
                </a:path>
              </a:pathLst>
            </a:custGeom>
            <a:ln w="12699">
              <a:solidFill>
                <a:srgbClr val="434DD6"/>
              </a:solidFill>
            </a:ln>
          </p:spPr>
          <p:txBody>
            <a:bodyPr wrap="square" lIns="0" tIns="0" rIns="0" bIns="0" rtlCol="0"/>
            <a:lstStyle/>
            <a:p>
              <a:endParaRPr/>
            </a:p>
          </p:txBody>
        </p:sp>
        <p:sp>
          <p:nvSpPr>
            <p:cNvPr id="12" name="object 12"/>
            <p:cNvSpPr/>
            <p:nvPr/>
          </p:nvSpPr>
          <p:spPr>
            <a:xfrm>
              <a:off x="5345586" y="4217221"/>
              <a:ext cx="77470" cy="76200"/>
            </a:xfrm>
            <a:custGeom>
              <a:avLst/>
              <a:gdLst/>
              <a:ahLst/>
              <a:cxnLst/>
              <a:rect l="l" t="t" r="r" b="b"/>
              <a:pathLst>
                <a:path w="77470" h="76200">
                  <a:moveTo>
                    <a:pt x="2296" y="0"/>
                  </a:moveTo>
                  <a:lnTo>
                    <a:pt x="0" y="76165"/>
                  </a:lnTo>
                  <a:lnTo>
                    <a:pt x="77313" y="40378"/>
                  </a:lnTo>
                  <a:lnTo>
                    <a:pt x="2296" y="0"/>
                  </a:lnTo>
                  <a:close/>
                </a:path>
              </a:pathLst>
            </a:custGeom>
            <a:solidFill>
              <a:srgbClr val="434DD6"/>
            </a:solidFill>
          </p:spPr>
          <p:txBody>
            <a:bodyPr wrap="square" lIns="0" tIns="0" rIns="0" bIns="0" rtlCol="0"/>
            <a:lstStyle/>
            <a:p>
              <a:endParaRPr/>
            </a:p>
          </p:txBody>
        </p:sp>
        <p:sp>
          <p:nvSpPr>
            <p:cNvPr id="13" name="object 13"/>
            <p:cNvSpPr/>
            <p:nvPr/>
          </p:nvSpPr>
          <p:spPr>
            <a:xfrm>
              <a:off x="2174751" y="2290913"/>
              <a:ext cx="682625" cy="490220"/>
            </a:xfrm>
            <a:custGeom>
              <a:avLst/>
              <a:gdLst/>
              <a:ahLst/>
              <a:cxnLst/>
              <a:rect l="l" t="t" r="r" b="b"/>
              <a:pathLst>
                <a:path w="682625" h="490219">
                  <a:moveTo>
                    <a:pt x="0" y="490013"/>
                  </a:moveTo>
                  <a:lnTo>
                    <a:pt x="682628" y="0"/>
                  </a:lnTo>
                </a:path>
              </a:pathLst>
            </a:custGeom>
            <a:ln w="12699">
              <a:solidFill>
                <a:srgbClr val="434DD6"/>
              </a:solidFill>
            </a:ln>
          </p:spPr>
          <p:txBody>
            <a:bodyPr wrap="square" lIns="0" tIns="0" rIns="0" bIns="0" rtlCol="0"/>
            <a:lstStyle/>
            <a:p>
              <a:endParaRPr/>
            </a:p>
          </p:txBody>
        </p:sp>
        <p:sp>
          <p:nvSpPr>
            <p:cNvPr id="14" name="object 14"/>
            <p:cNvSpPr/>
            <p:nvPr/>
          </p:nvSpPr>
          <p:spPr>
            <a:xfrm>
              <a:off x="2793894" y="2276101"/>
              <a:ext cx="84455" cy="75565"/>
            </a:xfrm>
            <a:custGeom>
              <a:avLst/>
              <a:gdLst/>
              <a:ahLst/>
              <a:cxnLst/>
              <a:rect l="l" t="t" r="r" b="b"/>
              <a:pathLst>
                <a:path w="84455" h="75564">
                  <a:moveTo>
                    <a:pt x="84119" y="0"/>
                  </a:moveTo>
                  <a:lnTo>
                    <a:pt x="0" y="13484"/>
                  </a:lnTo>
                  <a:lnTo>
                    <a:pt x="44434" y="75387"/>
                  </a:lnTo>
                  <a:lnTo>
                    <a:pt x="84119" y="0"/>
                  </a:lnTo>
                  <a:close/>
                </a:path>
              </a:pathLst>
            </a:custGeom>
            <a:solidFill>
              <a:srgbClr val="434DD6"/>
            </a:solidFill>
          </p:spPr>
          <p:txBody>
            <a:bodyPr wrap="square" lIns="0" tIns="0" rIns="0" bIns="0" rtlCol="0"/>
            <a:lstStyle/>
            <a:p>
              <a:endParaRPr/>
            </a:p>
          </p:txBody>
        </p:sp>
        <p:sp>
          <p:nvSpPr>
            <p:cNvPr id="15" name="object 15"/>
            <p:cNvSpPr txBox="1"/>
            <p:nvPr/>
          </p:nvSpPr>
          <p:spPr>
            <a:xfrm>
              <a:off x="1350204" y="2658745"/>
              <a:ext cx="3473450" cy="2915920"/>
            </a:xfrm>
            <a:prstGeom prst="rect">
              <a:avLst/>
            </a:prstGeom>
          </p:spPr>
          <p:txBody>
            <a:bodyPr vert="horz" wrap="square" lIns="0" tIns="12700" rIns="0" bIns="0" rtlCol="0">
              <a:spAutoFit/>
            </a:bodyPr>
            <a:lstStyle/>
            <a:p>
              <a:pPr marL="12700">
                <a:lnSpc>
                  <a:spcPts val="2875"/>
                </a:lnSpc>
                <a:spcBef>
                  <a:spcPts val="100"/>
                </a:spcBef>
              </a:pPr>
              <a:r>
                <a:rPr sz="2800" dirty="0">
                  <a:solidFill>
                    <a:srgbClr val="ED7D31"/>
                  </a:solidFill>
                  <a:latin typeface="华文新魏" panose="02010800040101010101" charset="-122"/>
                  <a:cs typeface="华文新魏" panose="02010800040101010101" charset="-122"/>
                </a:rPr>
                <a:t>循环</a:t>
              </a:r>
              <a:endParaRPr sz="2800" dirty="0">
                <a:latin typeface="华文新魏" panose="02010800040101010101" charset="-122"/>
                <a:cs typeface="华文新魏" panose="02010800040101010101" charset="-122"/>
              </a:endParaRPr>
            </a:p>
            <a:p>
              <a:pPr marL="2748915">
                <a:lnSpc>
                  <a:spcPts val="2875"/>
                </a:lnSpc>
              </a:pPr>
              <a:r>
                <a:rPr sz="2800" dirty="0">
                  <a:solidFill>
                    <a:srgbClr val="ED7D31"/>
                  </a:solidFill>
                  <a:latin typeface="华文新魏" panose="02010800040101010101" charset="-122"/>
                  <a:cs typeface="华文新魏" panose="02010800040101010101" charset="-122"/>
                </a:rPr>
                <a:t>条件</a:t>
              </a:r>
              <a:endParaRPr sz="2800" dirty="0">
                <a:latin typeface="华文新魏" panose="02010800040101010101" charset="-122"/>
                <a:cs typeface="华文新魏" panose="02010800040101010101" charset="-122"/>
              </a:endParaRPr>
            </a:p>
            <a:p>
              <a:pPr>
                <a:lnSpc>
                  <a:spcPct val="100000"/>
                </a:lnSpc>
                <a:spcBef>
                  <a:spcPts val="10"/>
                </a:spcBef>
              </a:pPr>
              <a:endParaRPr sz="3300" dirty="0">
                <a:latin typeface="Times New Roman" panose="02020603050405020304"/>
                <a:cs typeface="Times New Roman" panose="02020603050405020304"/>
              </a:endParaRPr>
            </a:p>
            <a:p>
              <a:pPr marL="613410" algn="ctr">
                <a:lnSpc>
                  <a:spcPct val="100000"/>
                </a:lnSpc>
              </a:pPr>
              <a:r>
                <a:rPr sz="2800" dirty="0">
                  <a:solidFill>
                    <a:srgbClr val="ED7D31"/>
                  </a:solidFill>
                  <a:latin typeface="华文新魏" panose="02010800040101010101" charset="-122"/>
                  <a:cs typeface="华文新魏" panose="02010800040101010101" charset="-122"/>
                </a:rPr>
                <a:t>返回消息</a:t>
              </a:r>
              <a:endParaRPr sz="2800" dirty="0">
                <a:latin typeface="华文新魏" panose="02010800040101010101" charset="-122"/>
                <a:cs typeface="华文新魏" panose="02010800040101010101" charset="-122"/>
              </a:endParaRPr>
            </a:p>
            <a:p>
              <a:pPr>
                <a:lnSpc>
                  <a:spcPct val="100000"/>
                </a:lnSpc>
              </a:pPr>
              <a:endParaRPr sz="2900" dirty="0">
                <a:latin typeface="Times New Roman" panose="02020603050405020304"/>
                <a:cs typeface="Times New Roman" panose="02020603050405020304"/>
              </a:endParaRPr>
            </a:p>
            <a:p>
              <a:pPr>
                <a:lnSpc>
                  <a:spcPct val="100000"/>
                </a:lnSpc>
                <a:spcBef>
                  <a:spcPts val="35"/>
                </a:spcBef>
              </a:pPr>
              <a:endParaRPr sz="2700" dirty="0">
                <a:latin typeface="Times New Roman" panose="02020603050405020304"/>
                <a:cs typeface="Times New Roman" panose="02020603050405020304"/>
              </a:endParaRPr>
            </a:p>
            <a:p>
              <a:pPr marL="1647825">
                <a:lnSpc>
                  <a:spcPct val="100000"/>
                </a:lnSpc>
              </a:pPr>
              <a:r>
                <a:rPr sz="2800" dirty="0">
                  <a:solidFill>
                    <a:srgbClr val="ED7D31"/>
                  </a:solidFill>
                  <a:latin typeface="华文新魏" panose="02010800040101010101" charset="-122"/>
                  <a:cs typeface="华文新魏" panose="02010800040101010101" charset="-122"/>
                </a:rPr>
                <a:t>创建对象</a:t>
              </a:r>
              <a:endParaRPr sz="2800" dirty="0">
                <a:latin typeface="华文新魏" panose="02010800040101010101" charset="-122"/>
                <a:cs typeface="华文新魏" panose="02010800040101010101" charset="-122"/>
              </a:endParaRPr>
            </a:p>
          </p:txBody>
        </p:sp>
      </p:grpSp>
      <p:sp>
        <p:nvSpPr>
          <p:cNvPr id="20" name="标题 19"/>
          <p:cNvSpPr>
            <a:spLocks noGrp="1"/>
          </p:cNvSpPr>
          <p:nvPr>
            <p:ph type="title"/>
          </p:nvPr>
        </p:nvSpPr>
        <p:spPr/>
        <p:txBody>
          <a:bodyPr/>
          <a:lstStyle/>
          <a:p>
            <a:r>
              <a:rPr lang="zh-CN" altLang="en-US" dirty="0">
                <a:latin typeface="Microsoft JhengHei" panose="020B0604030504040204" charset="-120"/>
                <a:cs typeface="Microsoft JhengHei" panose="020B0604030504040204" charset="-120"/>
              </a:rPr>
              <a:t>顺序图中的基本结构</a:t>
            </a:r>
            <a:endParaRPr lang="zh-CN" altLang="en-US" dirty="0"/>
          </a:p>
        </p:txBody>
      </p:sp>
      <p:sp>
        <p:nvSpPr>
          <p:cNvPr id="21" name="灯片编号占位符 20"/>
          <p:cNvSpPr>
            <a:spLocks noGrp="1"/>
          </p:cNvSpPr>
          <p:nvPr>
            <p:ph type="sldNum" sz="quarter" idx="12"/>
          </p:nvPr>
        </p:nvSpPr>
        <p:spPr/>
        <p:txBody>
          <a:bodyPr/>
          <a:lstStyle/>
          <a:p>
            <a:fld id="{74D2AB8B-5816-41F2-8B4B-CA5C3E4E6A65}" type="slidenum">
              <a:rPr lang="zh-CN" altLang="en-US" smtClean="0"/>
              <a:t>43</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78604"/>
    </mc:Choice>
    <mc:Fallback xmlns="">
      <p:transition spd="slow" advTm="78604"/>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838200" y="1815783"/>
            <a:ext cx="7416800" cy="2473960"/>
          </a:xfrm>
          <a:prstGeom prst="rect">
            <a:avLst/>
          </a:prstGeom>
        </p:spPr>
        <p:txBody>
          <a:bodyPr vert="horz" wrap="square" lIns="0" tIns="12700" rIns="0" bIns="0" rtlCol="0">
            <a:spAutoFit/>
          </a:bodyPr>
          <a:lstStyle/>
          <a:p>
            <a:pPr marL="241300" indent="-228600">
              <a:lnSpc>
                <a:spcPct val="100000"/>
              </a:lnSpc>
              <a:spcBef>
                <a:spcPts val="10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新魏" panose="02010800040101010101" charset="-122"/>
              </a:rPr>
              <a:t>在消息名字前加循环条件或添加循环控制框</a:t>
            </a:r>
          </a:p>
          <a:p>
            <a:pPr marL="12700">
              <a:lnSpc>
                <a:spcPct val="100000"/>
              </a:lnSpc>
              <a:spcBef>
                <a:spcPts val="2440"/>
              </a:spcBef>
            </a:pPr>
            <a:r>
              <a:rPr sz="2400" dirty="0">
                <a:latin typeface="微软雅黑" panose="020B0503020204020204" pitchFamily="34" charset="-122"/>
                <a:ea typeface="微软雅黑" panose="020B0503020204020204" pitchFamily="34" charset="-122"/>
                <a:cs typeface="华文新魏" panose="02010800040101010101" charset="-122"/>
              </a:rPr>
              <a:t>例：</a:t>
            </a:r>
          </a:p>
          <a:p>
            <a:pPr marL="384175" marR="1965325" indent="-635">
              <a:lnSpc>
                <a:spcPct val="184000"/>
              </a:lnSpc>
            </a:pPr>
            <a:r>
              <a:rPr sz="2400" dirty="0">
                <a:latin typeface="华文新魏" panose="02010800040101010101" charset="-122"/>
                <a:cs typeface="华文新魏" panose="02010800040101010101" charset="-122"/>
              </a:rPr>
              <a:t>1.1 *[ for all order lines]:</a:t>
            </a:r>
            <a:r>
              <a:rPr sz="2400" spc="-100" dirty="0">
                <a:latin typeface="华文新魏" panose="02010800040101010101" charset="-122"/>
                <a:cs typeface="华文新魏" panose="02010800040101010101" charset="-122"/>
              </a:rPr>
              <a:t> </a:t>
            </a:r>
            <a:r>
              <a:rPr sz="2400" dirty="0">
                <a:latin typeface="华文新魏" panose="02010800040101010101" charset="-122"/>
                <a:cs typeface="华文新魏" panose="02010800040101010101" charset="-122"/>
              </a:rPr>
              <a:t>message1()  2.1 </a:t>
            </a:r>
            <a:r>
              <a:rPr sz="2400" spc="-5" dirty="0">
                <a:latin typeface="华文新魏" panose="02010800040101010101" charset="-122"/>
                <a:cs typeface="华文新魏" panose="02010800040101010101" charset="-122"/>
              </a:rPr>
              <a:t>*[i:=1..n]:</a:t>
            </a:r>
            <a:r>
              <a:rPr sz="2400" spc="-10" dirty="0">
                <a:latin typeface="华文新魏" panose="02010800040101010101" charset="-122"/>
                <a:cs typeface="华文新魏" panose="02010800040101010101" charset="-122"/>
              </a:rPr>
              <a:t> </a:t>
            </a:r>
            <a:r>
              <a:rPr sz="2400" dirty="0">
                <a:latin typeface="华文新魏" panose="02010800040101010101" charset="-122"/>
                <a:cs typeface="华文新魏" panose="02010800040101010101" charset="-122"/>
              </a:rPr>
              <a:t>message2()</a:t>
            </a:r>
          </a:p>
        </p:txBody>
      </p:sp>
      <p:sp>
        <p:nvSpPr>
          <p:cNvPr id="5" name="object 5"/>
          <p:cNvSpPr/>
          <p:nvPr/>
        </p:nvSpPr>
        <p:spPr>
          <a:xfrm>
            <a:off x="6754322" y="3241732"/>
            <a:ext cx="3645131" cy="2788920"/>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7053256" y="3505892"/>
            <a:ext cx="3047262" cy="2190220"/>
          </a:xfrm>
          <a:prstGeom prst="rect">
            <a:avLst/>
          </a:prstGeom>
          <a:blipFill>
            <a:blip r:embed="rId4" cstate="print"/>
            <a:stretch>
              <a:fillRect/>
            </a:stretch>
          </a:blipFill>
        </p:spPr>
        <p:txBody>
          <a:bodyPr wrap="square" lIns="0" tIns="0" rIns="0" bIns="0" rtlCol="0"/>
          <a:lstStyle/>
          <a:p>
            <a:endParaRPr/>
          </a:p>
        </p:txBody>
      </p:sp>
      <p:sp>
        <p:nvSpPr>
          <p:cNvPr id="9" name="标题 8"/>
          <p:cNvSpPr>
            <a:spLocks noGrp="1"/>
          </p:cNvSpPr>
          <p:nvPr>
            <p:ph type="title"/>
          </p:nvPr>
        </p:nvSpPr>
        <p:spPr/>
        <p:txBody>
          <a:bodyPr/>
          <a:lstStyle/>
          <a:p>
            <a:r>
              <a:rPr lang="zh-CN" altLang="en-US" spc="-5" dirty="0"/>
              <a:t>顺序图中消息的循环发送</a:t>
            </a:r>
            <a:endParaRPr lang="zh-CN" altLang="en-US" dirty="0"/>
          </a:p>
        </p:txBody>
      </p:sp>
      <p:sp>
        <p:nvSpPr>
          <p:cNvPr id="10" name="灯片编号占位符 9"/>
          <p:cNvSpPr>
            <a:spLocks noGrp="1"/>
          </p:cNvSpPr>
          <p:nvPr>
            <p:ph type="sldNum" sz="quarter" idx="12"/>
          </p:nvPr>
        </p:nvSpPr>
        <p:spPr/>
        <p:txBody>
          <a:bodyPr/>
          <a:lstStyle/>
          <a:p>
            <a:fld id="{74D2AB8B-5816-41F2-8B4B-CA5C3E4E6A65}" type="slidenum">
              <a:rPr lang="zh-CN" altLang="en-US" smtClean="0"/>
              <a:t>44</a:t>
            </a:fld>
            <a:endParaRPr lang="zh-CN" altLang="en-US"/>
          </a:p>
        </p:txBody>
      </p:sp>
      <p:sp>
        <p:nvSpPr>
          <p:cNvPr id="17" name="墨迹 16"/>
          <p:cNvSpPr/>
          <p:nvPr/>
        </p:nvSpPr>
        <p:spPr bwMode="auto">
          <a:xfrm>
            <a:off x="1769040" y="3538440"/>
            <a:ext cx="2462400" cy="137160"/>
          </a:xfrm>
          <a:prstGeom prst="rect">
            <a:avLst/>
          </a:prstGeom>
        </p:spPr>
        <p:txBody>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28646"/>
    </mc:Choice>
    <mc:Fallback xmlns="">
      <p:transition spd="slow" advTm="2864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9" presetClass="entr" presetSubtype="0" fill="hold" nodeType="withEffect">
                                  <p:stCondLst>
                                    <p:cond delay="0"/>
                                  </p:stCondLst>
                                  <p:childTnLst>
                                    <p:set>
                                      <p:cBhvr>
                                        <p:cTn id="6" dur="1" fill="hold">
                                          <p:stCondLst>
                                            <p:cond delay="0"/>
                                          </p:stCondLst>
                                        </p:cTn>
                                        <p:tgtEl>
                                          <p:spTgt spid="17"/>
                                        </p:tgtEl>
                                        <p:attrNameLst>
                                          <p:attrName>style.visibility</p:attrName>
                                        </p:attrNameLst>
                                      </p:cBhvr>
                                      <p:to>
                                        <p:strVal val="visible"/>
                                      </p:to>
                                    </p:set>
                                    <p:cmd type="call" cmd="playFrom(0.0)">
                                      <p:cBhvr>
                                        <p:cTn id="7" dur="1"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5933192" y="1651391"/>
            <a:ext cx="4742505" cy="2259073"/>
          </a:xfrm>
          <a:prstGeom prst="rect">
            <a:avLst/>
          </a:prstGeom>
          <a:blipFill>
            <a:blip r:embed="rId3" cstate="print"/>
            <a:stretch>
              <a:fillRect/>
            </a:stretch>
          </a:blipFill>
        </p:spPr>
        <p:txBody>
          <a:bodyPr wrap="square" lIns="0" tIns="0" rIns="0" bIns="0" rtlCol="0"/>
          <a:lstStyle/>
          <a:p>
            <a:endParaRPr/>
          </a:p>
        </p:txBody>
      </p:sp>
      <p:sp>
        <p:nvSpPr>
          <p:cNvPr id="3" name="object 3"/>
          <p:cNvSpPr txBox="1"/>
          <p:nvPr/>
        </p:nvSpPr>
        <p:spPr>
          <a:xfrm>
            <a:off x="838199" y="1754435"/>
            <a:ext cx="4416889" cy="2410460"/>
          </a:xfrm>
          <a:prstGeom prst="rect">
            <a:avLst/>
          </a:prstGeom>
        </p:spPr>
        <p:txBody>
          <a:bodyPr vert="horz" wrap="square" lIns="0" tIns="12700" rIns="0" bIns="0" rtlCol="0">
            <a:spAutoFit/>
          </a:bodyPr>
          <a:lstStyle/>
          <a:p>
            <a:pPr marL="241300" indent="-228600">
              <a:lnSpc>
                <a:spcPct val="100000"/>
              </a:lnSpc>
              <a:spcBef>
                <a:spcPts val="10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在消息名字前加条件子句；</a:t>
            </a:r>
          </a:p>
          <a:p>
            <a:pPr marL="241300" indent="-228600">
              <a:lnSpc>
                <a:spcPct val="100000"/>
              </a:lnSpc>
              <a:spcBef>
                <a:spcPts val="24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使用文字说明；</a:t>
            </a:r>
          </a:p>
          <a:p>
            <a:pPr marL="241300" indent="-228600">
              <a:lnSpc>
                <a:spcPct val="100000"/>
              </a:lnSpc>
              <a:spcBef>
                <a:spcPts val="24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添加条件控制框；</a:t>
            </a:r>
          </a:p>
          <a:p>
            <a:pPr marL="241300" indent="-228600">
              <a:lnSpc>
                <a:spcPct val="100000"/>
              </a:lnSpc>
              <a:spcBef>
                <a:spcPts val="24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分成多个顺序图子图并关联</a:t>
            </a:r>
          </a:p>
        </p:txBody>
      </p:sp>
      <p:sp>
        <p:nvSpPr>
          <p:cNvPr id="5" name="object 5"/>
          <p:cNvSpPr/>
          <p:nvPr/>
        </p:nvSpPr>
        <p:spPr>
          <a:xfrm>
            <a:off x="7049192" y="3661755"/>
            <a:ext cx="4143894" cy="2959331"/>
          </a:xfrm>
          <a:prstGeom prst="rect">
            <a:avLst/>
          </a:prstGeom>
          <a:blipFill>
            <a:blip r:embed="rId4" cstate="print"/>
            <a:stretch>
              <a:fillRect/>
            </a:stretch>
          </a:blipFill>
        </p:spPr>
        <p:txBody>
          <a:bodyPr wrap="square" lIns="0" tIns="0" rIns="0" bIns="0" rtlCol="0"/>
          <a:lstStyle/>
          <a:p>
            <a:endParaRPr/>
          </a:p>
        </p:txBody>
      </p:sp>
      <p:sp>
        <p:nvSpPr>
          <p:cNvPr id="6" name="object 6"/>
          <p:cNvSpPr/>
          <p:nvPr/>
        </p:nvSpPr>
        <p:spPr>
          <a:xfrm>
            <a:off x="7248127" y="3861047"/>
            <a:ext cx="3547338" cy="2360110"/>
          </a:xfrm>
          <a:prstGeom prst="rect">
            <a:avLst/>
          </a:prstGeom>
          <a:blipFill>
            <a:blip r:embed="rId5" cstate="print"/>
            <a:stretch>
              <a:fillRect/>
            </a:stretch>
          </a:blipFill>
        </p:spPr>
        <p:txBody>
          <a:bodyPr wrap="square" lIns="0" tIns="0" rIns="0" bIns="0" rtlCol="0"/>
          <a:lstStyle/>
          <a:p>
            <a:endParaRPr/>
          </a:p>
        </p:txBody>
      </p:sp>
      <p:sp>
        <p:nvSpPr>
          <p:cNvPr id="10" name="标题 9"/>
          <p:cNvSpPr>
            <a:spLocks noGrp="1"/>
          </p:cNvSpPr>
          <p:nvPr>
            <p:ph type="title"/>
          </p:nvPr>
        </p:nvSpPr>
        <p:spPr/>
        <p:txBody>
          <a:bodyPr/>
          <a:lstStyle/>
          <a:p>
            <a:r>
              <a:rPr lang="zh-CN" altLang="en-US" spc="-5" dirty="0"/>
              <a:t>顺序图中带条件消息的发送</a:t>
            </a:r>
            <a:endParaRPr lang="zh-CN" altLang="en-US" dirty="0"/>
          </a:p>
        </p:txBody>
      </p:sp>
      <p:sp>
        <p:nvSpPr>
          <p:cNvPr id="11" name="灯片编号占位符 10"/>
          <p:cNvSpPr>
            <a:spLocks noGrp="1"/>
          </p:cNvSpPr>
          <p:nvPr>
            <p:ph type="sldNum" sz="quarter" idx="12"/>
          </p:nvPr>
        </p:nvSpPr>
        <p:spPr/>
        <p:txBody>
          <a:bodyPr/>
          <a:lstStyle/>
          <a:p>
            <a:fld id="{74D2AB8B-5816-41F2-8B4B-CA5C3E4E6A65}" type="slidenum">
              <a:rPr lang="zh-CN" altLang="en-US" smtClean="0"/>
              <a:t>45</a:t>
            </a:fld>
            <a:endParaRPr lang="zh-CN" altLang="en-US"/>
          </a:p>
        </p:txBody>
      </p:sp>
      <p:sp>
        <p:nvSpPr>
          <p:cNvPr id="7" name="矩形 6"/>
          <p:cNvSpPr/>
          <p:nvPr/>
        </p:nvSpPr>
        <p:spPr>
          <a:xfrm>
            <a:off x="1210687" y="4956754"/>
            <a:ext cx="2356735" cy="369332"/>
          </a:xfrm>
          <a:prstGeom prst="rect">
            <a:avLst/>
          </a:prstGeom>
        </p:spPr>
        <p:txBody>
          <a:bodyPr wrap="none">
            <a:spAutoFit/>
          </a:bodyPr>
          <a:lstStyle/>
          <a:p>
            <a:r>
              <a:rPr lang="en-US" altLang="zh-CN" dirty="0">
                <a:latin typeface="华文新魏" panose="02010800040101010101" charset="-122"/>
                <a:cs typeface="华文新魏" panose="02010800040101010101" charset="-122"/>
              </a:rPr>
              <a:t>[ </a:t>
            </a:r>
            <a:r>
              <a:rPr lang="en-US" altLang="zh-CN" dirty="0" err="1">
                <a:latin typeface="华文新魏" panose="02010800040101010101" charset="-122"/>
                <a:cs typeface="华文新魏" panose="02010800040101010101" charset="-122"/>
              </a:rPr>
              <a:t>hasStock</a:t>
            </a:r>
            <a:r>
              <a:rPr lang="en-US" altLang="zh-CN" dirty="0">
                <a:latin typeface="华文新魏" panose="02010800040101010101" charset="-122"/>
                <a:cs typeface="华文新魏" panose="02010800040101010101" charset="-122"/>
              </a:rPr>
              <a:t>]:</a:t>
            </a:r>
            <a:r>
              <a:rPr lang="en-US" altLang="zh-CN" spc="-100" dirty="0">
                <a:latin typeface="华文新魏" panose="02010800040101010101" charset="-122"/>
                <a:cs typeface="华文新魏" panose="02010800040101010101" charset="-122"/>
              </a:rPr>
              <a:t> </a:t>
            </a:r>
            <a:r>
              <a:rPr lang="en-US" altLang="zh-CN" dirty="0">
                <a:latin typeface="华文新魏" panose="02010800040101010101" charset="-122"/>
                <a:cs typeface="华文新魏" panose="02010800040101010101" charset="-122"/>
              </a:rPr>
              <a:t>remove() </a:t>
            </a:r>
            <a:endParaRPr lang="zh-CN" altLang="en-US" dirty="0"/>
          </a:p>
        </p:txBody>
      </p:sp>
      <p:cxnSp>
        <p:nvCxnSpPr>
          <p:cNvPr id="9" name="直接箭头连接符 8"/>
          <p:cNvCxnSpPr/>
          <p:nvPr/>
        </p:nvCxnSpPr>
        <p:spPr>
          <a:xfrm>
            <a:off x="1210687" y="5444359"/>
            <a:ext cx="2215685"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墨迹 11"/>
          <p:cNvSpPr/>
          <p:nvPr/>
        </p:nvSpPr>
        <p:spPr bwMode="auto">
          <a:xfrm>
            <a:off x="1167120" y="2699280"/>
            <a:ext cx="6593400" cy="2709000"/>
          </a:xfrm>
          <a:prstGeom prst="rect">
            <a:avLst/>
          </a:prstGeom>
        </p:spPr>
        <p:txBody>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46627"/>
    </mc:Choice>
    <mc:Fallback xmlns="">
      <p:transition spd="slow" advTm="4662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9" presetClass="entr" presetSubtype="0" fill="hold" nodeType="withEffect">
                                  <p:stCondLst>
                                    <p:cond delay="0"/>
                                  </p:stCondLst>
                                  <p:childTnLst>
                                    <p:set>
                                      <p:cBhvr>
                                        <p:cTn id="6" dur="1" fill="hold">
                                          <p:stCondLst>
                                            <p:cond delay="0"/>
                                          </p:stCondLst>
                                        </p:cTn>
                                        <p:tgtEl>
                                          <p:spTgt spid="12"/>
                                        </p:tgtEl>
                                        <p:attrNameLst>
                                          <p:attrName>style.visibility</p:attrName>
                                        </p:attrNameLst>
                                      </p:cBhvr>
                                      <p:to>
                                        <p:strVal val="visible"/>
                                      </p:to>
                                    </p:set>
                                    <p:cmd type="call" cmd="playFrom(0.0)">
                                      <p:cBhvr>
                                        <p:cTn id="7" dur="1"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body" idx="1"/>
          </p:nvPr>
        </p:nvSpPr>
        <p:spPr>
          <a:xfrm>
            <a:off x="838200" y="1558925"/>
            <a:ext cx="10515600" cy="4581575"/>
          </a:xfrm>
          <a:prstGeom prst="rect">
            <a:avLst/>
          </a:prstGeom>
        </p:spPr>
        <p:txBody>
          <a:bodyPr vert="horz" wrap="square" lIns="0" tIns="93980" rIns="0" bIns="0" rtlCol="0">
            <a:spAutoFit/>
          </a:bodyPr>
          <a:lstStyle/>
          <a:p>
            <a:pPr marL="384175" indent="-358140">
              <a:lnSpc>
                <a:spcPct val="200000"/>
              </a:lnSpc>
              <a:spcBef>
                <a:spcPts val="740"/>
              </a:spcBef>
              <a:buSzPct val="86000"/>
              <a:buFont typeface="Arial" panose="020B0604020202020204"/>
              <a:buAutoNum type="arabicPeriod"/>
              <a:tabLst>
                <a:tab pos="385445" algn="l"/>
              </a:tabLst>
            </a:pPr>
            <a:r>
              <a:rPr dirty="0"/>
              <a:t>在顺序图顶端绘制矩形框，定义参与交互的</a:t>
            </a:r>
            <a:r>
              <a:rPr dirty="0">
                <a:solidFill>
                  <a:srgbClr val="800000"/>
                </a:solidFill>
              </a:rPr>
              <a:t>类实例</a:t>
            </a:r>
            <a:r>
              <a:rPr dirty="0"/>
              <a:t>（对象）名；</a:t>
            </a:r>
          </a:p>
          <a:p>
            <a:pPr marL="416560" indent="-390525">
              <a:lnSpc>
                <a:spcPct val="200000"/>
              </a:lnSpc>
              <a:spcBef>
                <a:spcPts val="640"/>
              </a:spcBef>
              <a:buAutoNum type="arabicPeriod"/>
              <a:tabLst>
                <a:tab pos="417830" algn="l"/>
              </a:tabLst>
            </a:pPr>
            <a:r>
              <a:rPr dirty="0"/>
              <a:t>在每个对象下面绘制竖直虚线，表示该对象的</a:t>
            </a:r>
            <a:r>
              <a:rPr dirty="0">
                <a:solidFill>
                  <a:srgbClr val="800000"/>
                </a:solidFill>
              </a:rPr>
              <a:t>生命线</a:t>
            </a:r>
            <a:r>
              <a:rPr dirty="0">
                <a:solidFill>
                  <a:srgbClr val="941100"/>
                </a:solidFill>
              </a:rPr>
              <a:t>；</a:t>
            </a:r>
          </a:p>
          <a:p>
            <a:pPr marL="416560" indent="-390525">
              <a:lnSpc>
                <a:spcPct val="200000"/>
              </a:lnSpc>
              <a:spcBef>
                <a:spcPts val="640"/>
              </a:spcBef>
              <a:buAutoNum type="arabicPeriod"/>
              <a:tabLst>
                <a:tab pos="417830" algn="l"/>
              </a:tabLst>
            </a:pPr>
            <a:r>
              <a:rPr dirty="0"/>
              <a:t>在对象间添加箭头表示各种类型的</a:t>
            </a:r>
            <a:r>
              <a:rPr dirty="0">
                <a:solidFill>
                  <a:srgbClr val="800000"/>
                </a:solidFill>
              </a:rPr>
              <a:t>消息</a:t>
            </a:r>
            <a:r>
              <a:rPr dirty="0"/>
              <a:t>，跟踪对象间的控制流；</a:t>
            </a:r>
          </a:p>
          <a:p>
            <a:pPr marL="416560" indent="-390525">
              <a:lnSpc>
                <a:spcPct val="200000"/>
              </a:lnSpc>
              <a:spcBef>
                <a:spcPts val="640"/>
              </a:spcBef>
              <a:buAutoNum type="arabicPeriod"/>
              <a:tabLst>
                <a:tab pos="417830" algn="l"/>
              </a:tabLst>
            </a:pPr>
            <a:r>
              <a:rPr dirty="0"/>
              <a:t>生命线加竖直矩形定义对象</a:t>
            </a:r>
            <a:r>
              <a:rPr dirty="0">
                <a:solidFill>
                  <a:srgbClr val="800000"/>
                </a:solidFill>
              </a:rPr>
              <a:t>激活期</a:t>
            </a:r>
            <a:r>
              <a:rPr dirty="0">
                <a:solidFill>
                  <a:srgbClr val="941100"/>
                </a:solidFill>
              </a:rPr>
              <a:t>，</a:t>
            </a:r>
            <a:r>
              <a:rPr dirty="0"/>
              <a:t>表明对象正在执行某操作；</a:t>
            </a:r>
          </a:p>
          <a:p>
            <a:pPr marL="416560" indent="-390525">
              <a:lnSpc>
                <a:spcPct val="200000"/>
              </a:lnSpc>
              <a:spcBef>
                <a:spcPts val="640"/>
              </a:spcBef>
              <a:buAutoNum type="arabicPeriod"/>
              <a:tabLst>
                <a:tab pos="417830" algn="l"/>
              </a:tabLst>
            </a:pPr>
            <a:r>
              <a:rPr dirty="0"/>
              <a:t>根据需要添加</a:t>
            </a:r>
            <a:r>
              <a:rPr dirty="0">
                <a:solidFill>
                  <a:srgbClr val="800000"/>
                </a:solidFill>
              </a:rPr>
              <a:t>框</a:t>
            </a:r>
            <a:r>
              <a:rPr dirty="0"/>
              <a:t>的组合与关联，表示复杂的控制结构。</a:t>
            </a:r>
          </a:p>
        </p:txBody>
      </p:sp>
      <p:sp>
        <p:nvSpPr>
          <p:cNvPr id="7" name="标题 6"/>
          <p:cNvSpPr>
            <a:spLocks noGrp="1"/>
          </p:cNvSpPr>
          <p:nvPr>
            <p:ph type="title"/>
          </p:nvPr>
        </p:nvSpPr>
        <p:spPr/>
        <p:txBody>
          <a:bodyPr/>
          <a:lstStyle/>
          <a:p>
            <a:r>
              <a:rPr lang="zh-CN" altLang="en-US" spc="-5" dirty="0"/>
              <a:t>绘制顺序图</a:t>
            </a:r>
            <a:endParaRPr lang="zh-CN" altLang="en-US" dirty="0"/>
          </a:p>
        </p:txBody>
      </p:sp>
      <p:sp>
        <p:nvSpPr>
          <p:cNvPr id="8" name="灯片编号占位符 7"/>
          <p:cNvSpPr>
            <a:spLocks noGrp="1"/>
          </p:cNvSpPr>
          <p:nvPr>
            <p:ph type="sldNum" sz="quarter" idx="12"/>
          </p:nvPr>
        </p:nvSpPr>
        <p:spPr/>
        <p:txBody>
          <a:bodyPr/>
          <a:lstStyle/>
          <a:p>
            <a:fld id="{74D2AB8B-5816-41F2-8B4B-CA5C3E4E6A65}" type="slidenum">
              <a:rPr lang="zh-CN" altLang="en-US" smtClean="0"/>
              <a:t>46</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54970"/>
    </mc:Choice>
    <mc:Fallback xmlns="">
      <p:transition spd="slow" advTm="54970"/>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p:nvPr/>
        </p:nvSpPr>
        <p:spPr>
          <a:xfrm>
            <a:off x="5094240" y="682750"/>
            <a:ext cx="7097760" cy="5913311"/>
          </a:xfrm>
          <a:prstGeom prst="rect">
            <a:avLst/>
          </a:prstGeom>
          <a:blipFill>
            <a:blip r:embed="rId3" cstate="print"/>
            <a:stretch>
              <a:fillRect/>
            </a:stretch>
          </a:blipFill>
        </p:spPr>
        <p:txBody>
          <a:bodyPr wrap="square" lIns="0" tIns="0" rIns="0" bIns="0" rtlCol="0"/>
          <a:lstStyle/>
          <a:p>
            <a:endParaRPr/>
          </a:p>
        </p:txBody>
      </p:sp>
      <p:sp>
        <p:nvSpPr>
          <p:cNvPr id="2" name="object 2"/>
          <p:cNvSpPr txBox="1"/>
          <p:nvPr/>
        </p:nvSpPr>
        <p:spPr>
          <a:xfrm>
            <a:off x="916939" y="6491922"/>
            <a:ext cx="102870"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898989"/>
                </a:solidFill>
                <a:latin typeface="Calibri" panose="020F0502020204030204"/>
                <a:cs typeface="Calibri" panose="020F0502020204030204"/>
              </a:rPr>
              <a:t>2</a:t>
            </a:r>
            <a:endParaRPr sz="1200">
              <a:latin typeface="Calibri" panose="020F0502020204030204"/>
              <a:cs typeface="Calibri" panose="020F0502020204030204"/>
            </a:endParaRPr>
          </a:p>
        </p:txBody>
      </p:sp>
      <p:sp>
        <p:nvSpPr>
          <p:cNvPr id="5" name="object 5"/>
          <p:cNvSpPr txBox="1"/>
          <p:nvPr/>
        </p:nvSpPr>
        <p:spPr>
          <a:xfrm>
            <a:off x="143333" y="1690688"/>
            <a:ext cx="5355829" cy="4253600"/>
          </a:xfrm>
          <a:prstGeom prst="rect">
            <a:avLst/>
          </a:prstGeom>
        </p:spPr>
        <p:txBody>
          <a:bodyPr vert="horz" wrap="square" lIns="0" tIns="155575" rIns="0" bIns="0" rtlCol="0">
            <a:spAutoFit/>
          </a:bodyPr>
          <a:lstStyle/>
          <a:p>
            <a:pPr marL="241300" indent="-228600">
              <a:lnSpc>
                <a:spcPct val="100000"/>
              </a:lnSpc>
              <a:spcBef>
                <a:spcPts val="1225"/>
              </a:spcBef>
              <a:buClr>
                <a:srgbClr val="800000"/>
              </a:buClr>
              <a:buFont typeface="Arial" panose="020B0604020202020204"/>
              <a:buChar char="•"/>
              <a:tabLst>
                <a:tab pos="241300" algn="l"/>
              </a:tabLst>
            </a:pPr>
            <a:r>
              <a:rPr sz="2400" b="1" spc="-5" dirty="0">
                <a:solidFill>
                  <a:srgbClr val="941100"/>
                </a:solidFill>
                <a:latin typeface="微软雅黑" panose="020B0503020204020204" pitchFamily="34" charset="-122"/>
                <a:ea typeface="微软雅黑" panose="020B0503020204020204" pitchFamily="34" charset="-122"/>
                <a:cs typeface="华文新魏" panose="02010800040101010101" charset="-122"/>
              </a:rPr>
              <a:t>参与者</a:t>
            </a:r>
            <a:endParaRPr sz="2400" dirty="0">
              <a:latin typeface="微软雅黑" panose="020B0503020204020204" pitchFamily="34" charset="-122"/>
              <a:ea typeface="微软雅黑" panose="020B0503020204020204" pitchFamily="34" charset="-122"/>
              <a:cs typeface="华文新魏" panose="02010800040101010101" charset="-122"/>
            </a:endParaRPr>
          </a:p>
          <a:p>
            <a:pPr marL="469900">
              <a:lnSpc>
                <a:spcPct val="100000"/>
              </a:lnSpc>
              <a:spcBef>
                <a:spcPts val="940"/>
              </a:spcBef>
            </a:pPr>
            <a:r>
              <a:rPr sz="2000" dirty="0">
                <a:latin typeface="微软雅黑" panose="020B0503020204020204" pitchFamily="34" charset="-122"/>
                <a:ea typeface="微软雅黑" panose="020B0503020204020204" pitchFamily="34" charset="-122"/>
                <a:cs typeface="华文新魏" panose="02010800040101010101" charset="-122"/>
              </a:rPr>
              <a:t>顺序图中有关的对象或者实体</a:t>
            </a:r>
          </a:p>
          <a:p>
            <a:pPr marL="241300" indent="-228600">
              <a:lnSpc>
                <a:spcPct val="100000"/>
              </a:lnSpc>
              <a:spcBef>
                <a:spcPts val="1580"/>
              </a:spcBef>
              <a:buClr>
                <a:srgbClr val="800000"/>
              </a:buClr>
              <a:buFont typeface="Arial" panose="020B0604020202020204"/>
              <a:buChar char="•"/>
              <a:tabLst>
                <a:tab pos="241300" algn="l"/>
              </a:tabLst>
            </a:pPr>
            <a:r>
              <a:rPr sz="2400" b="1" spc="-5" dirty="0">
                <a:solidFill>
                  <a:srgbClr val="941100"/>
                </a:solidFill>
                <a:latin typeface="微软雅黑" panose="020B0503020204020204" pitchFamily="34" charset="-122"/>
                <a:ea typeface="微软雅黑" panose="020B0503020204020204" pitchFamily="34" charset="-122"/>
                <a:cs typeface="华文新魏" panose="02010800040101010101" charset="-122"/>
              </a:rPr>
              <a:t>消息</a:t>
            </a:r>
            <a:endParaRPr sz="2400" dirty="0">
              <a:latin typeface="微软雅黑" panose="020B0503020204020204" pitchFamily="34" charset="-122"/>
              <a:ea typeface="微软雅黑" panose="020B0503020204020204" pitchFamily="34" charset="-122"/>
              <a:cs typeface="华文新魏" panose="02010800040101010101" charset="-122"/>
            </a:endParaRPr>
          </a:p>
          <a:p>
            <a:pPr marL="469900">
              <a:lnSpc>
                <a:spcPct val="100000"/>
              </a:lnSpc>
              <a:spcBef>
                <a:spcPts val="940"/>
              </a:spcBef>
            </a:pPr>
            <a:r>
              <a:rPr sz="2000" dirty="0">
                <a:latin typeface="微软雅黑" panose="020B0503020204020204" pitchFamily="34" charset="-122"/>
                <a:ea typeface="微软雅黑" panose="020B0503020204020204" pitchFamily="34" charset="-122"/>
                <a:cs typeface="华文新魏" panose="02010800040101010101" charset="-122"/>
              </a:rPr>
              <a:t>参与对象之间的通信，通过箭头表示</a:t>
            </a:r>
          </a:p>
          <a:p>
            <a:pPr marL="698500" marR="5080" lvl="1" indent="-228600">
              <a:lnSpc>
                <a:spcPct val="121000"/>
              </a:lnSpc>
              <a:spcBef>
                <a:spcPts val="5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新魏" panose="02010800040101010101" charset="-122"/>
              </a:rPr>
              <a:t>顺序图的起始是一个没有发起对象的 消息</a:t>
            </a:r>
          </a:p>
          <a:p>
            <a:pPr marL="698500" lvl="1" indent="-228600">
              <a:lnSpc>
                <a:spcPct val="100000"/>
              </a:lnSpc>
              <a:spcBef>
                <a:spcPts val="10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新魏" panose="02010800040101010101" charset="-122"/>
              </a:rPr>
              <a:t>每个消息代表的操作属于消息接受方</a:t>
            </a:r>
          </a:p>
          <a:p>
            <a:pPr marL="241300" indent="-228600">
              <a:lnSpc>
                <a:spcPct val="100000"/>
              </a:lnSpc>
              <a:spcBef>
                <a:spcPts val="1580"/>
              </a:spcBef>
              <a:buClr>
                <a:srgbClr val="800000"/>
              </a:buClr>
              <a:buFont typeface="Arial" panose="020B0604020202020204"/>
              <a:buChar char="•"/>
              <a:tabLst>
                <a:tab pos="241300" algn="l"/>
              </a:tabLst>
            </a:pPr>
            <a:r>
              <a:rPr sz="2400" b="1" spc="-5" dirty="0">
                <a:solidFill>
                  <a:srgbClr val="941100"/>
                </a:solidFill>
                <a:latin typeface="微软雅黑" panose="020B0503020204020204" pitchFamily="34" charset="-122"/>
                <a:ea typeface="微软雅黑" panose="020B0503020204020204" pitchFamily="34" charset="-122"/>
                <a:cs typeface="华文新魏" panose="02010800040101010101" charset="-122"/>
              </a:rPr>
              <a:t>轴</a:t>
            </a:r>
            <a:endParaRPr sz="2400" dirty="0">
              <a:latin typeface="微软雅黑" panose="020B0503020204020204" pitchFamily="34" charset="-122"/>
              <a:ea typeface="微软雅黑" panose="020B0503020204020204" pitchFamily="34" charset="-122"/>
              <a:cs typeface="华文新魏" panose="02010800040101010101" charset="-122"/>
            </a:endParaRPr>
          </a:p>
          <a:p>
            <a:pPr marL="698500" lvl="1" indent="-228600">
              <a:lnSpc>
                <a:spcPct val="100000"/>
              </a:lnSpc>
              <a:spcBef>
                <a:spcPts val="94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新魏" panose="02010800040101010101" charset="-122"/>
              </a:rPr>
              <a:t>横轴</a:t>
            </a:r>
            <a:r>
              <a:rPr sz="2000" dirty="0">
                <a:latin typeface="微软雅黑" panose="020B0503020204020204" pitchFamily="34" charset="-122"/>
                <a:ea typeface="微软雅黑" panose="020B0503020204020204" pitchFamily="34" charset="-122"/>
                <a:cs typeface="Calibri" panose="020F0502020204030204"/>
              </a:rPr>
              <a:t>:</a:t>
            </a:r>
            <a:r>
              <a:rPr sz="2000" spc="-20" dirty="0">
                <a:latin typeface="微软雅黑" panose="020B0503020204020204" pitchFamily="34" charset="-122"/>
                <a:ea typeface="微软雅黑" panose="020B0503020204020204" pitchFamily="34" charset="-122"/>
                <a:cs typeface="Calibri" panose="020F0502020204030204"/>
              </a:rPr>
              <a:t> </a:t>
            </a:r>
            <a:r>
              <a:rPr sz="2000" dirty="0">
                <a:latin typeface="微软雅黑" panose="020B0503020204020204" pitchFamily="34" charset="-122"/>
                <a:ea typeface="微软雅黑" panose="020B0503020204020204" pitchFamily="34" charset="-122"/>
                <a:cs typeface="华文新魏" panose="02010800040101010101" charset="-122"/>
              </a:rPr>
              <a:t>表明正在进行操作的对象</a:t>
            </a:r>
            <a:r>
              <a:rPr sz="2000" dirty="0">
                <a:latin typeface="微软雅黑" panose="020B0503020204020204" pitchFamily="34" charset="-122"/>
                <a:ea typeface="微软雅黑" panose="020B0503020204020204" pitchFamily="34" charset="-122"/>
                <a:cs typeface="Calibri" panose="020F0502020204030204"/>
              </a:rPr>
              <a:t>/</a:t>
            </a:r>
            <a:r>
              <a:rPr sz="2000" dirty="0">
                <a:latin typeface="微软雅黑" panose="020B0503020204020204" pitchFamily="34" charset="-122"/>
                <a:ea typeface="微软雅黑" panose="020B0503020204020204" pitchFamily="34" charset="-122"/>
                <a:cs typeface="华文新魏" panose="02010800040101010101" charset="-122"/>
              </a:rPr>
              <a:t>参</a:t>
            </a:r>
            <a:r>
              <a:rPr lang="zh-CN" altLang="en-US" sz="2000" dirty="0">
                <a:latin typeface="微软雅黑" panose="020B0503020204020204" pitchFamily="34" charset="-122"/>
                <a:ea typeface="微软雅黑" panose="020B0503020204020204" pitchFamily="34" charset="-122"/>
                <a:cs typeface="华文新魏" panose="02010800040101010101" charset="-122"/>
              </a:rPr>
              <a:t>与者</a:t>
            </a:r>
            <a:endParaRPr sz="2000" dirty="0">
              <a:latin typeface="微软雅黑" panose="020B0503020204020204" pitchFamily="34" charset="-122"/>
              <a:ea typeface="微软雅黑" panose="020B0503020204020204" pitchFamily="34" charset="-122"/>
              <a:cs typeface="华文新魏" panose="02010800040101010101" charset="-122"/>
            </a:endParaRPr>
          </a:p>
          <a:p>
            <a:pPr marL="698500" lvl="1" indent="-228600">
              <a:lnSpc>
                <a:spcPct val="100000"/>
              </a:lnSpc>
              <a:spcBef>
                <a:spcPts val="10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新魏" panose="02010800040101010101" charset="-122"/>
              </a:rPr>
              <a:t>纵轴</a:t>
            </a:r>
            <a:r>
              <a:rPr sz="2000" dirty="0">
                <a:latin typeface="微软雅黑" panose="020B0503020204020204" pitchFamily="34" charset="-122"/>
                <a:ea typeface="微软雅黑" panose="020B0503020204020204" pitchFamily="34" charset="-122"/>
                <a:cs typeface="Calibri" panose="020F0502020204030204"/>
              </a:rPr>
              <a:t>:</a:t>
            </a:r>
            <a:r>
              <a:rPr sz="2000" spc="-30" dirty="0">
                <a:latin typeface="微软雅黑" panose="020B0503020204020204" pitchFamily="34" charset="-122"/>
                <a:ea typeface="微软雅黑" panose="020B0503020204020204" pitchFamily="34" charset="-122"/>
                <a:cs typeface="Calibri" panose="020F0502020204030204"/>
              </a:rPr>
              <a:t> </a:t>
            </a:r>
            <a:r>
              <a:rPr sz="2000" dirty="0">
                <a:latin typeface="微软雅黑" panose="020B0503020204020204" pitchFamily="34" charset="-122"/>
                <a:ea typeface="微软雅黑" panose="020B0503020204020204" pitchFamily="34" charset="-122"/>
                <a:cs typeface="华文新魏" panose="02010800040101010101" charset="-122"/>
              </a:rPr>
              <a:t>时间（向下表明时间的顺延）</a:t>
            </a:r>
          </a:p>
        </p:txBody>
      </p:sp>
      <p:sp>
        <p:nvSpPr>
          <p:cNvPr id="9" name="标题 8"/>
          <p:cNvSpPr>
            <a:spLocks noGrp="1"/>
          </p:cNvSpPr>
          <p:nvPr>
            <p:ph type="title"/>
          </p:nvPr>
        </p:nvSpPr>
        <p:spPr/>
        <p:txBody>
          <a:bodyPr/>
          <a:lstStyle/>
          <a:p>
            <a:r>
              <a:rPr lang="zh-CN" altLang="en-US" spc="-5" dirty="0"/>
              <a:t>顺序图建模过程</a:t>
            </a:r>
            <a:endParaRPr lang="zh-CN" altLang="en-US" dirty="0"/>
          </a:p>
        </p:txBody>
      </p:sp>
      <p:sp>
        <p:nvSpPr>
          <p:cNvPr id="10" name="灯片编号占位符 9"/>
          <p:cNvSpPr>
            <a:spLocks noGrp="1"/>
          </p:cNvSpPr>
          <p:nvPr>
            <p:ph type="sldNum" sz="quarter" idx="12"/>
          </p:nvPr>
        </p:nvSpPr>
        <p:spPr/>
        <p:txBody>
          <a:bodyPr/>
          <a:lstStyle/>
          <a:p>
            <a:fld id="{74D2AB8B-5816-41F2-8B4B-CA5C3E4E6A65}" type="slidenum">
              <a:rPr lang="zh-CN" altLang="en-US" smtClean="0"/>
              <a:t>47</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11476"/>
    </mc:Choice>
    <mc:Fallback xmlns="">
      <p:transition spd="slow" advTm="111476"/>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4054531" y="2659437"/>
            <a:ext cx="4355868" cy="2971800"/>
          </a:xfrm>
          <a:prstGeom prst="rect">
            <a:avLst/>
          </a:prstGeom>
          <a:blipFill>
            <a:blip r:embed="rId3"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4" name="object 4"/>
          <p:cNvSpPr/>
          <p:nvPr/>
        </p:nvSpPr>
        <p:spPr>
          <a:xfrm>
            <a:off x="4253508" y="2858022"/>
            <a:ext cx="3757744" cy="2374336"/>
          </a:xfrm>
          <a:prstGeom prst="rect">
            <a:avLst/>
          </a:prstGeom>
          <a:blipFill>
            <a:blip r:embed="rId4"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5" name="object 5"/>
          <p:cNvSpPr txBox="1"/>
          <p:nvPr/>
        </p:nvSpPr>
        <p:spPr>
          <a:xfrm>
            <a:off x="802639" y="1525588"/>
            <a:ext cx="10220960" cy="777240"/>
          </a:xfrm>
          <a:prstGeom prst="rect">
            <a:avLst/>
          </a:prstGeom>
        </p:spPr>
        <p:txBody>
          <a:bodyPr vert="horz" wrap="square" lIns="0" tIns="58419" rIns="0" bIns="0" rtlCol="0">
            <a:spAutoFit/>
          </a:bodyPr>
          <a:lstStyle/>
          <a:p>
            <a:pPr marL="240665" marR="5080" indent="-228600">
              <a:lnSpc>
                <a:spcPts val="2800"/>
              </a:lnSpc>
              <a:spcBef>
                <a:spcPts val="460"/>
              </a:spcBef>
              <a:buClr>
                <a:srgbClr val="800000"/>
              </a:buClr>
              <a:buFont typeface="Arial" panose="020B0604020202020204"/>
              <a:buChar char="•"/>
              <a:tabLst>
                <a:tab pos="241300" algn="l"/>
              </a:tabLst>
            </a:pPr>
            <a:r>
              <a:rPr sz="2600" dirty="0">
                <a:solidFill>
                  <a:srgbClr val="941100"/>
                </a:solidFill>
                <a:latin typeface="微软雅黑" panose="020B0503020204020204" pitchFamily="34" charset="-122"/>
                <a:ea typeface="微软雅黑" panose="020B0503020204020204" pitchFamily="34" charset="-122"/>
                <a:cs typeface="华文新魏" panose="02010800040101010101" charset="-122"/>
              </a:rPr>
              <a:t>框</a:t>
            </a:r>
            <a:r>
              <a:rPr sz="2600" spc="-5" dirty="0">
                <a:solidFill>
                  <a:srgbClr val="941100"/>
                </a:solidFill>
                <a:latin typeface="微软雅黑" panose="020B0503020204020204" pitchFamily="34" charset="-122"/>
                <a:ea typeface="微软雅黑" panose="020B0503020204020204" pitchFamily="34" charset="-122"/>
                <a:cs typeface="华文新魏" panose="02010800040101010101" charset="-122"/>
              </a:rPr>
              <a:t>（Frame）</a:t>
            </a:r>
            <a:r>
              <a:rPr sz="2600" spc="-5" dirty="0">
                <a:latin typeface="微软雅黑" panose="020B0503020204020204" pitchFamily="34" charset="-122"/>
                <a:ea typeface="微软雅黑" panose="020B0503020204020204" pitchFamily="34" charset="-122"/>
                <a:cs typeface="华文新魏" panose="02010800040101010101" charset="-122"/>
              </a:rPr>
              <a:t>：</a:t>
            </a:r>
            <a:r>
              <a:rPr sz="2600" dirty="0">
                <a:latin typeface="微软雅黑" panose="020B0503020204020204" pitchFamily="34" charset="-122"/>
                <a:ea typeface="微软雅黑" panose="020B0503020204020204" pitchFamily="34" charset="-122"/>
                <a:cs typeface="华文新魏" panose="02010800040101010101" charset="-122"/>
              </a:rPr>
              <a:t>框中包含顺序图的部分结构，表示选择</a:t>
            </a:r>
            <a:r>
              <a:rPr sz="2600" spc="-5" dirty="0">
                <a:latin typeface="微软雅黑" panose="020B0503020204020204" pitchFamily="34" charset="-122"/>
                <a:ea typeface="微软雅黑" panose="020B0503020204020204" pitchFamily="34" charset="-122"/>
                <a:cs typeface="华文新魏" panose="02010800040101010101" charset="-122"/>
              </a:rPr>
              <a:t>(selection)</a:t>
            </a:r>
            <a:r>
              <a:rPr sz="2600" dirty="0">
                <a:latin typeface="微软雅黑" panose="020B0503020204020204" pitchFamily="34" charset="-122"/>
                <a:ea typeface="微软雅黑" panose="020B0503020204020204" pitchFamily="34" charset="-122"/>
                <a:cs typeface="华文新魏" panose="02010800040101010101" charset="-122"/>
              </a:rPr>
              <a:t>或者 循环</a:t>
            </a:r>
            <a:r>
              <a:rPr sz="2600" spc="-5" dirty="0">
                <a:latin typeface="微软雅黑" panose="020B0503020204020204" pitchFamily="34" charset="-122"/>
                <a:ea typeface="微软雅黑" panose="020B0503020204020204" pitchFamily="34" charset="-122"/>
                <a:cs typeface="华文新魏" panose="02010800040101010101" charset="-122"/>
              </a:rPr>
              <a:t>(loop)</a:t>
            </a:r>
            <a:r>
              <a:rPr sz="2600" dirty="0">
                <a:latin typeface="微软雅黑" panose="020B0503020204020204" pitchFamily="34" charset="-122"/>
                <a:ea typeface="微软雅黑" panose="020B0503020204020204" pitchFamily="34" charset="-122"/>
                <a:cs typeface="华文新魏" panose="02010800040101010101" charset="-122"/>
              </a:rPr>
              <a:t>结构，左上角注明结构类型</a:t>
            </a:r>
            <a:r>
              <a:rPr sz="2600" spc="-5" dirty="0">
                <a:latin typeface="微软雅黑" panose="020B0503020204020204" pitchFamily="34" charset="-122"/>
                <a:ea typeface="微软雅黑" panose="020B0503020204020204" pitchFamily="34" charset="-122"/>
                <a:cs typeface="华文新魏" panose="02010800040101010101" charset="-122"/>
              </a:rPr>
              <a:t>，[]</a:t>
            </a:r>
            <a:r>
              <a:rPr sz="2600" dirty="0">
                <a:latin typeface="微软雅黑" panose="020B0503020204020204" pitchFamily="34" charset="-122"/>
                <a:ea typeface="微软雅黑" panose="020B0503020204020204" pitchFamily="34" charset="-122"/>
                <a:cs typeface="华文新魏" panose="02010800040101010101" charset="-122"/>
              </a:rPr>
              <a:t>中注明条件。</a:t>
            </a:r>
          </a:p>
        </p:txBody>
      </p:sp>
      <p:sp>
        <p:nvSpPr>
          <p:cNvPr id="6" name="object 6"/>
          <p:cNvSpPr/>
          <p:nvPr/>
        </p:nvSpPr>
        <p:spPr>
          <a:xfrm>
            <a:off x="417714" y="2659437"/>
            <a:ext cx="4143894" cy="2955174"/>
          </a:xfrm>
          <a:prstGeom prst="rect">
            <a:avLst/>
          </a:prstGeom>
          <a:blipFill>
            <a:blip r:embed="rId5"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7" name="object 7"/>
          <p:cNvSpPr/>
          <p:nvPr/>
        </p:nvSpPr>
        <p:spPr>
          <a:xfrm>
            <a:off x="616445" y="2858022"/>
            <a:ext cx="3547340" cy="2360109"/>
          </a:xfrm>
          <a:prstGeom prst="rect">
            <a:avLst/>
          </a:prstGeom>
          <a:blipFill>
            <a:blip r:embed="rId6"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8" name="object 8"/>
          <p:cNvSpPr/>
          <p:nvPr/>
        </p:nvSpPr>
        <p:spPr>
          <a:xfrm>
            <a:off x="8156863" y="2730096"/>
            <a:ext cx="3645131" cy="2788919"/>
          </a:xfrm>
          <a:prstGeom prst="rect">
            <a:avLst/>
          </a:prstGeom>
          <a:blipFill>
            <a:blip r:embed="rId7"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9" name="object 9"/>
          <p:cNvSpPr/>
          <p:nvPr/>
        </p:nvSpPr>
        <p:spPr>
          <a:xfrm>
            <a:off x="8357964" y="2930029"/>
            <a:ext cx="3047262" cy="2190220"/>
          </a:xfrm>
          <a:prstGeom prst="rect">
            <a:avLst/>
          </a:prstGeom>
          <a:blipFill>
            <a:blip r:embed="rId8"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0" name="object 10"/>
          <p:cNvSpPr txBox="1"/>
          <p:nvPr/>
        </p:nvSpPr>
        <p:spPr>
          <a:xfrm>
            <a:off x="1595944" y="5267304"/>
            <a:ext cx="1918335" cy="505267"/>
          </a:xfrm>
          <a:prstGeom prst="rect">
            <a:avLst/>
          </a:prstGeom>
        </p:spPr>
        <p:txBody>
          <a:bodyPr vert="horz" wrap="square" lIns="0" tIns="12700" rIns="0" bIns="0" rtlCol="0">
            <a:spAutoFit/>
          </a:bodyPr>
          <a:lstStyle/>
          <a:p>
            <a:pPr marL="12700">
              <a:lnSpc>
                <a:spcPct val="100000"/>
              </a:lnSpc>
              <a:spcBef>
                <a:spcPts val="100"/>
              </a:spcBef>
            </a:pPr>
            <a:r>
              <a:rPr sz="1600" dirty="0">
                <a:latin typeface="微软雅黑" panose="020B0503020204020204" pitchFamily="34" charset="-122"/>
                <a:ea typeface="微软雅黑" panose="020B0503020204020204" pitchFamily="34" charset="-122"/>
                <a:cs typeface="华文新魏" panose="02010800040101010101" charset="-122"/>
              </a:rPr>
              <a:t>If -&gt;</a:t>
            </a:r>
            <a:r>
              <a:rPr sz="1600" spc="-25" dirty="0">
                <a:latin typeface="微软雅黑" panose="020B0503020204020204" pitchFamily="34" charset="-122"/>
                <a:ea typeface="微软雅黑" panose="020B0503020204020204" pitchFamily="34" charset="-122"/>
                <a:cs typeface="华文新魏" panose="02010800040101010101" charset="-122"/>
              </a:rPr>
              <a:t> </a:t>
            </a:r>
            <a:r>
              <a:rPr sz="1600" spc="-5" dirty="0">
                <a:latin typeface="微软雅黑" panose="020B0503020204020204" pitchFamily="34" charset="-122"/>
                <a:ea typeface="微软雅黑" panose="020B0503020204020204" pitchFamily="34" charset="-122"/>
                <a:cs typeface="华文新魏" panose="02010800040101010101" charset="-122"/>
              </a:rPr>
              <a:t>(</a:t>
            </a:r>
            <a:r>
              <a:rPr sz="1600" b="1" spc="-5" dirty="0">
                <a:solidFill>
                  <a:srgbClr val="800000"/>
                </a:solidFill>
                <a:latin typeface="微软雅黑" panose="020B0503020204020204" pitchFamily="34" charset="-122"/>
                <a:ea typeface="微软雅黑" panose="020B0503020204020204" pitchFamily="34" charset="-122"/>
                <a:cs typeface="华文新魏" panose="02010800040101010101" charset="-122"/>
              </a:rPr>
              <a:t>opt</a:t>
            </a:r>
            <a:r>
              <a:rPr sz="1600" spc="-5" dirty="0">
                <a:latin typeface="微软雅黑" panose="020B0503020204020204" pitchFamily="34" charset="-122"/>
                <a:ea typeface="微软雅黑" panose="020B0503020204020204" pitchFamily="34" charset="-122"/>
                <a:cs typeface="华文新魏" panose="02010800040101010101" charset="-122"/>
              </a:rPr>
              <a:t>)[condition]</a:t>
            </a:r>
            <a:endParaRPr sz="1600">
              <a:latin typeface="微软雅黑" panose="020B0503020204020204" pitchFamily="34" charset="-122"/>
              <a:ea typeface="微软雅黑" panose="020B0503020204020204" pitchFamily="34" charset="-122"/>
              <a:cs typeface="华文新魏" panose="02010800040101010101" charset="-122"/>
            </a:endParaRPr>
          </a:p>
        </p:txBody>
      </p:sp>
      <p:sp>
        <p:nvSpPr>
          <p:cNvPr id="11" name="object 11"/>
          <p:cNvSpPr txBox="1"/>
          <p:nvPr/>
        </p:nvSpPr>
        <p:spPr>
          <a:xfrm>
            <a:off x="4548271" y="5323888"/>
            <a:ext cx="2495550" cy="1075872"/>
          </a:xfrm>
          <a:prstGeom prst="rect">
            <a:avLst/>
          </a:prstGeom>
        </p:spPr>
        <p:txBody>
          <a:bodyPr vert="horz" wrap="square" lIns="0" tIns="22225" rIns="0" bIns="0" rtlCol="0">
            <a:spAutoFit/>
          </a:bodyPr>
          <a:lstStyle/>
          <a:p>
            <a:pPr marL="12700" marR="5080" algn="just">
              <a:lnSpc>
                <a:spcPct val="102000"/>
              </a:lnSpc>
              <a:spcBef>
                <a:spcPts val="175"/>
              </a:spcBef>
            </a:pPr>
            <a:r>
              <a:rPr sz="1800" dirty="0">
                <a:latin typeface="微软雅黑" panose="020B0503020204020204" pitchFamily="34" charset="-122"/>
                <a:ea typeface="微软雅黑" panose="020B0503020204020204" pitchFamily="34" charset="-122"/>
                <a:cs typeface="华文新魏" panose="02010800040101010101" charset="-122"/>
              </a:rPr>
              <a:t>if/else -&gt;</a:t>
            </a:r>
            <a:r>
              <a:rPr sz="1800" spc="-30" dirty="0">
                <a:latin typeface="微软雅黑" panose="020B0503020204020204" pitchFamily="34" charset="-122"/>
                <a:ea typeface="微软雅黑" panose="020B0503020204020204" pitchFamily="34" charset="-122"/>
                <a:cs typeface="华文新魏" panose="02010800040101010101" charset="-122"/>
              </a:rPr>
              <a:t> </a:t>
            </a:r>
            <a:r>
              <a:rPr sz="1800" spc="-5" dirty="0">
                <a:latin typeface="微软雅黑" panose="020B0503020204020204" pitchFamily="34" charset="-122"/>
                <a:ea typeface="微软雅黑" panose="020B0503020204020204" pitchFamily="34" charset="-122"/>
                <a:cs typeface="华文新魏" panose="02010800040101010101" charset="-122"/>
              </a:rPr>
              <a:t>(</a:t>
            </a:r>
            <a:r>
              <a:rPr sz="1800" spc="-5" dirty="0">
                <a:solidFill>
                  <a:srgbClr val="800000"/>
                </a:solidFill>
                <a:latin typeface="微软雅黑" panose="020B0503020204020204" pitchFamily="34" charset="-122"/>
                <a:ea typeface="微软雅黑" panose="020B0503020204020204" pitchFamily="34" charset="-122"/>
                <a:cs typeface="华文新魏" panose="02010800040101010101" charset="-122"/>
              </a:rPr>
              <a:t>alt</a:t>
            </a:r>
            <a:r>
              <a:rPr sz="1800" spc="-5" dirty="0">
                <a:latin typeface="微软雅黑" panose="020B0503020204020204" pitchFamily="34" charset="-122"/>
                <a:ea typeface="微软雅黑" panose="020B0503020204020204" pitchFamily="34" charset="-122"/>
                <a:cs typeface="华文新魏" panose="02010800040101010101" charset="-122"/>
              </a:rPr>
              <a:t>)[condition]  </a:t>
            </a:r>
            <a:r>
              <a:rPr sz="1600" dirty="0">
                <a:latin typeface="微软雅黑" panose="020B0503020204020204" pitchFamily="34" charset="-122"/>
                <a:ea typeface="微软雅黑" panose="020B0503020204020204" pitchFamily="34" charset="-122"/>
                <a:cs typeface="华文新魏" panose="02010800040101010101" charset="-122"/>
              </a:rPr>
              <a:t>通过水平虚线分割不同情形 并发结构</a:t>
            </a:r>
            <a:r>
              <a:rPr sz="1600" spc="-5" dirty="0">
                <a:latin typeface="微软雅黑" panose="020B0503020204020204" pitchFamily="34" charset="-122"/>
                <a:ea typeface="微软雅黑" panose="020B0503020204020204" pitchFamily="34" charset="-122"/>
                <a:cs typeface="华文新魏" panose="02010800040101010101" charset="-122"/>
              </a:rPr>
              <a:t> </a:t>
            </a:r>
            <a:r>
              <a:rPr sz="1600" dirty="0">
                <a:latin typeface="微软雅黑" panose="020B0503020204020204" pitchFamily="34" charset="-122"/>
                <a:ea typeface="微软雅黑" panose="020B0503020204020204" pitchFamily="34" charset="-122"/>
                <a:cs typeface="华文新魏" panose="02010800040101010101" charset="-122"/>
              </a:rPr>
              <a:t>-&gt;</a:t>
            </a:r>
            <a:r>
              <a:rPr sz="1600" spc="-5" dirty="0">
                <a:latin typeface="微软雅黑" panose="020B0503020204020204" pitchFamily="34" charset="-122"/>
                <a:ea typeface="微软雅黑" panose="020B0503020204020204" pitchFamily="34" charset="-122"/>
                <a:cs typeface="华文新魏" panose="02010800040101010101" charset="-122"/>
              </a:rPr>
              <a:t> (</a:t>
            </a:r>
            <a:r>
              <a:rPr sz="1600" spc="-5" dirty="0">
                <a:solidFill>
                  <a:srgbClr val="800000"/>
                </a:solidFill>
                <a:latin typeface="微软雅黑" panose="020B0503020204020204" pitchFamily="34" charset="-122"/>
                <a:ea typeface="微软雅黑" panose="020B0503020204020204" pitchFamily="34" charset="-122"/>
                <a:cs typeface="华文新魏" panose="02010800040101010101" charset="-122"/>
              </a:rPr>
              <a:t>par</a:t>
            </a:r>
            <a:r>
              <a:rPr sz="1600" spc="-5" dirty="0">
                <a:latin typeface="微软雅黑" panose="020B0503020204020204" pitchFamily="34" charset="-122"/>
                <a:ea typeface="微软雅黑" panose="020B0503020204020204" pitchFamily="34" charset="-122"/>
                <a:cs typeface="华文新魏" panose="02010800040101010101" charset="-122"/>
              </a:rPr>
              <a:t>)</a:t>
            </a:r>
            <a:endParaRPr sz="1600">
              <a:latin typeface="微软雅黑" panose="020B0503020204020204" pitchFamily="34" charset="-122"/>
              <a:ea typeface="微软雅黑" panose="020B0503020204020204" pitchFamily="34" charset="-122"/>
              <a:cs typeface="华文新魏" panose="02010800040101010101" charset="-122"/>
            </a:endParaRPr>
          </a:p>
        </p:txBody>
      </p:sp>
      <p:sp>
        <p:nvSpPr>
          <p:cNvPr id="12" name="object 12"/>
          <p:cNvSpPr txBox="1"/>
          <p:nvPr/>
        </p:nvSpPr>
        <p:spPr>
          <a:xfrm>
            <a:off x="7716622" y="5339313"/>
            <a:ext cx="4229735" cy="505267"/>
          </a:xfrm>
          <a:prstGeom prst="rect">
            <a:avLst/>
          </a:prstGeom>
        </p:spPr>
        <p:txBody>
          <a:bodyPr vert="horz" wrap="square" lIns="0" tIns="12700" rIns="0" bIns="0" rtlCol="0">
            <a:spAutoFit/>
          </a:bodyPr>
          <a:lstStyle/>
          <a:p>
            <a:pPr marL="12700">
              <a:lnSpc>
                <a:spcPct val="100000"/>
              </a:lnSpc>
              <a:spcBef>
                <a:spcPts val="100"/>
              </a:spcBef>
            </a:pPr>
            <a:r>
              <a:rPr sz="1600" dirty="0">
                <a:latin typeface="微软雅黑" panose="020B0503020204020204" pitchFamily="34" charset="-122"/>
                <a:ea typeface="微软雅黑" panose="020B0503020204020204" pitchFamily="34" charset="-122"/>
                <a:cs typeface="华文新魏" panose="02010800040101010101" charset="-122"/>
              </a:rPr>
              <a:t>loop -&gt; </a:t>
            </a:r>
            <a:r>
              <a:rPr sz="1600" spc="-5" dirty="0">
                <a:latin typeface="微软雅黑" panose="020B0503020204020204" pitchFamily="34" charset="-122"/>
                <a:ea typeface="微软雅黑" panose="020B0503020204020204" pitchFamily="34" charset="-122"/>
                <a:cs typeface="华文新魏" panose="02010800040101010101" charset="-122"/>
              </a:rPr>
              <a:t>(</a:t>
            </a:r>
            <a:r>
              <a:rPr sz="1600" spc="-5" dirty="0">
                <a:solidFill>
                  <a:srgbClr val="800000"/>
                </a:solidFill>
                <a:latin typeface="微软雅黑" panose="020B0503020204020204" pitchFamily="34" charset="-122"/>
                <a:ea typeface="微软雅黑" panose="020B0503020204020204" pitchFamily="34" charset="-122"/>
                <a:cs typeface="华文新魏" panose="02010800040101010101" charset="-122"/>
              </a:rPr>
              <a:t>loop</a:t>
            </a:r>
            <a:r>
              <a:rPr sz="1600" spc="-5" dirty="0">
                <a:latin typeface="微软雅黑" panose="020B0503020204020204" pitchFamily="34" charset="-122"/>
                <a:ea typeface="微软雅黑" panose="020B0503020204020204" pitchFamily="34" charset="-122"/>
                <a:cs typeface="华文新魏" panose="02010800040101010101" charset="-122"/>
              </a:rPr>
              <a:t>)[condition </a:t>
            </a:r>
            <a:r>
              <a:rPr sz="1600" dirty="0">
                <a:latin typeface="微软雅黑" panose="020B0503020204020204" pitchFamily="34" charset="-122"/>
                <a:ea typeface="微软雅黑" panose="020B0503020204020204" pitchFamily="34" charset="-122"/>
                <a:cs typeface="华文新魏" panose="02010800040101010101" charset="-122"/>
              </a:rPr>
              <a:t>or items to loop</a:t>
            </a:r>
            <a:r>
              <a:rPr sz="1600" spc="-45" dirty="0">
                <a:latin typeface="微软雅黑" panose="020B0503020204020204" pitchFamily="34" charset="-122"/>
                <a:ea typeface="微软雅黑" panose="020B0503020204020204" pitchFamily="34" charset="-122"/>
                <a:cs typeface="华文新魏" panose="02010800040101010101" charset="-122"/>
              </a:rPr>
              <a:t> </a:t>
            </a:r>
            <a:r>
              <a:rPr sz="1600" dirty="0">
                <a:latin typeface="微软雅黑" panose="020B0503020204020204" pitchFamily="34" charset="-122"/>
                <a:ea typeface="微软雅黑" panose="020B0503020204020204" pitchFamily="34" charset="-122"/>
                <a:cs typeface="华文新魏" panose="02010800040101010101" charset="-122"/>
              </a:rPr>
              <a:t>over]</a:t>
            </a:r>
            <a:endParaRPr sz="1600">
              <a:latin typeface="微软雅黑" panose="020B0503020204020204" pitchFamily="34" charset="-122"/>
              <a:ea typeface="微软雅黑" panose="020B0503020204020204" pitchFamily="34" charset="-122"/>
              <a:cs typeface="华文新魏" panose="02010800040101010101" charset="-122"/>
            </a:endParaRPr>
          </a:p>
        </p:txBody>
      </p:sp>
      <p:sp>
        <p:nvSpPr>
          <p:cNvPr id="15" name="标题 14"/>
          <p:cNvSpPr>
            <a:spLocks noGrp="1"/>
          </p:cNvSpPr>
          <p:nvPr>
            <p:ph type="title"/>
          </p:nvPr>
        </p:nvSpPr>
        <p:spPr/>
        <p:txBody>
          <a:bodyPr/>
          <a:lstStyle/>
          <a:p>
            <a:r>
              <a:rPr lang="zh-CN" altLang="en-US" spc="-5" dirty="0"/>
              <a:t>组合框：复杂控制结构表示</a:t>
            </a:r>
            <a:endParaRPr lang="zh-CN" altLang="en-US" dirty="0"/>
          </a:p>
        </p:txBody>
      </p:sp>
      <p:sp>
        <p:nvSpPr>
          <p:cNvPr id="16" name="灯片编号占位符 15"/>
          <p:cNvSpPr>
            <a:spLocks noGrp="1"/>
          </p:cNvSpPr>
          <p:nvPr>
            <p:ph type="sldNum" sz="quarter" idx="12"/>
          </p:nvPr>
        </p:nvSpPr>
        <p:spPr/>
        <p:txBody>
          <a:bodyPr/>
          <a:lstStyle/>
          <a:p>
            <a:fld id="{74D2AB8B-5816-41F2-8B4B-CA5C3E4E6A65}" type="slidenum">
              <a:rPr lang="zh-CN" altLang="en-US" smtClean="0"/>
              <a:t>48</a:t>
            </a:fld>
            <a:endParaRPr lang="zh-CN" altLang="en-US"/>
          </a:p>
        </p:txBody>
      </p:sp>
      <p:sp>
        <p:nvSpPr>
          <p:cNvPr id="24" name="墨迹 23"/>
          <p:cNvSpPr/>
          <p:nvPr/>
        </p:nvSpPr>
        <p:spPr bwMode="auto">
          <a:xfrm>
            <a:off x="1203480" y="3319560"/>
            <a:ext cx="9830880" cy="1204200"/>
          </a:xfrm>
          <a:prstGeom prst="rect">
            <a:avLst/>
          </a:prstGeom>
        </p:spPr>
        <p:txBody>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48597"/>
    </mc:Choice>
    <mc:Fallback xmlns="">
      <p:transition spd="slow" advTm="14859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9" presetClass="entr" presetSubtype="0" fill="hold" nodeType="withEffect">
                                  <p:stCondLst>
                                    <p:cond delay="0"/>
                                  </p:stCondLst>
                                  <p:childTnLst>
                                    <p:set>
                                      <p:cBhvr>
                                        <p:cTn id="6" dur="1" fill="hold">
                                          <p:stCondLst>
                                            <p:cond delay="0"/>
                                          </p:stCondLst>
                                        </p:cTn>
                                        <p:tgtEl>
                                          <p:spTgt spid="24"/>
                                        </p:tgtEl>
                                        <p:attrNameLst>
                                          <p:attrName>style.visibility</p:attrName>
                                        </p:attrNameLst>
                                      </p:cBhvr>
                                      <p:to>
                                        <p:strVal val="visible"/>
                                      </p:to>
                                    </p:set>
                                    <p:cmd type="call" cmd="playFrom(0.0)">
                                      <p:cBhvr>
                                        <p:cTn id="7" dur="1" fill="hold"/>
                                        <p:tgtEl>
                                          <p:spTgt spid="2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646460" y="926222"/>
            <a:ext cx="6899079" cy="5566017"/>
          </a:xfrm>
          <a:prstGeom prst="rect">
            <a:avLst/>
          </a:prstGeom>
          <a:blipFill>
            <a:blip r:embed="rId3" cstate="print"/>
            <a:stretch>
              <a:fillRect/>
            </a:stretch>
          </a:blipFill>
        </p:spPr>
        <p:txBody>
          <a:bodyPr wrap="square" lIns="0" tIns="0" rIns="0" bIns="0" rtlCol="0"/>
          <a:lstStyle/>
          <a:p>
            <a:endParaRPr/>
          </a:p>
        </p:txBody>
      </p:sp>
      <p:sp>
        <p:nvSpPr>
          <p:cNvPr id="3" name="object 3"/>
          <p:cNvSpPr/>
          <p:nvPr/>
        </p:nvSpPr>
        <p:spPr>
          <a:xfrm>
            <a:off x="10801349" y="71438"/>
            <a:ext cx="0" cy="6597650"/>
          </a:xfrm>
          <a:custGeom>
            <a:avLst/>
            <a:gdLst/>
            <a:ahLst/>
            <a:cxnLst/>
            <a:rect l="l" t="t" r="r" b="b"/>
            <a:pathLst>
              <a:path h="6597650">
                <a:moveTo>
                  <a:pt x="0" y="0"/>
                </a:moveTo>
                <a:lnTo>
                  <a:pt x="0" y="6597648"/>
                </a:lnTo>
              </a:path>
            </a:pathLst>
          </a:custGeom>
          <a:ln w="9524">
            <a:solidFill>
              <a:srgbClr val="000000"/>
            </a:solidFill>
          </a:ln>
        </p:spPr>
        <p:txBody>
          <a:bodyPr wrap="square" lIns="0" tIns="0" rIns="0" bIns="0" rtlCol="0"/>
          <a:lstStyle/>
          <a:p>
            <a:endParaRPr/>
          </a:p>
        </p:txBody>
      </p:sp>
      <p:sp>
        <p:nvSpPr>
          <p:cNvPr id="4" name="object 4"/>
          <p:cNvSpPr txBox="1">
            <a:spLocks noGrp="1"/>
          </p:cNvSpPr>
          <p:nvPr>
            <p:ph type="title"/>
          </p:nvPr>
        </p:nvSpPr>
        <p:spPr>
          <a:xfrm>
            <a:off x="916939" y="365761"/>
            <a:ext cx="2514600" cy="452120"/>
          </a:xfrm>
          <a:prstGeom prst="rect">
            <a:avLst/>
          </a:prstGeom>
        </p:spPr>
        <p:txBody>
          <a:bodyPr vert="horz" wrap="square" lIns="0" tIns="12700" rIns="0" bIns="0" rtlCol="0">
            <a:spAutoFit/>
          </a:bodyPr>
          <a:lstStyle/>
          <a:p>
            <a:pPr marL="12700">
              <a:lnSpc>
                <a:spcPct val="100000"/>
              </a:lnSpc>
              <a:spcBef>
                <a:spcPts val="100"/>
              </a:spcBef>
            </a:pPr>
            <a:r>
              <a:rPr spc="-5" dirty="0">
                <a:latin typeface="微软雅黑" panose="020B0503020204020204" pitchFamily="34" charset="-122"/>
                <a:ea typeface="微软雅黑" panose="020B0503020204020204" pitchFamily="34" charset="-122"/>
              </a:rPr>
              <a:t>控制框建模例子</a:t>
            </a:r>
          </a:p>
        </p:txBody>
      </p:sp>
      <p:sp>
        <p:nvSpPr>
          <p:cNvPr id="6" name="灯片编号占位符 5"/>
          <p:cNvSpPr>
            <a:spLocks noGrp="1"/>
          </p:cNvSpPr>
          <p:nvPr>
            <p:ph type="sldNum" sz="quarter" idx="7"/>
          </p:nvPr>
        </p:nvSpPr>
        <p:spPr/>
        <p:txBody>
          <a:bodyPr/>
          <a:lstStyle/>
          <a:p>
            <a:fld id="{B6F15528-21DE-4FAA-801E-634DDDAF4B2B}" type="slidenum">
              <a:rPr lang="en-US" altLang="zh-CN" smtClean="0"/>
              <a:t>49</a:t>
            </a:fld>
            <a:endParaRPr lang="en-US" altLang="zh-CN"/>
          </a:p>
        </p:txBody>
      </p:sp>
    </p:spTree>
  </p:cSld>
  <p:clrMapOvr>
    <a:masterClrMapping/>
  </p:clrMapOvr>
  <mc:AlternateContent xmlns:mc="http://schemas.openxmlformats.org/markup-compatibility/2006" xmlns:p14="http://schemas.microsoft.com/office/powerpoint/2010/main">
    <mc:Choice Requires="p14">
      <p:transition spd="slow" p14:dur="999" advTm="233390"/>
    </mc:Choice>
    <mc:Fallback xmlns="">
      <p:transition spd="slow" advTm="233390"/>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0" name="组合 69"/>
          <p:cNvGrpSpPr/>
          <p:nvPr/>
        </p:nvGrpSpPr>
        <p:grpSpPr>
          <a:xfrm>
            <a:off x="2080195" y="1377394"/>
            <a:ext cx="9050020" cy="5582206"/>
            <a:chOff x="1559495" y="1036841"/>
            <a:chExt cx="9050020" cy="5582206"/>
          </a:xfrm>
        </p:grpSpPr>
        <p:sp>
          <p:nvSpPr>
            <p:cNvPr id="4" name="object 4"/>
            <p:cNvSpPr/>
            <p:nvPr/>
          </p:nvSpPr>
          <p:spPr>
            <a:xfrm>
              <a:off x="3334806" y="1038970"/>
              <a:ext cx="1251585" cy="433070"/>
            </a:xfrm>
            <a:custGeom>
              <a:avLst/>
              <a:gdLst/>
              <a:ahLst/>
              <a:cxnLst/>
              <a:rect l="l" t="t" r="r" b="b"/>
              <a:pathLst>
                <a:path w="1251585" h="433069">
                  <a:moveTo>
                    <a:pt x="0" y="432588"/>
                  </a:moveTo>
                  <a:lnTo>
                    <a:pt x="1251062" y="432588"/>
                  </a:lnTo>
                  <a:lnTo>
                    <a:pt x="1251062" y="0"/>
                  </a:lnTo>
                  <a:lnTo>
                    <a:pt x="0" y="0"/>
                  </a:lnTo>
                  <a:lnTo>
                    <a:pt x="0" y="432588"/>
                  </a:lnTo>
                  <a:close/>
                </a:path>
              </a:pathLst>
            </a:custGeom>
            <a:solidFill>
              <a:srgbClr val="FFFFCC"/>
            </a:solidFill>
          </p:spPr>
          <p:txBody>
            <a:bodyPr wrap="square" lIns="0" tIns="0" rIns="0" bIns="0" rtlCol="0"/>
            <a:lstStyle/>
            <a:p>
              <a:endParaRPr/>
            </a:p>
          </p:txBody>
        </p:sp>
        <p:sp>
          <p:nvSpPr>
            <p:cNvPr id="5" name="object 5"/>
            <p:cNvSpPr/>
            <p:nvPr/>
          </p:nvSpPr>
          <p:spPr>
            <a:xfrm>
              <a:off x="3334806" y="1038970"/>
              <a:ext cx="1251585" cy="433070"/>
            </a:xfrm>
            <a:custGeom>
              <a:avLst/>
              <a:gdLst/>
              <a:ahLst/>
              <a:cxnLst/>
              <a:rect l="l" t="t" r="r" b="b"/>
              <a:pathLst>
                <a:path w="1251585" h="433069">
                  <a:moveTo>
                    <a:pt x="0" y="432588"/>
                  </a:moveTo>
                  <a:lnTo>
                    <a:pt x="1251062" y="432588"/>
                  </a:lnTo>
                  <a:lnTo>
                    <a:pt x="1251062" y="0"/>
                  </a:lnTo>
                  <a:lnTo>
                    <a:pt x="0" y="0"/>
                  </a:lnTo>
                  <a:lnTo>
                    <a:pt x="0" y="432588"/>
                  </a:lnTo>
                  <a:close/>
                </a:path>
              </a:pathLst>
            </a:custGeom>
            <a:ln w="10862">
              <a:solidFill>
                <a:srgbClr val="990033"/>
              </a:solidFill>
            </a:ln>
          </p:spPr>
          <p:txBody>
            <a:bodyPr wrap="square" lIns="0" tIns="0" rIns="0" bIns="0" rtlCol="0"/>
            <a:lstStyle/>
            <a:p>
              <a:endParaRPr/>
            </a:p>
          </p:txBody>
        </p:sp>
        <p:sp>
          <p:nvSpPr>
            <p:cNvPr id="6" name="object 6"/>
            <p:cNvSpPr txBox="1"/>
            <p:nvPr/>
          </p:nvSpPr>
          <p:spPr>
            <a:xfrm>
              <a:off x="3690735" y="1036841"/>
              <a:ext cx="568960" cy="227965"/>
            </a:xfrm>
            <a:prstGeom prst="rect">
              <a:avLst/>
            </a:prstGeom>
          </p:spPr>
          <p:txBody>
            <a:bodyPr vert="horz" wrap="square" lIns="0" tIns="15875" rIns="0" bIns="0" rtlCol="0">
              <a:spAutoFit/>
            </a:bodyPr>
            <a:lstStyle/>
            <a:p>
              <a:pPr marL="12700">
                <a:lnSpc>
                  <a:spcPct val="100000"/>
                </a:lnSpc>
                <a:spcBef>
                  <a:spcPts val="125"/>
                </a:spcBef>
              </a:pPr>
              <a:r>
                <a:rPr sz="1300" u="sng" spc="50" dirty="0">
                  <a:uFill>
                    <a:solidFill>
                      <a:srgbClr val="000000"/>
                    </a:solidFill>
                  </a:uFill>
                  <a:latin typeface="Arial" panose="020B0604020202020204"/>
                  <a:cs typeface="Arial" panose="020B0604020202020204"/>
                </a:rPr>
                <a:t>:</a:t>
              </a:r>
              <a:r>
                <a:rPr sz="1300" u="sng" spc="204" dirty="0">
                  <a:uFill>
                    <a:solidFill>
                      <a:srgbClr val="000000"/>
                    </a:solidFill>
                  </a:uFill>
                  <a:latin typeface="Arial" panose="020B0604020202020204"/>
                  <a:cs typeface="Arial" panose="020B0604020202020204"/>
                </a:rPr>
                <a:t>o</a:t>
              </a:r>
              <a:r>
                <a:rPr sz="1300" u="sng" spc="-20" dirty="0">
                  <a:uFill>
                    <a:solidFill>
                      <a:srgbClr val="000000"/>
                    </a:solidFill>
                  </a:uFill>
                  <a:latin typeface="Arial" panose="020B0604020202020204"/>
                  <a:cs typeface="Arial" panose="020B0604020202020204"/>
                </a:rPr>
                <a:t>r</a:t>
              </a:r>
              <a:r>
                <a:rPr sz="1300" u="sng" spc="310" dirty="0">
                  <a:uFill>
                    <a:solidFill>
                      <a:srgbClr val="000000"/>
                    </a:solidFill>
                  </a:uFill>
                  <a:latin typeface="Arial" panose="020B0604020202020204"/>
                  <a:cs typeface="Arial" panose="020B0604020202020204"/>
                </a:rPr>
                <a:t>d</a:t>
              </a:r>
              <a:r>
                <a:rPr sz="1300" u="sng" spc="204" dirty="0">
                  <a:uFill>
                    <a:solidFill>
                      <a:srgbClr val="000000"/>
                    </a:solidFill>
                  </a:uFill>
                  <a:latin typeface="Arial" panose="020B0604020202020204"/>
                  <a:cs typeface="Arial" panose="020B0604020202020204"/>
                </a:rPr>
                <a:t>e</a:t>
              </a:r>
              <a:r>
                <a:rPr sz="1300" u="sng" spc="120" dirty="0">
                  <a:uFill>
                    <a:solidFill>
                      <a:srgbClr val="000000"/>
                    </a:solidFill>
                  </a:uFill>
                  <a:latin typeface="Arial" panose="020B0604020202020204"/>
                  <a:cs typeface="Arial" panose="020B0604020202020204"/>
                </a:rPr>
                <a:t>r</a:t>
              </a:r>
              <a:endParaRPr sz="1300">
                <a:latin typeface="Arial" panose="020B0604020202020204"/>
                <a:cs typeface="Arial" panose="020B0604020202020204"/>
              </a:endParaRPr>
            </a:p>
          </p:txBody>
        </p:sp>
        <p:sp>
          <p:nvSpPr>
            <p:cNvPr id="7" name="object 7"/>
            <p:cNvSpPr/>
            <p:nvPr/>
          </p:nvSpPr>
          <p:spPr>
            <a:xfrm>
              <a:off x="3966948" y="1481858"/>
              <a:ext cx="0" cy="650240"/>
            </a:xfrm>
            <a:custGeom>
              <a:avLst/>
              <a:gdLst/>
              <a:ahLst/>
              <a:cxnLst/>
              <a:rect l="l" t="t" r="r" b="b"/>
              <a:pathLst>
                <a:path h="650239">
                  <a:moveTo>
                    <a:pt x="0" y="0"/>
                  </a:moveTo>
                  <a:lnTo>
                    <a:pt x="0" y="649724"/>
                  </a:lnTo>
                </a:path>
              </a:pathLst>
            </a:custGeom>
            <a:ln w="3175">
              <a:solidFill>
                <a:srgbClr val="000000"/>
              </a:solidFill>
              <a:prstDash val="sysDot"/>
            </a:ln>
          </p:spPr>
          <p:txBody>
            <a:bodyPr wrap="square" lIns="0" tIns="0" rIns="0" bIns="0" rtlCol="0"/>
            <a:lstStyle/>
            <a:p>
              <a:endParaRPr/>
            </a:p>
          </p:txBody>
        </p:sp>
        <p:sp>
          <p:nvSpPr>
            <p:cNvPr id="8" name="object 8"/>
            <p:cNvSpPr/>
            <p:nvPr/>
          </p:nvSpPr>
          <p:spPr>
            <a:xfrm>
              <a:off x="3966948" y="2414315"/>
              <a:ext cx="0" cy="713105"/>
            </a:xfrm>
            <a:custGeom>
              <a:avLst/>
              <a:gdLst/>
              <a:ahLst/>
              <a:cxnLst/>
              <a:rect l="l" t="t" r="r" b="b"/>
              <a:pathLst>
                <a:path h="713105">
                  <a:moveTo>
                    <a:pt x="0" y="0"/>
                  </a:moveTo>
                  <a:lnTo>
                    <a:pt x="0" y="712912"/>
                  </a:lnTo>
                </a:path>
              </a:pathLst>
            </a:custGeom>
            <a:ln w="3175">
              <a:solidFill>
                <a:srgbClr val="000000"/>
              </a:solidFill>
              <a:prstDash val="sysDot"/>
            </a:ln>
          </p:spPr>
          <p:txBody>
            <a:bodyPr wrap="square" lIns="0" tIns="0" rIns="0" bIns="0" rtlCol="0"/>
            <a:lstStyle/>
            <a:p>
              <a:endParaRPr/>
            </a:p>
          </p:txBody>
        </p:sp>
        <p:sp>
          <p:nvSpPr>
            <p:cNvPr id="9" name="object 9"/>
            <p:cNvSpPr/>
            <p:nvPr/>
          </p:nvSpPr>
          <p:spPr>
            <a:xfrm>
              <a:off x="3966948" y="3528079"/>
              <a:ext cx="0" cy="643890"/>
            </a:xfrm>
            <a:custGeom>
              <a:avLst/>
              <a:gdLst/>
              <a:ahLst/>
              <a:cxnLst/>
              <a:rect l="l" t="t" r="r" b="b"/>
              <a:pathLst>
                <a:path h="643889">
                  <a:moveTo>
                    <a:pt x="0" y="0"/>
                  </a:moveTo>
                  <a:lnTo>
                    <a:pt x="0" y="643272"/>
                  </a:lnTo>
                </a:path>
              </a:pathLst>
            </a:custGeom>
            <a:ln w="3175">
              <a:solidFill>
                <a:srgbClr val="000000"/>
              </a:solidFill>
              <a:prstDash val="sysDot"/>
            </a:ln>
          </p:spPr>
          <p:txBody>
            <a:bodyPr wrap="square" lIns="0" tIns="0" rIns="0" bIns="0" rtlCol="0"/>
            <a:lstStyle/>
            <a:p>
              <a:endParaRPr/>
            </a:p>
          </p:txBody>
        </p:sp>
        <p:sp>
          <p:nvSpPr>
            <p:cNvPr id="10" name="object 10"/>
            <p:cNvSpPr/>
            <p:nvPr/>
          </p:nvSpPr>
          <p:spPr>
            <a:xfrm>
              <a:off x="3966948" y="4572201"/>
              <a:ext cx="0" cy="928369"/>
            </a:xfrm>
            <a:custGeom>
              <a:avLst/>
              <a:gdLst/>
              <a:ahLst/>
              <a:cxnLst/>
              <a:rect l="l" t="t" r="r" b="b"/>
              <a:pathLst>
                <a:path h="928370">
                  <a:moveTo>
                    <a:pt x="0" y="0"/>
                  </a:moveTo>
                  <a:lnTo>
                    <a:pt x="0" y="928061"/>
                  </a:lnTo>
                </a:path>
              </a:pathLst>
            </a:custGeom>
            <a:ln w="3175">
              <a:solidFill>
                <a:srgbClr val="000000"/>
              </a:solidFill>
              <a:prstDash val="sysDot"/>
            </a:ln>
          </p:spPr>
          <p:txBody>
            <a:bodyPr wrap="square" lIns="0" tIns="0" rIns="0" bIns="0" rtlCol="0"/>
            <a:lstStyle/>
            <a:p>
              <a:endParaRPr/>
            </a:p>
          </p:txBody>
        </p:sp>
        <p:sp>
          <p:nvSpPr>
            <p:cNvPr id="11" name="object 11"/>
            <p:cNvSpPr/>
            <p:nvPr/>
          </p:nvSpPr>
          <p:spPr>
            <a:xfrm>
              <a:off x="3966948" y="5890531"/>
              <a:ext cx="0" cy="728345"/>
            </a:xfrm>
            <a:custGeom>
              <a:avLst/>
              <a:gdLst/>
              <a:ahLst/>
              <a:cxnLst/>
              <a:rect l="l" t="t" r="r" b="b"/>
              <a:pathLst>
                <a:path h="728345">
                  <a:moveTo>
                    <a:pt x="0" y="0"/>
                  </a:moveTo>
                  <a:lnTo>
                    <a:pt x="0" y="727926"/>
                  </a:lnTo>
                </a:path>
              </a:pathLst>
            </a:custGeom>
            <a:ln w="3175">
              <a:solidFill>
                <a:srgbClr val="000000"/>
              </a:solidFill>
              <a:prstDash val="sysDot"/>
            </a:ln>
          </p:spPr>
          <p:txBody>
            <a:bodyPr wrap="square" lIns="0" tIns="0" rIns="0" bIns="0" rtlCol="0"/>
            <a:lstStyle/>
            <a:p>
              <a:endParaRPr/>
            </a:p>
          </p:txBody>
        </p:sp>
        <p:sp>
          <p:nvSpPr>
            <p:cNvPr id="12" name="object 12"/>
            <p:cNvSpPr/>
            <p:nvPr/>
          </p:nvSpPr>
          <p:spPr>
            <a:xfrm>
              <a:off x="3901170" y="3127228"/>
              <a:ext cx="118745" cy="401320"/>
            </a:xfrm>
            <a:custGeom>
              <a:avLst/>
              <a:gdLst/>
              <a:ahLst/>
              <a:cxnLst/>
              <a:rect l="l" t="t" r="r" b="b"/>
              <a:pathLst>
                <a:path w="118745" h="401320">
                  <a:moveTo>
                    <a:pt x="0" y="400850"/>
                  </a:moveTo>
                  <a:lnTo>
                    <a:pt x="118343" y="400850"/>
                  </a:lnTo>
                  <a:lnTo>
                    <a:pt x="118343" y="0"/>
                  </a:lnTo>
                  <a:lnTo>
                    <a:pt x="0" y="0"/>
                  </a:lnTo>
                  <a:lnTo>
                    <a:pt x="0" y="400850"/>
                  </a:lnTo>
                  <a:close/>
                </a:path>
              </a:pathLst>
            </a:custGeom>
            <a:ln w="13018">
              <a:solidFill>
                <a:srgbClr val="990033"/>
              </a:solidFill>
            </a:ln>
          </p:spPr>
          <p:txBody>
            <a:bodyPr wrap="square" lIns="0" tIns="0" rIns="0" bIns="0" rtlCol="0"/>
            <a:lstStyle/>
            <a:p>
              <a:endParaRPr/>
            </a:p>
          </p:txBody>
        </p:sp>
        <p:sp>
          <p:nvSpPr>
            <p:cNvPr id="13" name="object 13"/>
            <p:cNvSpPr/>
            <p:nvPr/>
          </p:nvSpPr>
          <p:spPr>
            <a:xfrm>
              <a:off x="3901170" y="4171351"/>
              <a:ext cx="118745" cy="401320"/>
            </a:xfrm>
            <a:custGeom>
              <a:avLst/>
              <a:gdLst/>
              <a:ahLst/>
              <a:cxnLst/>
              <a:rect l="l" t="t" r="r" b="b"/>
              <a:pathLst>
                <a:path w="118745" h="401320">
                  <a:moveTo>
                    <a:pt x="0" y="400850"/>
                  </a:moveTo>
                  <a:lnTo>
                    <a:pt x="118343" y="400850"/>
                  </a:lnTo>
                  <a:lnTo>
                    <a:pt x="118343" y="0"/>
                  </a:lnTo>
                  <a:lnTo>
                    <a:pt x="0" y="0"/>
                  </a:lnTo>
                  <a:lnTo>
                    <a:pt x="0" y="400850"/>
                  </a:lnTo>
                  <a:close/>
                </a:path>
              </a:pathLst>
            </a:custGeom>
            <a:ln w="13018">
              <a:solidFill>
                <a:srgbClr val="990033"/>
              </a:solidFill>
            </a:ln>
          </p:spPr>
          <p:txBody>
            <a:bodyPr wrap="square" lIns="0" tIns="0" rIns="0" bIns="0" rtlCol="0"/>
            <a:lstStyle/>
            <a:p>
              <a:endParaRPr/>
            </a:p>
          </p:txBody>
        </p:sp>
        <p:sp>
          <p:nvSpPr>
            <p:cNvPr id="14" name="object 14"/>
            <p:cNvSpPr/>
            <p:nvPr/>
          </p:nvSpPr>
          <p:spPr>
            <a:xfrm>
              <a:off x="3901170" y="5500263"/>
              <a:ext cx="118745" cy="390525"/>
            </a:xfrm>
            <a:custGeom>
              <a:avLst/>
              <a:gdLst/>
              <a:ahLst/>
              <a:cxnLst/>
              <a:rect l="l" t="t" r="r" b="b"/>
              <a:pathLst>
                <a:path w="118745" h="390525">
                  <a:moveTo>
                    <a:pt x="0" y="390267"/>
                  </a:moveTo>
                  <a:lnTo>
                    <a:pt x="118343" y="390267"/>
                  </a:lnTo>
                  <a:lnTo>
                    <a:pt x="118343" y="0"/>
                  </a:lnTo>
                  <a:lnTo>
                    <a:pt x="0" y="0"/>
                  </a:lnTo>
                  <a:lnTo>
                    <a:pt x="0" y="390267"/>
                  </a:lnTo>
                  <a:close/>
                </a:path>
              </a:pathLst>
            </a:custGeom>
            <a:ln w="13007">
              <a:solidFill>
                <a:srgbClr val="990033"/>
              </a:solidFill>
            </a:ln>
          </p:spPr>
          <p:txBody>
            <a:bodyPr wrap="square" lIns="0" tIns="0" rIns="0" bIns="0" rtlCol="0"/>
            <a:lstStyle/>
            <a:p>
              <a:endParaRPr/>
            </a:p>
          </p:txBody>
        </p:sp>
        <p:sp>
          <p:nvSpPr>
            <p:cNvPr id="15" name="object 15"/>
            <p:cNvSpPr/>
            <p:nvPr/>
          </p:nvSpPr>
          <p:spPr>
            <a:xfrm>
              <a:off x="4664528" y="1038970"/>
              <a:ext cx="1251585" cy="433070"/>
            </a:xfrm>
            <a:custGeom>
              <a:avLst/>
              <a:gdLst/>
              <a:ahLst/>
              <a:cxnLst/>
              <a:rect l="l" t="t" r="r" b="b"/>
              <a:pathLst>
                <a:path w="1251585" h="433069">
                  <a:moveTo>
                    <a:pt x="0" y="432588"/>
                  </a:moveTo>
                  <a:lnTo>
                    <a:pt x="1251062" y="432588"/>
                  </a:lnTo>
                  <a:lnTo>
                    <a:pt x="1251062" y="0"/>
                  </a:lnTo>
                  <a:lnTo>
                    <a:pt x="0" y="0"/>
                  </a:lnTo>
                  <a:lnTo>
                    <a:pt x="0" y="432588"/>
                  </a:lnTo>
                  <a:close/>
                </a:path>
              </a:pathLst>
            </a:custGeom>
            <a:solidFill>
              <a:srgbClr val="FFFFCC"/>
            </a:solidFill>
          </p:spPr>
          <p:txBody>
            <a:bodyPr wrap="square" lIns="0" tIns="0" rIns="0" bIns="0" rtlCol="0"/>
            <a:lstStyle/>
            <a:p>
              <a:endParaRPr/>
            </a:p>
          </p:txBody>
        </p:sp>
        <p:sp>
          <p:nvSpPr>
            <p:cNvPr id="16" name="object 16"/>
            <p:cNvSpPr/>
            <p:nvPr/>
          </p:nvSpPr>
          <p:spPr>
            <a:xfrm>
              <a:off x="4664528" y="1038970"/>
              <a:ext cx="1251585" cy="433070"/>
            </a:xfrm>
            <a:custGeom>
              <a:avLst/>
              <a:gdLst/>
              <a:ahLst/>
              <a:cxnLst/>
              <a:rect l="l" t="t" r="r" b="b"/>
              <a:pathLst>
                <a:path w="1251585" h="433069">
                  <a:moveTo>
                    <a:pt x="0" y="432588"/>
                  </a:moveTo>
                  <a:lnTo>
                    <a:pt x="1251062" y="432588"/>
                  </a:lnTo>
                  <a:lnTo>
                    <a:pt x="1251062" y="0"/>
                  </a:lnTo>
                  <a:lnTo>
                    <a:pt x="0" y="0"/>
                  </a:lnTo>
                  <a:lnTo>
                    <a:pt x="0" y="432588"/>
                  </a:lnTo>
                  <a:close/>
                </a:path>
              </a:pathLst>
            </a:custGeom>
            <a:ln w="10862">
              <a:solidFill>
                <a:srgbClr val="990033"/>
              </a:solidFill>
            </a:ln>
          </p:spPr>
          <p:txBody>
            <a:bodyPr wrap="square" lIns="0" tIns="0" rIns="0" bIns="0" rtlCol="0"/>
            <a:lstStyle/>
            <a:p>
              <a:endParaRPr/>
            </a:p>
          </p:txBody>
        </p:sp>
        <p:sp>
          <p:nvSpPr>
            <p:cNvPr id="17" name="object 17"/>
            <p:cNvSpPr txBox="1"/>
            <p:nvPr/>
          </p:nvSpPr>
          <p:spPr>
            <a:xfrm>
              <a:off x="4718006" y="1036841"/>
              <a:ext cx="1163955" cy="417830"/>
            </a:xfrm>
            <a:prstGeom prst="rect">
              <a:avLst/>
            </a:prstGeom>
          </p:spPr>
          <p:txBody>
            <a:bodyPr vert="horz" wrap="square" lIns="0" tIns="28575" rIns="0" bIns="0" rtlCol="0">
              <a:spAutoFit/>
            </a:bodyPr>
            <a:lstStyle/>
            <a:p>
              <a:pPr marL="354330" marR="5080" indent="-342265">
                <a:lnSpc>
                  <a:spcPts val="1500"/>
                </a:lnSpc>
                <a:spcBef>
                  <a:spcPts val="225"/>
                </a:spcBef>
              </a:pPr>
              <a:r>
                <a:rPr sz="1300" u="sng" spc="180" dirty="0">
                  <a:uFill>
                    <a:solidFill>
                      <a:srgbClr val="000000"/>
                    </a:solidFill>
                  </a:uFill>
                  <a:latin typeface="Arial" panose="020B0604020202020204"/>
                  <a:cs typeface="Arial" panose="020B0604020202020204"/>
                </a:rPr>
                <a:t>c</a:t>
              </a:r>
              <a:r>
                <a:rPr sz="1300" u="sng" spc="204" dirty="0">
                  <a:uFill>
                    <a:solidFill>
                      <a:srgbClr val="000000"/>
                    </a:solidFill>
                  </a:uFill>
                  <a:latin typeface="Arial" panose="020B0604020202020204"/>
                  <a:cs typeface="Arial" panose="020B0604020202020204"/>
                </a:rPr>
                <a:t>a</a:t>
              </a:r>
              <a:r>
                <a:rPr sz="1300" u="sng" spc="85" dirty="0">
                  <a:uFill>
                    <a:solidFill>
                      <a:srgbClr val="000000"/>
                    </a:solidFill>
                  </a:uFill>
                  <a:latin typeface="Arial" panose="020B0604020202020204"/>
                  <a:cs typeface="Arial" panose="020B0604020202020204"/>
                </a:rPr>
                <a:t>r</a:t>
              </a:r>
              <a:r>
                <a:rPr sz="1300" u="sng" spc="204" dirty="0">
                  <a:uFill>
                    <a:solidFill>
                      <a:srgbClr val="000000"/>
                    </a:solidFill>
                  </a:uFill>
                  <a:latin typeface="Arial" panose="020B0604020202020204"/>
                  <a:cs typeface="Arial" panose="020B0604020202020204"/>
                </a:rPr>
                <a:t>e</a:t>
              </a:r>
              <a:r>
                <a:rPr sz="1300" u="sng" spc="50" dirty="0">
                  <a:uFill>
                    <a:solidFill>
                      <a:srgbClr val="000000"/>
                    </a:solidFill>
                  </a:uFill>
                  <a:latin typeface="Arial" panose="020B0604020202020204"/>
                  <a:cs typeface="Arial" panose="020B0604020202020204"/>
                </a:rPr>
                <a:t>f</a:t>
              </a:r>
              <a:r>
                <a:rPr sz="1300" u="sng" spc="105" dirty="0">
                  <a:uFill>
                    <a:solidFill>
                      <a:srgbClr val="000000"/>
                    </a:solidFill>
                  </a:uFill>
                  <a:latin typeface="Arial" panose="020B0604020202020204"/>
                  <a:cs typeface="Arial" panose="020B0604020202020204"/>
                </a:rPr>
                <a:t>u</a:t>
              </a:r>
              <a:r>
                <a:rPr sz="1300" u="sng" spc="15" dirty="0">
                  <a:uFill>
                    <a:solidFill>
                      <a:srgbClr val="000000"/>
                    </a:solidFill>
                  </a:uFill>
                  <a:latin typeface="Arial" panose="020B0604020202020204"/>
                  <a:cs typeface="Arial" panose="020B0604020202020204"/>
                </a:rPr>
                <a:t>l</a:t>
              </a:r>
              <a:r>
                <a:rPr sz="1300" u="sng" spc="50" dirty="0">
                  <a:uFill>
                    <a:solidFill>
                      <a:srgbClr val="000000"/>
                    </a:solidFill>
                  </a:uFill>
                  <a:latin typeface="Arial" panose="020B0604020202020204"/>
                  <a:cs typeface="Arial" panose="020B0604020202020204"/>
                </a:rPr>
                <a:t>:</a:t>
              </a:r>
              <a:r>
                <a:rPr sz="1300" u="sng" spc="210" dirty="0">
                  <a:uFill>
                    <a:solidFill>
                      <a:srgbClr val="000000"/>
                    </a:solidFill>
                  </a:uFill>
                  <a:latin typeface="Arial" panose="020B0604020202020204"/>
                  <a:cs typeface="Arial" panose="020B0604020202020204"/>
                </a:rPr>
                <a:t>Di</a:t>
              </a:r>
              <a:r>
                <a:rPr sz="1300" u="sng" spc="180" dirty="0">
                  <a:uFill>
                    <a:solidFill>
                      <a:srgbClr val="000000"/>
                    </a:solidFill>
                  </a:uFill>
                  <a:latin typeface="Arial" panose="020B0604020202020204"/>
                  <a:cs typeface="Arial" panose="020B0604020202020204"/>
                </a:rPr>
                <a:t>s</a:t>
              </a:r>
              <a:r>
                <a:rPr sz="1300" u="sng" spc="50" dirty="0">
                  <a:uFill>
                    <a:solidFill>
                      <a:srgbClr val="000000"/>
                    </a:solidFill>
                  </a:uFill>
                  <a:latin typeface="Arial" panose="020B0604020202020204"/>
                  <a:cs typeface="Arial" panose="020B0604020202020204"/>
                </a:rPr>
                <a:t>t</a:t>
              </a:r>
              <a:r>
                <a:rPr sz="1300" u="sng" spc="85" dirty="0">
                  <a:uFill>
                    <a:solidFill>
                      <a:srgbClr val="000000"/>
                    </a:solidFill>
                  </a:uFill>
                  <a:latin typeface="Arial" panose="020B0604020202020204"/>
                  <a:cs typeface="Arial" panose="020B0604020202020204"/>
                </a:rPr>
                <a:t>r</a:t>
              </a:r>
              <a:r>
                <a:rPr sz="1300" u="sng" spc="90" dirty="0">
                  <a:uFill>
                    <a:solidFill>
                      <a:srgbClr val="000000"/>
                    </a:solidFill>
                  </a:uFill>
                  <a:latin typeface="Arial" panose="020B0604020202020204"/>
                  <a:cs typeface="Arial" panose="020B0604020202020204"/>
                </a:rPr>
                <a:t>i </a:t>
              </a:r>
              <a:r>
                <a:rPr sz="1300" spc="100" dirty="0">
                  <a:latin typeface="Arial" panose="020B0604020202020204"/>
                  <a:cs typeface="Arial" panose="020B0604020202020204"/>
                </a:rPr>
                <a:t> </a:t>
              </a:r>
              <a:r>
                <a:rPr sz="1300" u="sng" spc="135" dirty="0">
                  <a:uFill>
                    <a:solidFill>
                      <a:srgbClr val="000000"/>
                    </a:solidFill>
                  </a:uFill>
                  <a:latin typeface="Arial" panose="020B0604020202020204"/>
                  <a:cs typeface="Arial" panose="020B0604020202020204"/>
                </a:rPr>
                <a:t>butor</a:t>
              </a:r>
              <a:endParaRPr sz="1300">
                <a:latin typeface="Arial" panose="020B0604020202020204"/>
                <a:cs typeface="Arial" panose="020B0604020202020204"/>
              </a:endParaRPr>
            </a:p>
          </p:txBody>
        </p:sp>
        <p:sp>
          <p:nvSpPr>
            <p:cNvPr id="18" name="object 18"/>
            <p:cNvSpPr/>
            <p:nvPr/>
          </p:nvSpPr>
          <p:spPr>
            <a:xfrm>
              <a:off x="5296699" y="1481858"/>
              <a:ext cx="0" cy="650240"/>
            </a:xfrm>
            <a:custGeom>
              <a:avLst/>
              <a:gdLst/>
              <a:ahLst/>
              <a:cxnLst/>
              <a:rect l="l" t="t" r="r" b="b"/>
              <a:pathLst>
                <a:path h="650239">
                  <a:moveTo>
                    <a:pt x="0" y="0"/>
                  </a:moveTo>
                  <a:lnTo>
                    <a:pt x="0" y="649724"/>
                  </a:lnTo>
                </a:path>
              </a:pathLst>
            </a:custGeom>
            <a:ln w="3175">
              <a:solidFill>
                <a:srgbClr val="000000"/>
              </a:solidFill>
              <a:prstDash val="sysDot"/>
            </a:ln>
          </p:spPr>
          <p:txBody>
            <a:bodyPr wrap="square" lIns="0" tIns="0" rIns="0" bIns="0" rtlCol="0"/>
            <a:lstStyle/>
            <a:p>
              <a:endParaRPr/>
            </a:p>
          </p:txBody>
        </p:sp>
        <p:sp>
          <p:nvSpPr>
            <p:cNvPr id="19" name="object 19"/>
            <p:cNvSpPr/>
            <p:nvPr/>
          </p:nvSpPr>
          <p:spPr>
            <a:xfrm>
              <a:off x="5296699" y="2414315"/>
              <a:ext cx="0" cy="713105"/>
            </a:xfrm>
            <a:custGeom>
              <a:avLst/>
              <a:gdLst/>
              <a:ahLst/>
              <a:cxnLst/>
              <a:rect l="l" t="t" r="r" b="b"/>
              <a:pathLst>
                <a:path h="713105">
                  <a:moveTo>
                    <a:pt x="0" y="0"/>
                  </a:moveTo>
                  <a:lnTo>
                    <a:pt x="0" y="712841"/>
                  </a:lnTo>
                </a:path>
              </a:pathLst>
            </a:custGeom>
            <a:ln w="3175">
              <a:solidFill>
                <a:srgbClr val="000000"/>
              </a:solidFill>
              <a:prstDash val="sysDot"/>
            </a:ln>
          </p:spPr>
          <p:txBody>
            <a:bodyPr wrap="square" lIns="0" tIns="0" rIns="0" bIns="0" rtlCol="0"/>
            <a:lstStyle/>
            <a:p>
              <a:endParaRPr/>
            </a:p>
          </p:txBody>
        </p:sp>
        <p:sp>
          <p:nvSpPr>
            <p:cNvPr id="20" name="object 20"/>
            <p:cNvSpPr/>
            <p:nvPr/>
          </p:nvSpPr>
          <p:spPr>
            <a:xfrm>
              <a:off x="5296699" y="3317005"/>
              <a:ext cx="0" cy="3302000"/>
            </a:xfrm>
            <a:custGeom>
              <a:avLst/>
              <a:gdLst/>
              <a:ahLst/>
              <a:cxnLst/>
              <a:rect l="l" t="t" r="r" b="b"/>
              <a:pathLst>
                <a:path h="3302000">
                  <a:moveTo>
                    <a:pt x="0" y="0"/>
                  </a:moveTo>
                  <a:lnTo>
                    <a:pt x="0" y="3301452"/>
                  </a:lnTo>
                </a:path>
              </a:pathLst>
            </a:custGeom>
            <a:ln w="3175">
              <a:solidFill>
                <a:srgbClr val="000000"/>
              </a:solidFill>
              <a:prstDash val="sysDot"/>
            </a:ln>
          </p:spPr>
          <p:txBody>
            <a:bodyPr wrap="square" lIns="0" tIns="0" rIns="0" bIns="0" rtlCol="0"/>
            <a:lstStyle/>
            <a:p>
              <a:endParaRPr/>
            </a:p>
          </p:txBody>
        </p:sp>
        <p:sp>
          <p:nvSpPr>
            <p:cNvPr id="21" name="object 21"/>
            <p:cNvSpPr/>
            <p:nvPr/>
          </p:nvSpPr>
          <p:spPr>
            <a:xfrm>
              <a:off x="5230817" y="3127156"/>
              <a:ext cx="118745" cy="189865"/>
            </a:xfrm>
            <a:custGeom>
              <a:avLst/>
              <a:gdLst/>
              <a:ahLst/>
              <a:cxnLst/>
              <a:rect l="l" t="t" r="r" b="b"/>
              <a:pathLst>
                <a:path w="118745" h="189864">
                  <a:moveTo>
                    <a:pt x="0" y="189848"/>
                  </a:moveTo>
                  <a:lnTo>
                    <a:pt x="118343" y="189848"/>
                  </a:lnTo>
                  <a:lnTo>
                    <a:pt x="118343" y="0"/>
                  </a:lnTo>
                  <a:lnTo>
                    <a:pt x="0" y="0"/>
                  </a:lnTo>
                  <a:lnTo>
                    <a:pt x="0" y="189848"/>
                  </a:lnTo>
                  <a:close/>
                </a:path>
              </a:pathLst>
            </a:custGeom>
            <a:ln w="12488">
              <a:solidFill>
                <a:srgbClr val="990033"/>
              </a:solidFill>
            </a:ln>
          </p:spPr>
          <p:txBody>
            <a:bodyPr wrap="square" lIns="0" tIns="0" rIns="0" bIns="0" rtlCol="0"/>
            <a:lstStyle/>
            <a:p>
              <a:endParaRPr/>
            </a:p>
          </p:txBody>
        </p:sp>
        <p:sp>
          <p:nvSpPr>
            <p:cNvPr id="22" name="object 22"/>
            <p:cNvSpPr/>
            <p:nvPr/>
          </p:nvSpPr>
          <p:spPr>
            <a:xfrm>
              <a:off x="6060338" y="1038970"/>
              <a:ext cx="1250950" cy="433070"/>
            </a:xfrm>
            <a:custGeom>
              <a:avLst/>
              <a:gdLst/>
              <a:ahLst/>
              <a:cxnLst/>
              <a:rect l="l" t="t" r="r" b="b"/>
              <a:pathLst>
                <a:path w="1250950" h="433069">
                  <a:moveTo>
                    <a:pt x="0" y="432588"/>
                  </a:moveTo>
                  <a:lnTo>
                    <a:pt x="1250692" y="432588"/>
                  </a:lnTo>
                  <a:lnTo>
                    <a:pt x="1250692" y="0"/>
                  </a:lnTo>
                  <a:lnTo>
                    <a:pt x="0" y="0"/>
                  </a:lnTo>
                  <a:lnTo>
                    <a:pt x="0" y="432588"/>
                  </a:lnTo>
                  <a:close/>
                </a:path>
              </a:pathLst>
            </a:custGeom>
            <a:solidFill>
              <a:srgbClr val="FFFFCC"/>
            </a:solidFill>
          </p:spPr>
          <p:txBody>
            <a:bodyPr wrap="square" lIns="0" tIns="0" rIns="0" bIns="0" rtlCol="0"/>
            <a:lstStyle/>
            <a:p>
              <a:endParaRPr/>
            </a:p>
          </p:txBody>
        </p:sp>
        <p:sp>
          <p:nvSpPr>
            <p:cNvPr id="23" name="object 23"/>
            <p:cNvSpPr/>
            <p:nvPr/>
          </p:nvSpPr>
          <p:spPr>
            <a:xfrm>
              <a:off x="6060338" y="1038970"/>
              <a:ext cx="1250950" cy="433070"/>
            </a:xfrm>
            <a:custGeom>
              <a:avLst/>
              <a:gdLst/>
              <a:ahLst/>
              <a:cxnLst/>
              <a:rect l="l" t="t" r="r" b="b"/>
              <a:pathLst>
                <a:path w="1250950" h="433069">
                  <a:moveTo>
                    <a:pt x="0" y="432588"/>
                  </a:moveTo>
                  <a:lnTo>
                    <a:pt x="1250692" y="432588"/>
                  </a:lnTo>
                  <a:lnTo>
                    <a:pt x="1250692" y="0"/>
                  </a:lnTo>
                  <a:lnTo>
                    <a:pt x="0" y="0"/>
                  </a:lnTo>
                  <a:lnTo>
                    <a:pt x="0" y="432588"/>
                  </a:lnTo>
                  <a:close/>
                </a:path>
              </a:pathLst>
            </a:custGeom>
            <a:ln w="10862">
              <a:solidFill>
                <a:srgbClr val="990033"/>
              </a:solidFill>
            </a:ln>
          </p:spPr>
          <p:txBody>
            <a:bodyPr wrap="square" lIns="0" tIns="0" rIns="0" bIns="0" rtlCol="0"/>
            <a:lstStyle/>
            <a:p>
              <a:endParaRPr/>
            </a:p>
          </p:txBody>
        </p:sp>
        <p:sp>
          <p:nvSpPr>
            <p:cNvPr id="24" name="object 24"/>
            <p:cNvSpPr txBox="1"/>
            <p:nvPr/>
          </p:nvSpPr>
          <p:spPr>
            <a:xfrm>
              <a:off x="6087019" y="1036841"/>
              <a:ext cx="1189990" cy="417830"/>
            </a:xfrm>
            <a:prstGeom prst="rect">
              <a:avLst/>
            </a:prstGeom>
          </p:spPr>
          <p:txBody>
            <a:bodyPr vert="horz" wrap="square" lIns="0" tIns="28575" rIns="0" bIns="0" rtlCol="0">
              <a:spAutoFit/>
            </a:bodyPr>
            <a:lstStyle/>
            <a:p>
              <a:pPr marL="367665" marR="5080" indent="-355600">
                <a:lnSpc>
                  <a:spcPts val="1500"/>
                </a:lnSpc>
                <a:spcBef>
                  <a:spcPts val="225"/>
                </a:spcBef>
              </a:pPr>
              <a:r>
                <a:rPr sz="1300" u="sng" spc="85" dirty="0">
                  <a:uFill>
                    <a:solidFill>
                      <a:srgbClr val="000000"/>
                    </a:solidFill>
                  </a:uFill>
                  <a:latin typeface="Arial" panose="020B0604020202020204"/>
                  <a:cs typeface="Arial" panose="020B0604020202020204"/>
                </a:rPr>
                <a:t>r</a:t>
              </a:r>
              <a:r>
                <a:rPr sz="1300" u="sng" spc="204" dirty="0">
                  <a:uFill>
                    <a:solidFill>
                      <a:srgbClr val="000000"/>
                    </a:solidFill>
                  </a:uFill>
                  <a:latin typeface="Arial" panose="020B0604020202020204"/>
                  <a:cs typeface="Arial" panose="020B0604020202020204"/>
                </a:rPr>
                <a:t>eg</a:t>
              </a:r>
              <a:r>
                <a:rPr sz="1300" u="sng" spc="105" dirty="0">
                  <a:uFill>
                    <a:solidFill>
                      <a:srgbClr val="000000"/>
                    </a:solidFill>
                  </a:uFill>
                  <a:latin typeface="Arial" panose="020B0604020202020204"/>
                  <a:cs typeface="Arial" panose="020B0604020202020204"/>
                </a:rPr>
                <a:t>u</a:t>
              </a:r>
              <a:r>
                <a:rPr sz="1300" u="sng" spc="15" dirty="0">
                  <a:uFill>
                    <a:solidFill>
                      <a:srgbClr val="000000"/>
                    </a:solidFill>
                  </a:uFill>
                  <a:latin typeface="Arial" panose="020B0604020202020204"/>
                  <a:cs typeface="Arial" panose="020B0604020202020204"/>
                </a:rPr>
                <a:t>l</a:t>
              </a:r>
              <a:r>
                <a:rPr sz="1300" u="sng" spc="204" dirty="0">
                  <a:uFill>
                    <a:solidFill>
                      <a:srgbClr val="000000"/>
                    </a:solidFill>
                  </a:uFill>
                  <a:latin typeface="Arial" panose="020B0604020202020204"/>
                  <a:cs typeface="Arial" panose="020B0604020202020204"/>
                </a:rPr>
                <a:t>a</a:t>
              </a:r>
              <a:r>
                <a:rPr sz="1300" u="sng" spc="85" dirty="0">
                  <a:uFill>
                    <a:solidFill>
                      <a:srgbClr val="000000"/>
                    </a:solidFill>
                  </a:uFill>
                  <a:latin typeface="Arial" panose="020B0604020202020204"/>
                  <a:cs typeface="Arial" panose="020B0604020202020204"/>
                </a:rPr>
                <a:t>r</a:t>
              </a:r>
              <a:r>
                <a:rPr sz="1300" u="sng" spc="50" dirty="0">
                  <a:uFill>
                    <a:solidFill>
                      <a:srgbClr val="000000"/>
                    </a:solidFill>
                  </a:uFill>
                  <a:latin typeface="Arial" panose="020B0604020202020204"/>
                  <a:cs typeface="Arial" panose="020B0604020202020204"/>
                </a:rPr>
                <a:t>:</a:t>
              </a:r>
              <a:r>
                <a:rPr sz="1300" u="sng" spc="210" dirty="0">
                  <a:uFill>
                    <a:solidFill>
                      <a:srgbClr val="000000"/>
                    </a:solidFill>
                  </a:uFill>
                  <a:latin typeface="Arial" panose="020B0604020202020204"/>
                  <a:cs typeface="Arial" panose="020B0604020202020204"/>
                </a:rPr>
                <a:t>Di</a:t>
              </a:r>
              <a:r>
                <a:rPr sz="1300" u="sng" spc="180" dirty="0">
                  <a:uFill>
                    <a:solidFill>
                      <a:srgbClr val="000000"/>
                    </a:solidFill>
                  </a:uFill>
                  <a:latin typeface="Arial" panose="020B0604020202020204"/>
                  <a:cs typeface="Arial" panose="020B0604020202020204"/>
                </a:rPr>
                <a:t>s</a:t>
              </a:r>
              <a:r>
                <a:rPr sz="1300" u="sng" spc="50" dirty="0">
                  <a:uFill>
                    <a:solidFill>
                      <a:srgbClr val="000000"/>
                    </a:solidFill>
                  </a:uFill>
                  <a:latin typeface="Arial" panose="020B0604020202020204"/>
                  <a:cs typeface="Arial" panose="020B0604020202020204"/>
                </a:rPr>
                <a:t>t</a:t>
              </a:r>
              <a:r>
                <a:rPr sz="1300" u="sng" spc="85" dirty="0">
                  <a:uFill>
                    <a:solidFill>
                      <a:srgbClr val="000000"/>
                    </a:solidFill>
                  </a:uFill>
                  <a:latin typeface="Arial" panose="020B0604020202020204"/>
                  <a:cs typeface="Arial" panose="020B0604020202020204"/>
                </a:rPr>
                <a:t>r</a:t>
              </a:r>
              <a:r>
                <a:rPr sz="1300" u="sng" spc="90" dirty="0">
                  <a:uFill>
                    <a:solidFill>
                      <a:srgbClr val="000000"/>
                    </a:solidFill>
                  </a:uFill>
                  <a:latin typeface="Arial" panose="020B0604020202020204"/>
                  <a:cs typeface="Arial" panose="020B0604020202020204"/>
                </a:rPr>
                <a:t>i </a:t>
              </a:r>
              <a:r>
                <a:rPr sz="1300" spc="100" dirty="0">
                  <a:latin typeface="Arial" panose="020B0604020202020204"/>
                  <a:cs typeface="Arial" panose="020B0604020202020204"/>
                </a:rPr>
                <a:t> </a:t>
              </a:r>
              <a:r>
                <a:rPr sz="1300" u="sng" spc="135" dirty="0">
                  <a:uFill>
                    <a:solidFill>
                      <a:srgbClr val="000000"/>
                    </a:solidFill>
                  </a:uFill>
                  <a:latin typeface="Arial" panose="020B0604020202020204"/>
                  <a:cs typeface="Arial" panose="020B0604020202020204"/>
                </a:rPr>
                <a:t>butor</a:t>
              </a:r>
              <a:endParaRPr sz="1300">
                <a:latin typeface="Arial" panose="020B0604020202020204"/>
                <a:cs typeface="Arial" panose="020B0604020202020204"/>
              </a:endParaRPr>
            </a:p>
          </p:txBody>
        </p:sp>
        <p:sp>
          <p:nvSpPr>
            <p:cNvPr id="25" name="object 25"/>
            <p:cNvSpPr/>
            <p:nvPr/>
          </p:nvSpPr>
          <p:spPr>
            <a:xfrm>
              <a:off x="6692213" y="1481858"/>
              <a:ext cx="0" cy="2689860"/>
            </a:xfrm>
            <a:custGeom>
              <a:avLst/>
              <a:gdLst/>
              <a:ahLst/>
              <a:cxnLst/>
              <a:rect l="l" t="t" r="r" b="b"/>
              <a:pathLst>
                <a:path h="2689860">
                  <a:moveTo>
                    <a:pt x="0" y="0"/>
                  </a:moveTo>
                  <a:lnTo>
                    <a:pt x="0" y="2689504"/>
                  </a:lnTo>
                </a:path>
              </a:pathLst>
            </a:custGeom>
            <a:ln w="3175">
              <a:solidFill>
                <a:srgbClr val="000000"/>
              </a:solidFill>
              <a:prstDash val="sysDot"/>
            </a:ln>
          </p:spPr>
          <p:txBody>
            <a:bodyPr wrap="square" lIns="0" tIns="0" rIns="0" bIns="0" rtlCol="0"/>
            <a:lstStyle/>
            <a:p>
              <a:endParaRPr/>
            </a:p>
          </p:txBody>
        </p:sp>
        <p:sp>
          <p:nvSpPr>
            <p:cNvPr id="26" name="object 26"/>
            <p:cNvSpPr/>
            <p:nvPr/>
          </p:nvSpPr>
          <p:spPr>
            <a:xfrm>
              <a:off x="6692213" y="4371782"/>
              <a:ext cx="0" cy="2247265"/>
            </a:xfrm>
            <a:custGeom>
              <a:avLst/>
              <a:gdLst/>
              <a:ahLst/>
              <a:cxnLst/>
              <a:rect l="l" t="t" r="r" b="b"/>
              <a:pathLst>
                <a:path h="2247265">
                  <a:moveTo>
                    <a:pt x="0" y="0"/>
                  </a:moveTo>
                  <a:lnTo>
                    <a:pt x="0" y="2246675"/>
                  </a:lnTo>
                </a:path>
              </a:pathLst>
            </a:custGeom>
            <a:ln w="3175">
              <a:solidFill>
                <a:srgbClr val="000000"/>
              </a:solidFill>
              <a:prstDash val="sysDot"/>
            </a:ln>
          </p:spPr>
          <p:txBody>
            <a:bodyPr wrap="square" lIns="0" tIns="0" rIns="0" bIns="0" rtlCol="0"/>
            <a:lstStyle/>
            <a:p>
              <a:endParaRPr/>
            </a:p>
          </p:txBody>
        </p:sp>
        <p:sp>
          <p:nvSpPr>
            <p:cNvPr id="27" name="object 27"/>
            <p:cNvSpPr/>
            <p:nvPr/>
          </p:nvSpPr>
          <p:spPr>
            <a:xfrm>
              <a:off x="6626331" y="4171362"/>
              <a:ext cx="106045" cy="200660"/>
            </a:xfrm>
            <a:custGeom>
              <a:avLst/>
              <a:gdLst/>
              <a:ahLst/>
              <a:cxnLst/>
              <a:rect l="l" t="t" r="r" b="b"/>
              <a:pathLst>
                <a:path w="106045" h="200660">
                  <a:moveTo>
                    <a:pt x="0" y="200419"/>
                  </a:moveTo>
                  <a:lnTo>
                    <a:pt x="105479" y="200419"/>
                  </a:lnTo>
                  <a:lnTo>
                    <a:pt x="105479" y="0"/>
                  </a:lnTo>
                  <a:lnTo>
                    <a:pt x="0" y="0"/>
                  </a:lnTo>
                  <a:lnTo>
                    <a:pt x="0" y="200419"/>
                  </a:lnTo>
                  <a:close/>
                </a:path>
              </a:pathLst>
            </a:custGeom>
            <a:ln w="12655">
              <a:solidFill>
                <a:srgbClr val="990033"/>
              </a:solidFill>
            </a:ln>
          </p:spPr>
          <p:txBody>
            <a:bodyPr wrap="square" lIns="0" tIns="0" rIns="0" bIns="0" rtlCol="0"/>
            <a:lstStyle/>
            <a:p>
              <a:endParaRPr/>
            </a:p>
          </p:txBody>
        </p:sp>
        <p:sp>
          <p:nvSpPr>
            <p:cNvPr id="28" name="object 28"/>
            <p:cNvSpPr/>
            <p:nvPr/>
          </p:nvSpPr>
          <p:spPr>
            <a:xfrm>
              <a:off x="7442676" y="1038970"/>
              <a:ext cx="1250950" cy="433070"/>
            </a:xfrm>
            <a:custGeom>
              <a:avLst/>
              <a:gdLst/>
              <a:ahLst/>
              <a:cxnLst/>
              <a:rect l="l" t="t" r="r" b="b"/>
              <a:pathLst>
                <a:path w="1250950" h="433069">
                  <a:moveTo>
                    <a:pt x="0" y="432588"/>
                  </a:moveTo>
                  <a:lnTo>
                    <a:pt x="1250692" y="432588"/>
                  </a:lnTo>
                  <a:lnTo>
                    <a:pt x="1250692" y="0"/>
                  </a:lnTo>
                  <a:lnTo>
                    <a:pt x="0" y="0"/>
                  </a:lnTo>
                  <a:lnTo>
                    <a:pt x="0" y="432588"/>
                  </a:lnTo>
                  <a:close/>
                </a:path>
              </a:pathLst>
            </a:custGeom>
            <a:solidFill>
              <a:srgbClr val="FFFFCC"/>
            </a:solidFill>
          </p:spPr>
          <p:txBody>
            <a:bodyPr wrap="square" lIns="0" tIns="0" rIns="0" bIns="0" rtlCol="0"/>
            <a:lstStyle/>
            <a:p>
              <a:endParaRPr/>
            </a:p>
          </p:txBody>
        </p:sp>
        <p:sp>
          <p:nvSpPr>
            <p:cNvPr id="29" name="object 29"/>
            <p:cNvSpPr/>
            <p:nvPr/>
          </p:nvSpPr>
          <p:spPr>
            <a:xfrm>
              <a:off x="7442676" y="1038970"/>
              <a:ext cx="1250950" cy="433070"/>
            </a:xfrm>
            <a:custGeom>
              <a:avLst/>
              <a:gdLst/>
              <a:ahLst/>
              <a:cxnLst/>
              <a:rect l="l" t="t" r="r" b="b"/>
              <a:pathLst>
                <a:path w="1250950" h="433069">
                  <a:moveTo>
                    <a:pt x="0" y="432588"/>
                  </a:moveTo>
                  <a:lnTo>
                    <a:pt x="1250692" y="432588"/>
                  </a:lnTo>
                  <a:lnTo>
                    <a:pt x="1250692" y="0"/>
                  </a:lnTo>
                  <a:lnTo>
                    <a:pt x="0" y="0"/>
                  </a:lnTo>
                  <a:lnTo>
                    <a:pt x="0" y="432588"/>
                  </a:lnTo>
                  <a:close/>
                </a:path>
              </a:pathLst>
            </a:custGeom>
            <a:ln w="10862">
              <a:solidFill>
                <a:srgbClr val="990033"/>
              </a:solidFill>
            </a:ln>
          </p:spPr>
          <p:txBody>
            <a:bodyPr wrap="square" lIns="0" tIns="0" rIns="0" bIns="0" rtlCol="0"/>
            <a:lstStyle/>
            <a:p>
              <a:endParaRPr/>
            </a:p>
          </p:txBody>
        </p:sp>
        <p:sp>
          <p:nvSpPr>
            <p:cNvPr id="30" name="object 30"/>
            <p:cNvSpPr txBox="1"/>
            <p:nvPr/>
          </p:nvSpPr>
          <p:spPr>
            <a:xfrm>
              <a:off x="7548268" y="1036841"/>
              <a:ext cx="1056005" cy="227965"/>
            </a:xfrm>
            <a:prstGeom prst="rect">
              <a:avLst/>
            </a:prstGeom>
          </p:spPr>
          <p:txBody>
            <a:bodyPr vert="horz" wrap="square" lIns="0" tIns="15875" rIns="0" bIns="0" rtlCol="0">
              <a:spAutoFit/>
            </a:bodyPr>
            <a:lstStyle/>
            <a:p>
              <a:pPr marL="12700">
                <a:lnSpc>
                  <a:spcPct val="100000"/>
                </a:lnSpc>
                <a:spcBef>
                  <a:spcPts val="125"/>
                </a:spcBef>
              </a:pPr>
              <a:r>
                <a:rPr sz="1300" u="sng" spc="265" dirty="0">
                  <a:uFill>
                    <a:solidFill>
                      <a:srgbClr val="000000"/>
                    </a:solidFill>
                  </a:uFill>
                  <a:latin typeface="Arial" panose="020B0604020202020204"/>
                  <a:cs typeface="Arial" panose="020B0604020202020204"/>
                </a:rPr>
                <a:t>M</a:t>
              </a:r>
              <a:r>
                <a:rPr sz="1300" u="sng" spc="204" dirty="0">
                  <a:uFill>
                    <a:solidFill>
                      <a:srgbClr val="000000"/>
                    </a:solidFill>
                  </a:uFill>
                  <a:latin typeface="Arial" panose="020B0604020202020204"/>
                  <a:cs typeface="Arial" panose="020B0604020202020204"/>
                </a:rPr>
                <a:t>e</a:t>
              </a:r>
              <a:r>
                <a:rPr sz="1300" u="sng" spc="180" dirty="0">
                  <a:uFill>
                    <a:solidFill>
                      <a:srgbClr val="000000"/>
                    </a:solidFill>
                  </a:uFill>
                  <a:latin typeface="Arial" panose="020B0604020202020204"/>
                  <a:cs typeface="Arial" panose="020B0604020202020204"/>
                </a:rPr>
                <a:t>ss</a:t>
              </a:r>
              <a:r>
                <a:rPr sz="1300" u="sng" spc="204" dirty="0">
                  <a:uFill>
                    <a:solidFill>
                      <a:srgbClr val="000000"/>
                    </a:solidFill>
                  </a:uFill>
                  <a:latin typeface="Arial" panose="020B0604020202020204"/>
                  <a:cs typeface="Arial" panose="020B0604020202020204"/>
                </a:rPr>
                <a:t>e</a:t>
              </a:r>
              <a:r>
                <a:rPr sz="1300" u="sng" spc="105" dirty="0">
                  <a:uFill>
                    <a:solidFill>
                      <a:srgbClr val="000000"/>
                    </a:solidFill>
                  </a:uFill>
                  <a:latin typeface="Arial" panose="020B0604020202020204"/>
                  <a:cs typeface="Arial" panose="020B0604020202020204"/>
                </a:rPr>
                <a:t>n</a:t>
              </a:r>
              <a:r>
                <a:rPr sz="1300" u="sng" spc="204" dirty="0">
                  <a:uFill>
                    <a:solidFill>
                      <a:srgbClr val="000000"/>
                    </a:solidFill>
                  </a:uFill>
                  <a:latin typeface="Arial" panose="020B0604020202020204"/>
                  <a:cs typeface="Arial" panose="020B0604020202020204"/>
                </a:rPr>
                <a:t>ge</a:t>
              </a:r>
              <a:r>
                <a:rPr sz="1300" u="sng" spc="120" dirty="0">
                  <a:uFill>
                    <a:solidFill>
                      <a:srgbClr val="000000"/>
                    </a:solidFill>
                  </a:uFill>
                  <a:latin typeface="Arial" panose="020B0604020202020204"/>
                  <a:cs typeface="Arial" panose="020B0604020202020204"/>
                </a:rPr>
                <a:t>r</a:t>
              </a:r>
              <a:endParaRPr sz="1300" dirty="0">
                <a:latin typeface="Arial" panose="020B0604020202020204"/>
                <a:cs typeface="Arial" panose="020B0604020202020204"/>
              </a:endParaRPr>
            </a:p>
          </p:txBody>
        </p:sp>
        <p:sp>
          <p:nvSpPr>
            <p:cNvPr id="31" name="object 31"/>
            <p:cNvSpPr/>
            <p:nvPr/>
          </p:nvSpPr>
          <p:spPr>
            <a:xfrm>
              <a:off x="8074404" y="1481858"/>
              <a:ext cx="0" cy="4018915"/>
            </a:xfrm>
            <a:custGeom>
              <a:avLst/>
              <a:gdLst/>
              <a:ahLst/>
              <a:cxnLst/>
              <a:rect l="l" t="t" r="r" b="b"/>
              <a:pathLst>
                <a:path h="4018915">
                  <a:moveTo>
                    <a:pt x="0" y="0"/>
                  </a:moveTo>
                  <a:lnTo>
                    <a:pt x="0" y="4018405"/>
                  </a:lnTo>
                </a:path>
              </a:pathLst>
            </a:custGeom>
            <a:ln w="3175">
              <a:solidFill>
                <a:srgbClr val="000000"/>
              </a:solidFill>
              <a:prstDash val="sysDot"/>
            </a:ln>
          </p:spPr>
          <p:txBody>
            <a:bodyPr wrap="square" lIns="0" tIns="0" rIns="0" bIns="0" rtlCol="0"/>
            <a:lstStyle/>
            <a:p>
              <a:endParaRPr/>
            </a:p>
          </p:txBody>
        </p:sp>
        <p:sp>
          <p:nvSpPr>
            <p:cNvPr id="32" name="object 32"/>
            <p:cNvSpPr/>
            <p:nvPr/>
          </p:nvSpPr>
          <p:spPr>
            <a:xfrm>
              <a:off x="8074404" y="5690111"/>
              <a:ext cx="0" cy="928369"/>
            </a:xfrm>
            <a:custGeom>
              <a:avLst/>
              <a:gdLst/>
              <a:ahLst/>
              <a:cxnLst/>
              <a:rect l="l" t="t" r="r" b="b"/>
              <a:pathLst>
                <a:path h="928370">
                  <a:moveTo>
                    <a:pt x="0" y="0"/>
                  </a:moveTo>
                  <a:lnTo>
                    <a:pt x="0" y="928346"/>
                  </a:lnTo>
                </a:path>
              </a:pathLst>
            </a:custGeom>
            <a:ln w="3175">
              <a:solidFill>
                <a:srgbClr val="000000"/>
              </a:solidFill>
              <a:prstDash val="sysDot"/>
            </a:ln>
          </p:spPr>
          <p:txBody>
            <a:bodyPr wrap="square" lIns="0" tIns="0" rIns="0" bIns="0" rtlCol="0"/>
            <a:lstStyle/>
            <a:p>
              <a:endParaRPr/>
            </a:p>
          </p:txBody>
        </p:sp>
        <p:sp>
          <p:nvSpPr>
            <p:cNvPr id="33" name="object 33"/>
            <p:cNvSpPr/>
            <p:nvPr/>
          </p:nvSpPr>
          <p:spPr>
            <a:xfrm>
              <a:off x="8008670" y="5500263"/>
              <a:ext cx="118745" cy="189865"/>
            </a:xfrm>
            <a:custGeom>
              <a:avLst/>
              <a:gdLst/>
              <a:ahLst/>
              <a:cxnLst/>
              <a:rect l="l" t="t" r="r" b="b"/>
              <a:pathLst>
                <a:path w="118745" h="189864">
                  <a:moveTo>
                    <a:pt x="0" y="189848"/>
                  </a:moveTo>
                  <a:lnTo>
                    <a:pt x="118710" y="189848"/>
                  </a:lnTo>
                  <a:lnTo>
                    <a:pt x="118710" y="0"/>
                  </a:lnTo>
                  <a:lnTo>
                    <a:pt x="0" y="0"/>
                  </a:lnTo>
                  <a:lnTo>
                    <a:pt x="0" y="189848"/>
                  </a:lnTo>
                  <a:close/>
                </a:path>
              </a:pathLst>
            </a:custGeom>
            <a:ln w="12485">
              <a:solidFill>
                <a:srgbClr val="990033"/>
              </a:solidFill>
            </a:ln>
          </p:spPr>
          <p:txBody>
            <a:bodyPr wrap="square" lIns="0" tIns="0" rIns="0" bIns="0" rtlCol="0"/>
            <a:lstStyle/>
            <a:p>
              <a:endParaRPr/>
            </a:p>
          </p:txBody>
        </p:sp>
        <p:sp>
          <p:nvSpPr>
            <p:cNvPr id="34" name="object 34"/>
            <p:cNvSpPr/>
            <p:nvPr/>
          </p:nvSpPr>
          <p:spPr>
            <a:xfrm>
              <a:off x="4032742" y="3127239"/>
              <a:ext cx="1198245" cy="53340"/>
            </a:xfrm>
            <a:custGeom>
              <a:avLst/>
              <a:gdLst/>
              <a:ahLst/>
              <a:cxnLst/>
              <a:rect l="l" t="t" r="r" b="b"/>
              <a:pathLst>
                <a:path w="1198245" h="53339">
                  <a:moveTo>
                    <a:pt x="0" y="0"/>
                  </a:moveTo>
                  <a:lnTo>
                    <a:pt x="1198075" y="0"/>
                  </a:lnTo>
                  <a:lnTo>
                    <a:pt x="1053283" y="52916"/>
                  </a:lnTo>
                </a:path>
              </a:pathLst>
            </a:custGeom>
            <a:ln w="10584">
              <a:solidFill>
                <a:srgbClr val="990033"/>
              </a:solidFill>
            </a:ln>
          </p:spPr>
          <p:txBody>
            <a:bodyPr wrap="square" lIns="0" tIns="0" rIns="0" bIns="0" rtlCol="0"/>
            <a:lstStyle/>
            <a:p>
              <a:endParaRPr/>
            </a:p>
          </p:txBody>
        </p:sp>
        <p:sp>
          <p:nvSpPr>
            <p:cNvPr id="35" name="object 35"/>
            <p:cNvSpPr/>
            <p:nvPr/>
          </p:nvSpPr>
          <p:spPr>
            <a:xfrm>
              <a:off x="5086025" y="3074560"/>
              <a:ext cx="145415" cy="52705"/>
            </a:xfrm>
            <a:custGeom>
              <a:avLst/>
              <a:gdLst/>
              <a:ahLst/>
              <a:cxnLst/>
              <a:rect l="l" t="t" r="r" b="b"/>
              <a:pathLst>
                <a:path w="145414" h="52705">
                  <a:moveTo>
                    <a:pt x="144792" y="52679"/>
                  </a:moveTo>
                  <a:lnTo>
                    <a:pt x="0" y="0"/>
                  </a:lnTo>
                </a:path>
              </a:pathLst>
            </a:custGeom>
            <a:ln w="10889">
              <a:solidFill>
                <a:srgbClr val="990033"/>
              </a:solidFill>
            </a:ln>
          </p:spPr>
          <p:txBody>
            <a:bodyPr wrap="square" lIns="0" tIns="0" rIns="0" bIns="0" rtlCol="0"/>
            <a:lstStyle/>
            <a:p>
              <a:endParaRPr/>
            </a:p>
          </p:txBody>
        </p:sp>
        <p:sp>
          <p:nvSpPr>
            <p:cNvPr id="36" name="object 36"/>
            <p:cNvSpPr txBox="1"/>
            <p:nvPr/>
          </p:nvSpPr>
          <p:spPr>
            <a:xfrm>
              <a:off x="4059364" y="2850916"/>
              <a:ext cx="1160780" cy="227965"/>
            </a:xfrm>
            <a:prstGeom prst="rect">
              <a:avLst/>
            </a:prstGeom>
          </p:spPr>
          <p:txBody>
            <a:bodyPr vert="horz" wrap="square" lIns="0" tIns="15875" rIns="0" bIns="0" rtlCol="0">
              <a:spAutoFit/>
            </a:bodyPr>
            <a:lstStyle/>
            <a:p>
              <a:pPr marL="12700">
                <a:lnSpc>
                  <a:spcPct val="100000"/>
                </a:lnSpc>
                <a:spcBef>
                  <a:spcPts val="125"/>
                </a:spcBef>
              </a:pPr>
              <a:r>
                <a:rPr sz="1300" spc="150" dirty="0">
                  <a:latin typeface="Arial" panose="020B0604020202020204"/>
                  <a:cs typeface="Arial" panose="020B0604020202020204"/>
                </a:rPr>
                <a:t>1:</a:t>
              </a:r>
              <a:r>
                <a:rPr sz="1300" spc="-65" dirty="0">
                  <a:latin typeface="Arial" panose="020B0604020202020204"/>
                  <a:cs typeface="Arial" panose="020B0604020202020204"/>
                </a:rPr>
                <a:t> </a:t>
              </a:r>
              <a:r>
                <a:rPr sz="1300" spc="145" dirty="0">
                  <a:latin typeface="Arial" panose="020B0604020202020204"/>
                  <a:cs typeface="Arial" panose="020B0604020202020204"/>
                </a:rPr>
                <a:t>dispatch()</a:t>
              </a:r>
              <a:endParaRPr sz="1300">
                <a:latin typeface="Arial" panose="020B0604020202020204"/>
                <a:cs typeface="Arial" panose="020B0604020202020204"/>
              </a:endParaRPr>
            </a:p>
          </p:txBody>
        </p:sp>
        <p:sp>
          <p:nvSpPr>
            <p:cNvPr id="37" name="object 37"/>
            <p:cNvSpPr/>
            <p:nvPr/>
          </p:nvSpPr>
          <p:spPr>
            <a:xfrm>
              <a:off x="4032742" y="4171362"/>
              <a:ext cx="2593975" cy="53340"/>
            </a:xfrm>
            <a:custGeom>
              <a:avLst/>
              <a:gdLst/>
              <a:ahLst/>
              <a:cxnLst/>
              <a:rect l="l" t="t" r="r" b="b"/>
              <a:pathLst>
                <a:path w="2593975" h="53339">
                  <a:moveTo>
                    <a:pt x="0" y="0"/>
                  </a:moveTo>
                  <a:lnTo>
                    <a:pt x="2593589" y="0"/>
                  </a:lnTo>
                  <a:lnTo>
                    <a:pt x="2435621" y="52916"/>
                  </a:lnTo>
                </a:path>
              </a:pathLst>
            </a:custGeom>
            <a:ln w="10580">
              <a:solidFill>
                <a:srgbClr val="990033"/>
              </a:solidFill>
            </a:ln>
          </p:spPr>
          <p:txBody>
            <a:bodyPr wrap="square" lIns="0" tIns="0" rIns="0" bIns="0" rtlCol="0"/>
            <a:lstStyle/>
            <a:p>
              <a:endParaRPr/>
            </a:p>
          </p:txBody>
        </p:sp>
        <p:sp>
          <p:nvSpPr>
            <p:cNvPr id="38" name="object 38"/>
            <p:cNvSpPr/>
            <p:nvPr/>
          </p:nvSpPr>
          <p:spPr>
            <a:xfrm>
              <a:off x="6468363" y="4129337"/>
              <a:ext cx="158115" cy="42545"/>
            </a:xfrm>
            <a:custGeom>
              <a:avLst/>
              <a:gdLst/>
              <a:ahLst/>
              <a:cxnLst/>
              <a:rect l="l" t="t" r="r" b="b"/>
              <a:pathLst>
                <a:path w="158115" h="42545">
                  <a:moveTo>
                    <a:pt x="157968" y="42025"/>
                  </a:moveTo>
                  <a:lnTo>
                    <a:pt x="0" y="0"/>
                  </a:lnTo>
                </a:path>
              </a:pathLst>
            </a:custGeom>
            <a:ln w="10754">
              <a:solidFill>
                <a:srgbClr val="990033"/>
              </a:solidFill>
            </a:ln>
          </p:spPr>
          <p:txBody>
            <a:bodyPr wrap="square" lIns="0" tIns="0" rIns="0" bIns="0" rtlCol="0"/>
            <a:lstStyle/>
            <a:p>
              <a:endParaRPr/>
            </a:p>
          </p:txBody>
        </p:sp>
        <p:sp>
          <p:nvSpPr>
            <p:cNvPr id="39" name="object 39"/>
            <p:cNvSpPr txBox="1"/>
            <p:nvPr/>
          </p:nvSpPr>
          <p:spPr>
            <a:xfrm>
              <a:off x="4744063" y="3895039"/>
              <a:ext cx="1160780" cy="227965"/>
            </a:xfrm>
            <a:prstGeom prst="rect">
              <a:avLst/>
            </a:prstGeom>
          </p:spPr>
          <p:txBody>
            <a:bodyPr vert="horz" wrap="square" lIns="0" tIns="15875" rIns="0" bIns="0" rtlCol="0">
              <a:spAutoFit/>
            </a:bodyPr>
            <a:lstStyle/>
            <a:p>
              <a:pPr marL="12700">
                <a:lnSpc>
                  <a:spcPct val="100000"/>
                </a:lnSpc>
                <a:spcBef>
                  <a:spcPts val="125"/>
                </a:spcBef>
              </a:pPr>
              <a:r>
                <a:rPr sz="1300" spc="150" dirty="0">
                  <a:latin typeface="Arial" panose="020B0604020202020204"/>
                  <a:cs typeface="Arial" panose="020B0604020202020204"/>
                </a:rPr>
                <a:t>2:</a:t>
              </a:r>
              <a:r>
                <a:rPr sz="1300" spc="-65" dirty="0">
                  <a:latin typeface="Arial" panose="020B0604020202020204"/>
                  <a:cs typeface="Arial" panose="020B0604020202020204"/>
                </a:rPr>
                <a:t> </a:t>
              </a:r>
              <a:r>
                <a:rPr sz="1300" spc="145" dirty="0">
                  <a:latin typeface="Arial" panose="020B0604020202020204"/>
                  <a:cs typeface="Arial" panose="020B0604020202020204"/>
                </a:rPr>
                <a:t>dispatch()</a:t>
              </a:r>
              <a:endParaRPr sz="1300">
                <a:latin typeface="Arial" panose="020B0604020202020204"/>
                <a:cs typeface="Arial" panose="020B0604020202020204"/>
              </a:endParaRPr>
            </a:p>
          </p:txBody>
        </p:sp>
        <p:sp>
          <p:nvSpPr>
            <p:cNvPr id="40" name="object 40"/>
            <p:cNvSpPr/>
            <p:nvPr/>
          </p:nvSpPr>
          <p:spPr>
            <a:xfrm>
              <a:off x="4032742" y="5500311"/>
              <a:ext cx="3976370" cy="53340"/>
            </a:xfrm>
            <a:custGeom>
              <a:avLst/>
              <a:gdLst/>
              <a:ahLst/>
              <a:cxnLst/>
              <a:rect l="l" t="t" r="r" b="b"/>
              <a:pathLst>
                <a:path w="3976370" h="53339">
                  <a:moveTo>
                    <a:pt x="0" y="0"/>
                  </a:moveTo>
                  <a:lnTo>
                    <a:pt x="3975927" y="0"/>
                  </a:lnTo>
                  <a:lnTo>
                    <a:pt x="3817811" y="52798"/>
                  </a:lnTo>
                </a:path>
              </a:pathLst>
            </a:custGeom>
            <a:ln w="10579">
              <a:solidFill>
                <a:srgbClr val="990033"/>
              </a:solidFill>
            </a:ln>
          </p:spPr>
          <p:txBody>
            <a:bodyPr wrap="square" lIns="0" tIns="0" rIns="0" bIns="0" rtlCol="0"/>
            <a:lstStyle/>
            <a:p>
              <a:endParaRPr/>
            </a:p>
          </p:txBody>
        </p:sp>
        <p:sp>
          <p:nvSpPr>
            <p:cNvPr id="41" name="object 41"/>
            <p:cNvSpPr/>
            <p:nvPr/>
          </p:nvSpPr>
          <p:spPr>
            <a:xfrm>
              <a:off x="7850553" y="5447631"/>
              <a:ext cx="158115" cy="52705"/>
            </a:xfrm>
            <a:custGeom>
              <a:avLst/>
              <a:gdLst/>
              <a:ahLst/>
              <a:cxnLst/>
              <a:rect l="l" t="t" r="r" b="b"/>
              <a:pathLst>
                <a:path w="158115" h="52704">
                  <a:moveTo>
                    <a:pt x="158116" y="52679"/>
                  </a:moveTo>
                  <a:lnTo>
                    <a:pt x="0" y="0"/>
                  </a:lnTo>
                </a:path>
              </a:pathLst>
            </a:custGeom>
            <a:ln w="10844">
              <a:solidFill>
                <a:srgbClr val="990033"/>
              </a:solidFill>
            </a:ln>
          </p:spPr>
          <p:txBody>
            <a:bodyPr wrap="square" lIns="0" tIns="0" rIns="0" bIns="0" rtlCol="0"/>
            <a:lstStyle/>
            <a:p>
              <a:endParaRPr/>
            </a:p>
          </p:txBody>
        </p:sp>
        <p:sp>
          <p:nvSpPr>
            <p:cNvPr id="42" name="object 42"/>
            <p:cNvSpPr txBox="1"/>
            <p:nvPr/>
          </p:nvSpPr>
          <p:spPr>
            <a:xfrm>
              <a:off x="5494525" y="5223988"/>
              <a:ext cx="1056005" cy="227965"/>
            </a:xfrm>
            <a:prstGeom prst="rect">
              <a:avLst/>
            </a:prstGeom>
          </p:spPr>
          <p:txBody>
            <a:bodyPr vert="horz" wrap="square" lIns="0" tIns="15875" rIns="0" bIns="0" rtlCol="0">
              <a:spAutoFit/>
            </a:bodyPr>
            <a:lstStyle/>
            <a:p>
              <a:pPr marL="12700">
                <a:lnSpc>
                  <a:spcPct val="100000"/>
                </a:lnSpc>
                <a:spcBef>
                  <a:spcPts val="125"/>
                </a:spcBef>
              </a:pPr>
              <a:r>
                <a:rPr sz="1300" spc="150" dirty="0">
                  <a:latin typeface="Arial" panose="020B0604020202020204"/>
                  <a:cs typeface="Arial" panose="020B0604020202020204"/>
                </a:rPr>
                <a:t>3:</a:t>
              </a:r>
              <a:r>
                <a:rPr sz="1300" spc="-70" dirty="0">
                  <a:latin typeface="Arial" panose="020B0604020202020204"/>
                  <a:cs typeface="Arial" panose="020B0604020202020204"/>
                </a:rPr>
                <a:t> </a:t>
              </a:r>
              <a:r>
                <a:rPr sz="1300" spc="135" dirty="0">
                  <a:latin typeface="Arial" panose="020B0604020202020204"/>
                  <a:cs typeface="Arial" panose="020B0604020202020204"/>
                </a:rPr>
                <a:t>confirm()</a:t>
              </a:r>
              <a:endParaRPr sz="1300">
                <a:latin typeface="Arial" panose="020B0604020202020204"/>
                <a:cs typeface="Arial" panose="020B0604020202020204"/>
              </a:endParaRPr>
            </a:p>
          </p:txBody>
        </p:sp>
        <p:sp>
          <p:nvSpPr>
            <p:cNvPr id="43" name="object 43"/>
            <p:cNvSpPr txBox="1"/>
            <p:nvPr/>
          </p:nvSpPr>
          <p:spPr>
            <a:xfrm>
              <a:off x="2930063" y="1629642"/>
              <a:ext cx="810895"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Calibri" panose="020F0502020204030204"/>
                  <a:cs typeface="Calibri" panose="020F0502020204030204"/>
                </a:rPr>
                <a:t>dispatch</a:t>
              </a:r>
              <a:endParaRPr sz="1800">
                <a:latin typeface="Calibri" panose="020F0502020204030204"/>
                <a:cs typeface="Calibri" panose="020F0502020204030204"/>
              </a:endParaRPr>
            </a:p>
          </p:txBody>
        </p:sp>
        <p:sp>
          <p:nvSpPr>
            <p:cNvPr id="44" name="object 44"/>
            <p:cNvSpPr/>
            <p:nvPr/>
          </p:nvSpPr>
          <p:spPr>
            <a:xfrm>
              <a:off x="2465832" y="1916832"/>
              <a:ext cx="1660525" cy="0"/>
            </a:xfrm>
            <a:custGeom>
              <a:avLst/>
              <a:gdLst/>
              <a:ahLst/>
              <a:cxnLst/>
              <a:rect l="l" t="t" r="r" b="b"/>
              <a:pathLst>
                <a:path w="1660525">
                  <a:moveTo>
                    <a:pt x="0" y="0"/>
                  </a:moveTo>
                  <a:lnTo>
                    <a:pt x="1660524" y="0"/>
                  </a:lnTo>
                </a:path>
              </a:pathLst>
            </a:custGeom>
            <a:ln w="9524">
              <a:solidFill>
                <a:srgbClr val="000000"/>
              </a:solidFill>
            </a:ln>
          </p:spPr>
          <p:txBody>
            <a:bodyPr wrap="square" lIns="0" tIns="0" rIns="0" bIns="0" rtlCol="0"/>
            <a:lstStyle/>
            <a:p>
              <a:endParaRPr/>
            </a:p>
          </p:txBody>
        </p:sp>
        <p:sp>
          <p:nvSpPr>
            <p:cNvPr id="45" name="object 45"/>
            <p:cNvSpPr/>
            <p:nvPr/>
          </p:nvSpPr>
          <p:spPr>
            <a:xfrm>
              <a:off x="4075557" y="1878732"/>
              <a:ext cx="76200" cy="76200"/>
            </a:xfrm>
            <a:custGeom>
              <a:avLst/>
              <a:gdLst/>
              <a:ahLst/>
              <a:cxnLst/>
              <a:rect l="l" t="t" r="r" b="b"/>
              <a:pathLst>
                <a:path w="76200" h="76200">
                  <a:moveTo>
                    <a:pt x="0" y="0"/>
                  </a:moveTo>
                  <a:lnTo>
                    <a:pt x="0" y="76200"/>
                  </a:lnTo>
                  <a:lnTo>
                    <a:pt x="76200" y="38100"/>
                  </a:lnTo>
                  <a:lnTo>
                    <a:pt x="0" y="0"/>
                  </a:lnTo>
                  <a:close/>
                </a:path>
              </a:pathLst>
            </a:custGeom>
            <a:solidFill>
              <a:srgbClr val="000000"/>
            </a:solidFill>
          </p:spPr>
          <p:txBody>
            <a:bodyPr wrap="square" lIns="0" tIns="0" rIns="0" bIns="0" rtlCol="0"/>
            <a:lstStyle/>
            <a:p>
              <a:endParaRPr/>
            </a:p>
          </p:txBody>
        </p:sp>
        <p:sp>
          <p:nvSpPr>
            <p:cNvPr id="46" name="object 46"/>
            <p:cNvSpPr/>
            <p:nvPr/>
          </p:nvSpPr>
          <p:spPr>
            <a:xfrm>
              <a:off x="1582967" y="2112913"/>
              <a:ext cx="9026525" cy="2660650"/>
            </a:xfrm>
            <a:custGeom>
              <a:avLst/>
              <a:gdLst/>
              <a:ahLst/>
              <a:cxnLst/>
              <a:rect l="l" t="t" r="r" b="b"/>
              <a:pathLst>
                <a:path w="9026525" h="2660650">
                  <a:moveTo>
                    <a:pt x="0" y="0"/>
                  </a:moveTo>
                  <a:lnTo>
                    <a:pt x="9026292" y="0"/>
                  </a:lnTo>
                  <a:lnTo>
                    <a:pt x="9026292" y="2660615"/>
                  </a:lnTo>
                  <a:lnTo>
                    <a:pt x="0" y="2660615"/>
                  </a:lnTo>
                  <a:lnTo>
                    <a:pt x="0" y="0"/>
                  </a:lnTo>
                  <a:close/>
                </a:path>
              </a:pathLst>
            </a:custGeom>
            <a:ln w="9524">
              <a:solidFill>
                <a:srgbClr val="000000"/>
              </a:solidFill>
            </a:ln>
          </p:spPr>
          <p:txBody>
            <a:bodyPr wrap="square" lIns="0" tIns="0" rIns="0" bIns="0" rtlCol="0"/>
            <a:lstStyle/>
            <a:p>
              <a:endParaRPr/>
            </a:p>
          </p:txBody>
        </p:sp>
        <p:sp>
          <p:nvSpPr>
            <p:cNvPr id="47" name="object 47"/>
            <p:cNvSpPr/>
            <p:nvPr/>
          </p:nvSpPr>
          <p:spPr>
            <a:xfrm>
              <a:off x="2625439" y="2535676"/>
              <a:ext cx="886460" cy="302895"/>
            </a:xfrm>
            <a:custGeom>
              <a:avLst/>
              <a:gdLst/>
              <a:ahLst/>
              <a:cxnLst/>
              <a:rect l="l" t="t" r="r" b="b"/>
              <a:pathLst>
                <a:path w="886460" h="302894">
                  <a:moveTo>
                    <a:pt x="0" y="0"/>
                  </a:moveTo>
                  <a:lnTo>
                    <a:pt x="886004" y="0"/>
                  </a:lnTo>
                  <a:lnTo>
                    <a:pt x="886004" y="302736"/>
                  </a:lnTo>
                  <a:lnTo>
                    <a:pt x="0" y="302736"/>
                  </a:lnTo>
                  <a:lnTo>
                    <a:pt x="0" y="0"/>
                  </a:lnTo>
                  <a:close/>
                </a:path>
              </a:pathLst>
            </a:custGeom>
            <a:ln w="9524">
              <a:solidFill>
                <a:srgbClr val="000000"/>
              </a:solidFill>
            </a:ln>
          </p:spPr>
          <p:txBody>
            <a:bodyPr wrap="square" lIns="0" tIns="0" rIns="0" bIns="0" rtlCol="0"/>
            <a:lstStyle/>
            <a:p>
              <a:endParaRPr/>
            </a:p>
          </p:txBody>
        </p:sp>
        <p:sp>
          <p:nvSpPr>
            <p:cNvPr id="48" name="object 48"/>
            <p:cNvSpPr txBox="1"/>
            <p:nvPr/>
          </p:nvSpPr>
          <p:spPr>
            <a:xfrm>
              <a:off x="2932779" y="2537185"/>
              <a:ext cx="26416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panose="020F0502020204030204"/>
                  <a:cs typeface="Calibri" panose="020F0502020204030204"/>
                </a:rPr>
                <a:t>alt</a:t>
              </a:r>
              <a:endParaRPr sz="1800">
                <a:latin typeface="Calibri" panose="020F0502020204030204"/>
                <a:cs typeface="Calibri" panose="020F0502020204030204"/>
              </a:endParaRPr>
            </a:p>
          </p:txBody>
        </p:sp>
        <p:sp>
          <p:nvSpPr>
            <p:cNvPr id="49" name="object 49"/>
            <p:cNvSpPr/>
            <p:nvPr/>
          </p:nvSpPr>
          <p:spPr>
            <a:xfrm>
              <a:off x="3336913" y="2712275"/>
              <a:ext cx="177800" cy="131445"/>
            </a:xfrm>
            <a:custGeom>
              <a:avLst/>
              <a:gdLst/>
              <a:ahLst/>
              <a:cxnLst/>
              <a:rect l="l" t="t" r="r" b="b"/>
              <a:pathLst>
                <a:path w="177800" h="131444">
                  <a:moveTo>
                    <a:pt x="177716" y="121180"/>
                  </a:moveTo>
                  <a:lnTo>
                    <a:pt x="0" y="130914"/>
                  </a:lnTo>
                  <a:lnTo>
                    <a:pt x="171079" y="0"/>
                  </a:lnTo>
                  <a:lnTo>
                    <a:pt x="177716" y="121180"/>
                  </a:lnTo>
                  <a:close/>
                </a:path>
              </a:pathLst>
            </a:custGeom>
            <a:ln w="9524">
              <a:solidFill>
                <a:srgbClr val="FFFFFF"/>
              </a:solidFill>
            </a:ln>
          </p:spPr>
          <p:txBody>
            <a:bodyPr wrap="square" lIns="0" tIns="0" rIns="0" bIns="0" rtlCol="0"/>
            <a:lstStyle/>
            <a:p>
              <a:endParaRPr/>
            </a:p>
          </p:txBody>
        </p:sp>
        <p:sp>
          <p:nvSpPr>
            <p:cNvPr id="50" name="object 50"/>
            <p:cNvSpPr/>
            <p:nvPr/>
          </p:nvSpPr>
          <p:spPr>
            <a:xfrm>
              <a:off x="3333460" y="2717052"/>
              <a:ext cx="178435" cy="121920"/>
            </a:xfrm>
            <a:custGeom>
              <a:avLst/>
              <a:gdLst/>
              <a:ahLst/>
              <a:cxnLst/>
              <a:rect l="l" t="t" r="r" b="b"/>
              <a:pathLst>
                <a:path w="178435" h="121919">
                  <a:moveTo>
                    <a:pt x="0" y="121361"/>
                  </a:moveTo>
                  <a:lnTo>
                    <a:pt x="177982" y="0"/>
                  </a:lnTo>
                </a:path>
              </a:pathLst>
            </a:custGeom>
            <a:ln w="9524">
              <a:solidFill>
                <a:srgbClr val="000000"/>
              </a:solidFill>
            </a:ln>
          </p:spPr>
          <p:txBody>
            <a:bodyPr wrap="square" lIns="0" tIns="0" rIns="0" bIns="0" rtlCol="0"/>
            <a:lstStyle/>
            <a:p>
              <a:endParaRPr/>
            </a:p>
          </p:txBody>
        </p:sp>
        <p:sp>
          <p:nvSpPr>
            <p:cNvPr id="51" name="object 51"/>
            <p:cNvSpPr/>
            <p:nvPr/>
          </p:nvSpPr>
          <p:spPr>
            <a:xfrm>
              <a:off x="1582967" y="2112912"/>
              <a:ext cx="687070" cy="302895"/>
            </a:xfrm>
            <a:custGeom>
              <a:avLst/>
              <a:gdLst/>
              <a:ahLst/>
              <a:cxnLst/>
              <a:rect l="l" t="t" r="r" b="b"/>
              <a:pathLst>
                <a:path w="687069" h="302894">
                  <a:moveTo>
                    <a:pt x="0" y="0"/>
                  </a:moveTo>
                  <a:lnTo>
                    <a:pt x="686506" y="0"/>
                  </a:lnTo>
                  <a:lnTo>
                    <a:pt x="686506" y="302736"/>
                  </a:lnTo>
                  <a:lnTo>
                    <a:pt x="0" y="302736"/>
                  </a:lnTo>
                  <a:lnTo>
                    <a:pt x="0" y="0"/>
                  </a:lnTo>
                  <a:close/>
                </a:path>
              </a:pathLst>
            </a:custGeom>
            <a:solidFill>
              <a:srgbClr val="FFFFFF"/>
            </a:solidFill>
          </p:spPr>
          <p:txBody>
            <a:bodyPr wrap="square" lIns="0" tIns="0" rIns="0" bIns="0" rtlCol="0"/>
            <a:lstStyle/>
            <a:p>
              <a:endParaRPr/>
            </a:p>
          </p:txBody>
        </p:sp>
        <p:sp>
          <p:nvSpPr>
            <p:cNvPr id="52" name="object 52"/>
            <p:cNvSpPr/>
            <p:nvPr/>
          </p:nvSpPr>
          <p:spPr>
            <a:xfrm>
              <a:off x="1582967" y="2112913"/>
              <a:ext cx="687070" cy="302895"/>
            </a:xfrm>
            <a:custGeom>
              <a:avLst/>
              <a:gdLst/>
              <a:ahLst/>
              <a:cxnLst/>
              <a:rect l="l" t="t" r="r" b="b"/>
              <a:pathLst>
                <a:path w="687069" h="302894">
                  <a:moveTo>
                    <a:pt x="0" y="0"/>
                  </a:moveTo>
                  <a:lnTo>
                    <a:pt x="686506" y="0"/>
                  </a:lnTo>
                  <a:lnTo>
                    <a:pt x="686506" y="302736"/>
                  </a:lnTo>
                  <a:lnTo>
                    <a:pt x="0" y="302736"/>
                  </a:lnTo>
                  <a:lnTo>
                    <a:pt x="0" y="0"/>
                  </a:lnTo>
                  <a:close/>
                </a:path>
              </a:pathLst>
            </a:custGeom>
            <a:ln w="9524">
              <a:solidFill>
                <a:srgbClr val="000000"/>
              </a:solidFill>
            </a:ln>
          </p:spPr>
          <p:txBody>
            <a:bodyPr wrap="square" lIns="0" tIns="0" rIns="0" bIns="0" rtlCol="0"/>
            <a:lstStyle/>
            <a:p>
              <a:endParaRPr/>
            </a:p>
          </p:txBody>
        </p:sp>
        <p:sp>
          <p:nvSpPr>
            <p:cNvPr id="53" name="object 53"/>
            <p:cNvSpPr txBox="1"/>
            <p:nvPr/>
          </p:nvSpPr>
          <p:spPr>
            <a:xfrm>
              <a:off x="1712506" y="2114420"/>
              <a:ext cx="438784"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Calibri" panose="020F0502020204030204"/>
                  <a:cs typeface="Calibri" panose="020F0502020204030204"/>
                </a:rPr>
                <a:t>loop</a:t>
              </a:r>
              <a:endParaRPr sz="1800">
                <a:latin typeface="Calibri" panose="020F0502020204030204"/>
                <a:cs typeface="Calibri" panose="020F0502020204030204"/>
              </a:endParaRPr>
            </a:p>
          </p:txBody>
        </p:sp>
        <p:sp>
          <p:nvSpPr>
            <p:cNvPr id="54" name="object 54"/>
            <p:cNvSpPr/>
            <p:nvPr/>
          </p:nvSpPr>
          <p:spPr>
            <a:xfrm>
              <a:off x="2094942" y="2289511"/>
              <a:ext cx="177800" cy="131445"/>
            </a:xfrm>
            <a:custGeom>
              <a:avLst/>
              <a:gdLst/>
              <a:ahLst/>
              <a:cxnLst/>
              <a:rect l="l" t="t" r="r" b="b"/>
              <a:pathLst>
                <a:path w="177800" h="131444">
                  <a:moveTo>
                    <a:pt x="177716" y="121180"/>
                  </a:moveTo>
                  <a:lnTo>
                    <a:pt x="0" y="130914"/>
                  </a:lnTo>
                  <a:lnTo>
                    <a:pt x="171079" y="0"/>
                  </a:lnTo>
                  <a:lnTo>
                    <a:pt x="177716" y="121180"/>
                  </a:lnTo>
                  <a:close/>
                </a:path>
              </a:pathLst>
            </a:custGeom>
            <a:ln w="9524">
              <a:solidFill>
                <a:srgbClr val="FFFFFF"/>
              </a:solidFill>
            </a:ln>
          </p:spPr>
          <p:txBody>
            <a:bodyPr wrap="square" lIns="0" tIns="0" rIns="0" bIns="0" rtlCol="0"/>
            <a:lstStyle/>
            <a:p>
              <a:endParaRPr/>
            </a:p>
          </p:txBody>
        </p:sp>
        <p:sp>
          <p:nvSpPr>
            <p:cNvPr id="55" name="object 55"/>
            <p:cNvSpPr/>
            <p:nvPr/>
          </p:nvSpPr>
          <p:spPr>
            <a:xfrm>
              <a:off x="2091489" y="2294288"/>
              <a:ext cx="178435" cy="121920"/>
            </a:xfrm>
            <a:custGeom>
              <a:avLst/>
              <a:gdLst/>
              <a:ahLst/>
              <a:cxnLst/>
              <a:rect l="l" t="t" r="r" b="b"/>
              <a:pathLst>
                <a:path w="178435" h="121919">
                  <a:moveTo>
                    <a:pt x="0" y="121361"/>
                  </a:moveTo>
                  <a:lnTo>
                    <a:pt x="177982" y="0"/>
                  </a:lnTo>
                </a:path>
              </a:pathLst>
            </a:custGeom>
            <a:ln w="9524">
              <a:solidFill>
                <a:srgbClr val="000000"/>
              </a:solidFill>
            </a:ln>
          </p:spPr>
          <p:txBody>
            <a:bodyPr wrap="square" lIns="0" tIns="0" rIns="0" bIns="0" rtlCol="0"/>
            <a:lstStyle/>
            <a:p>
              <a:endParaRPr/>
            </a:p>
          </p:txBody>
        </p:sp>
        <p:sp>
          <p:nvSpPr>
            <p:cNvPr id="56" name="object 56"/>
            <p:cNvSpPr txBox="1"/>
            <p:nvPr/>
          </p:nvSpPr>
          <p:spPr>
            <a:xfrm>
              <a:off x="2790238" y="2164603"/>
              <a:ext cx="1753870" cy="269240"/>
            </a:xfrm>
            <a:prstGeom prst="rect">
              <a:avLst/>
            </a:prstGeom>
          </p:spPr>
          <p:txBody>
            <a:bodyPr vert="horz" wrap="square" lIns="0" tIns="12700" rIns="0" bIns="0" rtlCol="0">
              <a:spAutoFit/>
            </a:bodyPr>
            <a:lstStyle/>
            <a:p>
              <a:pPr marL="12700">
                <a:lnSpc>
                  <a:spcPct val="100000"/>
                </a:lnSpc>
                <a:spcBef>
                  <a:spcPts val="100"/>
                </a:spcBef>
              </a:pPr>
              <a:r>
                <a:rPr sz="1600" spc="-5" dirty="0">
                  <a:latin typeface="Arial" panose="020B0604020202020204"/>
                  <a:cs typeface="Arial" panose="020B0604020202020204"/>
                </a:rPr>
                <a:t>[For </a:t>
              </a:r>
              <a:r>
                <a:rPr sz="1600" dirty="0">
                  <a:latin typeface="Arial" panose="020B0604020202020204"/>
                  <a:cs typeface="Arial" panose="020B0604020202020204"/>
                </a:rPr>
                <a:t>each line</a:t>
              </a:r>
              <a:r>
                <a:rPr sz="1600" spc="-65" dirty="0">
                  <a:latin typeface="Arial" panose="020B0604020202020204"/>
                  <a:cs typeface="Arial" panose="020B0604020202020204"/>
                </a:rPr>
                <a:t> </a:t>
              </a:r>
              <a:r>
                <a:rPr sz="1600" spc="-5" dirty="0">
                  <a:latin typeface="Arial" panose="020B0604020202020204"/>
                  <a:cs typeface="Arial" panose="020B0604020202020204"/>
                </a:rPr>
                <a:t>item]</a:t>
              </a:r>
              <a:endParaRPr sz="1600" dirty="0">
                <a:latin typeface="Arial" panose="020B0604020202020204"/>
                <a:cs typeface="Arial" panose="020B0604020202020204"/>
              </a:endParaRPr>
            </a:p>
          </p:txBody>
        </p:sp>
        <p:sp>
          <p:nvSpPr>
            <p:cNvPr id="57" name="object 57"/>
            <p:cNvSpPr txBox="1"/>
            <p:nvPr/>
          </p:nvSpPr>
          <p:spPr>
            <a:xfrm>
              <a:off x="3705800" y="2548935"/>
              <a:ext cx="1421130" cy="269240"/>
            </a:xfrm>
            <a:prstGeom prst="rect">
              <a:avLst/>
            </a:prstGeom>
          </p:spPr>
          <p:txBody>
            <a:bodyPr vert="horz" wrap="square" lIns="0" tIns="12700" rIns="0" bIns="0" rtlCol="0">
              <a:spAutoFit/>
            </a:bodyPr>
            <a:lstStyle/>
            <a:p>
              <a:pPr marL="12700">
                <a:lnSpc>
                  <a:spcPct val="100000"/>
                </a:lnSpc>
                <a:spcBef>
                  <a:spcPts val="100"/>
                </a:spcBef>
              </a:pPr>
              <a:r>
                <a:rPr sz="1600" spc="-5" dirty="0">
                  <a:latin typeface="Arial" panose="020B0604020202020204"/>
                  <a:cs typeface="Arial" panose="020B0604020202020204"/>
                </a:rPr>
                <a:t>[value&gt;$10000]</a:t>
              </a:r>
              <a:endParaRPr sz="1600" dirty="0">
                <a:latin typeface="Arial" panose="020B0604020202020204"/>
                <a:cs typeface="Arial" panose="020B0604020202020204"/>
              </a:endParaRPr>
            </a:p>
          </p:txBody>
        </p:sp>
        <p:sp>
          <p:nvSpPr>
            <p:cNvPr id="58" name="object 58"/>
            <p:cNvSpPr/>
            <p:nvPr/>
          </p:nvSpPr>
          <p:spPr>
            <a:xfrm>
              <a:off x="2625439" y="2535676"/>
              <a:ext cx="7186295" cy="2118360"/>
            </a:xfrm>
            <a:custGeom>
              <a:avLst/>
              <a:gdLst/>
              <a:ahLst/>
              <a:cxnLst/>
              <a:rect l="l" t="t" r="r" b="b"/>
              <a:pathLst>
                <a:path w="7186295" h="2118360">
                  <a:moveTo>
                    <a:pt x="0" y="0"/>
                  </a:moveTo>
                  <a:lnTo>
                    <a:pt x="7185829" y="0"/>
                  </a:lnTo>
                  <a:lnTo>
                    <a:pt x="7185829" y="2117822"/>
                  </a:lnTo>
                  <a:lnTo>
                    <a:pt x="0" y="2117822"/>
                  </a:lnTo>
                  <a:lnTo>
                    <a:pt x="0" y="0"/>
                  </a:lnTo>
                  <a:close/>
                </a:path>
              </a:pathLst>
            </a:custGeom>
            <a:ln w="9524">
              <a:solidFill>
                <a:srgbClr val="000000"/>
              </a:solidFill>
            </a:ln>
          </p:spPr>
          <p:txBody>
            <a:bodyPr wrap="square" lIns="0" tIns="0" rIns="0" bIns="0" rtlCol="0"/>
            <a:lstStyle/>
            <a:p>
              <a:endParaRPr/>
            </a:p>
          </p:txBody>
        </p:sp>
        <p:sp>
          <p:nvSpPr>
            <p:cNvPr id="59" name="object 59"/>
            <p:cNvSpPr/>
            <p:nvPr/>
          </p:nvSpPr>
          <p:spPr>
            <a:xfrm>
              <a:off x="2625439" y="3593938"/>
              <a:ext cx="7186295" cy="0"/>
            </a:xfrm>
            <a:custGeom>
              <a:avLst/>
              <a:gdLst/>
              <a:ahLst/>
              <a:cxnLst/>
              <a:rect l="l" t="t" r="r" b="b"/>
              <a:pathLst>
                <a:path w="7186295">
                  <a:moveTo>
                    <a:pt x="0" y="0"/>
                  </a:moveTo>
                  <a:lnTo>
                    <a:pt x="7185829" y="1"/>
                  </a:lnTo>
                </a:path>
              </a:pathLst>
            </a:custGeom>
            <a:ln w="9524">
              <a:solidFill>
                <a:srgbClr val="000000"/>
              </a:solidFill>
            </a:ln>
          </p:spPr>
          <p:txBody>
            <a:bodyPr wrap="square" lIns="0" tIns="0" rIns="0" bIns="0" rtlCol="0"/>
            <a:lstStyle/>
            <a:p>
              <a:endParaRPr/>
            </a:p>
          </p:txBody>
        </p:sp>
        <p:sp>
          <p:nvSpPr>
            <p:cNvPr id="60" name="object 60"/>
            <p:cNvSpPr txBox="1"/>
            <p:nvPr/>
          </p:nvSpPr>
          <p:spPr>
            <a:xfrm>
              <a:off x="3590184" y="3778309"/>
              <a:ext cx="511175" cy="269240"/>
            </a:xfrm>
            <a:prstGeom prst="rect">
              <a:avLst/>
            </a:prstGeom>
          </p:spPr>
          <p:txBody>
            <a:bodyPr vert="horz" wrap="square" lIns="0" tIns="12700" rIns="0" bIns="0" rtlCol="0">
              <a:spAutoFit/>
            </a:bodyPr>
            <a:lstStyle/>
            <a:p>
              <a:pPr marL="12700">
                <a:lnSpc>
                  <a:spcPct val="100000"/>
                </a:lnSpc>
                <a:spcBef>
                  <a:spcPts val="100"/>
                </a:spcBef>
              </a:pPr>
              <a:r>
                <a:rPr sz="1600" spc="-5" dirty="0">
                  <a:latin typeface="Arial" panose="020B0604020202020204"/>
                  <a:cs typeface="Arial" panose="020B0604020202020204"/>
                </a:rPr>
                <a:t>[</a:t>
              </a:r>
              <a:r>
                <a:rPr sz="1600" dirty="0">
                  <a:latin typeface="Arial" panose="020B0604020202020204"/>
                  <a:cs typeface="Arial" panose="020B0604020202020204"/>
                </a:rPr>
                <a:t>else]</a:t>
              </a:r>
              <a:endParaRPr sz="1600">
                <a:latin typeface="Arial" panose="020B0604020202020204"/>
                <a:cs typeface="Arial" panose="020B0604020202020204"/>
              </a:endParaRPr>
            </a:p>
          </p:txBody>
        </p:sp>
        <p:sp>
          <p:nvSpPr>
            <p:cNvPr id="61" name="object 61"/>
            <p:cNvSpPr/>
            <p:nvPr/>
          </p:nvSpPr>
          <p:spPr>
            <a:xfrm>
              <a:off x="1559495" y="4894888"/>
              <a:ext cx="9050020" cy="1271270"/>
            </a:xfrm>
            <a:custGeom>
              <a:avLst/>
              <a:gdLst/>
              <a:ahLst/>
              <a:cxnLst/>
              <a:rect l="l" t="t" r="r" b="b"/>
              <a:pathLst>
                <a:path w="9050020" h="1271270">
                  <a:moveTo>
                    <a:pt x="0" y="0"/>
                  </a:moveTo>
                  <a:lnTo>
                    <a:pt x="9049763" y="0"/>
                  </a:lnTo>
                  <a:lnTo>
                    <a:pt x="9049763" y="1270960"/>
                  </a:lnTo>
                  <a:lnTo>
                    <a:pt x="0" y="1270960"/>
                  </a:lnTo>
                  <a:lnTo>
                    <a:pt x="0" y="0"/>
                  </a:lnTo>
                  <a:close/>
                </a:path>
              </a:pathLst>
            </a:custGeom>
            <a:ln w="9524">
              <a:solidFill>
                <a:srgbClr val="000000"/>
              </a:solidFill>
            </a:ln>
          </p:spPr>
          <p:txBody>
            <a:bodyPr wrap="square" lIns="0" tIns="0" rIns="0" bIns="0" rtlCol="0"/>
            <a:lstStyle/>
            <a:p>
              <a:endParaRPr/>
            </a:p>
          </p:txBody>
        </p:sp>
        <p:sp>
          <p:nvSpPr>
            <p:cNvPr id="62" name="object 62"/>
            <p:cNvSpPr/>
            <p:nvPr/>
          </p:nvSpPr>
          <p:spPr>
            <a:xfrm>
              <a:off x="1559495" y="4894888"/>
              <a:ext cx="886460" cy="302895"/>
            </a:xfrm>
            <a:custGeom>
              <a:avLst/>
              <a:gdLst/>
              <a:ahLst/>
              <a:cxnLst/>
              <a:rect l="l" t="t" r="r" b="b"/>
              <a:pathLst>
                <a:path w="886460" h="302895">
                  <a:moveTo>
                    <a:pt x="0" y="0"/>
                  </a:moveTo>
                  <a:lnTo>
                    <a:pt x="886005" y="0"/>
                  </a:lnTo>
                  <a:lnTo>
                    <a:pt x="886005" y="302737"/>
                  </a:lnTo>
                  <a:lnTo>
                    <a:pt x="0" y="302737"/>
                  </a:lnTo>
                  <a:lnTo>
                    <a:pt x="0" y="0"/>
                  </a:lnTo>
                  <a:close/>
                </a:path>
              </a:pathLst>
            </a:custGeom>
            <a:solidFill>
              <a:srgbClr val="FFFFFF"/>
            </a:solidFill>
          </p:spPr>
          <p:txBody>
            <a:bodyPr wrap="square" lIns="0" tIns="0" rIns="0" bIns="0" rtlCol="0"/>
            <a:lstStyle/>
            <a:p>
              <a:endParaRPr/>
            </a:p>
          </p:txBody>
        </p:sp>
        <p:sp>
          <p:nvSpPr>
            <p:cNvPr id="63" name="object 63"/>
            <p:cNvSpPr/>
            <p:nvPr/>
          </p:nvSpPr>
          <p:spPr>
            <a:xfrm>
              <a:off x="1559495" y="4894888"/>
              <a:ext cx="886460" cy="302895"/>
            </a:xfrm>
            <a:custGeom>
              <a:avLst/>
              <a:gdLst/>
              <a:ahLst/>
              <a:cxnLst/>
              <a:rect l="l" t="t" r="r" b="b"/>
              <a:pathLst>
                <a:path w="886460" h="302895">
                  <a:moveTo>
                    <a:pt x="0" y="0"/>
                  </a:moveTo>
                  <a:lnTo>
                    <a:pt x="886004" y="0"/>
                  </a:lnTo>
                  <a:lnTo>
                    <a:pt x="886004" y="302736"/>
                  </a:lnTo>
                  <a:lnTo>
                    <a:pt x="0" y="302736"/>
                  </a:lnTo>
                  <a:lnTo>
                    <a:pt x="0" y="0"/>
                  </a:lnTo>
                  <a:close/>
                </a:path>
              </a:pathLst>
            </a:custGeom>
            <a:ln w="9524">
              <a:solidFill>
                <a:srgbClr val="000000"/>
              </a:solidFill>
            </a:ln>
          </p:spPr>
          <p:txBody>
            <a:bodyPr wrap="square" lIns="0" tIns="0" rIns="0" bIns="0" rtlCol="0"/>
            <a:lstStyle/>
            <a:p>
              <a:endParaRPr/>
            </a:p>
          </p:txBody>
        </p:sp>
        <p:sp>
          <p:nvSpPr>
            <p:cNvPr id="64" name="object 64"/>
            <p:cNvSpPr txBox="1"/>
            <p:nvPr/>
          </p:nvSpPr>
          <p:spPr>
            <a:xfrm>
              <a:off x="1828735" y="4896397"/>
              <a:ext cx="342900"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Calibri" panose="020F0502020204030204"/>
                  <a:cs typeface="Calibri" panose="020F0502020204030204"/>
                </a:rPr>
                <a:t>o</a:t>
              </a:r>
              <a:r>
                <a:rPr sz="1800" dirty="0">
                  <a:latin typeface="Calibri" panose="020F0502020204030204"/>
                  <a:cs typeface="Calibri" panose="020F0502020204030204"/>
                </a:rPr>
                <a:t>pt</a:t>
              </a:r>
              <a:endParaRPr sz="1800">
                <a:latin typeface="Calibri" panose="020F0502020204030204"/>
                <a:cs typeface="Calibri" panose="020F0502020204030204"/>
              </a:endParaRPr>
            </a:p>
          </p:txBody>
        </p:sp>
        <p:sp>
          <p:nvSpPr>
            <p:cNvPr id="65" name="object 65"/>
            <p:cNvSpPr/>
            <p:nvPr/>
          </p:nvSpPr>
          <p:spPr>
            <a:xfrm>
              <a:off x="2270969" y="5071486"/>
              <a:ext cx="177800" cy="131445"/>
            </a:xfrm>
            <a:custGeom>
              <a:avLst/>
              <a:gdLst/>
              <a:ahLst/>
              <a:cxnLst/>
              <a:rect l="l" t="t" r="r" b="b"/>
              <a:pathLst>
                <a:path w="177800" h="131445">
                  <a:moveTo>
                    <a:pt x="177716" y="121180"/>
                  </a:moveTo>
                  <a:lnTo>
                    <a:pt x="0" y="130914"/>
                  </a:lnTo>
                  <a:lnTo>
                    <a:pt x="171079" y="0"/>
                  </a:lnTo>
                  <a:lnTo>
                    <a:pt x="177716" y="121180"/>
                  </a:lnTo>
                  <a:close/>
                </a:path>
              </a:pathLst>
            </a:custGeom>
            <a:ln w="9524">
              <a:solidFill>
                <a:srgbClr val="FFFFFF"/>
              </a:solidFill>
            </a:ln>
          </p:spPr>
          <p:txBody>
            <a:bodyPr wrap="square" lIns="0" tIns="0" rIns="0" bIns="0" rtlCol="0"/>
            <a:lstStyle/>
            <a:p>
              <a:endParaRPr/>
            </a:p>
          </p:txBody>
        </p:sp>
        <p:sp>
          <p:nvSpPr>
            <p:cNvPr id="66" name="object 66"/>
            <p:cNvSpPr/>
            <p:nvPr/>
          </p:nvSpPr>
          <p:spPr>
            <a:xfrm>
              <a:off x="2267516" y="5076264"/>
              <a:ext cx="178435" cy="121920"/>
            </a:xfrm>
            <a:custGeom>
              <a:avLst/>
              <a:gdLst/>
              <a:ahLst/>
              <a:cxnLst/>
              <a:rect l="l" t="t" r="r" b="b"/>
              <a:pathLst>
                <a:path w="178435" h="121920">
                  <a:moveTo>
                    <a:pt x="0" y="121361"/>
                  </a:moveTo>
                  <a:lnTo>
                    <a:pt x="177982" y="0"/>
                  </a:lnTo>
                </a:path>
              </a:pathLst>
            </a:custGeom>
            <a:ln w="9524">
              <a:solidFill>
                <a:srgbClr val="000000"/>
              </a:solidFill>
            </a:ln>
          </p:spPr>
          <p:txBody>
            <a:bodyPr wrap="square" lIns="0" tIns="0" rIns="0" bIns="0" rtlCol="0"/>
            <a:lstStyle/>
            <a:p>
              <a:endParaRPr/>
            </a:p>
          </p:txBody>
        </p:sp>
      </p:grpSp>
      <p:sp>
        <p:nvSpPr>
          <p:cNvPr id="69" name="标题 68"/>
          <p:cNvSpPr>
            <a:spLocks noGrp="1"/>
          </p:cNvSpPr>
          <p:nvPr>
            <p:ph type="title"/>
          </p:nvPr>
        </p:nvSpPr>
        <p:spPr/>
        <p:txBody>
          <a:bodyPr/>
          <a:lstStyle/>
          <a:p>
            <a:r>
              <a:rPr lang="zh-CN" altLang="en-US" spc="-5" dirty="0"/>
              <a:t>控制框建模例子</a:t>
            </a:r>
            <a:endParaRPr lang="zh-CN" altLang="en-US" dirty="0"/>
          </a:p>
        </p:txBody>
      </p:sp>
      <p:sp>
        <p:nvSpPr>
          <p:cNvPr id="71" name="灯片编号占位符 70"/>
          <p:cNvSpPr>
            <a:spLocks noGrp="1"/>
          </p:cNvSpPr>
          <p:nvPr>
            <p:ph type="sldNum" sz="quarter" idx="12"/>
          </p:nvPr>
        </p:nvSpPr>
        <p:spPr/>
        <p:txBody>
          <a:bodyPr/>
          <a:lstStyle/>
          <a:p>
            <a:fld id="{74D2AB8B-5816-41F2-8B4B-CA5C3E4E6A65}" type="slidenum">
              <a:rPr lang="zh-CN" altLang="en-US" smtClean="0"/>
              <a:t>50</a:t>
            </a:fld>
            <a:endParaRPr lang="zh-CN" altLang="en-US"/>
          </a:p>
        </p:txBody>
      </p:sp>
      <p:sp>
        <p:nvSpPr>
          <p:cNvPr id="68" name="object 56"/>
          <p:cNvSpPr txBox="1"/>
          <p:nvPr/>
        </p:nvSpPr>
        <p:spPr>
          <a:xfrm>
            <a:off x="3323725" y="5295301"/>
            <a:ext cx="1753870" cy="269240"/>
          </a:xfrm>
          <a:prstGeom prst="rect">
            <a:avLst/>
          </a:prstGeom>
        </p:spPr>
        <p:txBody>
          <a:bodyPr vert="horz" wrap="square" lIns="0" tIns="12700" rIns="0" bIns="0" rtlCol="0">
            <a:spAutoFit/>
          </a:bodyPr>
          <a:lstStyle/>
          <a:p>
            <a:pPr marL="12700">
              <a:lnSpc>
                <a:spcPct val="100000"/>
              </a:lnSpc>
              <a:spcBef>
                <a:spcPts val="100"/>
              </a:spcBef>
            </a:pPr>
            <a:r>
              <a:rPr sz="1600" spc="-5" dirty="0">
                <a:latin typeface="Arial" panose="020B0604020202020204"/>
                <a:cs typeface="Arial" panose="020B0604020202020204"/>
              </a:rPr>
              <a:t>[</a:t>
            </a:r>
            <a:r>
              <a:rPr lang="en-US" sz="1600" spc="-5" dirty="0">
                <a:latin typeface="Arial" panose="020B0604020202020204"/>
                <a:cs typeface="Arial" panose="020B0604020202020204"/>
              </a:rPr>
              <a:t>need message]</a:t>
            </a:r>
            <a:endParaRPr sz="1600" dirty="0">
              <a:latin typeface="Arial" panose="020B0604020202020204"/>
              <a:cs typeface="Arial" panose="020B0604020202020204"/>
            </a:endParaRPr>
          </a:p>
        </p:txBody>
      </p:sp>
    </p:spTree>
  </p:cSld>
  <p:clrMapOvr>
    <a:masterClrMapping/>
  </p:clrMapOvr>
  <mc:AlternateContent xmlns:mc="http://schemas.openxmlformats.org/markup-compatibility/2006" xmlns:p14="http://schemas.microsoft.com/office/powerpoint/2010/main">
    <mc:Choice Requires="p14">
      <p:transition spd="slow" p14:dur="2000" advTm="139047"/>
    </mc:Choice>
    <mc:Fallback xmlns="">
      <p:transition spd="slow" advTm="139047"/>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4447671" y="1529929"/>
            <a:ext cx="6791829" cy="4728886"/>
            <a:chOff x="4467651" y="1288629"/>
            <a:chExt cx="6791829" cy="4728886"/>
          </a:xfrm>
        </p:grpSpPr>
        <p:sp>
          <p:nvSpPr>
            <p:cNvPr id="2" name="object 2"/>
            <p:cNvSpPr/>
            <p:nvPr/>
          </p:nvSpPr>
          <p:spPr>
            <a:xfrm>
              <a:off x="4467651" y="1288629"/>
              <a:ext cx="6791829" cy="4728886"/>
            </a:xfrm>
            <a:prstGeom prst="rect">
              <a:avLst/>
            </a:prstGeom>
            <a:blipFill>
              <a:blip r:embed="rId3" cstate="print"/>
              <a:stretch>
                <a:fillRect/>
              </a:stretch>
            </a:blipFill>
          </p:spPr>
          <p:txBody>
            <a:bodyPr wrap="square" lIns="0" tIns="0" rIns="0" bIns="0" rtlCol="0"/>
            <a:lstStyle/>
            <a:p>
              <a:endParaRPr/>
            </a:p>
          </p:txBody>
        </p:sp>
        <p:sp>
          <p:nvSpPr>
            <p:cNvPr id="3" name="object 3"/>
            <p:cNvSpPr/>
            <p:nvPr/>
          </p:nvSpPr>
          <p:spPr>
            <a:xfrm>
              <a:off x="6265218" y="5805265"/>
              <a:ext cx="3431540" cy="0"/>
            </a:xfrm>
            <a:custGeom>
              <a:avLst/>
              <a:gdLst/>
              <a:ahLst/>
              <a:cxnLst/>
              <a:rect l="l" t="t" r="r" b="b"/>
              <a:pathLst>
                <a:path w="3431540">
                  <a:moveTo>
                    <a:pt x="3431178" y="0"/>
                  </a:moveTo>
                  <a:lnTo>
                    <a:pt x="0" y="0"/>
                  </a:lnTo>
                </a:path>
              </a:pathLst>
            </a:custGeom>
            <a:ln w="9524">
              <a:solidFill>
                <a:srgbClr val="000000"/>
              </a:solidFill>
            </a:ln>
          </p:spPr>
          <p:txBody>
            <a:bodyPr wrap="square" lIns="0" tIns="0" rIns="0" bIns="0" rtlCol="0"/>
            <a:lstStyle/>
            <a:p>
              <a:endParaRPr/>
            </a:p>
          </p:txBody>
        </p:sp>
        <p:sp>
          <p:nvSpPr>
            <p:cNvPr id="4" name="object 4"/>
            <p:cNvSpPr/>
            <p:nvPr/>
          </p:nvSpPr>
          <p:spPr>
            <a:xfrm>
              <a:off x="6240014" y="5746311"/>
              <a:ext cx="115909" cy="117908"/>
            </a:xfrm>
            <a:prstGeom prst="rect">
              <a:avLst/>
            </a:prstGeom>
            <a:blipFill>
              <a:blip r:embed="rId4" cstate="print"/>
              <a:stretch>
                <a:fillRect/>
              </a:stretch>
            </a:blipFill>
          </p:spPr>
          <p:txBody>
            <a:bodyPr wrap="square" lIns="0" tIns="0" rIns="0" bIns="0" rtlCol="0"/>
            <a:lstStyle/>
            <a:p>
              <a:endParaRPr/>
            </a:p>
          </p:txBody>
        </p:sp>
        <p:sp>
          <p:nvSpPr>
            <p:cNvPr id="5" name="object 5"/>
            <p:cNvSpPr txBox="1"/>
            <p:nvPr/>
          </p:nvSpPr>
          <p:spPr>
            <a:xfrm>
              <a:off x="6678793" y="5550251"/>
              <a:ext cx="1143635" cy="269240"/>
            </a:xfrm>
            <a:prstGeom prst="rect">
              <a:avLst/>
            </a:prstGeom>
          </p:spPr>
          <p:txBody>
            <a:bodyPr vert="horz" wrap="square" lIns="0" tIns="12700" rIns="0" bIns="0" rtlCol="0">
              <a:spAutoFit/>
            </a:bodyPr>
            <a:lstStyle/>
            <a:p>
              <a:pPr marL="12700">
                <a:lnSpc>
                  <a:spcPct val="100000"/>
                </a:lnSpc>
                <a:spcBef>
                  <a:spcPts val="100"/>
                </a:spcBef>
              </a:pPr>
              <a:r>
                <a:rPr sz="1600" dirty="0">
                  <a:latin typeface="Arial" panose="020B0604020202020204"/>
                  <a:cs typeface="Arial" panose="020B0604020202020204"/>
                </a:rPr>
                <a:t>Deliver</a:t>
              </a:r>
              <a:r>
                <a:rPr sz="1600" spc="-90" dirty="0">
                  <a:latin typeface="Arial" panose="020B0604020202020204"/>
                  <a:cs typeface="Arial" panose="020B0604020202020204"/>
                </a:rPr>
                <a:t> </a:t>
              </a:r>
              <a:r>
                <a:rPr sz="1600" dirty="0">
                  <a:latin typeface="Arial" panose="020B0604020202020204"/>
                  <a:cs typeface="Arial" panose="020B0604020202020204"/>
                </a:rPr>
                <a:t>cash</a:t>
              </a:r>
              <a:endParaRPr sz="1600">
                <a:latin typeface="Arial" panose="020B0604020202020204"/>
                <a:cs typeface="Arial" panose="020B0604020202020204"/>
              </a:endParaRPr>
            </a:p>
          </p:txBody>
        </p:sp>
      </p:grpSp>
      <p:sp>
        <p:nvSpPr>
          <p:cNvPr id="7" name="object 7"/>
          <p:cNvSpPr txBox="1"/>
          <p:nvPr/>
        </p:nvSpPr>
        <p:spPr>
          <a:xfrm>
            <a:off x="392891" y="1873250"/>
            <a:ext cx="3302000" cy="3111500"/>
          </a:xfrm>
          <a:prstGeom prst="rect">
            <a:avLst/>
          </a:prstGeom>
        </p:spPr>
        <p:txBody>
          <a:bodyPr vert="horz" wrap="square" lIns="0" tIns="12700" rIns="0" bIns="0" rtlCol="0">
            <a:spAutoFit/>
          </a:bodyPr>
          <a:lstStyle/>
          <a:p>
            <a:pPr marL="241300" indent="-228600">
              <a:lnSpc>
                <a:spcPct val="100000"/>
              </a:lnSpc>
              <a:spcBef>
                <a:spcPts val="10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当一个顺序图过大</a:t>
            </a:r>
          </a:p>
          <a:p>
            <a:pPr marL="240665" marR="5080" indent="-228600">
              <a:lnSpc>
                <a:spcPct val="149000"/>
              </a:lnSpc>
              <a:spcBef>
                <a:spcPts val="100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需要引用其他图表时， 选择下述表示：</a:t>
            </a:r>
          </a:p>
          <a:p>
            <a:pPr marL="698500" lvl="1" indent="-228600">
              <a:lnSpc>
                <a:spcPct val="100000"/>
              </a:lnSpc>
              <a:spcBef>
                <a:spcPts val="172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新魏" panose="02010800040101010101" charset="-122"/>
              </a:rPr>
              <a:t>不完整的箭头和注释</a:t>
            </a:r>
          </a:p>
          <a:p>
            <a:pPr marL="698500" marR="312420" lvl="1" indent="-228600">
              <a:lnSpc>
                <a:spcPct val="150000"/>
              </a:lnSpc>
              <a:spcBef>
                <a:spcPts val="500"/>
              </a:spcBef>
              <a:buFont typeface="Arial" panose="020B0604020202020204"/>
              <a:buChar char="•"/>
              <a:tabLst>
                <a:tab pos="697865" algn="l"/>
                <a:tab pos="698500" algn="l"/>
              </a:tabLst>
            </a:pPr>
            <a:r>
              <a:rPr sz="2000" dirty="0" err="1">
                <a:latin typeface="微软雅黑" panose="020B0503020204020204" pitchFamily="34" charset="-122"/>
                <a:ea typeface="微软雅黑" panose="020B0503020204020204" pitchFamily="34" charset="-122"/>
                <a:cs typeface="华文新魏" panose="02010800040101010101" charset="-122"/>
              </a:rPr>
              <a:t>通过名为</a:t>
            </a:r>
            <a:r>
              <a:rPr sz="2000" dirty="0" err="1">
                <a:latin typeface="微软雅黑" panose="020B0503020204020204" pitchFamily="34" charset="-122"/>
                <a:ea typeface="微软雅黑" panose="020B0503020204020204" pitchFamily="34" charset="-122"/>
                <a:cs typeface="Calibri" panose="020F0502020204030204"/>
              </a:rPr>
              <a:t>”</a:t>
            </a:r>
            <a:r>
              <a:rPr sz="2000" spc="-5" dirty="0" err="1">
                <a:latin typeface="微软雅黑" panose="020B0503020204020204" pitchFamily="34" charset="-122"/>
                <a:ea typeface="微软雅黑" panose="020B0503020204020204" pitchFamily="34" charset="-122"/>
                <a:cs typeface="Calibri" panose="020F0502020204030204"/>
              </a:rPr>
              <a:t>re</a:t>
            </a:r>
            <a:r>
              <a:rPr sz="2000" dirty="0" err="1">
                <a:latin typeface="微软雅黑" panose="020B0503020204020204" pitchFamily="34" charset="-122"/>
                <a:ea typeface="微软雅黑" panose="020B0503020204020204" pitchFamily="34" charset="-122"/>
                <a:cs typeface="Calibri" panose="020F0502020204030204"/>
              </a:rPr>
              <a:t>f”</a:t>
            </a:r>
            <a:r>
              <a:rPr sz="2000" dirty="0" err="1">
                <a:latin typeface="微软雅黑" panose="020B0503020204020204" pitchFamily="34" charset="-122"/>
                <a:ea typeface="微软雅黑" panose="020B0503020204020204" pitchFamily="34" charset="-122"/>
                <a:cs typeface="华文新魏" panose="02010800040101010101" charset="-122"/>
              </a:rPr>
              <a:t>的框图引用相关图表</a:t>
            </a:r>
            <a:endParaRPr sz="2000" dirty="0">
              <a:latin typeface="微软雅黑" panose="020B0503020204020204" pitchFamily="34" charset="-122"/>
              <a:ea typeface="微软雅黑" panose="020B0503020204020204" pitchFamily="34" charset="-122"/>
              <a:cs typeface="华文新魏" panose="02010800040101010101" charset="-122"/>
            </a:endParaRPr>
          </a:p>
        </p:txBody>
      </p:sp>
      <p:sp>
        <p:nvSpPr>
          <p:cNvPr id="10" name="标题 9"/>
          <p:cNvSpPr>
            <a:spLocks noGrp="1"/>
          </p:cNvSpPr>
          <p:nvPr>
            <p:ph type="title"/>
          </p:nvPr>
        </p:nvSpPr>
        <p:spPr/>
        <p:txBody>
          <a:bodyPr/>
          <a:lstStyle/>
          <a:p>
            <a:r>
              <a:rPr lang="zh-CN" altLang="en-US" spc="-5" dirty="0"/>
              <a:t>顺序图间的关联</a:t>
            </a:r>
            <a:endParaRPr lang="zh-CN" altLang="en-US" dirty="0"/>
          </a:p>
        </p:txBody>
      </p:sp>
      <p:sp>
        <p:nvSpPr>
          <p:cNvPr id="12" name="灯片编号占位符 11"/>
          <p:cNvSpPr>
            <a:spLocks noGrp="1"/>
          </p:cNvSpPr>
          <p:nvPr>
            <p:ph type="sldNum" sz="quarter" idx="12"/>
          </p:nvPr>
        </p:nvSpPr>
        <p:spPr/>
        <p:txBody>
          <a:bodyPr/>
          <a:lstStyle/>
          <a:p>
            <a:fld id="{74D2AB8B-5816-41F2-8B4B-CA5C3E4E6A65}" type="slidenum">
              <a:rPr lang="zh-CN" altLang="en-US" smtClean="0"/>
              <a:t>51</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30102"/>
    </mc:Choice>
    <mc:Fallback xmlns="">
      <p:transition spd="slow" advTm="130102"/>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sp>
        <p:nvSpPr>
          <p:cNvPr id="4" name="灯片编号占位符 3"/>
          <p:cNvSpPr>
            <a:spLocks noGrp="1"/>
          </p:cNvSpPr>
          <p:nvPr>
            <p:ph type="sldNum" sz="quarter" idx="12"/>
          </p:nvPr>
        </p:nvSpPr>
        <p:spPr/>
        <p:txBody>
          <a:bodyPr/>
          <a:lstStyle/>
          <a:p>
            <a:fld id="{74D2AB8B-5816-41F2-8B4B-CA5C3E4E6A65}" type="slidenum">
              <a:rPr lang="zh-CN" altLang="en-US" smtClean="0"/>
              <a:t>52</a:t>
            </a:fld>
            <a:endParaRPr lang="zh-CN" altLang="en-US"/>
          </a:p>
        </p:txBody>
      </p:sp>
      <p:sp>
        <p:nvSpPr>
          <p:cNvPr id="5" name="object 2"/>
          <p:cNvSpPr/>
          <p:nvPr/>
        </p:nvSpPr>
        <p:spPr>
          <a:xfrm>
            <a:off x="109045" y="681036"/>
            <a:ext cx="5665076" cy="5289441"/>
          </a:xfrm>
          <a:prstGeom prst="rect">
            <a:avLst/>
          </a:prstGeom>
          <a:blipFill>
            <a:blip r:embed="rId3" cstate="print"/>
            <a:stretch>
              <a:fillRect/>
            </a:stretch>
          </a:blipFill>
        </p:spPr>
        <p:txBody>
          <a:bodyPr wrap="square" lIns="0" tIns="0" rIns="0" bIns="0" rtlCol="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grpSp>
        <p:nvGrpSpPr>
          <p:cNvPr id="6" name="组合 5"/>
          <p:cNvGrpSpPr/>
          <p:nvPr/>
        </p:nvGrpSpPr>
        <p:grpSpPr>
          <a:xfrm>
            <a:off x="5884720" y="1291597"/>
            <a:ext cx="6087636" cy="4274806"/>
            <a:chOff x="4467651" y="1288629"/>
            <a:chExt cx="6791829" cy="4728886"/>
          </a:xfrm>
        </p:grpSpPr>
        <p:sp>
          <p:nvSpPr>
            <p:cNvPr id="7" name="object 2"/>
            <p:cNvSpPr/>
            <p:nvPr/>
          </p:nvSpPr>
          <p:spPr>
            <a:xfrm>
              <a:off x="4467651" y="1288629"/>
              <a:ext cx="6791829" cy="4728886"/>
            </a:xfrm>
            <a:prstGeom prst="rect">
              <a:avLst/>
            </a:prstGeom>
            <a:blipFill>
              <a:blip r:embed="rId4" cstate="print"/>
              <a:stretch>
                <a:fillRect/>
              </a:stretch>
            </a:blipFill>
          </p:spPr>
          <p:txBody>
            <a:bodyPr wrap="square" lIns="0" tIns="0" rIns="0" bIns="0" rtlCol="0"/>
            <a:lstStyle/>
            <a:p>
              <a:endParaRPr/>
            </a:p>
          </p:txBody>
        </p:sp>
        <p:sp>
          <p:nvSpPr>
            <p:cNvPr id="8" name="object 3"/>
            <p:cNvSpPr/>
            <p:nvPr/>
          </p:nvSpPr>
          <p:spPr>
            <a:xfrm>
              <a:off x="6265218" y="5805265"/>
              <a:ext cx="3431540" cy="0"/>
            </a:xfrm>
            <a:custGeom>
              <a:avLst/>
              <a:gdLst/>
              <a:ahLst/>
              <a:cxnLst/>
              <a:rect l="l" t="t" r="r" b="b"/>
              <a:pathLst>
                <a:path w="3431540">
                  <a:moveTo>
                    <a:pt x="3431178" y="0"/>
                  </a:moveTo>
                  <a:lnTo>
                    <a:pt x="0" y="0"/>
                  </a:lnTo>
                </a:path>
              </a:pathLst>
            </a:custGeom>
            <a:ln w="9524">
              <a:solidFill>
                <a:srgbClr val="000000"/>
              </a:solidFill>
            </a:ln>
          </p:spPr>
          <p:txBody>
            <a:bodyPr wrap="square" lIns="0" tIns="0" rIns="0" bIns="0" rtlCol="0"/>
            <a:lstStyle/>
            <a:p>
              <a:endParaRPr/>
            </a:p>
          </p:txBody>
        </p:sp>
        <p:sp>
          <p:nvSpPr>
            <p:cNvPr id="9" name="object 4"/>
            <p:cNvSpPr/>
            <p:nvPr/>
          </p:nvSpPr>
          <p:spPr>
            <a:xfrm>
              <a:off x="6240014" y="5746311"/>
              <a:ext cx="115909" cy="117908"/>
            </a:xfrm>
            <a:prstGeom prst="rect">
              <a:avLst/>
            </a:prstGeom>
            <a:blipFill>
              <a:blip r:embed="rId5" cstate="print"/>
              <a:stretch>
                <a:fillRect/>
              </a:stretch>
            </a:blipFill>
          </p:spPr>
          <p:txBody>
            <a:bodyPr wrap="square" lIns="0" tIns="0" rIns="0" bIns="0" rtlCol="0"/>
            <a:lstStyle/>
            <a:p>
              <a:endParaRPr/>
            </a:p>
          </p:txBody>
        </p:sp>
        <p:sp>
          <p:nvSpPr>
            <p:cNvPr id="10" name="object 5"/>
            <p:cNvSpPr txBox="1"/>
            <p:nvPr/>
          </p:nvSpPr>
          <p:spPr>
            <a:xfrm>
              <a:off x="6678793" y="5550251"/>
              <a:ext cx="1143635" cy="269240"/>
            </a:xfrm>
            <a:prstGeom prst="rect">
              <a:avLst/>
            </a:prstGeom>
          </p:spPr>
          <p:txBody>
            <a:bodyPr vert="horz" wrap="square" lIns="0" tIns="12700" rIns="0" bIns="0" rtlCol="0">
              <a:spAutoFit/>
            </a:bodyPr>
            <a:lstStyle/>
            <a:p>
              <a:pPr marL="12700">
                <a:lnSpc>
                  <a:spcPct val="100000"/>
                </a:lnSpc>
                <a:spcBef>
                  <a:spcPts val="100"/>
                </a:spcBef>
              </a:pPr>
              <a:r>
                <a:rPr sz="1600" dirty="0">
                  <a:latin typeface="Arial" panose="020B0604020202020204"/>
                  <a:cs typeface="Arial" panose="020B0604020202020204"/>
                </a:rPr>
                <a:t>Deliver</a:t>
              </a:r>
              <a:r>
                <a:rPr sz="1600" spc="-90" dirty="0">
                  <a:latin typeface="Arial" panose="020B0604020202020204"/>
                  <a:cs typeface="Arial" panose="020B0604020202020204"/>
                </a:rPr>
                <a:t> </a:t>
              </a:r>
              <a:r>
                <a:rPr sz="1600" dirty="0">
                  <a:latin typeface="Arial" panose="020B0604020202020204"/>
                  <a:cs typeface="Arial" panose="020B0604020202020204"/>
                </a:rPr>
                <a:t>cash</a:t>
              </a:r>
              <a:endParaRPr sz="1600">
                <a:latin typeface="Arial" panose="020B0604020202020204"/>
                <a:cs typeface="Arial" panose="020B0604020202020204"/>
              </a:endParaRPr>
            </a:p>
          </p:txBody>
        </p:sp>
      </p:grpSp>
      <p:cxnSp>
        <p:nvCxnSpPr>
          <p:cNvPr id="12" name="直接箭头连接符 11"/>
          <p:cNvCxnSpPr/>
          <p:nvPr/>
        </p:nvCxnSpPr>
        <p:spPr>
          <a:xfrm>
            <a:off x="5370786" y="2314493"/>
            <a:ext cx="1132490" cy="365645"/>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a:xfrm>
            <a:off x="5097517" y="4256990"/>
            <a:ext cx="1755228" cy="188886"/>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5774121" y="681036"/>
            <a:ext cx="0" cy="528944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2000" advTm="31141"/>
    </mc:Choice>
    <mc:Fallback xmlns="">
      <p:transition spd="slow" advTm="31141"/>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6939" y="6491922"/>
            <a:ext cx="102870"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898989"/>
                </a:solidFill>
                <a:latin typeface="Calibri" panose="020F0502020204030204"/>
                <a:cs typeface="Calibri" panose="020F0502020204030204"/>
              </a:rPr>
              <a:t>7</a:t>
            </a:r>
            <a:endParaRPr sz="1200">
              <a:latin typeface="Calibri" panose="020F0502020204030204"/>
              <a:cs typeface="Calibri" panose="020F0502020204030204"/>
            </a:endParaRPr>
          </a:p>
        </p:txBody>
      </p:sp>
      <p:sp>
        <p:nvSpPr>
          <p:cNvPr id="4" name="object 4"/>
          <p:cNvSpPr txBox="1"/>
          <p:nvPr/>
        </p:nvSpPr>
        <p:spPr>
          <a:xfrm>
            <a:off x="566101" y="2421287"/>
            <a:ext cx="5445859" cy="850900"/>
          </a:xfrm>
          <a:prstGeom prst="rect">
            <a:avLst/>
          </a:prstGeom>
        </p:spPr>
        <p:txBody>
          <a:bodyPr vert="horz" wrap="square" lIns="0" tIns="12700" rIns="0" bIns="0" rtlCol="0">
            <a:spAutoFit/>
          </a:bodyPr>
          <a:lstStyle/>
          <a:p>
            <a:pPr marL="241300" indent="-228600">
              <a:lnSpc>
                <a:spcPct val="100000"/>
              </a:lnSpc>
              <a:spcBef>
                <a:spcPts val="100"/>
              </a:spcBef>
              <a:buFont typeface="Arial" panose="020B0604020202020204"/>
              <a:buChar char="•"/>
              <a:tabLst>
                <a:tab pos="240665" algn="l"/>
                <a:tab pos="241300" algn="l"/>
              </a:tabLst>
            </a:pPr>
            <a:r>
              <a:rPr sz="2000" dirty="0">
                <a:solidFill>
                  <a:srgbClr val="800000"/>
                </a:solidFill>
                <a:latin typeface="微软雅黑" panose="020B0503020204020204" pitchFamily="34" charset="-122"/>
                <a:ea typeface="微软雅黑" panose="020B0503020204020204" pitchFamily="34" charset="-122"/>
                <a:cs typeface="华文新魏" panose="02010800040101010101" charset="-122"/>
              </a:rPr>
              <a:t>创建</a:t>
            </a:r>
            <a:r>
              <a:rPr sz="2000" spc="-5" dirty="0">
                <a:solidFill>
                  <a:srgbClr val="941100"/>
                </a:solidFill>
                <a:latin typeface="微软雅黑" panose="020B0503020204020204" pitchFamily="34" charset="-122"/>
                <a:ea typeface="微软雅黑" panose="020B0503020204020204" pitchFamily="34" charset="-122"/>
                <a:cs typeface="华文新魏" panose="02010800040101010101" charset="-122"/>
              </a:rPr>
              <a:t>(creation)</a:t>
            </a:r>
            <a:r>
              <a:rPr sz="2000" spc="-5" dirty="0">
                <a:latin typeface="微软雅黑" panose="020B0503020204020204" pitchFamily="34" charset="-122"/>
                <a:ea typeface="微软雅黑" panose="020B0503020204020204" pitchFamily="34" charset="-122"/>
                <a:cs typeface="华文新魏" panose="02010800040101010101" charset="-122"/>
              </a:rPr>
              <a:t>：”new”</a:t>
            </a:r>
            <a:r>
              <a:rPr sz="2000" dirty="0">
                <a:latin typeface="微软雅黑" panose="020B0503020204020204" pitchFamily="34" charset="-122"/>
                <a:ea typeface="微软雅黑" panose="020B0503020204020204" pitchFamily="34" charset="-122"/>
                <a:cs typeface="华文新魏" panose="02010800040101010101" charset="-122"/>
              </a:rPr>
              <a:t>标明的箭头</a:t>
            </a:r>
          </a:p>
          <a:p>
            <a:pPr marL="698500" lvl="1" indent="-228600">
              <a:lnSpc>
                <a:spcPct val="100000"/>
              </a:lnSpc>
              <a:spcBef>
                <a:spcPts val="17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新魏" panose="02010800040101010101" charset="-122"/>
              </a:rPr>
              <a:t>用例场景中新建的对象在图中的位置较低</a:t>
            </a:r>
          </a:p>
        </p:txBody>
      </p:sp>
      <p:sp>
        <p:nvSpPr>
          <p:cNvPr id="5" name="object 5"/>
          <p:cNvSpPr txBox="1"/>
          <p:nvPr/>
        </p:nvSpPr>
        <p:spPr>
          <a:xfrm>
            <a:off x="566102" y="4110387"/>
            <a:ext cx="5427532" cy="1253677"/>
          </a:xfrm>
          <a:prstGeom prst="rect">
            <a:avLst/>
          </a:prstGeom>
        </p:spPr>
        <p:txBody>
          <a:bodyPr vert="horz" wrap="square" lIns="0" tIns="12700" rIns="0" bIns="0" rtlCol="0">
            <a:spAutoFit/>
          </a:bodyPr>
          <a:lstStyle/>
          <a:p>
            <a:pPr marL="241300" indent="-228600">
              <a:lnSpc>
                <a:spcPct val="100000"/>
              </a:lnSpc>
              <a:spcBef>
                <a:spcPts val="100"/>
              </a:spcBef>
              <a:buFont typeface="Arial" panose="020B0604020202020204"/>
              <a:buChar char="•"/>
              <a:tabLst>
                <a:tab pos="240665" algn="l"/>
                <a:tab pos="241300" algn="l"/>
              </a:tabLst>
            </a:pPr>
            <a:r>
              <a:rPr sz="2000" dirty="0">
                <a:solidFill>
                  <a:srgbClr val="800000"/>
                </a:solidFill>
                <a:latin typeface="微软雅黑" panose="020B0503020204020204" pitchFamily="34" charset="-122"/>
                <a:ea typeface="微软雅黑" panose="020B0503020204020204" pitchFamily="34" charset="-122"/>
                <a:cs typeface="华文新魏" panose="02010800040101010101" charset="-122"/>
              </a:rPr>
              <a:t>撤销</a:t>
            </a:r>
            <a:r>
              <a:rPr sz="2000" spc="-5" dirty="0">
                <a:solidFill>
                  <a:srgbClr val="941100"/>
                </a:solidFill>
                <a:latin typeface="微软雅黑" panose="020B0503020204020204" pitchFamily="34" charset="-122"/>
                <a:ea typeface="微软雅黑" panose="020B0503020204020204" pitchFamily="34" charset="-122"/>
                <a:cs typeface="华文新魏" panose="02010800040101010101" charset="-122"/>
              </a:rPr>
              <a:t>(deletion,destroy)</a:t>
            </a:r>
            <a:r>
              <a:rPr sz="2000" spc="-5" dirty="0">
                <a:latin typeface="微软雅黑" panose="020B0503020204020204" pitchFamily="34" charset="-122"/>
                <a:ea typeface="微软雅黑" panose="020B0503020204020204" pitchFamily="34" charset="-122"/>
                <a:cs typeface="华文新魏" panose="02010800040101010101" charset="-122"/>
              </a:rPr>
              <a:t>: </a:t>
            </a:r>
            <a:r>
              <a:rPr sz="2000" dirty="0">
                <a:latin typeface="微软雅黑" panose="020B0503020204020204" pitchFamily="34" charset="-122"/>
                <a:ea typeface="微软雅黑" panose="020B0503020204020204" pitchFamily="34" charset="-122"/>
                <a:cs typeface="华文新魏" panose="02010800040101010101" charset="-122"/>
              </a:rPr>
              <a:t>生命线底部的“X”</a:t>
            </a:r>
          </a:p>
          <a:p>
            <a:pPr marL="697865" marR="5080" lvl="1" indent="-228600">
              <a:lnSpc>
                <a:spcPct val="150000"/>
              </a:lnSpc>
              <a:spcBef>
                <a:spcPts val="5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新魏" panose="02010800040101010101" charset="-122"/>
              </a:rPr>
              <a:t>注：在Jav</a:t>
            </a:r>
            <a:r>
              <a:rPr sz="2000" spc="-5" dirty="0">
                <a:latin typeface="微软雅黑" panose="020B0503020204020204" pitchFamily="34" charset="-122"/>
                <a:ea typeface="微软雅黑" panose="020B0503020204020204" pitchFamily="34" charset="-122"/>
                <a:cs typeface="华文新魏" panose="02010800040101010101" charset="-122"/>
              </a:rPr>
              <a:t>a</a:t>
            </a:r>
            <a:r>
              <a:rPr sz="2000" dirty="0">
                <a:latin typeface="微软雅黑" panose="020B0503020204020204" pitchFamily="34" charset="-122"/>
                <a:ea typeface="微软雅黑" panose="020B0503020204020204" pitchFamily="34" charset="-122"/>
                <a:cs typeface="华文新魏" panose="02010800040101010101" charset="-122"/>
              </a:rPr>
              <a:t>没有明确的销毁对象的操作， 通过垃圾回收机制处理</a:t>
            </a:r>
          </a:p>
        </p:txBody>
      </p:sp>
      <p:sp>
        <p:nvSpPr>
          <p:cNvPr id="6" name="object 6"/>
          <p:cNvSpPr/>
          <p:nvPr/>
        </p:nvSpPr>
        <p:spPr>
          <a:xfrm>
            <a:off x="6011960" y="1690688"/>
            <a:ext cx="5935605" cy="4713746"/>
          </a:xfrm>
          <a:prstGeom prst="rect">
            <a:avLst/>
          </a:prstGeom>
          <a:blipFill>
            <a:blip r:embed="rId3" cstate="print"/>
            <a:stretch>
              <a:fillRect/>
            </a:stretch>
          </a:blipFill>
        </p:spPr>
        <p:txBody>
          <a:bodyPr wrap="square" lIns="0" tIns="0" rIns="0" bIns="0" rtlCol="0"/>
          <a:lstStyle/>
          <a:p>
            <a:endParaRPr/>
          </a:p>
        </p:txBody>
      </p:sp>
      <p:sp>
        <p:nvSpPr>
          <p:cNvPr id="9" name="标题 8"/>
          <p:cNvSpPr>
            <a:spLocks noGrp="1"/>
          </p:cNvSpPr>
          <p:nvPr>
            <p:ph type="title"/>
          </p:nvPr>
        </p:nvSpPr>
        <p:spPr/>
        <p:txBody>
          <a:bodyPr/>
          <a:lstStyle/>
          <a:p>
            <a:r>
              <a:rPr lang="zh-CN" altLang="en-US" spc="-5" dirty="0"/>
              <a:t>对象的创建与撤销</a:t>
            </a:r>
            <a:endParaRPr lang="zh-CN" altLang="en-US" dirty="0"/>
          </a:p>
        </p:txBody>
      </p:sp>
      <p:sp>
        <p:nvSpPr>
          <p:cNvPr id="10" name="灯片编号占位符 9"/>
          <p:cNvSpPr>
            <a:spLocks noGrp="1"/>
          </p:cNvSpPr>
          <p:nvPr>
            <p:ph type="sldNum" sz="quarter" idx="12"/>
          </p:nvPr>
        </p:nvSpPr>
        <p:spPr/>
        <p:txBody>
          <a:bodyPr/>
          <a:lstStyle/>
          <a:p>
            <a:fld id="{74D2AB8B-5816-41F2-8B4B-CA5C3E4E6A65}" type="slidenum">
              <a:rPr lang="zh-CN" altLang="en-US" smtClean="0"/>
              <a:t>53</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91158"/>
    </mc:Choice>
    <mc:Fallback xmlns="">
      <p:transition spd="slow" advTm="91158"/>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7" name="组合 66"/>
          <p:cNvGrpSpPr/>
          <p:nvPr/>
        </p:nvGrpSpPr>
        <p:grpSpPr>
          <a:xfrm>
            <a:off x="558800" y="1263251"/>
            <a:ext cx="11074399" cy="5186679"/>
            <a:chOff x="494207" y="1127720"/>
            <a:chExt cx="11074399" cy="5186679"/>
          </a:xfrm>
        </p:grpSpPr>
        <p:sp>
          <p:nvSpPr>
            <p:cNvPr id="2" name="object 2"/>
            <p:cNvSpPr/>
            <p:nvPr/>
          </p:nvSpPr>
          <p:spPr>
            <a:xfrm>
              <a:off x="1510207" y="1280120"/>
              <a:ext cx="1320800" cy="400685"/>
            </a:xfrm>
            <a:custGeom>
              <a:avLst/>
              <a:gdLst/>
              <a:ahLst/>
              <a:cxnLst/>
              <a:rect l="l" t="t" r="r" b="b"/>
              <a:pathLst>
                <a:path w="1320800" h="400685">
                  <a:moveTo>
                    <a:pt x="0" y="0"/>
                  </a:moveTo>
                  <a:lnTo>
                    <a:pt x="1320799" y="0"/>
                  </a:lnTo>
                  <a:lnTo>
                    <a:pt x="1320799" y="400110"/>
                  </a:lnTo>
                  <a:lnTo>
                    <a:pt x="0" y="400110"/>
                  </a:lnTo>
                  <a:lnTo>
                    <a:pt x="0" y="0"/>
                  </a:lnTo>
                  <a:close/>
                </a:path>
              </a:pathLst>
            </a:custGeom>
            <a:ln w="9524">
              <a:solidFill>
                <a:srgbClr val="000000"/>
              </a:solidFill>
            </a:ln>
          </p:spPr>
          <p:txBody>
            <a:bodyPr wrap="square" lIns="0" tIns="0" rIns="0" bIns="0" rtlCol="0"/>
            <a:lstStyle/>
            <a:p>
              <a:endParaRPr/>
            </a:p>
          </p:txBody>
        </p:sp>
        <p:sp>
          <p:nvSpPr>
            <p:cNvPr id="3" name="object 3"/>
            <p:cNvSpPr txBox="1"/>
            <p:nvPr/>
          </p:nvSpPr>
          <p:spPr>
            <a:xfrm>
              <a:off x="1334947" y="1313140"/>
              <a:ext cx="787400" cy="330200"/>
            </a:xfrm>
            <a:prstGeom prst="rect">
              <a:avLst/>
            </a:prstGeom>
          </p:spPr>
          <p:txBody>
            <a:bodyPr vert="horz" wrap="square" lIns="0" tIns="12700" rIns="0" bIns="0" rtlCol="0">
              <a:spAutoFit/>
            </a:bodyPr>
            <a:lstStyle/>
            <a:p>
              <a:pPr marL="12700">
                <a:lnSpc>
                  <a:spcPct val="100000"/>
                </a:lnSpc>
                <a:spcBef>
                  <a:spcPts val="100"/>
                </a:spcBef>
              </a:pPr>
              <a:r>
                <a:rPr sz="2000" dirty="0">
                  <a:latin typeface="华文新魏" panose="02010800040101010101" charset="-122"/>
                  <a:cs typeface="华文新魏" panose="02010800040101010101" charset="-122"/>
                </a:rPr>
                <a:t>：交易</a:t>
              </a:r>
              <a:endParaRPr sz="2000">
                <a:latin typeface="华文新魏" panose="02010800040101010101" charset="-122"/>
                <a:cs typeface="华文新魏" panose="02010800040101010101" charset="-122"/>
              </a:endParaRPr>
            </a:p>
          </p:txBody>
        </p:sp>
        <p:sp>
          <p:nvSpPr>
            <p:cNvPr id="4" name="object 4"/>
            <p:cNvSpPr/>
            <p:nvPr/>
          </p:nvSpPr>
          <p:spPr>
            <a:xfrm>
              <a:off x="6996606" y="2346920"/>
              <a:ext cx="2438400" cy="400685"/>
            </a:xfrm>
            <a:custGeom>
              <a:avLst/>
              <a:gdLst/>
              <a:ahLst/>
              <a:cxnLst/>
              <a:rect l="l" t="t" r="r" b="b"/>
              <a:pathLst>
                <a:path w="2438400" h="400685">
                  <a:moveTo>
                    <a:pt x="0" y="0"/>
                  </a:moveTo>
                  <a:lnTo>
                    <a:pt x="2438399" y="0"/>
                  </a:lnTo>
                  <a:lnTo>
                    <a:pt x="2438399" y="400109"/>
                  </a:lnTo>
                  <a:lnTo>
                    <a:pt x="0" y="400109"/>
                  </a:lnTo>
                  <a:lnTo>
                    <a:pt x="0" y="0"/>
                  </a:lnTo>
                  <a:close/>
                </a:path>
              </a:pathLst>
            </a:custGeom>
            <a:ln w="9524">
              <a:solidFill>
                <a:srgbClr val="000000"/>
              </a:solidFill>
            </a:ln>
          </p:spPr>
          <p:txBody>
            <a:bodyPr wrap="square" lIns="0" tIns="0" rIns="0" bIns="0" rtlCol="0"/>
            <a:lstStyle/>
            <a:p>
              <a:endParaRPr/>
            </a:p>
          </p:txBody>
        </p:sp>
        <p:sp>
          <p:nvSpPr>
            <p:cNvPr id="5" name="object 5"/>
            <p:cNvSpPr/>
            <p:nvPr/>
          </p:nvSpPr>
          <p:spPr>
            <a:xfrm>
              <a:off x="4253407" y="1813520"/>
              <a:ext cx="1727200" cy="400685"/>
            </a:xfrm>
            <a:custGeom>
              <a:avLst/>
              <a:gdLst/>
              <a:ahLst/>
              <a:cxnLst/>
              <a:rect l="l" t="t" r="r" b="b"/>
              <a:pathLst>
                <a:path w="1727200" h="400685">
                  <a:moveTo>
                    <a:pt x="0" y="0"/>
                  </a:moveTo>
                  <a:lnTo>
                    <a:pt x="1727199" y="0"/>
                  </a:lnTo>
                  <a:lnTo>
                    <a:pt x="1727199" y="400110"/>
                  </a:lnTo>
                  <a:lnTo>
                    <a:pt x="0" y="400110"/>
                  </a:lnTo>
                  <a:lnTo>
                    <a:pt x="0" y="0"/>
                  </a:lnTo>
                  <a:close/>
                </a:path>
              </a:pathLst>
            </a:custGeom>
            <a:ln w="9524">
              <a:solidFill>
                <a:srgbClr val="000000"/>
              </a:solidFill>
            </a:ln>
          </p:spPr>
          <p:txBody>
            <a:bodyPr wrap="square" lIns="0" tIns="0" rIns="0" bIns="0" rtlCol="0"/>
            <a:lstStyle/>
            <a:p>
              <a:endParaRPr/>
            </a:p>
          </p:txBody>
        </p:sp>
        <p:sp>
          <p:nvSpPr>
            <p:cNvPr id="6" name="object 6"/>
            <p:cNvSpPr txBox="1"/>
            <p:nvPr/>
          </p:nvSpPr>
          <p:spPr>
            <a:xfrm>
              <a:off x="4078147" y="1846540"/>
              <a:ext cx="1549400" cy="330200"/>
            </a:xfrm>
            <a:prstGeom prst="rect">
              <a:avLst/>
            </a:prstGeom>
          </p:spPr>
          <p:txBody>
            <a:bodyPr vert="horz" wrap="square" lIns="0" tIns="12700" rIns="0" bIns="0" rtlCol="0">
              <a:spAutoFit/>
            </a:bodyPr>
            <a:lstStyle/>
            <a:p>
              <a:pPr marL="12700">
                <a:lnSpc>
                  <a:spcPct val="100000"/>
                </a:lnSpc>
                <a:spcBef>
                  <a:spcPts val="100"/>
                </a:spcBef>
              </a:pPr>
              <a:r>
                <a:rPr sz="2000" dirty="0">
                  <a:latin typeface="华文新魏" panose="02010800040101010101" charset="-122"/>
                  <a:cs typeface="华文新魏" panose="02010800040101010101" charset="-122"/>
                </a:rPr>
                <a:t>：交易协调器</a:t>
              </a:r>
              <a:endParaRPr sz="2000">
                <a:latin typeface="华文新魏" panose="02010800040101010101" charset="-122"/>
                <a:cs typeface="华文新魏" panose="02010800040101010101" charset="-122"/>
              </a:endParaRPr>
            </a:p>
          </p:txBody>
        </p:sp>
        <p:sp>
          <p:nvSpPr>
            <p:cNvPr id="7" name="object 7"/>
            <p:cNvSpPr/>
            <p:nvPr/>
          </p:nvSpPr>
          <p:spPr>
            <a:xfrm>
              <a:off x="2127683" y="1624038"/>
              <a:ext cx="0" cy="115570"/>
            </a:xfrm>
            <a:custGeom>
              <a:avLst/>
              <a:gdLst/>
              <a:ahLst/>
              <a:cxnLst/>
              <a:rect l="l" t="t" r="r" b="b"/>
              <a:pathLst>
                <a:path h="115569">
                  <a:moveTo>
                    <a:pt x="0" y="0"/>
                  </a:moveTo>
                  <a:lnTo>
                    <a:pt x="0" y="115242"/>
                  </a:lnTo>
                </a:path>
              </a:pathLst>
            </a:custGeom>
            <a:ln w="25276">
              <a:solidFill>
                <a:srgbClr val="000000"/>
              </a:solidFill>
            </a:ln>
          </p:spPr>
          <p:txBody>
            <a:bodyPr wrap="square" lIns="0" tIns="0" rIns="0" bIns="0" rtlCol="0"/>
            <a:lstStyle/>
            <a:p>
              <a:endParaRPr/>
            </a:p>
          </p:txBody>
        </p:sp>
        <p:sp>
          <p:nvSpPr>
            <p:cNvPr id="8" name="object 8"/>
            <p:cNvSpPr/>
            <p:nvPr/>
          </p:nvSpPr>
          <p:spPr>
            <a:xfrm>
              <a:off x="2127683" y="2348880"/>
              <a:ext cx="0" cy="3503295"/>
            </a:xfrm>
            <a:custGeom>
              <a:avLst/>
              <a:gdLst/>
              <a:ahLst/>
              <a:cxnLst/>
              <a:rect l="l" t="t" r="r" b="b"/>
              <a:pathLst>
                <a:path h="3503295">
                  <a:moveTo>
                    <a:pt x="0" y="0"/>
                  </a:moveTo>
                  <a:lnTo>
                    <a:pt x="0" y="3503239"/>
                  </a:lnTo>
                </a:path>
              </a:pathLst>
            </a:custGeom>
            <a:ln w="25276">
              <a:solidFill>
                <a:srgbClr val="000000"/>
              </a:solidFill>
            </a:ln>
          </p:spPr>
          <p:txBody>
            <a:bodyPr wrap="square" lIns="0" tIns="0" rIns="0" bIns="0" rtlCol="0"/>
            <a:lstStyle/>
            <a:p>
              <a:endParaRPr/>
            </a:p>
          </p:txBody>
        </p:sp>
        <p:sp>
          <p:nvSpPr>
            <p:cNvPr id="9" name="object 9"/>
            <p:cNvSpPr/>
            <p:nvPr/>
          </p:nvSpPr>
          <p:spPr>
            <a:xfrm>
              <a:off x="2127683" y="6233119"/>
              <a:ext cx="0" cy="81280"/>
            </a:xfrm>
            <a:custGeom>
              <a:avLst/>
              <a:gdLst/>
              <a:ahLst/>
              <a:cxnLst/>
              <a:rect l="l" t="t" r="r" b="b"/>
              <a:pathLst>
                <a:path h="81279">
                  <a:moveTo>
                    <a:pt x="0" y="0"/>
                  </a:moveTo>
                  <a:lnTo>
                    <a:pt x="0" y="80961"/>
                  </a:lnTo>
                </a:path>
              </a:pathLst>
            </a:custGeom>
            <a:ln w="25276">
              <a:solidFill>
                <a:srgbClr val="000000"/>
              </a:solidFill>
            </a:ln>
          </p:spPr>
          <p:txBody>
            <a:bodyPr wrap="square" lIns="0" tIns="0" rIns="0" bIns="0" rtlCol="0"/>
            <a:lstStyle/>
            <a:p>
              <a:endParaRPr/>
            </a:p>
          </p:txBody>
        </p:sp>
        <p:sp>
          <p:nvSpPr>
            <p:cNvPr id="10" name="object 10"/>
            <p:cNvSpPr/>
            <p:nvPr/>
          </p:nvSpPr>
          <p:spPr>
            <a:xfrm>
              <a:off x="2069007" y="1749641"/>
              <a:ext cx="203200" cy="609600"/>
            </a:xfrm>
            <a:custGeom>
              <a:avLst/>
              <a:gdLst/>
              <a:ahLst/>
              <a:cxnLst/>
              <a:rect l="l" t="t" r="r" b="b"/>
              <a:pathLst>
                <a:path w="203200" h="609600">
                  <a:moveTo>
                    <a:pt x="0" y="0"/>
                  </a:moveTo>
                  <a:lnTo>
                    <a:pt x="203199" y="0"/>
                  </a:lnTo>
                  <a:lnTo>
                    <a:pt x="203199" y="609599"/>
                  </a:lnTo>
                  <a:lnTo>
                    <a:pt x="0" y="609599"/>
                  </a:lnTo>
                  <a:lnTo>
                    <a:pt x="0" y="0"/>
                  </a:lnTo>
                  <a:close/>
                </a:path>
              </a:pathLst>
            </a:custGeom>
            <a:ln w="9524">
              <a:solidFill>
                <a:srgbClr val="000000"/>
              </a:solidFill>
            </a:ln>
          </p:spPr>
          <p:txBody>
            <a:bodyPr wrap="square" lIns="0" tIns="0" rIns="0" bIns="0" rtlCol="0"/>
            <a:lstStyle/>
            <a:p>
              <a:endParaRPr/>
            </a:p>
          </p:txBody>
        </p:sp>
        <p:sp>
          <p:nvSpPr>
            <p:cNvPr id="11" name="object 11"/>
            <p:cNvSpPr txBox="1"/>
            <p:nvPr/>
          </p:nvSpPr>
          <p:spPr>
            <a:xfrm>
              <a:off x="2862371" y="1805837"/>
              <a:ext cx="533400" cy="330200"/>
            </a:xfrm>
            <a:prstGeom prst="rect">
              <a:avLst/>
            </a:prstGeom>
          </p:spPr>
          <p:txBody>
            <a:bodyPr vert="horz" wrap="square" lIns="0" tIns="12700" rIns="0" bIns="0" rtlCol="0">
              <a:spAutoFit/>
            </a:bodyPr>
            <a:lstStyle/>
            <a:p>
              <a:pPr marL="12700">
                <a:lnSpc>
                  <a:spcPct val="100000"/>
                </a:lnSpc>
                <a:spcBef>
                  <a:spcPts val="100"/>
                </a:spcBef>
              </a:pPr>
              <a:r>
                <a:rPr sz="2000" dirty="0">
                  <a:latin typeface="华文新魏" panose="02010800040101010101" charset="-122"/>
                  <a:cs typeface="华文新魏" panose="02010800040101010101" charset="-122"/>
                </a:rPr>
                <a:t>创建</a:t>
              </a:r>
              <a:endParaRPr sz="2000">
                <a:latin typeface="华文新魏" panose="02010800040101010101" charset="-122"/>
                <a:cs typeface="华文新魏" panose="02010800040101010101" charset="-122"/>
              </a:endParaRPr>
            </a:p>
          </p:txBody>
        </p:sp>
        <p:sp>
          <p:nvSpPr>
            <p:cNvPr id="12" name="object 12"/>
            <p:cNvSpPr/>
            <p:nvPr/>
          </p:nvSpPr>
          <p:spPr>
            <a:xfrm>
              <a:off x="4867435" y="2200102"/>
              <a:ext cx="0" cy="76835"/>
            </a:xfrm>
            <a:custGeom>
              <a:avLst/>
              <a:gdLst/>
              <a:ahLst/>
              <a:cxnLst/>
              <a:rect l="l" t="t" r="r" b="b"/>
              <a:pathLst>
                <a:path h="76835">
                  <a:moveTo>
                    <a:pt x="0" y="0"/>
                  </a:moveTo>
                  <a:lnTo>
                    <a:pt x="0" y="76770"/>
                  </a:lnTo>
                </a:path>
              </a:pathLst>
            </a:custGeom>
            <a:ln w="18381">
              <a:solidFill>
                <a:srgbClr val="000000"/>
              </a:solidFill>
            </a:ln>
          </p:spPr>
          <p:txBody>
            <a:bodyPr wrap="square" lIns="0" tIns="0" rIns="0" bIns="0" rtlCol="0"/>
            <a:lstStyle/>
            <a:p>
              <a:endParaRPr/>
            </a:p>
          </p:txBody>
        </p:sp>
        <p:sp>
          <p:nvSpPr>
            <p:cNvPr id="13" name="object 13"/>
            <p:cNvSpPr/>
            <p:nvPr/>
          </p:nvSpPr>
          <p:spPr>
            <a:xfrm>
              <a:off x="4867435" y="3724672"/>
              <a:ext cx="0" cy="375285"/>
            </a:xfrm>
            <a:custGeom>
              <a:avLst/>
              <a:gdLst/>
              <a:ahLst/>
              <a:cxnLst/>
              <a:rect l="l" t="t" r="r" b="b"/>
              <a:pathLst>
                <a:path h="375285">
                  <a:moveTo>
                    <a:pt x="0" y="0"/>
                  </a:moveTo>
                  <a:lnTo>
                    <a:pt x="0" y="374848"/>
                  </a:lnTo>
                </a:path>
              </a:pathLst>
            </a:custGeom>
            <a:ln w="18381">
              <a:solidFill>
                <a:srgbClr val="000000"/>
              </a:solidFill>
            </a:ln>
          </p:spPr>
          <p:txBody>
            <a:bodyPr wrap="square" lIns="0" tIns="0" rIns="0" bIns="0" rtlCol="0"/>
            <a:lstStyle/>
            <a:p>
              <a:endParaRPr/>
            </a:p>
          </p:txBody>
        </p:sp>
        <p:sp>
          <p:nvSpPr>
            <p:cNvPr id="14" name="object 14"/>
            <p:cNvSpPr/>
            <p:nvPr/>
          </p:nvSpPr>
          <p:spPr>
            <a:xfrm>
              <a:off x="4867435" y="4861520"/>
              <a:ext cx="0" cy="228600"/>
            </a:xfrm>
            <a:custGeom>
              <a:avLst/>
              <a:gdLst/>
              <a:ahLst/>
              <a:cxnLst/>
              <a:rect l="l" t="t" r="r" b="b"/>
              <a:pathLst>
                <a:path h="228600">
                  <a:moveTo>
                    <a:pt x="0" y="0"/>
                  </a:moveTo>
                  <a:lnTo>
                    <a:pt x="0" y="228598"/>
                  </a:lnTo>
                </a:path>
              </a:pathLst>
            </a:custGeom>
            <a:ln w="18381">
              <a:solidFill>
                <a:srgbClr val="000000"/>
              </a:solidFill>
            </a:ln>
          </p:spPr>
          <p:txBody>
            <a:bodyPr wrap="square" lIns="0" tIns="0" rIns="0" bIns="0" rtlCol="0"/>
            <a:lstStyle/>
            <a:p>
              <a:endParaRPr/>
            </a:p>
          </p:txBody>
        </p:sp>
        <p:sp>
          <p:nvSpPr>
            <p:cNvPr id="15" name="object 15"/>
            <p:cNvSpPr/>
            <p:nvPr/>
          </p:nvSpPr>
          <p:spPr>
            <a:xfrm>
              <a:off x="4867435" y="5928319"/>
              <a:ext cx="0" cy="81280"/>
            </a:xfrm>
            <a:custGeom>
              <a:avLst/>
              <a:gdLst/>
              <a:ahLst/>
              <a:cxnLst/>
              <a:rect l="l" t="t" r="r" b="b"/>
              <a:pathLst>
                <a:path h="81279">
                  <a:moveTo>
                    <a:pt x="0" y="0"/>
                  </a:moveTo>
                  <a:lnTo>
                    <a:pt x="0" y="80962"/>
                  </a:lnTo>
                </a:path>
              </a:pathLst>
            </a:custGeom>
            <a:ln w="18381">
              <a:solidFill>
                <a:srgbClr val="000000"/>
              </a:solidFill>
            </a:ln>
          </p:spPr>
          <p:txBody>
            <a:bodyPr wrap="square" lIns="0" tIns="0" rIns="0" bIns="0" rtlCol="0"/>
            <a:lstStyle/>
            <a:p>
              <a:endParaRPr/>
            </a:p>
          </p:txBody>
        </p:sp>
        <p:sp>
          <p:nvSpPr>
            <p:cNvPr id="16" name="object 16"/>
            <p:cNvSpPr/>
            <p:nvPr/>
          </p:nvSpPr>
          <p:spPr>
            <a:xfrm>
              <a:off x="4761406" y="2276872"/>
              <a:ext cx="203200" cy="1447800"/>
            </a:xfrm>
            <a:custGeom>
              <a:avLst/>
              <a:gdLst/>
              <a:ahLst/>
              <a:cxnLst/>
              <a:rect l="l" t="t" r="r" b="b"/>
              <a:pathLst>
                <a:path w="203200" h="1447800">
                  <a:moveTo>
                    <a:pt x="0" y="0"/>
                  </a:moveTo>
                  <a:lnTo>
                    <a:pt x="203199" y="0"/>
                  </a:lnTo>
                  <a:lnTo>
                    <a:pt x="203199" y="1447799"/>
                  </a:lnTo>
                  <a:lnTo>
                    <a:pt x="0" y="1447799"/>
                  </a:lnTo>
                  <a:lnTo>
                    <a:pt x="0" y="0"/>
                  </a:lnTo>
                  <a:close/>
                </a:path>
              </a:pathLst>
            </a:custGeom>
            <a:ln w="9524">
              <a:solidFill>
                <a:srgbClr val="000000"/>
              </a:solidFill>
            </a:ln>
          </p:spPr>
          <p:txBody>
            <a:bodyPr wrap="square" lIns="0" tIns="0" rIns="0" bIns="0" rtlCol="0"/>
            <a:lstStyle/>
            <a:p>
              <a:endParaRPr/>
            </a:p>
          </p:txBody>
        </p:sp>
        <p:sp>
          <p:nvSpPr>
            <p:cNvPr id="17" name="object 17"/>
            <p:cNvSpPr txBox="1"/>
            <p:nvPr/>
          </p:nvSpPr>
          <p:spPr>
            <a:xfrm>
              <a:off x="2706547" y="5275540"/>
              <a:ext cx="1295400" cy="330200"/>
            </a:xfrm>
            <a:prstGeom prst="rect">
              <a:avLst/>
            </a:prstGeom>
          </p:spPr>
          <p:txBody>
            <a:bodyPr vert="horz" wrap="square" lIns="0" tIns="12700" rIns="0" bIns="0" rtlCol="0">
              <a:spAutoFit/>
            </a:bodyPr>
            <a:lstStyle/>
            <a:p>
              <a:pPr marL="12700">
                <a:lnSpc>
                  <a:spcPct val="100000"/>
                </a:lnSpc>
                <a:spcBef>
                  <a:spcPts val="100"/>
                </a:spcBef>
              </a:pPr>
              <a:r>
                <a:rPr sz="2000" dirty="0">
                  <a:latin typeface="华文新魏" panose="02010800040101010101" charset="-122"/>
                  <a:cs typeface="华文新魏" panose="02010800040101010101" charset="-122"/>
                </a:rPr>
                <a:t>返回有效性</a:t>
              </a:r>
              <a:endParaRPr sz="2000">
                <a:latin typeface="华文新魏" panose="02010800040101010101" charset="-122"/>
                <a:cs typeface="华文新魏" panose="02010800040101010101" charset="-122"/>
              </a:endParaRPr>
            </a:p>
          </p:txBody>
        </p:sp>
        <p:sp>
          <p:nvSpPr>
            <p:cNvPr id="18" name="object 18"/>
            <p:cNvSpPr/>
            <p:nvPr/>
          </p:nvSpPr>
          <p:spPr>
            <a:xfrm>
              <a:off x="7606206" y="4251920"/>
              <a:ext cx="508000" cy="304800"/>
            </a:xfrm>
            <a:custGeom>
              <a:avLst/>
              <a:gdLst/>
              <a:ahLst/>
              <a:cxnLst/>
              <a:rect l="l" t="t" r="r" b="b"/>
              <a:pathLst>
                <a:path w="508000" h="304800">
                  <a:moveTo>
                    <a:pt x="507999" y="0"/>
                  </a:moveTo>
                  <a:lnTo>
                    <a:pt x="0" y="304799"/>
                  </a:lnTo>
                </a:path>
              </a:pathLst>
            </a:custGeom>
            <a:ln w="9524">
              <a:solidFill>
                <a:srgbClr val="000000"/>
              </a:solidFill>
            </a:ln>
          </p:spPr>
          <p:txBody>
            <a:bodyPr wrap="square" lIns="0" tIns="0" rIns="0" bIns="0" rtlCol="0"/>
            <a:lstStyle/>
            <a:p>
              <a:endParaRPr/>
            </a:p>
          </p:txBody>
        </p:sp>
        <p:sp>
          <p:nvSpPr>
            <p:cNvPr id="19" name="object 19"/>
            <p:cNvSpPr/>
            <p:nvPr/>
          </p:nvSpPr>
          <p:spPr>
            <a:xfrm>
              <a:off x="7707806" y="4251920"/>
              <a:ext cx="508000" cy="304800"/>
            </a:xfrm>
            <a:custGeom>
              <a:avLst/>
              <a:gdLst/>
              <a:ahLst/>
              <a:cxnLst/>
              <a:rect l="l" t="t" r="r" b="b"/>
              <a:pathLst>
                <a:path w="508000" h="304800">
                  <a:moveTo>
                    <a:pt x="0" y="0"/>
                  </a:moveTo>
                  <a:lnTo>
                    <a:pt x="507999" y="304799"/>
                  </a:lnTo>
                </a:path>
              </a:pathLst>
            </a:custGeom>
            <a:ln w="9524">
              <a:solidFill>
                <a:srgbClr val="000000"/>
              </a:solidFill>
            </a:ln>
          </p:spPr>
          <p:txBody>
            <a:bodyPr wrap="square" lIns="0" tIns="0" rIns="0" bIns="0" rtlCol="0"/>
            <a:lstStyle/>
            <a:p>
              <a:endParaRPr/>
            </a:p>
          </p:txBody>
        </p:sp>
        <p:sp>
          <p:nvSpPr>
            <p:cNvPr id="20" name="object 20"/>
            <p:cNvSpPr/>
            <p:nvPr/>
          </p:nvSpPr>
          <p:spPr>
            <a:xfrm>
              <a:off x="519607" y="1556345"/>
              <a:ext cx="991235" cy="0"/>
            </a:xfrm>
            <a:custGeom>
              <a:avLst/>
              <a:gdLst/>
              <a:ahLst/>
              <a:cxnLst/>
              <a:rect l="l" t="t" r="r" b="b"/>
              <a:pathLst>
                <a:path w="991235">
                  <a:moveTo>
                    <a:pt x="0" y="0"/>
                  </a:moveTo>
                  <a:lnTo>
                    <a:pt x="990794" y="0"/>
                  </a:lnTo>
                </a:path>
              </a:pathLst>
            </a:custGeom>
            <a:ln w="9524">
              <a:solidFill>
                <a:srgbClr val="000000"/>
              </a:solidFill>
            </a:ln>
          </p:spPr>
          <p:txBody>
            <a:bodyPr wrap="square" lIns="0" tIns="0" rIns="0" bIns="0" rtlCol="0"/>
            <a:lstStyle/>
            <a:p>
              <a:endParaRPr/>
            </a:p>
          </p:txBody>
        </p:sp>
        <p:sp>
          <p:nvSpPr>
            <p:cNvPr id="21" name="object 21"/>
            <p:cNvSpPr/>
            <p:nvPr/>
          </p:nvSpPr>
          <p:spPr>
            <a:xfrm>
              <a:off x="1419698" y="1497390"/>
              <a:ext cx="115909" cy="117909"/>
            </a:xfrm>
            <a:prstGeom prst="rect">
              <a:avLst/>
            </a:prstGeom>
            <a:blipFill>
              <a:blip r:embed="rId3" cstate="print"/>
              <a:stretch>
                <a:fillRect/>
              </a:stretch>
            </a:blipFill>
          </p:spPr>
          <p:txBody>
            <a:bodyPr wrap="square" lIns="0" tIns="0" rIns="0" bIns="0" rtlCol="0"/>
            <a:lstStyle/>
            <a:p>
              <a:endParaRPr/>
            </a:p>
          </p:txBody>
        </p:sp>
        <p:sp>
          <p:nvSpPr>
            <p:cNvPr id="22" name="object 22"/>
            <p:cNvSpPr/>
            <p:nvPr/>
          </p:nvSpPr>
          <p:spPr>
            <a:xfrm>
              <a:off x="494207" y="1127720"/>
              <a:ext cx="914400" cy="400685"/>
            </a:xfrm>
            <a:custGeom>
              <a:avLst/>
              <a:gdLst/>
              <a:ahLst/>
              <a:cxnLst/>
              <a:rect l="l" t="t" r="r" b="b"/>
              <a:pathLst>
                <a:path w="914400" h="400684">
                  <a:moveTo>
                    <a:pt x="0" y="0"/>
                  </a:moveTo>
                  <a:lnTo>
                    <a:pt x="914399" y="0"/>
                  </a:lnTo>
                  <a:lnTo>
                    <a:pt x="914399" y="400109"/>
                  </a:lnTo>
                  <a:lnTo>
                    <a:pt x="0" y="400109"/>
                  </a:lnTo>
                  <a:lnTo>
                    <a:pt x="0" y="0"/>
                  </a:lnTo>
                  <a:close/>
                </a:path>
              </a:pathLst>
            </a:custGeom>
            <a:solidFill>
              <a:srgbClr val="FFFFFF"/>
            </a:solidFill>
          </p:spPr>
          <p:txBody>
            <a:bodyPr wrap="square" lIns="0" tIns="0" rIns="0" bIns="0" rtlCol="0"/>
            <a:lstStyle/>
            <a:p>
              <a:endParaRPr/>
            </a:p>
          </p:txBody>
        </p:sp>
        <p:sp>
          <p:nvSpPr>
            <p:cNvPr id="23" name="object 23"/>
            <p:cNvSpPr txBox="1"/>
            <p:nvPr/>
          </p:nvSpPr>
          <p:spPr>
            <a:xfrm>
              <a:off x="572947" y="1160740"/>
              <a:ext cx="533400" cy="330200"/>
            </a:xfrm>
            <a:prstGeom prst="rect">
              <a:avLst/>
            </a:prstGeom>
          </p:spPr>
          <p:txBody>
            <a:bodyPr vert="horz" wrap="square" lIns="0" tIns="12700" rIns="0" bIns="0" rtlCol="0">
              <a:spAutoFit/>
            </a:bodyPr>
            <a:lstStyle/>
            <a:p>
              <a:pPr marL="12700">
                <a:lnSpc>
                  <a:spcPct val="100000"/>
                </a:lnSpc>
                <a:spcBef>
                  <a:spcPts val="100"/>
                </a:spcBef>
              </a:pPr>
              <a:r>
                <a:rPr sz="2000" dirty="0">
                  <a:latin typeface="华文新魏" panose="02010800040101010101" charset="-122"/>
                  <a:cs typeface="华文新魏" panose="02010800040101010101" charset="-122"/>
                </a:rPr>
                <a:t>创建</a:t>
              </a:r>
              <a:endParaRPr sz="2000">
                <a:latin typeface="华文新魏" panose="02010800040101010101" charset="-122"/>
                <a:cs typeface="华文新魏" panose="02010800040101010101" charset="-122"/>
              </a:endParaRPr>
            </a:p>
          </p:txBody>
        </p:sp>
        <p:sp>
          <p:nvSpPr>
            <p:cNvPr id="24" name="object 24"/>
            <p:cNvSpPr txBox="1"/>
            <p:nvPr/>
          </p:nvSpPr>
          <p:spPr>
            <a:xfrm>
              <a:off x="6102730" y="2165877"/>
              <a:ext cx="3030220" cy="544830"/>
            </a:xfrm>
            <a:prstGeom prst="rect">
              <a:avLst/>
            </a:prstGeom>
          </p:spPr>
          <p:txBody>
            <a:bodyPr vert="horz" wrap="square" lIns="0" tIns="12700" rIns="0" bIns="0" rtlCol="0">
              <a:spAutoFit/>
            </a:bodyPr>
            <a:lstStyle/>
            <a:p>
              <a:pPr marL="12700">
                <a:lnSpc>
                  <a:spcPts val="2045"/>
                </a:lnSpc>
                <a:spcBef>
                  <a:spcPts val="100"/>
                </a:spcBef>
              </a:pPr>
              <a:r>
                <a:rPr sz="2000" dirty="0">
                  <a:latin typeface="华文新魏" panose="02010800040101010101" charset="-122"/>
                  <a:cs typeface="华文新魏" panose="02010800040101010101" charset="-122"/>
                </a:rPr>
                <a:t>创建</a:t>
              </a:r>
              <a:endParaRPr sz="2000">
                <a:latin typeface="华文新魏" panose="02010800040101010101" charset="-122"/>
                <a:cs typeface="华文新魏" panose="02010800040101010101" charset="-122"/>
              </a:endParaRPr>
            </a:p>
            <a:p>
              <a:pPr marL="984885">
                <a:lnSpc>
                  <a:spcPts val="2045"/>
                </a:lnSpc>
              </a:pPr>
              <a:r>
                <a:rPr sz="2000" dirty="0">
                  <a:latin typeface="华文新魏" panose="02010800040101010101" charset="-122"/>
                  <a:cs typeface="华文新魏" panose="02010800040101010101" charset="-122"/>
                </a:rPr>
                <a:t>信用：交易检查器</a:t>
              </a:r>
              <a:endParaRPr sz="2000">
                <a:latin typeface="华文新魏" panose="02010800040101010101" charset="-122"/>
                <a:cs typeface="华文新魏" panose="02010800040101010101" charset="-122"/>
              </a:endParaRPr>
            </a:p>
          </p:txBody>
        </p:sp>
        <p:sp>
          <p:nvSpPr>
            <p:cNvPr id="25" name="object 25"/>
            <p:cNvSpPr/>
            <p:nvPr/>
          </p:nvSpPr>
          <p:spPr>
            <a:xfrm>
              <a:off x="9231806" y="2804120"/>
              <a:ext cx="2336800" cy="400685"/>
            </a:xfrm>
            <a:custGeom>
              <a:avLst/>
              <a:gdLst/>
              <a:ahLst/>
              <a:cxnLst/>
              <a:rect l="l" t="t" r="r" b="b"/>
              <a:pathLst>
                <a:path w="2336800" h="400685">
                  <a:moveTo>
                    <a:pt x="0" y="0"/>
                  </a:moveTo>
                  <a:lnTo>
                    <a:pt x="2336798" y="0"/>
                  </a:lnTo>
                  <a:lnTo>
                    <a:pt x="2336798" y="400110"/>
                  </a:lnTo>
                  <a:lnTo>
                    <a:pt x="0" y="400110"/>
                  </a:lnTo>
                  <a:lnTo>
                    <a:pt x="0" y="0"/>
                  </a:lnTo>
                  <a:close/>
                </a:path>
              </a:pathLst>
            </a:custGeom>
            <a:ln w="9524">
              <a:solidFill>
                <a:srgbClr val="000000"/>
              </a:solidFill>
            </a:ln>
          </p:spPr>
          <p:txBody>
            <a:bodyPr wrap="square" lIns="0" tIns="0" rIns="0" bIns="0" rtlCol="0"/>
            <a:lstStyle/>
            <a:p>
              <a:endParaRPr/>
            </a:p>
          </p:txBody>
        </p:sp>
        <p:sp>
          <p:nvSpPr>
            <p:cNvPr id="26" name="object 26"/>
            <p:cNvSpPr txBox="1"/>
            <p:nvPr/>
          </p:nvSpPr>
          <p:spPr>
            <a:xfrm>
              <a:off x="9310547" y="2837140"/>
              <a:ext cx="2057400" cy="330200"/>
            </a:xfrm>
            <a:prstGeom prst="rect">
              <a:avLst/>
            </a:prstGeom>
          </p:spPr>
          <p:txBody>
            <a:bodyPr vert="horz" wrap="square" lIns="0" tIns="12700" rIns="0" bIns="0" rtlCol="0">
              <a:spAutoFit/>
            </a:bodyPr>
            <a:lstStyle/>
            <a:p>
              <a:pPr marL="12700">
                <a:lnSpc>
                  <a:spcPct val="100000"/>
                </a:lnSpc>
                <a:spcBef>
                  <a:spcPts val="100"/>
                </a:spcBef>
              </a:pPr>
              <a:r>
                <a:rPr sz="2000" dirty="0">
                  <a:latin typeface="华文新魏" panose="02010800040101010101" charset="-122"/>
                  <a:cs typeface="华文新魏" panose="02010800040101010101" charset="-122"/>
                </a:rPr>
                <a:t>担保：交易检查器</a:t>
              </a:r>
              <a:endParaRPr sz="2000">
                <a:latin typeface="华文新魏" panose="02010800040101010101" charset="-122"/>
                <a:cs typeface="华文新魏" panose="02010800040101010101" charset="-122"/>
              </a:endParaRPr>
            </a:p>
          </p:txBody>
        </p:sp>
        <p:sp>
          <p:nvSpPr>
            <p:cNvPr id="27" name="object 27"/>
            <p:cNvSpPr txBox="1"/>
            <p:nvPr/>
          </p:nvSpPr>
          <p:spPr>
            <a:xfrm>
              <a:off x="5957747" y="2684740"/>
              <a:ext cx="533400" cy="330200"/>
            </a:xfrm>
            <a:prstGeom prst="rect">
              <a:avLst/>
            </a:prstGeom>
          </p:spPr>
          <p:txBody>
            <a:bodyPr vert="horz" wrap="square" lIns="0" tIns="12700" rIns="0" bIns="0" rtlCol="0">
              <a:spAutoFit/>
            </a:bodyPr>
            <a:lstStyle/>
            <a:p>
              <a:pPr marL="12700">
                <a:lnSpc>
                  <a:spcPct val="100000"/>
                </a:lnSpc>
                <a:spcBef>
                  <a:spcPts val="100"/>
                </a:spcBef>
              </a:pPr>
              <a:r>
                <a:rPr sz="2000" dirty="0">
                  <a:latin typeface="华文新魏" panose="02010800040101010101" charset="-122"/>
                  <a:cs typeface="华文新魏" panose="02010800040101010101" charset="-122"/>
                </a:rPr>
                <a:t>创建</a:t>
              </a:r>
              <a:endParaRPr sz="2000">
                <a:latin typeface="华文新魏" panose="02010800040101010101" charset="-122"/>
                <a:cs typeface="华文新魏" panose="02010800040101010101" charset="-122"/>
              </a:endParaRPr>
            </a:p>
          </p:txBody>
        </p:sp>
        <p:sp>
          <p:nvSpPr>
            <p:cNvPr id="28" name="object 28"/>
            <p:cNvSpPr/>
            <p:nvPr/>
          </p:nvSpPr>
          <p:spPr>
            <a:xfrm>
              <a:off x="9841406" y="5090119"/>
              <a:ext cx="508000" cy="304800"/>
            </a:xfrm>
            <a:custGeom>
              <a:avLst/>
              <a:gdLst/>
              <a:ahLst/>
              <a:cxnLst/>
              <a:rect l="l" t="t" r="r" b="b"/>
              <a:pathLst>
                <a:path w="508000" h="304800">
                  <a:moveTo>
                    <a:pt x="507999" y="0"/>
                  </a:moveTo>
                  <a:lnTo>
                    <a:pt x="0" y="304799"/>
                  </a:lnTo>
                </a:path>
              </a:pathLst>
            </a:custGeom>
            <a:ln w="9524">
              <a:solidFill>
                <a:srgbClr val="000000"/>
              </a:solidFill>
            </a:ln>
          </p:spPr>
          <p:txBody>
            <a:bodyPr wrap="square" lIns="0" tIns="0" rIns="0" bIns="0" rtlCol="0"/>
            <a:lstStyle/>
            <a:p>
              <a:endParaRPr/>
            </a:p>
          </p:txBody>
        </p:sp>
        <p:sp>
          <p:nvSpPr>
            <p:cNvPr id="29" name="object 29"/>
            <p:cNvSpPr/>
            <p:nvPr/>
          </p:nvSpPr>
          <p:spPr>
            <a:xfrm>
              <a:off x="9943006" y="5090119"/>
              <a:ext cx="508000" cy="304800"/>
            </a:xfrm>
            <a:custGeom>
              <a:avLst/>
              <a:gdLst/>
              <a:ahLst/>
              <a:cxnLst/>
              <a:rect l="l" t="t" r="r" b="b"/>
              <a:pathLst>
                <a:path w="508000" h="304800">
                  <a:moveTo>
                    <a:pt x="0" y="0"/>
                  </a:moveTo>
                  <a:lnTo>
                    <a:pt x="507999" y="304799"/>
                  </a:lnTo>
                </a:path>
              </a:pathLst>
            </a:custGeom>
            <a:ln w="9524">
              <a:solidFill>
                <a:srgbClr val="000000"/>
              </a:solidFill>
            </a:ln>
          </p:spPr>
          <p:txBody>
            <a:bodyPr wrap="square" lIns="0" tIns="0" rIns="0" bIns="0" rtlCol="0"/>
            <a:lstStyle/>
            <a:p>
              <a:endParaRPr/>
            </a:p>
          </p:txBody>
        </p:sp>
        <p:sp>
          <p:nvSpPr>
            <p:cNvPr id="30" name="object 30"/>
            <p:cNvSpPr/>
            <p:nvPr/>
          </p:nvSpPr>
          <p:spPr>
            <a:xfrm>
              <a:off x="4761406" y="4099520"/>
              <a:ext cx="203200" cy="762000"/>
            </a:xfrm>
            <a:custGeom>
              <a:avLst/>
              <a:gdLst/>
              <a:ahLst/>
              <a:cxnLst/>
              <a:rect l="l" t="t" r="r" b="b"/>
              <a:pathLst>
                <a:path w="203200" h="762000">
                  <a:moveTo>
                    <a:pt x="0" y="0"/>
                  </a:moveTo>
                  <a:lnTo>
                    <a:pt x="203199" y="0"/>
                  </a:lnTo>
                  <a:lnTo>
                    <a:pt x="203199" y="761999"/>
                  </a:lnTo>
                  <a:lnTo>
                    <a:pt x="0" y="761999"/>
                  </a:lnTo>
                  <a:lnTo>
                    <a:pt x="0" y="0"/>
                  </a:lnTo>
                  <a:close/>
                </a:path>
              </a:pathLst>
            </a:custGeom>
            <a:ln w="9524">
              <a:solidFill>
                <a:srgbClr val="000000"/>
              </a:solidFill>
            </a:ln>
          </p:spPr>
          <p:txBody>
            <a:bodyPr wrap="square" lIns="0" tIns="0" rIns="0" bIns="0" rtlCol="0"/>
            <a:lstStyle/>
            <a:p>
              <a:endParaRPr/>
            </a:p>
          </p:txBody>
        </p:sp>
        <p:sp>
          <p:nvSpPr>
            <p:cNvPr id="31" name="object 31"/>
            <p:cNvSpPr/>
            <p:nvPr/>
          </p:nvSpPr>
          <p:spPr>
            <a:xfrm>
              <a:off x="4964607" y="4251920"/>
              <a:ext cx="406400" cy="304800"/>
            </a:xfrm>
            <a:custGeom>
              <a:avLst/>
              <a:gdLst/>
              <a:ahLst/>
              <a:cxnLst/>
              <a:rect l="l" t="t" r="r" b="b"/>
              <a:pathLst>
                <a:path w="406400" h="304800">
                  <a:moveTo>
                    <a:pt x="0" y="0"/>
                  </a:moveTo>
                  <a:lnTo>
                    <a:pt x="406399" y="0"/>
                  </a:lnTo>
                  <a:lnTo>
                    <a:pt x="406399" y="304799"/>
                  </a:lnTo>
                  <a:lnTo>
                    <a:pt x="126999" y="304799"/>
                  </a:lnTo>
                </a:path>
              </a:pathLst>
            </a:custGeom>
            <a:ln w="9524">
              <a:solidFill>
                <a:srgbClr val="000000"/>
              </a:solidFill>
            </a:ln>
          </p:spPr>
          <p:txBody>
            <a:bodyPr wrap="square" lIns="0" tIns="0" rIns="0" bIns="0" rtlCol="0"/>
            <a:lstStyle/>
            <a:p>
              <a:endParaRPr/>
            </a:p>
          </p:txBody>
        </p:sp>
        <p:sp>
          <p:nvSpPr>
            <p:cNvPr id="32" name="object 32"/>
            <p:cNvSpPr/>
            <p:nvPr/>
          </p:nvSpPr>
          <p:spPr>
            <a:xfrm>
              <a:off x="5066207" y="4518620"/>
              <a:ext cx="76200" cy="76200"/>
            </a:xfrm>
            <a:custGeom>
              <a:avLst/>
              <a:gdLst/>
              <a:ahLst/>
              <a:cxnLst/>
              <a:rect l="l" t="t" r="r" b="b"/>
              <a:pathLst>
                <a:path w="76200" h="76200">
                  <a:moveTo>
                    <a:pt x="76200" y="0"/>
                  </a:moveTo>
                  <a:lnTo>
                    <a:pt x="0" y="38100"/>
                  </a:lnTo>
                  <a:lnTo>
                    <a:pt x="76200" y="76200"/>
                  </a:lnTo>
                  <a:lnTo>
                    <a:pt x="76200" y="0"/>
                  </a:lnTo>
                  <a:close/>
                </a:path>
              </a:pathLst>
            </a:custGeom>
            <a:solidFill>
              <a:srgbClr val="000000"/>
            </a:solidFill>
          </p:spPr>
          <p:txBody>
            <a:bodyPr wrap="square" lIns="0" tIns="0" rIns="0" bIns="0" rtlCol="0"/>
            <a:lstStyle/>
            <a:p>
              <a:endParaRPr/>
            </a:p>
          </p:txBody>
        </p:sp>
        <p:sp>
          <p:nvSpPr>
            <p:cNvPr id="33" name="object 33"/>
            <p:cNvSpPr/>
            <p:nvPr/>
          </p:nvSpPr>
          <p:spPr>
            <a:xfrm>
              <a:off x="4761406" y="5090119"/>
              <a:ext cx="203200" cy="838200"/>
            </a:xfrm>
            <a:custGeom>
              <a:avLst/>
              <a:gdLst/>
              <a:ahLst/>
              <a:cxnLst/>
              <a:rect l="l" t="t" r="r" b="b"/>
              <a:pathLst>
                <a:path w="203200" h="838200">
                  <a:moveTo>
                    <a:pt x="0" y="0"/>
                  </a:moveTo>
                  <a:lnTo>
                    <a:pt x="203199" y="0"/>
                  </a:lnTo>
                  <a:lnTo>
                    <a:pt x="203199" y="838199"/>
                  </a:lnTo>
                  <a:lnTo>
                    <a:pt x="0" y="838199"/>
                  </a:lnTo>
                  <a:lnTo>
                    <a:pt x="0" y="0"/>
                  </a:lnTo>
                  <a:close/>
                </a:path>
              </a:pathLst>
            </a:custGeom>
            <a:ln w="9524">
              <a:solidFill>
                <a:srgbClr val="000000"/>
              </a:solidFill>
            </a:ln>
          </p:spPr>
          <p:txBody>
            <a:bodyPr wrap="square" lIns="0" tIns="0" rIns="0" bIns="0" rtlCol="0"/>
            <a:lstStyle/>
            <a:p>
              <a:endParaRPr/>
            </a:p>
          </p:txBody>
        </p:sp>
        <p:sp>
          <p:nvSpPr>
            <p:cNvPr id="34" name="object 34"/>
            <p:cNvSpPr/>
            <p:nvPr/>
          </p:nvSpPr>
          <p:spPr>
            <a:xfrm>
              <a:off x="4863006" y="5318719"/>
              <a:ext cx="203200" cy="381000"/>
            </a:xfrm>
            <a:custGeom>
              <a:avLst/>
              <a:gdLst/>
              <a:ahLst/>
              <a:cxnLst/>
              <a:rect l="l" t="t" r="r" b="b"/>
              <a:pathLst>
                <a:path w="203200" h="381000">
                  <a:moveTo>
                    <a:pt x="0" y="0"/>
                  </a:moveTo>
                  <a:lnTo>
                    <a:pt x="203200" y="0"/>
                  </a:lnTo>
                  <a:lnTo>
                    <a:pt x="203200" y="381000"/>
                  </a:lnTo>
                  <a:lnTo>
                    <a:pt x="0" y="381000"/>
                  </a:lnTo>
                  <a:lnTo>
                    <a:pt x="0" y="0"/>
                  </a:lnTo>
                  <a:close/>
                </a:path>
              </a:pathLst>
            </a:custGeom>
            <a:solidFill>
              <a:srgbClr val="FFFFFF"/>
            </a:solidFill>
          </p:spPr>
          <p:txBody>
            <a:bodyPr wrap="square" lIns="0" tIns="0" rIns="0" bIns="0" rtlCol="0"/>
            <a:lstStyle/>
            <a:p>
              <a:endParaRPr/>
            </a:p>
          </p:txBody>
        </p:sp>
        <p:sp>
          <p:nvSpPr>
            <p:cNvPr id="35" name="object 35"/>
            <p:cNvSpPr/>
            <p:nvPr/>
          </p:nvSpPr>
          <p:spPr>
            <a:xfrm>
              <a:off x="4863006" y="5318719"/>
              <a:ext cx="203200" cy="381000"/>
            </a:xfrm>
            <a:custGeom>
              <a:avLst/>
              <a:gdLst/>
              <a:ahLst/>
              <a:cxnLst/>
              <a:rect l="l" t="t" r="r" b="b"/>
              <a:pathLst>
                <a:path w="203200" h="381000">
                  <a:moveTo>
                    <a:pt x="0" y="0"/>
                  </a:moveTo>
                  <a:lnTo>
                    <a:pt x="203199" y="0"/>
                  </a:lnTo>
                  <a:lnTo>
                    <a:pt x="203199" y="380999"/>
                  </a:lnTo>
                  <a:lnTo>
                    <a:pt x="0" y="380999"/>
                  </a:lnTo>
                  <a:lnTo>
                    <a:pt x="0" y="0"/>
                  </a:lnTo>
                  <a:close/>
                </a:path>
              </a:pathLst>
            </a:custGeom>
            <a:ln w="9524">
              <a:solidFill>
                <a:srgbClr val="000000"/>
              </a:solidFill>
            </a:ln>
          </p:spPr>
          <p:txBody>
            <a:bodyPr wrap="square" lIns="0" tIns="0" rIns="0" bIns="0" rtlCol="0"/>
            <a:lstStyle/>
            <a:p>
              <a:endParaRPr/>
            </a:p>
          </p:txBody>
        </p:sp>
        <p:sp>
          <p:nvSpPr>
            <p:cNvPr id="36" name="object 36"/>
            <p:cNvSpPr/>
            <p:nvPr/>
          </p:nvSpPr>
          <p:spPr>
            <a:xfrm>
              <a:off x="4964607" y="5242520"/>
              <a:ext cx="406400" cy="304800"/>
            </a:xfrm>
            <a:custGeom>
              <a:avLst/>
              <a:gdLst/>
              <a:ahLst/>
              <a:cxnLst/>
              <a:rect l="l" t="t" r="r" b="b"/>
              <a:pathLst>
                <a:path w="406400" h="304800">
                  <a:moveTo>
                    <a:pt x="406400" y="0"/>
                  </a:moveTo>
                  <a:lnTo>
                    <a:pt x="0" y="0"/>
                  </a:lnTo>
                  <a:lnTo>
                    <a:pt x="101600" y="304800"/>
                  </a:lnTo>
                  <a:lnTo>
                    <a:pt x="406400" y="304800"/>
                  </a:lnTo>
                  <a:lnTo>
                    <a:pt x="406400" y="0"/>
                  </a:lnTo>
                  <a:close/>
                </a:path>
              </a:pathLst>
            </a:custGeom>
            <a:solidFill>
              <a:srgbClr val="FFFFFF"/>
            </a:solidFill>
          </p:spPr>
          <p:txBody>
            <a:bodyPr wrap="square" lIns="0" tIns="0" rIns="0" bIns="0" rtlCol="0"/>
            <a:lstStyle/>
            <a:p>
              <a:endParaRPr/>
            </a:p>
          </p:txBody>
        </p:sp>
        <p:sp>
          <p:nvSpPr>
            <p:cNvPr id="37" name="object 37"/>
            <p:cNvSpPr/>
            <p:nvPr/>
          </p:nvSpPr>
          <p:spPr>
            <a:xfrm>
              <a:off x="4964607" y="5242520"/>
              <a:ext cx="406400" cy="304800"/>
            </a:xfrm>
            <a:custGeom>
              <a:avLst/>
              <a:gdLst/>
              <a:ahLst/>
              <a:cxnLst/>
              <a:rect l="l" t="t" r="r" b="b"/>
              <a:pathLst>
                <a:path w="406400" h="304800">
                  <a:moveTo>
                    <a:pt x="0" y="0"/>
                  </a:moveTo>
                  <a:lnTo>
                    <a:pt x="406399" y="0"/>
                  </a:lnTo>
                  <a:lnTo>
                    <a:pt x="406399" y="304799"/>
                  </a:lnTo>
                  <a:lnTo>
                    <a:pt x="126999" y="304799"/>
                  </a:lnTo>
                </a:path>
              </a:pathLst>
            </a:custGeom>
            <a:ln w="9524">
              <a:solidFill>
                <a:srgbClr val="000000"/>
              </a:solidFill>
            </a:ln>
          </p:spPr>
          <p:txBody>
            <a:bodyPr wrap="square" lIns="0" tIns="0" rIns="0" bIns="0" rtlCol="0"/>
            <a:lstStyle/>
            <a:p>
              <a:endParaRPr/>
            </a:p>
          </p:txBody>
        </p:sp>
        <p:sp>
          <p:nvSpPr>
            <p:cNvPr id="38" name="object 38"/>
            <p:cNvSpPr/>
            <p:nvPr/>
          </p:nvSpPr>
          <p:spPr>
            <a:xfrm>
              <a:off x="5066207" y="5509220"/>
              <a:ext cx="76200" cy="76200"/>
            </a:xfrm>
            <a:custGeom>
              <a:avLst/>
              <a:gdLst/>
              <a:ahLst/>
              <a:cxnLst/>
              <a:rect l="l" t="t" r="r" b="b"/>
              <a:pathLst>
                <a:path w="76200" h="76200">
                  <a:moveTo>
                    <a:pt x="76200" y="0"/>
                  </a:moveTo>
                  <a:lnTo>
                    <a:pt x="0" y="38100"/>
                  </a:lnTo>
                  <a:lnTo>
                    <a:pt x="76200" y="76200"/>
                  </a:lnTo>
                  <a:lnTo>
                    <a:pt x="76200" y="0"/>
                  </a:lnTo>
                  <a:close/>
                </a:path>
              </a:pathLst>
            </a:custGeom>
            <a:solidFill>
              <a:srgbClr val="000000"/>
            </a:solidFill>
          </p:spPr>
          <p:txBody>
            <a:bodyPr wrap="square" lIns="0" tIns="0" rIns="0" bIns="0" rtlCol="0"/>
            <a:lstStyle/>
            <a:p>
              <a:endParaRPr/>
            </a:p>
          </p:txBody>
        </p:sp>
        <p:sp>
          <p:nvSpPr>
            <p:cNvPr id="39" name="object 39"/>
            <p:cNvSpPr txBox="1"/>
            <p:nvPr/>
          </p:nvSpPr>
          <p:spPr>
            <a:xfrm>
              <a:off x="5652946" y="5351739"/>
              <a:ext cx="1295400" cy="330200"/>
            </a:xfrm>
            <a:prstGeom prst="rect">
              <a:avLst/>
            </a:prstGeom>
          </p:spPr>
          <p:txBody>
            <a:bodyPr vert="horz" wrap="square" lIns="0" tIns="12700" rIns="0" bIns="0" rtlCol="0">
              <a:spAutoFit/>
            </a:bodyPr>
            <a:lstStyle/>
            <a:p>
              <a:pPr marL="12700">
                <a:lnSpc>
                  <a:spcPct val="100000"/>
                </a:lnSpc>
                <a:spcBef>
                  <a:spcPts val="100"/>
                </a:spcBef>
              </a:pPr>
              <a:r>
                <a:rPr sz="2000" dirty="0">
                  <a:latin typeface="华文新魏" panose="02010800040101010101" charset="-122"/>
                  <a:cs typeface="华文新魏" panose="02010800040101010101" charset="-122"/>
                </a:rPr>
                <a:t>全部做完？</a:t>
              </a:r>
              <a:endParaRPr sz="2000">
                <a:latin typeface="华文新魏" panose="02010800040101010101" charset="-122"/>
                <a:cs typeface="华文新魏" panose="02010800040101010101" charset="-122"/>
              </a:endParaRPr>
            </a:p>
          </p:txBody>
        </p:sp>
        <p:sp>
          <p:nvSpPr>
            <p:cNvPr id="40" name="object 40"/>
            <p:cNvSpPr txBox="1"/>
            <p:nvPr/>
          </p:nvSpPr>
          <p:spPr>
            <a:xfrm>
              <a:off x="5551346" y="3751540"/>
              <a:ext cx="1549400" cy="1397000"/>
            </a:xfrm>
            <a:prstGeom prst="rect">
              <a:avLst/>
            </a:prstGeom>
          </p:spPr>
          <p:txBody>
            <a:bodyPr vert="horz" wrap="square" lIns="0" tIns="12700" rIns="0" bIns="0" rtlCol="0">
              <a:spAutoFit/>
            </a:bodyPr>
            <a:lstStyle/>
            <a:p>
              <a:pPr marL="114300">
                <a:lnSpc>
                  <a:spcPct val="100000"/>
                </a:lnSpc>
                <a:spcBef>
                  <a:spcPts val="100"/>
                </a:spcBef>
              </a:pPr>
              <a:r>
                <a:rPr sz="2000" dirty="0">
                  <a:latin typeface="华文新魏" panose="02010800040101010101" charset="-122"/>
                  <a:cs typeface="华文新魏" panose="02010800040101010101" charset="-122"/>
                </a:rPr>
                <a:t>成功</a:t>
              </a:r>
            </a:p>
            <a:p>
              <a:pPr>
                <a:lnSpc>
                  <a:spcPct val="100000"/>
                </a:lnSpc>
                <a:spcBef>
                  <a:spcPts val="40"/>
                </a:spcBef>
              </a:pPr>
              <a:endParaRPr sz="2050" dirty="0">
                <a:latin typeface="Times New Roman" panose="02020603050405020304"/>
                <a:cs typeface="Times New Roman" panose="02020603050405020304"/>
              </a:endParaRPr>
            </a:p>
            <a:p>
              <a:pPr marL="12700">
                <a:lnSpc>
                  <a:spcPct val="100000"/>
                </a:lnSpc>
              </a:pPr>
              <a:r>
                <a:rPr sz="2000" dirty="0">
                  <a:latin typeface="华文新魏" panose="02010800040101010101" charset="-122"/>
                  <a:cs typeface="华文新魏" panose="02010800040101010101" charset="-122"/>
                </a:rPr>
                <a:t>全部做完？</a:t>
              </a:r>
            </a:p>
            <a:p>
              <a:pPr marL="1028700">
                <a:lnSpc>
                  <a:spcPct val="100000"/>
                </a:lnSpc>
                <a:spcBef>
                  <a:spcPts val="1200"/>
                </a:spcBef>
              </a:pPr>
              <a:r>
                <a:rPr sz="2000" dirty="0">
                  <a:latin typeface="华文新魏" panose="02010800040101010101" charset="-122"/>
                  <a:cs typeface="华文新魏" panose="02010800040101010101" charset="-122"/>
                </a:rPr>
                <a:t>成功</a:t>
              </a:r>
            </a:p>
          </p:txBody>
        </p:sp>
        <p:sp>
          <p:nvSpPr>
            <p:cNvPr id="41" name="object 41"/>
            <p:cNvSpPr/>
            <p:nvPr/>
          </p:nvSpPr>
          <p:spPr>
            <a:xfrm>
              <a:off x="2018207" y="5852119"/>
              <a:ext cx="203200" cy="381000"/>
            </a:xfrm>
            <a:custGeom>
              <a:avLst/>
              <a:gdLst/>
              <a:ahLst/>
              <a:cxnLst/>
              <a:rect l="l" t="t" r="r" b="b"/>
              <a:pathLst>
                <a:path w="203200" h="381000">
                  <a:moveTo>
                    <a:pt x="0" y="0"/>
                  </a:moveTo>
                  <a:lnTo>
                    <a:pt x="203199" y="0"/>
                  </a:lnTo>
                  <a:lnTo>
                    <a:pt x="203199" y="380999"/>
                  </a:lnTo>
                  <a:lnTo>
                    <a:pt x="0" y="380999"/>
                  </a:lnTo>
                  <a:lnTo>
                    <a:pt x="0" y="0"/>
                  </a:lnTo>
                  <a:close/>
                </a:path>
              </a:pathLst>
            </a:custGeom>
            <a:ln w="9524">
              <a:solidFill>
                <a:srgbClr val="000000"/>
              </a:solidFill>
            </a:ln>
          </p:spPr>
          <p:txBody>
            <a:bodyPr wrap="square" lIns="0" tIns="0" rIns="0" bIns="0" rtlCol="0"/>
            <a:lstStyle/>
            <a:p>
              <a:endParaRPr/>
            </a:p>
          </p:txBody>
        </p:sp>
        <p:sp>
          <p:nvSpPr>
            <p:cNvPr id="42" name="object 42"/>
            <p:cNvSpPr/>
            <p:nvPr/>
          </p:nvSpPr>
          <p:spPr>
            <a:xfrm>
              <a:off x="2221407" y="2118320"/>
              <a:ext cx="2007235" cy="0"/>
            </a:xfrm>
            <a:custGeom>
              <a:avLst/>
              <a:gdLst/>
              <a:ahLst/>
              <a:cxnLst/>
              <a:rect l="l" t="t" r="r" b="b"/>
              <a:pathLst>
                <a:path w="2007235">
                  <a:moveTo>
                    <a:pt x="0" y="0"/>
                  </a:moveTo>
                  <a:lnTo>
                    <a:pt x="2006794" y="0"/>
                  </a:lnTo>
                </a:path>
              </a:pathLst>
            </a:custGeom>
            <a:ln w="9524">
              <a:solidFill>
                <a:srgbClr val="000000"/>
              </a:solidFill>
            </a:ln>
          </p:spPr>
          <p:txBody>
            <a:bodyPr wrap="square" lIns="0" tIns="0" rIns="0" bIns="0" rtlCol="0"/>
            <a:lstStyle/>
            <a:p>
              <a:endParaRPr/>
            </a:p>
          </p:txBody>
        </p:sp>
        <p:sp>
          <p:nvSpPr>
            <p:cNvPr id="43" name="object 43"/>
            <p:cNvSpPr/>
            <p:nvPr/>
          </p:nvSpPr>
          <p:spPr>
            <a:xfrm>
              <a:off x="4137498" y="2059365"/>
              <a:ext cx="115909" cy="117908"/>
            </a:xfrm>
            <a:prstGeom prst="rect">
              <a:avLst/>
            </a:prstGeom>
            <a:blipFill>
              <a:blip r:embed="rId3" cstate="print"/>
              <a:stretch>
                <a:fillRect/>
              </a:stretch>
            </a:blipFill>
          </p:spPr>
          <p:txBody>
            <a:bodyPr wrap="square" lIns="0" tIns="0" rIns="0" bIns="0" rtlCol="0"/>
            <a:lstStyle/>
            <a:p>
              <a:endParaRPr/>
            </a:p>
          </p:txBody>
        </p:sp>
        <p:sp>
          <p:nvSpPr>
            <p:cNvPr id="44" name="object 44"/>
            <p:cNvSpPr/>
            <p:nvPr/>
          </p:nvSpPr>
          <p:spPr>
            <a:xfrm>
              <a:off x="2246612" y="5852119"/>
              <a:ext cx="2515235" cy="0"/>
            </a:xfrm>
            <a:custGeom>
              <a:avLst/>
              <a:gdLst/>
              <a:ahLst/>
              <a:cxnLst/>
              <a:rect l="l" t="t" r="r" b="b"/>
              <a:pathLst>
                <a:path w="2515235">
                  <a:moveTo>
                    <a:pt x="2514794" y="0"/>
                  </a:moveTo>
                  <a:lnTo>
                    <a:pt x="0" y="0"/>
                  </a:lnTo>
                </a:path>
              </a:pathLst>
            </a:custGeom>
            <a:ln w="9524">
              <a:solidFill>
                <a:srgbClr val="000000"/>
              </a:solidFill>
            </a:ln>
          </p:spPr>
          <p:txBody>
            <a:bodyPr wrap="square" lIns="0" tIns="0" rIns="0" bIns="0" rtlCol="0"/>
            <a:lstStyle/>
            <a:p>
              <a:endParaRPr/>
            </a:p>
          </p:txBody>
        </p:sp>
        <p:sp>
          <p:nvSpPr>
            <p:cNvPr id="45" name="object 45"/>
            <p:cNvSpPr/>
            <p:nvPr/>
          </p:nvSpPr>
          <p:spPr>
            <a:xfrm>
              <a:off x="2221407" y="5793166"/>
              <a:ext cx="115909" cy="117908"/>
            </a:xfrm>
            <a:prstGeom prst="rect">
              <a:avLst/>
            </a:prstGeom>
            <a:blipFill>
              <a:blip r:embed="rId4" cstate="print"/>
              <a:stretch>
                <a:fillRect/>
              </a:stretch>
            </a:blipFill>
          </p:spPr>
          <p:txBody>
            <a:bodyPr wrap="square" lIns="0" tIns="0" rIns="0" bIns="0" rtlCol="0"/>
            <a:lstStyle/>
            <a:p>
              <a:endParaRPr/>
            </a:p>
          </p:txBody>
        </p:sp>
        <p:sp>
          <p:nvSpPr>
            <p:cNvPr id="46" name="object 46"/>
            <p:cNvSpPr/>
            <p:nvPr/>
          </p:nvSpPr>
          <p:spPr>
            <a:xfrm>
              <a:off x="4964607" y="2575520"/>
              <a:ext cx="2007235" cy="0"/>
            </a:xfrm>
            <a:custGeom>
              <a:avLst/>
              <a:gdLst/>
              <a:ahLst/>
              <a:cxnLst/>
              <a:rect l="l" t="t" r="r" b="b"/>
              <a:pathLst>
                <a:path w="2007234">
                  <a:moveTo>
                    <a:pt x="0" y="0"/>
                  </a:moveTo>
                  <a:lnTo>
                    <a:pt x="2006794" y="0"/>
                  </a:lnTo>
                </a:path>
              </a:pathLst>
            </a:custGeom>
            <a:ln w="9524">
              <a:solidFill>
                <a:srgbClr val="000000"/>
              </a:solidFill>
            </a:ln>
          </p:spPr>
          <p:txBody>
            <a:bodyPr wrap="square" lIns="0" tIns="0" rIns="0" bIns="0" rtlCol="0"/>
            <a:lstStyle/>
            <a:p>
              <a:endParaRPr/>
            </a:p>
          </p:txBody>
        </p:sp>
        <p:sp>
          <p:nvSpPr>
            <p:cNvPr id="47" name="object 47"/>
            <p:cNvSpPr/>
            <p:nvPr/>
          </p:nvSpPr>
          <p:spPr>
            <a:xfrm>
              <a:off x="6880698" y="2516565"/>
              <a:ext cx="115907" cy="117908"/>
            </a:xfrm>
            <a:prstGeom prst="rect">
              <a:avLst/>
            </a:prstGeom>
            <a:blipFill>
              <a:blip r:embed="rId3" cstate="print"/>
              <a:stretch>
                <a:fillRect/>
              </a:stretch>
            </a:blipFill>
          </p:spPr>
          <p:txBody>
            <a:bodyPr wrap="square" lIns="0" tIns="0" rIns="0" bIns="0" rtlCol="0"/>
            <a:lstStyle/>
            <a:p>
              <a:endParaRPr/>
            </a:p>
          </p:txBody>
        </p:sp>
        <p:sp>
          <p:nvSpPr>
            <p:cNvPr id="48" name="object 48"/>
            <p:cNvSpPr/>
            <p:nvPr/>
          </p:nvSpPr>
          <p:spPr>
            <a:xfrm>
              <a:off x="8012606" y="3032720"/>
              <a:ext cx="1092835" cy="0"/>
            </a:xfrm>
            <a:custGeom>
              <a:avLst/>
              <a:gdLst/>
              <a:ahLst/>
              <a:cxnLst/>
              <a:rect l="l" t="t" r="r" b="b"/>
              <a:pathLst>
                <a:path w="1092834">
                  <a:moveTo>
                    <a:pt x="0" y="0"/>
                  </a:moveTo>
                  <a:lnTo>
                    <a:pt x="1092395" y="0"/>
                  </a:lnTo>
                </a:path>
              </a:pathLst>
            </a:custGeom>
            <a:ln w="9524">
              <a:solidFill>
                <a:srgbClr val="000000"/>
              </a:solidFill>
            </a:ln>
          </p:spPr>
          <p:txBody>
            <a:bodyPr wrap="square" lIns="0" tIns="0" rIns="0" bIns="0" rtlCol="0"/>
            <a:lstStyle/>
            <a:p>
              <a:endParaRPr/>
            </a:p>
          </p:txBody>
        </p:sp>
        <p:sp>
          <p:nvSpPr>
            <p:cNvPr id="49" name="object 49"/>
            <p:cNvSpPr/>
            <p:nvPr/>
          </p:nvSpPr>
          <p:spPr>
            <a:xfrm>
              <a:off x="9014298" y="2973765"/>
              <a:ext cx="115907" cy="117908"/>
            </a:xfrm>
            <a:prstGeom prst="rect">
              <a:avLst/>
            </a:prstGeom>
            <a:blipFill>
              <a:blip r:embed="rId3" cstate="print"/>
              <a:stretch>
                <a:fillRect/>
              </a:stretch>
            </a:blipFill>
          </p:spPr>
          <p:txBody>
            <a:bodyPr wrap="square" lIns="0" tIns="0" rIns="0" bIns="0" rtlCol="0"/>
            <a:lstStyle/>
            <a:p>
              <a:endParaRPr/>
            </a:p>
          </p:txBody>
        </p:sp>
        <p:sp>
          <p:nvSpPr>
            <p:cNvPr id="50" name="object 50"/>
            <p:cNvSpPr/>
            <p:nvPr/>
          </p:nvSpPr>
          <p:spPr>
            <a:xfrm>
              <a:off x="4964607" y="3032720"/>
              <a:ext cx="2860040" cy="0"/>
            </a:xfrm>
            <a:custGeom>
              <a:avLst/>
              <a:gdLst/>
              <a:ahLst/>
              <a:cxnLst/>
              <a:rect l="l" t="t" r="r" b="b"/>
              <a:pathLst>
                <a:path w="2860040">
                  <a:moveTo>
                    <a:pt x="0" y="0"/>
                  </a:moveTo>
                  <a:lnTo>
                    <a:pt x="2859584" y="0"/>
                  </a:lnTo>
                </a:path>
              </a:pathLst>
            </a:custGeom>
            <a:ln w="9524">
              <a:solidFill>
                <a:srgbClr val="000000"/>
              </a:solidFill>
            </a:ln>
          </p:spPr>
          <p:txBody>
            <a:bodyPr wrap="square" lIns="0" tIns="0" rIns="0" bIns="0" rtlCol="0"/>
            <a:lstStyle/>
            <a:p>
              <a:endParaRPr/>
            </a:p>
          </p:txBody>
        </p:sp>
        <p:sp>
          <p:nvSpPr>
            <p:cNvPr id="51" name="object 51"/>
            <p:cNvSpPr/>
            <p:nvPr/>
          </p:nvSpPr>
          <p:spPr>
            <a:xfrm>
              <a:off x="4989811" y="4099520"/>
              <a:ext cx="2820035" cy="0"/>
            </a:xfrm>
            <a:custGeom>
              <a:avLst/>
              <a:gdLst/>
              <a:ahLst/>
              <a:cxnLst/>
              <a:rect l="l" t="t" r="r" b="b"/>
              <a:pathLst>
                <a:path w="2820034">
                  <a:moveTo>
                    <a:pt x="2819595" y="0"/>
                  </a:moveTo>
                  <a:lnTo>
                    <a:pt x="0" y="0"/>
                  </a:lnTo>
                </a:path>
              </a:pathLst>
            </a:custGeom>
            <a:ln w="9524">
              <a:solidFill>
                <a:srgbClr val="000000"/>
              </a:solidFill>
            </a:ln>
          </p:spPr>
          <p:txBody>
            <a:bodyPr wrap="square" lIns="0" tIns="0" rIns="0" bIns="0" rtlCol="0"/>
            <a:lstStyle/>
            <a:p>
              <a:endParaRPr/>
            </a:p>
          </p:txBody>
        </p:sp>
        <p:sp>
          <p:nvSpPr>
            <p:cNvPr id="52" name="object 52"/>
            <p:cNvSpPr/>
            <p:nvPr/>
          </p:nvSpPr>
          <p:spPr>
            <a:xfrm>
              <a:off x="4964606" y="4040567"/>
              <a:ext cx="115909" cy="117908"/>
            </a:xfrm>
            <a:prstGeom prst="rect">
              <a:avLst/>
            </a:prstGeom>
            <a:blipFill>
              <a:blip r:embed="rId4" cstate="print"/>
              <a:stretch>
                <a:fillRect/>
              </a:stretch>
            </a:blipFill>
          </p:spPr>
          <p:txBody>
            <a:bodyPr wrap="square" lIns="0" tIns="0" rIns="0" bIns="0" rtlCol="0"/>
            <a:lstStyle/>
            <a:p>
              <a:endParaRPr/>
            </a:p>
          </p:txBody>
        </p:sp>
        <p:sp>
          <p:nvSpPr>
            <p:cNvPr id="53" name="object 53"/>
            <p:cNvSpPr/>
            <p:nvPr/>
          </p:nvSpPr>
          <p:spPr>
            <a:xfrm>
              <a:off x="4989812" y="5090119"/>
              <a:ext cx="5055235" cy="0"/>
            </a:xfrm>
            <a:custGeom>
              <a:avLst/>
              <a:gdLst/>
              <a:ahLst/>
              <a:cxnLst/>
              <a:rect l="l" t="t" r="r" b="b"/>
              <a:pathLst>
                <a:path w="5055234">
                  <a:moveTo>
                    <a:pt x="5054793" y="0"/>
                  </a:moveTo>
                  <a:lnTo>
                    <a:pt x="0" y="0"/>
                  </a:lnTo>
                </a:path>
              </a:pathLst>
            </a:custGeom>
            <a:ln w="9524">
              <a:solidFill>
                <a:srgbClr val="000000"/>
              </a:solidFill>
            </a:ln>
          </p:spPr>
          <p:txBody>
            <a:bodyPr wrap="square" lIns="0" tIns="0" rIns="0" bIns="0" rtlCol="0"/>
            <a:lstStyle/>
            <a:p>
              <a:endParaRPr/>
            </a:p>
          </p:txBody>
        </p:sp>
        <p:sp>
          <p:nvSpPr>
            <p:cNvPr id="54" name="object 54"/>
            <p:cNvSpPr/>
            <p:nvPr/>
          </p:nvSpPr>
          <p:spPr>
            <a:xfrm>
              <a:off x="4964606" y="5031167"/>
              <a:ext cx="115909" cy="117908"/>
            </a:xfrm>
            <a:prstGeom prst="rect">
              <a:avLst/>
            </a:prstGeom>
            <a:blipFill>
              <a:blip r:embed="rId4" cstate="print"/>
              <a:stretch>
                <a:fillRect/>
              </a:stretch>
            </a:blipFill>
          </p:spPr>
          <p:txBody>
            <a:bodyPr wrap="square" lIns="0" tIns="0" rIns="0" bIns="0" rtlCol="0"/>
            <a:lstStyle/>
            <a:p>
              <a:endParaRPr/>
            </a:p>
          </p:txBody>
        </p:sp>
        <p:sp>
          <p:nvSpPr>
            <p:cNvPr id="57" name="object 57"/>
            <p:cNvSpPr/>
            <p:nvPr/>
          </p:nvSpPr>
          <p:spPr>
            <a:xfrm>
              <a:off x="4863006" y="4328120"/>
              <a:ext cx="203200" cy="381000"/>
            </a:xfrm>
            <a:custGeom>
              <a:avLst/>
              <a:gdLst/>
              <a:ahLst/>
              <a:cxnLst/>
              <a:rect l="l" t="t" r="r" b="b"/>
              <a:pathLst>
                <a:path w="203200" h="381000">
                  <a:moveTo>
                    <a:pt x="0" y="0"/>
                  </a:moveTo>
                  <a:lnTo>
                    <a:pt x="203200" y="0"/>
                  </a:lnTo>
                  <a:lnTo>
                    <a:pt x="203200" y="381000"/>
                  </a:lnTo>
                  <a:lnTo>
                    <a:pt x="0" y="381000"/>
                  </a:lnTo>
                  <a:lnTo>
                    <a:pt x="0" y="0"/>
                  </a:lnTo>
                  <a:close/>
                </a:path>
              </a:pathLst>
            </a:custGeom>
            <a:solidFill>
              <a:srgbClr val="FFFFFF"/>
            </a:solidFill>
          </p:spPr>
          <p:txBody>
            <a:bodyPr wrap="square" lIns="0" tIns="0" rIns="0" bIns="0" rtlCol="0"/>
            <a:lstStyle/>
            <a:p>
              <a:endParaRPr/>
            </a:p>
          </p:txBody>
        </p:sp>
        <p:sp>
          <p:nvSpPr>
            <p:cNvPr id="58" name="object 58"/>
            <p:cNvSpPr/>
            <p:nvPr/>
          </p:nvSpPr>
          <p:spPr>
            <a:xfrm>
              <a:off x="4863006" y="4328120"/>
              <a:ext cx="203200" cy="381000"/>
            </a:xfrm>
            <a:custGeom>
              <a:avLst/>
              <a:gdLst/>
              <a:ahLst/>
              <a:cxnLst/>
              <a:rect l="l" t="t" r="r" b="b"/>
              <a:pathLst>
                <a:path w="203200" h="381000">
                  <a:moveTo>
                    <a:pt x="0" y="0"/>
                  </a:moveTo>
                  <a:lnTo>
                    <a:pt x="203199" y="0"/>
                  </a:lnTo>
                  <a:lnTo>
                    <a:pt x="203199" y="380999"/>
                  </a:lnTo>
                  <a:lnTo>
                    <a:pt x="0" y="380999"/>
                  </a:lnTo>
                  <a:lnTo>
                    <a:pt x="0" y="0"/>
                  </a:lnTo>
                  <a:close/>
                </a:path>
              </a:pathLst>
            </a:custGeom>
            <a:ln w="9524">
              <a:solidFill>
                <a:srgbClr val="000000"/>
              </a:solidFill>
            </a:ln>
          </p:spPr>
          <p:txBody>
            <a:bodyPr wrap="square" lIns="0" tIns="0" rIns="0" bIns="0" rtlCol="0"/>
            <a:lstStyle/>
            <a:p>
              <a:endParaRPr/>
            </a:p>
          </p:txBody>
        </p:sp>
        <p:sp>
          <p:nvSpPr>
            <p:cNvPr id="59" name="object 59"/>
            <p:cNvSpPr/>
            <p:nvPr/>
          </p:nvSpPr>
          <p:spPr>
            <a:xfrm>
              <a:off x="7896198" y="4328120"/>
              <a:ext cx="0" cy="109220"/>
            </a:xfrm>
            <a:custGeom>
              <a:avLst/>
              <a:gdLst/>
              <a:ahLst/>
              <a:cxnLst/>
              <a:rect l="l" t="t" r="r" b="b"/>
              <a:pathLst>
                <a:path h="109220">
                  <a:moveTo>
                    <a:pt x="0" y="0"/>
                  </a:moveTo>
                  <a:lnTo>
                    <a:pt x="0" y="108990"/>
                  </a:lnTo>
                </a:path>
              </a:pathLst>
            </a:custGeom>
            <a:ln w="9525">
              <a:solidFill>
                <a:srgbClr val="000000"/>
              </a:solidFill>
            </a:ln>
          </p:spPr>
          <p:txBody>
            <a:bodyPr wrap="square" lIns="0" tIns="0" rIns="0" bIns="0" rtlCol="0"/>
            <a:lstStyle/>
            <a:p>
              <a:endParaRPr/>
            </a:p>
          </p:txBody>
        </p:sp>
        <p:sp>
          <p:nvSpPr>
            <p:cNvPr id="60" name="object 60"/>
            <p:cNvSpPr/>
            <p:nvPr/>
          </p:nvSpPr>
          <p:spPr>
            <a:xfrm>
              <a:off x="7824192" y="2780927"/>
              <a:ext cx="188595" cy="1547495"/>
            </a:xfrm>
            <a:custGeom>
              <a:avLst/>
              <a:gdLst/>
              <a:ahLst/>
              <a:cxnLst/>
              <a:rect l="l" t="t" r="r" b="b"/>
              <a:pathLst>
                <a:path w="188595" h="1547495">
                  <a:moveTo>
                    <a:pt x="0" y="0"/>
                  </a:moveTo>
                  <a:lnTo>
                    <a:pt x="188414" y="0"/>
                  </a:lnTo>
                  <a:lnTo>
                    <a:pt x="188414" y="1547192"/>
                  </a:lnTo>
                  <a:lnTo>
                    <a:pt x="0" y="1547192"/>
                  </a:lnTo>
                  <a:lnTo>
                    <a:pt x="0" y="0"/>
                  </a:lnTo>
                  <a:close/>
                </a:path>
              </a:pathLst>
            </a:custGeom>
            <a:solidFill>
              <a:srgbClr val="FFFFFF"/>
            </a:solidFill>
          </p:spPr>
          <p:txBody>
            <a:bodyPr wrap="square" lIns="0" tIns="0" rIns="0" bIns="0" rtlCol="0"/>
            <a:lstStyle/>
            <a:p>
              <a:endParaRPr/>
            </a:p>
          </p:txBody>
        </p:sp>
        <p:sp>
          <p:nvSpPr>
            <p:cNvPr id="61" name="object 61"/>
            <p:cNvSpPr/>
            <p:nvPr/>
          </p:nvSpPr>
          <p:spPr>
            <a:xfrm>
              <a:off x="7824192" y="2780928"/>
              <a:ext cx="188595" cy="1547495"/>
            </a:xfrm>
            <a:custGeom>
              <a:avLst/>
              <a:gdLst/>
              <a:ahLst/>
              <a:cxnLst/>
              <a:rect l="l" t="t" r="r" b="b"/>
              <a:pathLst>
                <a:path w="188595" h="1547495">
                  <a:moveTo>
                    <a:pt x="0" y="0"/>
                  </a:moveTo>
                  <a:lnTo>
                    <a:pt x="188415" y="0"/>
                  </a:lnTo>
                  <a:lnTo>
                    <a:pt x="188415" y="1547191"/>
                  </a:lnTo>
                  <a:lnTo>
                    <a:pt x="0" y="1547191"/>
                  </a:lnTo>
                  <a:lnTo>
                    <a:pt x="0" y="0"/>
                  </a:lnTo>
                  <a:close/>
                </a:path>
              </a:pathLst>
            </a:custGeom>
            <a:ln w="9524">
              <a:solidFill>
                <a:srgbClr val="000000"/>
              </a:solidFill>
            </a:ln>
          </p:spPr>
          <p:txBody>
            <a:bodyPr wrap="square" lIns="0" tIns="0" rIns="0" bIns="0" rtlCol="0"/>
            <a:lstStyle/>
            <a:p>
              <a:endParaRPr/>
            </a:p>
          </p:txBody>
        </p:sp>
        <p:sp>
          <p:nvSpPr>
            <p:cNvPr id="62" name="object 62"/>
            <p:cNvSpPr/>
            <p:nvPr/>
          </p:nvSpPr>
          <p:spPr>
            <a:xfrm>
              <a:off x="10128446" y="5094311"/>
              <a:ext cx="0" cy="135255"/>
            </a:xfrm>
            <a:custGeom>
              <a:avLst/>
              <a:gdLst/>
              <a:ahLst/>
              <a:cxnLst/>
              <a:rect l="l" t="t" r="r" b="b"/>
              <a:pathLst>
                <a:path h="135254">
                  <a:moveTo>
                    <a:pt x="0" y="0"/>
                  </a:moveTo>
                  <a:lnTo>
                    <a:pt x="0" y="134888"/>
                  </a:lnTo>
                </a:path>
              </a:pathLst>
            </a:custGeom>
            <a:ln w="9525">
              <a:solidFill>
                <a:srgbClr val="000000"/>
              </a:solidFill>
            </a:ln>
          </p:spPr>
          <p:txBody>
            <a:bodyPr wrap="square" lIns="0" tIns="0" rIns="0" bIns="0" rtlCol="0"/>
            <a:lstStyle/>
            <a:p>
              <a:endParaRPr/>
            </a:p>
          </p:txBody>
        </p:sp>
        <p:sp>
          <p:nvSpPr>
            <p:cNvPr id="63" name="object 63"/>
            <p:cNvSpPr/>
            <p:nvPr/>
          </p:nvSpPr>
          <p:spPr>
            <a:xfrm>
              <a:off x="10056437" y="3212976"/>
              <a:ext cx="191770" cy="1881505"/>
            </a:xfrm>
            <a:custGeom>
              <a:avLst/>
              <a:gdLst/>
              <a:ahLst/>
              <a:cxnLst/>
              <a:rect l="l" t="t" r="r" b="b"/>
              <a:pathLst>
                <a:path w="191770" h="1881504">
                  <a:moveTo>
                    <a:pt x="0" y="0"/>
                  </a:moveTo>
                  <a:lnTo>
                    <a:pt x="191368" y="0"/>
                  </a:lnTo>
                  <a:lnTo>
                    <a:pt x="191368" y="1881335"/>
                  </a:lnTo>
                  <a:lnTo>
                    <a:pt x="0" y="1881335"/>
                  </a:lnTo>
                  <a:lnTo>
                    <a:pt x="0" y="0"/>
                  </a:lnTo>
                  <a:close/>
                </a:path>
              </a:pathLst>
            </a:custGeom>
            <a:ln w="9524">
              <a:solidFill>
                <a:srgbClr val="000000"/>
              </a:solidFill>
            </a:ln>
          </p:spPr>
          <p:txBody>
            <a:bodyPr wrap="square" lIns="0" tIns="0" rIns="0" bIns="0" rtlCol="0"/>
            <a:lstStyle/>
            <a:p>
              <a:endParaRPr/>
            </a:p>
          </p:txBody>
        </p:sp>
      </p:grpSp>
      <p:sp>
        <p:nvSpPr>
          <p:cNvPr id="66" name="标题 65"/>
          <p:cNvSpPr>
            <a:spLocks noGrp="1"/>
          </p:cNvSpPr>
          <p:nvPr>
            <p:ph type="title"/>
          </p:nvPr>
        </p:nvSpPr>
        <p:spPr/>
        <p:txBody>
          <a:bodyPr/>
          <a:lstStyle/>
          <a:p>
            <a:r>
              <a:rPr lang="zh-CN" altLang="en-US" dirty="0">
                <a:latin typeface="Microsoft JhengHei" panose="020B0604030504040204" charset="-120"/>
                <a:cs typeface="Microsoft JhengHei" panose="020B0604030504040204" charset="-120"/>
              </a:rPr>
              <a:t>例</a:t>
            </a:r>
            <a:r>
              <a:rPr lang="en-US" altLang="zh-CN" sz="6600" baseline="3000" dirty="0">
                <a:latin typeface="Arial" panose="020B0604020202020204"/>
                <a:cs typeface="Arial" panose="020B0604020202020204"/>
              </a:rPr>
              <a:t>:</a:t>
            </a:r>
            <a:r>
              <a:rPr lang="zh-CN" altLang="en-US" spc="-280" dirty="0">
                <a:latin typeface="Microsoft JhengHei" panose="020B0604030504040204" charset="-120"/>
                <a:cs typeface="Microsoft JhengHei" panose="020B0604030504040204" charset="-120"/>
              </a:rPr>
              <a:t>银行系统的交易验证</a:t>
            </a:r>
            <a:endParaRPr lang="zh-CN" altLang="en-US" dirty="0"/>
          </a:p>
        </p:txBody>
      </p:sp>
      <p:sp>
        <p:nvSpPr>
          <p:cNvPr id="68" name="灯片编号占位符 67"/>
          <p:cNvSpPr>
            <a:spLocks noGrp="1"/>
          </p:cNvSpPr>
          <p:nvPr>
            <p:ph type="sldNum" sz="quarter" idx="12"/>
          </p:nvPr>
        </p:nvSpPr>
        <p:spPr/>
        <p:txBody>
          <a:bodyPr/>
          <a:lstStyle/>
          <a:p>
            <a:fld id="{74D2AB8B-5816-41F2-8B4B-CA5C3E4E6A65}" type="slidenum">
              <a:rPr lang="zh-CN" altLang="en-US" smtClean="0"/>
              <a:t>54</a:t>
            </a:fld>
            <a:endParaRPr lang="zh-CN" altLang="en-US"/>
          </a:p>
        </p:txBody>
      </p:sp>
      <p:sp>
        <p:nvSpPr>
          <p:cNvPr id="69" name="object 29"/>
          <p:cNvSpPr/>
          <p:nvPr/>
        </p:nvSpPr>
        <p:spPr>
          <a:xfrm>
            <a:off x="4675352" y="5987649"/>
            <a:ext cx="508000" cy="304800"/>
          </a:xfrm>
          <a:custGeom>
            <a:avLst/>
            <a:gdLst/>
            <a:ahLst/>
            <a:cxnLst/>
            <a:rect l="l" t="t" r="r" b="b"/>
            <a:pathLst>
              <a:path w="508000" h="304800">
                <a:moveTo>
                  <a:pt x="0" y="0"/>
                </a:moveTo>
                <a:lnTo>
                  <a:pt x="507999" y="304799"/>
                </a:lnTo>
              </a:path>
            </a:pathLst>
          </a:custGeom>
          <a:ln w="9524">
            <a:solidFill>
              <a:srgbClr val="000000"/>
            </a:solidFill>
          </a:ln>
        </p:spPr>
        <p:txBody>
          <a:bodyPr wrap="square" lIns="0" tIns="0" rIns="0" bIns="0" rtlCol="0"/>
          <a:lstStyle/>
          <a:p>
            <a:endParaRPr/>
          </a:p>
        </p:txBody>
      </p:sp>
      <p:cxnSp>
        <p:nvCxnSpPr>
          <p:cNvPr id="56" name="直接连接符 55"/>
          <p:cNvCxnSpPr/>
          <p:nvPr/>
        </p:nvCxnSpPr>
        <p:spPr>
          <a:xfrm flipH="1">
            <a:off x="4675352" y="5987649"/>
            <a:ext cx="531648" cy="2797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1" name="object 29"/>
          <p:cNvSpPr/>
          <p:nvPr/>
        </p:nvSpPr>
        <p:spPr>
          <a:xfrm>
            <a:off x="1909675" y="6234030"/>
            <a:ext cx="508000" cy="304800"/>
          </a:xfrm>
          <a:custGeom>
            <a:avLst/>
            <a:gdLst/>
            <a:ahLst/>
            <a:cxnLst/>
            <a:rect l="l" t="t" r="r" b="b"/>
            <a:pathLst>
              <a:path w="508000" h="304800">
                <a:moveTo>
                  <a:pt x="0" y="0"/>
                </a:moveTo>
                <a:lnTo>
                  <a:pt x="507999" y="304799"/>
                </a:lnTo>
              </a:path>
            </a:pathLst>
          </a:custGeom>
          <a:ln w="9524">
            <a:solidFill>
              <a:srgbClr val="000000"/>
            </a:solidFill>
          </a:ln>
        </p:spPr>
        <p:txBody>
          <a:bodyPr wrap="square" lIns="0" tIns="0" rIns="0" bIns="0" rtlCol="0"/>
          <a:lstStyle/>
          <a:p>
            <a:endParaRPr/>
          </a:p>
        </p:txBody>
      </p:sp>
      <p:cxnSp>
        <p:nvCxnSpPr>
          <p:cNvPr id="72" name="直接连接符 71"/>
          <p:cNvCxnSpPr/>
          <p:nvPr/>
        </p:nvCxnSpPr>
        <p:spPr>
          <a:xfrm flipH="1">
            <a:off x="1921116" y="6225319"/>
            <a:ext cx="531648" cy="2797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2000" advTm="83683"/>
    </mc:Choice>
    <mc:Fallback xmlns="">
      <p:transition spd="slow" advTm="83683"/>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6939" y="6491922"/>
            <a:ext cx="102870"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898989"/>
                </a:solidFill>
                <a:latin typeface="Calibri" panose="020F0502020204030204"/>
                <a:cs typeface="Calibri" panose="020F0502020204030204"/>
              </a:rPr>
              <a:t>9</a:t>
            </a:r>
            <a:endParaRPr sz="1200">
              <a:latin typeface="Calibri" panose="020F0502020204030204"/>
              <a:cs typeface="Calibri" panose="020F0502020204030204"/>
            </a:endParaRPr>
          </a:p>
        </p:txBody>
      </p:sp>
      <p:sp>
        <p:nvSpPr>
          <p:cNvPr id="4" name="object 4"/>
          <p:cNvSpPr txBox="1"/>
          <p:nvPr/>
        </p:nvSpPr>
        <p:spPr>
          <a:xfrm>
            <a:off x="838199" y="1576008"/>
            <a:ext cx="4341631" cy="970137"/>
          </a:xfrm>
          <a:prstGeom prst="rect">
            <a:avLst/>
          </a:prstGeom>
        </p:spPr>
        <p:txBody>
          <a:bodyPr vert="horz" wrap="square" lIns="0" tIns="140335" rIns="0" bIns="0" rtlCol="0">
            <a:spAutoFit/>
          </a:bodyPr>
          <a:lstStyle/>
          <a:p>
            <a:pPr marL="241300" indent="-228600">
              <a:lnSpc>
                <a:spcPct val="100000"/>
              </a:lnSpc>
              <a:spcBef>
                <a:spcPts val="1105"/>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新魏" panose="02010800040101010101" charset="-122"/>
              </a:rPr>
              <a:t>这个顺序图有什么问题</a:t>
            </a:r>
            <a:r>
              <a:rPr sz="2800" dirty="0">
                <a:latin typeface="微软雅黑" panose="020B0503020204020204" pitchFamily="34" charset="-122"/>
                <a:ea typeface="微软雅黑" panose="020B0503020204020204" pitchFamily="34" charset="-122"/>
                <a:cs typeface="Calibri" panose="020F0502020204030204"/>
              </a:rPr>
              <a:t>?</a:t>
            </a:r>
          </a:p>
          <a:p>
            <a:pPr marL="12700">
              <a:lnSpc>
                <a:spcPct val="100000"/>
              </a:lnSpc>
              <a:spcBef>
                <a:spcPts val="720"/>
              </a:spcBef>
            </a:pPr>
            <a:r>
              <a:rPr sz="2000" dirty="0">
                <a:latin typeface="微软雅黑" panose="020B0503020204020204" pitchFamily="34" charset="-122"/>
                <a:ea typeface="微软雅黑" panose="020B0503020204020204" pitchFamily="34" charset="-122"/>
                <a:cs typeface="Calibri" panose="020F0502020204030204"/>
              </a:rPr>
              <a:t>(</a:t>
            </a:r>
            <a:r>
              <a:rPr sz="2000" dirty="0">
                <a:latin typeface="微软雅黑" panose="020B0503020204020204" pitchFamily="34" charset="-122"/>
                <a:ea typeface="微软雅黑" panose="020B0503020204020204" pitchFamily="34" charset="-122"/>
                <a:cs typeface="华文新魏" panose="02010800040101010101" charset="-122"/>
              </a:rPr>
              <a:t>留意</a:t>
            </a:r>
            <a:r>
              <a:rPr sz="2000" dirty="0">
                <a:latin typeface="微软雅黑" panose="020B0503020204020204" pitchFamily="34" charset="-122"/>
                <a:ea typeface="微软雅黑" panose="020B0503020204020204" pitchFamily="34" charset="-122"/>
                <a:cs typeface="Calibri" panose="020F0502020204030204"/>
              </a:rPr>
              <a:t>UML</a:t>
            </a:r>
            <a:r>
              <a:rPr sz="2000" dirty="0">
                <a:latin typeface="微软雅黑" panose="020B0503020204020204" pitchFamily="34" charset="-122"/>
                <a:ea typeface="微软雅黑" panose="020B0503020204020204" pitchFamily="34" charset="-122"/>
                <a:cs typeface="华文新魏" panose="02010800040101010101" charset="-122"/>
              </a:rPr>
              <a:t>的语法以及场景的可行性</a:t>
            </a:r>
            <a:r>
              <a:rPr sz="2000" dirty="0">
                <a:latin typeface="微软雅黑" panose="020B0503020204020204" pitchFamily="34" charset="-122"/>
                <a:ea typeface="微软雅黑" panose="020B0503020204020204" pitchFamily="34" charset="-122"/>
                <a:cs typeface="Calibri" panose="020F0502020204030204"/>
              </a:rPr>
              <a:t>)</a:t>
            </a:r>
          </a:p>
        </p:txBody>
      </p:sp>
      <p:sp>
        <p:nvSpPr>
          <p:cNvPr id="5" name="object 5"/>
          <p:cNvSpPr/>
          <p:nvPr/>
        </p:nvSpPr>
        <p:spPr>
          <a:xfrm>
            <a:off x="5308942" y="1576008"/>
            <a:ext cx="5915745" cy="4584963"/>
          </a:xfrm>
          <a:prstGeom prst="rect">
            <a:avLst/>
          </a:prstGeom>
          <a:blipFill>
            <a:blip r:embed="rId3" cstate="print"/>
            <a:stretch>
              <a:fillRect/>
            </a:stretch>
          </a:blipFill>
        </p:spPr>
        <p:txBody>
          <a:bodyPr wrap="square" lIns="0" tIns="0" rIns="0" bIns="0" rtlCol="0"/>
          <a:lstStyle/>
          <a:p>
            <a:endParaRPr/>
          </a:p>
        </p:txBody>
      </p:sp>
      <p:sp>
        <p:nvSpPr>
          <p:cNvPr id="8" name="标题 7"/>
          <p:cNvSpPr>
            <a:spLocks noGrp="1"/>
          </p:cNvSpPr>
          <p:nvPr>
            <p:ph type="title"/>
          </p:nvPr>
        </p:nvSpPr>
        <p:spPr/>
        <p:txBody>
          <a:bodyPr/>
          <a:lstStyle/>
          <a:p>
            <a:r>
              <a:rPr lang="zh-CN" altLang="en-US" spc="-5" dirty="0"/>
              <a:t>思考题：有缺陷的顺序图</a:t>
            </a:r>
            <a:endParaRPr lang="zh-CN" altLang="en-US" dirty="0"/>
          </a:p>
        </p:txBody>
      </p:sp>
      <p:sp>
        <p:nvSpPr>
          <p:cNvPr id="9" name="灯片编号占位符 8"/>
          <p:cNvSpPr>
            <a:spLocks noGrp="1"/>
          </p:cNvSpPr>
          <p:nvPr>
            <p:ph type="sldNum" sz="quarter" idx="12"/>
          </p:nvPr>
        </p:nvSpPr>
        <p:spPr/>
        <p:txBody>
          <a:bodyPr/>
          <a:lstStyle/>
          <a:p>
            <a:fld id="{74D2AB8B-5816-41F2-8B4B-CA5C3E4E6A65}" type="slidenum">
              <a:rPr lang="zh-CN" altLang="en-US" smtClean="0"/>
              <a:t>55</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88353"/>
    </mc:Choice>
    <mc:Fallback xmlns="">
      <p:transition spd="slow" advTm="88353"/>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 name="组合 60"/>
          <p:cNvGrpSpPr/>
          <p:nvPr/>
        </p:nvGrpSpPr>
        <p:grpSpPr>
          <a:xfrm>
            <a:off x="944447" y="1421036"/>
            <a:ext cx="10303106" cy="5175621"/>
            <a:chOff x="775792" y="1052736"/>
            <a:chExt cx="10303106" cy="5175621"/>
          </a:xfrm>
        </p:grpSpPr>
        <p:sp>
          <p:nvSpPr>
            <p:cNvPr id="2" name="object 2"/>
            <p:cNvSpPr/>
            <p:nvPr/>
          </p:nvSpPr>
          <p:spPr>
            <a:xfrm>
              <a:off x="7924798" y="5229199"/>
              <a:ext cx="0" cy="915035"/>
            </a:xfrm>
            <a:custGeom>
              <a:avLst/>
              <a:gdLst/>
              <a:ahLst/>
              <a:cxnLst/>
              <a:rect l="l" t="t" r="r" b="b"/>
              <a:pathLst>
                <a:path h="915035">
                  <a:moveTo>
                    <a:pt x="0" y="0"/>
                  </a:moveTo>
                  <a:lnTo>
                    <a:pt x="0" y="914424"/>
                  </a:lnTo>
                </a:path>
              </a:pathLst>
            </a:custGeom>
            <a:ln w="9525">
              <a:solidFill>
                <a:srgbClr val="000000"/>
              </a:solidFill>
            </a:ln>
          </p:spPr>
          <p:txBody>
            <a:bodyPr wrap="square" lIns="0" tIns="0" rIns="0" bIns="0" rtlCol="0"/>
            <a:lstStyle/>
            <a:p>
              <a:endParaRPr/>
            </a:p>
          </p:txBody>
        </p:sp>
        <p:sp>
          <p:nvSpPr>
            <p:cNvPr id="3" name="object 3"/>
            <p:cNvSpPr/>
            <p:nvPr/>
          </p:nvSpPr>
          <p:spPr>
            <a:xfrm>
              <a:off x="10031783" y="1357536"/>
              <a:ext cx="0" cy="2397125"/>
            </a:xfrm>
            <a:custGeom>
              <a:avLst/>
              <a:gdLst/>
              <a:ahLst/>
              <a:cxnLst/>
              <a:rect l="l" t="t" r="r" b="b"/>
              <a:pathLst>
                <a:path h="2397125">
                  <a:moveTo>
                    <a:pt x="0" y="0"/>
                  </a:moveTo>
                  <a:lnTo>
                    <a:pt x="0" y="2397124"/>
                  </a:lnTo>
                </a:path>
              </a:pathLst>
            </a:custGeom>
            <a:ln w="9525">
              <a:solidFill>
                <a:srgbClr val="000000"/>
              </a:solidFill>
            </a:ln>
          </p:spPr>
          <p:txBody>
            <a:bodyPr wrap="square" lIns="0" tIns="0" rIns="0" bIns="0" rtlCol="0"/>
            <a:lstStyle/>
            <a:p>
              <a:endParaRPr/>
            </a:p>
          </p:txBody>
        </p:sp>
        <p:sp>
          <p:nvSpPr>
            <p:cNvPr id="4" name="object 4"/>
            <p:cNvSpPr/>
            <p:nvPr/>
          </p:nvSpPr>
          <p:spPr>
            <a:xfrm>
              <a:off x="10031783" y="5167536"/>
              <a:ext cx="0" cy="76200"/>
            </a:xfrm>
            <a:custGeom>
              <a:avLst/>
              <a:gdLst/>
              <a:ahLst/>
              <a:cxnLst/>
              <a:rect l="l" t="t" r="r" b="b"/>
              <a:pathLst>
                <a:path h="76200">
                  <a:moveTo>
                    <a:pt x="0" y="0"/>
                  </a:moveTo>
                  <a:lnTo>
                    <a:pt x="0" y="76198"/>
                  </a:lnTo>
                </a:path>
              </a:pathLst>
            </a:custGeom>
            <a:ln w="9525">
              <a:solidFill>
                <a:srgbClr val="000000"/>
              </a:solidFill>
            </a:ln>
          </p:spPr>
          <p:txBody>
            <a:bodyPr wrap="square" lIns="0" tIns="0" rIns="0" bIns="0" rtlCol="0"/>
            <a:lstStyle/>
            <a:p>
              <a:endParaRPr/>
            </a:p>
          </p:txBody>
        </p:sp>
        <p:sp>
          <p:nvSpPr>
            <p:cNvPr id="5" name="object 5"/>
            <p:cNvSpPr/>
            <p:nvPr/>
          </p:nvSpPr>
          <p:spPr>
            <a:xfrm>
              <a:off x="2614983" y="1052736"/>
              <a:ext cx="1930400" cy="339090"/>
            </a:xfrm>
            <a:custGeom>
              <a:avLst/>
              <a:gdLst/>
              <a:ahLst/>
              <a:cxnLst/>
              <a:rect l="l" t="t" r="r" b="b"/>
              <a:pathLst>
                <a:path w="1930400" h="339090">
                  <a:moveTo>
                    <a:pt x="0" y="0"/>
                  </a:moveTo>
                  <a:lnTo>
                    <a:pt x="1930399" y="0"/>
                  </a:lnTo>
                  <a:lnTo>
                    <a:pt x="1930399" y="338553"/>
                  </a:lnTo>
                  <a:lnTo>
                    <a:pt x="0" y="338553"/>
                  </a:lnTo>
                  <a:lnTo>
                    <a:pt x="0" y="0"/>
                  </a:lnTo>
                  <a:close/>
                </a:path>
              </a:pathLst>
            </a:custGeom>
            <a:ln w="9524">
              <a:solidFill>
                <a:srgbClr val="000000"/>
              </a:solidFill>
            </a:ln>
          </p:spPr>
          <p:txBody>
            <a:bodyPr wrap="square" lIns="0" tIns="0" rIns="0" bIns="0" rtlCol="0"/>
            <a:lstStyle/>
            <a:p>
              <a:endParaRPr/>
            </a:p>
          </p:txBody>
        </p:sp>
        <p:sp>
          <p:nvSpPr>
            <p:cNvPr id="6" name="object 6"/>
            <p:cNvSpPr txBox="1"/>
            <p:nvPr/>
          </p:nvSpPr>
          <p:spPr>
            <a:xfrm>
              <a:off x="2614983" y="1052736"/>
              <a:ext cx="1930400" cy="292388"/>
            </a:xfrm>
            <a:prstGeom prst="rect">
              <a:avLst/>
            </a:prstGeom>
            <a:ln w="9524">
              <a:solidFill>
                <a:srgbClr val="000000"/>
              </a:solidFill>
            </a:ln>
          </p:spPr>
          <p:txBody>
            <a:bodyPr vert="horz" wrap="square" lIns="0" tIns="45720" rIns="0" bIns="0" rtlCol="0">
              <a:spAutoFit/>
            </a:bodyPr>
            <a:lstStyle/>
            <a:p>
              <a:pPr marL="90805">
                <a:lnSpc>
                  <a:spcPct val="100000"/>
                </a:lnSpc>
                <a:spcBef>
                  <a:spcPts val="360"/>
                </a:spcBef>
              </a:pPr>
              <a:r>
                <a:rPr sz="1600" dirty="0">
                  <a:latin typeface="Arial" panose="020B0604020202020204"/>
                  <a:cs typeface="Arial" panose="020B0604020202020204"/>
                </a:rPr>
                <a:t>s</a:t>
              </a:r>
              <a:r>
                <a:rPr sz="1600" spc="-10" dirty="0">
                  <a:latin typeface="Arial" panose="020B0604020202020204"/>
                  <a:cs typeface="Arial" panose="020B0604020202020204"/>
                </a:rPr>
                <a:t> </a:t>
              </a:r>
              <a:r>
                <a:rPr sz="1600" dirty="0">
                  <a:latin typeface="Arial" panose="020B0604020202020204"/>
                  <a:cs typeface="Arial" panose="020B0604020202020204"/>
                </a:rPr>
                <a:t>:</a:t>
              </a:r>
              <a:r>
                <a:rPr lang="en-US" altLang="zh-CN" sz="1600" dirty="0" err="1">
                  <a:latin typeface="华文新魏" panose="02010800040101010101" charset="-122"/>
                  <a:cs typeface="华文新魏" panose="02010800040101010101" charset="-122"/>
                </a:rPr>
                <a:t>Dialler</a:t>
              </a:r>
              <a:endParaRPr sz="1600" dirty="0">
                <a:latin typeface="华文新魏" panose="02010800040101010101" charset="-122"/>
                <a:cs typeface="华文新魏" panose="02010800040101010101" charset="-122"/>
              </a:endParaRPr>
            </a:p>
          </p:txBody>
        </p:sp>
        <p:sp>
          <p:nvSpPr>
            <p:cNvPr id="7" name="object 7"/>
            <p:cNvSpPr/>
            <p:nvPr/>
          </p:nvSpPr>
          <p:spPr>
            <a:xfrm>
              <a:off x="7491782" y="3262536"/>
              <a:ext cx="1297931" cy="302242"/>
            </a:xfrm>
            <a:custGeom>
              <a:avLst/>
              <a:gdLst/>
              <a:ahLst/>
              <a:cxnLst/>
              <a:rect l="l" t="t" r="r" b="b"/>
              <a:pathLst>
                <a:path w="1016000" h="339089">
                  <a:moveTo>
                    <a:pt x="0" y="0"/>
                  </a:moveTo>
                  <a:lnTo>
                    <a:pt x="1016000" y="0"/>
                  </a:lnTo>
                  <a:lnTo>
                    <a:pt x="1016000" y="338553"/>
                  </a:lnTo>
                  <a:lnTo>
                    <a:pt x="0" y="338553"/>
                  </a:lnTo>
                  <a:lnTo>
                    <a:pt x="0" y="0"/>
                  </a:lnTo>
                  <a:close/>
                </a:path>
              </a:pathLst>
            </a:custGeom>
            <a:ln w="9524">
              <a:solidFill>
                <a:srgbClr val="000000"/>
              </a:solidFill>
            </a:ln>
          </p:spPr>
          <p:txBody>
            <a:bodyPr wrap="square" lIns="0" tIns="0" rIns="0" bIns="0" rtlCol="0"/>
            <a:lstStyle/>
            <a:p>
              <a:endParaRPr/>
            </a:p>
          </p:txBody>
        </p:sp>
        <p:sp>
          <p:nvSpPr>
            <p:cNvPr id="8" name="object 8"/>
            <p:cNvSpPr txBox="1"/>
            <p:nvPr/>
          </p:nvSpPr>
          <p:spPr>
            <a:xfrm>
              <a:off x="7570523" y="3295556"/>
              <a:ext cx="1343657" cy="259045"/>
            </a:xfrm>
            <a:prstGeom prst="rect">
              <a:avLst/>
            </a:prstGeom>
          </p:spPr>
          <p:txBody>
            <a:bodyPr vert="horz" wrap="square" lIns="0" tIns="12700" rIns="0" bIns="0" rtlCol="0">
              <a:spAutoFit/>
            </a:bodyPr>
            <a:lstStyle/>
            <a:p>
              <a:pPr marL="12700">
                <a:lnSpc>
                  <a:spcPct val="100000"/>
                </a:lnSpc>
                <a:spcBef>
                  <a:spcPts val="100"/>
                </a:spcBef>
              </a:pPr>
              <a:r>
                <a:rPr sz="1600" u="sng" dirty="0">
                  <a:uFill>
                    <a:solidFill>
                      <a:srgbClr val="000000"/>
                    </a:solidFill>
                  </a:uFill>
                  <a:latin typeface="Arial" panose="020B0604020202020204"/>
                  <a:cs typeface="Arial" panose="020B0604020202020204"/>
                </a:rPr>
                <a:t>c:</a:t>
              </a:r>
              <a:r>
                <a:rPr lang="en-US" sz="1600" u="sng" dirty="0">
                  <a:uFill>
                    <a:solidFill>
                      <a:srgbClr val="000000"/>
                    </a:solidFill>
                  </a:uFill>
                  <a:latin typeface="华文新魏" panose="02010800040101010101" charset="-122"/>
                  <a:cs typeface="华文新魏" panose="02010800040101010101" charset="-122"/>
                </a:rPr>
                <a:t>Connection</a:t>
              </a:r>
              <a:endParaRPr sz="1600" dirty="0">
                <a:latin typeface="华文新魏" panose="02010800040101010101" charset="-122"/>
                <a:cs typeface="华文新魏" panose="02010800040101010101" charset="-122"/>
              </a:endParaRPr>
            </a:p>
          </p:txBody>
        </p:sp>
        <p:sp>
          <p:nvSpPr>
            <p:cNvPr id="9" name="object 9"/>
            <p:cNvSpPr/>
            <p:nvPr/>
          </p:nvSpPr>
          <p:spPr>
            <a:xfrm>
              <a:off x="5662983" y="1052736"/>
              <a:ext cx="1320800" cy="339090"/>
            </a:xfrm>
            <a:custGeom>
              <a:avLst/>
              <a:gdLst/>
              <a:ahLst/>
              <a:cxnLst/>
              <a:rect l="l" t="t" r="r" b="b"/>
              <a:pathLst>
                <a:path w="1320800" h="339090">
                  <a:moveTo>
                    <a:pt x="0" y="0"/>
                  </a:moveTo>
                  <a:lnTo>
                    <a:pt x="1320799" y="0"/>
                  </a:lnTo>
                  <a:lnTo>
                    <a:pt x="1320799" y="338553"/>
                  </a:lnTo>
                  <a:lnTo>
                    <a:pt x="0" y="338553"/>
                  </a:lnTo>
                  <a:lnTo>
                    <a:pt x="0" y="0"/>
                  </a:lnTo>
                  <a:close/>
                </a:path>
              </a:pathLst>
            </a:custGeom>
            <a:ln w="9524">
              <a:solidFill>
                <a:srgbClr val="000000"/>
              </a:solidFill>
            </a:ln>
          </p:spPr>
          <p:txBody>
            <a:bodyPr wrap="square" lIns="0" tIns="0" rIns="0" bIns="0" rtlCol="0"/>
            <a:lstStyle/>
            <a:p>
              <a:endParaRPr/>
            </a:p>
          </p:txBody>
        </p:sp>
        <p:sp>
          <p:nvSpPr>
            <p:cNvPr id="10" name="object 10"/>
            <p:cNvSpPr txBox="1"/>
            <p:nvPr/>
          </p:nvSpPr>
          <p:spPr>
            <a:xfrm>
              <a:off x="5741723" y="1085756"/>
              <a:ext cx="1343659" cy="259045"/>
            </a:xfrm>
            <a:prstGeom prst="rect">
              <a:avLst/>
            </a:prstGeom>
          </p:spPr>
          <p:txBody>
            <a:bodyPr vert="horz" wrap="square" lIns="0" tIns="12700" rIns="0" bIns="0" rtlCol="0">
              <a:spAutoFit/>
            </a:bodyPr>
            <a:lstStyle/>
            <a:p>
              <a:pPr marL="12700">
                <a:lnSpc>
                  <a:spcPct val="100000"/>
                </a:lnSpc>
                <a:spcBef>
                  <a:spcPts val="100"/>
                </a:spcBef>
              </a:pPr>
              <a:r>
                <a:rPr sz="1600" dirty="0">
                  <a:latin typeface="Arial" panose="020B0604020202020204"/>
                  <a:cs typeface="Arial" panose="020B0604020202020204"/>
                </a:rPr>
                <a:t>:</a:t>
              </a:r>
              <a:r>
                <a:rPr lang="en-US" sz="1600" dirty="0" err="1">
                  <a:latin typeface="华文新魏" panose="02010800040101010101" charset="-122"/>
                  <a:cs typeface="Arial" panose="020B0604020202020204"/>
                </a:rPr>
                <a:t>CellularRadio</a:t>
              </a:r>
              <a:endParaRPr sz="1600" dirty="0">
                <a:latin typeface="华文新魏" panose="02010800040101010101" charset="-122"/>
                <a:cs typeface="华文新魏" panose="02010800040101010101" charset="-122"/>
              </a:endParaRPr>
            </a:p>
          </p:txBody>
        </p:sp>
        <p:sp>
          <p:nvSpPr>
            <p:cNvPr id="11" name="object 11"/>
            <p:cNvSpPr/>
            <p:nvPr/>
          </p:nvSpPr>
          <p:spPr>
            <a:xfrm>
              <a:off x="3529383" y="1357536"/>
              <a:ext cx="0" cy="542925"/>
            </a:xfrm>
            <a:custGeom>
              <a:avLst/>
              <a:gdLst/>
              <a:ahLst/>
              <a:cxnLst/>
              <a:rect l="l" t="t" r="r" b="b"/>
              <a:pathLst>
                <a:path h="542925">
                  <a:moveTo>
                    <a:pt x="0" y="0"/>
                  </a:moveTo>
                  <a:lnTo>
                    <a:pt x="0" y="542924"/>
                  </a:lnTo>
                </a:path>
              </a:pathLst>
            </a:custGeom>
            <a:ln w="9526">
              <a:solidFill>
                <a:srgbClr val="000000"/>
              </a:solidFill>
            </a:ln>
          </p:spPr>
          <p:txBody>
            <a:bodyPr wrap="square" lIns="0" tIns="0" rIns="0" bIns="0" rtlCol="0"/>
            <a:lstStyle/>
            <a:p>
              <a:endParaRPr/>
            </a:p>
          </p:txBody>
        </p:sp>
        <p:sp>
          <p:nvSpPr>
            <p:cNvPr id="12" name="object 12"/>
            <p:cNvSpPr/>
            <p:nvPr/>
          </p:nvSpPr>
          <p:spPr>
            <a:xfrm>
              <a:off x="3529383" y="5410423"/>
              <a:ext cx="0" cy="62230"/>
            </a:xfrm>
            <a:custGeom>
              <a:avLst/>
              <a:gdLst/>
              <a:ahLst/>
              <a:cxnLst/>
              <a:rect l="l" t="t" r="r" b="b"/>
              <a:pathLst>
                <a:path h="62229">
                  <a:moveTo>
                    <a:pt x="0" y="0"/>
                  </a:moveTo>
                  <a:lnTo>
                    <a:pt x="0" y="61911"/>
                  </a:lnTo>
                </a:path>
              </a:pathLst>
            </a:custGeom>
            <a:ln w="9526">
              <a:solidFill>
                <a:srgbClr val="000000"/>
              </a:solidFill>
            </a:ln>
          </p:spPr>
          <p:txBody>
            <a:bodyPr wrap="square" lIns="0" tIns="0" rIns="0" bIns="0" rtlCol="0"/>
            <a:lstStyle/>
            <a:p>
              <a:endParaRPr/>
            </a:p>
          </p:txBody>
        </p:sp>
        <p:sp>
          <p:nvSpPr>
            <p:cNvPr id="13" name="object 13"/>
            <p:cNvSpPr/>
            <p:nvPr/>
          </p:nvSpPr>
          <p:spPr>
            <a:xfrm>
              <a:off x="3427783" y="1900461"/>
              <a:ext cx="151130" cy="3510279"/>
            </a:xfrm>
            <a:custGeom>
              <a:avLst/>
              <a:gdLst/>
              <a:ahLst/>
              <a:cxnLst/>
              <a:rect l="l" t="t" r="r" b="b"/>
              <a:pathLst>
                <a:path w="151129" h="3510279">
                  <a:moveTo>
                    <a:pt x="0" y="0"/>
                  </a:moveTo>
                  <a:lnTo>
                    <a:pt x="150812" y="0"/>
                  </a:lnTo>
                  <a:lnTo>
                    <a:pt x="150812" y="3509961"/>
                  </a:lnTo>
                  <a:lnTo>
                    <a:pt x="0" y="3509961"/>
                  </a:lnTo>
                  <a:lnTo>
                    <a:pt x="0" y="0"/>
                  </a:lnTo>
                  <a:close/>
                </a:path>
              </a:pathLst>
            </a:custGeom>
            <a:ln w="9524">
              <a:solidFill>
                <a:srgbClr val="000000"/>
              </a:solidFill>
            </a:ln>
          </p:spPr>
          <p:txBody>
            <a:bodyPr wrap="square" lIns="0" tIns="0" rIns="0" bIns="0" rtlCol="0"/>
            <a:lstStyle/>
            <a:p>
              <a:endParaRPr/>
            </a:p>
          </p:txBody>
        </p:sp>
        <p:sp>
          <p:nvSpPr>
            <p:cNvPr id="14" name="object 14"/>
            <p:cNvSpPr/>
            <p:nvPr/>
          </p:nvSpPr>
          <p:spPr>
            <a:xfrm>
              <a:off x="6272583" y="5373216"/>
              <a:ext cx="0" cy="52069"/>
            </a:xfrm>
            <a:custGeom>
              <a:avLst/>
              <a:gdLst/>
              <a:ahLst/>
              <a:cxnLst/>
              <a:rect l="l" t="t" r="r" b="b"/>
              <a:pathLst>
                <a:path h="52070">
                  <a:moveTo>
                    <a:pt x="0" y="0"/>
                  </a:moveTo>
                  <a:lnTo>
                    <a:pt x="0" y="51493"/>
                  </a:lnTo>
                </a:path>
              </a:pathLst>
            </a:custGeom>
            <a:ln w="9526">
              <a:solidFill>
                <a:srgbClr val="000000"/>
              </a:solidFill>
            </a:ln>
          </p:spPr>
          <p:txBody>
            <a:bodyPr wrap="square" lIns="0" tIns="0" rIns="0" bIns="0" rtlCol="0"/>
            <a:lstStyle/>
            <a:p>
              <a:endParaRPr/>
            </a:p>
          </p:txBody>
        </p:sp>
        <p:sp>
          <p:nvSpPr>
            <p:cNvPr id="15" name="object 15"/>
            <p:cNvSpPr/>
            <p:nvPr/>
          </p:nvSpPr>
          <p:spPr>
            <a:xfrm>
              <a:off x="6170983" y="1410816"/>
              <a:ext cx="203200" cy="3962400"/>
            </a:xfrm>
            <a:custGeom>
              <a:avLst/>
              <a:gdLst/>
              <a:ahLst/>
              <a:cxnLst/>
              <a:rect l="l" t="t" r="r" b="b"/>
              <a:pathLst>
                <a:path w="203200" h="3962400">
                  <a:moveTo>
                    <a:pt x="0" y="0"/>
                  </a:moveTo>
                  <a:lnTo>
                    <a:pt x="203199" y="0"/>
                  </a:lnTo>
                  <a:lnTo>
                    <a:pt x="203199" y="3962398"/>
                  </a:lnTo>
                  <a:lnTo>
                    <a:pt x="0" y="3962398"/>
                  </a:lnTo>
                  <a:lnTo>
                    <a:pt x="0" y="0"/>
                  </a:lnTo>
                  <a:close/>
                </a:path>
              </a:pathLst>
            </a:custGeom>
            <a:ln w="9524">
              <a:solidFill>
                <a:srgbClr val="000000"/>
              </a:solidFill>
            </a:ln>
          </p:spPr>
          <p:txBody>
            <a:bodyPr wrap="square" lIns="0" tIns="0" rIns="0" bIns="0" rtlCol="0"/>
            <a:lstStyle/>
            <a:p>
              <a:endParaRPr/>
            </a:p>
          </p:txBody>
        </p:sp>
        <p:sp>
          <p:nvSpPr>
            <p:cNvPr id="16" name="object 16"/>
            <p:cNvSpPr/>
            <p:nvPr/>
          </p:nvSpPr>
          <p:spPr>
            <a:xfrm>
              <a:off x="3656384" y="2271936"/>
              <a:ext cx="2514600" cy="0"/>
            </a:xfrm>
            <a:custGeom>
              <a:avLst/>
              <a:gdLst/>
              <a:ahLst/>
              <a:cxnLst/>
              <a:rect l="l" t="t" r="r" b="b"/>
              <a:pathLst>
                <a:path w="2514600">
                  <a:moveTo>
                    <a:pt x="2514599" y="0"/>
                  </a:moveTo>
                  <a:lnTo>
                    <a:pt x="0" y="1"/>
                  </a:lnTo>
                </a:path>
              </a:pathLst>
            </a:custGeom>
            <a:ln w="9524">
              <a:solidFill>
                <a:srgbClr val="000000"/>
              </a:solidFill>
            </a:ln>
          </p:spPr>
          <p:txBody>
            <a:bodyPr wrap="square" lIns="0" tIns="0" rIns="0" bIns="0" rtlCol="0"/>
            <a:lstStyle/>
            <a:p>
              <a:endParaRPr/>
            </a:p>
          </p:txBody>
        </p:sp>
        <p:sp>
          <p:nvSpPr>
            <p:cNvPr id="17" name="object 17"/>
            <p:cNvSpPr/>
            <p:nvPr/>
          </p:nvSpPr>
          <p:spPr>
            <a:xfrm>
              <a:off x="3630983" y="2233837"/>
              <a:ext cx="76200" cy="76200"/>
            </a:xfrm>
            <a:custGeom>
              <a:avLst/>
              <a:gdLst/>
              <a:ahLst/>
              <a:cxnLst/>
              <a:rect l="l" t="t" r="r" b="b"/>
              <a:pathLst>
                <a:path w="76200" h="76200">
                  <a:moveTo>
                    <a:pt x="76200" y="0"/>
                  </a:moveTo>
                  <a:lnTo>
                    <a:pt x="0" y="38100"/>
                  </a:lnTo>
                  <a:lnTo>
                    <a:pt x="76200" y="76200"/>
                  </a:lnTo>
                  <a:lnTo>
                    <a:pt x="76200" y="0"/>
                  </a:lnTo>
                  <a:close/>
                </a:path>
              </a:pathLst>
            </a:custGeom>
            <a:solidFill>
              <a:srgbClr val="000000"/>
            </a:solidFill>
          </p:spPr>
          <p:txBody>
            <a:bodyPr wrap="square" lIns="0" tIns="0" rIns="0" bIns="0" rtlCol="0"/>
            <a:lstStyle/>
            <a:p>
              <a:endParaRPr/>
            </a:p>
          </p:txBody>
        </p:sp>
        <p:sp>
          <p:nvSpPr>
            <p:cNvPr id="18" name="object 18"/>
            <p:cNvSpPr txBox="1"/>
            <p:nvPr/>
          </p:nvSpPr>
          <p:spPr>
            <a:xfrm>
              <a:off x="3618283" y="1481996"/>
              <a:ext cx="2540000" cy="787400"/>
            </a:xfrm>
            <a:prstGeom prst="rect">
              <a:avLst/>
            </a:prstGeom>
          </p:spPr>
          <p:txBody>
            <a:bodyPr vert="horz" wrap="square" lIns="0" tIns="149860" rIns="0" bIns="0" rtlCol="0">
              <a:spAutoFit/>
            </a:bodyPr>
            <a:lstStyle/>
            <a:p>
              <a:pPr marL="12700">
                <a:lnSpc>
                  <a:spcPct val="100000"/>
                </a:lnSpc>
                <a:spcBef>
                  <a:spcPts val="1180"/>
                </a:spcBef>
                <a:tabLst>
                  <a:tab pos="204470" algn="l"/>
                  <a:tab pos="2526665" algn="l"/>
                </a:tabLst>
              </a:pPr>
              <a:r>
                <a:rPr sz="1600" u="sng" dirty="0">
                  <a:uFill>
                    <a:solidFill>
                      <a:srgbClr val="000000"/>
                    </a:solidFill>
                  </a:uFill>
                  <a:latin typeface="Arial" panose="020B0604020202020204"/>
                  <a:cs typeface="Arial" panose="020B0604020202020204"/>
                </a:rPr>
                <a:t> 	a</a:t>
              </a:r>
              <a:r>
                <a:rPr sz="1600" u="sng" spc="-5" dirty="0">
                  <a:uFill>
                    <a:solidFill>
                      <a:srgbClr val="000000"/>
                    </a:solidFill>
                  </a:uFill>
                  <a:latin typeface="Arial" panose="020B0604020202020204"/>
                  <a:cs typeface="Arial" panose="020B0604020202020204"/>
                </a:rPr>
                <a:t>:</a:t>
              </a:r>
              <a:r>
                <a:rPr sz="1600" u="sng" dirty="0">
                  <a:uFill>
                    <a:solidFill>
                      <a:srgbClr val="000000"/>
                    </a:solidFill>
                  </a:uFill>
                  <a:latin typeface="华文新魏" panose="02010800040101010101" charset="-122"/>
                  <a:cs typeface="华文新魏" panose="02010800040101010101" charset="-122"/>
                </a:rPr>
                <a:t>拿起话筒	</a:t>
              </a:r>
              <a:endParaRPr sz="1600">
                <a:latin typeface="华文新魏" panose="02010800040101010101" charset="-122"/>
                <a:cs typeface="华文新魏" panose="02010800040101010101" charset="-122"/>
              </a:endParaRPr>
            </a:p>
            <a:p>
              <a:pPr marL="205740">
                <a:lnSpc>
                  <a:spcPct val="100000"/>
                </a:lnSpc>
                <a:spcBef>
                  <a:spcPts val="1080"/>
                </a:spcBef>
              </a:pPr>
              <a:r>
                <a:rPr sz="1600" spc="-5" dirty="0">
                  <a:latin typeface="Arial" panose="020B0604020202020204"/>
                  <a:cs typeface="Arial" panose="020B0604020202020204"/>
                </a:rPr>
                <a:t>b:</a:t>
              </a:r>
              <a:r>
                <a:rPr sz="1600" dirty="0">
                  <a:latin typeface="华文新魏" panose="02010800040101010101" charset="-122"/>
                  <a:cs typeface="华文新魏" panose="02010800040101010101" charset="-122"/>
                </a:rPr>
                <a:t>发拨号声</a:t>
              </a:r>
              <a:endParaRPr sz="1600">
                <a:latin typeface="华文新魏" panose="02010800040101010101" charset="-122"/>
                <a:cs typeface="华文新魏" panose="02010800040101010101" charset="-122"/>
              </a:endParaRPr>
            </a:p>
          </p:txBody>
        </p:sp>
        <p:sp>
          <p:nvSpPr>
            <p:cNvPr id="19" name="object 19"/>
            <p:cNvSpPr/>
            <p:nvPr/>
          </p:nvSpPr>
          <p:spPr>
            <a:xfrm>
              <a:off x="7898183" y="3628999"/>
              <a:ext cx="203200" cy="1600200"/>
            </a:xfrm>
            <a:custGeom>
              <a:avLst/>
              <a:gdLst/>
              <a:ahLst/>
              <a:cxnLst/>
              <a:rect l="l" t="t" r="r" b="b"/>
              <a:pathLst>
                <a:path w="203200" h="1600200">
                  <a:moveTo>
                    <a:pt x="0" y="0"/>
                  </a:moveTo>
                  <a:lnTo>
                    <a:pt x="203200" y="0"/>
                  </a:lnTo>
                  <a:lnTo>
                    <a:pt x="203200" y="1600199"/>
                  </a:lnTo>
                  <a:lnTo>
                    <a:pt x="0" y="1600199"/>
                  </a:lnTo>
                  <a:lnTo>
                    <a:pt x="0" y="0"/>
                  </a:lnTo>
                  <a:close/>
                </a:path>
              </a:pathLst>
            </a:custGeom>
            <a:ln w="9524">
              <a:solidFill>
                <a:srgbClr val="000000"/>
              </a:solidFill>
            </a:ln>
          </p:spPr>
          <p:txBody>
            <a:bodyPr wrap="square" lIns="0" tIns="0" rIns="0" bIns="0" rtlCol="0"/>
            <a:lstStyle/>
            <a:p>
              <a:endParaRPr/>
            </a:p>
          </p:txBody>
        </p:sp>
        <p:sp>
          <p:nvSpPr>
            <p:cNvPr id="20" name="object 20"/>
            <p:cNvSpPr/>
            <p:nvPr/>
          </p:nvSpPr>
          <p:spPr>
            <a:xfrm>
              <a:off x="9930181" y="3754661"/>
              <a:ext cx="177800" cy="1412875"/>
            </a:xfrm>
            <a:custGeom>
              <a:avLst/>
              <a:gdLst/>
              <a:ahLst/>
              <a:cxnLst/>
              <a:rect l="l" t="t" r="r" b="b"/>
              <a:pathLst>
                <a:path w="177800" h="1412875">
                  <a:moveTo>
                    <a:pt x="0" y="0"/>
                  </a:moveTo>
                  <a:lnTo>
                    <a:pt x="177799" y="0"/>
                  </a:lnTo>
                  <a:lnTo>
                    <a:pt x="177799" y="1412874"/>
                  </a:lnTo>
                  <a:lnTo>
                    <a:pt x="0" y="1412874"/>
                  </a:lnTo>
                  <a:lnTo>
                    <a:pt x="0" y="0"/>
                  </a:lnTo>
                  <a:close/>
                </a:path>
              </a:pathLst>
            </a:custGeom>
            <a:ln w="9524">
              <a:solidFill>
                <a:srgbClr val="000000"/>
              </a:solidFill>
            </a:ln>
          </p:spPr>
          <p:txBody>
            <a:bodyPr wrap="square" lIns="0" tIns="0" rIns="0" bIns="0" rtlCol="0"/>
            <a:lstStyle/>
            <a:p>
              <a:endParaRPr/>
            </a:p>
          </p:txBody>
        </p:sp>
        <p:sp>
          <p:nvSpPr>
            <p:cNvPr id="21" name="object 21"/>
            <p:cNvSpPr txBox="1"/>
            <p:nvPr/>
          </p:nvSpPr>
          <p:spPr>
            <a:xfrm>
              <a:off x="6960923" y="2762156"/>
              <a:ext cx="838200" cy="269240"/>
            </a:xfrm>
            <a:prstGeom prst="rect">
              <a:avLst/>
            </a:prstGeom>
          </p:spPr>
          <p:txBody>
            <a:bodyPr vert="horz" wrap="square" lIns="0" tIns="12700" rIns="0" bIns="0" rtlCol="0">
              <a:spAutoFit/>
            </a:bodyPr>
            <a:lstStyle/>
            <a:p>
              <a:pPr marL="12700">
                <a:lnSpc>
                  <a:spcPct val="100000"/>
                </a:lnSpc>
                <a:spcBef>
                  <a:spcPts val="100"/>
                </a:spcBef>
              </a:pPr>
              <a:r>
                <a:rPr sz="1600" dirty="0">
                  <a:latin typeface="华文新魏" panose="02010800040101010101" charset="-122"/>
                  <a:cs typeface="华文新魏" panose="02010800040101010101" charset="-122"/>
                </a:rPr>
                <a:t>逻辑连通</a:t>
              </a:r>
              <a:endParaRPr sz="1600">
                <a:latin typeface="华文新魏" panose="02010800040101010101" charset="-122"/>
                <a:cs typeface="华文新魏" panose="02010800040101010101" charset="-122"/>
              </a:endParaRPr>
            </a:p>
          </p:txBody>
        </p:sp>
        <p:sp>
          <p:nvSpPr>
            <p:cNvPr id="22" name="object 22"/>
            <p:cNvSpPr/>
            <p:nvPr/>
          </p:nvSpPr>
          <p:spPr>
            <a:xfrm>
              <a:off x="6272583" y="2881535"/>
              <a:ext cx="203200" cy="381000"/>
            </a:xfrm>
            <a:custGeom>
              <a:avLst/>
              <a:gdLst/>
              <a:ahLst/>
              <a:cxnLst/>
              <a:rect l="l" t="t" r="r" b="b"/>
              <a:pathLst>
                <a:path w="203200" h="381000">
                  <a:moveTo>
                    <a:pt x="0" y="0"/>
                  </a:moveTo>
                  <a:lnTo>
                    <a:pt x="203200" y="0"/>
                  </a:lnTo>
                  <a:lnTo>
                    <a:pt x="203200" y="381000"/>
                  </a:lnTo>
                  <a:lnTo>
                    <a:pt x="0" y="381000"/>
                  </a:lnTo>
                  <a:lnTo>
                    <a:pt x="0" y="0"/>
                  </a:lnTo>
                  <a:close/>
                </a:path>
              </a:pathLst>
            </a:custGeom>
            <a:solidFill>
              <a:srgbClr val="FFFFFF"/>
            </a:solidFill>
          </p:spPr>
          <p:txBody>
            <a:bodyPr wrap="square" lIns="0" tIns="0" rIns="0" bIns="0" rtlCol="0"/>
            <a:lstStyle/>
            <a:p>
              <a:endParaRPr/>
            </a:p>
          </p:txBody>
        </p:sp>
        <p:sp>
          <p:nvSpPr>
            <p:cNvPr id="23" name="object 23"/>
            <p:cNvSpPr/>
            <p:nvPr/>
          </p:nvSpPr>
          <p:spPr>
            <a:xfrm>
              <a:off x="6272583" y="2881536"/>
              <a:ext cx="203200" cy="381000"/>
            </a:xfrm>
            <a:custGeom>
              <a:avLst/>
              <a:gdLst/>
              <a:ahLst/>
              <a:cxnLst/>
              <a:rect l="l" t="t" r="r" b="b"/>
              <a:pathLst>
                <a:path w="203200" h="381000">
                  <a:moveTo>
                    <a:pt x="0" y="0"/>
                  </a:moveTo>
                  <a:lnTo>
                    <a:pt x="203199" y="0"/>
                  </a:lnTo>
                  <a:lnTo>
                    <a:pt x="203199" y="380999"/>
                  </a:lnTo>
                  <a:lnTo>
                    <a:pt x="0" y="380999"/>
                  </a:lnTo>
                  <a:lnTo>
                    <a:pt x="0" y="0"/>
                  </a:lnTo>
                  <a:close/>
                </a:path>
              </a:pathLst>
            </a:custGeom>
            <a:ln w="9524">
              <a:solidFill>
                <a:srgbClr val="000000"/>
              </a:solidFill>
            </a:ln>
          </p:spPr>
          <p:txBody>
            <a:bodyPr wrap="square" lIns="0" tIns="0" rIns="0" bIns="0" rtlCol="0"/>
            <a:lstStyle/>
            <a:p>
              <a:endParaRPr/>
            </a:p>
          </p:txBody>
        </p:sp>
        <p:sp>
          <p:nvSpPr>
            <p:cNvPr id="24" name="object 24"/>
            <p:cNvSpPr/>
            <p:nvPr/>
          </p:nvSpPr>
          <p:spPr>
            <a:xfrm>
              <a:off x="6374183" y="2805335"/>
              <a:ext cx="406400" cy="304800"/>
            </a:xfrm>
            <a:custGeom>
              <a:avLst/>
              <a:gdLst/>
              <a:ahLst/>
              <a:cxnLst/>
              <a:rect l="l" t="t" r="r" b="b"/>
              <a:pathLst>
                <a:path w="406400" h="304800">
                  <a:moveTo>
                    <a:pt x="0" y="0"/>
                  </a:moveTo>
                  <a:lnTo>
                    <a:pt x="406399" y="0"/>
                  </a:lnTo>
                  <a:lnTo>
                    <a:pt x="406399" y="304800"/>
                  </a:lnTo>
                  <a:lnTo>
                    <a:pt x="126999" y="304800"/>
                  </a:lnTo>
                </a:path>
              </a:pathLst>
            </a:custGeom>
            <a:ln w="9524">
              <a:solidFill>
                <a:srgbClr val="000000"/>
              </a:solidFill>
            </a:ln>
          </p:spPr>
          <p:txBody>
            <a:bodyPr wrap="square" lIns="0" tIns="0" rIns="0" bIns="0" rtlCol="0"/>
            <a:lstStyle/>
            <a:p>
              <a:endParaRPr/>
            </a:p>
          </p:txBody>
        </p:sp>
        <p:sp>
          <p:nvSpPr>
            <p:cNvPr id="25" name="object 25"/>
            <p:cNvSpPr/>
            <p:nvPr/>
          </p:nvSpPr>
          <p:spPr>
            <a:xfrm>
              <a:off x="6475783" y="3072035"/>
              <a:ext cx="76200" cy="76200"/>
            </a:xfrm>
            <a:custGeom>
              <a:avLst/>
              <a:gdLst/>
              <a:ahLst/>
              <a:cxnLst/>
              <a:rect l="l" t="t" r="r" b="b"/>
              <a:pathLst>
                <a:path w="76200" h="76200">
                  <a:moveTo>
                    <a:pt x="76199" y="0"/>
                  </a:moveTo>
                  <a:lnTo>
                    <a:pt x="0" y="38100"/>
                  </a:lnTo>
                  <a:lnTo>
                    <a:pt x="76199" y="76200"/>
                  </a:lnTo>
                  <a:lnTo>
                    <a:pt x="76199" y="0"/>
                  </a:lnTo>
                  <a:close/>
                </a:path>
              </a:pathLst>
            </a:custGeom>
            <a:solidFill>
              <a:srgbClr val="000000"/>
            </a:solidFill>
          </p:spPr>
          <p:txBody>
            <a:bodyPr wrap="square" lIns="0" tIns="0" rIns="0" bIns="0" rtlCol="0"/>
            <a:lstStyle/>
            <a:p>
              <a:endParaRPr/>
            </a:p>
          </p:txBody>
        </p:sp>
        <p:sp>
          <p:nvSpPr>
            <p:cNvPr id="26" name="object 26"/>
            <p:cNvSpPr txBox="1"/>
            <p:nvPr/>
          </p:nvSpPr>
          <p:spPr>
            <a:xfrm>
              <a:off x="6757723" y="3981356"/>
              <a:ext cx="804545" cy="269240"/>
            </a:xfrm>
            <a:prstGeom prst="rect">
              <a:avLst/>
            </a:prstGeom>
          </p:spPr>
          <p:txBody>
            <a:bodyPr vert="horz" wrap="square" lIns="0" tIns="12700" rIns="0" bIns="0" rtlCol="0">
              <a:spAutoFit/>
            </a:bodyPr>
            <a:lstStyle/>
            <a:p>
              <a:pPr marL="12700">
                <a:lnSpc>
                  <a:spcPct val="100000"/>
                </a:lnSpc>
                <a:spcBef>
                  <a:spcPts val="100"/>
                </a:spcBef>
              </a:pPr>
              <a:r>
                <a:rPr sz="1600" dirty="0">
                  <a:latin typeface="华文新魏" panose="02010800040101010101" charset="-122"/>
                  <a:cs typeface="华文新魏" panose="02010800040101010101" charset="-122"/>
                </a:rPr>
                <a:t>连接</a:t>
              </a:r>
              <a:r>
                <a:rPr sz="1600" dirty="0">
                  <a:latin typeface="Arial" panose="020B0604020202020204"/>
                  <a:cs typeface="Arial" panose="020B0604020202020204"/>
                </a:rPr>
                <a:t>s</a:t>
              </a:r>
              <a:r>
                <a:rPr sz="1600" dirty="0">
                  <a:latin typeface="华文新魏" panose="02010800040101010101" charset="-122"/>
                  <a:cs typeface="华文新魏" panose="02010800040101010101" charset="-122"/>
                </a:rPr>
                <a:t>与</a:t>
              </a:r>
              <a:r>
                <a:rPr sz="1600" dirty="0">
                  <a:latin typeface="Arial" panose="020B0604020202020204"/>
                  <a:cs typeface="Arial" panose="020B0604020202020204"/>
                </a:rPr>
                <a:t>r</a:t>
              </a:r>
              <a:endParaRPr sz="1600">
                <a:latin typeface="Arial" panose="020B0604020202020204"/>
                <a:cs typeface="Arial" panose="020B0604020202020204"/>
              </a:endParaRPr>
            </a:p>
          </p:txBody>
        </p:sp>
        <p:sp>
          <p:nvSpPr>
            <p:cNvPr id="27" name="object 27"/>
            <p:cNvSpPr/>
            <p:nvPr/>
          </p:nvSpPr>
          <p:spPr>
            <a:xfrm>
              <a:off x="9117383" y="1052736"/>
              <a:ext cx="1930400" cy="339090"/>
            </a:xfrm>
            <a:custGeom>
              <a:avLst/>
              <a:gdLst/>
              <a:ahLst/>
              <a:cxnLst/>
              <a:rect l="l" t="t" r="r" b="b"/>
              <a:pathLst>
                <a:path w="1930400" h="339090">
                  <a:moveTo>
                    <a:pt x="0" y="0"/>
                  </a:moveTo>
                  <a:lnTo>
                    <a:pt x="1930400" y="0"/>
                  </a:lnTo>
                  <a:lnTo>
                    <a:pt x="1930400" y="338553"/>
                  </a:lnTo>
                  <a:lnTo>
                    <a:pt x="0" y="338553"/>
                  </a:lnTo>
                  <a:lnTo>
                    <a:pt x="0" y="0"/>
                  </a:lnTo>
                  <a:close/>
                </a:path>
              </a:pathLst>
            </a:custGeom>
            <a:ln w="9524">
              <a:solidFill>
                <a:srgbClr val="000000"/>
              </a:solidFill>
            </a:ln>
          </p:spPr>
          <p:txBody>
            <a:bodyPr wrap="square" lIns="0" tIns="0" rIns="0" bIns="0" rtlCol="0"/>
            <a:lstStyle/>
            <a:p>
              <a:endParaRPr/>
            </a:p>
          </p:txBody>
        </p:sp>
        <p:sp>
          <p:nvSpPr>
            <p:cNvPr id="28" name="object 28"/>
            <p:cNvSpPr txBox="1"/>
            <p:nvPr/>
          </p:nvSpPr>
          <p:spPr>
            <a:xfrm>
              <a:off x="9196123" y="1085756"/>
              <a:ext cx="1038858" cy="259045"/>
            </a:xfrm>
            <a:prstGeom prst="rect">
              <a:avLst/>
            </a:prstGeom>
          </p:spPr>
          <p:txBody>
            <a:bodyPr vert="horz" wrap="square" lIns="0" tIns="12700" rIns="0" bIns="0" rtlCol="0">
              <a:spAutoFit/>
            </a:bodyPr>
            <a:lstStyle/>
            <a:p>
              <a:pPr marL="12700">
                <a:lnSpc>
                  <a:spcPct val="100000"/>
                </a:lnSpc>
                <a:spcBef>
                  <a:spcPts val="100"/>
                </a:spcBef>
              </a:pPr>
              <a:r>
                <a:rPr sz="1600" dirty="0">
                  <a:latin typeface="Arial" panose="020B0604020202020204"/>
                  <a:cs typeface="Arial" panose="020B0604020202020204"/>
                </a:rPr>
                <a:t>r</a:t>
              </a:r>
              <a:r>
                <a:rPr sz="1600" spc="-90" dirty="0">
                  <a:latin typeface="Arial" panose="020B0604020202020204"/>
                  <a:cs typeface="Arial" panose="020B0604020202020204"/>
                </a:rPr>
                <a:t> </a:t>
              </a:r>
              <a:r>
                <a:rPr sz="1600" dirty="0">
                  <a:latin typeface="Arial" panose="020B0604020202020204"/>
                  <a:cs typeface="Arial" panose="020B0604020202020204"/>
                </a:rPr>
                <a:t>:</a:t>
              </a:r>
              <a:r>
                <a:rPr lang="en-US" sz="1600" dirty="0" err="1">
                  <a:latin typeface="华文新魏" panose="02010800040101010101" charset="-122"/>
                  <a:cs typeface="华文新魏" panose="02010800040101010101" charset="-122"/>
                </a:rPr>
                <a:t>Dialler</a:t>
              </a:r>
              <a:endParaRPr sz="1600" dirty="0">
                <a:latin typeface="华文新魏" panose="02010800040101010101" charset="-122"/>
                <a:cs typeface="华文新魏" panose="02010800040101010101" charset="-122"/>
              </a:endParaRPr>
            </a:p>
          </p:txBody>
        </p:sp>
        <p:sp>
          <p:nvSpPr>
            <p:cNvPr id="29" name="object 29"/>
            <p:cNvSpPr txBox="1"/>
            <p:nvPr/>
          </p:nvSpPr>
          <p:spPr>
            <a:xfrm>
              <a:off x="3618283" y="2381900"/>
              <a:ext cx="2540635" cy="269240"/>
            </a:xfrm>
            <a:prstGeom prst="rect">
              <a:avLst/>
            </a:prstGeom>
          </p:spPr>
          <p:txBody>
            <a:bodyPr vert="horz" wrap="square" lIns="0" tIns="12700" rIns="0" bIns="0" rtlCol="0">
              <a:spAutoFit/>
            </a:bodyPr>
            <a:lstStyle/>
            <a:p>
              <a:pPr marL="12700">
                <a:lnSpc>
                  <a:spcPct val="100000"/>
                </a:lnSpc>
                <a:spcBef>
                  <a:spcPts val="100"/>
                </a:spcBef>
                <a:tabLst>
                  <a:tab pos="204470" algn="l"/>
                  <a:tab pos="2527300" algn="l"/>
                </a:tabLst>
              </a:pPr>
              <a:r>
                <a:rPr sz="1600" u="sng" dirty="0">
                  <a:uFill>
                    <a:solidFill>
                      <a:srgbClr val="000000"/>
                    </a:solidFill>
                  </a:uFill>
                  <a:latin typeface="Arial" panose="020B0604020202020204"/>
                  <a:cs typeface="Arial" panose="020B0604020202020204"/>
                </a:rPr>
                <a:t> 	</a:t>
              </a:r>
              <a:r>
                <a:rPr sz="1600" u="sng" spc="-5" dirty="0">
                  <a:uFill>
                    <a:solidFill>
                      <a:srgbClr val="000000"/>
                    </a:solidFill>
                  </a:uFill>
                  <a:latin typeface="Arial" panose="020B0604020202020204"/>
                  <a:cs typeface="Arial" panose="020B0604020202020204"/>
                </a:rPr>
                <a:t>c:*</a:t>
              </a:r>
              <a:r>
                <a:rPr sz="1600" u="sng" dirty="0">
                  <a:uFill>
                    <a:solidFill>
                      <a:srgbClr val="000000"/>
                    </a:solidFill>
                  </a:uFill>
                  <a:latin typeface="华文新魏" panose="02010800040101010101" charset="-122"/>
                  <a:cs typeface="华文新魏" panose="02010800040101010101" charset="-122"/>
                </a:rPr>
                <a:t>拨号</a:t>
              </a:r>
              <a:r>
                <a:rPr sz="1600" u="sng" spc="305" dirty="0">
                  <a:uFill>
                    <a:solidFill>
                      <a:srgbClr val="000000"/>
                    </a:solidFill>
                  </a:uFill>
                  <a:latin typeface="华文新魏" panose="02010800040101010101" charset="-122"/>
                  <a:cs typeface="华文新魏" panose="02010800040101010101" charset="-122"/>
                </a:rPr>
                <a:t> </a:t>
              </a:r>
              <a:r>
                <a:rPr sz="1600" u="sng" dirty="0">
                  <a:uFill>
                    <a:solidFill>
                      <a:srgbClr val="000000"/>
                    </a:solidFill>
                  </a:uFill>
                  <a:latin typeface="Arial" panose="020B0604020202020204"/>
                  <a:cs typeface="Arial" panose="020B0604020202020204"/>
                </a:rPr>
                <a:t>{</a:t>
              </a:r>
              <a:r>
                <a:rPr sz="1600" u="sng" dirty="0">
                  <a:uFill>
                    <a:solidFill>
                      <a:srgbClr val="000000"/>
                    </a:solidFill>
                  </a:uFill>
                  <a:latin typeface="华文新魏" panose="02010800040101010101" charset="-122"/>
                  <a:cs typeface="华文新魏" panose="02010800040101010101" charset="-122"/>
                </a:rPr>
                <a:t>时间少于</a:t>
              </a:r>
              <a:r>
                <a:rPr sz="1600" u="sng" spc="-5" dirty="0">
                  <a:uFill>
                    <a:solidFill>
                      <a:srgbClr val="000000"/>
                    </a:solidFill>
                  </a:uFill>
                  <a:latin typeface="Arial" panose="020B0604020202020204"/>
                  <a:cs typeface="Arial" panose="020B0604020202020204"/>
                </a:rPr>
                <a:t>30</a:t>
              </a:r>
              <a:r>
                <a:rPr sz="1600" u="sng" dirty="0">
                  <a:uFill>
                    <a:solidFill>
                      <a:srgbClr val="000000"/>
                    </a:solidFill>
                  </a:uFill>
                  <a:latin typeface="华文新魏" panose="02010800040101010101" charset="-122"/>
                  <a:cs typeface="华文新魏" panose="02010800040101010101" charset="-122"/>
                </a:rPr>
                <a:t>秒</a:t>
              </a:r>
              <a:r>
                <a:rPr sz="1600" u="sng" dirty="0">
                  <a:uFill>
                    <a:solidFill>
                      <a:srgbClr val="000000"/>
                    </a:solidFill>
                  </a:uFill>
                  <a:latin typeface="Arial" panose="020B0604020202020204"/>
                  <a:cs typeface="Arial" panose="020B0604020202020204"/>
                </a:rPr>
                <a:t>}	</a:t>
              </a:r>
              <a:endParaRPr sz="1600">
                <a:latin typeface="Arial" panose="020B0604020202020204"/>
                <a:cs typeface="Arial" panose="020B0604020202020204"/>
              </a:endParaRPr>
            </a:p>
          </p:txBody>
        </p:sp>
        <p:sp>
          <p:nvSpPr>
            <p:cNvPr id="30" name="object 30"/>
            <p:cNvSpPr/>
            <p:nvPr/>
          </p:nvSpPr>
          <p:spPr>
            <a:xfrm>
              <a:off x="6374183" y="3491136"/>
              <a:ext cx="1092200" cy="0"/>
            </a:xfrm>
            <a:custGeom>
              <a:avLst/>
              <a:gdLst/>
              <a:ahLst/>
              <a:cxnLst/>
              <a:rect l="l" t="t" r="r" b="b"/>
              <a:pathLst>
                <a:path w="1092200">
                  <a:moveTo>
                    <a:pt x="0" y="0"/>
                  </a:moveTo>
                  <a:lnTo>
                    <a:pt x="1092199" y="0"/>
                  </a:lnTo>
                </a:path>
              </a:pathLst>
            </a:custGeom>
            <a:ln w="9524">
              <a:solidFill>
                <a:srgbClr val="000000"/>
              </a:solidFill>
            </a:ln>
          </p:spPr>
          <p:txBody>
            <a:bodyPr wrap="square" lIns="0" tIns="0" rIns="0" bIns="0" rtlCol="0"/>
            <a:lstStyle/>
            <a:p>
              <a:endParaRPr/>
            </a:p>
          </p:txBody>
        </p:sp>
        <p:sp>
          <p:nvSpPr>
            <p:cNvPr id="31" name="object 31"/>
            <p:cNvSpPr/>
            <p:nvPr/>
          </p:nvSpPr>
          <p:spPr>
            <a:xfrm>
              <a:off x="7415583" y="3453036"/>
              <a:ext cx="76200" cy="76200"/>
            </a:xfrm>
            <a:custGeom>
              <a:avLst/>
              <a:gdLst/>
              <a:ahLst/>
              <a:cxnLst/>
              <a:rect l="l" t="t" r="r" b="b"/>
              <a:pathLst>
                <a:path w="76200" h="76200">
                  <a:moveTo>
                    <a:pt x="0" y="0"/>
                  </a:moveTo>
                  <a:lnTo>
                    <a:pt x="0" y="76200"/>
                  </a:lnTo>
                  <a:lnTo>
                    <a:pt x="76200" y="38100"/>
                  </a:lnTo>
                  <a:lnTo>
                    <a:pt x="0" y="0"/>
                  </a:lnTo>
                  <a:close/>
                </a:path>
              </a:pathLst>
            </a:custGeom>
            <a:solidFill>
              <a:srgbClr val="000000"/>
            </a:solidFill>
          </p:spPr>
          <p:txBody>
            <a:bodyPr wrap="square" lIns="0" tIns="0" rIns="0" bIns="0" rtlCol="0"/>
            <a:lstStyle/>
            <a:p>
              <a:endParaRPr/>
            </a:p>
          </p:txBody>
        </p:sp>
        <p:sp>
          <p:nvSpPr>
            <p:cNvPr id="32" name="object 32"/>
            <p:cNvSpPr txBox="1"/>
            <p:nvPr/>
          </p:nvSpPr>
          <p:spPr>
            <a:xfrm>
              <a:off x="6822810" y="3219356"/>
              <a:ext cx="431800" cy="269240"/>
            </a:xfrm>
            <a:prstGeom prst="rect">
              <a:avLst/>
            </a:prstGeom>
          </p:spPr>
          <p:txBody>
            <a:bodyPr vert="horz" wrap="square" lIns="0" tIns="12700" rIns="0" bIns="0" rtlCol="0">
              <a:spAutoFit/>
            </a:bodyPr>
            <a:lstStyle/>
            <a:p>
              <a:pPr marL="12700">
                <a:lnSpc>
                  <a:spcPct val="100000"/>
                </a:lnSpc>
                <a:spcBef>
                  <a:spcPts val="100"/>
                </a:spcBef>
              </a:pPr>
              <a:r>
                <a:rPr sz="1600" dirty="0">
                  <a:latin typeface="华文新魏" panose="02010800040101010101" charset="-122"/>
                  <a:cs typeface="华文新魏" panose="02010800040101010101" charset="-122"/>
                </a:rPr>
                <a:t>创建</a:t>
              </a:r>
              <a:endParaRPr sz="1600">
                <a:latin typeface="华文新魏" panose="02010800040101010101" charset="-122"/>
                <a:cs typeface="华文新魏" panose="02010800040101010101" charset="-122"/>
              </a:endParaRPr>
            </a:p>
          </p:txBody>
        </p:sp>
        <p:sp>
          <p:nvSpPr>
            <p:cNvPr id="33" name="object 33"/>
            <p:cNvSpPr/>
            <p:nvPr/>
          </p:nvSpPr>
          <p:spPr>
            <a:xfrm>
              <a:off x="8101383" y="3795936"/>
              <a:ext cx="1803400" cy="0"/>
            </a:xfrm>
            <a:custGeom>
              <a:avLst/>
              <a:gdLst/>
              <a:ahLst/>
              <a:cxnLst/>
              <a:rect l="l" t="t" r="r" b="b"/>
              <a:pathLst>
                <a:path w="1803400">
                  <a:moveTo>
                    <a:pt x="0" y="0"/>
                  </a:moveTo>
                  <a:lnTo>
                    <a:pt x="1803399" y="0"/>
                  </a:lnTo>
                </a:path>
              </a:pathLst>
            </a:custGeom>
            <a:ln w="9524">
              <a:solidFill>
                <a:srgbClr val="000000"/>
              </a:solidFill>
            </a:ln>
          </p:spPr>
          <p:txBody>
            <a:bodyPr wrap="square" lIns="0" tIns="0" rIns="0" bIns="0" rtlCol="0"/>
            <a:lstStyle/>
            <a:p>
              <a:endParaRPr/>
            </a:p>
          </p:txBody>
        </p:sp>
        <p:sp>
          <p:nvSpPr>
            <p:cNvPr id="34" name="object 34"/>
            <p:cNvSpPr/>
            <p:nvPr/>
          </p:nvSpPr>
          <p:spPr>
            <a:xfrm>
              <a:off x="9853983" y="3757836"/>
              <a:ext cx="76200" cy="76200"/>
            </a:xfrm>
            <a:custGeom>
              <a:avLst/>
              <a:gdLst/>
              <a:ahLst/>
              <a:cxnLst/>
              <a:rect l="l" t="t" r="r" b="b"/>
              <a:pathLst>
                <a:path w="76200" h="76200">
                  <a:moveTo>
                    <a:pt x="0" y="0"/>
                  </a:moveTo>
                  <a:lnTo>
                    <a:pt x="0" y="76199"/>
                  </a:lnTo>
                  <a:lnTo>
                    <a:pt x="76200" y="38099"/>
                  </a:lnTo>
                  <a:lnTo>
                    <a:pt x="0" y="0"/>
                  </a:lnTo>
                  <a:close/>
                </a:path>
              </a:pathLst>
            </a:custGeom>
            <a:solidFill>
              <a:srgbClr val="000000"/>
            </a:solidFill>
          </p:spPr>
          <p:txBody>
            <a:bodyPr wrap="square" lIns="0" tIns="0" rIns="0" bIns="0" rtlCol="0"/>
            <a:lstStyle/>
            <a:p>
              <a:endParaRPr/>
            </a:p>
          </p:txBody>
        </p:sp>
        <p:sp>
          <p:nvSpPr>
            <p:cNvPr id="35" name="object 35"/>
            <p:cNvSpPr/>
            <p:nvPr/>
          </p:nvSpPr>
          <p:spPr>
            <a:xfrm>
              <a:off x="8507783" y="3789040"/>
              <a:ext cx="1117600" cy="339090"/>
            </a:xfrm>
            <a:custGeom>
              <a:avLst/>
              <a:gdLst/>
              <a:ahLst/>
              <a:cxnLst/>
              <a:rect l="l" t="t" r="r" b="b"/>
              <a:pathLst>
                <a:path w="1117600" h="339089">
                  <a:moveTo>
                    <a:pt x="0" y="0"/>
                  </a:moveTo>
                  <a:lnTo>
                    <a:pt x="1117599" y="0"/>
                  </a:lnTo>
                  <a:lnTo>
                    <a:pt x="1117599" y="338553"/>
                  </a:lnTo>
                  <a:lnTo>
                    <a:pt x="0" y="338553"/>
                  </a:lnTo>
                  <a:lnTo>
                    <a:pt x="0" y="0"/>
                  </a:lnTo>
                  <a:close/>
                </a:path>
              </a:pathLst>
            </a:custGeom>
            <a:ln w="9524">
              <a:solidFill>
                <a:srgbClr val="FFFFFF"/>
              </a:solidFill>
            </a:ln>
          </p:spPr>
          <p:txBody>
            <a:bodyPr wrap="square" lIns="0" tIns="0" rIns="0" bIns="0" rtlCol="0"/>
            <a:lstStyle/>
            <a:p>
              <a:endParaRPr/>
            </a:p>
          </p:txBody>
        </p:sp>
        <p:sp>
          <p:nvSpPr>
            <p:cNvPr id="36" name="object 36"/>
            <p:cNvSpPr txBox="1"/>
            <p:nvPr/>
          </p:nvSpPr>
          <p:spPr>
            <a:xfrm>
              <a:off x="8586523" y="3822059"/>
              <a:ext cx="838200" cy="269240"/>
            </a:xfrm>
            <a:prstGeom prst="rect">
              <a:avLst/>
            </a:prstGeom>
          </p:spPr>
          <p:txBody>
            <a:bodyPr vert="horz" wrap="square" lIns="0" tIns="12700" rIns="0" bIns="0" rtlCol="0">
              <a:spAutoFit/>
            </a:bodyPr>
            <a:lstStyle/>
            <a:p>
              <a:pPr marL="12700">
                <a:lnSpc>
                  <a:spcPct val="100000"/>
                </a:lnSpc>
                <a:spcBef>
                  <a:spcPts val="100"/>
                </a:spcBef>
              </a:pPr>
              <a:r>
                <a:rPr sz="1600" dirty="0">
                  <a:latin typeface="华文新魏" panose="02010800040101010101" charset="-122"/>
                  <a:cs typeface="华文新魏" panose="02010800040101010101" charset="-122"/>
                </a:rPr>
                <a:t>拿起话筒</a:t>
              </a:r>
              <a:endParaRPr sz="1600">
                <a:latin typeface="华文新魏" panose="02010800040101010101" charset="-122"/>
                <a:cs typeface="华文新魏" panose="02010800040101010101" charset="-122"/>
              </a:endParaRPr>
            </a:p>
          </p:txBody>
        </p:sp>
        <p:sp>
          <p:nvSpPr>
            <p:cNvPr id="37" name="object 37"/>
            <p:cNvSpPr/>
            <p:nvPr/>
          </p:nvSpPr>
          <p:spPr>
            <a:xfrm>
              <a:off x="6399583" y="4329336"/>
              <a:ext cx="1498600" cy="0"/>
            </a:xfrm>
            <a:custGeom>
              <a:avLst/>
              <a:gdLst/>
              <a:ahLst/>
              <a:cxnLst/>
              <a:rect l="l" t="t" r="r" b="b"/>
              <a:pathLst>
                <a:path w="1498600">
                  <a:moveTo>
                    <a:pt x="1498599" y="0"/>
                  </a:moveTo>
                  <a:lnTo>
                    <a:pt x="0" y="0"/>
                  </a:lnTo>
                </a:path>
              </a:pathLst>
            </a:custGeom>
            <a:ln w="9524">
              <a:solidFill>
                <a:srgbClr val="000000"/>
              </a:solidFill>
            </a:ln>
          </p:spPr>
          <p:txBody>
            <a:bodyPr wrap="square" lIns="0" tIns="0" rIns="0" bIns="0" rtlCol="0"/>
            <a:lstStyle/>
            <a:p>
              <a:endParaRPr/>
            </a:p>
          </p:txBody>
        </p:sp>
        <p:sp>
          <p:nvSpPr>
            <p:cNvPr id="38" name="object 38"/>
            <p:cNvSpPr/>
            <p:nvPr/>
          </p:nvSpPr>
          <p:spPr>
            <a:xfrm>
              <a:off x="6374183" y="4291237"/>
              <a:ext cx="76200" cy="76200"/>
            </a:xfrm>
            <a:custGeom>
              <a:avLst/>
              <a:gdLst/>
              <a:ahLst/>
              <a:cxnLst/>
              <a:rect l="l" t="t" r="r" b="b"/>
              <a:pathLst>
                <a:path w="76200" h="76200">
                  <a:moveTo>
                    <a:pt x="76200" y="0"/>
                  </a:moveTo>
                  <a:lnTo>
                    <a:pt x="0" y="38100"/>
                  </a:lnTo>
                  <a:lnTo>
                    <a:pt x="76200" y="76200"/>
                  </a:lnTo>
                  <a:lnTo>
                    <a:pt x="76200" y="0"/>
                  </a:lnTo>
                  <a:close/>
                </a:path>
              </a:pathLst>
            </a:custGeom>
            <a:solidFill>
              <a:srgbClr val="000000"/>
            </a:solidFill>
          </p:spPr>
          <p:txBody>
            <a:bodyPr wrap="square" lIns="0" tIns="0" rIns="0" bIns="0" rtlCol="0"/>
            <a:lstStyle/>
            <a:p>
              <a:endParaRPr/>
            </a:p>
          </p:txBody>
        </p:sp>
        <p:sp>
          <p:nvSpPr>
            <p:cNvPr id="39" name="object 39"/>
            <p:cNvSpPr/>
            <p:nvPr/>
          </p:nvSpPr>
          <p:spPr>
            <a:xfrm>
              <a:off x="8101383" y="4862736"/>
              <a:ext cx="1803400" cy="0"/>
            </a:xfrm>
            <a:custGeom>
              <a:avLst/>
              <a:gdLst/>
              <a:ahLst/>
              <a:cxnLst/>
              <a:rect l="l" t="t" r="r" b="b"/>
              <a:pathLst>
                <a:path w="1803400">
                  <a:moveTo>
                    <a:pt x="0" y="0"/>
                  </a:moveTo>
                  <a:lnTo>
                    <a:pt x="1803399" y="0"/>
                  </a:lnTo>
                </a:path>
              </a:pathLst>
            </a:custGeom>
            <a:ln w="9524">
              <a:solidFill>
                <a:srgbClr val="000000"/>
              </a:solidFill>
            </a:ln>
          </p:spPr>
          <p:txBody>
            <a:bodyPr wrap="square" lIns="0" tIns="0" rIns="0" bIns="0" rtlCol="0"/>
            <a:lstStyle/>
            <a:p>
              <a:endParaRPr/>
            </a:p>
          </p:txBody>
        </p:sp>
        <p:sp>
          <p:nvSpPr>
            <p:cNvPr id="40" name="object 40"/>
            <p:cNvSpPr/>
            <p:nvPr/>
          </p:nvSpPr>
          <p:spPr>
            <a:xfrm>
              <a:off x="9853983" y="4824636"/>
              <a:ext cx="76200" cy="76200"/>
            </a:xfrm>
            <a:custGeom>
              <a:avLst/>
              <a:gdLst/>
              <a:ahLst/>
              <a:cxnLst/>
              <a:rect l="l" t="t" r="r" b="b"/>
              <a:pathLst>
                <a:path w="76200" h="76200">
                  <a:moveTo>
                    <a:pt x="0" y="0"/>
                  </a:moveTo>
                  <a:lnTo>
                    <a:pt x="0" y="76199"/>
                  </a:lnTo>
                  <a:lnTo>
                    <a:pt x="76200" y="38099"/>
                  </a:lnTo>
                  <a:lnTo>
                    <a:pt x="0" y="0"/>
                  </a:lnTo>
                  <a:close/>
                </a:path>
              </a:pathLst>
            </a:custGeom>
            <a:solidFill>
              <a:srgbClr val="000000"/>
            </a:solidFill>
          </p:spPr>
          <p:txBody>
            <a:bodyPr wrap="square" lIns="0" tIns="0" rIns="0" bIns="0" rtlCol="0"/>
            <a:lstStyle/>
            <a:p>
              <a:endParaRPr/>
            </a:p>
          </p:txBody>
        </p:sp>
        <p:sp>
          <p:nvSpPr>
            <p:cNvPr id="41" name="object 41"/>
            <p:cNvSpPr txBox="1"/>
            <p:nvPr/>
          </p:nvSpPr>
          <p:spPr>
            <a:xfrm>
              <a:off x="8586523" y="4590956"/>
              <a:ext cx="431800" cy="269240"/>
            </a:xfrm>
            <a:prstGeom prst="rect">
              <a:avLst/>
            </a:prstGeom>
          </p:spPr>
          <p:txBody>
            <a:bodyPr vert="horz" wrap="square" lIns="0" tIns="12700" rIns="0" bIns="0" rtlCol="0">
              <a:spAutoFit/>
            </a:bodyPr>
            <a:lstStyle/>
            <a:p>
              <a:pPr marL="12700">
                <a:lnSpc>
                  <a:spcPct val="100000"/>
                </a:lnSpc>
                <a:spcBef>
                  <a:spcPts val="100"/>
                </a:spcBef>
              </a:pPr>
              <a:r>
                <a:rPr sz="1600" dirty="0">
                  <a:latin typeface="华文新魏" panose="02010800040101010101" charset="-122"/>
                  <a:cs typeface="华文新魏" panose="02010800040101010101" charset="-122"/>
                </a:rPr>
                <a:t>接通</a:t>
              </a:r>
              <a:endParaRPr sz="1600">
                <a:latin typeface="华文新魏" panose="02010800040101010101" charset="-122"/>
                <a:cs typeface="华文新魏" panose="02010800040101010101" charset="-122"/>
              </a:endParaRPr>
            </a:p>
          </p:txBody>
        </p:sp>
        <p:sp>
          <p:nvSpPr>
            <p:cNvPr id="42" name="object 42"/>
            <p:cNvSpPr/>
            <p:nvPr/>
          </p:nvSpPr>
          <p:spPr>
            <a:xfrm>
              <a:off x="3656384" y="4862736"/>
              <a:ext cx="4241800" cy="0"/>
            </a:xfrm>
            <a:custGeom>
              <a:avLst/>
              <a:gdLst/>
              <a:ahLst/>
              <a:cxnLst/>
              <a:rect l="l" t="t" r="r" b="b"/>
              <a:pathLst>
                <a:path w="4241800">
                  <a:moveTo>
                    <a:pt x="4241798" y="0"/>
                  </a:moveTo>
                  <a:lnTo>
                    <a:pt x="0" y="0"/>
                  </a:lnTo>
                </a:path>
              </a:pathLst>
            </a:custGeom>
            <a:ln w="9524">
              <a:solidFill>
                <a:srgbClr val="000000"/>
              </a:solidFill>
            </a:ln>
          </p:spPr>
          <p:txBody>
            <a:bodyPr wrap="square" lIns="0" tIns="0" rIns="0" bIns="0" rtlCol="0"/>
            <a:lstStyle/>
            <a:p>
              <a:endParaRPr/>
            </a:p>
          </p:txBody>
        </p:sp>
        <p:sp>
          <p:nvSpPr>
            <p:cNvPr id="43" name="object 43"/>
            <p:cNvSpPr/>
            <p:nvPr/>
          </p:nvSpPr>
          <p:spPr>
            <a:xfrm>
              <a:off x="3630983" y="4824637"/>
              <a:ext cx="76200" cy="76200"/>
            </a:xfrm>
            <a:custGeom>
              <a:avLst/>
              <a:gdLst/>
              <a:ahLst/>
              <a:cxnLst/>
              <a:rect l="l" t="t" r="r" b="b"/>
              <a:pathLst>
                <a:path w="76200" h="76200">
                  <a:moveTo>
                    <a:pt x="76200" y="0"/>
                  </a:moveTo>
                  <a:lnTo>
                    <a:pt x="0" y="38100"/>
                  </a:lnTo>
                  <a:lnTo>
                    <a:pt x="76200" y="76200"/>
                  </a:lnTo>
                  <a:lnTo>
                    <a:pt x="76200" y="0"/>
                  </a:lnTo>
                  <a:close/>
                </a:path>
              </a:pathLst>
            </a:custGeom>
            <a:solidFill>
              <a:srgbClr val="000000"/>
            </a:solidFill>
          </p:spPr>
          <p:txBody>
            <a:bodyPr wrap="square" lIns="0" tIns="0" rIns="0" bIns="0" rtlCol="0"/>
            <a:lstStyle/>
            <a:p>
              <a:endParaRPr/>
            </a:p>
          </p:txBody>
        </p:sp>
        <p:sp>
          <p:nvSpPr>
            <p:cNvPr id="44" name="object 44"/>
            <p:cNvSpPr txBox="1"/>
            <p:nvPr/>
          </p:nvSpPr>
          <p:spPr>
            <a:xfrm>
              <a:off x="4319323" y="4514756"/>
              <a:ext cx="431800" cy="269240"/>
            </a:xfrm>
            <a:prstGeom prst="rect">
              <a:avLst/>
            </a:prstGeom>
          </p:spPr>
          <p:txBody>
            <a:bodyPr vert="horz" wrap="square" lIns="0" tIns="12700" rIns="0" bIns="0" rtlCol="0">
              <a:spAutoFit/>
            </a:bodyPr>
            <a:lstStyle/>
            <a:p>
              <a:pPr marL="12700">
                <a:lnSpc>
                  <a:spcPct val="100000"/>
                </a:lnSpc>
                <a:spcBef>
                  <a:spcPts val="100"/>
                </a:spcBef>
              </a:pPr>
              <a:r>
                <a:rPr sz="1600" dirty="0">
                  <a:latin typeface="华文新魏" panose="02010800040101010101" charset="-122"/>
                  <a:cs typeface="华文新魏" panose="02010800040101010101" charset="-122"/>
                </a:rPr>
                <a:t>接通</a:t>
              </a:r>
              <a:endParaRPr sz="1600">
                <a:latin typeface="华文新魏" panose="02010800040101010101" charset="-122"/>
                <a:cs typeface="华文新魏" panose="02010800040101010101" charset="-122"/>
              </a:endParaRPr>
            </a:p>
          </p:txBody>
        </p:sp>
        <p:sp>
          <p:nvSpPr>
            <p:cNvPr id="45" name="object 45"/>
            <p:cNvSpPr txBox="1"/>
            <p:nvPr/>
          </p:nvSpPr>
          <p:spPr>
            <a:xfrm>
              <a:off x="775792" y="5288557"/>
              <a:ext cx="4071620" cy="939800"/>
            </a:xfrm>
            <a:prstGeom prst="rect">
              <a:avLst/>
            </a:prstGeom>
          </p:spPr>
          <p:txBody>
            <a:bodyPr vert="horz" wrap="square" lIns="0" tIns="12700" rIns="0" bIns="0" rtlCol="0">
              <a:spAutoFit/>
            </a:bodyPr>
            <a:lstStyle/>
            <a:p>
              <a:pPr marL="756285" marR="5080" indent="-744220">
                <a:lnSpc>
                  <a:spcPct val="150000"/>
                </a:lnSpc>
                <a:spcBef>
                  <a:spcPts val="100"/>
                </a:spcBef>
              </a:pPr>
              <a:r>
                <a:rPr sz="2000" b="1" spc="-5" dirty="0">
                  <a:solidFill>
                    <a:srgbClr val="FF0000"/>
                  </a:solidFill>
                  <a:latin typeface="华文新魏" panose="02010800040101010101" charset="-122"/>
                  <a:cs typeface="华文新魏" panose="02010800040101010101" charset="-122"/>
                </a:rPr>
                <a:t>问题</a:t>
              </a:r>
              <a:r>
                <a:rPr sz="2000" b="1" spc="-5" dirty="0">
                  <a:solidFill>
                    <a:srgbClr val="FF2600"/>
                  </a:solidFill>
                  <a:latin typeface="华文新魏" panose="02010800040101010101" charset="-122"/>
                  <a:cs typeface="华文新魏" panose="02010800040101010101" charset="-122"/>
                </a:rPr>
                <a:t>：</a:t>
              </a:r>
              <a:r>
                <a:rPr sz="2000" b="1" spc="-5" dirty="0">
                  <a:solidFill>
                    <a:srgbClr val="FF0000"/>
                  </a:solidFill>
                  <a:latin typeface="华文新魏" panose="02010800040101010101" charset="-122"/>
                  <a:cs typeface="华文新魏" panose="02010800040101010101" charset="-122"/>
                </a:rPr>
                <a:t>时间超过</a:t>
              </a:r>
              <a:r>
                <a:rPr sz="2000" b="1" spc="-5" dirty="0">
                  <a:solidFill>
                    <a:srgbClr val="FF2600"/>
                  </a:solidFill>
                  <a:latin typeface="Arial" panose="020B0604020202020204"/>
                  <a:cs typeface="Arial" panose="020B0604020202020204"/>
                </a:rPr>
                <a:t>30</a:t>
              </a:r>
              <a:r>
                <a:rPr sz="2000" b="1" spc="-5" dirty="0">
                  <a:solidFill>
                    <a:srgbClr val="FF0000"/>
                  </a:solidFill>
                  <a:latin typeface="华文新魏" panose="02010800040101010101" charset="-122"/>
                  <a:cs typeface="华文新魏" panose="02010800040101010101" charset="-122"/>
                </a:rPr>
                <a:t>秒的情况没说明 会话对象没有说明计费等情况</a:t>
              </a:r>
              <a:endParaRPr sz="2000">
                <a:latin typeface="华文新魏" panose="02010800040101010101" charset="-122"/>
                <a:cs typeface="华文新魏" panose="02010800040101010101" charset="-122"/>
              </a:endParaRPr>
            </a:p>
          </p:txBody>
        </p:sp>
        <p:sp>
          <p:nvSpPr>
            <p:cNvPr id="46" name="object 46"/>
            <p:cNvSpPr txBox="1"/>
            <p:nvPr/>
          </p:nvSpPr>
          <p:spPr>
            <a:xfrm>
              <a:off x="864923" y="1542956"/>
              <a:ext cx="1430020" cy="269240"/>
            </a:xfrm>
            <a:prstGeom prst="rect">
              <a:avLst/>
            </a:prstGeom>
          </p:spPr>
          <p:txBody>
            <a:bodyPr vert="horz" wrap="square" lIns="0" tIns="12700" rIns="0" bIns="0" rtlCol="0">
              <a:spAutoFit/>
            </a:bodyPr>
            <a:lstStyle/>
            <a:p>
              <a:pPr marL="12700">
                <a:lnSpc>
                  <a:spcPct val="100000"/>
                </a:lnSpc>
                <a:spcBef>
                  <a:spcPts val="100"/>
                </a:spcBef>
              </a:pPr>
              <a:r>
                <a:rPr sz="1600" dirty="0">
                  <a:latin typeface="Arial" panose="020B0604020202020204"/>
                  <a:cs typeface="Arial" panose="020B0604020202020204"/>
                </a:rPr>
                <a:t>{b</a:t>
              </a:r>
              <a:r>
                <a:rPr sz="1600" spc="-5" dirty="0">
                  <a:latin typeface="Arial" panose="020B0604020202020204"/>
                  <a:cs typeface="Arial" panose="020B0604020202020204"/>
                </a:rPr>
                <a:t>.</a:t>
              </a:r>
              <a:r>
                <a:rPr sz="1600" dirty="0">
                  <a:latin typeface="Arial" panose="020B0604020202020204"/>
                  <a:cs typeface="Arial" panose="020B0604020202020204"/>
                </a:rPr>
                <a:t>receive</a:t>
              </a:r>
              <a:r>
                <a:rPr sz="1600" spc="-60" dirty="0">
                  <a:latin typeface="Arial" panose="020B0604020202020204"/>
                  <a:cs typeface="Arial" panose="020B0604020202020204"/>
                </a:rPr>
                <a:t>T</a:t>
              </a:r>
              <a:r>
                <a:rPr sz="1600" dirty="0">
                  <a:latin typeface="Arial" panose="020B0604020202020204"/>
                  <a:cs typeface="Arial" panose="020B0604020202020204"/>
                </a:rPr>
                <a:t>ime-</a:t>
              </a:r>
              <a:endParaRPr sz="1600">
                <a:latin typeface="Arial" panose="020B0604020202020204"/>
                <a:cs typeface="Arial" panose="020B0604020202020204"/>
              </a:endParaRPr>
            </a:p>
          </p:txBody>
        </p:sp>
        <p:sp>
          <p:nvSpPr>
            <p:cNvPr id="47" name="object 47"/>
            <p:cNvSpPr txBox="1"/>
            <p:nvPr/>
          </p:nvSpPr>
          <p:spPr>
            <a:xfrm>
              <a:off x="864923" y="1784256"/>
              <a:ext cx="1785620" cy="269240"/>
            </a:xfrm>
            <a:prstGeom prst="rect">
              <a:avLst/>
            </a:prstGeom>
          </p:spPr>
          <p:txBody>
            <a:bodyPr vert="horz" wrap="square" lIns="0" tIns="12700" rIns="0" bIns="0" rtlCol="0">
              <a:spAutoFit/>
            </a:bodyPr>
            <a:lstStyle/>
            <a:p>
              <a:pPr marL="12700">
                <a:lnSpc>
                  <a:spcPct val="100000"/>
                </a:lnSpc>
                <a:spcBef>
                  <a:spcPts val="100"/>
                </a:spcBef>
              </a:pPr>
              <a:r>
                <a:rPr sz="1600" spc="-10" dirty="0">
                  <a:latin typeface="Arial" panose="020B0604020202020204"/>
                  <a:cs typeface="Arial" panose="020B0604020202020204"/>
                </a:rPr>
                <a:t>a.sendTime&lt;1</a:t>
              </a:r>
              <a:r>
                <a:rPr sz="1600" dirty="0">
                  <a:latin typeface="华文新魏" panose="02010800040101010101" charset="-122"/>
                  <a:cs typeface="华文新魏" panose="02010800040101010101" charset="-122"/>
                </a:rPr>
                <a:t>分钟</a:t>
              </a:r>
              <a:r>
                <a:rPr sz="1600" dirty="0">
                  <a:latin typeface="Arial" panose="020B0604020202020204"/>
                  <a:cs typeface="Arial" panose="020B0604020202020204"/>
                </a:rPr>
                <a:t>}</a:t>
              </a:r>
              <a:endParaRPr sz="1600">
                <a:latin typeface="Arial" panose="020B0604020202020204"/>
                <a:cs typeface="Arial" panose="020B0604020202020204"/>
              </a:endParaRPr>
            </a:p>
          </p:txBody>
        </p:sp>
        <p:sp>
          <p:nvSpPr>
            <p:cNvPr id="48" name="object 48"/>
            <p:cNvSpPr txBox="1"/>
            <p:nvPr/>
          </p:nvSpPr>
          <p:spPr>
            <a:xfrm>
              <a:off x="864923" y="2457356"/>
              <a:ext cx="1570990" cy="510540"/>
            </a:xfrm>
            <a:prstGeom prst="rect">
              <a:avLst/>
            </a:prstGeom>
          </p:spPr>
          <p:txBody>
            <a:bodyPr vert="horz" wrap="square" lIns="0" tIns="22860" rIns="0" bIns="0" rtlCol="0">
              <a:spAutoFit/>
            </a:bodyPr>
            <a:lstStyle/>
            <a:p>
              <a:pPr marL="12700" marR="5080">
                <a:lnSpc>
                  <a:spcPts val="1900"/>
                </a:lnSpc>
                <a:spcBef>
                  <a:spcPts val="180"/>
                </a:spcBef>
              </a:pPr>
              <a:r>
                <a:rPr sz="1600" spc="-5" dirty="0">
                  <a:latin typeface="Arial" panose="020B0604020202020204"/>
                  <a:cs typeface="Arial" panose="020B0604020202020204"/>
                </a:rPr>
                <a:t>{c.receiveTime-  </a:t>
              </a:r>
              <a:r>
                <a:rPr sz="1600" dirty="0">
                  <a:latin typeface="Arial" panose="020B0604020202020204"/>
                  <a:cs typeface="Arial" panose="020B0604020202020204"/>
                </a:rPr>
                <a:t>c</a:t>
              </a:r>
              <a:r>
                <a:rPr sz="1600" spc="-5" dirty="0">
                  <a:latin typeface="Arial" panose="020B0604020202020204"/>
                  <a:cs typeface="Arial" panose="020B0604020202020204"/>
                </a:rPr>
                <a:t>.</a:t>
              </a:r>
              <a:r>
                <a:rPr sz="1600" dirty="0">
                  <a:latin typeface="Arial" panose="020B0604020202020204"/>
                  <a:cs typeface="Arial" panose="020B0604020202020204"/>
                </a:rPr>
                <a:t>send</a:t>
              </a:r>
              <a:r>
                <a:rPr sz="1600" spc="-60" dirty="0">
                  <a:latin typeface="Arial" panose="020B0604020202020204"/>
                  <a:cs typeface="Arial" panose="020B0604020202020204"/>
                </a:rPr>
                <a:t>T</a:t>
              </a:r>
              <a:r>
                <a:rPr sz="1600" dirty="0">
                  <a:latin typeface="Arial" panose="020B0604020202020204"/>
                  <a:cs typeface="Arial" panose="020B0604020202020204"/>
                </a:rPr>
                <a:t>im</a:t>
              </a:r>
              <a:r>
                <a:rPr sz="1600" spc="-5" dirty="0">
                  <a:latin typeface="Arial" panose="020B0604020202020204"/>
                  <a:cs typeface="Arial" panose="020B0604020202020204"/>
                </a:rPr>
                <a:t>e</a:t>
              </a:r>
              <a:r>
                <a:rPr sz="1600" dirty="0">
                  <a:latin typeface="Arial" panose="020B0604020202020204"/>
                  <a:cs typeface="Arial" panose="020B0604020202020204"/>
                </a:rPr>
                <a:t>&lt;1</a:t>
              </a:r>
              <a:r>
                <a:rPr sz="1600" dirty="0">
                  <a:latin typeface="华文新魏" panose="02010800040101010101" charset="-122"/>
                  <a:cs typeface="华文新魏" panose="02010800040101010101" charset="-122"/>
                </a:rPr>
                <a:t>秒</a:t>
              </a:r>
              <a:r>
                <a:rPr sz="1600" dirty="0">
                  <a:latin typeface="Arial" panose="020B0604020202020204"/>
                  <a:cs typeface="Arial" panose="020B0604020202020204"/>
                </a:rPr>
                <a:t>}</a:t>
              </a:r>
              <a:endParaRPr sz="1600">
                <a:latin typeface="Arial" panose="020B0604020202020204"/>
                <a:cs typeface="Arial" panose="020B0604020202020204"/>
              </a:endParaRPr>
            </a:p>
          </p:txBody>
        </p:sp>
        <p:sp>
          <p:nvSpPr>
            <p:cNvPr id="49" name="object 49"/>
            <p:cNvSpPr/>
            <p:nvPr/>
          </p:nvSpPr>
          <p:spPr>
            <a:xfrm>
              <a:off x="10234982" y="4176936"/>
              <a:ext cx="203200" cy="685800"/>
            </a:xfrm>
            <a:custGeom>
              <a:avLst/>
              <a:gdLst/>
              <a:ahLst/>
              <a:cxnLst/>
              <a:rect l="l" t="t" r="r" b="b"/>
              <a:pathLst>
                <a:path w="203200" h="685800">
                  <a:moveTo>
                    <a:pt x="0" y="0"/>
                  </a:moveTo>
                  <a:lnTo>
                    <a:pt x="39547" y="5988"/>
                  </a:lnTo>
                  <a:lnTo>
                    <a:pt x="71842" y="22318"/>
                  </a:lnTo>
                  <a:lnTo>
                    <a:pt x="93615" y="46539"/>
                  </a:lnTo>
                  <a:lnTo>
                    <a:pt x="101599" y="76199"/>
                  </a:lnTo>
                  <a:lnTo>
                    <a:pt x="101599" y="266699"/>
                  </a:lnTo>
                  <a:lnTo>
                    <a:pt x="109584" y="296360"/>
                  </a:lnTo>
                  <a:lnTo>
                    <a:pt x="131357" y="320581"/>
                  </a:lnTo>
                  <a:lnTo>
                    <a:pt x="163652" y="336911"/>
                  </a:lnTo>
                  <a:lnTo>
                    <a:pt x="203199" y="342899"/>
                  </a:lnTo>
                  <a:lnTo>
                    <a:pt x="163652" y="348888"/>
                  </a:lnTo>
                  <a:lnTo>
                    <a:pt x="131357" y="365218"/>
                  </a:lnTo>
                  <a:lnTo>
                    <a:pt x="109584" y="389439"/>
                  </a:lnTo>
                  <a:lnTo>
                    <a:pt x="101599" y="419099"/>
                  </a:lnTo>
                  <a:lnTo>
                    <a:pt x="101599" y="609599"/>
                  </a:lnTo>
                  <a:lnTo>
                    <a:pt x="93615" y="639260"/>
                  </a:lnTo>
                  <a:lnTo>
                    <a:pt x="71842" y="663481"/>
                  </a:lnTo>
                  <a:lnTo>
                    <a:pt x="39547" y="679811"/>
                  </a:lnTo>
                  <a:lnTo>
                    <a:pt x="0" y="685799"/>
                  </a:lnTo>
                </a:path>
              </a:pathLst>
            </a:custGeom>
            <a:ln w="9524">
              <a:solidFill>
                <a:srgbClr val="000000"/>
              </a:solidFill>
            </a:ln>
          </p:spPr>
          <p:txBody>
            <a:bodyPr wrap="square" lIns="0" tIns="0" rIns="0" bIns="0" rtlCol="0"/>
            <a:lstStyle/>
            <a:p>
              <a:endParaRPr/>
            </a:p>
          </p:txBody>
        </p:sp>
        <p:sp>
          <p:nvSpPr>
            <p:cNvPr id="50" name="object 50"/>
            <p:cNvSpPr txBox="1"/>
            <p:nvPr/>
          </p:nvSpPr>
          <p:spPr>
            <a:xfrm>
              <a:off x="10618523" y="4438556"/>
              <a:ext cx="460375" cy="269240"/>
            </a:xfrm>
            <a:prstGeom prst="rect">
              <a:avLst/>
            </a:prstGeom>
          </p:spPr>
          <p:txBody>
            <a:bodyPr vert="horz" wrap="square" lIns="0" tIns="12700" rIns="0" bIns="0" rtlCol="0">
              <a:spAutoFit/>
            </a:bodyPr>
            <a:lstStyle/>
            <a:p>
              <a:pPr marL="12700">
                <a:lnSpc>
                  <a:spcPct val="100000"/>
                </a:lnSpc>
                <a:spcBef>
                  <a:spcPts val="100"/>
                </a:spcBef>
              </a:pPr>
              <a:r>
                <a:rPr sz="1600" dirty="0">
                  <a:latin typeface="Arial" panose="020B0604020202020204"/>
                  <a:cs typeface="Arial" panose="020B0604020202020204"/>
                </a:rPr>
                <a:t>&lt;5</a:t>
              </a:r>
              <a:r>
                <a:rPr sz="1600" dirty="0">
                  <a:latin typeface="华文新魏" panose="02010800040101010101" charset="-122"/>
                  <a:cs typeface="华文新魏" panose="02010800040101010101" charset="-122"/>
                </a:rPr>
                <a:t>秒</a:t>
              </a:r>
              <a:endParaRPr sz="1600">
                <a:latin typeface="华文新魏" panose="02010800040101010101" charset="-122"/>
                <a:cs typeface="华文新魏" panose="02010800040101010101" charset="-122"/>
              </a:endParaRPr>
            </a:p>
          </p:txBody>
        </p:sp>
        <p:sp>
          <p:nvSpPr>
            <p:cNvPr id="51" name="object 51"/>
            <p:cNvSpPr/>
            <p:nvPr/>
          </p:nvSpPr>
          <p:spPr>
            <a:xfrm>
              <a:off x="6094783" y="1852835"/>
              <a:ext cx="76200" cy="76200"/>
            </a:xfrm>
            <a:custGeom>
              <a:avLst/>
              <a:gdLst/>
              <a:ahLst/>
              <a:cxnLst/>
              <a:rect l="l" t="t" r="r" b="b"/>
              <a:pathLst>
                <a:path w="76200" h="76200">
                  <a:moveTo>
                    <a:pt x="0" y="0"/>
                  </a:moveTo>
                  <a:lnTo>
                    <a:pt x="0" y="76200"/>
                  </a:lnTo>
                  <a:lnTo>
                    <a:pt x="76200" y="38100"/>
                  </a:lnTo>
                  <a:lnTo>
                    <a:pt x="0" y="0"/>
                  </a:lnTo>
                  <a:close/>
                </a:path>
              </a:pathLst>
            </a:custGeom>
            <a:solidFill>
              <a:srgbClr val="000000"/>
            </a:solidFill>
          </p:spPr>
          <p:txBody>
            <a:bodyPr wrap="square" lIns="0" tIns="0" rIns="0" bIns="0" rtlCol="0"/>
            <a:lstStyle/>
            <a:p>
              <a:endParaRPr/>
            </a:p>
          </p:txBody>
        </p:sp>
        <p:sp>
          <p:nvSpPr>
            <p:cNvPr id="52" name="object 52"/>
            <p:cNvSpPr/>
            <p:nvPr/>
          </p:nvSpPr>
          <p:spPr>
            <a:xfrm>
              <a:off x="6055074" y="2593982"/>
              <a:ext cx="115909" cy="117908"/>
            </a:xfrm>
            <a:prstGeom prst="rect">
              <a:avLst/>
            </a:prstGeom>
            <a:blipFill>
              <a:blip r:embed="rId3" cstate="print"/>
              <a:stretch>
                <a:fillRect/>
              </a:stretch>
            </a:blipFill>
          </p:spPr>
          <p:txBody>
            <a:bodyPr wrap="square" lIns="0" tIns="0" rIns="0" bIns="0" rtlCol="0"/>
            <a:lstStyle/>
            <a:p>
              <a:endParaRPr/>
            </a:p>
          </p:txBody>
        </p:sp>
        <p:sp>
          <p:nvSpPr>
            <p:cNvPr id="53" name="object 53"/>
            <p:cNvSpPr/>
            <p:nvPr/>
          </p:nvSpPr>
          <p:spPr>
            <a:xfrm>
              <a:off x="8126782" y="4100736"/>
              <a:ext cx="1803400" cy="0"/>
            </a:xfrm>
            <a:custGeom>
              <a:avLst/>
              <a:gdLst/>
              <a:ahLst/>
              <a:cxnLst/>
              <a:rect l="l" t="t" r="r" b="b"/>
              <a:pathLst>
                <a:path w="1803400">
                  <a:moveTo>
                    <a:pt x="1803399" y="0"/>
                  </a:moveTo>
                  <a:lnTo>
                    <a:pt x="0" y="0"/>
                  </a:lnTo>
                </a:path>
              </a:pathLst>
            </a:custGeom>
            <a:ln w="9524">
              <a:solidFill>
                <a:srgbClr val="000000"/>
              </a:solidFill>
            </a:ln>
          </p:spPr>
          <p:txBody>
            <a:bodyPr wrap="square" lIns="0" tIns="0" rIns="0" bIns="0" rtlCol="0"/>
            <a:lstStyle/>
            <a:p>
              <a:endParaRPr/>
            </a:p>
          </p:txBody>
        </p:sp>
        <p:sp>
          <p:nvSpPr>
            <p:cNvPr id="54" name="object 54"/>
            <p:cNvSpPr/>
            <p:nvPr/>
          </p:nvSpPr>
          <p:spPr>
            <a:xfrm>
              <a:off x="8101382" y="4062637"/>
              <a:ext cx="76200" cy="76200"/>
            </a:xfrm>
            <a:custGeom>
              <a:avLst/>
              <a:gdLst/>
              <a:ahLst/>
              <a:cxnLst/>
              <a:rect l="l" t="t" r="r" b="b"/>
              <a:pathLst>
                <a:path w="76200" h="76200">
                  <a:moveTo>
                    <a:pt x="76200" y="0"/>
                  </a:moveTo>
                  <a:lnTo>
                    <a:pt x="0" y="38100"/>
                  </a:lnTo>
                  <a:lnTo>
                    <a:pt x="76200" y="76200"/>
                  </a:lnTo>
                  <a:lnTo>
                    <a:pt x="76200" y="0"/>
                  </a:lnTo>
                  <a:close/>
                </a:path>
              </a:pathLst>
            </a:custGeom>
            <a:solidFill>
              <a:srgbClr val="000000"/>
            </a:solidFill>
          </p:spPr>
          <p:txBody>
            <a:bodyPr wrap="square" lIns="0" tIns="0" rIns="0" bIns="0" rtlCol="0"/>
            <a:lstStyle/>
            <a:p>
              <a:endParaRPr/>
            </a:p>
          </p:txBody>
        </p:sp>
        <p:sp>
          <p:nvSpPr>
            <p:cNvPr id="55" name="object 55"/>
            <p:cNvSpPr txBox="1"/>
            <p:nvPr/>
          </p:nvSpPr>
          <p:spPr>
            <a:xfrm>
              <a:off x="8789723" y="3447956"/>
              <a:ext cx="996950" cy="269240"/>
            </a:xfrm>
            <a:prstGeom prst="rect">
              <a:avLst/>
            </a:prstGeom>
          </p:spPr>
          <p:txBody>
            <a:bodyPr vert="horz" wrap="square" lIns="0" tIns="12700" rIns="0" bIns="0" rtlCol="0">
              <a:spAutoFit/>
            </a:bodyPr>
            <a:lstStyle/>
            <a:p>
              <a:pPr marL="12700">
                <a:lnSpc>
                  <a:spcPct val="100000"/>
                </a:lnSpc>
                <a:spcBef>
                  <a:spcPts val="100"/>
                </a:spcBef>
              </a:pPr>
              <a:r>
                <a:rPr sz="1600" dirty="0">
                  <a:latin typeface="华文新魏" panose="02010800040101010101" charset="-122"/>
                  <a:cs typeface="华文新魏" panose="02010800040101010101" charset="-122"/>
                </a:rPr>
                <a:t>阵铃</a:t>
              </a:r>
              <a:r>
                <a:rPr sz="1600" dirty="0">
                  <a:latin typeface="Arial" panose="020B0604020202020204"/>
                  <a:cs typeface="Arial" panose="020B0604020202020204"/>
                </a:rPr>
                <a:t>{3</a:t>
              </a:r>
              <a:r>
                <a:rPr sz="1600" spc="-5" dirty="0">
                  <a:latin typeface="Arial" panose="020B0604020202020204"/>
                  <a:cs typeface="Arial" panose="020B0604020202020204"/>
                </a:rPr>
                <a:t>0</a:t>
              </a:r>
              <a:r>
                <a:rPr sz="1600" dirty="0">
                  <a:latin typeface="华文新魏" panose="02010800040101010101" charset="-122"/>
                  <a:cs typeface="华文新魏" panose="02010800040101010101" charset="-122"/>
                </a:rPr>
                <a:t>秒</a:t>
              </a:r>
              <a:r>
                <a:rPr sz="1600" dirty="0">
                  <a:latin typeface="Arial" panose="020B0604020202020204"/>
                  <a:cs typeface="Arial" panose="020B0604020202020204"/>
                </a:rPr>
                <a:t>}</a:t>
              </a:r>
              <a:endParaRPr sz="1600">
                <a:latin typeface="Arial" panose="020B0604020202020204"/>
                <a:cs typeface="Arial" panose="020B0604020202020204"/>
              </a:endParaRPr>
            </a:p>
          </p:txBody>
        </p:sp>
        <p:sp>
          <p:nvSpPr>
            <p:cNvPr id="56" name="object 56"/>
            <p:cNvSpPr/>
            <p:nvPr/>
          </p:nvSpPr>
          <p:spPr>
            <a:xfrm>
              <a:off x="10011145" y="5338986"/>
              <a:ext cx="0" cy="71755"/>
            </a:xfrm>
            <a:custGeom>
              <a:avLst/>
              <a:gdLst/>
              <a:ahLst/>
              <a:cxnLst/>
              <a:rect l="l" t="t" r="r" b="b"/>
              <a:pathLst>
                <a:path h="71754">
                  <a:moveTo>
                    <a:pt x="0" y="0"/>
                  </a:moveTo>
                  <a:lnTo>
                    <a:pt x="0" y="71437"/>
                  </a:lnTo>
                </a:path>
              </a:pathLst>
            </a:custGeom>
            <a:ln w="9524">
              <a:solidFill>
                <a:srgbClr val="000000"/>
              </a:solidFill>
            </a:ln>
          </p:spPr>
          <p:txBody>
            <a:bodyPr wrap="square" lIns="0" tIns="0" rIns="0" bIns="0" rtlCol="0"/>
            <a:lstStyle/>
            <a:p>
              <a:endParaRPr/>
            </a:p>
          </p:txBody>
        </p:sp>
      </p:grpSp>
      <p:sp>
        <p:nvSpPr>
          <p:cNvPr id="60" name="标题 59"/>
          <p:cNvSpPr>
            <a:spLocks noGrp="1"/>
          </p:cNvSpPr>
          <p:nvPr>
            <p:ph type="title"/>
          </p:nvPr>
        </p:nvSpPr>
        <p:spPr/>
        <p:txBody>
          <a:bodyPr/>
          <a:lstStyle/>
          <a:p>
            <a:r>
              <a:rPr lang="zh-CN" altLang="en-US" spc="-5" dirty="0"/>
              <a:t>修改方案</a:t>
            </a:r>
            <a:r>
              <a:rPr lang="zh-CN" altLang="en-US" spc="-5" dirty="0">
                <a:latin typeface="Calibri Light" panose="020F0302020204030204"/>
                <a:cs typeface="Calibri Light" panose="020F0302020204030204"/>
              </a:rPr>
              <a:t>一</a:t>
            </a:r>
            <a:endParaRPr lang="zh-CN" altLang="en-US" dirty="0"/>
          </a:p>
        </p:txBody>
      </p:sp>
      <p:sp>
        <p:nvSpPr>
          <p:cNvPr id="62" name="灯片编号占位符 61"/>
          <p:cNvSpPr>
            <a:spLocks noGrp="1"/>
          </p:cNvSpPr>
          <p:nvPr>
            <p:ph type="sldNum" sz="quarter" idx="12"/>
          </p:nvPr>
        </p:nvSpPr>
        <p:spPr/>
        <p:txBody>
          <a:bodyPr/>
          <a:lstStyle/>
          <a:p>
            <a:fld id="{74D2AB8B-5816-41F2-8B4B-CA5C3E4E6A65}" type="slidenum">
              <a:rPr lang="zh-CN" altLang="en-US" smtClean="0"/>
              <a:t>56</a:t>
            </a:fld>
            <a:endParaRPr lang="zh-CN" altLang="en-US"/>
          </a:p>
        </p:txBody>
      </p:sp>
      <p:sp>
        <p:nvSpPr>
          <p:cNvPr id="57" name="矩形 56"/>
          <p:cNvSpPr/>
          <p:nvPr/>
        </p:nvSpPr>
        <p:spPr>
          <a:xfrm>
            <a:off x="8676438" y="903890"/>
            <a:ext cx="3109133" cy="154879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墨迹 57"/>
          <p:cNvSpPr/>
          <p:nvPr/>
        </p:nvSpPr>
        <p:spPr bwMode="auto">
          <a:xfrm>
            <a:off x="4285800" y="4660200"/>
            <a:ext cx="5024880" cy="693360"/>
          </a:xfrm>
          <a:prstGeom prst="rect">
            <a:avLst/>
          </a:prstGeom>
        </p:spPr>
        <p:txBody>
          <a:bodyPr/>
          <a:lstStyle/>
          <a:p>
            <a:endParaRPr lang="zh-CN" altLang="en-US"/>
          </a:p>
        </p:txBody>
      </p:sp>
      <p:sp>
        <p:nvSpPr>
          <p:cNvPr id="59" name="椭圆 58"/>
          <p:cNvSpPr/>
          <p:nvPr/>
        </p:nvSpPr>
        <p:spPr>
          <a:xfrm>
            <a:off x="7584440" y="3478530"/>
            <a:ext cx="1187450" cy="2531110"/>
          </a:xfrm>
          <a:prstGeom prst="ellipse">
            <a:avLst/>
          </a:prstGeom>
          <a:noFill/>
          <a:ln w="19050">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05405"/>
    </mc:Choice>
    <mc:Fallback xmlns="">
      <p:transition spd="slow" advTm="10540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9" presetClass="entr" presetSubtype="0" fill="hold" nodeType="withEffect">
                                  <p:stCondLst>
                                    <p:cond delay="0"/>
                                  </p:stCondLst>
                                  <p:childTnLst>
                                    <p:set>
                                      <p:cBhvr>
                                        <p:cTn id="6" dur="1" fill="hold">
                                          <p:stCondLst>
                                            <p:cond delay="0"/>
                                          </p:stCondLst>
                                        </p:cTn>
                                        <p:tgtEl>
                                          <p:spTgt spid="58"/>
                                        </p:tgtEl>
                                        <p:attrNameLst>
                                          <p:attrName>style.visibility</p:attrName>
                                        </p:attrNameLst>
                                      </p:cBhvr>
                                      <p:to>
                                        <p:strVal val="visible"/>
                                      </p:to>
                                    </p:set>
                                    <p:cmd type="call" cmd="playFrom(0.0)">
                                      <p:cBhvr>
                                        <p:cTn id="7" dur="1" fill="hold"/>
                                        <p:tgtEl>
                                          <p:spTgt spid="58"/>
                                        </p:tgtEl>
                                      </p:cBhvr>
                                    </p:cmd>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P spid="59" grpId="1"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6939" y="6491922"/>
            <a:ext cx="180340"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898989"/>
                </a:solidFill>
                <a:latin typeface="Calibri" panose="020F0502020204030204"/>
                <a:cs typeface="Calibri" panose="020F0502020204030204"/>
              </a:rPr>
              <a:t>11</a:t>
            </a:r>
            <a:endParaRPr sz="1200">
              <a:latin typeface="Calibri" panose="020F0502020204030204"/>
              <a:cs typeface="Calibri" panose="020F0502020204030204"/>
            </a:endParaRPr>
          </a:p>
        </p:txBody>
      </p:sp>
      <p:sp>
        <p:nvSpPr>
          <p:cNvPr id="4" name="object 4"/>
          <p:cNvSpPr txBox="1"/>
          <p:nvPr/>
        </p:nvSpPr>
        <p:spPr>
          <a:xfrm>
            <a:off x="916939" y="1579880"/>
            <a:ext cx="5943600" cy="1849120"/>
          </a:xfrm>
          <a:prstGeom prst="rect">
            <a:avLst/>
          </a:prstGeom>
        </p:spPr>
        <p:txBody>
          <a:bodyPr vert="horz" wrap="square" lIns="0" tIns="12700" rIns="0" bIns="0" rtlCol="0">
            <a:spAutoFit/>
          </a:bodyPr>
          <a:lstStyle/>
          <a:p>
            <a:pPr marL="241300" indent="-228600">
              <a:lnSpc>
                <a:spcPct val="100000"/>
              </a:lnSpc>
              <a:spcBef>
                <a:spcPts val="10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新魏" panose="02010800040101010101" charset="-122"/>
              </a:rPr>
              <a:t>下述两种系统的控制流有什么特点？</a:t>
            </a:r>
          </a:p>
          <a:p>
            <a:pPr marL="698500" lvl="1" indent="-228600">
              <a:lnSpc>
                <a:spcPct val="100000"/>
              </a:lnSpc>
              <a:spcBef>
                <a:spcPts val="2140"/>
              </a:spcBef>
              <a:buFont typeface="Arial" panose="020B0604020202020204"/>
              <a:buChar char="•"/>
              <a:tabLst>
                <a:tab pos="698500" algn="l"/>
              </a:tabLst>
            </a:pPr>
            <a:r>
              <a:rPr sz="2800" dirty="0">
                <a:latin typeface="微软雅黑" panose="020B0503020204020204" pitchFamily="34" charset="-122"/>
                <a:ea typeface="微软雅黑" panose="020B0503020204020204" pitchFamily="34" charset="-122"/>
                <a:cs typeface="华文新魏" panose="02010800040101010101" charset="-122"/>
              </a:rPr>
              <a:t>集中式的？</a:t>
            </a:r>
          </a:p>
          <a:p>
            <a:pPr marL="698500" lvl="1" indent="-228600">
              <a:lnSpc>
                <a:spcPct val="100000"/>
              </a:lnSpc>
              <a:spcBef>
                <a:spcPts val="2140"/>
              </a:spcBef>
              <a:buFont typeface="Arial" panose="020B0604020202020204"/>
              <a:buChar char="•"/>
              <a:tabLst>
                <a:tab pos="698500" algn="l"/>
              </a:tabLst>
            </a:pPr>
            <a:r>
              <a:rPr sz="2800" dirty="0">
                <a:latin typeface="微软雅黑" panose="020B0503020204020204" pitchFamily="34" charset="-122"/>
                <a:ea typeface="微软雅黑" panose="020B0503020204020204" pitchFamily="34" charset="-122"/>
                <a:cs typeface="华文新魏" panose="02010800040101010101" charset="-122"/>
              </a:rPr>
              <a:t>分布式的？</a:t>
            </a:r>
          </a:p>
        </p:txBody>
      </p:sp>
      <p:sp>
        <p:nvSpPr>
          <p:cNvPr id="6" name="object 6"/>
          <p:cNvSpPr/>
          <p:nvPr/>
        </p:nvSpPr>
        <p:spPr>
          <a:xfrm>
            <a:off x="3825238" y="2360932"/>
            <a:ext cx="7261861" cy="3322954"/>
          </a:xfrm>
          <a:prstGeom prst="rect">
            <a:avLst/>
          </a:prstGeom>
          <a:blipFill>
            <a:blip r:embed="rId3" cstate="print"/>
            <a:stretch>
              <a:fillRect/>
            </a:stretch>
          </a:blipFill>
        </p:spPr>
        <p:txBody>
          <a:bodyPr wrap="square" lIns="0" tIns="0" rIns="0" bIns="0" rtlCol="0"/>
          <a:lstStyle/>
          <a:p>
            <a:endParaRPr dirty="0"/>
          </a:p>
        </p:txBody>
      </p:sp>
      <p:sp>
        <p:nvSpPr>
          <p:cNvPr id="8" name="标题 7"/>
          <p:cNvSpPr>
            <a:spLocks noGrp="1"/>
          </p:cNvSpPr>
          <p:nvPr>
            <p:ph type="title"/>
          </p:nvPr>
        </p:nvSpPr>
        <p:spPr/>
        <p:txBody>
          <a:bodyPr/>
          <a:lstStyle/>
          <a:p>
            <a:r>
              <a:rPr lang="zh-CN" altLang="en-US" spc="-5" dirty="0"/>
              <a:t>集中、分布控制</a:t>
            </a:r>
            <a:endParaRPr lang="zh-CN" altLang="en-US" dirty="0"/>
          </a:p>
        </p:txBody>
      </p:sp>
      <p:sp>
        <p:nvSpPr>
          <p:cNvPr id="9" name="灯片编号占位符 8"/>
          <p:cNvSpPr>
            <a:spLocks noGrp="1"/>
          </p:cNvSpPr>
          <p:nvPr>
            <p:ph type="sldNum" sz="quarter" idx="12"/>
          </p:nvPr>
        </p:nvSpPr>
        <p:spPr/>
        <p:txBody>
          <a:bodyPr/>
          <a:lstStyle/>
          <a:p>
            <a:fld id="{74D2AB8B-5816-41F2-8B4B-CA5C3E4E6A65}" type="slidenum">
              <a:rPr lang="zh-CN" altLang="en-US" smtClean="0"/>
              <a:t>57</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61039"/>
    </mc:Choice>
    <mc:Fallback xmlns="">
      <p:transition spd="slow" advTm="61039"/>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5986" y="315195"/>
            <a:ext cx="5599113" cy="443711"/>
          </a:xfrm>
          <a:prstGeom prst="rect">
            <a:avLst/>
          </a:prstGeom>
        </p:spPr>
        <p:txBody>
          <a:bodyPr vert="horz" wrap="square" lIns="0" tIns="12700" rIns="0" bIns="0" rtlCol="0">
            <a:spAutoFit/>
          </a:bodyPr>
          <a:lstStyle/>
          <a:p>
            <a:pPr marL="12700">
              <a:lnSpc>
                <a:spcPct val="100000"/>
              </a:lnSpc>
              <a:spcBef>
                <a:spcPts val="100"/>
              </a:spcBef>
            </a:pPr>
            <a:r>
              <a:rPr spc="-5" dirty="0">
                <a:latin typeface="微软雅黑" panose="020B0503020204020204" pitchFamily="34" charset="-122"/>
                <a:ea typeface="微软雅黑" panose="020B0503020204020204" pitchFamily="34" charset="-122"/>
              </a:rPr>
              <a:t>例</a:t>
            </a:r>
            <a:r>
              <a:rPr spc="-5" dirty="0">
                <a:latin typeface="微软雅黑" panose="020B0503020204020204" pitchFamily="34" charset="-122"/>
                <a:ea typeface="微软雅黑" panose="020B0503020204020204" pitchFamily="34" charset="-122"/>
                <a:cs typeface="Calibri" panose="020F0502020204030204"/>
              </a:rPr>
              <a:t>1</a:t>
            </a:r>
            <a:r>
              <a:rPr spc="-5" dirty="0">
                <a:latin typeface="微软雅黑" panose="020B0503020204020204" pitchFamily="34" charset="-122"/>
                <a:ea typeface="微软雅黑" panose="020B0503020204020204" pitchFamily="34" charset="-122"/>
              </a:rPr>
              <a:t>：集中控制的计价系统顺序图</a:t>
            </a:r>
          </a:p>
        </p:txBody>
      </p:sp>
      <p:sp>
        <p:nvSpPr>
          <p:cNvPr id="4" name="object 4"/>
          <p:cNvSpPr/>
          <p:nvPr/>
        </p:nvSpPr>
        <p:spPr>
          <a:xfrm>
            <a:off x="1898102" y="978495"/>
            <a:ext cx="9233993" cy="5318124"/>
          </a:xfrm>
          <a:prstGeom prst="rect">
            <a:avLst/>
          </a:prstGeom>
          <a:blipFill>
            <a:blip r:embed="rId3" cstate="print"/>
            <a:stretch>
              <a:fillRect/>
            </a:stretch>
          </a:blipFill>
        </p:spPr>
        <p:txBody>
          <a:bodyPr wrap="square" lIns="0" tIns="0" rIns="0" bIns="0" rtlCol="0"/>
          <a:lstStyle/>
          <a:p>
            <a:endParaRPr dirty="0"/>
          </a:p>
        </p:txBody>
      </p:sp>
      <p:sp>
        <p:nvSpPr>
          <p:cNvPr id="6" name="灯片编号占位符 5"/>
          <p:cNvSpPr>
            <a:spLocks noGrp="1"/>
          </p:cNvSpPr>
          <p:nvPr>
            <p:ph type="sldNum" sz="quarter" idx="7"/>
          </p:nvPr>
        </p:nvSpPr>
        <p:spPr/>
        <p:txBody>
          <a:bodyPr/>
          <a:lstStyle/>
          <a:p>
            <a:fld id="{B6F15528-21DE-4FAA-801E-634DDDAF4B2B}" type="slidenum">
              <a:rPr lang="en-US" altLang="zh-CN" smtClean="0"/>
              <a:t>58</a:t>
            </a:fld>
            <a:endParaRPr lang="en-US" altLang="zh-CN"/>
          </a:p>
        </p:txBody>
      </p:sp>
      <p:sp>
        <p:nvSpPr>
          <p:cNvPr id="3" name="矩形 2"/>
          <p:cNvSpPr/>
          <p:nvPr/>
        </p:nvSpPr>
        <p:spPr>
          <a:xfrm>
            <a:off x="3079531" y="1303283"/>
            <a:ext cx="378372" cy="19969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4996683" y="1303283"/>
            <a:ext cx="378372" cy="19969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7267904" y="1303283"/>
            <a:ext cx="378372" cy="19969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9328919" y="1303283"/>
            <a:ext cx="378372" cy="19969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41251"/>
    </mc:Choice>
    <mc:Fallback xmlns="">
      <p:transition spd="slow" advTm="41251"/>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7203" y="263700"/>
            <a:ext cx="5767228" cy="443711"/>
          </a:xfrm>
          <a:prstGeom prst="rect">
            <a:avLst/>
          </a:prstGeom>
        </p:spPr>
        <p:txBody>
          <a:bodyPr vert="horz" wrap="square" lIns="0" tIns="12700" rIns="0" bIns="0" rtlCol="0">
            <a:spAutoFit/>
          </a:bodyPr>
          <a:lstStyle/>
          <a:p>
            <a:pPr marL="12700">
              <a:lnSpc>
                <a:spcPct val="100000"/>
              </a:lnSpc>
              <a:spcBef>
                <a:spcPts val="100"/>
              </a:spcBef>
            </a:pPr>
            <a:r>
              <a:rPr spc="-5" dirty="0">
                <a:latin typeface="微软雅黑" panose="020B0503020204020204" pitchFamily="34" charset="-122"/>
                <a:ea typeface="微软雅黑" panose="020B0503020204020204" pitchFamily="34" charset="-122"/>
              </a:rPr>
              <a:t>例2：分布控制的计价系统顺序图</a:t>
            </a:r>
          </a:p>
        </p:txBody>
      </p:sp>
      <p:sp>
        <p:nvSpPr>
          <p:cNvPr id="4" name="object 4"/>
          <p:cNvSpPr/>
          <p:nvPr/>
        </p:nvSpPr>
        <p:spPr>
          <a:xfrm>
            <a:off x="1519237" y="2509837"/>
            <a:ext cx="212724" cy="161924"/>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1727200" y="2590800"/>
            <a:ext cx="2413000" cy="0"/>
          </a:xfrm>
          <a:custGeom>
            <a:avLst/>
            <a:gdLst/>
            <a:ahLst/>
            <a:cxnLst/>
            <a:rect l="l" t="t" r="r" b="b"/>
            <a:pathLst>
              <a:path w="2413000">
                <a:moveTo>
                  <a:pt x="0" y="0"/>
                </a:moveTo>
                <a:lnTo>
                  <a:pt x="2412999" y="0"/>
                </a:lnTo>
              </a:path>
            </a:pathLst>
          </a:custGeom>
          <a:ln w="9524">
            <a:solidFill>
              <a:srgbClr val="000000"/>
            </a:solidFill>
          </a:ln>
        </p:spPr>
        <p:txBody>
          <a:bodyPr wrap="square" lIns="0" tIns="0" rIns="0" bIns="0" rtlCol="0"/>
          <a:lstStyle/>
          <a:p>
            <a:endParaRPr/>
          </a:p>
        </p:txBody>
      </p:sp>
      <p:sp>
        <p:nvSpPr>
          <p:cNvPr id="6" name="object 6"/>
          <p:cNvSpPr/>
          <p:nvPr/>
        </p:nvSpPr>
        <p:spPr>
          <a:xfrm>
            <a:off x="4089400" y="2552700"/>
            <a:ext cx="76200" cy="76200"/>
          </a:xfrm>
          <a:custGeom>
            <a:avLst/>
            <a:gdLst/>
            <a:ahLst/>
            <a:cxnLst/>
            <a:rect l="l" t="t" r="r" b="b"/>
            <a:pathLst>
              <a:path w="76200" h="76200">
                <a:moveTo>
                  <a:pt x="0" y="0"/>
                </a:moveTo>
                <a:lnTo>
                  <a:pt x="0" y="76200"/>
                </a:lnTo>
                <a:lnTo>
                  <a:pt x="76200" y="38100"/>
                </a:lnTo>
                <a:lnTo>
                  <a:pt x="0" y="0"/>
                </a:lnTo>
                <a:close/>
              </a:path>
            </a:pathLst>
          </a:custGeom>
          <a:solidFill>
            <a:srgbClr val="000000"/>
          </a:solidFill>
        </p:spPr>
        <p:txBody>
          <a:bodyPr wrap="square" lIns="0" tIns="0" rIns="0" bIns="0" rtlCol="0"/>
          <a:lstStyle/>
          <a:p>
            <a:endParaRPr/>
          </a:p>
        </p:txBody>
      </p:sp>
      <p:sp>
        <p:nvSpPr>
          <p:cNvPr id="7" name="object 7"/>
          <p:cNvSpPr/>
          <p:nvPr/>
        </p:nvSpPr>
        <p:spPr>
          <a:xfrm>
            <a:off x="3422650" y="2016125"/>
            <a:ext cx="1496695" cy="473075"/>
          </a:xfrm>
          <a:custGeom>
            <a:avLst/>
            <a:gdLst/>
            <a:ahLst/>
            <a:cxnLst/>
            <a:rect l="l" t="t" r="r" b="b"/>
            <a:pathLst>
              <a:path w="1496695" h="473075">
                <a:moveTo>
                  <a:pt x="0" y="0"/>
                </a:moveTo>
                <a:lnTo>
                  <a:pt x="1496482" y="0"/>
                </a:lnTo>
                <a:lnTo>
                  <a:pt x="1496482" y="473075"/>
                </a:lnTo>
                <a:lnTo>
                  <a:pt x="0" y="473075"/>
                </a:lnTo>
                <a:lnTo>
                  <a:pt x="0" y="0"/>
                </a:lnTo>
                <a:close/>
              </a:path>
            </a:pathLst>
          </a:custGeom>
          <a:solidFill>
            <a:srgbClr val="FFFED5"/>
          </a:solidFill>
        </p:spPr>
        <p:txBody>
          <a:bodyPr wrap="square" lIns="0" tIns="0" rIns="0" bIns="0" rtlCol="0"/>
          <a:lstStyle/>
          <a:p>
            <a:endParaRPr/>
          </a:p>
        </p:txBody>
      </p:sp>
      <p:sp>
        <p:nvSpPr>
          <p:cNvPr id="8" name="object 8"/>
          <p:cNvSpPr/>
          <p:nvPr/>
        </p:nvSpPr>
        <p:spPr>
          <a:xfrm>
            <a:off x="3422650" y="2016125"/>
            <a:ext cx="1496695" cy="473075"/>
          </a:xfrm>
          <a:custGeom>
            <a:avLst/>
            <a:gdLst/>
            <a:ahLst/>
            <a:cxnLst/>
            <a:rect l="l" t="t" r="r" b="b"/>
            <a:pathLst>
              <a:path w="1496695" h="473075">
                <a:moveTo>
                  <a:pt x="0" y="0"/>
                </a:moveTo>
                <a:lnTo>
                  <a:pt x="1496482" y="0"/>
                </a:lnTo>
                <a:lnTo>
                  <a:pt x="1496482" y="473074"/>
                </a:lnTo>
                <a:lnTo>
                  <a:pt x="0" y="473074"/>
                </a:lnTo>
                <a:lnTo>
                  <a:pt x="0" y="0"/>
                </a:lnTo>
                <a:close/>
              </a:path>
            </a:pathLst>
          </a:custGeom>
          <a:ln w="4156">
            <a:solidFill>
              <a:srgbClr val="AB1942"/>
            </a:solidFill>
          </a:ln>
        </p:spPr>
        <p:txBody>
          <a:bodyPr wrap="square" lIns="0" tIns="0" rIns="0" bIns="0" rtlCol="0"/>
          <a:lstStyle/>
          <a:p>
            <a:endParaRPr/>
          </a:p>
        </p:txBody>
      </p:sp>
      <p:sp>
        <p:nvSpPr>
          <p:cNvPr id="9" name="object 9"/>
          <p:cNvSpPr/>
          <p:nvPr/>
        </p:nvSpPr>
        <p:spPr>
          <a:xfrm>
            <a:off x="3780366" y="2274888"/>
            <a:ext cx="723900" cy="0"/>
          </a:xfrm>
          <a:custGeom>
            <a:avLst/>
            <a:gdLst/>
            <a:ahLst/>
            <a:cxnLst/>
            <a:rect l="l" t="t" r="r" b="b"/>
            <a:pathLst>
              <a:path w="723900">
                <a:moveTo>
                  <a:pt x="0" y="0"/>
                </a:moveTo>
                <a:lnTo>
                  <a:pt x="723900" y="0"/>
                </a:lnTo>
              </a:path>
            </a:pathLst>
          </a:custGeom>
          <a:ln w="12700">
            <a:solidFill>
              <a:srgbClr val="000000"/>
            </a:solidFill>
          </a:ln>
        </p:spPr>
        <p:txBody>
          <a:bodyPr wrap="square" lIns="0" tIns="0" rIns="0" bIns="0" rtlCol="0"/>
          <a:lstStyle/>
          <a:p>
            <a:endParaRPr/>
          </a:p>
        </p:txBody>
      </p:sp>
      <p:sp>
        <p:nvSpPr>
          <p:cNvPr id="10" name="object 10"/>
          <p:cNvSpPr/>
          <p:nvPr/>
        </p:nvSpPr>
        <p:spPr>
          <a:xfrm>
            <a:off x="4170891" y="2487122"/>
            <a:ext cx="0" cy="339090"/>
          </a:xfrm>
          <a:custGeom>
            <a:avLst/>
            <a:gdLst/>
            <a:ahLst/>
            <a:cxnLst/>
            <a:rect l="l" t="t" r="r" b="b"/>
            <a:pathLst>
              <a:path h="339089">
                <a:moveTo>
                  <a:pt x="0" y="0"/>
                </a:moveTo>
                <a:lnTo>
                  <a:pt x="0" y="338627"/>
                </a:lnTo>
              </a:path>
            </a:pathLst>
          </a:custGeom>
          <a:ln w="6273">
            <a:solidFill>
              <a:srgbClr val="000000"/>
            </a:solidFill>
          </a:ln>
        </p:spPr>
        <p:txBody>
          <a:bodyPr wrap="square" lIns="0" tIns="0" rIns="0" bIns="0" rtlCol="0"/>
          <a:lstStyle/>
          <a:p>
            <a:endParaRPr/>
          </a:p>
        </p:txBody>
      </p:sp>
      <p:sp>
        <p:nvSpPr>
          <p:cNvPr id="11" name="object 11"/>
          <p:cNvSpPr/>
          <p:nvPr/>
        </p:nvSpPr>
        <p:spPr>
          <a:xfrm>
            <a:off x="4170891" y="4794250"/>
            <a:ext cx="0" cy="974090"/>
          </a:xfrm>
          <a:custGeom>
            <a:avLst/>
            <a:gdLst/>
            <a:ahLst/>
            <a:cxnLst/>
            <a:rect l="l" t="t" r="r" b="b"/>
            <a:pathLst>
              <a:path h="974089">
                <a:moveTo>
                  <a:pt x="0" y="0"/>
                </a:moveTo>
                <a:lnTo>
                  <a:pt x="0" y="973627"/>
                </a:lnTo>
              </a:path>
            </a:pathLst>
          </a:custGeom>
          <a:ln w="6273">
            <a:solidFill>
              <a:srgbClr val="000000"/>
            </a:solidFill>
          </a:ln>
        </p:spPr>
        <p:txBody>
          <a:bodyPr wrap="square" lIns="0" tIns="0" rIns="0" bIns="0" rtlCol="0"/>
          <a:lstStyle/>
          <a:p>
            <a:endParaRPr/>
          </a:p>
        </p:txBody>
      </p:sp>
      <p:sp>
        <p:nvSpPr>
          <p:cNvPr id="12" name="object 12"/>
          <p:cNvSpPr/>
          <p:nvPr/>
        </p:nvSpPr>
        <p:spPr>
          <a:xfrm>
            <a:off x="4091516" y="2825750"/>
            <a:ext cx="156845" cy="1968500"/>
          </a:xfrm>
          <a:custGeom>
            <a:avLst/>
            <a:gdLst/>
            <a:ahLst/>
            <a:cxnLst/>
            <a:rect l="l" t="t" r="r" b="b"/>
            <a:pathLst>
              <a:path w="156845" h="1968500">
                <a:moveTo>
                  <a:pt x="0" y="0"/>
                </a:moveTo>
                <a:lnTo>
                  <a:pt x="156633" y="0"/>
                </a:lnTo>
                <a:lnTo>
                  <a:pt x="156633" y="1968499"/>
                </a:lnTo>
                <a:lnTo>
                  <a:pt x="0" y="1968499"/>
                </a:lnTo>
                <a:lnTo>
                  <a:pt x="0" y="0"/>
                </a:lnTo>
                <a:close/>
              </a:path>
            </a:pathLst>
          </a:custGeom>
          <a:ln w="4156">
            <a:solidFill>
              <a:srgbClr val="AB1942"/>
            </a:solidFill>
          </a:ln>
        </p:spPr>
        <p:txBody>
          <a:bodyPr wrap="square" lIns="0" tIns="0" rIns="0" bIns="0" rtlCol="0"/>
          <a:lstStyle/>
          <a:p>
            <a:endParaRPr/>
          </a:p>
        </p:txBody>
      </p:sp>
      <p:sp>
        <p:nvSpPr>
          <p:cNvPr id="13" name="object 13"/>
          <p:cNvSpPr/>
          <p:nvPr/>
        </p:nvSpPr>
        <p:spPr>
          <a:xfrm>
            <a:off x="4169833" y="4221163"/>
            <a:ext cx="156845" cy="249554"/>
          </a:xfrm>
          <a:custGeom>
            <a:avLst/>
            <a:gdLst/>
            <a:ahLst/>
            <a:cxnLst/>
            <a:rect l="l" t="t" r="r" b="b"/>
            <a:pathLst>
              <a:path w="156845" h="249554">
                <a:moveTo>
                  <a:pt x="0" y="0"/>
                </a:moveTo>
                <a:lnTo>
                  <a:pt x="156632" y="0"/>
                </a:lnTo>
                <a:lnTo>
                  <a:pt x="156632" y="249237"/>
                </a:lnTo>
                <a:lnTo>
                  <a:pt x="0" y="249237"/>
                </a:lnTo>
                <a:lnTo>
                  <a:pt x="0" y="0"/>
                </a:lnTo>
                <a:close/>
              </a:path>
            </a:pathLst>
          </a:custGeom>
          <a:solidFill>
            <a:srgbClr val="FFFFFF"/>
          </a:solidFill>
        </p:spPr>
        <p:txBody>
          <a:bodyPr wrap="square" lIns="0" tIns="0" rIns="0" bIns="0" rtlCol="0"/>
          <a:lstStyle/>
          <a:p>
            <a:endParaRPr/>
          </a:p>
        </p:txBody>
      </p:sp>
      <p:sp>
        <p:nvSpPr>
          <p:cNvPr id="14" name="object 14"/>
          <p:cNvSpPr/>
          <p:nvPr/>
        </p:nvSpPr>
        <p:spPr>
          <a:xfrm>
            <a:off x="4169832" y="4221164"/>
            <a:ext cx="156845" cy="249554"/>
          </a:xfrm>
          <a:custGeom>
            <a:avLst/>
            <a:gdLst/>
            <a:ahLst/>
            <a:cxnLst/>
            <a:rect l="l" t="t" r="r" b="b"/>
            <a:pathLst>
              <a:path w="156845" h="249554">
                <a:moveTo>
                  <a:pt x="0" y="0"/>
                </a:moveTo>
                <a:lnTo>
                  <a:pt x="156633" y="0"/>
                </a:lnTo>
                <a:lnTo>
                  <a:pt x="156633" y="249237"/>
                </a:lnTo>
                <a:lnTo>
                  <a:pt x="0" y="249237"/>
                </a:lnTo>
                <a:lnTo>
                  <a:pt x="0" y="0"/>
                </a:lnTo>
                <a:close/>
              </a:path>
            </a:pathLst>
          </a:custGeom>
          <a:ln w="4156">
            <a:solidFill>
              <a:srgbClr val="AB1942"/>
            </a:solidFill>
          </a:ln>
        </p:spPr>
        <p:txBody>
          <a:bodyPr wrap="square" lIns="0" tIns="0" rIns="0" bIns="0" rtlCol="0"/>
          <a:lstStyle/>
          <a:p>
            <a:endParaRPr/>
          </a:p>
        </p:txBody>
      </p:sp>
      <p:sp>
        <p:nvSpPr>
          <p:cNvPr id="15" name="object 15"/>
          <p:cNvSpPr/>
          <p:nvPr/>
        </p:nvSpPr>
        <p:spPr>
          <a:xfrm>
            <a:off x="5416548" y="2016125"/>
            <a:ext cx="1917700" cy="473075"/>
          </a:xfrm>
          <a:custGeom>
            <a:avLst/>
            <a:gdLst/>
            <a:ahLst/>
            <a:cxnLst/>
            <a:rect l="l" t="t" r="r" b="b"/>
            <a:pathLst>
              <a:path w="1917700" h="473075">
                <a:moveTo>
                  <a:pt x="0" y="0"/>
                </a:moveTo>
                <a:lnTo>
                  <a:pt x="1917700" y="0"/>
                </a:lnTo>
                <a:lnTo>
                  <a:pt x="1917700" y="473075"/>
                </a:lnTo>
                <a:lnTo>
                  <a:pt x="0" y="473075"/>
                </a:lnTo>
                <a:lnTo>
                  <a:pt x="0" y="0"/>
                </a:lnTo>
                <a:close/>
              </a:path>
            </a:pathLst>
          </a:custGeom>
          <a:solidFill>
            <a:srgbClr val="FFFED5"/>
          </a:solidFill>
        </p:spPr>
        <p:txBody>
          <a:bodyPr wrap="square" lIns="0" tIns="0" rIns="0" bIns="0" rtlCol="0"/>
          <a:lstStyle/>
          <a:p>
            <a:endParaRPr/>
          </a:p>
        </p:txBody>
      </p:sp>
      <p:sp>
        <p:nvSpPr>
          <p:cNvPr id="16" name="object 16"/>
          <p:cNvSpPr/>
          <p:nvPr/>
        </p:nvSpPr>
        <p:spPr>
          <a:xfrm>
            <a:off x="5416548" y="2016125"/>
            <a:ext cx="1917700" cy="473075"/>
          </a:xfrm>
          <a:custGeom>
            <a:avLst/>
            <a:gdLst/>
            <a:ahLst/>
            <a:cxnLst/>
            <a:rect l="l" t="t" r="r" b="b"/>
            <a:pathLst>
              <a:path w="1917700" h="473075">
                <a:moveTo>
                  <a:pt x="0" y="0"/>
                </a:moveTo>
                <a:lnTo>
                  <a:pt x="1917699" y="0"/>
                </a:lnTo>
                <a:lnTo>
                  <a:pt x="1917699" y="473074"/>
                </a:lnTo>
                <a:lnTo>
                  <a:pt x="0" y="473074"/>
                </a:lnTo>
                <a:lnTo>
                  <a:pt x="0" y="0"/>
                </a:lnTo>
                <a:close/>
              </a:path>
            </a:pathLst>
          </a:custGeom>
          <a:ln w="4156">
            <a:solidFill>
              <a:srgbClr val="AB1942"/>
            </a:solidFill>
          </a:ln>
        </p:spPr>
        <p:txBody>
          <a:bodyPr wrap="square" lIns="0" tIns="0" rIns="0" bIns="0" rtlCol="0"/>
          <a:lstStyle/>
          <a:p>
            <a:endParaRPr/>
          </a:p>
        </p:txBody>
      </p:sp>
      <p:sp>
        <p:nvSpPr>
          <p:cNvPr id="17" name="object 17"/>
          <p:cNvSpPr/>
          <p:nvPr/>
        </p:nvSpPr>
        <p:spPr>
          <a:xfrm>
            <a:off x="5541431" y="2274888"/>
            <a:ext cx="1143000" cy="0"/>
          </a:xfrm>
          <a:custGeom>
            <a:avLst/>
            <a:gdLst/>
            <a:ahLst/>
            <a:cxnLst/>
            <a:rect l="l" t="t" r="r" b="b"/>
            <a:pathLst>
              <a:path w="1143000">
                <a:moveTo>
                  <a:pt x="0" y="0"/>
                </a:moveTo>
                <a:lnTo>
                  <a:pt x="1143000" y="0"/>
                </a:lnTo>
              </a:path>
            </a:pathLst>
          </a:custGeom>
          <a:ln w="12700">
            <a:solidFill>
              <a:srgbClr val="000000"/>
            </a:solidFill>
          </a:ln>
        </p:spPr>
        <p:txBody>
          <a:bodyPr wrap="square" lIns="0" tIns="0" rIns="0" bIns="0" rtlCol="0"/>
          <a:lstStyle/>
          <a:p>
            <a:endParaRPr/>
          </a:p>
        </p:txBody>
      </p:sp>
      <p:sp>
        <p:nvSpPr>
          <p:cNvPr id="18" name="object 18"/>
          <p:cNvSpPr/>
          <p:nvPr/>
        </p:nvSpPr>
        <p:spPr>
          <a:xfrm>
            <a:off x="6166906" y="2487122"/>
            <a:ext cx="0" cy="339090"/>
          </a:xfrm>
          <a:custGeom>
            <a:avLst/>
            <a:gdLst/>
            <a:ahLst/>
            <a:cxnLst/>
            <a:rect l="l" t="t" r="r" b="b"/>
            <a:pathLst>
              <a:path h="339089">
                <a:moveTo>
                  <a:pt x="0" y="0"/>
                </a:moveTo>
                <a:lnTo>
                  <a:pt x="0" y="338627"/>
                </a:lnTo>
              </a:path>
            </a:pathLst>
          </a:custGeom>
          <a:ln w="6273">
            <a:solidFill>
              <a:srgbClr val="000000"/>
            </a:solidFill>
          </a:ln>
        </p:spPr>
        <p:txBody>
          <a:bodyPr wrap="square" lIns="0" tIns="0" rIns="0" bIns="0" rtlCol="0"/>
          <a:lstStyle/>
          <a:p>
            <a:endParaRPr/>
          </a:p>
        </p:txBody>
      </p:sp>
      <p:sp>
        <p:nvSpPr>
          <p:cNvPr id="19" name="object 19"/>
          <p:cNvSpPr/>
          <p:nvPr/>
        </p:nvSpPr>
        <p:spPr>
          <a:xfrm>
            <a:off x="6166906" y="3560763"/>
            <a:ext cx="0" cy="2207260"/>
          </a:xfrm>
          <a:custGeom>
            <a:avLst/>
            <a:gdLst/>
            <a:ahLst/>
            <a:cxnLst/>
            <a:rect l="l" t="t" r="r" b="b"/>
            <a:pathLst>
              <a:path h="2207260">
                <a:moveTo>
                  <a:pt x="0" y="0"/>
                </a:moveTo>
                <a:lnTo>
                  <a:pt x="0" y="2207113"/>
                </a:lnTo>
              </a:path>
            </a:pathLst>
          </a:custGeom>
          <a:ln w="6273">
            <a:solidFill>
              <a:srgbClr val="000000"/>
            </a:solidFill>
          </a:ln>
        </p:spPr>
        <p:txBody>
          <a:bodyPr wrap="square" lIns="0" tIns="0" rIns="0" bIns="0" rtlCol="0"/>
          <a:lstStyle/>
          <a:p>
            <a:endParaRPr/>
          </a:p>
        </p:txBody>
      </p:sp>
      <p:sp>
        <p:nvSpPr>
          <p:cNvPr id="20" name="object 20"/>
          <p:cNvSpPr/>
          <p:nvPr/>
        </p:nvSpPr>
        <p:spPr>
          <a:xfrm>
            <a:off x="6087531" y="2825750"/>
            <a:ext cx="156845" cy="735330"/>
          </a:xfrm>
          <a:custGeom>
            <a:avLst/>
            <a:gdLst/>
            <a:ahLst/>
            <a:cxnLst/>
            <a:rect l="l" t="t" r="r" b="b"/>
            <a:pathLst>
              <a:path w="156845" h="735329">
                <a:moveTo>
                  <a:pt x="0" y="0"/>
                </a:moveTo>
                <a:lnTo>
                  <a:pt x="156633" y="0"/>
                </a:lnTo>
                <a:lnTo>
                  <a:pt x="156633" y="735012"/>
                </a:lnTo>
                <a:lnTo>
                  <a:pt x="0" y="735012"/>
                </a:lnTo>
                <a:lnTo>
                  <a:pt x="0" y="0"/>
                </a:lnTo>
                <a:close/>
              </a:path>
            </a:pathLst>
          </a:custGeom>
          <a:ln w="4156">
            <a:solidFill>
              <a:srgbClr val="AB1942"/>
            </a:solidFill>
          </a:ln>
        </p:spPr>
        <p:txBody>
          <a:bodyPr wrap="square" lIns="0" tIns="0" rIns="0" bIns="0" rtlCol="0"/>
          <a:lstStyle/>
          <a:p>
            <a:endParaRPr/>
          </a:p>
        </p:txBody>
      </p:sp>
      <p:sp>
        <p:nvSpPr>
          <p:cNvPr id="21" name="object 21"/>
          <p:cNvSpPr/>
          <p:nvPr/>
        </p:nvSpPr>
        <p:spPr>
          <a:xfrm>
            <a:off x="7567083" y="2016125"/>
            <a:ext cx="1496695" cy="473075"/>
          </a:xfrm>
          <a:custGeom>
            <a:avLst/>
            <a:gdLst/>
            <a:ahLst/>
            <a:cxnLst/>
            <a:rect l="l" t="t" r="r" b="b"/>
            <a:pathLst>
              <a:path w="1496695" h="473075">
                <a:moveTo>
                  <a:pt x="0" y="0"/>
                </a:moveTo>
                <a:lnTo>
                  <a:pt x="1496482" y="0"/>
                </a:lnTo>
                <a:lnTo>
                  <a:pt x="1496482" y="473075"/>
                </a:lnTo>
                <a:lnTo>
                  <a:pt x="0" y="473075"/>
                </a:lnTo>
                <a:lnTo>
                  <a:pt x="0" y="0"/>
                </a:lnTo>
                <a:close/>
              </a:path>
            </a:pathLst>
          </a:custGeom>
          <a:solidFill>
            <a:srgbClr val="FFFED5"/>
          </a:solidFill>
        </p:spPr>
        <p:txBody>
          <a:bodyPr wrap="square" lIns="0" tIns="0" rIns="0" bIns="0" rtlCol="0"/>
          <a:lstStyle/>
          <a:p>
            <a:endParaRPr/>
          </a:p>
        </p:txBody>
      </p:sp>
      <p:sp>
        <p:nvSpPr>
          <p:cNvPr id="22" name="object 22"/>
          <p:cNvSpPr/>
          <p:nvPr/>
        </p:nvSpPr>
        <p:spPr>
          <a:xfrm>
            <a:off x="7567083" y="2016125"/>
            <a:ext cx="1496695" cy="473075"/>
          </a:xfrm>
          <a:custGeom>
            <a:avLst/>
            <a:gdLst/>
            <a:ahLst/>
            <a:cxnLst/>
            <a:rect l="l" t="t" r="r" b="b"/>
            <a:pathLst>
              <a:path w="1496695" h="473075">
                <a:moveTo>
                  <a:pt x="0" y="0"/>
                </a:moveTo>
                <a:lnTo>
                  <a:pt x="1496482" y="0"/>
                </a:lnTo>
                <a:lnTo>
                  <a:pt x="1496482" y="473074"/>
                </a:lnTo>
                <a:lnTo>
                  <a:pt x="0" y="473074"/>
                </a:lnTo>
                <a:lnTo>
                  <a:pt x="0" y="0"/>
                </a:lnTo>
                <a:close/>
              </a:path>
            </a:pathLst>
          </a:custGeom>
          <a:ln w="4156">
            <a:solidFill>
              <a:srgbClr val="AB1942"/>
            </a:solidFill>
          </a:ln>
        </p:spPr>
        <p:txBody>
          <a:bodyPr wrap="square" lIns="0" tIns="0" rIns="0" bIns="0" rtlCol="0"/>
          <a:lstStyle/>
          <a:p>
            <a:endParaRPr/>
          </a:p>
        </p:txBody>
      </p:sp>
      <p:sp>
        <p:nvSpPr>
          <p:cNvPr id="23" name="object 23"/>
          <p:cNvSpPr/>
          <p:nvPr/>
        </p:nvSpPr>
        <p:spPr>
          <a:xfrm>
            <a:off x="7909983" y="2274888"/>
            <a:ext cx="749300" cy="0"/>
          </a:xfrm>
          <a:custGeom>
            <a:avLst/>
            <a:gdLst/>
            <a:ahLst/>
            <a:cxnLst/>
            <a:rect l="l" t="t" r="r" b="b"/>
            <a:pathLst>
              <a:path w="749300">
                <a:moveTo>
                  <a:pt x="0" y="0"/>
                </a:moveTo>
                <a:lnTo>
                  <a:pt x="749300" y="0"/>
                </a:lnTo>
              </a:path>
            </a:pathLst>
          </a:custGeom>
          <a:ln w="12700">
            <a:solidFill>
              <a:srgbClr val="000000"/>
            </a:solidFill>
          </a:ln>
        </p:spPr>
        <p:txBody>
          <a:bodyPr wrap="square" lIns="0" tIns="0" rIns="0" bIns="0" rtlCol="0"/>
          <a:lstStyle/>
          <a:p>
            <a:endParaRPr/>
          </a:p>
        </p:txBody>
      </p:sp>
      <p:sp>
        <p:nvSpPr>
          <p:cNvPr id="24" name="object 24"/>
          <p:cNvSpPr/>
          <p:nvPr/>
        </p:nvSpPr>
        <p:spPr>
          <a:xfrm>
            <a:off x="8317439" y="2487122"/>
            <a:ext cx="0" cy="588010"/>
          </a:xfrm>
          <a:custGeom>
            <a:avLst/>
            <a:gdLst/>
            <a:ahLst/>
            <a:cxnLst/>
            <a:rect l="l" t="t" r="r" b="b"/>
            <a:pathLst>
              <a:path h="588010">
                <a:moveTo>
                  <a:pt x="0" y="0"/>
                </a:moveTo>
                <a:lnTo>
                  <a:pt x="0" y="587866"/>
                </a:lnTo>
              </a:path>
            </a:pathLst>
          </a:custGeom>
          <a:ln w="6273">
            <a:solidFill>
              <a:srgbClr val="000000"/>
            </a:solidFill>
          </a:ln>
        </p:spPr>
        <p:txBody>
          <a:bodyPr wrap="square" lIns="0" tIns="0" rIns="0" bIns="0" rtlCol="0"/>
          <a:lstStyle/>
          <a:p>
            <a:endParaRPr/>
          </a:p>
        </p:txBody>
      </p:sp>
      <p:sp>
        <p:nvSpPr>
          <p:cNvPr id="25" name="object 25"/>
          <p:cNvSpPr/>
          <p:nvPr/>
        </p:nvSpPr>
        <p:spPr>
          <a:xfrm>
            <a:off x="8317439" y="3311526"/>
            <a:ext cx="0" cy="2456815"/>
          </a:xfrm>
          <a:custGeom>
            <a:avLst/>
            <a:gdLst/>
            <a:ahLst/>
            <a:cxnLst/>
            <a:rect l="l" t="t" r="r" b="b"/>
            <a:pathLst>
              <a:path h="2456815">
                <a:moveTo>
                  <a:pt x="0" y="0"/>
                </a:moveTo>
                <a:lnTo>
                  <a:pt x="0" y="2456351"/>
                </a:lnTo>
              </a:path>
            </a:pathLst>
          </a:custGeom>
          <a:ln w="6273">
            <a:solidFill>
              <a:srgbClr val="000000"/>
            </a:solidFill>
          </a:ln>
        </p:spPr>
        <p:txBody>
          <a:bodyPr wrap="square" lIns="0" tIns="0" rIns="0" bIns="0" rtlCol="0"/>
          <a:lstStyle/>
          <a:p>
            <a:endParaRPr/>
          </a:p>
        </p:txBody>
      </p:sp>
      <p:sp>
        <p:nvSpPr>
          <p:cNvPr id="26" name="object 26"/>
          <p:cNvSpPr/>
          <p:nvPr/>
        </p:nvSpPr>
        <p:spPr>
          <a:xfrm>
            <a:off x="8238065" y="3074988"/>
            <a:ext cx="156845" cy="236854"/>
          </a:xfrm>
          <a:custGeom>
            <a:avLst/>
            <a:gdLst/>
            <a:ahLst/>
            <a:cxnLst/>
            <a:rect l="l" t="t" r="r" b="b"/>
            <a:pathLst>
              <a:path w="156845" h="236854">
                <a:moveTo>
                  <a:pt x="0" y="0"/>
                </a:moveTo>
                <a:lnTo>
                  <a:pt x="156633" y="0"/>
                </a:lnTo>
                <a:lnTo>
                  <a:pt x="156633" y="236537"/>
                </a:lnTo>
                <a:lnTo>
                  <a:pt x="0" y="236537"/>
                </a:lnTo>
                <a:lnTo>
                  <a:pt x="0" y="0"/>
                </a:lnTo>
                <a:close/>
              </a:path>
            </a:pathLst>
          </a:custGeom>
          <a:ln w="4156">
            <a:solidFill>
              <a:srgbClr val="AB1942"/>
            </a:solidFill>
          </a:ln>
        </p:spPr>
        <p:txBody>
          <a:bodyPr wrap="square" lIns="0" tIns="0" rIns="0" bIns="0" rtlCol="0"/>
          <a:lstStyle/>
          <a:p>
            <a:endParaRPr/>
          </a:p>
        </p:txBody>
      </p:sp>
      <p:sp>
        <p:nvSpPr>
          <p:cNvPr id="27" name="object 27"/>
          <p:cNvSpPr/>
          <p:nvPr/>
        </p:nvSpPr>
        <p:spPr>
          <a:xfrm>
            <a:off x="9406466" y="2016125"/>
            <a:ext cx="1642745" cy="473075"/>
          </a:xfrm>
          <a:custGeom>
            <a:avLst/>
            <a:gdLst/>
            <a:ahLst/>
            <a:cxnLst/>
            <a:rect l="l" t="t" r="r" b="b"/>
            <a:pathLst>
              <a:path w="1642745" h="473075">
                <a:moveTo>
                  <a:pt x="0" y="0"/>
                </a:moveTo>
                <a:lnTo>
                  <a:pt x="1642532" y="0"/>
                </a:lnTo>
                <a:lnTo>
                  <a:pt x="1642532" y="473075"/>
                </a:lnTo>
                <a:lnTo>
                  <a:pt x="0" y="473075"/>
                </a:lnTo>
                <a:lnTo>
                  <a:pt x="0" y="0"/>
                </a:lnTo>
                <a:close/>
              </a:path>
            </a:pathLst>
          </a:custGeom>
          <a:solidFill>
            <a:srgbClr val="FFFED5"/>
          </a:solidFill>
        </p:spPr>
        <p:txBody>
          <a:bodyPr wrap="square" lIns="0" tIns="0" rIns="0" bIns="0" rtlCol="0"/>
          <a:lstStyle/>
          <a:p>
            <a:endParaRPr/>
          </a:p>
        </p:txBody>
      </p:sp>
      <p:sp>
        <p:nvSpPr>
          <p:cNvPr id="28" name="object 28"/>
          <p:cNvSpPr/>
          <p:nvPr/>
        </p:nvSpPr>
        <p:spPr>
          <a:xfrm>
            <a:off x="9406465" y="2016125"/>
            <a:ext cx="1642745" cy="473075"/>
          </a:xfrm>
          <a:custGeom>
            <a:avLst/>
            <a:gdLst/>
            <a:ahLst/>
            <a:cxnLst/>
            <a:rect l="l" t="t" r="r" b="b"/>
            <a:pathLst>
              <a:path w="1642745" h="473075">
                <a:moveTo>
                  <a:pt x="0" y="0"/>
                </a:moveTo>
                <a:lnTo>
                  <a:pt x="1642532" y="0"/>
                </a:lnTo>
                <a:lnTo>
                  <a:pt x="1642532" y="473074"/>
                </a:lnTo>
                <a:lnTo>
                  <a:pt x="0" y="473074"/>
                </a:lnTo>
                <a:lnTo>
                  <a:pt x="0" y="0"/>
                </a:lnTo>
                <a:close/>
              </a:path>
            </a:pathLst>
          </a:custGeom>
          <a:ln w="4156">
            <a:solidFill>
              <a:srgbClr val="AB1942"/>
            </a:solidFill>
          </a:ln>
        </p:spPr>
        <p:txBody>
          <a:bodyPr wrap="square" lIns="0" tIns="0" rIns="0" bIns="0" rtlCol="0"/>
          <a:lstStyle/>
          <a:p>
            <a:endParaRPr/>
          </a:p>
        </p:txBody>
      </p:sp>
      <p:sp>
        <p:nvSpPr>
          <p:cNvPr id="29" name="object 29"/>
          <p:cNvSpPr/>
          <p:nvPr/>
        </p:nvSpPr>
        <p:spPr>
          <a:xfrm>
            <a:off x="9673166" y="2274888"/>
            <a:ext cx="889000" cy="0"/>
          </a:xfrm>
          <a:custGeom>
            <a:avLst/>
            <a:gdLst/>
            <a:ahLst/>
            <a:cxnLst/>
            <a:rect l="l" t="t" r="r" b="b"/>
            <a:pathLst>
              <a:path w="889000">
                <a:moveTo>
                  <a:pt x="0" y="0"/>
                </a:moveTo>
                <a:lnTo>
                  <a:pt x="889000" y="0"/>
                </a:lnTo>
              </a:path>
            </a:pathLst>
          </a:custGeom>
          <a:ln w="12700">
            <a:solidFill>
              <a:srgbClr val="000000"/>
            </a:solidFill>
          </a:ln>
        </p:spPr>
        <p:txBody>
          <a:bodyPr wrap="square" lIns="0" tIns="0" rIns="0" bIns="0" rtlCol="0"/>
          <a:lstStyle/>
          <a:p>
            <a:endParaRPr/>
          </a:p>
        </p:txBody>
      </p:sp>
      <p:sp>
        <p:nvSpPr>
          <p:cNvPr id="30" name="object 30"/>
          <p:cNvSpPr/>
          <p:nvPr/>
        </p:nvSpPr>
        <p:spPr>
          <a:xfrm>
            <a:off x="10156824" y="2487122"/>
            <a:ext cx="0" cy="1423035"/>
          </a:xfrm>
          <a:custGeom>
            <a:avLst/>
            <a:gdLst/>
            <a:ahLst/>
            <a:cxnLst/>
            <a:rect l="l" t="t" r="r" b="b"/>
            <a:pathLst>
              <a:path h="1423035">
                <a:moveTo>
                  <a:pt x="0" y="0"/>
                </a:moveTo>
                <a:lnTo>
                  <a:pt x="0" y="1422891"/>
                </a:lnTo>
              </a:path>
            </a:pathLst>
          </a:custGeom>
          <a:ln w="6273">
            <a:solidFill>
              <a:srgbClr val="000000"/>
            </a:solidFill>
          </a:ln>
        </p:spPr>
        <p:txBody>
          <a:bodyPr wrap="square" lIns="0" tIns="0" rIns="0" bIns="0" rtlCol="0"/>
          <a:lstStyle/>
          <a:p>
            <a:endParaRPr/>
          </a:p>
        </p:txBody>
      </p:sp>
      <p:sp>
        <p:nvSpPr>
          <p:cNvPr id="31" name="object 31"/>
          <p:cNvSpPr/>
          <p:nvPr/>
        </p:nvSpPr>
        <p:spPr>
          <a:xfrm>
            <a:off x="10156824" y="4781551"/>
            <a:ext cx="0" cy="986790"/>
          </a:xfrm>
          <a:custGeom>
            <a:avLst/>
            <a:gdLst/>
            <a:ahLst/>
            <a:cxnLst/>
            <a:rect l="l" t="t" r="r" b="b"/>
            <a:pathLst>
              <a:path h="986789">
                <a:moveTo>
                  <a:pt x="0" y="0"/>
                </a:moveTo>
                <a:lnTo>
                  <a:pt x="0" y="986326"/>
                </a:lnTo>
              </a:path>
            </a:pathLst>
          </a:custGeom>
          <a:ln w="6273">
            <a:solidFill>
              <a:srgbClr val="000000"/>
            </a:solidFill>
          </a:ln>
        </p:spPr>
        <p:txBody>
          <a:bodyPr wrap="square" lIns="0" tIns="0" rIns="0" bIns="0" rtlCol="0"/>
          <a:lstStyle/>
          <a:p>
            <a:endParaRPr/>
          </a:p>
        </p:txBody>
      </p:sp>
      <p:sp>
        <p:nvSpPr>
          <p:cNvPr id="32" name="object 32"/>
          <p:cNvSpPr/>
          <p:nvPr/>
        </p:nvSpPr>
        <p:spPr>
          <a:xfrm>
            <a:off x="10077448" y="3910013"/>
            <a:ext cx="156845" cy="871855"/>
          </a:xfrm>
          <a:custGeom>
            <a:avLst/>
            <a:gdLst/>
            <a:ahLst/>
            <a:cxnLst/>
            <a:rect l="l" t="t" r="r" b="b"/>
            <a:pathLst>
              <a:path w="156845" h="871854">
                <a:moveTo>
                  <a:pt x="0" y="0"/>
                </a:moveTo>
                <a:lnTo>
                  <a:pt x="156633" y="0"/>
                </a:lnTo>
                <a:lnTo>
                  <a:pt x="156633" y="871537"/>
                </a:lnTo>
                <a:lnTo>
                  <a:pt x="0" y="871537"/>
                </a:lnTo>
                <a:lnTo>
                  <a:pt x="0" y="0"/>
                </a:lnTo>
                <a:close/>
              </a:path>
            </a:pathLst>
          </a:custGeom>
          <a:ln w="4156">
            <a:solidFill>
              <a:srgbClr val="AB1942"/>
            </a:solidFill>
          </a:ln>
        </p:spPr>
        <p:txBody>
          <a:bodyPr wrap="square" lIns="0" tIns="0" rIns="0" bIns="0" rtlCol="0"/>
          <a:lstStyle/>
          <a:p>
            <a:endParaRPr/>
          </a:p>
        </p:txBody>
      </p:sp>
      <p:sp>
        <p:nvSpPr>
          <p:cNvPr id="33" name="object 33"/>
          <p:cNvSpPr/>
          <p:nvPr/>
        </p:nvSpPr>
        <p:spPr>
          <a:xfrm>
            <a:off x="4248148" y="2825750"/>
            <a:ext cx="1839595" cy="1905"/>
          </a:xfrm>
          <a:custGeom>
            <a:avLst/>
            <a:gdLst/>
            <a:ahLst/>
            <a:cxnLst/>
            <a:rect l="l" t="t" r="r" b="b"/>
            <a:pathLst>
              <a:path w="1839595" h="1905">
                <a:moveTo>
                  <a:pt x="0" y="0"/>
                </a:moveTo>
                <a:lnTo>
                  <a:pt x="1839382" y="1587"/>
                </a:lnTo>
              </a:path>
            </a:pathLst>
          </a:custGeom>
          <a:ln w="4156">
            <a:solidFill>
              <a:srgbClr val="AB1942"/>
            </a:solidFill>
          </a:ln>
        </p:spPr>
        <p:txBody>
          <a:bodyPr wrap="square" lIns="0" tIns="0" rIns="0" bIns="0" rtlCol="0"/>
          <a:lstStyle/>
          <a:p>
            <a:endParaRPr/>
          </a:p>
        </p:txBody>
      </p:sp>
      <p:sp>
        <p:nvSpPr>
          <p:cNvPr id="34" name="object 34"/>
          <p:cNvSpPr/>
          <p:nvPr/>
        </p:nvSpPr>
        <p:spPr>
          <a:xfrm>
            <a:off x="6244166" y="3074988"/>
            <a:ext cx="1993900" cy="1905"/>
          </a:xfrm>
          <a:custGeom>
            <a:avLst/>
            <a:gdLst/>
            <a:ahLst/>
            <a:cxnLst/>
            <a:rect l="l" t="t" r="r" b="b"/>
            <a:pathLst>
              <a:path w="1993900" h="1905">
                <a:moveTo>
                  <a:pt x="0" y="0"/>
                </a:moveTo>
                <a:lnTo>
                  <a:pt x="1993899" y="1587"/>
                </a:lnTo>
              </a:path>
            </a:pathLst>
          </a:custGeom>
          <a:ln w="4156">
            <a:solidFill>
              <a:srgbClr val="AB1942"/>
            </a:solidFill>
          </a:ln>
        </p:spPr>
        <p:txBody>
          <a:bodyPr wrap="square" lIns="0" tIns="0" rIns="0" bIns="0" rtlCol="0"/>
          <a:lstStyle/>
          <a:p>
            <a:endParaRPr/>
          </a:p>
        </p:txBody>
      </p:sp>
      <p:sp>
        <p:nvSpPr>
          <p:cNvPr id="35" name="object 35"/>
          <p:cNvSpPr/>
          <p:nvPr/>
        </p:nvSpPr>
        <p:spPr>
          <a:xfrm>
            <a:off x="8066616" y="3074988"/>
            <a:ext cx="171450" cy="62230"/>
          </a:xfrm>
          <a:custGeom>
            <a:avLst/>
            <a:gdLst/>
            <a:ahLst/>
            <a:cxnLst/>
            <a:rect l="l" t="t" r="r" b="b"/>
            <a:pathLst>
              <a:path w="171450" h="62230">
                <a:moveTo>
                  <a:pt x="171449" y="0"/>
                </a:moveTo>
                <a:lnTo>
                  <a:pt x="0" y="61912"/>
                </a:lnTo>
              </a:path>
            </a:pathLst>
          </a:custGeom>
          <a:ln w="11112">
            <a:solidFill>
              <a:srgbClr val="AB1942"/>
            </a:solidFill>
          </a:ln>
        </p:spPr>
        <p:txBody>
          <a:bodyPr wrap="square" lIns="0" tIns="0" rIns="0" bIns="0" rtlCol="0"/>
          <a:lstStyle/>
          <a:p>
            <a:endParaRPr/>
          </a:p>
        </p:txBody>
      </p:sp>
      <p:sp>
        <p:nvSpPr>
          <p:cNvPr id="36" name="object 36"/>
          <p:cNvSpPr/>
          <p:nvPr/>
        </p:nvSpPr>
        <p:spPr>
          <a:xfrm>
            <a:off x="8066616" y="3013075"/>
            <a:ext cx="171450" cy="62230"/>
          </a:xfrm>
          <a:custGeom>
            <a:avLst/>
            <a:gdLst/>
            <a:ahLst/>
            <a:cxnLst/>
            <a:rect l="l" t="t" r="r" b="b"/>
            <a:pathLst>
              <a:path w="171450" h="62230">
                <a:moveTo>
                  <a:pt x="171449" y="61912"/>
                </a:moveTo>
                <a:lnTo>
                  <a:pt x="0" y="0"/>
                </a:lnTo>
              </a:path>
            </a:pathLst>
          </a:custGeom>
          <a:ln w="11112">
            <a:solidFill>
              <a:srgbClr val="AB1942"/>
            </a:solidFill>
          </a:ln>
        </p:spPr>
        <p:txBody>
          <a:bodyPr wrap="square" lIns="0" tIns="0" rIns="0" bIns="0" rtlCol="0"/>
          <a:lstStyle/>
          <a:p>
            <a:endParaRPr/>
          </a:p>
        </p:txBody>
      </p:sp>
      <p:sp>
        <p:nvSpPr>
          <p:cNvPr id="37" name="object 37"/>
          <p:cNvSpPr/>
          <p:nvPr/>
        </p:nvSpPr>
        <p:spPr>
          <a:xfrm>
            <a:off x="4248148" y="3910013"/>
            <a:ext cx="5829300" cy="1905"/>
          </a:xfrm>
          <a:custGeom>
            <a:avLst/>
            <a:gdLst/>
            <a:ahLst/>
            <a:cxnLst/>
            <a:rect l="l" t="t" r="r" b="b"/>
            <a:pathLst>
              <a:path w="5829300" h="1904">
                <a:moveTo>
                  <a:pt x="0" y="0"/>
                </a:moveTo>
                <a:lnTo>
                  <a:pt x="5829298" y="1588"/>
                </a:lnTo>
              </a:path>
            </a:pathLst>
          </a:custGeom>
          <a:ln w="4156">
            <a:solidFill>
              <a:srgbClr val="AB1942"/>
            </a:solidFill>
          </a:ln>
        </p:spPr>
        <p:txBody>
          <a:bodyPr wrap="square" lIns="0" tIns="0" rIns="0" bIns="0" rtlCol="0"/>
          <a:lstStyle/>
          <a:p>
            <a:endParaRPr/>
          </a:p>
        </p:txBody>
      </p:sp>
      <p:sp>
        <p:nvSpPr>
          <p:cNvPr id="38" name="object 38"/>
          <p:cNvSpPr/>
          <p:nvPr/>
        </p:nvSpPr>
        <p:spPr>
          <a:xfrm>
            <a:off x="9891181" y="3910013"/>
            <a:ext cx="186690" cy="62230"/>
          </a:xfrm>
          <a:custGeom>
            <a:avLst/>
            <a:gdLst/>
            <a:ahLst/>
            <a:cxnLst/>
            <a:rect l="l" t="t" r="r" b="b"/>
            <a:pathLst>
              <a:path w="186690" h="62229">
                <a:moveTo>
                  <a:pt x="186266" y="0"/>
                </a:moveTo>
                <a:lnTo>
                  <a:pt x="0" y="61913"/>
                </a:lnTo>
              </a:path>
            </a:pathLst>
          </a:custGeom>
          <a:ln w="11112">
            <a:solidFill>
              <a:srgbClr val="AB1942"/>
            </a:solidFill>
          </a:ln>
        </p:spPr>
        <p:txBody>
          <a:bodyPr wrap="square" lIns="0" tIns="0" rIns="0" bIns="0" rtlCol="0"/>
          <a:lstStyle/>
          <a:p>
            <a:endParaRPr/>
          </a:p>
        </p:txBody>
      </p:sp>
      <p:sp>
        <p:nvSpPr>
          <p:cNvPr id="39" name="object 39"/>
          <p:cNvSpPr/>
          <p:nvPr/>
        </p:nvSpPr>
        <p:spPr>
          <a:xfrm>
            <a:off x="9891181" y="3846513"/>
            <a:ext cx="186690" cy="63500"/>
          </a:xfrm>
          <a:custGeom>
            <a:avLst/>
            <a:gdLst/>
            <a:ahLst/>
            <a:cxnLst/>
            <a:rect l="l" t="t" r="r" b="b"/>
            <a:pathLst>
              <a:path w="186690" h="63500">
                <a:moveTo>
                  <a:pt x="186266" y="63499"/>
                </a:moveTo>
                <a:lnTo>
                  <a:pt x="0" y="0"/>
                </a:lnTo>
              </a:path>
            </a:pathLst>
          </a:custGeom>
          <a:ln w="11112">
            <a:solidFill>
              <a:srgbClr val="AB1942"/>
            </a:solidFill>
          </a:ln>
        </p:spPr>
        <p:txBody>
          <a:bodyPr wrap="square" lIns="0" tIns="0" rIns="0" bIns="0" rtlCol="0"/>
          <a:lstStyle/>
          <a:p>
            <a:endParaRPr/>
          </a:p>
        </p:txBody>
      </p:sp>
      <p:sp>
        <p:nvSpPr>
          <p:cNvPr id="40" name="object 40"/>
          <p:cNvSpPr/>
          <p:nvPr/>
        </p:nvSpPr>
        <p:spPr>
          <a:xfrm>
            <a:off x="4326467" y="4221164"/>
            <a:ext cx="5751195" cy="1905"/>
          </a:xfrm>
          <a:custGeom>
            <a:avLst/>
            <a:gdLst/>
            <a:ahLst/>
            <a:cxnLst/>
            <a:rect l="l" t="t" r="r" b="b"/>
            <a:pathLst>
              <a:path w="5751195" h="1904">
                <a:moveTo>
                  <a:pt x="5750981" y="0"/>
                </a:moveTo>
                <a:lnTo>
                  <a:pt x="0" y="1588"/>
                </a:lnTo>
              </a:path>
            </a:pathLst>
          </a:custGeom>
          <a:ln w="4156">
            <a:solidFill>
              <a:srgbClr val="AB1942"/>
            </a:solidFill>
          </a:ln>
        </p:spPr>
        <p:txBody>
          <a:bodyPr wrap="square" lIns="0" tIns="0" rIns="0" bIns="0" rtlCol="0"/>
          <a:lstStyle/>
          <a:p>
            <a:endParaRPr/>
          </a:p>
        </p:txBody>
      </p:sp>
      <p:sp>
        <p:nvSpPr>
          <p:cNvPr id="41" name="object 41"/>
          <p:cNvSpPr/>
          <p:nvPr/>
        </p:nvSpPr>
        <p:spPr>
          <a:xfrm>
            <a:off x="4326466" y="4221164"/>
            <a:ext cx="171450" cy="62230"/>
          </a:xfrm>
          <a:custGeom>
            <a:avLst/>
            <a:gdLst/>
            <a:ahLst/>
            <a:cxnLst/>
            <a:rect l="l" t="t" r="r" b="b"/>
            <a:pathLst>
              <a:path w="171450" h="62229">
                <a:moveTo>
                  <a:pt x="0" y="0"/>
                </a:moveTo>
                <a:lnTo>
                  <a:pt x="171449" y="61913"/>
                </a:lnTo>
              </a:path>
            </a:pathLst>
          </a:custGeom>
          <a:ln w="11112">
            <a:solidFill>
              <a:srgbClr val="AB1942"/>
            </a:solidFill>
          </a:ln>
        </p:spPr>
        <p:txBody>
          <a:bodyPr wrap="square" lIns="0" tIns="0" rIns="0" bIns="0" rtlCol="0"/>
          <a:lstStyle/>
          <a:p>
            <a:endParaRPr/>
          </a:p>
        </p:txBody>
      </p:sp>
      <p:sp>
        <p:nvSpPr>
          <p:cNvPr id="42" name="object 42"/>
          <p:cNvSpPr/>
          <p:nvPr/>
        </p:nvSpPr>
        <p:spPr>
          <a:xfrm>
            <a:off x="4326466" y="4170364"/>
            <a:ext cx="171450" cy="50800"/>
          </a:xfrm>
          <a:custGeom>
            <a:avLst/>
            <a:gdLst/>
            <a:ahLst/>
            <a:cxnLst/>
            <a:rect l="l" t="t" r="r" b="b"/>
            <a:pathLst>
              <a:path w="171450" h="50800">
                <a:moveTo>
                  <a:pt x="0" y="50799"/>
                </a:moveTo>
                <a:lnTo>
                  <a:pt x="171449" y="0"/>
                </a:lnTo>
              </a:path>
            </a:pathLst>
          </a:custGeom>
          <a:ln w="11112">
            <a:solidFill>
              <a:srgbClr val="AB1942"/>
            </a:solidFill>
          </a:ln>
        </p:spPr>
        <p:txBody>
          <a:bodyPr wrap="square" lIns="0" tIns="0" rIns="0" bIns="0" rtlCol="0"/>
          <a:lstStyle/>
          <a:p>
            <a:endParaRPr/>
          </a:p>
        </p:txBody>
      </p:sp>
      <p:sp>
        <p:nvSpPr>
          <p:cNvPr id="43" name="object 43"/>
          <p:cNvSpPr/>
          <p:nvPr/>
        </p:nvSpPr>
        <p:spPr>
          <a:xfrm>
            <a:off x="4326467" y="4730750"/>
            <a:ext cx="5751195" cy="1905"/>
          </a:xfrm>
          <a:custGeom>
            <a:avLst/>
            <a:gdLst/>
            <a:ahLst/>
            <a:cxnLst/>
            <a:rect l="l" t="t" r="r" b="b"/>
            <a:pathLst>
              <a:path w="5751195" h="1904">
                <a:moveTo>
                  <a:pt x="5750981" y="0"/>
                </a:moveTo>
                <a:lnTo>
                  <a:pt x="0" y="1588"/>
                </a:lnTo>
              </a:path>
            </a:pathLst>
          </a:custGeom>
          <a:ln w="4156">
            <a:solidFill>
              <a:srgbClr val="AB1942"/>
            </a:solidFill>
          </a:ln>
        </p:spPr>
        <p:txBody>
          <a:bodyPr wrap="square" lIns="0" tIns="0" rIns="0" bIns="0" rtlCol="0"/>
          <a:lstStyle/>
          <a:p>
            <a:endParaRPr/>
          </a:p>
        </p:txBody>
      </p:sp>
      <p:sp>
        <p:nvSpPr>
          <p:cNvPr id="44" name="object 44"/>
          <p:cNvSpPr/>
          <p:nvPr/>
        </p:nvSpPr>
        <p:spPr>
          <a:xfrm>
            <a:off x="4326466" y="4730750"/>
            <a:ext cx="171450" cy="63500"/>
          </a:xfrm>
          <a:custGeom>
            <a:avLst/>
            <a:gdLst/>
            <a:ahLst/>
            <a:cxnLst/>
            <a:rect l="l" t="t" r="r" b="b"/>
            <a:pathLst>
              <a:path w="171450" h="63500">
                <a:moveTo>
                  <a:pt x="0" y="0"/>
                </a:moveTo>
                <a:lnTo>
                  <a:pt x="171449" y="63499"/>
                </a:lnTo>
              </a:path>
            </a:pathLst>
          </a:custGeom>
          <a:ln w="11112">
            <a:solidFill>
              <a:srgbClr val="AB1942"/>
            </a:solidFill>
          </a:ln>
        </p:spPr>
        <p:txBody>
          <a:bodyPr wrap="square" lIns="0" tIns="0" rIns="0" bIns="0" rtlCol="0"/>
          <a:lstStyle/>
          <a:p>
            <a:endParaRPr/>
          </a:p>
        </p:txBody>
      </p:sp>
      <p:sp>
        <p:nvSpPr>
          <p:cNvPr id="45" name="object 45"/>
          <p:cNvSpPr/>
          <p:nvPr/>
        </p:nvSpPr>
        <p:spPr>
          <a:xfrm>
            <a:off x="4326466" y="4668838"/>
            <a:ext cx="171450" cy="62230"/>
          </a:xfrm>
          <a:custGeom>
            <a:avLst/>
            <a:gdLst/>
            <a:ahLst/>
            <a:cxnLst/>
            <a:rect l="l" t="t" r="r" b="b"/>
            <a:pathLst>
              <a:path w="171450" h="62229">
                <a:moveTo>
                  <a:pt x="0" y="61913"/>
                </a:moveTo>
                <a:lnTo>
                  <a:pt x="171449" y="0"/>
                </a:lnTo>
              </a:path>
            </a:pathLst>
          </a:custGeom>
          <a:ln w="11112">
            <a:solidFill>
              <a:srgbClr val="AB1942"/>
            </a:solidFill>
          </a:ln>
        </p:spPr>
        <p:txBody>
          <a:bodyPr wrap="square" lIns="0" tIns="0" rIns="0" bIns="0" rtlCol="0"/>
          <a:lstStyle/>
          <a:p>
            <a:endParaRPr/>
          </a:p>
        </p:txBody>
      </p:sp>
      <p:sp>
        <p:nvSpPr>
          <p:cNvPr id="46" name="object 46"/>
          <p:cNvSpPr txBox="1"/>
          <p:nvPr/>
        </p:nvSpPr>
        <p:spPr>
          <a:xfrm>
            <a:off x="1710689" y="2062362"/>
            <a:ext cx="8864600" cy="2653665"/>
          </a:xfrm>
          <a:prstGeom prst="rect">
            <a:avLst/>
          </a:prstGeom>
        </p:spPr>
        <p:txBody>
          <a:bodyPr vert="horz" wrap="square" lIns="0" tIns="0" rIns="0" bIns="0" rtlCol="0">
            <a:spAutoFit/>
          </a:bodyPr>
          <a:lstStyle/>
          <a:p>
            <a:pPr marL="2069465">
              <a:lnSpc>
                <a:spcPts val="1700"/>
              </a:lnSpc>
              <a:tabLst>
                <a:tab pos="3830320" algn="l"/>
                <a:tab pos="6198870" algn="l"/>
                <a:tab pos="7962265" algn="l"/>
              </a:tabLst>
            </a:pPr>
            <a:r>
              <a:rPr sz="1600" dirty="0">
                <a:latin typeface="Calibri" panose="020F0502020204030204"/>
                <a:cs typeface="Calibri" panose="020F0502020204030204"/>
              </a:rPr>
              <a:t>an O</a:t>
            </a:r>
            <a:r>
              <a:rPr sz="1600" spc="-5" dirty="0">
                <a:latin typeface="Calibri" panose="020F0502020204030204"/>
                <a:cs typeface="Calibri" panose="020F0502020204030204"/>
              </a:rPr>
              <a:t>r</a:t>
            </a:r>
            <a:r>
              <a:rPr sz="1600" dirty="0">
                <a:latin typeface="Calibri" panose="020F0502020204030204"/>
                <a:cs typeface="Calibri" panose="020F0502020204030204"/>
              </a:rPr>
              <a:t>der	An O</a:t>
            </a:r>
            <a:r>
              <a:rPr sz="1600" spc="-5" dirty="0">
                <a:latin typeface="Calibri" panose="020F0502020204030204"/>
                <a:cs typeface="Calibri" panose="020F0502020204030204"/>
              </a:rPr>
              <a:t>r</a:t>
            </a:r>
            <a:r>
              <a:rPr sz="1600" dirty="0">
                <a:latin typeface="Calibri" panose="020F0502020204030204"/>
                <a:cs typeface="Calibri" panose="020F0502020204030204"/>
              </a:rPr>
              <a:t>der Line	a</a:t>
            </a:r>
            <a:r>
              <a:rPr sz="1600" spc="-5" dirty="0">
                <a:latin typeface="Calibri" panose="020F0502020204030204"/>
                <a:cs typeface="Calibri" panose="020F0502020204030204"/>
              </a:rPr>
              <a:t>Pro</a:t>
            </a:r>
            <a:r>
              <a:rPr sz="1600" dirty="0">
                <a:latin typeface="Calibri" panose="020F0502020204030204"/>
                <a:cs typeface="Calibri" panose="020F0502020204030204"/>
              </a:rPr>
              <a:t>duct	aCustomer</a:t>
            </a:r>
            <a:endParaRPr sz="1600">
              <a:latin typeface="Calibri" panose="020F0502020204030204"/>
              <a:cs typeface="Calibri" panose="020F0502020204030204"/>
            </a:endParaRPr>
          </a:p>
          <a:p>
            <a:pPr>
              <a:lnSpc>
                <a:spcPts val="1540"/>
              </a:lnSpc>
            </a:pPr>
            <a:r>
              <a:rPr sz="1400" b="1" spc="-5" dirty="0">
                <a:latin typeface="Arial" panose="020B0604020202020204"/>
                <a:cs typeface="Arial" panose="020B0604020202020204"/>
              </a:rPr>
              <a:t>CalculatePrice</a:t>
            </a:r>
            <a:endParaRPr sz="1400">
              <a:latin typeface="Arial" panose="020B0604020202020204"/>
              <a:cs typeface="Arial" panose="020B0604020202020204"/>
            </a:endParaRPr>
          </a:p>
          <a:p>
            <a:pPr marL="2693670">
              <a:lnSpc>
                <a:spcPts val="1890"/>
              </a:lnSpc>
              <a:spcBef>
                <a:spcPts val="710"/>
              </a:spcBef>
            </a:pPr>
            <a:r>
              <a:rPr sz="1600" dirty="0">
                <a:latin typeface="华文新魏" panose="02010800040101010101" charset="-122"/>
                <a:cs typeface="华文新魏" panose="02010800040101010101" charset="-122"/>
              </a:rPr>
              <a:t>1.</a:t>
            </a:r>
            <a:r>
              <a:rPr sz="1600" spc="-5" dirty="0">
                <a:latin typeface="华文新魏" panose="02010800040101010101" charset="-122"/>
                <a:cs typeface="华文新魏" panose="02010800040101010101" charset="-122"/>
              </a:rPr>
              <a:t> </a:t>
            </a:r>
            <a:r>
              <a:rPr sz="1600" spc="-5" dirty="0">
                <a:latin typeface="Calibri" panose="020F0502020204030204"/>
                <a:cs typeface="Calibri" panose="020F0502020204030204"/>
              </a:rPr>
              <a:t>calculatePrice</a:t>
            </a:r>
            <a:endParaRPr sz="1600">
              <a:latin typeface="Calibri" panose="020F0502020204030204"/>
              <a:cs typeface="Calibri" panose="020F0502020204030204"/>
            </a:endParaRPr>
          </a:p>
          <a:p>
            <a:pPr marL="4158615">
              <a:lnSpc>
                <a:spcPts val="1890"/>
              </a:lnSpc>
            </a:pPr>
            <a:r>
              <a:rPr sz="1600" dirty="0">
                <a:latin typeface="华文新魏" panose="02010800040101010101" charset="-122"/>
                <a:cs typeface="华文新魏" panose="02010800040101010101" charset="-122"/>
              </a:rPr>
              <a:t>1.1.</a:t>
            </a:r>
            <a:r>
              <a:rPr sz="1600" spc="-5" dirty="0">
                <a:latin typeface="华文新魏" panose="02010800040101010101" charset="-122"/>
                <a:cs typeface="华文新魏" panose="02010800040101010101" charset="-122"/>
              </a:rPr>
              <a:t> </a:t>
            </a:r>
            <a:r>
              <a:rPr sz="1600" spc="-5" dirty="0">
                <a:latin typeface="Calibri" panose="020F0502020204030204"/>
                <a:cs typeface="Calibri" panose="020F0502020204030204"/>
              </a:rPr>
              <a:t>getPrice(quantity:number)</a:t>
            </a:r>
            <a:endParaRPr sz="1600">
              <a:latin typeface="Calibri" panose="020F0502020204030204"/>
              <a:cs typeface="Calibri" panose="020F0502020204030204"/>
            </a:endParaRPr>
          </a:p>
          <a:p>
            <a:pPr>
              <a:lnSpc>
                <a:spcPct val="100000"/>
              </a:lnSpc>
            </a:pPr>
            <a:endParaRPr sz="1900">
              <a:latin typeface="Times New Roman" panose="02020603050405020304"/>
              <a:cs typeface="Times New Roman" panose="02020603050405020304"/>
            </a:endParaRPr>
          </a:p>
          <a:p>
            <a:pPr>
              <a:lnSpc>
                <a:spcPct val="100000"/>
              </a:lnSpc>
              <a:spcBef>
                <a:spcPts val="55"/>
              </a:spcBef>
            </a:pPr>
            <a:endParaRPr sz="2100">
              <a:latin typeface="Times New Roman" panose="02020603050405020304"/>
              <a:cs typeface="Times New Roman" panose="02020603050405020304"/>
            </a:endParaRPr>
          </a:p>
          <a:p>
            <a:pPr marL="3970020">
              <a:lnSpc>
                <a:spcPct val="100000"/>
              </a:lnSpc>
            </a:pPr>
            <a:r>
              <a:rPr sz="1600" dirty="0">
                <a:latin typeface="华文新魏" panose="02010800040101010101" charset="-122"/>
                <a:cs typeface="华文新魏" panose="02010800040101010101" charset="-122"/>
              </a:rPr>
              <a:t>2. </a:t>
            </a:r>
            <a:r>
              <a:rPr sz="1600" spc="-5" dirty="0">
                <a:latin typeface="Calibri" panose="020F0502020204030204"/>
                <a:cs typeface="Calibri" panose="020F0502020204030204"/>
              </a:rPr>
              <a:t>getDiscountedValue(an Order)</a:t>
            </a:r>
            <a:endParaRPr sz="1600">
              <a:latin typeface="Calibri" panose="020F0502020204030204"/>
              <a:cs typeface="Calibri" panose="020F0502020204030204"/>
            </a:endParaRPr>
          </a:p>
          <a:p>
            <a:pPr marL="4655820">
              <a:lnSpc>
                <a:spcPct val="100000"/>
              </a:lnSpc>
              <a:spcBef>
                <a:spcPts val="530"/>
              </a:spcBef>
            </a:pPr>
            <a:r>
              <a:rPr sz="1600" dirty="0">
                <a:latin typeface="华文新魏" panose="02010800040101010101" charset="-122"/>
                <a:cs typeface="华文新魏" panose="02010800040101010101" charset="-122"/>
              </a:rPr>
              <a:t>2.1.</a:t>
            </a:r>
            <a:r>
              <a:rPr sz="1600" spc="-5" dirty="0">
                <a:latin typeface="华文新魏" panose="02010800040101010101" charset="-122"/>
                <a:cs typeface="华文新魏" panose="02010800040101010101" charset="-122"/>
              </a:rPr>
              <a:t> </a:t>
            </a:r>
            <a:r>
              <a:rPr sz="1600" spc="-5" dirty="0">
                <a:latin typeface="Calibri" panose="020F0502020204030204"/>
                <a:cs typeface="Calibri" panose="020F0502020204030204"/>
              </a:rPr>
              <a:t>getBaseValue</a:t>
            </a:r>
            <a:endParaRPr sz="1600">
              <a:latin typeface="Calibri" panose="020F0502020204030204"/>
              <a:cs typeface="Calibri" panose="020F0502020204030204"/>
            </a:endParaRPr>
          </a:p>
          <a:p>
            <a:pPr>
              <a:lnSpc>
                <a:spcPct val="100000"/>
              </a:lnSpc>
              <a:spcBef>
                <a:spcPts val="35"/>
              </a:spcBef>
            </a:pPr>
            <a:endParaRPr sz="1800">
              <a:latin typeface="Times New Roman" panose="02020603050405020304"/>
              <a:cs typeface="Times New Roman" panose="02020603050405020304"/>
            </a:endParaRPr>
          </a:p>
          <a:p>
            <a:pPr marL="4547870">
              <a:lnSpc>
                <a:spcPct val="100000"/>
              </a:lnSpc>
            </a:pPr>
            <a:r>
              <a:rPr sz="1600" dirty="0">
                <a:latin typeface="华文新魏" panose="02010800040101010101" charset="-122"/>
                <a:cs typeface="华文新魏" panose="02010800040101010101" charset="-122"/>
              </a:rPr>
              <a:t>2.2.</a:t>
            </a:r>
            <a:r>
              <a:rPr sz="1600" spc="-10" dirty="0">
                <a:latin typeface="华文新魏" panose="02010800040101010101" charset="-122"/>
                <a:cs typeface="华文新魏" panose="02010800040101010101" charset="-122"/>
              </a:rPr>
              <a:t> </a:t>
            </a:r>
            <a:r>
              <a:rPr sz="1600" spc="-5" dirty="0">
                <a:latin typeface="Calibri" panose="020F0502020204030204"/>
                <a:cs typeface="Calibri" panose="020F0502020204030204"/>
              </a:rPr>
              <a:t>discountedValue</a:t>
            </a:r>
            <a:endParaRPr sz="1600">
              <a:latin typeface="Calibri" panose="020F0502020204030204"/>
              <a:cs typeface="Calibri" panose="020F0502020204030204"/>
            </a:endParaRPr>
          </a:p>
        </p:txBody>
      </p:sp>
      <p:sp>
        <p:nvSpPr>
          <p:cNvPr id="47" name="object 47"/>
          <p:cNvSpPr/>
          <p:nvPr/>
        </p:nvSpPr>
        <p:spPr>
          <a:xfrm>
            <a:off x="119062" y="1125538"/>
            <a:ext cx="11715748" cy="4954585"/>
          </a:xfrm>
          <a:prstGeom prst="rect">
            <a:avLst/>
          </a:prstGeom>
          <a:blipFill>
            <a:blip r:embed="rId4" cstate="print"/>
            <a:stretch>
              <a:fillRect/>
            </a:stretch>
          </a:blipFill>
        </p:spPr>
        <p:txBody>
          <a:bodyPr wrap="square" lIns="0" tIns="0" rIns="0" bIns="0" rtlCol="0"/>
          <a:lstStyle/>
          <a:p>
            <a:endParaRPr/>
          </a:p>
        </p:txBody>
      </p:sp>
      <p:sp>
        <p:nvSpPr>
          <p:cNvPr id="49" name="灯片编号占位符 48"/>
          <p:cNvSpPr>
            <a:spLocks noGrp="1"/>
          </p:cNvSpPr>
          <p:nvPr>
            <p:ph type="sldNum" sz="quarter" idx="7"/>
          </p:nvPr>
        </p:nvSpPr>
        <p:spPr/>
        <p:txBody>
          <a:bodyPr/>
          <a:lstStyle/>
          <a:p>
            <a:fld id="{B6F15528-21DE-4FAA-801E-634DDDAF4B2B}" type="slidenum">
              <a:rPr lang="en-US" altLang="zh-CN" smtClean="0"/>
              <a:t>59</a:t>
            </a:fld>
            <a:endParaRPr lang="en-US" altLang="zh-CN"/>
          </a:p>
        </p:txBody>
      </p:sp>
      <p:sp>
        <p:nvSpPr>
          <p:cNvPr id="3" name="墨迹 2"/>
          <p:cNvSpPr/>
          <p:nvPr/>
        </p:nvSpPr>
        <p:spPr bwMode="auto">
          <a:xfrm>
            <a:off x="2763000" y="3018600"/>
            <a:ext cx="1423080" cy="264600"/>
          </a:xfrm>
          <a:prstGeom prst="rect">
            <a:avLst/>
          </a:prstGeom>
        </p:spPr>
        <p:txBody>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48033"/>
    </mc:Choice>
    <mc:Fallback xmlns="">
      <p:transition spd="slow" advTm="4803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9"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md type="call" cmd="playFrom(0.0)">
                                      <p:cBhvr>
                                        <p:cTn id="7"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711200" y="1980883"/>
            <a:ext cx="10769600" cy="3398366"/>
          </a:xfrm>
          <a:prstGeom prst="rect">
            <a:avLst/>
          </a:prstGeom>
        </p:spPr>
        <p:txBody>
          <a:bodyPr vert="horz" wrap="square" lIns="0" tIns="12700" rIns="0" bIns="0" rtlCol="0">
            <a:spAutoFit/>
          </a:bodyPr>
          <a:lstStyle/>
          <a:p>
            <a:pPr marL="241300" indent="-228600">
              <a:lnSpc>
                <a:spcPct val="100000"/>
              </a:lnSpc>
              <a:spcBef>
                <a:spcPts val="10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新魏" panose="02010800040101010101" charset="-122"/>
              </a:rPr>
              <a:t>顺序图表达</a:t>
            </a:r>
            <a:r>
              <a:rPr sz="2800" b="1" spc="-5" dirty="0">
                <a:solidFill>
                  <a:srgbClr val="ED7D31"/>
                </a:solidFill>
                <a:latin typeface="微软雅黑" panose="020B0503020204020204" pitchFamily="34" charset="-122"/>
                <a:ea typeface="微软雅黑" panose="020B0503020204020204" pitchFamily="34" charset="-122"/>
                <a:cs typeface="华文新魏" panose="02010800040101010101" charset="-122"/>
              </a:rPr>
              <a:t>单个情景</a:t>
            </a:r>
            <a:r>
              <a:rPr sz="2800" dirty="0">
                <a:latin typeface="微软雅黑" panose="020B0503020204020204" pitchFamily="34" charset="-122"/>
                <a:ea typeface="微软雅黑" panose="020B0503020204020204" pitchFamily="34" charset="-122"/>
                <a:cs typeface="华文新魏" panose="02010800040101010101" charset="-122"/>
              </a:rPr>
              <a:t>实例的行为。</a:t>
            </a:r>
          </a:p>
          <a:p>
            <a:pPr marL="241300" indent="-228600">
              <a:lnSpc>
                <a:spcPct val="100000"/>
              </a:lnSpc>
              <a:spcBef>
                <a:spcPts val="242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新魏" panose="02010800040101010101" charset="-122"/>
              </a:rPr>
              <a:t>每个用例对应一个顺序图。</a:t>
            </a:r>
          </a:p>
          <a:p>
            <a:pPr marL="241300" indent="-228600">
              <a:lnSpc>
                <a:spcPct val="100000"/>
              </a:lnSpc>
              <a:spcBef>
                <a:spcPts val="242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新魏" panose="02010800040101010101" charset="-122"/>
              </a:rPr>
              <a:t>顺序图表达对象间如何</a:t>
            </a:r>
            <a:r>
              <a:rPr sz="2800" b="1" spc="-5" dirty="0">
                <a:solidFill>
                  <a:srgbClr val="ED7D31"/>
                </a:solidFill>
                <a:latin typeface="微软雅黑" panose="020B0503020204020204" pitchFamily="34" charset="-122"/>
                <a:ea typeface="微软雅黑" panose="020B0503020204020204" pitchFamily="34" charset="-122"/>
                <a:cs typeface="华文新魏" panose="02010800040101010101" charset="-122"/>
              </a:rPr>
              <a:t>协作</a:t>
            </a:r>
            <a:r>
              <a:rPr sz="2800" dirty="0">
                <a:latin typeface="微软雅黑" panose="020B0503020204020204" pitchFamily="34" charset="-122"/>
                <a:ea typeface="微软雅黑" panose="020B0503020204020204" pitchFamily="34" charset="-122"/>
                <a:cs typeface="华文新魏" panose="02010800040101010101" charset="-122"/>
              </a:rPr>
              <a:t>完成用例所描述的功能。</a:t>
            </a:r>
          </a:p>
          <a:p>
            <a:pPr marL="241300" indent="-228600">
              <a:lnSpc>
                <a:spcPct val="100000"/>
              </a:lnSpc>
              <a:spcBef>
                <a:spcPts val="242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新魏" panose="02010800040101010101" charset="-122"/>
              </a:rPr>
              <a:t>顺序图用于表示为完成用例而在系统边界输入输出的</a:t>
            </a:r>
            <a:r>
              <a:rPr sz="2800" b="1" spc="-5" dirty="0">
                <a:solidFill>
                  <a:srgbClr val="ED7D31"/>
                </a:solidFill>
                <a:latin typeface="微软雅黑" panose="020B0503020204020204" pitchFamily="34" charset="-122"/>
                <a:ea typeface="微软雅黑" panose="020B0503020204020204" pitchFamily="34" charset="-122"/>
                <a:cs typeface="华文新魏" panose="02010800040101010101" charset="-122"/>
              </a:rPr>
              <a:t>数据</a:t>
            </a:r>
            <a:r>
              <a:rPr sz="2800" dirty="0">
                <a:latin typeface="微软雅黑" panose="020B0503020204020204" pitchFamily="34" charset="-122"/>
                <a:ea typeface="微软雅黑" panose="020B0503020204020204" pitchFamily="34" charset="-122"/>
              </a:rPr>
              <a:t>以及</a:t>
            </a:r>
            <a:r>
              <a:rPr sz="2800" b="1" spc="-5" dirty="0">
                <a:solidFill>
                  <a:srgbClr val="ED7D31"/>
                </a:solidFill>
                <a:latin typeface="微软雅黑" panose="020B0503020204020204" pitchFamily="34" charset="-122"/>
                <a:ea typeface="微软雅黑" panose="020B0503020204020204" pitchFamily="34" charset="-122"/>
                <a:cs typeface="华文新魏" panose="02010800040101010101" charset="-122"/>
              </a:rPr>
              <a:t>消息</a:t>
            </a:r>
            <a:endParaRPr sz="2800" dirty="0">
              <a:latin typeface="微软雅黑" panose="020B0503020204020204" pitchFamily="34" charset="-122"/>
              <a:ea typeface="微软雅黑" panose="020B0503020204020204" pitchFamily="34" charset="-122"/>
              <a:cs typeface="华文新魏" panose="02010800040101010101" charset="-122"/>
            </a:endParaRPr>
          </a:p>
          <a:p>
            <a:pPr marL="241300" indent="-228600">
              <a:lnSpc>
                <a:spcPct val="100000"/>
              </a:lnSpc>
              <a:spcBef>
                <a:spcPts val="242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新魏" panose="02010800040101010101" charset="-122"/>
              </a:rPr>
              <a:t>顺序图也用于表示系统内部对象间的消息传递。</a:t>
            </a:r>
          </a:p>
        </p:txBody>
      </p:sp>
      <p:sp>
        <p:nvSpPr>
          <p:cNvPr id="7" name="标题 6"/>
          <p:cNvSpPr>
            <a:spLocks noGrp="1"/>
          </p:cNvSpPr>
          <p:nvPr>
            <p:ph type="title"/>
          </p:nvPr>
        </p:nvSpPr>
        <p:spPr/>
        <p:txBody>
          <a:bodyPr/>
          <a:lstStyle/>
          <a:p>
            <a:r>
              <a:rPr lang="zh-CN" altLang="en-US" spc="-5" dirty="0"/>
              <a:t>顺序图与用例的关系</a:t>
            </a:r>
            <a:r>
              <a:rPr lang="zh-CN" altLang="en-US" spc="-75" dirty="0"/>
              <a:t> </a:t>
            </a:r>
            <a:r>
              <a:rPr lang="en-US" altLang="zh-CN" dirty="0">
                <a:latin typeface="Calibri" panose="020F0502020204030204"/>
                <a:cs typeface="Calibri" panose="020F0502020204030204"/>
              </a:rPr>
              <a:t>I</a:t>
            </a:r>
            <a:endParaRPr lang="zh-CN" altLang="en-US" dirty="0"/>
          </a:p>
        </p:txBody>
      </p:sp>
      <p:sp>
        <p:nvSpPr>
          <p:cNvPr id="8" name="灯片编号占位符 7"/>
          <p:cNvSpPr>
            <a:spLocks noGrp="1"/>
          </p:cNvSpPr>
          <p:nvPr>
            <p:ph type="sldNum" sz="quarter" idx="12"/>
          </p:nvPr>
        </p:nvSpPr>
        <p:spPr/>
        <p:txBody>
          <a:bodyPr/>
          <a:lstStyle/>
          <a:p>
            <a:fld id="{74D2AB8B-5816-41F2-8B4B-CA5C3E4E6A65}" type="slidenum">
              <a:rPr lang="zh-CN" altLang="en-US" smtClean="0"/>
              <a:t>60</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76405"/>
    </mc:Choice>
    <mc:Fallback xmlns="">
      <p:transition spd="slow" advTm="76405"/>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838200" y="1549083"/>
            <a:ext cx="4877435" cy="4483100"/>
          </a:xfrm>
          <a:prstGeom prst="rect">
            <a:avLst/>
          </a:prstGeom>
        </p:spPr>
        <p:txBody>
          <a:bodyPr vert="horz" wrap="square" lIns="0" tIns="101600" rIns="0" bIns="0" rtlCol="0">
            <a:spAutoFit/>
          </a:bodyPr>
          <a:lstStyle/>
          <a:p>
            <a:pPr marL="262890" indent="-250825">
              <a:lnSpc>
                <a:spcPct val="100000"/>
              </a:lnSpc>
              <a:spcBef>
                <a:spcPts val="800"/>
              </a:spcBef>
              <a:buClr>
                <a:srgbClr val="000000"/>
              </a:buClr>
              <a:buAutoNum type="arabicPeriod"/>
              <a:tabLst>
                <a:tab pos="263525" algn="l"/>
              </a:tabLst>
            </a:pPr>
            <a:r>
              <a:rPr sz="2000" dirty="0">
                <a:solidFill>
                  <a:srgbClr val="800000"/>
                </a:solidFill>
                <a:latin typeface="Calibri" panose="020F0502020204030204"/>
                <a:cs typeface="Calibri" panose="020F0502020204030204"/>
              </a:rPr>
              <a:t>The </a:t>
            </a:r>
            <a:r>
              <a:rPr sz="2000" spc="-5" dirty="0">
                <a:solidFill>
                  <a:srgbClr val="800000"/>
                </a:solidFill>
                <a:latin typeface="Calibri" panose="020F0502020204030204"/>
                <a:cs typeface="Calibri" panose="020F0502020204030204"/>
              </a:rPr>
              <a:t>customer </a:t>
            </a:r>
            <a:r>
              <a:rPr sz="2000" spc="-5" dirty="0">
                <a:solidFill>
                  <a:srgbClr val="000090"/>
                </a:solidFill>
                <a:latin typeface="Calibri" panose="020F0502020204030204"/>
                <a:cs typeface="Calibri" panose="020F0502020204030204"/>
              </a:rPr>
              <a:t>requests </a:t>
            </a:r>
            <a:r>
              <a:rPr sz="2000" dirty="0">
                <a:solidFill>
                  <a:srgbClr val="000090"/>
                </a:solidFill>
                <a:latin typeface="Calibri" panose="020F0502020204030204"/>
                <a:cs typeface="Calibri" panose="020F0502020204030204"/>
              </a:rPr>
              <a:t>a funds</a:t>
            </a:r>
            <a:r>
              <a:rPr sz="2000" spc="-5" dirty="0">
                <a:solidFill>
                  <a:srgbClr val="000090"/>
                </a:solidFill>
                <a:latin typeface="Calibri" panose="020F0502020204030204"/>
                <a:cs typeface="Calibri" panose="020F0502020204030204"/>
              </a:rPr>
              <a:t> transfer</a:t>
            </a:r>
            <a:r>
              <a:rPr sz="2000" spc="-5" dirty="0">
                <a:latin typeface="Calibri" panose="020F0502020204030204"/>
                <a:cs typeface="Calibri" panose="020F0502020204030204"/>
              </a:rPr>
              <a:t>.</a:t>
            </a:r>
            <a:endParaRPr sz="2000" dirty="0">
              <a:latin typeface="Calibri" panose="020F0502020204030204"/>
              <a:cs typeface="Calibri" panose="020F0502020204030204"/>
            </a:endParaRPr>
          </a:p>
          <a:p>
            <a:pPr marL="12700" marR="514350">
              <a:lnSpc>
                <a:spcPct val="90000"/>
              </a:lnSpc>
              <a:spcBef>
                <a:spcPts val="950"/>
              </a:spcBef>
              <a:buClr>
                <a:srgbClr val="000000"/>
              </a:buClr>
              <a:buAutoNum type="arabicPeriod"/>
              <a:tabLst>
                <a:tab pos="263525" algn="l"/>
              </a:tabLst>
            </a:pPr>
            <a:r>
              <a:rPr sz="2000" dirty="0">
                <a:solidFill>
                  <a:srgbClr val="800000"/>
                </a:solidFill>
                <a:latin typeface="Calibri" panose="020F0502020204030204"/>
                <a:cs typeface="Calibri" panose="020F0502020204030204"/>
              </a:rPr>
              <a:t>The </a:t>
            </a:r>
            <a:r>
              <a:rPr sz="2000" spc="-5" dirty="0">
                <a:solidFill>
                  <a:srgbClr val="800000"/>
                </a:solidFill>
                <a:latin typeface="Calibri" panose="020F0502020204030204"/>
                <a:cs typeface="Calibri" panose="020F0502020204030204"/>
              </a:rPr>
              <a:t>system </a:t>
            </a:r>
            <a:r>
              <a:rPr sz="2000" dirty="0">
                <a:latin typeface="Calibri" panose="020F0502020204030204"/>
                <a:cs typeface="Calibri" panose="020F0502020204030204"/>
              </a:rPr>
              <a:t>asks the </a:t>
            </a:r>
            <a:r>
              <a:rPr sz="2000" spc="-5" dirty="0">
                <a:latin typeface="Calibri" panose="020F0502020204030204"/>
                <a:cs typeface="Calibri" panose="020F0502020204030204"/>
              </a:rPr>
              <a:t>user </a:t>
            </a:r>
            <a:r>
              <a:rPr sz="2000" dirty="0">
                <a:latin typeface="Calibri" panose="020F0502020204030204"/>
                <a:cs typeface="Calibri" panose="020F0502020204030204"/>
              </a:rPr>
              <a:t>to </a:t>
            </a:r>
            <a:r>
              <a:rPr sz="2000" spc="-5" dirty="0">
                <a:solidFill>
                  <a:srgbClr val="000090"/>
                </a:solidFill>
                <a:latin typeface="Calibri" panose="020F0502020204030204"/>
                <a:cs typeface="Calibri" panose="020F0502020204030204"/>
              </a:rPr>
              <a:t>identify</a:t>
            </a:r>
            <a:r>
              <a:rPr sz="2000" spc="-50" dirty="0">
                <a:solidFill>
                  <a:srgbClr val="000090"/>
                </a:solidFill>
                <a:latin typeface="Calibri" panose="020F0502020204030204"/>
                <a:cs typeface="Calibri" panose="020F0502020204030204"/>
              </a:rPr>
              <a:t> </a:t>
            </a:r>
            <a:r>
              <a:rPr sz="2000" dirty="0">
                <a:solidFill>
                  <a:srgbClr val="000090"/>
                </a:solidFill>
                <a:latin typeface="Calibri" panose="020F0502020204030204"/>
                <a:cs typeface="Calibri" panose="020F0502020204030204"/>
              </a:rPr>
              <a:t>the  </a:t>
            </a:r>
            <a:r>
              <a:rPr sz="2000" spc="-5" dirty="0">
                <a:solidFill>
                  <a:srgbClr val="000090"/>
                </a:solidFill>
                <a:latin typeface="Calibri" panose="020F0502020204030204"/>
                <a:cs typeface="Calibri" panose="020F0502020204030204"/>
              </a:rPr>
              <a:t>accounts </a:t>
            </a:r>
            <a:r>
              <a:rPr sz="2000" spc="-5" dirty="0">
                <a:latin typeface="Calibri" panose="020F0502020204030204"/>
                <a:cs typeface="Calibri" panose="020F0502020204030204"/>
              </a:rPr>
              <a:t>between which </a:t>
            </a:r>
            <a:r>
              <a:rPr sz="2000" dirty="0">
                <a:latin typeface="Calibri" panose="020F0502020204030204"/>
                <a:cs typeface="Calibri" panose="020F0502020204030204"/>
              </a:rPr>
              <a:t>funds </a:t>
            </a:r>
            <a:r>
              <a:rPr sz="2000" spc="-5" dirty="0">
                <a:latin typeface="Calibri" panose="020F0502020204030204"/>
                <a:cs typeface="Calibri" panose="020F0502020204030204"/>
              </a:rPr>
              <a:t>are </a:t>
            </a:r>
            <a:r>
              <a:rPr sz="2000" dirty="0">
                <a:latin typeface="Calibri" panose="020F0502020204030204"/>
                <a:cs typeface="Calibri" panose="020F0502020204030204"/>
              </a:rPr>
              <a:t>to be  </a:t>
            </a:r>
            <a:r>
              <a:rPr sz="2000" spc="-5" dirty="0">
                <a:latin typeface="Calibri" panose="020F0502020204030204"/>
                <a:cs typeface="Calibri" panose="020F0502020204030204"/>
              </a:rPr>
              <a:t>transferred </a:t>
            </a:r>
            <a:r>
              <a:rPr sz="2000" dirty="0">
                <a:latin typeface="Calibri" panose="020F0502020204030204"/>
                <a:cs typeface="Calibri" panose="020F0502020204030204"/>
              </a:rPr>
              <a:t>and the </a:t>
            </a:r>
            <a:r>
              <a:rPr sz="2000" spc="-5" dirty="0">
                <a:latin typeface="Calibri" panose="020F0502020204030204"/>
                <a:cs typeface="Calibri" panose="020F0502020204030204"/>
              </a:rPr>
              <a:t>transfer</a:t>
            </a:r>
            <a:r>
              <a:rPr sz="2000" spc="-15" dirty="0">
                <a:latin typeface="Calibri" panose="020F0502020204030204"/>
                <a:cs typeface="Calibri" panose="020F0502020204030204"/>
              </a:rPr>
              <a:t> </a:t>
            </a:r>
            <a:r>
              <a:rPr sz="2000" spc="-5" dirty="0">
                <a:latin typeface="Calibri" panose="020F0502020204030204"/>
                <a:cs typeface="Calibri" panose="020F0502020204030204"/>
              </a:rPr>
              <a:t>amount.</a:t>
            </a:r>
            <a:endParaRPr sz="2000" dirty="0">
              <a:latin typeface="Calibri" panose="020F0502020204030204"/>
              <a:cs typeface="Calibri" panose="020F0502020204030204"/>
            </a:endParaRPr>
          </a:p>
          <a:p>
            <a:pPr marL="12700" marR="5080">
              <a:lnSpc>
                <a:spcPct val="90000"/>
              </a:lnSpc>
              <a:spcBef>
                <a:spcPts val="1050"/>
              </a:spcBef>
              <a:buClr>
                <a:srgbClr val="000000"/>
              </a:buClr>
              <a:buAutoNum type="arabicPeriod"/>
              <a:tabLst>
                <a:tab pos="263525" algn="l"/>
              </a:tabLst>
            </a:pPr>
            <a:r>
              <a:rPr sz="2000" spc="-5" dirty="0">
                <a:solidFill>
                  <a:srgbClr val="800000"/>
                </a:solidFill>
                <a:latin typeface="Calibri" panose="020F0502020204030204"/>
                <a:cs typeface="Calibri" panose="020F0502020204030204"/>
              </a:rPr>
              <a:t>Customer </a:t>
            </a:r>
            <a:r>
              <a:rPr sz="2000" dirty="0">
                <a:solidFill>
                  <a:srgbClr val="000090"/>
                </a:solidFill>
                <a:latin typeface="Calibri" panose="020F0502020204030204"/>
                <a:cs typeface="Calibri" panose="020F0502020204030204"/>
              </a:rPr>
              <a:t>selects the </a:t>
            </a:r>
            <a:r>
              <a:rPr sz="2000" spc="-5" dirty="0">
                <a:solidFill>
                  <a:srgbClr val="000090"/>
                </a:solidFill>
                <a:latin typeface="Calibri" panose="020F0502020204030204"/>
                <a:cs typeface="Calibri" panose="020F0502020204030204"/>
              </a:rPr>
              <a:t>account </a:t>
            </a:r>
            <a:r>
              <a:rPr sz="2000" dirty="0">
                <a:latin typeface="Calibri" panose="020F0502020204030204"/>
                <a:cs typeface="Calibri" panose="020F0502020204030204"/>
              </a:rPr>
              <a:t>to </a:t>
            </a:r>
            <a:r>
              <a:rPr sz="2000" spc="-5" dirty="0">
                <a:latin typeface="Calibri" panose="020F0502020204030204"/>
                <a:cs typeface="Calibri" panose="020F0502020204030204"/>
              </a:rPr>
              <a:t>transfer  </a:t>
            </a:r>
            <a:r>
              <a:rPr sz="2000" dirty="0">
                <a:latin typeface="Calibri" panose="020F0502020204030204"/>
                <a:cs typeface="Calibri" panose="020F0502020204030204"/>
              </a:rPr>
              <a:t>funds </a:t>
            </a:r>
            <a:r>
              <a:rPr sz="2000" spc="-5" dirty="0">
                <a:latin typeface="Calibri" panose="020F0502020204030204"/>
                <a:cs typeface="Calibri" panose="020F0502020204030204"/>
              </a:rPr>
              <a:t>from, </a:t>
            </a:r>
            <a:r>
              <a:rPr sz="2000" dirty="0">
                <a:latin typeface="Calibri" panose="020F0502020204030204"/>
                <a:cs typeface="Calibri" panose="020F0502020204030204"/>
              </a:rPr>
              <a:t>the </a:t>
            </a:r>
            <a:r>
              <a:rPr sz="2000" spc="-5" dirty="0">
                <a:latin typeface="Calibri" panose="020F0502020204030204"/>
                <a:cs typeface="Calibri" panose="020F0502020204030204"/>
              </a:rPr>
              <a:t>account </a:t>
            </a:r>
            <a:r>
              <a:rPr sz="2000" dirty="0">
                <a:latin typeface="Calibri" panose="020F0502020204030204"/>
                <a:cs typeface="Calibri" panose="020F0502020204030204"/>
              </a:rPr>
              <a:t>to </a:t>
            </a:r>
            <a:r>
              <a:rPr sz="2000" spc="-5" dirty="0">
                <a:latin typeface="Calibri" panose="020F0502020204030204"/>
                <a:cs typeface="Calibri" panose="020F0502020204030204"/>
              </a:rPr>
              <a:t>transfer </a:t>
            </a:r>
            <a:r>
              <a:rPr sz="2000" dirty="0">
                <a:latin typeface="Calibri" panose="020F0502020204030204"/>
                <a:cs typeface="Calibri" panose="020F0502020204030204"/>
              </a:rPr>
              <a:t>to, and  then </a:t>
            </a:r>
            <a:r>
              <a:rPr sz="2000" spc="-5" dirty="0">
                <a:latin typeface="Calibri" panose="020F0502020204030204"/>
                <a:cs typeface="Calibri" panose="020F0502020204030204"/>
              </a:rPr>
              <a:t>indicates </a:t>
            </a:r>
            <a:r>
              <a:rPr sz="2000" dirty="0">
                <a:latin typeface="Calibri" panose="020F0502020204030204"/>
                <a:cs typeface="Calibri" panose="020F0502020204030204"/>
              </a:rPr>
              <a:t>the </a:t>
            </a:r>
            <a:r>
              <a:rPr sz="2000" spc="-5" dirty="0">
                <a:latin typeface="Calibri" panose="020F0502020204030204"/>
                <a:cs typeface="Calibri" panose="020F0502020204030204"/>
              </a:rPr>
              <a:t>amount of </a:t>
            </a:r>
            <a:r>
              <a:rPr sz="2000" dirty="0">
                <a:latin typeface="Calibri" panose="020F0502020204030204"/>
                <a:cs typeface="Calibri" panose="020F0502020204030204"/>
              </a:rPr>
              <a:t>funds to</a:t>
            </a:r>
            <a:r>
              <a:rPr sz="2000" spc="-5" dirty="0">
                <a:latin typeface="Calibri" panose="020F0502020204030204"/>
                <a:cs typeface="Calibri" panose="020F0502020204030204"/>
              </a:rPr>
              <a:t> transfer.</a:t>
            </a:r>
            <a:endParaRPr sz="2000" dirty="0">
              <a:latin typeface="Calibri" panose="020F0502020204030204"/>
              <a:cs typeface="Calibri" panose="020F0502020204030204"/>
            </a:endParaRPr>
          </a:p>
          <a:p>
            <a:pPr marL="12700" marR="175895" algn="just">
              <a:lnSpc>
                <a:spcPct val="90000"/>
              </a:lnSpc>
              <a:spcBef>
                <a:spcPts val="1045"/>
              </a:spcBef>
              <a:buClr>
                <a:srgbClr val="000000"/>
              </a:buClr>
              <a:buAutoNum type="arabicPeriod"/>
              <a:tabLst>
                <a:tab pos="263525" algn="l"/>
              </a:tabLst>
            </a:pPr>
            <a:r>
              <a:rPr sz="2000" dirty="0">
                <a:solidFill>
                  <a:srgbClr val="800000"/>
                </a:solidFill>
                <a:latin typeface="Calibri" panose="020F0502020204030204"/>
                <a:cs typeface="Calibri" panose="020F0502020204030204"/>
              </a:rPr>
              <a:t>The </a:t>
            </a:r>
            <a:r>
              <a:rPr sz="2000" spc="-5" dirty="0">
                <a:solidFill>
                  <a:srgbClr val="800000"/>
                </a:solidFill>
                <a:latin typeface="Calibri" panose="020F0502020204030204"/>
                <a:cs typeface="Calibri" panose="020F0502020204030204"/>
              </a:rPr>
              <a:t>system </a:t>
            </a:r>
            <a:r>
              <a:rPr sz="2000" dirty="0">
                <a:latin typeface="Calibri" panose="020F0502020204030204"/>
                <a:cs typeface="Calibri" panose="020F0502020204030204"/>
              </a:rPr>
              <a:t>checks the </a:t>
            </a:r>
            <a:r>
              <a:rPr sz="2000" spc="-5" dirty="0">
                <a:latin typeface="Calibri" panose="020F0502020204030204"/>
                <a:cs typeface="Calibri" panose="020F0502020204030204"/>
              </a:rPr>
              <a:t>account from which  </a:t>
            </a:r>
            <a:r>
              <a:rPr sz="2000" dirty="0">
                <a:latin typeface="Calibri" panose="020F0502020204030204"/>
                <a:cs typeface="Calibri" panose="020F0502020204030204"/>
              </a:rPr>
              <a:t>funds </a:t>
            </a:r>
            <a:r>
              <a:rPr sz="2000" spc="-5" dirty="0">
                <a:latin typeface="Calibri" panose="020F0502020204030204"/>
                <a:cs typeface="Calibri" panose="020F0502020204030204"/>
              </a:rPr>
              <a:t>are </a:t>
            </a:r>
            <a:r>
              <a:rPr sz="2000" dirty="0">
                <a:latin typeface="Calibri" panose="020F0502020204030204"/>
                <a:cs typeface="Calibri" panose="020F0502020204030204"/>
              </a:rPr>
              <a:t>to be </a:t>
            </a:r>
            <a:r>
              <a:rPr sz="2000" spc="-5" dirty="0">
                <a:latin typeface="Calibri" panose="020F0502020204030204"/>
                <a:cs typeface="Calibri" panose="020F0502020204030204"/>
              </a:rPr>
              <a:t>transferred </a:t>
            </a:r>
            <a:r>
              <a:rPr sz="2000" dirty="0">
                <a:latin typeface="Calibri" panose="020F0502020204030204"/>
                <a:cs typeface="Calibri" panose="020F0502020204030204"/>
              </a:rPr>
              <a:t>and </a:t>
            </a:r>
            <a:r>
              <a:rPr sz="2000" spc="-5" dirty="0">
                <a:solidFill>
                  <a:srgbClr val="000090"/>
                </a:solidFill>
                <a:latin typeface="Calibri" panose="020F0502020204030204"/>
                <a:cs typeface="Calibri" panose="020F0502020204030204"/>
              </a:rPr>
              <a:t>conﬁrms </a:t>
            </a:r>
            <a:r>
              <a:rPr sz="2000" dirty="0">
                <a:solidFill>
                  <a:srgbClr val="000090"/>
                </a:solidFill>
                <a:latin typeface="Calibri" panose="020F0502020204030204"/>
                <a:cs typeface="Calibri" panose="020F0502020204030204"/>
              </a:rPr>
              <a:t>that  </a:t>
            </a:r>
            <a:r>
              <a:rPr sz="2000" spc="-5" dirty="0">
                <a:solidFill>
                  <a:srgbClr val="000090"/>
                </a:solidFill>
                <a:latin typeface="Calibri" panose="020F0502020204030204"/>
                <a:cs typeface="Calibri" panose="020F0502020204030204"/>
              </a:rPr>
              <a:t>suﬃcient </a:t>
            </a:r>
            <a:r>
              <a:rPr sz="2000" dirty="0">
                <a:solidFill>
                  <a:srgbClr val="000090"/>
                </a:solidFill>
                <a:latin typeface="Calibri" panose="020F0502020204030204"/>
                <a:cs typeface="Calibri" panose="020F0502020204030204"/>
              </a:rPr>
              <a:t>funds </a:t>
            </a:r>
            <a:r>
              <a:rPr sz="2000" spc="-5" dirty="0">
                <a:solidFill>
                  <a:srgbClr val="000090"/>
                </a:solidFill>
                <a:latin typeface="Calibri" panose="020F0502020204030204"/>
                <a:cs typeface="Calibri" panose="020F0502020204030204"/>
              </a:rPr>
              <a:t>are available</a:t>
            </a:r>
            <a:r>
              <a:rPr sz="2000" spc="-5" dirty="0">
                <a:latin typeface="Calibri" panose="020F0502020204030204"/>
                <a:cs typeface="Calibri" panose="020F0502020204030204"/>
              </a:rPr>
              <a:t>.</a:t>
            </a:r>
            <a:endParaRPr sz="2000" dirty="0">
              <a:latin typeface="Calibri" panose="020F0502020204030204"/>
              <a:cs typeface="Calibri" panose="020F0502020204030204"/>
            </a:endParaRPr>
          </a:p>
          <a:p>
            <a:pPr marL="12700" marR="31115">
              <a:lnSpc>
                <a:spcPct val="89000"/>
              </a:lnSpc>
              <a:spcBef>
                <a:spcPts val="1070"/>
              </a:spcBef>
              <a:buAutoNum type="arabicPeriod"/>
              <a:tabLst>
                <a:tab pos="263525" algn="l"/>
              </a:tabLst>
            </a:pPr>
            <a:r>
              <a:rPr sz="2000" dirty="0">
                <a:latin typeface="Calibri" panose="020F0502020204030204"/>
                <a:cs typeface="Calibri" panose="020F0502020204030204"/>
              </a:rPr>
              <a:t>The </a:t>
            </a:r>
            <a:r>
              <a:rPr sz="2000" spc="-5" dirty="0">
                <a:latin typeface="Calibri" panose="020F0502020204030204"/>
                <a:cs typeface="Calibri" panose="020F0502020204030204"/>
              </a:rPr>
              <a:t>amount </a:t>
            </a:r>
            <a:r>
              <a:rPr sz="2000" dirty="0">
                <a:latin typeface="Calibri" panose="020F0502020204030204"/>
                <a:cs typeface="Calibri" panose="020F0502020204030204"/>
              </a:rPr>
              <a:t>is </a:t>
            </a:r>
            <a:r>
              <a:rPr sz="2000" spc="-5" dirty="0">
                <a:solidFill>
                  <a:srgbClr val="000090"/>
                </a:solidFill>
                <a:latin typeface="Calibri" panose="020F0502020204030204"/>
                <a:cs typeface="Calibri" panose="020F0502020204030204"/>
              </a:rPr>
              <a:t>debited </a:t>
            </a:r>
            <a:r>
              <a:rPr sz="2000" dirty="0">
                <a:solidFill>
                  <a:srgbClr val="000090"/>
                </a:solidFill>
                <a:latin typeface="Calibri" panose="020F0502020204030204"/>
                <a:cs typeface="Calibri" panose="020F0502020204030204"/>
              </a:rPr>
              <a:t>to the </a:t>
            </a:r>
            <a:r>
              <a:rPr sz="2000" spc="-5" dirty="0">
                <a:solidFill>
                  <a:srgbClr val="000090"/>
                </a:solidFill>
                <a:latin typeface="Calibri" panose="020F0502020204030204"/>
                <a:cs typeface="Calibri" panose="020F0502020204030204"/>
              </a:rPr>
              <a:t>account </a:t>
            </a:r>
            <a:r>
              <a:rPr sz="2000" spc="-5" dirty="0">
                <a:latin typeface="Calibri" panose="020F0502020204030204"/>
                <a:cs typeface="Calibri" panose="020F0502020204030204"/>
              </a:rPr>
              <a:t>from  which </a:t>
            </a:r>
            <a:r>
              <a:rPr sz="2000" dirty="0">
                <a:latin typeface="Calibri" panose="020F0502020204030204"/>
                <a:cs typeface="Calibri" panose="020F0502020204030204"/>
              </a:rPr>
              <a:t>funds </a:t>
            </a:r>
            <a:r>
              <a:rPr sz="2000" spc="-5" dirty="0">
                <a:latin typeface="Calibri" panose="020F0502020204030204"/>
                <a:cs typeface="Calibri" panose="020F0502020204030204"/>
              </a:rPr>
              <a:t>are </a:t>
            </a:r>
            <a:r>
              <a:rPr sz="2000" dirty="0">
                <a:latin typeface="Calibri" panose="020F0502020204030204"/>
                <a:cs typeface="Calibri" panose="020F0502020204030204"/>
              </a:rPr>
              <a:t>to be </a:t>
            </a:r>
            <a:r>
              <a:rPr sz="2000" spc="-5" dirty="0">
                <a:latin typeface="Calibri" panose="020F0502020204030204"/>
                <a:cs typeface="Calibri" panose="020F0502020204030204"/>
              </a:rPr>
              <a:t>transferred </a:t>
            </a:r>
            <a:r>
              <a:rPr sz="2000" dirty="0">
                <a:latin typeface="Calibri" panose="020F0502020204030204"/>
                <a:cs typeface="Calibri" panose="020F0502020204030204"/>
              </a:rPr>
              <a:t>and </a:t>
            </a:r>
            <a:r>
              <a:rPr sz="2000" spc="-5" dirty="0">
                <a:solidFill>
                  <a:srgbClr val="000090"/>
                </a:solidFill>
                <a:latin typeface="Calibri" panose="020F0502020204030204"/>
                <a:cs typeface="Calibri" panose="020F0502020204030204"/>
              </a:rPr>
              <a:t>credited  </a:t>
            </a:r>
            <a:r>
              <a:rPr sz="2000" dirty="0">
                <a:solidFill>
                  <a:srgbClr val="000090"/>
                </a:solidFill>
                <a:latin typeface="Calibri" panose="020F0502020204030204"/>
                <a:cs typeface="Calibri" panose="020F0502020204030204"/>
              </a:rPr>
              <a:t>to the </a:t>
            </a:r>
            <a:r>
              <a:rPr sz="2000" spc="-5" dirty="0">
                <a:solidFill>
                  <a:srgbClr val="000090"/>
                </a:solidFill>
                <a:latin typeface="Calibri" panose="020F0502020204030204"/>
                <a:cs typeface="Calibri" panose="020F0502020204030204"/>
              </a:rPr>
              <a:t>account </a:t>
            </a:r>
            <a:r>
              <a:rPr sz="2000" spc="-5" dirty="0">
                <a:latin typeface="Calibri" panose="020F0502020204030204"/>
                <a:cs typeface="Calibri" panose="020F0502020204030204"/>
              </a:rPr>
              <a:t>previously selected </a:t>
            </a:r>
            <a:r>
              <a:rPr sz="2000" dirty="0">
                <a:latin typeface="Calibri" panose="020F0502020204030204"/>
                <a:cs typeface="Calibri" panose="020F0502020204030204"/>
              </a:rPr>
              <a:t>by the  </a:t>
            </a:r>
            <a:r>
              <a:rPr sz="2000" spc="-5" dirty="0">
                <a:latin typeface="Calibri" panose="020F0502020204030204"/>
                <a:cs typeface="Calibri" panose="020F0502020204030204"/>
              </a:rPr>
              <a:t>customer </a:t>
            </a:r>
            <a:r>
              <a:rPr sz="2000" dirty="0">
                <a:latin typeface="Calibri" panose="020F0502020204030204"/>
                <a:cs typeface="Calibri" panose="020F0502020204030204"/>
              </a:rPr>
              <a:t>by </a:t>
            </a:r>
            <a:r>
              <a:rPr sz="2000" dirty="0">
                <a:solidFill>
                  <a:srgbClr val="800000"/>
                </a:solidFill>
                <a:latin typeface="Calibri" panose="020F0502020204030204"/>
                <a:cs typeface="Calibri" panose="020F0502020204030204"/>
              </a:rPr>
              <a:t>the</a:t>
            </a:r>
            <a:r>
              <a:rPr sz="2000" spc="-5" dirty="0">
                <a:solidFill>
                  <a:srgbClr val="800000"/>
                </a:solidFill>
                <a:latin typeface="Calibri" panose="020F0502020204030204"/>
                <a:cs typeface="Calibri" panose="020F0502020204030204"/>
              </a:rPr>
              <a:t> system</a:t>
            </a:r>
            <a:r>
              <a:rPr sz="2000" spc="-5" dirty="0">
                <a:latin typeface="Calibri" panose="020F0502020204030204"/>
                <a:cs typeface="Calibri" panose="020F0502020204030204"/>
              </a:rPr>
              <a:t>.</a:t>
            </a:r>
            <a:endParaRPr sz="2000" dirty="0">
              <a:latin typeface="Calibri" panose="020F0502020204030204"/>
              <a:cs typeface="Calibri" panose="020F0502020204030204"/>
            </a:endParaRPr>
          </a:p>
        </p:txBody>
      </p:sp>
      <p:sp>
        <p:nvSpPr>
          <p:cNvPr id="4" name="object 4"/>
          <p:cNvSpPr/>
          <p:nvPr/>
        </p:nvSpPr>
        <p:spPr>
          <a:xfrm>
            <a:off x="5715635" y="1150003"/>
            <a:ext cx="5922130" cy="5281259"/>
          </a:xfrm>
          <a:prstGeom prst="rect">
            <a:avLst/>
          </a:prstGeom>
          <a:blipFill>
            <a:blip r:embed="rId3" cstate="print"/>
            <a:stretch>
              <a:fillRect/>
            </a:stretch>
          </a:blipFill>
        </p:spPr>
        <p:txBody>
          <a:bodyPr wrap="square" lIns="0" tIns="0" rIns="0" bIns="0" rtlCol="0"/>
          <a:lstStyle/>
          <a:p>
            <a:endParaRPr/>
          </a:p>
        </p:txBody>
      </p:sp>
      <p:sp>
        <p:nvSpPr>
          <p:cNvPr id="8" name="标题 7"/>
          <p:cNvSpPr>
            <a:spLocks noGrp="1"/>
          </p:cNvSpPr>
          <p:nvPr>
            <p:ph type="title"/>
          </p:nvPr>
        </p:nvSpPr>
        <p:spPr/>
        <p:txBody>
          <a:bodyPr/>
          <a:lstStyle/>
          <a:p>
            <a:r>
              <a:rPr lang="zh-CN" altLang="en-US" spc="-5" dirty="0"/>
              <a:t>顺序图与用例对应</a:t>
            </a:r>
            <a:endParaRPr lang="zh-CN" altLang="en-US" dirty="0"/>
          </a:p>
        </p:txBody>
      </p:sp>
      <p:sp>
        <p:nvSpPr>
          <p:cNvPr id="9" name="灯片编号占位符 8"/>
          <p:cNvSpPr>
            <a:spLocks noGrp="1"/>
          </p:cNvSpPr>
          <p:nvPr>
            <p:ph type="sldNum" sz="quarter" idx="12"/>
          </p:nvPr>
        </p:nvSpPr>
        <p:spPr/>
        <p:txBody>
          <a:bodyPr/>
          <a:lstStyle/>
          <a:p>
            <a:fld id="{74D2AB8B-5816-41F2-8B4B-CA5C3E4E6A65}" type="slidenum">
              <a:rPr lang="zh-CN" altLang="en-US" smtClean="0"/>
              <a:t>61</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56413"/>
    </mc:Choice>
    <mc:Fallback xmlns="">
      <p:transition spd="slow" advTm="56413"/>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838200" y="1690688"/>
            <a:ext cx="10210800" cy="4020820"/>
          </a:xfrm>
          <a:prstGeom prst="rect">
            <a:avLst/>
          </a:prstGeom>
        </p:spPr>
        <p:txBody>
          <a:bodyPr vert="horz" wrap="square" lIns="0" tIns="12700" rIns="0" bIns="0" rtlCol="0">
            <a:spAutoFit/>
          </a:bodyPr>
          <a:lstStyle/>
          <a:p>
            <a:pPr marL="241300" indent="-228600">
              <a:lnSpc>
                <a:spcPct val="100000"/>
              </a:lnSpc>
              <a:spcBef>
                <a:spcPts val="10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新魏" panose="02010800040101010101" charset="-122"/>
              </a:rPr>
              <a:t>顺序图可帮助分析人员对用例图进行扩展、细化和补遗</a:t>
            </a:r>
          </a:p>
          <a:p>
            <a:pPr marL="240665" marR="5080" indent="-228600">
              <a:lnSpc>
                <a:spcPct val="149000"/>
              </a:lnSpc>
              <a:spcBef>
                <a:spcPts val="100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新魏" panose="02010800040101010101" charset="-122"/>
              </a:rPr>
              <a:t>顺序图可用于开发周期的不同阶段，服务于不同目的，描述不同 粒度的行为</a:t>
            </a:r>
          </a:p>
          <a:p>
            <a:pPr>
              <a:lnSpc>
                <a:spcPct val="100000"/>
              </a:lnSpc>
              <a:spcBef>
                <a:spcPts val="35"/>
              </a:spcBef>
              <a:buFont typeface="Arial" panose="020B0604020202020204"/>
              <a:buChar char="•"/>
            </a:pPr>
            <a:endParaRPr sz="2350" dirty="0">
              <a:latin typeface="微软雅黑" panose="020B0503020204020204" pitchFamily="34" charset="-122"/>
              <a:ea typeface="微软雅黑" panose="020B0503020204020204" pitchFamily="34" charset="-122"/>
              <a:cs typeface="Times New Roman" panose="02020603050405020304"/>
            </a:endParaRPr>
          </a:p>
          <a:p>
            <a:pPr marL="241300" indent="-228600">
              <a:lnSpc>
                <a:spcPct val="100000"/>
              </a:lnSpc>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新魏" panose="02010800040101010101" charset="-122"/>
              </a:rPr>
              <a:t>分析阶段的顺序图</a:t>
            </a:r>
            <a:r>
              <a:rPr sz="2800" b="1" spc="-5" dirty="0">
                <a:solidFill>
                  <a:srgbClr val="FF0000"/>
                </a:solidFill>
                <a:latin typeface="微软雅黑" panose="020B0503020204020204" pitchFamily="34" charset="-122"/>
                <a:ea typeface="微软雅黑" panose="020B0503020204020204" pitchFamily="34" charset="-122"/>
                <a:cs typeface="华文新魏" panose="02010800040101010101" charset="-122"/>
              </a:rPr>
              <a:t>不要</a:t>
            </a:r>
            <a:endParaRPr sz="2800" dirty="0">
              <a:latin typeface="微软雅黑" panose="020B0503020204020204" pitchFamily="34" charset="-122"/>
              <a:ea typeface="微软雅黑" panose="020B0503020204020204" pitchFamily="34" charset="-122"/>
              <a:cs typeface="华文新魏" panose="02010800040101010101" charset="-122"/>
            </a:endParaRPr>
          </a:p>
          <a:p>
            <a:pPr marL="698500" lvl="1" indent="-228600">
              <a:lnSpc>
                <a:spcPct val="100000"/>
              </a:lnSpc>
              <a:spcBef>
                <a:spcPts val="2140"/>
              </a:spcBef>
              <a:buFont typeface="Arial" panose="020B0604020202020204"/>
              <a:buChar char="•"/>
              <a:tabLst>
                <a:tab pos="698500" algn="l"/>
              </a:tabLst>
            </a:pPr>
            <a:r>
              <a:rPr sz="2800" dirty="0">
                <a:latin typeface="微软雅黑" panose="020B0503020204020204" pitchFamily="34" charset="-122"/>
                <a:ea typeface="微软雅黑" panose="020B0503020204020204" pitchFamily="34" charset="-122"/>
                <a:cs typeface="华文新魏" panose="02010800040101010101" charset="-122"/>
              </a:rPr>
              <a:t>包含设计对象</a:t>
            </a:r>
          </a:p>
          <a:p>
            <a:pPr marL="698500" lvl="1" indent="-228600">
              <a:lnSpc>
                <a:spcPct val="100000"/>
              </a:lnSpc>
              <a:spcBef>
                <a:spcPts val="2140"/>
              </a:spcBef>
              <a:buFont typeface="Arial" panose="020B0604020202020204"/>
              <a:buChar char="•"/>
              <a:tabLst>
                <a:tab pos="698500" algn="l"/>
              </a:tabLst>
            </a:pPr>
            <a:r>
              <a:rPr sz="2800" dirty="0">
                <a:latin typeface="微软雅黑" panose="020B0503020204020204" pitchFamily="34" charset="-122"/>
                <a:ea typeface="微软雅黑" panose="020B0503020204020204" pitchFamily="34" charset="-122"/>
                <a:cs typeface="华文新魏" panose="02010800040101010101" charset="-122"/>
              </a:rPr>
              <a:t>关注消息参数</a:t>
            </a:r>
          </a:p>
        </p:txBody>
      </p:sp>
      <p:sp>
        <p:nvSpPr>
          <p:cNvPr id="7" name="标题 6"/>
          <p:cNvSpPr>
            <a:spLocks noGrp="1"/>
          </p:cNvSpPr>
          <p:nvPr>
            <p:ph type="title"/>
          </p:nvPr>
        </p:nvSpPr>
        <p:spPr/>
        <p:txBody>
          <a:bodyPr/>
          <a:lstStyle/>
          <a:p>
            <a:r>
              <a:rPr lang="zh-CN" altLang="en-US" spc="-5" dirty="0"/>
              <a:t>顺序图与用例的关系</a:t>
            </a:r>
            <a:r>
              <a:rPr lang="zh-CN" altLang="en-US" spc="-75" dirty="0"/>
              <a:t> </a:t>
            </a:r>
            <a:r>
              <a:rPr lang="en-US" altLang="zh-CN" dirty="0">
                <a:latin typeface="Calibri" panose="020F0502020204030204"/>
                <a:cs typeface="Calibri" panose="020F0502020204030204"/>
              </a:rPr>
              <a:t>II</a:t>
            </a:r>
            <a:endParaRPr lang="zh-CN" altLang="en-US" dirty="0"/>
          </a:p>
        </p:txBody>
      </p:sp>
      <p:sp>
        <p:nvSpPr>
          <p:cNvPr id="8" name="灯片编号占位符 7"/>
          <p:cNvSpPr>
            <a:spLocks noGrp="1"/>
          </p:cNvSpPr>
          <p:nvPr>
            <p:ph type="sldNum" sz="quarter" idx="12"/>
          </p:nvPr>
        </p:nvSpPr>
        <p:spPr/>
        <p:txBody>
          <a:bodyPr/>
          <a:lstStyle/>
          <a:p>
            <a:fld id="{74D2AB8B-5816-41F2-8B4B-CA5C3E4E6A65}" type="slidenum">
              <a:rPr lang="zh-CN" altLang="en-US" smtClean="0"/>
              <a:t>62</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51728"/>
    </mc:Choice>
    <mc:Fallback xmlns="">
      <p:transition spd="slow" advTm="51728"/>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8" y="378901"/>
            <a:ext cx="4378962" cy="566822"/>
          </a:xfrm>
          <a:prstGeom prst="rect">
            <a:avLst/>
          </a:prstGeom>
        </p:spPr>
        <p:txBody>
          <a:bodyPr vert="horz" wrap="square" lIns="0" tIns="12700" rIns="0" bIns="0" rtlCol="0">
            <a:spAutoFit/>
          </a:bodyPr>
          <a:lstStyle/>
          <a:p>
            <a:pPr marL="12700">
              <a:lnSpc>
                <a:spcPct val="100000"/>
              </a:lnSpc>
              <a:spcBef>
                <a:spcPts val="100"/>
              </a:spcBef>
            </a:pPr>
            <a:r>
              <a:rPr sz="3600" b="0" spc="-5" dirty="0">
                <a:latin typeface="微软雅黑" panose="020B0503020204020204" pitchFamily="34" charset="-122"/>
                <a:ea typeface="微软雅黑" panose="020B0503020204020204" pitchFamily="34" charset="-122"/>
              </a:rPr>
              <a:t>从用例中抽取顺序图</a:t>
            </a:r>
          </a:p>
        </p:txBody>
      </p:sp>
      <p:sp>
        <p:nvSpPr>
          <p:cNvPr id="3" name="object 3"/>
          <p:cNvSpPr/>
          <p:nvPr/>
        </p:nvSpPr>
        <p:spPr>
          <a:xfrm>
            <a:off x="491976" y="1200945"/>
            <a:ext cx="11208047" cy="5092351"/>
          </a:xfrm>
          <a:prstGeom prst="rect">
            <a:avLst/>
          </a:prstGeom>
          <a:blipFill>
            <a:blip r:embed="rId3" cstate="print"/>
            <a:stretch>
              <a:fillRect/>
            </a:stretch>
          </a:blipFill>
        </p:spPr>
        <p:txBody>
          <a:bodyPr wrap="square" lIns="0" tIns="0" rIns="0" bIns="0" rtlCol="0"/>
          <a:lstStyle/>
          <a:p>
            <a:endParaRPr/>
          </a:p>
        </p:txBody>
      </p:sp>
      <p:sp>
        <p:nvSpPr>
          <p:cNvPr id="6" name="灯片编号占位符 5"/>
          <p:cNvSpPr>
            <a:spLocks noGrp="1"/>
          </p:cNvSpPr>
          <p:nvPr>
            <p:ph type="sldNum" sz="quarter" idx="7"/>
          </p:nvPr>
        </p:nvSpPr>
        <p:spPr/>
        <p:txBody>
          <a:bodyPr/>
          <a:lstStyle/>
          <a:p>
            <a:fld id="{B6F15528-21DE-4FAA-801E-634DDDAF4B2B}" type="slidenum">
              <a:rPr lang="en-US" altLang="zh-CN" smtClean="0"/>
              <a:t>63</a:t>
            </a:fld>
            <a:endParaRPr lang="en-US" altLang="zh-CN"/>
          </a:p>
        </p:txBody>
      </p:sp>
    </p:spTree>
  </p:cSld>
  <p:clrMapOvr>
    <a:masterClrMapping/>
  </p:clrMapOvr>
  <mc:AlternateContent xmlns:mc="http://schemas.openxmlformats.org/markup-compatibility/2006" xmlns:p14="http://schemas.microsoft.com/office/powerpoint/2010/main">
    <mc:Choice Requires="p14">
      <p:transition spd="slow" p14:dur="2000" advTm="90755"/>
    </mc:Choice>
    <mc:Fallback xmlns="">
      <p:transition spd="slow" advTm="90755"/>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019809" y="1690688"/>
            <a:ext cx="9763761" cy="4075475"/>
          </a:xfrm>
          <a:prstGeom prst="rect">
            <a:avLst/>
          </a:prstGeom>
        </p:spPr>
        <p:txBody>
          <a:bodyPr vert="horz" wrap="square" lIns="0" tIns="12700" rIns="0" bIns="0" rtlCol="0">
            <a:spAutoFit/>
          </a:bodyPr>
          <a:lstStyle/>
          <a:p>
            <a:pPr marL="241300" indent="-228600">
              <a:lnSpc>
                <a:spcPct val="100000"/>
              </a:lnSpc>
              <a:spcBef>
                <a:spcPts val="100"/>
              </a:spcBef>
              <a:buFont typeface="Arial" panose="020B0604020202020204"/>
              <a:buChar char="•"/>
              <a:tabLst>
                <a:tab pos="240665" algn="l"/>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通过顺序图描述算法逻辑</a:t>
            </a:r>
          </a:p>
          <a:p>
            <a:pPr>
              <a:lnSpc>
                <a:spcPct val="100000"/>
              </a:lnSpc>
              <a:spcBef>
                <a:spcPts val="15"/>
              </a:spcBef>
              <a:buFont typeface="Arial" panose="020B0604020202020204"/>
              <a:buChar char="•"/>
            </a:pPr>
            <a:endParaRPr sz="2400" dirty="0">
              <a:latin typeface="微软雅黑" panose="020B0503020204020204" pitchFamily="34" charset="-122"/>
              <a:ea typeface="微软雅黑" panose="020B0503020204020204" pitchFamily="34" charset="-122"/>
              <a:cs typeface="Times New Roman" panose="02020603050405020304"/>
            </a:endParaRPr>
          </a:p>
          <a:p>
            <a:pPr marL="241300" indent="-228600">
              <a:lnSpc>
                <a:spcPct val="100000"/>
              </a:lnSpc>
              <a:buFont typeface="Arial" panose="020B0604020202020204"/>
              <a:buChar char="•"/>
              <a:tabLst>
                <a:tab pos="240665" algn="l"/>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高质量的顺序图是代码的抽象</a:t>
            </a:r>
          </a:p>
          <a:p>
            <a:pPr>
              <a:lnSpc>
                <a:spcPct val="100000"/>
              </a:lnSpc>
              <a:spcBef>
                <a:spcPts val="5"/>
              </a:spcBef>
              <a:buFont typeface="Arial" panose="020B0604020202020204"/>
              <a:buChar char="•"/>
            </a:pPr>
            <a:endParaRPr sz="2400" dirty="0">
              <a:latin typeface="微软雅黑" panose="020B0503020204020204" pitchFamily="34" charset="-122"/>
              <a:ea typeface="微软雅黑" panose="020B0503020204020204" pitchFamily="34" charset="-122"/>
              <a:cs typeface="Times New Roman" panose="02020603050405020304"/>
            </a:endParaRPr>
          </a:p>
          <a:p>
            <a:pPr marL="241300" indent="-228600">
              <a:lnSpc>
                <a:spcPct val="100000"/>
              </a:lnSpc>
              <a:buFont typeface="Arial" panose="020B0604020202020204"/>
              <a:buChar char="•"/>
              <a:tabLst>
                <a:tab pos="240665" algn="l"/>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顺序图是与语言无关的表示方式</a:t>
            </a:r>
          </a:p>
          <a:p>
            <a:pPr>
              <a:lnSpc>
                <a:spcPct val="100000"/>
              </a:lnSpc>
              <a:spcBef>
                <a:spcPts val="15"/>
              </a:spcBef>
              <a:buFont typeface="Arial" panose="020B0604020202020204"/>
              <a:buChar char="•"/>
            </a:pPr>
            <a:endParaRPr sz="2400" dirty="0">
              <a:latin typeface="微软雅黑" panose="020B0503020204020204" pitchFamily="34" charset="-122"/>
              <a:ea typeface="微软雅黑" panose="020B0503020204020204" pitchFamily="34" charset="-122"/>
              <a:cs typeface="Times New Roman" panose="02020603050405020304"/>
            </a:endParaRPr>
          </a:p>
          <a:p>
            <a:pPr marL="241300" indent="-228600">
              <a:lnSpc>
                <a:spcPct val="100000"/>
              </a:lnSpc>
              <a:buFont typeface="Arial" panose="020B0604020202020204"/>
              <a:buChar char="•"/>
              <a:tabLst>
                <a:tab pos="240665" algn="l"/>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可以绘制顺序图来描述业务逻辑</a:t>
            </a:r>
          </a:p>
          <a:p>
            <a:pPr>
              <a:lnSpc>
                <a:spcPct val="100000"/>
              </a:lnSpc>
              <a:spcBef>
                <a:spcPts val="5"/>
              </a:spcBef>
              <a:buFont typeface="Arial" panose="020B0604020202020204"/>
              <a:buChar char="•"/>
            </a:pPr>
            <a:endParaRPr sz="2400" dirty="0">
              <a:latin typeface="微软雅黑" panose="020B0503020204020204" pitchFamily="34" charset="-122"/>
              <a:ea typeface="微软雅黑" panose="020B0503020204020204" pitchFamily="34" charset="-122"/>
              <a:cs typeface="Times New Roman" panose="02020603050405020304"/>
            </a:endParaRPr>
          </a:p>
          <a:p>
            <a:pPr marL="241300" indent="-228600">
              <a:lnSpc>
                <a:spcPct val="100000"/>
              </a:lnSpc>
              <a:buFont typeface="Arial" panose="020B0604020202020204"/>
              <a:buChar char="•"/>
              <a:tabLst>
                <a:tab pos="240665" algn="l"/>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可以通过团队协作完成顺序图的绘制</a:t>
            </a:r>
          </a:p>
          <a:p>
            <a:pPr>
              <a:lnSpc>
                <a:spcPct val="100000"/>
              </a:lnSpc>
              <a:buFont typeface="Arial" panose="020B0604020202020204"/>
              <a:buChar char="•"/>
            </a:pPr>
            <a:endParaRPr sz="2400" dirty="0">
              <a:latin typeface="微软雅黑" panose="020B0503020204020204" pitchFamily="34" charset="-122"/>
              <a:ea typeface="微软雅黑" panose="020B0503020204020204" pitchFamily="34" charset="-122"/>
              <a:cs typeface="Times New Roman" panose="02020603050405020304"/>
            </a:endParaRPr>
          </a:p>
          <a:p>
            <a:pPr marL="241300" indent="-228600">
              <a:lnSpc>
                <a:spcPct val="100000"/>
              </a:lnSpc>
              <a:buFont typeface="Arial" panose="020B0604020202020204"/>
              <a:buChar char="•"/>
              <a:tabLst>
                <a:tab pos="240665" algn="l"/>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可以在同一页浏览多个对象和类的行为</a:t>
            </a:r>
          </a:p>
        </p:txBody>
      </p:sp>
      <p:sp>
        <p:nvSpPr>
          <p:cNvPr id="5" name="object 5"/>
          <p:cNvSpPr txBox="1"/>
          <p:nvPr/>
        </p:nvSpPr>
        <p:spPr>
          <a:xfrm>
            <a:off x="916939" y="6499214"/>
            <a:ext cx="102870" cy="211454"/>
          </a:xfrm>
          <a:prstGeom prst="rect">
            <a:avLst/>
          </a:prstGeom>
        </p:spPr>
        <p:txBody>
          <a:bodyPr vert="horz" wrap="square" lIns="0" tIns="5080" rIns="0" bIns="0" rtlCol="0">
            <a:spAutoFit/>
          </a:bodyPr>
          <a:lstStyle/>
          <a:p>
            <a:pPr marL="12700">
              <a:lnSpc>
                <a:spcPct val="100000"/>
              </a:lnSpc>
              <a:spcBef>
                <a:spcPts val="40"/>
              </a:spcBef>
            </a:pPr>
            <a:r>
              <a:rPr sz="1200" dirty="0">
                <a:solidFill>
                  <a:srgbClr val="898989"/>
                </a:solidFill>
                <a:latin typeface="Calibri" panose="020F0502020204030204"/>
                <a:cs typeface="Calibri" panose="020F0502020204030204"/>
              </a:rPr>
              <a:t>5</a:t>
            </a:r>
            <a:endParaRPr sz="1200">
              <a:latin typeface="Calibri" panose="020F0502020204030204"/>
              <a:cs typeface="Calibri" panose="020F0502020204030204"/>
            </a:endParaRPr>
          </a:p>
        </p:txBody>
      </p:sp>
      <p:sp>
        <p:nvSpPr>
          <p:cNvPr id="7" name="标题 6"/>
          <p:cNvSpPr>
            <a:spLocks noGrp="1"/>
          </p:cNvSpPr>
          <p:nvPr>
            <p:ph type="title"/>
          </p:nvPr>
        </p:nvSpPr>
        <p:spPr/>
        <p:txBody>
          <a:bodyPr/>
          <a:lstStyle/>
          <a:p>
            <a:r>
              <a:rPr lang="zh-CN" altLang="en-US" spc="-5" dirty="0"/>
              <a:t>顺序图建模意义</a:t>
            </a:r>
            <a:endParaRPr lang="zh-CN" altLang="en-US" dirty="0"/>
          </a:p>
        </p:txBody>
      </p:sp>
      <p:sp>
        <p:nvSpPr>
          <p:cNvPr id="8" name="灯片编号占位符 7"/>
          <p:cNvSpPr>
            <a:spLocks noGrp="1"/>
          </p:cNvSpPr>
          <p:nvPr>
            <p:ph type="sldNum" sz="quarter" idx="12"/>
          </p:nvPr>
        </p:nvSpPr>
        <p:spPr/>
        <p:txBody>
          <a:bodyPr/>
          <a:lstStyle/>
          <a:p>
            <a:fld id="{74D2AB8B-5816-41F2-8B4B-CA5C3E4E6A65}" type="slidenum">
              <a:rPr lang="zh-CN" altLang="en-US" smtClean="0"/>
              <a:t>64</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83344"/>
    </mc:Choice>
    <mc:Fallback xmlns="">
      <p:transition spd="slow" advTm="83344"/>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body" idx="1"/>
          </p:nvPr>
        </p:nvSpPr>
        <p:spPr>
          <a:xfrm>
            <a:off x="838200" y="1825625"/>
            <a:ext cx="10807700" cy="3220112"/>
          </a:xfrm>
          <a:prstGeom prst="rect">
            <a:avLst/>
          </a:prstGeom>
        </p:spPr>
        <p:txBody>
          <a:bodyPr vert="horz" wrap="square" lIns="0" tIns="12700" rIns="0" bIns="0" rtlCol="0">
            <a:spAutoFit/>
          </a:bodyPr>
          <a:lstStyle/>
          <a:p>
            <a:pPr marL="347345" indent="-228600">
              <a:lnSpc>
                <a:spcPct val="100000"/>
              </a:lnSpc>
              <a:spcBef>
                <a:spcPts val="100"/>
              </a:spcBef>
              <a:buClr>
                <a:srgbClr val="3333CC"/>
              </a:buClr>
              <a:buFont typeface="Arial" panose="020B0604020202020204"/>
              <a:buChar char="•"/>
              <a:tabLst>
                <a:tab pos="347980" algn="l"/>
              </a:tabLst>
            </a:pPr>
            <a:r>
              <a:rPr dirty="0"/>
              <a:t>建模风格1：把注意力集中于关键的交互。</a:t>
            </a:r>
          </a:p>
          <a:p>
            <a:pPr marL="1033145" marR="5080" lvl="1" indent="-457200">
              <a:lnSpc>
                <a:spcPct val="167000"/>
              </a:lnSpc>
              <a:buFont typeface="Arial" panose="020B0604020202020204"/>
              <a:buChar char="•"/>
              <a:tabLst>
                <a:tab pos="805180" algn="l"/>
              </a:tabLst>
            </a:pPr>
            <a:r>
              <a:rPr sz="2800" dirty="0">
                <a:latin typeface="华文新魏" panose="02010800040101010101" charset="-122"/>
                <a:cs typeface="华文新魏" panose="02010800040101010101" charset="-122"/>
              </a:rPr>
              <a:t>创建模型时要把注意力集中于系统的关键方面，而不要包括无关的细节。 </a:t>
            </a:r>
          </a:p>
          <a:p>
            <a:pPr marL="1033145" marR="386715">
              <a:lnSpc>
                <a:spcPct val="149000"/>
              </a:lnSpc>
              <a:spcBef>
                <a:spcPts val="500"/>
              </a:spcBef>
            </a:pPr>
            <a:r>
              <a:rPr dirty="0">
                <a:solidFill>
                  <a:srgbClr val="000000"/>
                </a:solidFill>
              </a:rPr>
              <a:t>如果顺序图是用于描述业务逻辑的，就没必要包括对象和数据库之间 的详细交互。</a:t>
            </a:r>
          </a:p>
        </p:txBody>
      </p:sp>
      <p:sp>
        <p:nvSpPr>
          <p:cNvPr id="7" name="标题 6"/>
          <p:cNvSpPr>
            <a:spLocks noGrp="1"/>
          </p:cNvSpPr>
          <p:nvPr>
            <p:ph type="title"/>
          </p:nvPr>
        </p:nvSpPr>
        <p:spPr/>
        <p:txBody>
          <a:bodyPr/>
          <a:lstStyle/>
          <a:p>
            <a:r>
              <a:rPr lang="zh-CN" altLang="en-US" spc="-5" dirty="0"/>
              <a:t>顺序图建模风格</a:t>
            </a:r>
            <a:endParaRPr lang="zh-CN" altLang="en-US" dirty="0"/>
          </a:p>
        </p:txBody>
      </p:sp>
      <p:sp>
        <p:nvSpPr>
          <p:cNvPr id="8" name="灯片编号占位符 7"/>
          <p:cNvSpPr>
            <a:spLocks noGrp="1"/>
          </p:cNvSpPr>
          <p:nvPr>
            <p:ph type="sldNum" sz="quarter" idx="12"/>
          </p:nvPr>
        </p:nvSpPr>
        <p:spPr/>
        <p:txBody>
          <a:bodyPr/>
          <a:lstStyle/>
          <a:p>
            <a:fld id="{74D2AB8B-5816-41F2-8B4B-CA5C3E4E6A65}" type="slidenum">
              <a:rPr lang="zh-CN" altLang="en-US" smtClean="0"/>
              <a:t>65</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42976"/>
    </mc:Choice>
    <mc:Fallback xmlns="">
      <p:transition spd="slow" advTm="42976"/>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55038" y="1901659"/>
            <a:ext cx="10515599" cy="3547125"/>
          </a:xfrm>
          <a:prstGeom prst="rect">
            <a:avLst/>
          </a:prstGeom>
        </p:spPr>
        <p:txBody>
          <a:bodyPr vert="horz" wrap="square" lIns="0" tIns="12700" rIns="0" bIns="0" rtlCol="0">
            <a:spAutoFit/>
          </a:bodyPr>
          <a:lstStyle/>
          <a:p>
            <a:pPr marL="241300" indent="-228600">
              <a:lnSpc>
                <a:spcPct val="100000"/>
              </a:lnSpc>
              <a:spcBef>
                <a:spcPts val="100"/>
              </a:spcBef>
              <a:buClr>
                <a:srgbClr val="3333CC"/>
              </a:buClr>
              <a:buFont typeface="Arial" panose="020B0604020202020204"/>
              <a:buChar char="•"/>
              <a:tabLst>
                <a:tab pos="241300" algn="l"/>
              </a:tabLst>
            </a:pPr>
            <a:r>
              <a:rPr sz="2800" dirty="0">
                <a:solidFill>
                  <a:srgbClr val="434DD6"/>
                </a:solidFill>
                <a:latin typeface="微软雅黑" panose="020B0503020204020204" pitchFamily="34" charset="-122"/>
                <a:ea typeface="微软雅黑" panose="020B0503020204020204" pitchFamily="34" charset="-122"/>
                <a:cs typeface="华文新魏" panose="02010800040101010101" charset="-122"/>
              </a:rPr>
              <a:t>建模风格2：对于参数，优先考虑使用参数名而不是参数类型。</a:t>
            </a:r>
            <a:endParaRPr sz="2800" dirty="0">
              <a:latin typeface="微软雅黑" panose="020B0503020204020204" pitchFamily="34" charset="-122"/>
              <a:ea typeface="微软雅黑" panose="020B0503020204020204" pitchFamily="34" charset="-122"/>
              <a:cs typeface="华文新魏" panose="02010800040101010101" charset="-122"/>
            </a:endParaRPr>
          </a:p>
          <a:p>
            <a:pPr marL="698500" lvl="1" indent="-228600">
              <a:lnSpc>
                <a:spcPct val="100000"/>
              </a:lnSpc>
              <a:spcBef>
                <a:spcPts val="1920"/>
              </a:spcBef>
              <a:buFont typeface="Arial" panose="020B0604020202020204"/>
              <a:buChar char="•"/>
              <a:tabLst>
                <a:tab pos="698500" algn="l"/>
              </a:tabLst>
            </a:pPr>
            <a:r>
              <a:rPr sz="2800" dirty="0">
                <a:latin typeface="微软雅黑" panose="020B0503020204020204" pitchFamily="34" charset="-122"/>
                <a:ea typeface="微软雅黑" panose="020B0503020204020204" pitchFamily="34" charset="-122"/>
                <a:cs typeface="华文新魏" panose="02010800040101010101" charset="-122"/>
              </a:rPr>
              <a:t>例如</a:t>
            </a:r>
          </a:p>
          <a:p>
            <a:pPr marL="469900">
              <a:lnSpc>
                <a:spcPct val="100000"/>
              </a:lnSpc>
              <a:spcBef>
                <a:spcPts val="1720"/>
              </a:spcBef>
            </a:pPr>
            <a:r>
              <a:rPr sz="2800" dirty="0">
                <a:latin typeface="微软雅黑" panose="020B0503020204020204" pitchFamily="34" charset="-122"/>
                <a:ea typeface="微软雅黑" panose="020B0503020204020204" pitchFamily="34" charset="-122"/>
                <a:cs typeface="华文新魏" panose="02010800040101010101" charset="-122"/>
              </a:rPr>
              <a:t>消息</a:t>
            </a:r>
            <a:r>
              <a:rPr sz="2800" spc="15" dirty="0">
                <a:latin typeface="微软雅黑" panose="020B0503020204020204" pitchFamily="34" charset="-122"/>
                <a:ea typeface="微软雅黑" panose="020B0503020204020204" pitchFamily="34" charset="-122"/>
                <a:cs typeface="华文新魏" panose="02010800040101010101" charset="-122"/>
              </a:rPr>
              <a:t> </a:t>
            </a:r>
            <a:r>
              <a:rPr sz="2800" spc="-5" dirty="0">
                <a:solidFill>
                  <a:srgbClr val="800000"/>
                </a:solidFill>
                <a:latin typeface="微软雅黑" panose="020B0503020204020204" pitchFamily="34" charset="-122"/>
                <a:ea typeface="微软雅黑" panose="020B0503020204020204" pitchFamily="34" charset="-122"/>
                <a:cs typeface="Calibri" panose="020F0502020204030204"/>
              </a:rPr>
              <a:t>addDeposit(amount,</a:t>
            </a:r>
            <a:r>
              <a:rPr sz="2800" spc="15" dirty="0">
                <a:solidFill>
                  <a:srgbClr val="800000"/>
                </a:solidFill>
                <a:latin typeface="微软雅黑" panose="020B0503020204020204" pitchFamily="34" charset="-122"/>
                <a:ea typeface="微软雅黑" panose="020B0503020204020204" pitchFamily="34" charset="-122"/>
                <a:cs typeface="Calibri" panose="020F0502020204030204"/>
              </a:rPr>
              <a:t> </a:t>
            </a:r>
            <a:r>
              <a:rPr sz="2800" spc="-5" dirty="0">
                <a:solidFill>
                  <a:srgbClr val="800000"/>
                </a:solidFill>
                <a:latin typeface="微软雅黑" panose="020B0503020204020204" pitchFamily="34" charset="-122"/>
                <a:ea typeface="微软雅黑" panose="020B0503020204020204" pitchFamily="34" charset="-122"/>
                <a:cs typeface="Calibri" panose="020F0502020204030204"/>
              </a:rPr>
              <a:t>target)</a:t>
            </a:r>
            <a:r>
              <a:rPr sz="2800" dirty="0">
                <a:latin typeface="微软雅黑" panose="020B0503020204020204" pitchFamily="34" charset="-122"/>
                <a:ea typeface="微软雅黑" panose="020B0503020204020204" pitchFamily="34" charset="-122"/>
                <a:cs typeface="华文新魏" panose="02010800040101010101" charset="-122"/>
              </a:rPr>
              <a:t>比</a:t>
            </a:r>
            <a:r>
              <a:rPr sz="2800" spc="20" dirty="0">
                <a:latin typeface="微软雅黑" panose="020B0503020204020204" pitchFamily="34" charset="-122"/>
                <a:ea typeface="微软雅黑" panose="020B0503020204020204" pitchFamily="34" charset="-122"/>
                <a:cs typeface="华文新魏" panose="02010800040101010101" charset="-122"/>
              </a:rPr>
              <a:t> </a:t>
            </a:r>
            <a:r>
              <a:rPr sz="2800" spc="-5" dirty="0">
                <a:solidFill>
                  <a:srgbClr val="800000"/>
                </a:solidFill>
                <a:latin typeface="微软雅黑" panose="020B0503020204020204" pitchFamily="34" charset="-122"/>
                <a:ea typeface="微软雅黑" panose="020B0503020204020204" pitchFamily="34" charset="-122"/>
                <a:cs typeface="Calibri" panose="020F0502020204030204"/>
              </a:rPr>
              <a:t>addDeposit(Currency,</a:t>
            </a:r>
            <a:r>
              <a:rPr sz="2800" spc="20" dirty="0">
                <a:solidFill>
                  <a:srgbClr val="800000"/>
                </a:solidFill>
                <a:latin typeface="微软雅黑" panose="020B0503020204020204" pitchFamily="34" charset="-122"/>
                <a:ea typeface="微软雅黑" panose="020B0503020204020204" pitchFamily="34" charset="-122"/>
                <a:cs typeface="Calibri" panose="020F0502020204030204"/>
              </a:rPr>
              <a:t> </a:t>
            </a:r>
            <a:r>
              <a:rPr sz="2800" spc="-5" dirty="0">
                <a:solidFill>
                  <a:srgbClr val="800000"/>
                </a:solidFill>
                <a:latin typeface="微软雅黑" panose="020B0503020204020204" pitchFamily="34" charset="-122"/>
                <a:ea typeface="微软雅黑" panose="020B0503020204020204" pitchFamily="34" charset="-122"/>
                <a:cs typeface="Calibri" panose="020F0502020204030204"/>
              </a:rPr>
              <a:t>Account)</a:t>
            </a:r>
            <a:r>
              <a:rPr sz="2800" spc="10" dirty="0">
                <a:solidFill>
                  <a:srgbClr val="800000"/>
                </a:solidFill>
                <a:latin typeface="微软雅黑" panose="020B0503020204020204" pitchFamily="34" charset="-122"/>
                <a:ea typeface="微软雅黑" panose="020B0503020204020204" pitchFamily="34" charset="-122"/>
                <a:cs typeface="Calibri" panose="020F0502020204030204"/>
              </a:rPr>
              <a:t> </a:t>
            </a:r>
            <a:r>
              <a:rPr sz="2800" dirty="0">
                <a:latin typeface="微软雅黑" panose="020B0503020204020204" pitchFamily="34" charset="-122"/>
                <a:ea typeface="微软雅黑" panose="020B0503020204020204" pitchFamily="34" charset="-122"/>
                <a:cs typeface="华文新魏" panose="02010800040101010101" charset="-122"/>
              </a:rPr>
              <a:t>传递了更多的信息</a:t>
            </a:r>
          </a:p>
          <a:p>
            <a:pPr marL="698500" lvl="1" indent="-228600">
              <a:lnSpc>
                <a:spcPct val="100000"/>
              </a:lnSpc>
              <a:spcBef>
                <a:spcPts val="1900"/>
              </a:spcBef>
              <a:buFont typeface="Arial" panose="020B0604020202020204"/>
              <a:buChar char="•"/>
              <a:tabLst>
                <a:tab pos="698500" algn="l"/>
              </a:tabLst>
            </a:pPr>
            <a:r>
              <a:rPr sz="2800" dirty="0">
                <a:latin typeface="微软雅黑" panose="020B0503020204020204" pitchFamily="34" charset="-122"/>
                <a:ea typeface="微软雅黑" panose="020B0503020204020204" pitchFamily="34" charset="-122"/>
                <a:cs typeface="华文新魏" panose="02010800040101010101" charset="-122"/>
              </a:rPr>
              <a:t>在消息中只使用类型信息不能传递足够的信息</a:t>
            </a:r>
          </a:p>
          <a:p>
            <a:pPr marL="698500" lvl="1" indent="-228600">
              <a:lnSpc>
                <a:spcPct val="100000"/>
              </a:lnSpc>
              <a:spcBef>
                <a:spcPts val="1920"/>
              </a:spcBef>
              <a:buFont typeface="Arial" panose="020B0604020202020204"/>
              <a:buChar char="•"/>
              <a:tabLst>
                <a:tab pos="698500" algn="l"/>
              </a:tabLst>
            </a:pPr>
            <a:r>
              <a:rPr sz="2800" dirty="0">
                <a:latin typeface="微软雅黑" panose="020B0503020204020204" pitchFamily="34" charset="-122"/>
                <a:ea typeface="微软雅黑" panose="020B0503020204020204" pitchFamily="34" charset="-122"/>
                <a:cs typeface="华文新魏" panose="02010800040101010101" charset="-122"/>
              </a:rPr>
              <a:t>参数的类型信息用</a:t>
            </a:r>
            <a:r>
              <a:rPr sz="2800" dirty="0">
                <a:latin typeface="微软雅黑" panose="020B0503020204020204" pitchFamily="34" charset="-122"/>
                <a:ea typeface="微软雅黑" panose="020B0503020204020204" pitchFamily="34" charset="-122"/>
                <a:cs typeface="Calibri" panose="020F0502020204030204"/>
              </a:rPr>
              <a:t>UML</a:t>
            </a:r>
            <a:r>
              <a:rPr sz="2800" dirty="0">
                <a:latin typeface="微软雅黑" panose="020B0503020204020204" pitchFamily="34" charset="-122"/>
                <a:ea typeface="微软雅黑" panose="020B0503020204020204" pitchFamily="34" charset="-122"/>
                <a:cs typeface="华文新魏" panose="02010800040101010101" charset="-122"/>
              </a:rPr>
              <a:t>类图表示更好</a:t>
            </a:r>
          </a:p>
        </p:txBody>
      </p:sp>
      <p:sp>
        <p:nvSpPr>
          <p:cNvPr id="7" name="标题 6"/>
          <p:cNvSpPr>
            <a:spLocks noGrp="1"/>
          </p:cNvSpPr>
          <p:nvPr>
            <p:ph type="title"/>
          </p:nvPr>
        </p:nvSpPr>
        <p:spPr/>
        <p:txBody>
          <a:bodyPr/>
          <a:lstStyle/>
          <a:p>
            <a:r>
              <a:rPr lang="zh-CN" altLang="en-US" spc="-5" dirty="0"/>
              <a:t>顺序图建模风格</a:t>
            </a:r>
            <a:endParaRPr lang="zh-CN" altLang="en-US" dirty="0"/>
          </a:p>
        </p:txBody>
      </p:sp>
      <p:sp>
        <p:nvSpPr>
          <p:cNvPr id="8" name="灯片编号占位符 7"/>
          <p:cNvSpPr>
            <a:spLocks noGrp="1"/>
          </p:cNvSpPr>
          <p:nvPr>
            <p:ph type="sldNum" sz="quarter" idx="12"/>
          </p:nvPr>
        </p:nvSpPr>
        <p:spPr/>
        <p:txBody>
          <a:bodyPr/>
          <a:lstStyle/>
          <a:p>
            <a:fld id="{74D2AB8B-5816-41F2-8B4B-CA5C3E4E6A65}" type="slidenum">
              <a:rPr lang="zh-CN" altLang="en-US" smtClean="0"/>
              <a:t>66</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77273"/>
    </mc:Choice>
    <mc:Fallback xmlns="">
      <p:transition spd="slow" advTm="77273"/>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780352" y="2412949"/>
            <a:ext cx="7452206" cy="3086580"/>
          </a:xfrm>
          <a:prstGeom prst="rect">
            <a:avLst/>
          </a:prstGeom>
          <a:blipFill>
            <a:blip r:embed="rId3"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3" name="object 3"/>
          <p:cNvSpPr txBox="1"/>
          <p:nvPr/>
        </p:nvSpPr>
        <p:spPr>
          <a:xfrm>
            <a:off x="1302702" y="1690688"/>
            <a:ext cx="6055360" cy="421640"/>
          </a:xfrm>
          <a:prstGeom prst="rect">
            <a:avLst/>
          </a:prstGeom>
        </p:spPr>
        <p:txBody>
          <a:bodyPr vert="horz" wrap="square" lIns="0" tIns="12700" rIns="0" bIns="0" rtlCol="0">
            <a:spAutoFit/>
          </a:bodyPr>
          <a:lstStyle/>
          <a:p>
            <a:pPr marL="241300" indent="-228600">
              <a:lnSpc>
                <a:spcPct val="100000"/>
              </a:lnSpc>
              <a:spcBef>
                <a:spcPts val="100"/>
              </a:spcBef>
              <a:buClr>
                <a:srgbClr val="3333CC"/>
              </a:buClr>
              <a:buFont typeface="Arial" panose="020B0604020202020204"/>
              <a:buChar char="•"/>
              <a:tabLst>
                <a:tab pos="241300" algn="l"/>
              </a:tabLst>
            </a:pPr>
            <a:r>
              <a:rPr sz="2600" dirty="0">
                <a:solidFill>
                  <a:srgbClr val="434DD6"/>
                </a:solidFill>
                <a:latin typeface="微软雅黑" panose="020B0503020204020204" pitchFamily="34" charset="-122"/>
                <a:ea typeface="微软雅黑" panose="020B0503020204020204" pitchFamily="34" charset="-122"/>
                <a:cs typeface="华文新魏" panose="02010800040101010101" charset="-122"/>
              </a:rPr>
              <a:t>建模风格3：不要对明显的返回值建模。</a:t>
            </a:r>
            <a:endParaRPr sz="2600">
              <a:latin typeface="微软雅黑" panose="020B0503020204020204" pitchFamily="34" charset="-122"/>
              <a:ea typeface="微软雅黑" panose="020B0503020204020204" pitchFamily="34" charset="-122"/>
              <a:cs typeface="华文新魏" panose="02010800040101010101" charset="-122"/>
            </a:endParaRPr>
          </a:p>
        </p:txBody>
      </p:sp>
      <p:sp>
        <p:nvSpPr>
          <p:cNvPr id="4" name="object 4"/>
          <p:cNvSpPr txBox="1"/>
          <p:nvPr/>
        </p:nvSpPr>
        <p:spPr>
          <a:xfrm>
            <a:off x="1302702" y="5561648"/>
            <a:ext cx="8036559" cy="421640"/>
          </a:xfrm>
          <a:prstGeom prst="rect">
            <a:avLst/>
          </a:prstGeom>
        </p:spPr>
        <p:txBody>
          <a:bodyPr vert="horz" wrap="square" lIns="0" tIns="12700" rIns="0" bIns="0" rtlCol="0">
            <a:spAutoFit/>
          </a:bodyPr>
          <a:lstStyle/>
          <a:p>
            <a:pPr marL="241300" indent="-228600">
              <a:lnSpc>
                <a:spcPct val="100000"/>
              </a:lnSpc>
              <a:spcBef>
                <a:spcPts val="100"/>
              </a:spcBef>
              <a:buClr>
                <a:srgbClr val="3333CC"/>
              </a:buClr>
              <a:buFont typeface="Arial" panose="020B0604020202020204"/>
              <a:buChar char="•"/>
              <a:tabLst>
                <a:tab pos="241300" algn="l"/>
              </a:tabLst>
            </a:pPr>
            <a:r>
              <a:rPr sz="2600" dirty="0">
                <a:solidFill>
                  <a:srgbClr val="434DD6"/>
                </a:solidFill>
                <a:latin typeface="微软雅黑" panose="020B0503020204020204" pitchFamily="34" charset="-122"/>
                <a:ea typeface="微软雅黑" panose="020B0503020204020204" pitchFamily="34" charset="-122"/>
                <a:cs typeface="华文新魏" panose="02010800040101010101" charset="-122"/>
              </a:rPr>
              <a:t>建模风格4：可以把返回值建模为方法调用的一部分。</a:t>
            </a:r>
            <a:endParaRPr sz="2600" dirty="0">
              <a:latin typeface="微软雅黑" panose="020B0503020204020204" pitchFamily="34" charset="-122"/>
              <a:ea typeface="微软雅黑" panose="020B0503020204020204" pitchFamily="34" charset="-122"/>
              <a:cs typeface="华文新魏" panose="02010800040101010101" charset="-122"/>
            </a:endParaRPr>
          </a:p>
        </p:txBody>
      </p:sp>
      <p:sp>
        <p:nvSpPr>
          <p:cNvPr id="9" name="标题 8"/>
          <p:cNvSpPr>
            <a:spLocks noGrp="1"/>
          </p:cNvSpPr>
          <p:nvPr>
            <p:ph type="title"/>
          </p:nvPr>
        </p:nvSpPr>
        <p:spPr/>
        <p:txBody>
          <a:bodyPr/>
          <a:lstStyle/>
          <a:p>
            <a:r>
              <a:rPr lang="zh-CN" altLang="en-US" spc="-5" dirty="0"/>
              <a:t>顺序图建模风格</a:t>
            </a:r>
            <a:endParaRPr lang="zh-CN" altLang="en-US" dirty="0"/>
          </a:p>
        </p:txBody>
      </p:sp>
      <p:sp>
        <p:nvSpPr>
          <p:cNvPr id="10" name="灯片编号占位符 9"/>
          <p:cNvSpPr>
            <a:spLocks noGrp="1"/>
          </p:cNvSpPr>
          <p:nvPr>
            <p:ph type="sldNum" sz="quarter" idx="12"/>
          </p:nvPr>
        </p:nvSpPr>
        <p:spPr/>
        <p:txBody>
          <a:bodyPr/>
          <a:lstStyle/>
          <a:p>
            <a:fld id="{74D2AB8B-5816-41F2-8B4B-CA5C3E4E6A65}" type="slidenum">
              <a:rPr lang="zh-CN" altLang="en-US" smtClean="0"/>
              <a:t>67</a:t>
            </a:fld>
            <a:endParaRPr lang="zh-CN" altLang="en-US"/>
          </a:p>
        </p:txBody>
      </p:sp>
      <p:sp>
        <p:nvSpPr>
          <p:cNvPr id="12" name="墨迹 11"/>
          <p:cNvSpPr/>
          <p:nvPr/>
        </p:nvSpPr>
        <p:spPr bwMode="auto">
          <a:xfrm>
            <a:off x="6173640" y="4742280"/>
            <a:ext cx="3948840" cy="565560"/>
          </a:xfrm>
          <a:prstGeom prst="rect">
            <a:avLst/>
          </a:prstGeom>
        </p:spPr>
        <p:txBody>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10796"/>
    </mc:Choice>
    <mc:Fallback xmlns="">
      <p:transition spd="slow" advTm="11079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9" presetClass="entr" presetSubtype="0" fill="hold" nodeType="withEffect">
                                  <p:stCondLst>
                                    <p:cond delay="0"/>
                                  </p:stCondLst>
                                  <p:childTnLst>
                                    <p:set>
                                      <p:cBhvr>
                                        <p:cTn id="6" dur="1" fill="hold">
                                          <p:stCondLst>
                                            <p:cond delay="0"/>
                                          </p:stCondLst>
                                        </p:cTn>
                                        <p:tgtEl>
                                          <p:spTgt spid="12"/>
                                        </p:tgtEl>
                                        <p:attrNameLst>
                                          <p:attrName>style.visibility</p:attrName>
                                        </p:attrNameLst>
                                      </p:cBhvr>
                                      <p:to>
                                        <p:strVal val="visible"/>
                                      </p:to>
                                    </p:set>
                                    <p:cmd type="call" cmd="playFrom(0.0)">
                                      <p:cBhvr>
                                        <p:cTn id="7" dur="1"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89964" y="2050733"/>
            <a:ext cx="4775836" cy="995144"/>
          </a:xfrm>
          <a:prstGeom prst="rect">
            <a:avLst/>
          </a:prstGeom>
        </p:spPr>
        <p:txBody>
          <a:bodyPr vert="horz" wrap="square" lIns="0" tIns="12700" rIns="0" bIns="0" rtlCol="0">
            <a:spAutoFit/>
          </a:bodyPr>
          <a:lstStyle/>
          <a:p>
            <a:pPr marL="241300" indent="-228600">
              <a:lnSpc>
                <a:spcPct val="100000"/>
              </a:lnSpc>
              <a:spcBef>
                <a:spcPts val="100"/>
              </a:spcBef>
              <a:buFont typeface="Arial" panose="020B0604020202020204"/>
              <a:buChar char="•"/>
              <a:tabLst>
                <a:tab pos="241300" algn="l"/>
              </a:tabLst>
            </a:pPr>
            <a:r>
              <a:rPr sz="2400" b="1" spc="-5" dirty="0">
                <a:latin typeface="微软雅黑" panose="020B0503020204020204" pitchFamily="34" charset="-122"/>
                <a:ea typeface="微软雅黑" panose="020B0503020204020204" pitchFamily="34" charset="-122"/>
                <a:cs typeface="华文新魏" panose="02010800040101010101" charset="-122"/>
              </a:rPr>
              <a:t>顺序图中时间约束的表示</a:t>
            </a:r>
            <a:endParaRPr sz="2400" dirty="0">
              <a:latin typeface="微软雅黑" panose="020B0503020204020204" pitchFamily="34" charset="-122"/>
              <a:ea typeface="微软雅黑" panose="020B0503020204020204" pitchFamily="34" charset="-122"/>
              <a:cs typeface="华文新魏" panose="02010800040101010101" charset="-122"/>
            </a:endParaRPr>
          </a:p>
          <a:p>
            <a:pPr marL="698500" lvl="1" indent="-228600">
              <a:lnSpc>
                <a:spcPct val="100000"/>
              </a:lnSpc>
              <a:spcBef>
                <a:spcPts val="1920"/>
              </a:spcBef>
              <a:buFont typeface="Arial" panose="020B0604020202020204"/>
              <a:buChar char="•"/>
              <a:tabLst>
                <a:tab pos="698500" algn="l"/>
              </a:tabLst>
            </a:pPr>
            <a:r>
              <a:rPr sz="2400" dirty="0">
                <a:latin typeface="微软雅黑" panose="020B0503020204020204" pitchFamily="34" charset="-122"/>
                <a:ea typeface="微软雅黑" panose="020B0503020204020204" pitchFamily="34" charset="-122"/>
                <a:cs typeface="华文新魏" panose="02010800040101010101" charset="-122"/>
              </a:rPr>
              <a:t>用约束</a:t>
            </a:r>
            <a:r>
              <a:rPr sz="2400" spc="-40" dirty="0">
                <a:latin typeface="微软雅黑" panose="020B0503020204020204" pitchFamily="34" charset="-122"/>
                <a:ea typeface="微软雅黑" panose="020B0503020204020204" pitchFamily="34" charset="-122"/>
                <a:cs typeface="华文新魏" panose="02010800040101010101" charset="-122"/>
              </a:rPr>
              <a:t> </a:t>
            </a:r>
            <a:r>
              <a:rPr sz="2400" spc="-5" dirty="0">
                <a:latin typeface="微软雅黑" panose="020B0503020204020204" pitchFamily="34" charset="-122"/>
                <a:ea typeface="微软雅黑" panose="020B0503020204020204" pitchFamily="34" charset="-122"/>
                <a:cs typeface="华文新魏" panose="02010800040101010101" charset="-122"/>
              </a:rPr>
              <a:t>(constraint)</a:t>
            </a:r>
            <a:r>
              <a:rPr sz="2400" dirty="0">
                <a:latin typeface="微软雅黑" panose="020B0503020204020204" pitchFamily="34" charset="-122"/>
                <a:ea typeface="微软雅黑" panose="020B0503020204020204" pitchFamily="34" charset="-122"/>
                <a:cs typeface="华文新魏" panose="02010800040101010101" charset="-122"/>
              </a:rPr>
              <a:t>来表示。</a:t>
            </a:r>
          </a:p>
        </p:txBody>
      </p:sp>
      <p:sp>
        <p:nvSpPr>
          <p:cNvPr id="3" name="object 3"/>
          <p:cNvSpPr/>
          <p:nvPr/>
        </p:nvSpPr>
        <p:spPr>
          <a:xfrm>
            <a:off x="5231903" y="1958162"/>
            <a:ext cx="5760638" cy="2948885"/>
          </a:xfrm>
          <a:prstGeom prst="rect">
            <a:avLst/>
          </a:prstGeom>
          <a:blipFill>
            <a:blip r:embed="rId3" cstate="print"/>
            <a:stretch>
              <a:fillRect/>
            </a:stretch>
          </a:blipFill>
        </p:spPr>
        <p:txBody>
          <a:bodyPr wrap="square" lIns="0" tIns="0" rIns="0" bIns="0" rtlCol="0"/>
          <a:lstStyle/>
          <a:p>
            <a:endParaRPr/>
          </a:p>
        </p:txBody>
      </p:sp>
      <p:sp>
        <p:nvSpPr>
          <p:cNvPr id="6" name="object 6"/>
          <p:cNvSpPr txBox="1"/>
          <p:nvPr/>
        </p:nvSpPr>
        <p:spPr>
          <a:xfrm>
            <a:off x="11015994" y="6506284"/>
            <a:ext cx="135890" cy="196215"/>
          </a:xfrm>
          <a:prstGeom prst="rect">
            <a:avLst/>
          </a:prstGeom>
        </p:spPr>
        <p:txBody>
          <a:bodyPr vert="horz" wrap="square" lIns="0" tIns="0" rIns="0" bIns="0" rtlCol="0">
            <a:spAutoFit/>
          </a:bodyPr>
          <a:lstStyle/>
          <a:p>
            <a:pPr marL="25400">
              <a:lnSpc>
                <a:spcPts val="1425"/>
              </a:lnSpc>
            </a:pPr>
            <a:fld id="{81D60167-4931-47E6-BA6A-407CBD079E47}" type="slidenum">
              <a:rPr sz="1200" dirty="0">
                <a:solidFill>
                  <a:srgbClr val="898989"/>
                </a:solidFill>
                <a:latin typeface="Arial" panose="020B0604020202020204"/>
                <a:cs typeface="Arial" panose="020B0604020202020204"/>
              </a:rPr>
              <a:t>68</a:t>
            </a:fld>
            <a:endParaRPr sz="1200">
              <a:latin typeface="Arial" panose="020B0604020202020204"/>
              <a:cs typeface="Arial" panose="020B0604020202020204"/>
            </a:endParaRPr>
          </a:p>
        </p:txBody>
      </p:sp>
      <p:sp>
        <p:nvSpPr>
          <p:cNvPr id="8" name="标题 7"/>
          <p:cNvSpPr>
            <a:spLocks noGrp="1"/>
          </p:cNvSpPr>
          <p:nvPr>
            <p:ph type="title"/>
          </p:nvPr>
        </p:nvSpPr>
        <p:spPr/>
        <p:txBody>
          <a:bodyPr/>
          <a:lstStyle/>
          <a:p>
            <a:r>
              <a:rPr lang="zh-CN" altLang="en-US" spc="-5" dirty="0"/>
              <a:t>顺序图常见问题分析</a:t>
            </a:r>
            <a:endParaRPr lang="zh-CN" altLang="en-US" dirty="0"/>
          </a:p>
        </p:txBody>
      </p:sp>
      <p:sp>
        <p:nvSpPr>
          <p:cNvPr id="9" name="灯片编号占位符 8"/>
          <p:cNvSpPr>
            <a:spLocks noGrp="1"/>
          </p:cNvSpPr>
          <p:nvPr>
            <p:ph type="sldNum" sz="quarter" idx="12"/>
          </p:nvPr>
        </p:nvSpPr>
        <p:spPr/>
        <p:txBody>
          <a:bodyPr/>
          <a:lstStyle/>
          <a:p>
            <a:fld id="{74D2AB8B-5816-41F2-8B4B-CA5C3E4E6A65}" type="slidenum">
              <a:rPr lang="zh-CN" altLang="en-US" smtClean="0"/>
              <a:t>68</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67705"/>
    </mc:Choice>
    <mc:Fallback xmlns="">
      <p:transition spd="slow" advTm="67705"/>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941440" y="1582103"/>
            <a:ext cx="8278759" cy="990015"/>
          </a:xfrm>
          <a:prstGeom prst="rect">
            <a:avLst/>
          </a:prstGeom>
        </p:spPr>
        <p:txBody>
          <a:bodyPr vert="horz" wrap="square" lIns="0" tIns="99060" rIns="0" bIns="0" rtlCol="0">
            <a:spAutoFit/>
          </a:bodyPr>
          <a:lstStyle/>
          <a:p>
            <a:pPr marL="241300" indent="-228600">
              <a:lnSpc>
                <a:spcPct val="100000"/>
              </a:lnSpc>
              <a:spcBef>
                <a:spcPts val="780"/>
              </a:spcBef>
              <a:buFont typeface="Arial" panose="020B0604020202020204"/>
              <a:buChar char="•"/>
              <a:tabLst>
                <a:tab pos="241300" algn="l"/>
              </a:tabLst>
            </a:pPr>
            <a:r>
              <a:rPr sz="2600" dirty="0">
                <a:latin typeface="微软雅黑" panose="020B0503020204020204" pitchFamily="34" charset="-122"/>
                <a:ea typeface="微软雅黑" panose="020B0503020204020204" pitchFamily="34" charset="-122"/>
                <a:cs typeface="华文新魏" panose="02010800040101010101" charset="-122"/>
              </a:rPr>
              <a:t>嵌套的</a:t>
            </a:r>
            <a:r>
              <a:rPr sz="2600" dirty="0">
                <a:latin typeface="微软雅黑" panose="020B0503020204020204" pitchFamily="34" charset="-122"/>
                <a:ea typeface="微软雅黑" panose="020B0503020204020204" pitchFamily="34" charset="-122"/>
                <a:cs typeface="Calibri" panose="020F0502020204030204"/>
              </a:rPr>
              <a:t>FO</a:t>
            </a:r>
            <a:r>
              <a:rPr sz="2600" spc="-5" dirty="0">
                <a:latin typeface="微软雅黑" panose="020B0503020204020204" pitchFamily="34" charset="-122"/>
                <a:ea typeface="微软雅黑" panose="020B0503020204020204" pitchFamily="34" charset="-122"/>
                <a:cs typeface="Calibri" panose="020F0502020204030204"/>
              </a:rPr>
              <a:t>C</a:t>
            </a:r>
            <a:r>
              <a:rPr sz="2600" dirty="0">
                <a:latin typeface="微软雅黑" panose="020B0503020204020204" pitchFamily="34" charset="-122"/>
                <a:ea typeface="微软雅黑" panose="020B0503020204020204" pitchFamily="34" charset="-122"/>
                <a:cs typeface="华文新魏" panose="02010800040101010101" charset="-122"/>
              </a:rPr>
              <a:t>可以更精确地说明消息的开始和结束位置。</a:t>
            </a:r>
          </a:p>
          <a:p>
            <a:pPr marL="241300" indent="-228600">
              <a:lnSpc>
                <a:spcPct val="100000"/>
              </a:lnSpc>
              <a:spcBef>
                <a:spcPts val="680"/>
              </a:spcBef>
              <a:buFont typeface="Arial" panose="020B0604020202020204"/>
              <a:buChar char="•"/>
              <a:tabLst>
                <a:tab pos="241300" algn="l"/>
              </a:tabLst>
            </a:pPr>
            <a:r>
              <a:rPr sz="2600" dirty="0">
                <a:latin typeface="微软雅黑" panose="020B0503020204020204" pitchFamily="34" charset="-122"/>
                <a:ea typeface="微软雅黑" panose="020B0503020204020204" pitchFamily="34" charset="-122"/>
                <a:cs typeface="华文新魏" panose="02010800040101010101" charset="-122"/>
              </a:rPr>
              <a:t>图例：</a:t>
            </a:r>
          </a:p>
        </p:txBody>
      </p:sp>
      <p:sp>
        <p:nvSpPr>
          <p:cNvPr id="4" name="object 4"/>
          <p:cNvSpPr/>
          <p:nvPr/>
        </p:nvSpPr>
        <p:spPr>
          <a:xfrm>
            <a:off x="5080819" y="2235911"/>
            <a:ext cx="5585146" cy="3039986"/>
          </a:xfrm>
          <a:prstGeom prst="rect">
            <a:avLst/>
          </a:prstGeom>
          <a:blipFill>
            <a:blip r:embed="rId3"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5" name="object 5"/>
          <p:cNvSpPr txBox="1"/>
          <p:nvPr/>
        </p:nvSpPr>
        <p:spPr>
          <a:xfrm>
            <a:off x="942657" y="5155931"/>
            <a:ext cx="10306685" cy="1110559"/>
          </a:xfrm>
          <a:prstGeom prst="rect">
            <a:avLst/>
          </a:prstGeom>
        </p:spPr>
        <p:txBody>
          <a:bodyPr vert="horz" wrap="square" lIns="0" tIns="33019" rIns="0" bIns="0" rtlCol="0">
            <a:spAutoFit/>
          </a:bodyPr>
          <a:lstStyle/>
          <a:p>
            <a:pPr marL="12700" marR="5080">
              <a:lnSpc>
                <a:spcPts val="2800"/>
              </a:lnSpc>
              <a:spcBef>
                <a:spcPts val="260"/>
              </a:spcBef>
            </a:pPr>
            <a:r>
              <a:rPr sz="2400" dirty="0">
                <a:solidFill>
                  <a:srgbClr val="800000"/>
                </a:solidFill>
                <a:latin typeface="微软雅黑" panose="020B0503020204020204" pitchFamily="34" charset="-122"/>
                <a:ea typeface="微软雅黑" panose="020B0503020204020204" pitchFamily="34" charset="-122"/>
                <a:cs typeface="华文新魏" panose="02010800040101010101" charset="-122"/>
              </a:rPr>
              <a:t>激活期</a:t>
            </a:r>
            <a:r>
              <a:rPr sz="2400" dirty="0">
                <a:latin typeface="微软雅黑" panose="020B0503020204020204" pitchFamily="34" charset="-122"/>
                <a:ea typeface="微软雅黑" panose="020B0503020204020204" pitchFamily="34" charset="-122"/>
                <a:cs typeface="Calibri" panose="020F0502020204030204"/>
              </a:rPr>
              <a:t>(</a:t>
            </a:r>
            <a:r>
              <a:rPr sz="2400" b="1" dirty="0">
                <a:solidFill>
                  <a:srgbClr val="800000"/>
                </a:solidFill>
                <a:latin typeface="微软雅黑" panose="020B0503020204020204" pitchFamily="34" charset="-122"/>
                <a:ea typeface="微软雅黑" panose="020B0503020204020204" pitchFamily="34" charset="-122"/>
                <a:cs typeface="Calibri" panose="020F0502020204030204"/>
              </a:rPr>
              <a:t>ac</a:t>
            </a:r>
            <a:r>
              <a:rPr sz="2400" b="1" spc="-10" dirty="0">
                <a:solidFill>
                  <a:srgbClr val="800000"/>
                </a:solidFill>
                <a:latin typeface="微软雅黑" panose="020B0503020204020204" pitchFamily="34" charset="-122"/>
                <a:ea typeface="微软雅黑" panose="020B0503020204020204" pitchFamily="34" charset="-122"/>
                <a:cs typeface="Calibri" panose="020F0502020204030204"/>
              </a:rPr>
              <a:t>tivat</a:t>
            </a:r>
            <a:r>
              <a:rPr sz="2400" b="1" spc="-5" dirty="0">
                <a:solidFill>
                  <a:srgbClr val="800000"/>
                </a:solidFill>
                <a:latin typeface="微软雅黑" panose="020B0503020204020204" pitchFamily="34" charset="-122"/>
                <a:ea typeface="微软雅黑" panose="020B0503020204020204" pitchFamily="34" charset="-122"/>
                <a:cs typeface="Calibri" panose="020F0502020204030204"/>
              </a:rPr>
              <a:t>i</a:t>
            </a:r>
            <a:r>
              <a:rPr sz="2400" b="1" dirty="0">
                <a:solidFill>
                  <a:srgbClr val="800000"/>
                </a:solidFill>
                <a:latin typeface="微软雅黑" panose="020B0503020204020204" pitchFamily="34" charset="-122"/>
                <a:ea typeface="微软雅黑" panose="020B0503020204020204" pitchFamily="34" charset="-122"/>
                <a:cs typeface="Calibri" panose="020F0502020204030204"/>
              </a:rPr>
              <a:t>o</a:t>
            </a:r>
            <a:r>
              <a:rPr sz="2400" b="1" spc="-5" dirty="0">
                <a:solidFill>
                  <a:srgbClr val="800000"/>
                </a:solidFill>
                <a:latin typeface="微软雅黑" panose="020B0503020204020204" pitchFamily="34" charset="-122"/>
                <a:ea typeface="微软雅黑" panose="020B0503020204020204" pitchFamily="34" charset="-122"/>
                <a:cs typeface="Calibri" panose="020F0502020204030204"/>
              </a:rPr>
              <a:t>n</a:t>
            </a:r>
            <a:r>
              <a:rPr sz="2400" dirty="0">
                <a:latin typeface="微软雅黑" panose="020B0503020204020204" pitchFamily="34" charset="-122"/>
                <a:ea typeface="微软雅黑" panose="020B0503020204020204" pitchFamily="34" charset="-122"/>
                <a:cs typeface="Calibri" panose="020F0502020204030204"/>
              </a:rPr>
              <a:t>)</a:t>
            </a:r>
            <a:r>
              <a:rPr sz="2400" dirty="0">
                <a:latin typeface="微软雅黑" panose="020B0503020204020204" pitchFamily="34" charset="-122"/>
                <a:ea typeface="微软雅黑" panose="020B0503020204020204" pitchFamily="34" charset="-122"/>
                <a:cs typeface="华文新魏" panose="02010800040101010101" charset="-122"/>
              </a:rPr>
              <a:t>：表示对象执行一个动作的期间（直接操作或者通过下级操 作），也即对象激活的时间段。</a:t>
            </a:r>
          </a:p>
          <a:p>
            <a:pPr marL="12700">
              <a:lnSpc>
                <a:spcPts val="2820"/>
              </a:lnSpc>
            </a:pPr>
            <a:r>
              <a:rPr sz="2400" dirty="0">
                <a:solidFill>
                  <a:srgbClr val="800000"/>
                </a:solidFill>
                <a:latin typeface="微软雅黑" panose="020B0503020204020204" pitchFamily="34" charset="-122"/>
                <a:ea typeface="微软雅黑" panose="020B0503020204020204" pitchFamily="34" charset="-122"/>
                <a:cs typeface="华文新魏" panose="02010800040101010101" charset="-122"/>
              </a:rPr>
              <a:t>控制焦点</a:t>
            </a:r>
            <a:r>
              <a:rPr sz="2400" dirty="0">
                <a:latin typeface="微软雅黑" panose="020B0503020204020204" pitchFamily="34" charset="-122"/>
                <a:ea typeface="微软雅黑" panose="020B0503020204020204" pitchFamily="34" charset="-122"/>
                <a:cs typeface="华文新魏" panose="02010800040101010101" charset="-122"/>
              </a:rPr>
              <a:t>和</a:t>
            </a:r>
            <a:r>
              <a:rPr sz="2400" dirty="0">
                <a:solidFill>
                  <a:srgbClr val="800000"/>
                </a:solidFill>
                <a:latin typeface="微软雅黑" panose="020B0503020204020204" pitchFamily="34" charset="-122"/>
                <a:ea typeface="微软雅黑" panose="020B0503020204020204" pitchFamily="34" charset="-122"/>
                <a:cs typeface="华文新魏" panose="02010800040101010101" charset="-122"/>
              </a:rPr>
              <a:t>激活期</a:t>
            </a:r>
            <a:r>
              <a:rPr sz="2400" dirty="0">
                <a:latin typeface="微软雅黑" panose="020B0503020204020204" pitchFamily="34" charset="-122"/>
                <a:ea typeface="微软雅黑" panose="020B0503020204020204" pitchFamily="34" charset="-122"/>
                <a:cs typeface="华文新魏" panose="02010800040101010101" charset="-122"/>
              </a:rPr>
              <a:t>是同一个概念。</a:t>
            </a:r>
          </a:p>
        </p:txBody>
      </p:sp>
      <p:sp>
        <p:nvSpPr>
          <p:cNvPr id="8" name="标题 7"/>
          <p:cNvSpPr>
            <a:spLocks noGrp="1"/>
          </p:cNvSpPr>
          <p:nvPr>
            <p:ph type="title"/>
          </p:nvPr>
        </p:nvSpPr>
        <p:spPr/>
        <p:txBody>
          <a:bodyPr/>
          <a:lstStyle/>
          <a:p>
            <a:r>
              <a:rPr lang="zh-CN" altLang="en-US" spc="-5" dirty="0"/>
              <a:t>控制焦点</a:t>
            </a:r>
            <a:r>
              <a:rPr lang="en-US" altLang="zh-CN" spc="-5" dirty="0">
                <a:latin typeface="Calibri" panose="020F0502020204030204"/>
                <a:cs typeface="Calibri" panose="020F0502020204030204"/>
              </a:rPr>
              <a:t>(focus</a:t>
            </a:r>
            <a:r>
              <a:rPr lang="en-US" altLang="zh-CN" spc="-30" dirty="0">
                <a:latin typeface="Calibri" panose="020F0502020204030204"/>
                <a:cs typeface="Calibri" panose="020F0502020204030204"/>
              </a:rPr>
              <a:t> </a:t>
            </a:r>
            <a:r>
              <a:rPr lang="en-US" altLang="zh-CN" spc="-5" dirty="0">
                <a:latin typeface="Calibri" panose="020F0502020204030204"/>
                <a:cs typeface="Calibri" panose="020F0502020204030204"/>
              </a:rPr>
              <a:t>of</a:t>
            </a:r>
            <a:r>
              <a:rPr lang="en-US" altLang="zh-CN" spc="-25" dirty="0">
                <a:latin typeface="Calibri" panose="020F0502020204030204"/>
                <a:cs typeface="Calibri" panose="020F0502020204030204"/>
              </a:rPr>
              <a:t> </a:t>
            </a:r>
            <a:r>
              <a:rPr lang="en-US" altLang="zh-CN" spc="-5" dirty="0">
                <a:latin typeface="Calibri" panose="020F0502020204030204"/>
                <a:cs typeface="Calibri" panose="020F0502020204030204"/>
              </a:rPr>
              <a:t>control)</a:t>
            </a:r>
            <a:r>
              <a:rPr lang="zh-CN" altLang="en-US" spc="-5" dirty="0"/>
              <a:t>的嵌套</a:t>
            </a:r>
            <a:endParaRPr lang="zh-CN" altLang="en-US" dirty="0"/>
          </a:p>
        </p:txBody>
      </p:sp>
      <p:sp>
        <p:nvSpPr>
          <p:cNvPr id="9" name="灯片编号占位符 8"/>
          <p:cNvSpPr>
            <a:spLocks noGrp="1"/>
          </p:cNvSpPr>
          <p:nvPr>
            <p:ph type="sldNum" sz="quarter" idx="12"/>
          </p:nvPr>
        </p:nvSpPr>
        <p:spPr/>
        <p:txBody>
          <a:bodyPr/>
          <a:lstStyle/>
          <a:p>
            <a:fld id="{74D2AB8B-5816-41F2-8B4B-CA5C3E4E6A65}" type="slidenum">
              <a:rPr lang="zh-CN" altLang="en-US" smtClean="0"/>
              <a:t>69</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11718"/>
    </mc:Choice>
    <mc:Fallback xmlns="">
      <p:transition spd="slow" advTm="111718"/>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pc="-5" dirty="0"/>
              <a:t>顺序图常见问题分析</a:t>
            </a:r>
            <a:endParaRPr lang="zh-CN" altLang="en-US" dirty="0"/>
          </a:p>
        </p:txBody>
      </p:sp>
      <p:sp>
        <p:nvSpPr>
          <p:cNvPr id="3" name="内容占位符 2"/>
          <p:cNvSpPr>
            <a:spLocks noGrp="1"/>
          </p:cNvSpPr>
          <p:nvPr>
            <p:ph idx="1"/>
          </p:nvPr>
        </p:nvSpPr>
        <p:spPr/>
        <p:txBody>
          <a:bodyPr/>
          <a:lstStyle/>
          <a:p>
            <a:pPr marL="241300">
              <a:lnSpc>
                <a:spcPct val="100000"/>
              </a:lnSpc>
              <a:spcBef>
                <a:spcPts val="100"/>
              </a:spcBef>
              <a:buFont typeface="Arial" panose="020B0604020202020204"/>
              <a:buChar char="•"/>
              <a:tabLst>
                <a:tab pos="241300" algn="l"/>
              </a:tabLst>
            </a:pPr>
            <a:r>
              <a:rPr lang="zh-CN" altLang="en-US" sz="2400" b="1" spc="-5" dirty="0">
                <a:latin typeface="华文新魏" panose="02010800040101010101" charset="-122"/>
                <a:cs typeface="华文新魏" panose="02010800040101010101" charset="-122"/>
              </a:rPr>
              <a:t>顺序图中递归的表示</a:t>
            </a:r>
            <a:endParaRPr lang="zh-CN" altLang="en-US" sz="2400" dirty="0">
              <a:latin typeface="华文新魏" panose="02010800040101010101" charset="-122"/>
              <a:cs typeface="华文新魏" panose="02010800040101010101" charset="-122"/>
            </a:endParaRPr>
          </a:p>
          <a:p>
            <a:pPr marL="12700" marR="5080" lvl="1" indent="457200">
              <a:lnSpc>
                <a:spcPts val="5300"/>
              </a:lnSpc>
              <a:spcBef>
                <a:spcPts val="80"/>
              </a:spcBef>
              <a:buFont typeface="Arial" panose="020B0604020202020204"/>
              <a:buChar char="•"/>
              <a:tabLst>
                <a:tab pos="673735" algn="l"/>
                <a:tab pos="698500" algn="l"/>
              </a:tabLst>
            </a:pPr>
            <a:r>
              <a:rPr lang="zh-CN" altLang="en-US" dirty="0">
                <a:latin typeface="华文新魏" panose="02010800040101010101" charset="-122"/>
                <a:cs typeface="华文新魏" panose="02010800040101010101" charset="-122"/>
              </a:rPr>
              <a:t>利用嵌套的</a:t>
            </a:r>
            <a:r>
              <a:rPr lang="en-US" altLang="zh-CN" dirty="0">
                <a:latin typeface="华文新魏" panose="02010800040101010101" charset="-122"/>
                <a:cs typeface="华文新魏" panose="02010800040101010101" charset="-122"/>
              </a:rPr>
              <a:t>FOC</a:t>
            </a:r>
            <a:r>
              <a:rPr lang="zh-CN" altLang="en-US" dirty="0">
                <a:latin typeface="华文新魏" panose="02010800040101010101" charset="-122"/>
                <a:cs typeface="华文新魏" panose="02010800040101010101" charset="-122"/>
              </a:rPr>
              <a:t>表示 </a:t>
            </a:r>
            <a:endParaRPr lang="en-US" altLang="zh-CN" dirty="0">
              <a:latin typeface="华文新魏" panose="02010800040101010101" charset="-122"/>
              <a:cs typeface="华文新魏" panose="02010800040101010101" charset="-122"/>
            </a:endParaRPr>
          </a:p>
          <a:p>
            <a:pPr marL="12700" marR="5080" lvl="1" indent="457200">
              <a:lnSpc>
                <a:spcPts val="5300"/>
              </a:lnSpc>
              <a:spcBef>
                <a:spcPts val="80"/>
              </a:spcBef>
              <a:buFont typeface="Arial" panose="020B0604020202020204"/>
              <a:buChar char="•"/>
              <a:tabLst>
                <a:tab pos="673735" algn="l"/>
                <a:tab pos="698500" algn="l"/>
              </a:tabLst>
            </a:pPr>
            <a:r>
              <a:rPr lang="zh-CN" altLang="en-US" dirty="0">
                <a:latin typeface="华文新魏" panose="02010800040101010101" charset="-122"/>
                <a:cs typeface="华文新魏" panose="02010800040101010101" charset="-122"/>
              </a:rPr>
              <a:t>例</a:t>
            </a:r>
            <a:r>
              <a:rPr lang="en-US" altLang="zh-CN" dirty="0">
                <a:latin typeface="华文新魏" panose="02010800040101010101" charset="-122"/>
                <a:cs typeface="华文新魏" panose="02010800040101010101" charset="-122"/>
              </a:rPr>
              <a:t>1. </a:t>
            </a:r>
            <a:r>
              <a:rPr lang="zh-CN" altLang="en-US" dirty="0">
                <a:latin typeface="华文新魏" panose="02010800040101010101" charset="-122"/>
                <a:cs typeface="华文新魏" panose="02010800040101010101" charset="-122"/>
              </a:rPr>
              <a:t>单个对象自身的递归。</a:t>
            </a:r>
          </a:p>
          <a:p>
            <a:endParaRPr lang="zh-CN" altLang="en-US" dirty="0"/>
          </a:p>
        </p:txBody>
      </p:sp>
      <p:sp>
        <p:nvSpPr>
          <p:cNvPr id="5" name="object 4"/>
          <p:cNvSpPr/>
          <p:nvPr/>
        </p:nvSpPr>
        <p:spPr>
          <a:xfrm>
            <a:off x="5541142" y="1825625"/>
            <a:ext cx="5609457" cy="3551597"/>
          </a:xfrm>
          <a:prstGeom prst="rect">
            <a:avLst/>
          </a:prstGeom>
          <a:blipFill>
            <a:blip r:embed="rId3" cstate="print"/>
            <a:stretch>
              <a:fillRect/>
            </a:stretch>
          </a:blipFill>
        </p:spPr>
        <p:txBody>
          <a:bodyPr wrap="square" lIns="0" tIns="0" rIns="0" bIns="0" rtlCol="0"/>
          <a:lstStyle/>
          <a:p>
            <a:endParaRPr/>
          </a:p>
        </p:txBody>
      </p:sp>
      <p:sp>
        <p:nvSpPr>
          <p:cNvPr id="6" name="灯片编号占位符 5"/>
          <p:cNvSpPr>
            <a:spLocks noGrp="1"/>
          </p:cNvSpPr>
          <p:nvPr>
            <p:ph type="sldNum" sz="quarter" idx="12"/>
          </p:nvPr>
        </p:nvSpPr>
        <p:spPr/>
        <p:txBody>
          <a:bodyPr/>
          <a:lstStyle/>
          <a:p>
            <a:fld id="{74D2AB8B-5816-41F2-8B4B-CA5C3E4E6A65}" type="slidenum">
              <a:rPr lang="zh-CN" altLang="en-US" smtClean="0"/>
              <a:t>70</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7106"/>
    </mc:Choice>
    <mc:Fallback xmlns="">
      <p:transition spd="slow" advTm="37106"/>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pc="-5" dirty="0"/>
              <a:t>顺序图常见问题分析</a:t>
            </a:r>
            <a:endParaRPr lang="zh-CN" altLang="en-US" dirty="0"/>
          </a:p>
        </p:txBody>
      </p:sp>
      <p:sp>
        <p:nvSpPr>
          <p:cNvPr id="3" name="内容占位符 2"/>
          <p:cNvSpPr>
            <a:spLocks noGrp="1"/>
          </p:cNvSpPr>
          <p:nvPr>
            <p:ph idx="1"/>
          </p:nvPr>
        </p:nvSpPr>
        <p:spPr/>
        <p:txBody>
          <a:bodyPr/>
          <a:lstStyle/>
          <a:p>
            <a:pPr marL="12700" indent="0">
              <a:lnSpc>
                <a:spcPct val="100000"/>
              </a:lnSpc>
              <a:spcBef>
                <a:spcPts val="100"/>
              </a:spcBef>
              <a:buNone/>
              <a:tabLst>
                <a:tab pos="241300" algn="l"/>
              </a:tabLst>
            </a:pPr>
            <a:endParaRPr lang="en-US" altLang="zh-CN" sz="2400" b="1" spc="-5" dirty="0">
              <a:latin typeface="华文新魏" panose="02010800040101010101" charset="-122"/>
              <a:cs typeface="华文新魏" panose="02010800040101010101" charset="-122"/>
            </a:endParaRPr>
          </a:p>
          <a:p>
            <a:pPr marL="241300">
              <a:lnSpc>
                <a:spcPct val="100000"/>
              </a:lnSpc>
              <a:spcBef>
                <a:spcPts val="100"/>
              </a:spcBef>
              <a:buFont typeface="Arial" panose="020B0604020202020204"/>
              <a:buChar char="•"/>
              <a:tabLst>
                <a:tab pos="241300" algn="l"/>
              </a:tabLst>
            </a:pPr>
            <a:r>
              <a:rPr lang="zh-CN" altLang="en-US" sz="2400" b="1" spc="-5" dirty="0">
                <a:latin typeface="华文新魏" panose="02010800040101010101" charset="-122"/>
                <a:cs typeface="华文新魏" panose="02010800040101010101" charset="-122"/>
              </a:rPr>
              <a:t>顺序图中递归的表示</a:t>
            </a:r>
            <a:endParaRPr lang="zh-CN" altLang="en-US" sz="2400" dirty="0">
              <a:latin typeface="华文新魏" panose="02010800040101010101" charset="-122"/>
              <a:cs typeface="华文新魏" panose="02010800040101010101" charset="-122"/>
            </a:endParaRPr>
          </a:p>
          <a:p>
            <a:pPr marL="698500" lvl="1">
              <a:lnSpc>
                <a:spcPct val="100000"/>
              </a:lnSpc>
              <a:spcBef>
                <a:spcPts val="1920"/>
              </a:spcBef>
              <a:buFont typeface="Arial" panose="020B0604020202020204"/>
              <a:buChar char="•"/>
              <a:tabLst>
                <a:tab pos="698500" algn="l"/>
              </a:tabLst>
            </a:pPr>
            <a:r>
              <a:rPr lang="zh-CN" altLang="en-US" dirty="0">
                <a:latin typeface="华文新魏" panose="02010800040101010101" charset="-122"/>
                <a:cs typeface="华文新魏" panose="02010800040101010101" charset="-122"/>
              </a:rPr>
              <a:t>利用嵌套的</a:t>
            </a:r>
            <a:r>
              <a:rPr lang="en-US" altLang="zh-CN" dirty="0">
                <a:latin typeface="华文新魏" panose="02010800040101010101" charset="-122"/>
                <a:cs typeface="华文新魏" panose="02010800040101010101" charset="-122"/>
              </a:rPr>
              <a:t>FOC</a:t>
            </a:r>
            <a:r>
              <a:rPr lang="zh-CN" altLang="en-US" dirty="0">
                <a:latin typeface="华文新魏" panose="02010800040101010101" charset="-122"/>
                <a:cs typeface="华文新魏" panose="02010800040101010101" charset="-122"/>
              </a:rPr>
              <a:t>表示</a:t>
            </a:r>
          </a:p>
          <a:p>
            <a:pPr marL="12700">
              <a:lnSpc>
                <a:spcPct val="100000"/>
              </a:lnSpc>
              <a:spcBef>
                <a:spcPts val="2420"/>
              </a:spcBef>
            </a:pPr>
            <a:r>
              <a:rPr lang="zh-CN" altLang="en-US" sz="2400" dirty="0">
                <a:latin typeface="华文新魏" panose="02010800040101010101" charset="-122"/>
                <a:cs typeface="华文新魏" panose="02010800040101010101" charset="-122"/>
              </a:rPr>
              <a:t>例</a:t>
            </a:r>
            <a:r>
              <a:rPr lang="en-US" altLang="zh-CN" sz="2400" dirty="0">
                <a:latin typeface="华文新魏" panose="02010800040101010101" charset="-122"/>
                <a:cs typeface="华文新魏" panose="02010800040101010101" charset="-122"/>
              </a:rPr>
              <a:t>2.</a:t>
            </a:r>
            <a:r>
              <a:rPr lang="zh-CN" altLang="en-US" sz="2400" spc="-90" dirty="0">
                <a:latin typeface="华文新魏" panose="02010800040101010101" charset="-122"/>
                <a:cs typeface="华文新魏" panose="02010800040101010101" charset="-122"/>
              </a:rPr>
              <a:t> </a:t>
            </a:r>
            <a:r>
              <a:rPr lang="zh-CN" altLang="en-US" sz="2400" dirty="0">
                <a:latin typeface="华文新魏" panose="02010800040101010101" charset="-122"/>
                <a:cs typeface="华文新魏" panose="02010800040101010101" charset="-122"/>
              </a:rPr>
              <a:t>多个对象间相互递归调用的表示。</a:t>
            </a:r>
          </a:p>
          <a:p>
            <a:endParaRPr lang="zh-CN" altLang="en-US" dirty="0"/>
          </a:p>
        </p:txBody>
      </p:sp>
      <p:sp>
        <p:nvSpPr>
          <p:cNvPr id="5" name="object 3"/>
          <p:cNvSpPr/>
          <p:nvPr/>
        </p:nvSpPr>
        <p:spPr>
          <a:xfrm>
            <a:off x="6459007" y="2087102"/>
            <a:ext cx="5215270" cy="2913983"/>
          </a:xfrm>
          <a:prstGeom prst="rect">
            <a:avLst/>
          </a:prstGeom>
          <a:blipFill>
            <a:blip r:embed="rId3" cstate="print"/>
            <a:stretch>
              <a:fillRect/>
            </a:stretch>
          </a:blipFill>
        </p:spPr>
        <p:txBody>
          <a:bodyPr wrap="square" lIns="0" tIns="0" rIns="0" bIns="0" rtlCol="0"/>
          <a:lstStyle/>
          <a:p>
            <a:endParaRPr/>
          </a:p>
        </p:txBody>
      </p:sp>
      <p:sp>
        <p:nvSpPr>
          <p:cNvPr id="6" name="灯片编号占位符 5"/>
          <p:cNvSpPr>
            <a:spLocks noGrp="1"/>
          </p:cNvSpPr>
          <p:nvPr>
            <p:ph type="sldNum" sz="quarter" idx="12"/>
          </p:nvPr>
        </p:nvSpPr>
        <p:spPr/>
        <p:txBody>
          <a:bodyPr/>
          <a:lstStyle/>
          <a:p>
            <a:fld id="{74D2AB8B-5816-41F2-8B4B-CA5C3E4E6A65}" type="slidenum">
              <a:rPr lang="zh-CN" altLang="en-US" smtClean="0"/>
              <a:t>71</a:t>
            </a:fld>
            <a:endParaRPr lang="zh-CN" altLang="en-US"/>
          </a:p>
        </p:txBody>
      </p:sp>
      <p:sp>
        <p:nvSpPr>
          <p:cNvPr id="4" name="墨迹 3"/>
          <p:cNvSpPr/>
          <p:nvPr/>
        </p:nvSpPr>
        <p:spPr bwMode="auto">
          <a:xfrm>
            <a:off x="7833240" y="3118680"/>
            <a:ext cx="3018600" cy="930600"/>
          </a:xfrm>
          <a:prstGeom prst="rect">
            <a:avLst/>
          </a:prstGeom>
        </p:spPr>
        <p:txBody>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57326"/>
    </mc:Choice>
    <mc:Fallback xmlns="">
      <p:transition spd="slow" advTm="5732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9"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md type="call" cmd="playFrom(0.0)">
                                      <p:cBhvr>
                                        <p:cTn id="7"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838200" y="1917157"/>
            <a:ext cx="10007600" cy="2413481"/>
          </a:xfrm>
          <a:prstGeom prst="rect">
            <a:avLst/>
          </a:prstGeom>
        </p:spPr>
        <p:txBody>
          <a:bodyPr vert="horz" wrap="square" lIns="0" tIns="12700" rIns="0" bIns="0" rtlCol="0">
            <a:spAutoFit/>
          </a:bodyPr>
          <a:lstStyle/>
          <a:p>
            <a:pPr marL="241300" indent="-228600">
              <a:lnSpc>
                <a:spcPct val="100000"/>
              </a:lnSpc>
              <a:spcBef>
                <a:spcPts val="100"/>
              </a:spcBef>
              <a:buClr>
                <a:srgbClr val="FF0000"/>
              </a:buClr>
              <a:buFont typeface="Arial" panose="020B0604020202020204"/>
              <a:buChar char="•"/>
              <a:tabLst>
                <a:tab pos="241300" algn="l"/>
              </a:tabLst>
            </a:pPr>
            <a:r>
              <a:rPr sz="2400" b="1" spc="-5" dirty="0">
                <a:latin typeface="微软雅黑" panose="020B0503020204020204" pitchFamily="34" charset="-122"/>
                <a:ea typeface="微软雅黑" panose="020B0503020204020204" pitchFamily="34" charset="-122"/>
                <a:cs typeface="华文新魏" panose="02010800040101010101" charset="-122"/>
              </a:rPr>
              <a:t>帮助分析人员对照检查用例中描述需求，是否已经落实给具体对象去实现</a:t>
            </a:r>
            <a:endParaRPr sz="2400" dirty="0">
              <a:latin typeface="微软雅黑" panose="020B0503020204020204" pitchFamily="34" charset="-122"/>
              <a:ea typeface="微软雅黑" panose="020B0503020204020204" pitchFamily="34" charset="-122"/>
              <a:cs typeface="华文新魏" panose="02010800040101010101" charset="-122"/>
            </a:endParaRPr>
          </a:p>
          <a:p>
            <a:pPr marL="241300" indent="-228600">
              <a:lnSpc>
                <a:spcPct val="100000"/>
              </a:lnSpc>
              <a:spcBef>
                <a:spcPts val="2420"/>
              </a:spcBef>
              <a:buClr>
                <a:srgbClr val="FF0000"/>
              </a:buClr>
              <a:buFont typeface="Arial" panose="020B0604020202020204"/>
              <a:buChar char="•"/>
              <a:tabLst>
                <a:tab pos="241300" algn="l"/>
              </a:tabLst>
            </a:pPr>
            <a:r>
              <a:rPr sz="2400" b="1" spc="-5" dirty="0">
                <a:latin typeface="微软雅黑" panose="020B0503020204020204" pitchFamily="34" charset="-122"/>
                <a:ea typeface="微软雅黑" panose="020B0503020204020204" pitchFamily="34" charset="-122"/>
                <a:cs typeface="华文新魏" panose="02010800040101010101" charset="-122"/>
              </a:rPr>
              <a:t>提醒分析人员去补充遗漏的对象类或操作</a:t>
            </a:r>
            <a:endParaRPr sz="2400" dirty="0">
              <a:latin typeface="微软雅黑" panose="020B0503020204020204" pitchFamily="34" charset="-122"/>
              <a:ea typeface="微软雅黑" panose="020B0503020204020204" pitchFamily="34" charset="-122"/>
              <a:cs typeface="华文新魏" panose="02010800040101010101" charset="-122"/>
            </a:endParaRPr>
          </a:p>
          <a:p>
            <a:pPr marL="241300" indent="-228600">
              <a:lnSpc>
                <a:spcPct val="100000"/>
              </a:lnSpc>
              <a:spcBef>
                <a:spcPts val="2420"/>
              </a:spcBef>
              <a:buClr>
                <a:srgbClr val="FF0000"/>
              </a:buClr>
              <a:buFont typeface="Arial" panose="020B0604020202020204"/>
              <a:buChar char="•"/>
              <a:tabLst>
                <a:tab pos="241300" algn="l"/>
              </a:tabLst>
            </a:pPr>
            <a:r>
              <a:rPr sz="2400" b="1" spc="-5" dirty="0">
                <a:latin typeface="微软雅黑" panose="020B0503020204020204" pitchFamily="34" charset="-122"/>
                <a:ea typeface="微软雅黑" panose="020B0503020204020204" pitchFamily="34" charset="-122"/>
                <a:cs typeface="华文新魏" panose="02010800040101010101" charset="-122"/>
              </a:rPr>
              <a:t>帮助分析人员识别哪些对象是主动对象</a:t>
            </a:r>
            <a:endParaRPr sz="2400" dirty="0">
              <a:latin typeface="微软雅黑" panose="020B0503020204020204" pitchFamily="34" charset="-122"/>
              <a:ea typeface="微软雅黑" panose="020B0503020204020204" pitchFamily="34" charset="-122"/>
              <a:cs typeface="华文新魏" panose="02010800040101010101" charset="-122"/>
            </a:endParaRPr>
          </a:p>
          <a:p>
            <a:pPr marL="241300" indent="-228600">
              <a:lnSpc>
                <a:spcPct val="100000"/>
              </a:lnSpc>
              <a:spcBef>
                <a:spcPts val="2420"/>
              </a:spcBef>
              <a:buClr>
                <a:srgbClr val="FF0000"/>
              </a:buClr>
              <a:buFont typeface="Arial" panose="020B0604020202020204"/>
              <a:buChar char="•"/>
              <a:tabLst>
                <a:tab pos="241300" algn="l"/>
              </a:tabLst>
            </a:pPr>
            <a:r>
              <a:rPr sz="2400" b="1" spc="-5" dirty="0">
                <a:latin typeface="微软雅黑" panose="020B0503020204020204" pitchFamily="34" charset="-122"/>
                <a:ea typeface="微软雅黑" panose="020B0503020204020204" pitchFamily="34" charset="-122"/>
                <a:cs typeface="华文新魏" panose="02010800040101010101" charset="-122"/>
              </a:rPr>
              <a:t>通过对一个特定的对象群体的动态方面建模，深入地理解对象之间的交互</a:t>
            </a:r>
            <a:endParaRPr sz="2400" dirty="0">
              <a:latin typeface="微软雅黑" panose="020B0503020204020204" pitchFamily="34" charset="-122"/>
              <a:ea typeface="微软雅黑" panose="020B0503020204020204" pitchFamily="34" charset="-122"/>
              <a:cs typeface="华文新魏" panose="02010800040101010101" charset="-122"/>
            </a:endParaRPr>
          </a:p>
        </p:txBody>
      </p:sp>
      <p:sp>
        <p:nvSpPr>
          <p:cNvPr id="5" name="object 5"/>
          <p:cNvSpPr txBox="1"/>
          <p:nvPr/>
        </p:nvSpPr>
        <p:spPr>
          <a:xfrm>
            <a:off x="11072524" y="6506284"/>
            <a:ext cx="220345" cy="199390"/>
          </a:xfrm>
          <a:prstGeom prst="rect">
            <a:avLst/>
          </a:prstGeom>
        </p:spPr>
        <p:txBody>
          <a:bodyPr vert="horz" wrap="square" lIns="0" tIns="0" rIns="0" bIns="0" rtlCol="0">
            <a:spAutoFit/>
          </a:bodyPr>
          <a:lstStyle/>
          <a:p>
            <a:pPr marL="46990">
              <a:lnSpc>
                <a:spcPts val="1425"/>
              </a:lnSpc>
            </a:pPr>
            <a:fld id="{81D60167-4931-47E6-BA6A-407CBD079E47}" type="slidenum">
              <a:rPr sz="1200" dirty="0">
                <a:solidFill>
                  <a:srgbClr val="FFFFFF"/>
                </a:solidFill>
                <a:latin typeface="华文新魏" panose="02010800040101010101" charset="-122"/>
                <a:cs typeface="华文新魏" panose="02010800040101010101" charset="-122"/>
              </a:rPr>
              <a:t>72</a:t>
            </a:fld>
            <a:endParaRPr sz="1200">
              <a:latin typeface="华文新魏" panose="02010800040101010101" charset="-122"/>
              <a:cs typeface="华文新魏" panose="02010800040101010101" charset="-122"/>
            </a:endParaRPr>
          </a:p>
        </p:txBody>
      </p:sp>
      <p:sp>
        <p:nvSpPr>
          <p:cNvPr id="7" name="标题 6"/>
          <p:cNvSpPr>
            <a:spLocks noGrp="1"/>
          </p:cNvSpPr>
          <p:nvPr>
            <p:ph type="title"/>
          </p:nvPr>
        </p:nvSpPr>
        <p:spPr/>
        <p:txBody>
          <a:bodyPr/>
          <a:lstStyle/>
          <a:p>
            <a:r>
              <a:rPr lang="zh-CN" altLang="en-US" spc="-5" dirty="0"/>
              <a:t>顺序图的作用</a:t>
            </a:r>
            <a:endParaRPr lang="zh-CN" altLang="en-US" dirty="0"/>
          </a:p>
        </p:txBody>
      </p:sp>
      <p:sp>
        <p:nvSpPr>
          <p:cNvPr id="8" name="灯片编号占位符 7"/>
          <p:cNvSpPr>
            <a:spLocks noGrp="1"/>
          </p:cNvSpPr>
          <p:nvPr>
            <p:ph type="sldNum" sz="quarter" idx="12"/>
          </p:nvPr>
        </p:nvSpPr>
        <p:spPr/>
        <p:txBody>
          <a:bodyPr/>
          <a:lstStyle/>
          <a:p>
            <a:fld id="{74D2AB8B-5816-41F2-8B4B-CA5C3E4E6A65}" type="slidenum">
              <a:rPr lang="zh-CN" altLang="en-US" smtClean="0"/>
              <a:t>72</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7711"/>
    </mc:Choice>
    <mc:Fallback xmlns="">
      <p:transition spd="slow" advTm="37711"/>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顺序图中带条件消息的发送，不能采用以下哪种方式进行？</a:t>
            </a:r>
          </a:p>
        </p:txBody>
      </p:sp>
      <p:sp>
        <p:nvSpPr>
          <p:cNvPr id="5" name="文本框 4"/>
          <p:cNvSpPr txBox="1"/>
          <p:nvPr>
            <p:custDataLst>
              <p:tags r:id="rId3"/>
            </p:custDataLst>
          </p:nvPr>
        </p:nvSpPr>
        <p:spPr>
          <a:xfrm>
            <a:off x="2816087" y="2189715"/>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用文字说明，作为注释添加</a:t>
            </a:r>
          </a:p>
        </p:txBody>
      </p:sp>
      <p:sp>
        <p:nvSpPr>
          <p:cNvPr id="6" name="文本框 5"/>
          <p:cNvSpPr txBox="1"/>
          <p:nvPr>
            <p:custDataLst>
              <p:tags r:id="rId4"/>
            </p:custDataLst>
          </p:nvPr>
        </p:nvSpPr>
        <p:spPr>
          <a:xfrm>
            <a:off x="2816087" y="3046965"/>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添加条件控制框</a:t>
            </a:r>
          </a:p>
        </p:txBody>
      </p:sp>
      <p:sp>
        <p:nvSpPr>
          <p:cNvPr id="7" name="文本框 6"/>
          <p:cNvSpPr txBox="1"/>
          <p:nvPr>
            <p:custDataLst>
              <p:tags r:id="rId5"/>
            </p:custDataLst>
          </p:nvPr>
        </p:nvSpPr>
        <p:spPr>
          <a:xfrm>
            <a:off x="2816087" y="3904215"/>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分成多个顺序图子图来描述</a:t>
            </a:r>
          </a:p>
        </p:txBody>
      </p:sp>
      <p:sp>
        <p:nvSpPr>
          <p:cNvPr id="8" name="文本框 7"/>
          <p:cNvSpPr txBox="1"/>
          <p:nvPr>
            <p:custDataLst>
              <p:tags r:id="rId6"/>
            </p:custDataLst>
          </p:nvPr>
        </p:nvSpPr>
        <p:spPr>
          <a:xfrm>
            <a:off x="2816087" y="4761465"/>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在消息名字前加条件子句</a:t>
            </a:r>
          </a:p>
        </p:txBody>
      </p:sp>
      <p:sp>
        <p:nvSpPr>
          <p:cNvPr id="13" name="矩形: 圆角 12"/>
          <p:cNvSpPr/>
          <p:nvPr>
            <p:custDataLst>
              <p:tags r:id="rId7"/>
            </p:custDataLst>
          </p:nvPr>
        </p:nvSpPr>
        <p:spPr>
          <a:xfrm>
            <a:off x="7653131" y="2048268"/>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grpSp>
        <p:nvGrpSpPr>
          <p:cNvPr id="18" name="组合 17"/>
          <p:cNvGrpSpPr/>
          <p:nvPr>
            <p:custDataLst>
              <p:tags r:id="rId8"/>
            </p:custDataLst>
          </p:nvPr>
        </p:nvGrpSpPr>
        <p:grpSpPr>
          <a:xfrm>
            <a:off x="0" y="0"/>
            <a:ext cx="12192000" cy="635000"/>
            <a:chOff x="0" y="0"/>
            <a:chExt cx="12192000" cy="635000"/>
          </a:xfrm>
        </p:grpSpPr>
        <p:sp>
          <p:nvSpPr>
            <p:cNvPr id="14" name="TitleBackground"/>
            <p:cNvSpPr/>
            <p:nvPr>
              <p:custDataLst>
                <p:tags r:id="rId10"/>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7" name="TipText"/>
            <p:cNvSpPr txBox="1"/>
            <p:nvPr>
              <p:custDataLst>
                <p:tags r:id="rId13"/>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2" name="文本框 1">
            <a:extLst>
              <a:ext uri="{FF2B5EF4-FFF2-40B4-BE49-F238E27FC236}">
                <a16:creationId xmlns:a16="http://schemas.microsoft.com/office/drawing/2014/main" id="{AD02C9DD-D0CB-2018-7AB6-5CA408A9BDF3}"/>
              </a:ext>
            </a:extLst>
          </p:cNvPr>
          <p:cNvSpPr txBox="1"/>
          <p:nvPr/>
        </p:nvSpPr>
        <p:spPr>
          <a:xfrm>
            <a:off x="2098797" y="2295860"/>
            <a:ext cx="405880" cy="3108543"/>
          </a:xfrm>
          <a:prstGeom prst="rect">
            <a:avLst/>
          </a:prstGeom>
          <a:noFill/>
        </p:spPr>
        <p:txBody>
          <a:bodyPr wrap="none" rtlCol="0">
            <a:spAutoFit/>
          </a:bodyPr>
          <a:lstStyle/>
          <a:p>
            <a:r>
              <a:rPr lang="en-US" altLang="zh-CN" sz="2800" dirty="0"/>
              <a:t>A</a:t>
            </a:r>
          </a:p>
          <a:p>
            <a:endParaRPr lang="en-US" altLang="zh-CN" sz="2800" dirty="0"/>
          </a:p>
          <a:p>
            <a:r>
              <a:rPr lang="en-US" altLang="zh-CN" sz="2800" dirty="0"/>
              <a:t>B</a:t>
            </a:r>
          </a:p>
          <a:p>
            <a:endParaRPr lang="en-US" altLang="zh-CN" sz="2800" dirty="0"/>
          </a:p>
          <a:p>
            <a:r>
              <a:rPr lang="en-US" altLang="zh-CN" sz="2800" dirty="0"/>
              <a:t>C</a:t>
            </a:r>
          </a:p>
          <a:p>
            <a:endParaRPr lang="en-US" altLang="zh-CN" sz="2800" dirty="0"/>
          </a:p>
          <a:p>
            <a:r>
              <a:rPr lang="en-US" altLang="zh-CN" sz="2800" dirty="0"/>
              <a:t>D</a:t>
            </a:r>
            <a:endParaRPr lang="zh-CN" altLang="en-US" sz="2800" dirty="0"/>
          </a:p>
        </p:txBody>
      </p:sp>
    </p:spTree>
    <p:custDataLst>
      <p:tags r:id="rId1"/>
    </p:custData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顺序图的组合控制框（</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Frame</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）中，用于表达分支选择关系的控制符是哪个？</a:t>
            </a:r>
          </a:p>
        </p:txBody>
      </p:sp>
      <p:sp>
        <p:nvSpPr>
          <p:cNvPr id="5" name="文本框 4"/>
          <p:cNvSpPr txBox="1"/>
          <p:nvPr>
            <p:custDataLst>
              <p:tags r:id="rId3"/>
            </p:custDataLst>
          </p:nvPr>
        </p:nvSpPr>
        <p:spPr>
          <a:xfrm>
            <a:off x="3025775" y="2308985"/>
            <a:ext cx="85344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opt</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文本框 5"/>
          <p:cNvSpPr txBox="1"/>
          <p:nvPr>
            <p:custDataLst>
              <p:tags r:id="rId4"/>
            </p:custDataLst>
          </p:nvPr>
        </p:nvSpPr>
        <p:spPr>
          <a:xfrm>
            <a:off x="3025775" y="3166235"/>
            <a:ext cx="85344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alt</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 name="文本框 6"/>
          <p:cNvSpPr txBox="1"/>
          <p:nvPr>
            <p:custDataLst>
              <p:tags r:id="rId5"/>
            </p:custDataLst>
          </p:nvPr>
        </p:nvSpPr>
        <p:spPr>
          <a:xfrm>
            <a:off x="3025775" y="4023485"/>
            <a:ext cx="85344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ref</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文本框 7"/>
          <p:cNvSpPr txBox="1"/>
          <p:nvPr>
            <p:custDataLst>
              <p:tags r:id="rId6"/>
            </p:custDataLst>
          </p:nvPr>
        </p:nvSpPr>
        <p:spPr>
          <a:xfrm>
            <a:off x="3025775" y="4880735"/>
            <a:ext cx="85344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loop</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 name="矩形: 圆角 12"/>
          <p:cNvSpPr/>
          <p:nvPr>
            <p:custDataLst>
              <p:tags r:id="rId7"/>
            </p:custDataLst>
          </p:nvPr>
        </p:nvSpPr>
        <p:spPr>
          <a:xfrm>
            <a:off x="5874026" y="1856582"/>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grpSp>
        <p:nvGrpSpPr>
          <p:cNvPr id="18" name="组合 17"/>
          <p:cNvGrpSpPr/>
          <p:nvPr>
            <p:custDataLst>
              <p:tags r:id="rId8"/>
            </p:custDataLst>
          </p:nvPr>
        </p:nvGrpSpPr>
        <p:grpSpPr>
          <a:xfrm>
            <a:off x="0" y="0"/>
            <a:ext cx="12192000" cy="635000"/>
            <a:chOff x="0" y="0"/>
            <a:chExt cx="12192000" cy="635000"/>
          </a:xfrm>
        </p:grpSpPr>
        <p:sp>
          <p:nvSpPr>
            <p:cNvPr id="14" name="TitleBackground"/>
            <p:cNvSpPr/>
            <p:nvPr>
              <p:custDataLst>
                <p:tags r:id="rId10"/>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7" name="TipText"/>
            <p:cNvSpPr txBox="1"/>
            <p:nvPr>
              <p:custDataLst>
                <p:tags r:id="rId13"/>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2" name="文本框 1">
            <a:extLst>
              <a:ext uri="{FF2B5EF4-FFF2-40B4-BE49-F238E27FC236}">
                <a16:creationId xmlns:a16="http://schemas.microsoft.com/office/drawing/2014/main" id="{FC40D01F-6D8C-6A5F-08C8-719DD5CC4D44}"/>
              </a:ext>
            </a:extLst>
          </p:cNvPr>
          <p:cNvSpPr txBox="1"/>
          <p:nvPr/>
        </p:nvSpPr>
        <p:spPr>
          <a:xfrm>
            <a:off x="2105545" y="2469213"/>
            <a:ext cx="405880" cy="3108543"/>
          </a:xfrm>
          <a:prstGeom prst="rect">
            <a:avLst/>
          </a:prstGeom>
          <a:noFill/>
        </p:spPr>
        <p:txBody>
          <a:bodyPr wrap="none" rtlCol="0">
            <a:spAutoFit/>
          </a:bodyPr>
          <a:lstStyle/>
          <a:p>
            <a:r>
              <a:rPr lang="en-US" altLang="zh-CN" sz="2800" dirty="0"/>
              <a:t>A</a:t>
            </a:r>
          </a:p>
          <a:p>
            <a:endParaRPr lang="en-US" altLang="zh-CN" sz="2800" dirty="0"/>
          </a:p>
          <a:p>
            <a:r>
              <a:rPr lang="en-US" altLang="zh-CN" sz="2800" dirty="0"/>
              <a:t>B</a:t>
            </a:r>
          </a:p>
          <a:p>
            <a:endParaRPr lang="en-US" altLang="zh-CN" sz="2800" dirty="0"/>
          </a:p>
          <a:p>
            <a:r>
              <a:rPr lang="en-US" altLang="zh-CN" sz="2800" dirty="0"/>
              <a:t>C</a:t>
            </a:r>
          </a:p>
          <a:p>
            <a:endParaRPr lang="en-US" altLang="zh-CN" sz="2800" dirty="0"/>
          </a:p>
          <a:p>
            <a:r>
              <a:rPr lang="en-US" altLang="zh-CN" sz="2800" dirty="0"/>
              <a:t>D</a:t>
            </a:r>
            <a:endParaRPr lang="zh-CN" altLang="en-US" sz="2800" dirty="0"/>
          </a:p>
        </p:txBody>
      </p:sp>
    </p:spTree>
    <p:custDataLst>
      <p:tags r:id="rId1"/>
    </p:custData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当一个顺序图过大时，最好的处理方法是？</a:t>
            </a:r>
          </a:p>
        </p:txBody>
      </p:sp>
      <p:sp>
        <p:nvSpPr>
          <p:cNvPr id="5" name="文本框 4"/>
          <p:cNvSpPr txBox="1"/>
          <p:nvPr>
            <p:custDataLst>
              <p:tags r:id="rId3"/>
            </p:custDataLst>
          </p:nvPr>
        </p:nvSpPr>
        <p:spPr>
          <a:xfrm>
            <a:off x="2945296" y="2202180"/>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添加注释，说明顺序图的各部分之间的接续关系</a:t>
            </a:r>
          </a:p>
        </p:txBody>
      </p:sp>
      <p:sp>
        <p:nvSpPr>
          <p:cNvPr id="6" name="文本框 5"/>
          <p:cNvSpPr txBox="1"/>
          <p:nvPr>
            <p:custDataLst>
              <p:tags r:id="rId4"/>
            </p:custDataLst>
          </p:nvPr>
        </p:nvSpPr>
        <p:spPr>
          <a:xfrm>
            <a:off x="2945296" y="3059430"/>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用不完整的箭头，指明本页的顺序图未完待续</a:t>
            </a:r>
          </a:p>
        </p:txBody>
      </p:sp>
      <p:sp>
        <p:nvSpPr>
          <p:cNvPr id="7" name="文本框 6"/>
          <p:cNvSpPr txBox="1"/>
          <p:nvPr>
            <p:custDataLst>
              <p:tags r:id="rId5"/>
            </p:custDataLst>
          </p:nvPr>
        </p:nvSpPr>
        <p:spPr>
          <a:xfrm>
            <a:off x="2945296" y="3916680"/>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去掉无关的细节，保持图的简洁性</a:t>
            </a:r>
          </a:p>
        </p:txBody>
      </p:sp>
      <p:sp>
        <p:nvSpPr>
          <p:cNvPr id="8" name="文本框 7"/>
          <p:cNvSpPr txBox="1"/>
          <p:nvPr>
            <p:custDataLst>
              <p:tags r:id="rId6"/>
            </p:custDataLst>
          </p:nvPr>
        </p:nvSpPr>
        <p:spPr>
          <a:xfrm>
            <a:off x="2945296" y="4773930"/>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添加</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ref</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框，建立顺序图间的引用关系</a:t>
            </a:r>
          </a:p>
        </p:txBody>
      </p:sp>
      <p:sp>
        <p:nvSpPr>
          <p:cNvPr id="13" name="矩形: 圆角 12"/>
          <p:cNvSpPr/>
          <p:nvPr>
            <p:custDataLst>
              <p:tags r:id="rId7"/>
            </p:custDataLst>
          </p:nvPr>
        </p:nvSpPr>
        <p:spPr>
          <a:xfrm>
            <a:off x="7841974" y="1538922"/>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grpSp>
        <p:nvGrpSpPr>
          <p:cNvPr id="18" name="组合 17"/>
          <p:cNvGrpSpPr/>
          <p:nvPr>
            <p:custDataLst>
              <p:tags r:id="rId8"/>
            </p:custDataLst>
          </p:nvPr>
        </p:nvGrpSpPr>
        <p:grpSpPr>
          <a:xfrm>
            <a:off x="0" y="0"/>
            <a:ext cx="12192000" cy="635000"/>
            <a:chOff x="0" y="0"/>
            <a:chExt cx="12192000" cy="635000"/>
          </a:xfrm>
        </p:grpSpPr>
        <p:sp>
          <p:nvSpPr>
            <p:cNvPr id="14" name="TitleBackground"/>
            <p:cNvSpPr/>
            <p:nvPr>
              <p:custDataLst>
                <p:tags r:id="rId10"/>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7" name="TipText"/>
            <p:cNvSpPr txBox="1"/>
            <p:nvPr>
              <p:custDataLst>
                <p:tags r:id="rId13"/>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2" name="文本框 1">
            <a:extLst>
              <a:ext uri="{FF2B5EF4-FFF2-40B4-BE49-F238E27FC236}">
                <a16:creationId xmlns:a16="http://schemas.microsoft.com/office/drawing/2014/main" id="{A8CC33FF-C13A-A45E-8122-E5CB0EF1DC2B}"/>
              </a:ext>
            </a:extLst>
          </p:cNvPr>
          <p:cNvSpPr txBox="1"/>
          <p:nvPr/>
        </p:nvSpPr>
        <p:spPr>
          <a:xfrm>
            <a:off x="2056816" y="2308325"/>
            <a:ext cx="405880" cy="3108543"/>
          </a:xfrm>
          <a:prstGeom prst="rect">
            <a:avLst/>
          </a:prstGeom>
          <a:noFill/>
        </p:spPr>
        <p:txBody>
          <a:bodyPr wrap="none" rtlCol="0">
            <a:spAutoFit/>
          </a:bodyPr>
          <a:lstStyle/>
          <a:p>
            <a:r>
              <a:rPr lang="en-US" altLang="zh-CN" sz="2800" dirty="0"/>
              <a:t>A</a:t>
            </a:r>
          </a:p>
          <a:p>
            <a:endParaRPr lang="en-US" altLang="zh-CN" sz="2800" dirty="0"/>
          </a:p>
          <a:p>
            <a:r>
              <a:rPr lang="en-US" altLang="zh-CN" sz="2800" dirty="0"/>
              <a:t>B</a:t>
            </a:r>
          </a:p>
          <a:p>
            <a:endParaRPr lang="en-US" altLang="zh-CN" sz="2800" dirty="0"/>
          </a:p>
          <a:p>
            <a:r>
              <a:rPr lang="en-US" altLang="zh-CN" sz="2800" dirty="0"/>
              <a:t>C</a:t>
            </a:r>
          </a:p>
          <a:p>
            <a:endParaRPr lang="en-US" altLang="zh-CN" sz="2800" dirty="0"/>
          </a:p>
          <a:p>
            <a:r>
              <a:rPr lang="en-US" altLang="zh-CN" sz="2800" dirty="0"/>
              <a:t>D</a:t>
            </a:r>
            <a:endParaRPr lang="zh-CN" altLang="en-US" sz="2800" dirty="0"/>
          </a:p>
        </p:txBody>
      </p:sp>
    </p:spTree>
    <p:custDataLst>
      <p:tags r:id="rId1"/>
    </p:custData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对顺序图与用例之间关系的阐述，错误的是：</a:t>
            </a:r>
          </a:p>
        </p:txBody>
      </p:sp>
      <p:sp>
        <p:nvSpPr>
          <p:cNvPr id="5" name="文本框 4"/>
          <p:cNvSpPr txBox="1"/>
          <p:nvPr>
            <p:custDataLst>
              <p:tags r:id="rId3"/>
            </p:custDataLst>
          </p:nvPr>
        </p:nvSpPr>
        <p:spPr>
          <a:xfrm>
            <a:off x="2159000" y="2357438"/>
            <a:ext cx="8862391"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顺序图表达单个情景实例的行为，每个用例对应一个顺序图</a:t>
            </a:r>
          </a:p>
        </p:txBody>
      </p:sp>
      <p:sp>
        <p:nvSpPr>
          <p:cNvPr id="6" name="文本框 5"/>
          <p:cNvSpPr txBox="1"/>
          <p:nvPr>
            <p:custDataLst>
              <p:tags r:id="rId4"/>
            </p:custDataLst>
          </p:nvPr>
        </p:nvSpPr>
        <p:spPr>
          <a:xfrm>
            <a:off x="2159001" y="3214688"/>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用例分析阶段的顺序图要包含设计对象，并关注消息参数</a:t>
            </a:r>
          </a:p>
        </p:txBody>
      </p:sp>
      <p:sp>
        <p:nvSpPr>
          <p:cNvPr id="7" name="文本框 6"/>
          <p:cNvSpPr txBox="1"/>
          <p:nvPr>
            <p:custDataLst>
              <p:tags r:id="rId5"/>
            </p:custDataLst>
          </p:nvPr>
        </p:nvSpPr>
        <p:spPr>
          <a:xfrm>
            <a:off x="2159000" y="4071938"/>
            <a:ext cx="8951843"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顺序图用于表示为完成用例而在系统边界输入输出的数据以及消息</a:t>
            </a:r>
          </a:p>
        </p:txBody>
      </p:sp>
      <p:sp>
        <p:nvSpPr>
          <p:cNvPr id="8" name="文本框 7"/>
          <p:cNvSpPr txBox="1"/>
          <p:nvPr>
            <p:custDataLst>
              <p:tags r:id="rId6"/>
            </p:custDataLst>
          </p:nvPr>
        </p:nvSpPr>
        <p:spPr>
          <a:xfrm>
            <a:off x="2159001" y="4929188"/>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顺序图可帮助分析人员对用例图进行扩展、细化和补遗</a:t>
            </a:r>
          </a:p>
        </p:txBody>
      </p:sp>
      <p:sp>
        <p:nvSpPr>
          <p:cNvPr id="13" name="矩形: 圆角 12"/>
          <p:cNvSpPr/>
          <p:nvPr>
            <p:custDataLst>
              <p:tags r:id="rId7"/>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grpSp>
        <p:nvGrpSpPr>
          <p:cNvPr id="18" name="组合 17"/>
          <p:cNvGrpSpPr/>
          <p:nvPr>
            <p:custDataLst>
              <p:tags r:id="rId8"/>
            </p:custDataLst>
          </p:nvPr>
        </p:nvGrpSpPr>
        <p:grpSpPr>
          <a:xfrm>
            <a:off x="0" y="0"/>
            <a:ext cx="12192000" cy="635000"/>
            <a:chOff x="0" y="0"/>
            <a:chExt cx="12192000" cy="635000"/>
          </a:xfrm>
        </p:grpSpPr>
        <p:sp>
          <p:nvSpPr>
            <p:cNvPr id="14" name="TitleBackground"/>
            <p:cNvSpPr/>
            <p:nvPr>
              <p:custDataLst>
                <p:tags r:id="rId10"/>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7" name="TipText"/>
            <p:cNvSpPr txBox="1"/>
            <p:nvPr>
              <p:custDataLst>
                <p:tags r:id="rId13"/>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2" name="文本框 1">
            <a:extLst>
              <a:ext uri="{FF2B5EF4-FFF2-40B4-BE49-F238E27FC236}">
                <a16:creationId xmlns:a16="http://schemas.microsoft.com/office/drawing/2014/main" id="{DCBA059A-C71B-276E-8BB2-8736C9E6EDD8}"/>
              </a:ext>
            </a:extLst>
          </p:cNvPr>
          <p:cNvSpPr txBox="1"/>
          <p:nvPr/>
        </p:nvSpPr>
        <p:spPr>
          <a:xfrm>
            <a:off x="1441710" y="2517666"/>
            <a:ext cx="405880" cy="3108543"/>
          </a:xfrm>
          <a:prstGeom prst="rect">
            <a:avLst/>
          </a:prstGeom>
          <a:noFill/>
        </p:spPr>
        <p:txBody>
          <a:bodyPr wrap="none" rtlCol="0">
            <a:spAutoFit/>
          </a:bodyPr>
          <a:lstStyle/>
          <a:p>
            <a:r>
              <a:rPr lang="en-US" altLang="zh-CN" sz="2800" dirty="0"/>
              <a:t>A</a:t>
            </a:r>
          </a:p>
          <a:p>
            <a:endParaRPr lang="en-US" altLang="zh-CN" sz="2800" dirty="0"/>
          </a:p>
          <a:p>
            <a:r>
              <a:rPr lang="en-US" altLang="zh-CN" sz="2800" dirty="0"/>
              <a:t>B</a:t>
            </a:r>
          </a:p>
          <a:p>
            <a:endParaRPr lang="en-US" altLang="zh-CN" sz="2800" dirty="0"/>
          </a:p>
          <a:p>
            <a:r>
              <a:rPr lang="en-US" altLang="zh-CN" sz="2800" dirty="0"/>
              <a:t>C</a:t>
            </a:r>
          </a:p>
          <a:p>
            <a:endParaRPr lang="en-US" altLang="zh-CN" sz="2800" dirty="0"/>
          </a:p>
          <a:p>
            <a:r>
              <a:rPr lang="en-US" altLang="zh-CN" sz="2800" dirty="0"/>
              <a:t>D</a:t>
            </a:r>
            <a:endParaRPr lang="zh-CN" altLang="en-US" sz="2800" dirty="0"/>
          </a:p>
        </p:txBody>
      </p:sp>
    </p:spTree>
    <p:custDataLst>
      <p:tags r:id="rId1"/>
    </p:custData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37860" y="441047"/>
            <a:ext cx="6516280" cy="5975905"/>
          </a:xfrm>
          <a:prstGeom prst="rect">
            <a:avLst/>
          </a:prstGeom>
        </p:spPr>
      </p:pic>
      <p:sp>
        <p:nvSpPr>
          <p:cNvPr id="3" name="文本框 2"/>
          <p:cNvSpPr txBox="1"/>
          <p:nvPr/>
        </p:nvSpPr>
        <p:spPr>
          <a:xfrm>
            <a:off x="9354140" y="2345635"/>
            <a:ext cx="2473425" cy="1815882"/>
          </a:xfrm>
          <a:prstGeom prst="rect">
            <a:avLst/>
          </a:prstGeom>
          <a:noFill/>
        </p:spPr>
        <p:txBody>
          <a:bodyPr wrap="square" rtlCol="0">
            <a:spAutoFit/>
          </a:bodyPr>
          <a:lstStyle/>
          <a:p>
            <a:r>
              <a:rPr lang="zh-CN" altLang="en-US" sz="2800" dirty="0"/>
              <a:t>包含哪个结构？</a:t>
            </a:r>
            <a:endParaRPr lang="en-US" altLang="zh-CN" sz="2800" dirty="0"/>
          </a:p>
          <a:p>
            <a:endParaRPr lang="en-US" altLang="zh-CN" sz="2800" dirty="0"/>
          </a:p>
          <a:p>
            <a:r>
              <a:rPr lang="zh-CN" altLang="en-US" sz="2800" dirty="0"/>
              <a:t>它的控制逻辑是什么？</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该顺序图中包含哪个结构？</a:t>
            </a:r>
          </a:p>
        </p:txBody>
      </p:sp>
      <p:sp>
        <p:nvSpPr>
          <p:cNvPr id="5" name="文本框 4"/>
          <p:cNvSpPr txBox="1"/>
          <p:nvPr>
            <p:custDataLst>
              <p:tags r:id="rId3"/>
            </p:custDataLst>
          </p:nvPr>
        </p:nvSpPr>
        <p:spPr>
          <a:xfrm>
            <a:off x="2935356" y="2357438"/>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分支选择结构</a:t>
            </a:r>
          </a:p>
        </p:txBody>
      </p:sp>
      <p:sp>
        <p:nvSpPr>
          <p:cNvPr id="6" name="文本框 5"/>
          <p:cNvSpPr txBox="1"/>
          <p:nvPr>
            <p:custDataLst>
              <p:tags r:id="rId4"/>
            </p:custDataLst>
          </p:nvPr>
        </p:nvSpPr>
        <p:spPr>
          <a:xfrm>
            <a:off x="2935356" y="3214688"/>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并发结构</a:t>
            </a:r>
          </a:p>
        </p:txBody>
      </p:sp>
      <p:sp>
        <p:nvSpPr>
          <p:cNvPr id="7" name="文本框 6"/>
          <p:cNvSpPr txBox="1"/>
          <p:nvPr>
            <p:custDataLst>
              <p:tags r:id="rId5"/>
            </p:custDataLst>
          </p:nvPr>
        </p:nvSpPr>
        <p:spPr>
          <a:xfrm>
            <a:off x="2935356" y="4071938"/>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单条件结构</a:t>
            </a:r>
          </a:p>
        </p:txBody>
      </p:sp>
      <p:sp>
        <p:nvSpPr>
          <p:cNvPr id="8" name="文本框 7"/>
          <p:cNvSpPr txBox="1"/>
          <p:nvPr>
            <p:custDataLst>
              <p:tags r:id="rId6"/>
            </p:custDataLst>
          </p:nvPr>
        </p:nvSpPr>
        <p:spPr>
          <a:xfrm>
            <a:off x="2935356" y="4929188"/>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循环结构</a:t>
            </a:r>
          </a:p>
        </p:txBody>
      </p:sp>
      <p:sp>
        <p:nvSpPr>
          <p:cNvPr id="13" name="矩形: 圆角 12"/>
          <p:cNvSpPr/>
          <p:nvPr>
            <p:custDataLst>
              <p:tags r:id="rId7"/>
            </p:custDataLst>
          </p:nvPr>
        </p:nvSpPr>
        <p:spPr>
          <a:xfrm>
            <a:off x="6096000" y="1422718"/>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grpSp>
        <p:nvGrpSpPr>
          <p:cNvPr id="18" name="组合 17"/>
          <p:cNvGrpSpPr/>
          <p:nvPr>
            <p:custDataLst>
              <p:tags r:id="rId8"/>
            </p:custDataLst>
          </p:nvPr>
        </p:nvGrpSpPr>
        <p:grpSpPr>
          <a:xfrm>
            <a:off x="0" y="0"/>
            <a:ext cx="12192000" cy="635000"/>
            <a:chOff x="0" y="0"/>
            <a:chExt cx="12192000" cy="635000"/>
          </a:xfrm>
        </p:grpSpPr>
        <p:sp>
          <p:nvSpPr>
            <p:cNvPr id="14" name="TitleBackground"/>
            <p:cNvSpPr/>
            <p:nvPr>
              <p:custDataLst>
                <p:tags r:id="rId10"/>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7" name="TipText"/>
            <p:cNvSpPr txBox="1"/>
            <p:nvPr>
              <p:custDataLst>
                <p:tags r:id="rId13"/>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2" name="文本框 1">
            <a:extLst>
              <a:ext uri="{FF2B5EF4-FFF2-40B4-BE49-F238E27FC236}">
                <a16:creationId xmlns:a16="http://schemas.microsoft.com/office/drawing/2014/main" id="{8B997843-2936-639B-B1E1-397D7BEEFC81}"/>
              </a:ext>
            </a:extLst>
          </p:cNvPr>
          <p:cNvSpPr txBox="1"/>
          <p:nvPr/>
        </p:nvSpPr>
        <p:spPr>
          <a:xfrm>
            <a:off x="2032520" y="2438960"/>
            <a:ext cx="405880" cy="3108543"/>
          </a:xfrm>
          <a:prstGeom prst="rect">
            <a:avLst/>
          </a:prstGeom>
          <a:noFill/>
        </p:spPr>
        <p:txBody>
          <a:bodyPr wrap="none" rtlCol="0">
            <a:spAutoFit/>
          </a:bodyPr>
          <a:lstStyle/>
          <a:p>
            <a:r>
              <a:rPr lang="en-US" altLang="zh-CN" sz="2800" dirty="0"/>
              <a:t>A</a:t>
            </a:r>
          </a:p>
          <a:p>
            <a:endParaRPr lang="en-US" altLang="zh-CN" sz="2800" dirty="0"/>
          </a:p>
          <a:p>
            <a:r>
              <a:rPr lang="en-US" altLang="zh-CN" sz="2800" dirty="0"/>
              <a:t>B</a:t>
            </a:r>
          </a:p>
          <a:p>
            <a:endParaRPr lang="en-US" altLang="zh-CN" sz="2800" dirty="0"/>
          </a:p>
          <a:p>
            <a:r>
              <a:rPr lang="en-US" altLang="zh-CN" sz="2800" dirty="0"/>
              <a:t>C</a:t>
            </a:r>
          </a:p>
          <a:p>
            <a:endParaRPr lang="en-US" altLang="zh-CN" sz="2800" dirty="0"/>
          </a:p>
          <a:p>
            <a:r>
              <a:rPr lang="en-US" altLang="zh-CN" sz="2800" dirty="0"/>
              <a:t>D</a:t>
            </a:r>
            <a:endParaRPr lang="zh-CN" altLang="en-US" sz="2800" dirty="0"/>
          </a:p>
        </p:txBody>
      </p:sp>
    </p:spTree>
    <p:custDataLst>
      <p:tags r:id="rId1"/>
    </p:custData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以下哪个说法是正确的？</a:t>
            </a:r>
          </a:p>
        </p:txBody>
      </p:sp>
      <p:sp>
        <p:nvSpPr>
          <p:cNvPr id="5" name="文本框 4"/>
          <p:cNvSpPr txBox="1"/>
          <p:nvPr>
            <p:custDataLst>
              <p:tags r:id="rId3"/>
            </p:custDataLst>
          </p:nvPr>
        </p:nvSpPr>
        <p:spPr>
          <a:xfrm>
            <a:off x="2614613" y="2080385"/>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对于参数，优先考虑使用参数类型而不是参数名</a:t>
            </a:r>
          </a:p>
        </p:txBody>
      </p:sp>
      <p:sp>
        <p:nvSpPr>
          <p:cNvPr id="6" name="文本框 5"/>
          <p:cNvSpPr txBox="1"/>
          <p:nvPr>
            <p:custDataLst>
              <p:tags r:id="rId4"/>
            </p:custDataLst>
          </p:nvPr>
        </p:nvSpPr>
        <p:spPr>
          <a:xfrm>
            <a:off x="2614613" y="2937635"/>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每个用例对应一个顺序图</a:t>
            </a:r>
          </a:p>
        </p:txBody>
      </p:sp>
      <p:sp>
        <p:nvSpPr>
          <p:cNvPr id="7" name="文本框 6"/>
          <p:cNvSpPr txBox="1"/>
          <p:nvPr>
            <p:custDataLst>
              <p:tags r:id="rId5"/>
            </p:custDataLst>
          </p:nvPr>
        </p:nvSpPr>
        <p:spPr>
          <a:xfrm>
            <a:off x="2614613" y="3794885"/>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在顺序图过程中不能创建对象</a:t>
            </a:r>
          </a:p>
        </p:txBody>
      </p:sp>
      <p:sp>
        <p:nvSpPr>
          <p:cNvPr id="8" name="文本框 7"/>
          <p:cNvSpPr txBox="1"/>
          <p:nvPr>
            <p:custDataLst>
              <p:tags r:id="rId6"/>
            </p:custDataLst>
          </p:nvPr>
        </p:nvSpPr>
        <p:spPr>
          <a:xfrm>
            <a:off x="2614613" y="4652135"/>
            <a:ext cx="8534400" cy="642938"/>
          </a:xfrm>
          <a:prstGeom prst="rect">
            <a:avLst/>
          </a:prstGeom>
          <a:noFill/>
        </p:spPr>
        <p:txBody>
          <a:bodyPr vert="horz" rtlCol="0" anchor="ctr" anchorCtr="0">
            <a:noAutofit/>
          </a:bodyPr>
          <a:lstStyle/>
          <a:p>
            <a:r>
              <a:rPr lang="zh-CN" altLang="en-US" sz="2800" dirty="0">
                <a:latin typeface="微软雅黑" panose="020B0503020204020204" pitchFamily="34" charset="-122"/>
                <a:ea typeface="微软雅黑" panose="020B0503020204020204" pitchFamily="34" charset="-122"/>
                <a:cs typeface="华文新魏" panose="02010800040101010101" charset="-122"/>
              </a:rPr>
              <a:t>顺序图应该用于设计阶段而不是需求分析阶段</a:t>
            </a:r>
            <a:endParaRPr lang="zh-CN" altLang="en-US" sz="28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 name="矩形: 圆角 12"/>
          <p:cNvSpPr/>
          <p:nvPr>
            <p:custDataLst>
              <p:tags r:id="rId7"/>
            </p:custDataLst>
          </p:nvPr>
        </p:nvSpPr>
        <p:spPr>
          <a:xfrm>
            <a:off x="5506278" y="1509395"/>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grpSp>
        <p:nvGrpSpPr>
          <p:cNvPr id="18" name="组合 17"/>
          <p:cNvGrpSpPr/>
          <p:nvPr>
            <p:custDataLst>
              <p:tags r:id="rId8"/>
            </p:custDataLst>
          </p:nvPr>
        </p:nvGrpSpPr>
        <p:grpSpPr>
          <a:xfrm>
            <a:off x="0" y="0"/>
            <a:ext cx="12192000" cy="635000"/>
            <a:chOff x="0" y="0"/>
            <a:chExt cx="12192000" cy="635000"/>
          </a:xfrm>
        </p:grpSpPr>
        <p:sp>
          <p:nvSpPr>
            <p:cNvPr id="14" name="TitleBackground"/>
            <p:cNvSpPr/>
            <p:nvPr>
              <p:custDataLst>
                <p:tags r:id="rId10"/>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7" name="TipText"/>
            <p:cNvSpPr txBox="1"/>
            <p:nvPr>
              <p:custDataLst>
                <p:tags r:id="rId13"/>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2" name="文本框 1">
            <a:extLst>
              <a:ext uri="{FF2B5EF4-FFF2-40B4-BE49-F238E27FC236}">
                <a16:creationId xmlns:a16="http://schemas.microsoft.com/office/drawing/2014/main" id="{D24779DB-4B59-4931-1E40-08A41184C407}"/>
              </a:ext>
            </a:extLst>
          </p:cNvPr>
          <p:cNvSpPr txBox="1"/>
          <p:nvPr/>
        </p:nvSpPr>
        <p:spPr>
          <a:xfrm>
            <a:off x="2032520" y="2186530"/>
            <a:ext cx="405880" cy="3108543"/>
          </a:xfrm>
          <a:prstGeom prst="rect">
            <a:avLst/>
          </a:prstGeom>
          <a:noFill/>
        </p:spPr>
        <p:txBody>
          <a:bodyPr wrap="none" rtlCol="0">
            <a:spAutoFit/>
          </a:bodyPr>
          <a:lstStyle/>
          <a:p>
            <a:r>
              <a:rPr lang="en-US" altLang="zh-CN" sz="2800" dirty="0"/>
              <a:t>A</a:t>
            </a:r>
          </a:p>
          <a:p>
            <a:endParaRPr lang="en-US" altLang="zh-CN" sz="2800" dirty="0"/>
          </a:p>
          <a:p>
            <a:r>
              <a:rPr lang="en-US" altLang="zh-CN" sz="2800" dirty="0"/>
              <a:t>B</a:t>
            </a:r>
          </a:p>
          <a:p>
            <a:endParaRPr lang="en-US" altLang="zh-CN" sz="2800" dirty="0"/>
          </a:p>
          <a:p>
            <a:r>
              <a:rPr lang="en-US" altLang="zh-CN" sz="2800" dirty="0"/>
              <a:t>C</a:t>
            </a:r>
          </a:p>
          <a:p>
            <a:endParaRPr lang="en-US" altLang="zh-CN" sz="2800" dirty="0"/>
          </a:p>
          <a:p>
            <a:r>
              <a:rPr lang="en-US" altLang="zh-CN" sz="2800" dirty="0"/>
              <a:t>D</a:t>
            </a:r>
            <a:endParaRPr lang="zh-CN" altLang="en-US" sz="2800"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jM4NDZmNzMwY2RmMWEwMjljNTFjYjY5OGI3ZTk1MmUifQ=="/>
</p:tagLst>
</file>

<file path=ppt/tags/tag2.xml><?xml version="1.0" encoding="utf-8"?>
<p:tagLst xmlns:a="http://schemas.openxmlformats.org/drawingml/2006/main" xmlns:r="http://schemas.openxmlformats.org/officeDocument/2006/relationships" xmlns:p="http://schemas.openxmlformats.org/presentationml/2006/main">
  <p:tag name="RAINPROBLEM" val="MultipleChoiceMA"/>
  <p:tag name="PROBLEMSCORE" val="1.0"/>
  <p:tag name="PROBLEMSCORE_HALF" val="0.0"/>
  <p:tag name="PROBLEMHASREMARK" val="True"/>
  <p:tag name="PROBLEMREMARK" val="B和D过于具体，是某个属性，C过于笼统和模糊"/>
</p:tagLst>
</file>

<file path=ppt/tags/tag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9.xml><?xml version="1.0" encoding="utf-8"?>
<p:tagLst xmlns:a="http://schemas.openxmlformats.org/drawingml/2006/main" xmlns:r="http://schemas.openxmlformats.org/officeDocument/2006/relationships" xmlns:p="http://schemas.openxmlformats.org/presentationml/2006/main">
  <p:tag name="RAINPROBLEM" val="ProblemRemarkBoard"/>
</p:tagLst>
</file>

<file path=ppt/tags/tag10.xml><?xml version="1.0" encoding="utf-8"?>
<p:tagLst xmlns:a="http://schemas.openxmlformats.org/drawingml/2006/main" xmlns:r="http://schemas.openxmlformats.org/officeDocument/2006/relationships" xmlns:p="http://schemas.openxmlformats.org/presentationml/2006/main">
  <p:tag name="PROBLEMREMARKTITLE" val="ProblemRemarkBoardTip"/>
</p:tagLst>
</file>

<file path=ppt/tags/tag11.xml><?xml version="1.0" encoding="utf-8"?>
<p:tagLst xmlns:a="http://schemas.openxmlformats.org/drawingml/2006/main" xmlns:r="http://schemas.openxmlformats.org/officeDocument/2006/relationships" xmlns:p="http://schemas.openxmlformats.org/presentationml/2006/main">
  <p:tag name="RAINPROBLEM" val="ProblemRemark"/>
</p:tagLst>
</file>

<file path=ppt/tags/tag12.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3.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4.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2.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3.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4.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5.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6.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7.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8.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9.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30.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 name="PROBLEMHASREMARK" val="True"/>
  <p:tag name="PROBLEMREMARK" val="依赖关系应该是尽量依赖接口(或抽象类)，而不是依赖于具体类&#10;开闭：软件实体要在扩展性方面保持开放，而在更改行方面应该是保持封闭的。也就是说应该尽量使得软件系统是可扩展的，而在扩展的过程中，不需要对源代码进行修改。为了实现开闭原则，我们就要尽可能多的使用接口进行封装，采用抽象机制，运用多态技术。&#10;里氏替换原则，即任何基类出现的地方都应该可以无差别的使用子类替换。&#10;设计时要建立比较小的接口代替通用的接口"/>
</p:tagLst>
</file>

<file path=ppt/tags/tag31.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6.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37.xml><?xml version="1.0" encoding="utf-8"?>
<p:tagLst xmlns:a="http://schemas.openxmlformats.org/drawingml/2006/main" xmlns:r="http://schemas.openxmlformats.org/officeDocument/2006/relationships" xmlns:p="http://schemas.openxmlformats.org/presentationml/2006/main">
  <p:tag name="RAINPROBLEM" val="ProblemRemarkBoard"/>
</p:tagLst>
</file>

<file path=ppt/tags/tag38.xml><?xml version="1.0" encoding="utf-8"?>
<p:tagLst xmlns:a="http://schemas.openxmlformats.org/drawingml/2006/main" xmlns:r="http://schemas.openxmlformats.org/officeDocument/2006/relationships" xmlns:p="http://schemas.openxmlformats.org/presentationml/2006/main">
  <p:tag name="PROBLEMREMARKTITLE" val="ProblemRemarkBoardTip"/>
</p:tagLst>
</file>

<file path=ppt/tags/tag39.xml><?xml version="1.0" encoding="utf-8"?>
<p:tagLst xmlns:a="http://schemas.openxmlformats.org/drawingml/2006/main" xmlns:r="http://schemas.openxmlformats.org/officeDocument/2006/relationships" xmlns:p="http://schemas.openxmlformats.org/presentationml/2006/main">
  <p:tag name="RAINPROBLEM" val="ProblemRemark"/>
</p:tagLst>
</file>

<file path=ppt/tags/tag40.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41.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42.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4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4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9.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50.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51.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52.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53.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54.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55.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56.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57.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58.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5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6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4.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6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6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1.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7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7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7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8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4.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85.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8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0.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9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9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7.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98.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9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0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0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0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0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0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0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0.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11.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1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6.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1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3.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24.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2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2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2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2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2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3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3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6.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37.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3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3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4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4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4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4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4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6850</TotalTime>
  <Words>16079</Words>
  <Application>Microsoft Office PowerPoint</Application>
  <PresentationFormat>宽屏</PresentationFormat>
  <Paragraphs>1021</Paragraphs>
  <Slides>79</Slides>
  <Notes>70</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79</vt:i4>
      </vt:variant>
    </vt:vector>
  </HeadingPairs>
  <TitlesOfParts>
    <vt:vector size="95" baseType="lpstr">
      <vt:lpstr>Arial Unicode MS</vt:lpstr>
      <vt:lpstr>Microsoft JhengHei</vt:lpstr>
      <vt:lpstr>等线</vt:lpstr>
      <vt:lpstr>黑体</vt:lpstr>
      <vt:lpstr>华文细黑</vt:lpstr>
      <vt:lpstr>华文新魏</vt:lpstr>
      <vt:lpstr>宋体</vt:lpstr>
      <vt:lpstr>微软雅黑</vt:lpstr>
      <vt:lpstr>Arial</vt:lpstr>
      <vt:lpstr>Calibri</vt:lpstr>
      <vt:lpstr>Calibri Light</vt:lpstr>
      <vt:lpstr>Comic Sans MS</vt:lpstr>
      <vt:lpstr>Courier New</vt:lpstr>
      <vt:lpstr>Times New Roman</vt:lpstr>
      <vt:lpstr>Wingdings</vt:lpstr>
      <vt:lpstr>Office 主题</vt:lpstr>
      <vt:lpstr>开闭原则(Open/Closed Principle, OCP)</vt:lpstr>
      <vt:lpstr>Liskov Substitution Principle (LSP)</vt:lpstr>
      <vt:lpstr>违反LSP的例子</vt:lpstr>
      <vt:lpstr>解决方法</vt:lpstr>
      <vt:lpstr>考虑下面的代码：</vt:lpstr>
      <vt:lpstr>思考题：如何知道子类的行为符合父类的要求？</vt:lpstr>
      <vt:lpstr>依赖倒置原则 (Dependency Inversion Principle, DIP)</vt:lpstr>
      <vt:lpstr>面向对象设计中的依赖关系</vt:lpstr>
      <vt:lpstr>接口分离原则(Interface Segregation Principle, ISP)</vt:lpstr>
      <vt:lpstr>好的系统设计的特征</vt:lpstr>
      <vt:lpstr>OO设计时要注意的一些问题</vt:lpstr>
      <vt:lpstr>PowerPoint 演示文稿</vt:lpstr>
      <vt:lpstr>PowerPoint 演示文稿</vt:lpstr>
      <vt:lpstr>UML类图</vt:lpstr>
      <vt:lpstr>什么是类?</vt:lpstr>
      <vt:lpstr>对象</vt:lpstr>
      <vt:lpstr>类属性定义</vt:lpstr>
      <vt:lpstr>类关系</vt:lpstr>
      <vt:lpstr>关联关系的“多样性/维度”（ Multiplicity）</vt:lpstr>
      <vt:lpstr>关联关系的种类</vt:lpstr>
      <vt:lpstr>关联关系图例</vt:lpstr>
      <vt:lpstr>关联类</vt:lpstr>
      <vt:lpstr>PowerPoint 演示文稿</vt:lpstr>
      <vt:lpstr>聚合（Aggregation）与组合（Composition）</vt:lpstr>
      <vt:lpstr>继承/泛化(Inheritance/Generalization)</vt:lpstr>
      <vt:lpstr>继承/泛化(Inheritance/Generalization)关系的定义</vt:lpstr>
      <vt:lpstr>自顶向下定义继承关系</vt:lpstr>
      <vt:lpstr>自底向上定义继承关系</vt:lpstr>
      <vt:lpstr>PowerPoint 演示文稿</vt:lpstr>
      <vt:lpstr>类图建模图例</vt:lpstr>
      <vt:lpstr>类图的抽象层次</vt:lpstr>
      <vt:lpstr>总结建立类图的步骤</vt:lpstr>
      <vt:lpstr>类图建模风格</vt:lpstr>
      <vt:lpstr>PowerPoint 演示文稿</vt:lpstr>
      <vt:lpstr>PowerPoint 演示文稿</vt:lpstr>
      <vt:lpstr>第4.3节 交互行为建模 Modelling Interactions</vt:lpstr>
      <vt:lpstr>UML 2.0中图的分类</vt:lpstr>
      <vt:lpstr>顺序图 Sequence Diagram</vt:lpstr>
      <vt:lpstr>顺序图举例（Sequence Diagram）</vt:lpstr>
      <vt:lpstr>顺序图建模元素对象(Object)及其生命线(Lifeline)</vt:lpstr>
      <vt:lpstr>顺序图建模元素——消息(Message)</vt:lpstr>
      <vt:lpstr>消息的表示形式</vt:lpstr>
      <vt:lpstr>顺序图中的基本结构</vt:lpstr>
      <vt:lpstr>顺序图中消息的循环发送</vt:lpstr>
      <vt:lpstr>顺序图中带条件消息的发送</vt:lpstr>
      <vt:lpstr>绘制顺序图</vt:lpstr>
      <vt:lpstr>顺序图建模过程</vt:lpstr>
      <vt:lpstr>组合框：复杂控制结构表示</vt:lpstr>
      <vt:lpstr>控制框建模例子</vt:lpstr>
      <vt:lpstr>控制框建模例子</vt:lpstr>
      <vt:lpstr>顺序图间的关联</vt:lpstr>
      <vt:lpstr>PowerPoint 演示文稿</vt:lpstr>
      <vt:lpstr>对象的创建与撤销</vt:lpstr>
      <vt:lpstr>例:银行系统的交易验证</vt:lpstr>
      <vt:lpstr>思考题：有缺陷的顺序图</vt:lpstr>
      <vt:lpstr>修改方案一</vt:lpstr>
      <vt:lpstr>集中、分布控制</vt:lpstr>
      <vt:lpstr>例1：集中控制的计价系统顺序图</vt:lpstr>
      <vt:lpstr>例2：分布控制的计价系统顺序图</vt:lpstr>
      <vt:lpstr>顺序图与用例的关系 I</vt:lpstr>
      <vt:lpstr>顺序图与用例对应</vt:lpstr>
      <vt:lpstr>顺序图与用例的关系 II</vt:lpstr>
      <vt:lpstr>从用例中抽取顺序图</vt:lpstr>
      <vt:lpstr>顺序图建模意义</vt:lpstr>
      <vt:lpstr>顺序图建模风格</vt:lpstr>
      <vt:lpstr>顺序图建模风格</vt:lpstr>
      <vt:lpstr>顺序图建模风格</vt:lpstr>
      <vt:lpstr>顺序图常见问题分析</vt:lpstr>
      <vt:lpstr>控制焦点(focus of control)的嵌套</vt:lpstr>
      <vt:lpstr>顺序图常见问题分析</vt:lpstr>
      <vt:lpstr>顺序图常见问题分析</vt:lpstr>
      <vt:lpstr>顺序图的作用</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软件工程</dc:title>
  <dc:creator>CAI Xiangrui</dc:creator>
  <cp:lastModifiedBy>lenovo</cp:lastModifiedBy>
  <cp:revision>1554</cp:revision>
  <dcterms:created xsi:type="dcterms:W3CDTF">2020-02-05T07:10:00Z</dcterms:created>
  <dcterms:modified xsi:type="dcterms:W3CDTF">2025-03-31T01:39:46Z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1227D6447F5946A59643BD1BC05BC510</vt:lpwstr>
  </property>
  <property fmtid="{D5CDD505-2E9C-101B-9397-08002B2CF9AE}" pid="3" name="KSOProductBuildVer">
    <vt:lpwstr>2052-11.1.0.11636</vt:lpwstr>
  </property>
</Properties>
</file>